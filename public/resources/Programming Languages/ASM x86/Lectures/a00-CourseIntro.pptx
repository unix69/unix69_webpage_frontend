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2aab929d9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g2aab929d94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aab929d94a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aab929d94a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aab929d94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g2aab929d94a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ab929d94a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ab929d94a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aab929d94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g2aab929d94a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aab929d94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2aab929d94a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ab929d94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2aab929d94a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ab929d94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g2aab929d94a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ab929d94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2aab929d94a_0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ab929d94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2aab929d94a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aab929d94a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2aab929d94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2aab929d94a_0_7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aab929d94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2aab929d94a_0_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aab929d94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2aab929d94a_0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aab929d94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2aab929d94a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ab929d94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2aab929d94a_0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aab929d94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2aab929d94a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291325"/>
            <a:ext cx="8520600" cy="792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●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ourier New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>
              <a:spcBef>
                <a:spcPts val="30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▪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rtl="0">
              <a:spcBef>
                <a:spcPts val="30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▪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>
  <p:cSld name="Titolo e contenuto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●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ourier New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o">
  <p:cSld name="vuoto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rtl="0">
              <a:spcBef>
                <a:spcPts val="30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▪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rtl="0">
              <a:spcBef>
                <a:spcPts val="30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▪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i="1" lang="it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L. Di Chio, G. Malnati 2014-24</a:t>
            </a:r>
            <a:endParaRPr i="1" sz="1100">
              <a:solidFill>
                <a:schemeClr val="lt1"/>
              </a:solidFill>
            </a:endParaRPr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alibri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spreadsheets/d/1DKTqzizsTy-g3vg1F46tLUJwl9-vLGnV2j15DCbT2E8/edit?usp=sharing" TargetMode="External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it" sz="43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Mobile Application Development</a:t>
            </a:r>
            <a:endParaRPr b="1" i="0" sz="43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311700" y="32913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0">
            <a:normAutofit/>
          </a:bodyPr>
          <a:lstStyle/>
          <a:p>
            <a:pPr indent="0" lvl="0" marL="2743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 sz="2600">
                <a:solidFill>
                  <a:schemeClr val="dk1"/>
                </a:solidFill>
              </a:rPr>
              <a:t>202</a:t>
            </a:r>
            <a:r>
              <a:rPr lang="it">
                <a:solidFill>
                  <a:schemeClr val="dk1"/>
                </a:solidFill>
              </a:rPr>
              <a:t>3</a:t>
            </a:r>
            <a:r>
              <a:rPr lang="it" sz="2600">
                <a:solidFill>
                  <a:schemeClr val="dk1"/>
                </a:solidFill>
              </a:rPr>
              <a:t>-2</a:t>
            </a:r>
            <a:r>
              <a:rPr lang="it">
                <a:solidFill>
                  <a:schemeClr val="dk1"/>
                </a:solidFill>
              </a:rPr>
              <a:t>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" name="Google Shape;44;p9"/>
          <p:cNvSpPr/>
          <p:nvPr/>
        </p:nvSpPr>
        <p:spPr>
          <a:xfrm>
            <a:off x="8613775" y="4729163"/>
            <a:ext cx="4572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46" name="Google Shape;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8663" y="488656"/>
            <a:ext cx="1666670" cy="1666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Well designed services</a:t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it"/>
              <a:t>In the real world, products and services are made of tangible </a:t>
            </a:r>
            <a:r>
              <a:rPr b="1" lang="it">
                <a:solidFill>
                  <a:srgbClr val="0B5394"/>
                </a:solidFill>
              </a:rPr>
              <a:t>hardware</a:t>
            </a:r>
            <a:r>
              <a:rPr lang="it"/>
              <a:t> and </a:t>
            </a:r>
            <a:r>
              <a:rPr b="1" lang="it">
                <a:solidFill>
                  <a:srgbClr val="0B5394"/>
                </a:solidFill>
              </a:rPr>
              <a:t>software</a:t>
            </a:r>
            <a:r>
              <a:rPr lang="it"/>
              <a:t> but inside consumer’s minds they are mainly made of </a:t>
            </a:r>
            <a:r>
              <a:rPr b="1" lang="it">
                <a:solidFill>
                  <a:srgbClr val="0B5394"/>
                </a:solidFill>
              </a:rPr>
              <a:t>experiences</a:t>
            </a:r>
            <a:r>
              <a:rPr lang="it"/>
              <a:t> (</a:t>
            </a:r>
            <a:r>
              <a:rPr b="1" lang="it">
                <a:solidFill>
                  <a:srgbClr val="0B5394"/>
                </a:solidFill>
              </a:rPr>
              <a:t>UX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</a:rPr>
              <a:t>User eXperience</a:t>
            </a:r>
            <a:r>
              <a:rPr lang="it"/>
              <a:t>)</a:t>
            </a:r>
            <a:br>
              <a:rPr lang="it"/>
            </a:br>
            <a:endParaRPr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"/>
              <a:t>If a product doesn't work as a person thinks it should do, the person will be </a:t>
            </a:r>
            <a:r>
              <a:rPr b="1" lang="it">
                <a:solidFill>
                  <a:srgbClr val="0B5394"/>
                </a:solidFill>
              </a:rPr>
              <a:t>frustrated</a:t>
            </a:r>
            <a:r>
              <a:rPr lang="it"/>
              <a:t> even if he/she will be able to successfully perform the given task</a:t>
            </a:r>
            <a:endParaRPr/>
          </a:p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9" name="Google Shape;59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Bad design: service abandon</a:t>
            </a:r>
            <a:endParaRPr/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150" y="1244204"/>
            <a:ext cx="852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7611" lvl="1" marL="45508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it" sz="2000">
                <a:solidFill>
                  <a:schemeClr val="dk1"/>
                </a:solidFill>
              </a:rPr>
              <a:t>If the UX is negative, the user can decide to abandon the app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1" name="Google Shape;61;p11"/>
          <p:cNvSpPr/>
          <p:nvPr/>
        </p:nvSpPr>
        <p:spPr>
          <a:xfrm>
            <a:off x="822300" y="2047177"/>
            <a:ext cx="7499400" cy="23046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5413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it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it" sz="6000">
                <a:solidFill>
                  <a:schemeClr val="lt1"/>
                </a:solidFill>
              </a:rPr>
              <a:t>5</a:t>
            </a:r>
            <a:r>
              <a:rPr b="0" i="0" lang="it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it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apps are opened once </a:t>
            </a:r>
            <a:br>
              <a:rPr b="0" i="0" lang="it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and then abandoned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413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it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48% </a:t>
            </a:r>
            <a:r>
              <a:rPr b="0" i="0" lang="it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apps are only used 10 times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67" name="Google Shape;6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127" y="205575"/>
            <a:ext cx="6781747" cy="439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2"/>
          <p:cNvSpPr txBox="1"/>
          <p:nvPr/>
        </p:nvSpPr>
        <p:spPr>
          <a:xfrm>
            <a:off x="3171175" y="4484550"/>
            <a:ext cx="590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alibri"/>
                <a:ea typeface="Calibri"/>
                <a:cs typeface="Calibri"/>
                <a:sym typeface="Calibri"/>
              </a:rPr>
              <a:t>https://www.statista.com/statistics/271628/percentage-of-apps-used-once-in-the-us/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4" name="Google Shape;7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Mobile design</a:t>
            </a:r>
            <a:endParaRPr/>
          </a:p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Designing an app is a complex process and requires to: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take into account the </a:t>
            </a:r>
            <a:r>
              <a:rPr b="1" lang="it">
                <a:solidFill>
                  <a:srgbClr val="0B5394"/>
                </a:solidFill>
              </a:rPr>
              <a:t>context</a:t>
            </a:r>
            <a:r>
              <a:rPr lang="it"/>
              <a:t> of use (mobility,  attention level, stress situation)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consider the typical </a:t>
            </a:r>
            <a:r>
              <a:rPr b="1" lang="it">
                <a:solidFill>
                  <a:srgbClr val="0B5394"/>
                </a:solidFill>
              </a:rPr>
              <a:t>user</a:t>
            </a:r>
            <a:r>
              <a:rPr b="1" lang="it">
                <a:solidFill>
                  <a:srgbClr val="0070C0"/>
                </a:solidFill>
              </a:rPr>
              <a:t> </a:t>
            </a:r>
            <a:r>
              <a:rPr b="1" lang="it">
                <a:solidFill>
                  <a:srgbClr val="0B5394"/>
                </a:solidFill>
              </a:rPr>
              <a:t>interactions</a:t>
            </a:r>
            <a:r>
              <a:rPr lang="it"/>
              <a:t> (touch gestures, thumb rule, pattern)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make the tasks </a:t>
            </a:r>
            <a:r>
              <a:rPr b="1" lang="it">
                <a:solidFill>
                  <a:srgbClr val="0B5394"/>
                </a:solidFill>
              </a:rPr>
              <a:t>easy</a:t>
            </a:r>
            <a:r>
              <a:rPr lang="it"/>
              <a:t> and </a:t>
            </a:r>
            <a:r>
              <a:rPr b="1" lang="it">
                <a:solidFill>
                  <a:srgbClr val="0B5394"/>
                </a:solidFill>
              </a:rPr>
              <a:t>mobile</a:t>
            </a:r>
            <a:r>
              <a:rPr b="1" lang="it">
                <a:solidFill>
                  <a:srgbClr val="0070C0"/>
                </a:solidFill>
              </a:rPr>
              <a:t> </a:t>
            </a:r>
            <a:r>
              <a:rPr b="1" lang="it">
                <a:solidFill>
                  <a:srgbClr val="0B5394"/>
                </a:solidFill>
              </a:rPr>
              <a:t>oriented</a:t>
            </a:r>
            <a:r>
              <a:rPr lang="it"/>
              <a:t> (display size, web speed, battery)</a:t>
            </a:r>
            <a:endParaRPr/>
          </a:p>
        </p:txBody>
      </p:sp>
      <p:grpSp>
        <p:nvGrpSpPr>
          <p:cNvPr id="76" name="Google Shape;76;p13"/>
          <p:cNvGrpSpPr/>
          <p:nvPr/>
        </p:nvGrpSpPr>
        <p:grpSpPr>
          <a:xfrm>
            <a:off x="2359598" y="3053985"/>
            <a:ext cx="4424803" cy="1396752"/>
            <a:chOff x="2078040" y="3053985"/>
            <a:chExt cx="4424803" cy="1396752"/>
          </a:xfrm>
        </p:grpSpPr>
        <p:pic>
          <p:nvPicPr>
            <p:cNvPr descr="http://cdn.flaticon.com/png/256/10570.png" id="77" name="Google Shape;77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078040" y="3053985"/>
              <a:ext cx="1396752" cy="13967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8" name="Google Shape;78;p13"/>
            <p:cNvGrpSpPr/>
            <p:nvPr/>
          </p:nvGrpSpPr>
          <p:grpSpPr>
            <a:xfrm>
              <a:off x="4924824" y="3160604"/>
              <a:ext cx="1578019" cy="1183514"/>
              <a:chOff x="4067944" y="5079369"/>
              <a:chExt cx="1578019" cy="1578019"/>
            </a:xfrm>
          </p:grpSpPr>
          <p:pic>
            <p:nvPicPr>
              <p:cNvPr descr="http://cdn.flaticon.com/png/256/10910.png" id="79" name="Google Shape;79;p1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67944" y="5079369"/>
                <a:ext cx="1578019" cy="15780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" name="Google Shape;80;p13"/>
              <p:cNvSpPr/>
              <p:nvPr/>
            </p:nvSpPr>
            <p:spPr>
              <a:xfrm>
                <a:off x="4122724" y="5178731"/>
                <a:ext cx="665400" cy="55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 rot="-992936">
                <a:off x="4273375" y="5231268"/>
                <a:ext cx="54769" cy="48269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4327977" y="5660821"/>
                <a:ext cx="409500" cy="5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" name="Google Shape;83;p13"/>
            <p:cNvSpPr txBox="1"/>
            <p:nvPr/>
          </p:nvSpPr>
          <p:spPr>
            <a:xfrm>
              <a:off x="3666999" y="3455520"/>
              <a:ext cx="9540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1" i="0" lang="it" sz="5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descr="C:\Users\Lara\Desktop\lukew.JPG" id="89" name="Google Shape;89;p14"/>
          <p:cNvPicPr preferRelativeResize="0"/>
          <p:nvPr/>
        </p:nvPicPr>
        <p:blipFill rotWithShape="1">
          <a:blip r:embed="rId3">
            <a:alphaModFix/>
          </a:blip>
          <a:srcRect b="1951" l="0" r="0" t="0"/>
          <a:stretch/>
        </p:blipFill>
        <p:spPr>
          <a:xfrm>
            <a:off x="723794" y="1"/>
            <a:ext cx="7696412" cy="471697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/>
          <p:nvPr/>
        </p:nvSpPr>
        <p:spPr>
          <a:xfrm>
            <a:off x="1039200" y="316298"/>
            <a:ext cx="3480600" cy="6696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it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Context of use!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Heterogeneity</a:t>
            </a:r>
            <a:endParaRPr/>
          </a:p>
        </p:txBody>
      </p:sp>
      <p:sp>
        <p:nvSpPr>
          <p:cNvPr id="96" name="Google Shape;96;p1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descr="C:\Users\Lara\Desktop\PRESENTAZIONE 12 GENNAIO\people.jpg" id="97" name="Google Shape;97;p15"/>
          <p:cNvPicPr preferRelativeResize="0"/>
          <p:nvPr/>
        </p:nvPicPr>
        <p:blipFill rotWithShape="1">
          <a:blip r:embed="rId3">
            <a:alphaModFix/>
          </a:blip>
          <a:srcRect b="42528" l="0" r="0" t="0"/>
          <a:stretch/>
        </p:blipFill>
        <p:spPr>
          <a:xfrm>
            <a:off x="591726" y="2805448"/>
            <a:ext cx="7950340" cy="1807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4245" y="203100"/>
            <a:ext cx="4459750" cy="2506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6507286" y="203096"/>
            <a:ext cx="2007000" cy="528900"/>
          </a:xfrm>
          <a:prstGeom prst="rect">
            <a:avLst/>
          </a:prstGeom>
          <a:solidFill>
            <a:srgbClr val="143F6A"/>
          </a:solidFill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it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591726" y="2805448"/>
            <a:ext cx="1779300" cy="528900"/>
          </a:xfrm>
          <a:prstGeom prst="rect">
            <a:avLst/>
          </a:prstGeom>
          <a:solidFill>
            <a:srgbClr val="143F6A"/>
          </a:solidFill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it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People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6" name="Google Shape;106;p16"/>
          <p:cNvSpPr txBox="1"/>
          <p:nvPr>
            <p:ph idx="4294967295" type="title"/>
          </p:nvPr>
        </p:nvSpPr>
        <p:spPr>
          <a:xfrm>
            <a:off x="0" y="0"/>
            <a:ext cx="9144000" cy="8574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45700" lIns="23400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>
                <a:solidFill>
                  <a:schemeClr val="lt1"/>
                </a:solidFill>
              </a:rPr>
              <a:t>You are not your users!</a:t>
            </a:r>
            <a:endParaRPr/>
          </a:p>
        </p:txBody>
      </p:sp>
      <p:pic>
        <p:nvPicPr>
          <p:cNvPr descr="C:\Users\Lara\Documents\TRAINING ME\how it people see user, using their app for the first time.gif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4537" y="1580686"/>
            <a:ext cx="4954926" cy="2784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3" name="Google Shape;11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Required skills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 order to successfully master the mobile app design process, lots of skills are required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Some fall in the general domain of </a:t>
            </a:r>
            <a:r>
              <a:rPr b="1" lang="it">
                <a:solidFill>
                  <a:srgbClr val="0B5394"/>
                </a:solidFill>
              </a:rPr>
              <a:t>computer engineering</a:t>
            </a:r>
            <a:r>
              <a:rPr lang="it"/>
              <a:t> (problem analysis, overall software architecture, coding, testing, …)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Some fall, instead, in the broader field of </a:t>
            </a:r>
            <a:r>
              <a:rPr b="1" lang="it">
                <a:solidFill>
                  <a:srgbClr val="0B5394"/>
                </a:solidFill>
              </a:rPr>
              <a:t>human sciences</a:t>
            </a:r>
            <a:r>
              <a:rPr lang="it"/>
              <a:t> (physiology, psychology, sociology, …)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Others regard </a:t>
            </a:r>
            <a:r>
              <a:rPr b="1" lang="it">
                <a:solidFill>
                  <a:srgbClr val="0B5394"/>
                </a:solidFill>
              </a:rPr>
              <a:t>work organization</a:t>
            </a:r>
            <a:r>
              <a:rPr lang="it"/>
              <a:t> (project management, task subdivision, leadership, …)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Given this fact, a </a:t>
            </a:r>
            <a:r>
              <a:rPr b="1" lang="it">
                <a:solidFill>
                  <a:srgbClr val="0B5394"/>
                </a:solidFill>
              </a:rPr>
              <a:t>multi-disciplinary</a:t>
            </a:r>
            <a:r>
              <a:rPr lang="it"/>
              <a:t> approach will be followed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You will be taught some lectures from psychologists and designers in order to learn some basic principles of mobile interaction design  </a:t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9325" y="122850"/>
            <a:ext cx="1181826" cy="118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1" name="Google Shape;12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Common intent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 sz="2000"/>
              <a:t>During labs, psychologists, designers and engineers will guide and review your work in order to</a:t>
            </a:r>
            <a:r>
              <a:rPr lang="it"/>
              <a:t>…</a:t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2105850" y="1881625"/>
            <a:ext cx="2864400" cy="2493600"/>
          </a:xfrm>
          <a:prstGeom prst="ellipse">
            <a:avLst/>
          </a:prstGeom>
          <a:noFill/>
          <a:ln cap="flat" cmpd="sng" w="57150">
            <a:solidFill>
              <a:srgbClr val="B1BBC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4037431" y="1881625"/>
            <a:ext cx="2864400" cy="2493600"/>
          </a:xfrm>
          <a:prstGeom prst="ellipse">
            <a:avLst/>
          </a:prstGeom>
          <a:noFill/>
          <a:ln cap="flat" cmpd="sng" w="5715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Lara\Desktop\informatic.png" id="125" name="Google Shape;1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0819" y="1881614"/>
            <a:ext cx="2233562" cy="1228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Lara\Desktop\psychologist.png" id="126" name="Google Shape;12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632" y="2966686"/>
            <a:ext cx="2440482" cy="13425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opticomapps.com/wp-content/uploads/sites/4/2013/10/Happy-Mobile-User.png" id="127" name="Google Shape;127;p18"/>
          <p:cNvPicPr preferRelativeResize="0"/>
          <p:nvPr/>
        </p:nvPicPr>
        <p:blipFill rotWithShape="1">
          <a:blip r:embed="rId5">
            <a:alphaModFix/>
          </a:blip>
          <a:srcRect b="3530" l="33441" r="17596" t="10787"/>
          <a:stretch/>
        </p:blipFill>
        <p:spPr>
          <a:xfrm>
            <a:off x="3271650" y="2294226"/>
            <a:ext cx="2365274" cy="166845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0"/>
              </a:srgbClr>
            </a:outerShdw>
          </a:effectLst>
        </p:spPr>
      </p:pic>
      <p:sp>
        <p:nvSpPr>
          <p:cNvPr id="128" name="Google Shape;128;p18"/>
          <p:cNvSpPr txBox="1"/>
          <p:nvPr/>
        </p:nvSpPr>
        <p:spPr>
          <a:xfrm>
            <a:off x="2711300" y="3964850"/>
            <a:ext cx="3546900" cy="8037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it" sz="2400">
                <a:solidFill>
                  <a:schemeClr val="lt1"/>
                </a:solidFill>
              </a:rPr>
              <a:t>Create an app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it" sz="3200">
                <a:solidFill>
                  <a:schemeClr val="lt1"/>
                </a:solidFill>
              </a:rPr>
              <a:t>users love to use!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35" name="Google Shape;13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Course organization</a:t>
            </a:r>
            <a:endParaRPr/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We will cover four main areas of knowledge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The </a:t>
            </a:r>
            <a:r>
              <a:rPr b="1" lang="it">
                <a:solidFill>
                  <a:srgbClr val="0B5394"/>
                </a:solidFill>
              </a:rPr>
              <a:t>Kotlin programming language</a:t>
            </a:r>
            <a:r>
              <a:rPr lang="it"/>
              <a:t>, as a foundation for writing Android applications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The </a:t>
            </a:r>
            <a:r>
              <a:rPr b="1" lang="it">
                <a:solidFill>
                  <a:srgbClr val="0B5394"/>
                </a:solidFill>
              </a:rPr>
              <a:t>Android framework</a:t>
            </a:r>
            <a:r>
              <a:rPr lang="it"/>
              <a:t>, with its peculiarities and APIs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The </a:t>
            </a:r>
            <a:r>
              <a:rPr b="1" lang="it">
                <a:solidFill>
                  <a:srgbClr val="0B5394"/>
                </a:solidFill>
              </a:rPr>
              <a:t>User Centered Design</a:t>
            </a:r>
            <a:r>
              <a:rPr lang="it"/>
              <a:t> process, and its implications on the overall user experience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The </a:t>
            </a:r>
            <a:r>
              <a:rPr b="1" lang="it">
                <a:solidFill>
                  <a:srgbClr val="0B5394"/>
                </a:solidFill>
              </a:rPr>
              <a:t>team working experience</a:t>
            </a:r>
            <a:r>
              <a:rPr lang="it"/>
              <a:t>, as a preparation to the real working environment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Lab session will be held fortnightly, with the aim to reinforce and deepen the understanding of the material presented during the lectures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Lab assignments will be graded and contribute to the exam score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implementation of a medium scale project to be delivered by the end of the course will complete your learning process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_thinking.jpg" id="141" name="Google Shape;1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6900" y="455735"/>
            <a:ext cx="3552825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Design thinking</a:t>
            </a:r>
            <a:endParaRPr/>
          </a:p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7494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7868"/>
              <a:buChar char="•"/>
            </a:pPr>
            <a:r>
              <a:rPr lang="it" sz="2152"/>
              <a:t>The overall development process will follow the design thinking approach</a:t>
            </a:r>
            <a:endParaRPr sz="2152"/>
          </a:p>
          <a:p>
            <a:pPr indent="-200976" lvl="1" marL="5413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First of all,</a:t>
            </a:r>
            <a:r>
              <a:rPr lang="it">
                <a:solidFill>
                  <a:srgbClr val="6F6F6F"/>
                </a:solidFill>
              </a:rPr>
              <a:t> </a:t>
            </a:r>
            <a:r>
              <a:rPr b="1" lang="it">
                <a:solidFill>
                  <a:srgbClr val="0B5394"/>
                </a:solidFill>
              </a:rPr>
              <a:t>think and empathize</a:t>
            </a:r>
            <a:r>
              <a:rPr lang="it">
                <a:solidFill>
                  <a:srgbClr val="6F6F6F"/>
                </a:solidFill>
              </a:rPr>
              <a:t> </a:t>
            </a:r>
            <a:r>
              <a:rPr lang="it"/>
              <a:t>with</a:t>
            </a:r>
            <a:endParaRPr/>
          </a:p>
          <a:p>
            <a:pPr indent="-228600" lvl="2" marL="7159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it" sz="1600">
                <a:solidFill>
                  <a:schemeClr val="dk1"/>
                </a:solidFill>
              </a:rPr>
              <a:t>users</a:t>
            </a:r>
            <a:endParaRPr sz="1600">
              <a:solidFill>
                <a:schemeClr val="dk1"/>
              </a:solidFill>
            </a:endParaRPr>
          </a:p>
          <a:p>
            <a:pPr indent="-228600" lvl="2" marL="7159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it" sz="1600">
                <a:solidFill>
                  <a:schemeClr val="dk1"/>
                </a:solidFill>
              </a:rPr>
              <a:t>the possible use cases </a:t>
            </a:r>
            <a:endParaRPr sz="1600">
              <a:solidFill>
                <a:schemeClr val="dk1"/>
              </a:solidFill>
            </a:endParaRPr>
          </a:p>
          <a:p>
            <a:pPr indent="-228600" lvl="2" marL="7159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it" sz="1600">
                <a:solidFill>
                  <a:schemeClr val="dk1"/>
                </a:solidFill>
              </a:rPr>
              <a:t>the consequent design of the app (information architecture, interaction and visual design)</a:t>
            </a:r>
            <a:endParaRPr sz="1600">
              <a:solidFill>
                <a:schemeClr val="dk1"/>
              </a:solidFill>
            </a:endParaRPr>
          </a:p>
          <a:p>
            <a:pPr indent="-200976" lvl="1" marL="5413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>
                <a:solidFill>
                  <a:schemeClr val="dk1"/>
                </a:solidFill>
              </a:rPr>
              <a:t>Only then, </a:t>
            </a:r>
            <a:r>
              <a:rPr b="1" lang="it">
                <a:solidFill>
                  <a:srgbClr val="0B5394"/>
                </a:solidFill>
              </a:rPr>
              <a:t>start coding</a:t>
            </a:r>
            <a:r>
              <a:rPr lang="it">
                <a:solidFill>
                  <a:schemeClr val="dk1"/>
                </a:solidFill>
              </a:rPr>
              <a:t> and </a:t>
            </a:r>
            <a:r>
              <a:rPr b="1" lang="it">
                <a:solidFill>
                  <a:srgbClr val="0B5394"/>
                </a:solidFill>
              </a:rPr>
              <a:t>check your results</a:t>
            </a:r>
            <a:r>
              <a:rPr b="1" lang="it">
                <a:solidFill>
                  <a:schemeClr val="dk1"/>
                </a:solidFill>
              </a:rPr>
              <a:t> </a:t>
            </a:r>
            <a:r>
              <a:rPr lang="it">
                <a:solidFill>
                  <a:schemeClr val="dk1"/>
                </a:solidFill>
              </a:rPr>
              <a:t>with users</a:t>
            </a:r>
            <a:endParaRPr>
              <a:solidFill>
                <a:schemeClr val="dk1"/>
              </a:solidFill>
            </a:endParaRPr>
          </a:p>
          <a:p>
            <a:pPr indent="-258444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475"/>
              <a:buChar char="•"/>
            </a:pPr>
            <a:r>
              <a:rPr lang="it" sz="2152"/>
              <a:t>Keep agile</a:t>
            </a:r>
            <a:r>
              <a:rPr lang="it"/>
              <a:t> </a:t>
            </a:r>
            <a:endParaRPr/>
          </a:p>
          <a:p>
            <a:pPr indent="-206373" lvl="1" marL="5413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6250"/>
              <a:buChar char="○"/>
            </a:pPr>
            <a:r>
              <a:rPr lang="it"/>
              <a:t>Set goals</a:t>
            </a:r>
            <a:endParaRPr/>
          </a:p>
          <a:p>
            <a:pPr indent="-206373" lvl="1" marL="5413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6250"/>
              <a:buChar char="○"/>
            </a:pPr>
            <a:r>
              <a:rPr lang="it"/>
              <a:t>Provide tests</a:t>
            </a:r>
            <a:endParaRPr/>
          </a:p>
          <a:p>
            <a:pPr indent="-206373" lvl="1" marL="5413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6250"/>
              <a:buChar char="○"/>
            </a:pPr>
            <a:r>
              <a:rPr lang="it"/>
              <a:t>Share your results and materials on GitHub</a:t>
            </a:r>
            <a:endParaRPr/>
          </a:p>
          <a:p>
            <a:pPr indent="-206373" lvl="1" marL="5413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6250"/>
              <a:buChar char="○"/>
            </a:pPr>
            <a:r>
              <a:rPr lang="it"/>
              <a:t>Collaborate using Slack</a:t>
            </a:r>
            <a:endParaRPr/>
          </a:p>
          <a:p>
            <a:pPr indent="-206373" lvl="1" marL="5413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6250"/>
              <a:buChar char="○"/>
            </a:pPr>
            <a:r>
              <a:rPr lang="it"/>
              <a:t>Weekly review your work</a:t>
            </a:r>
            <a:endParaRPr/>
          </a:p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45" name="Google Shape;14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3481554"/>
            <a:ext cx="3165230" cy="1247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51" name="Google Shape;15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Overall course assignment</a:t>
            </a:r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69875" lvl="0" marL="2698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Create an app that supports</a:t>
            </a:r>
            <a:r>
              <a:rPr b="1" i="1" lang="it">
                <a:solidFill>
                  <a:srgbClr val="00B0F0"/>
                </a:solidFill>
              </a:rPr>
              <a:t> </a:t>
            </a:r>
            <a:r>
              <a:rPr b="1" i="1" lang="it">
                <a:solidFill>
                  <a:srgbClr val="0B5394"/>
                </a:solidFill>
              </a:rPr>
              <a:t>operating inside a team</a:t>
            </a:r>
            <a:r>
              <a:rPr i="1" lang="it">
                <a:solidFill>
                  <a:srgbClr val="00B0F0"/>
                </a:solidFill>
              </a:rPr>
              <a:t> 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Users can: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Subscribe to the system and manage their personal profile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it">
                <a:solidFill>
                  <a:schemeClr val="dk1"/>
                </a:solidFill>
              </a:rPr>
              <a:t>Create new teams and manage their own participation to existing ones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it">
                <a:solidFill>
                  <a:schemeClr val="dk1"/>
                </a:solidFill>
              </a:rPr>
              <a:t>Invite other users to join the team they have created</a:t>
            </a:r>
            <a:endParaRPr>
              <a:solidFill>
                <a:schemeClr val="dk1"/>
              </a:solidFill>
            </a:endParaRPr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Create a new single or recurring task to be performed by a team and set its schedule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it">
                <a:solidFill>
                  <a:schemeClr val="dk1"/>
                </a:solidFill>
              </a:rPr>
              <a:t>Update the state of a task, document the work done with pictures and text, report the consumed effort and resources</a:t>
            </a:r>
            <a:endParaRPr>
              <a:solidFill>
                <a:schemeClr val="dk1"/>
              </a:solidFill>
            </a:endParaRPr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Have a clear visualization of what has been done and what has to be done, yet</a:t>
            </a:r>
            <a:endParaRPr/>
          </a:p>
          <a:p>
            <a:pPr indent="-2127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Communicate in a structured way with other members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Groups are encouraged to propose extensions to these basic requirements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58" name="Google Shape;15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Course grading</a:t>
            </a:r>
            <a:endParaRPr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Written exam: up to 18 points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Lab sessions: up to 10 points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Final project: up to 5 points</a:t>
            </a:r>
            <a:endParaRPr/>
          </a:p>
          <a:p>
            <a:pPr indent="0" lvl="0" marL="825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4850" y="1244200"/>
            <a:ext cx="3066849" cy="306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6" name="Google Shape;16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Setup your group</a:t>
            </a:r>
            <a:endParaRPr/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Both lab sessions and the final project will be carried out in groups of FOUR people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Group should be setup by Monday March 18</a:t>
            </a:r>
            <a:r>
              <a:rPr baseline="30000" lang="it"/>
              <a:t>th</a:t>
            </a:r>
            <a:r>
              <a:rPr lang="it"/>
              <a:t> 2024, 24.00 – before the first team lab session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Send me an e-mail message having subject "MAD-24-GroupSetup" with the full name and student ID of the four members 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Groups can be consulted at the following spreadsheet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https://docs.google.com/spreadsheets/d/1DKTqzizsTy-g3vg1F46tLUJwl9-vLGnV2j15DCbT2E8/edit?usp=sharing</a:t>
            </a:r>
            <a:r>
              <a:rPr lang="it"/>
              <a:t> </a:t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4875" y="78175"/>
            <a:ext cx="1090050" cy="109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74" name="Google Shape;17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First assignment</a:t>
            </a:r>
            <a:endParaRPr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Have a look to existing teamwork management applications and try to answer to the following questions: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What are the main features they offer?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How are teams managed?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it"/>
              <a:t>What features are they lacking (if any) with respect to the proposed scenario?</a:t>
            </a:r>
            <a:endParaRPr/>
          </a:p>
        </p:txBody>
      </p:sp>
      <p:sp>
        <p:nvSpPr>
          <p:cNvPr id="176" name="Google Shape;176;p24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mobitrends.co.ke/wp-content/uploads/2015/05/mobile-icon-png-cool.png" id="177" name="Google Shape;1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6283" y="205979"/>
            <a:ext cx="1091018" cy="1091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