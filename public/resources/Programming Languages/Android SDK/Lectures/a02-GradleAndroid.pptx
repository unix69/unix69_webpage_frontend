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Gill Sans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illSans-regular.fntdata"/><Relationship Id="rId20" Type="http://schemas.openxmlformats.org/officeDocument/2006/relationships/slide" Target="slides/slide15.xml"/><Relationship Id="rId41" Type="http://schemas.openxmlformats.org/officeDocument/2006/relationships/font" Target="fonts/GillSans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aaba27c70d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2aaba27c70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Google Shape;39;g2aaba27c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aaba27c70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2aaba27c70d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aaba27c70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2aaba27c70d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aaba27c70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2aaba27c70d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aba27c70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2aaba27c70d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aaba27c70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2aaba27c70d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aaba27c70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2aaba27c70d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aaba27c70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2aaba27c70d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aba27c70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2aaba27c70d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aaba27c70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2aaba27c70d_0_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aaba27c70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2aaba27c70d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aba27c70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2aaba27c70d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aaba27c70d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2aaba27c70d_0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aaba27c70d_0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aaba27c70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2aaba27c70d_0_1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aaba27c70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2aaba27c70d_0_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aaba27c70d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2aaba27c70d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aaba27c70d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2aaba27c70d_0_1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aaba27c70d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2aaba27c70d_0_1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aaba27c70d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2aaba27c70d_0_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aaba27c70d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2aaba27c70d_0_1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aaba27c70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2aaba27c70d_0_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aaba27c70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2aaba27c70d_0_1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aaba27c70d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aaba27c70d_0_1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aaba27c70d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aaba27c70d_0_2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aaba27c70d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2aaba27c70d_0_2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aaba27c70d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2aaba27c70d_0_2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aaba27c70d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2aaba27c70d_0_2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aba27c70d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2aaba27c70d_0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aaba27c70d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2aaba27c70d_0_2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aaba27c70d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2aaba27c70d_0_2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aaba27c70d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2aaba27c70d_0_2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aaba27c70d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2aaba27c70d_0_2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aba27c70d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2aaba27c70d_0_2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aaba27c70d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2aaba27c70d_0_2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>
  <p:cSld name="Titolo e contenut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1pPr>
            <a:lvl2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Noto Sans Symbols"/>
              <a:buChar char="▪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2020-24</a:t>
            </a:r>
            <a:endParaRPr i="1" sz="1100">
              <a:solidFill>
                <a:schemeClr val="lt1"/>
              </a:solidFill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radle-initializr.cleverapps.io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maven.apache.org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heckstyle.org/index.html" TargetMode="External"/><Relationship Id="rId4" Type="http://schemas.openxmlformats.org/officeDocument/2006/relationships/hyperlink" Target="http://pmd.github.io/" TargetMode="External"/><Relationship Id="rId5" Type="http://schemas.openxmlformats.org/officeDocument/2006/relationships/hyperlink" Target="http://www.eclemma.org/jacoco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Gill Sans"/>
                <a:ea typeface="Gill Sans"/>
                <a:cs typeface="Gill Sans"/>
                <a:sym typeface="Gill Sans"/>
              </a:rPr>
              <a:t>The Gradle build tool</a:t>
            </a:r>
            <a:endParaRPr/>
          </a:p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2743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rPr lang="it"/>
              <a:t>2023-24</a:t>
            </a:r>
            <a:endParaRPr/>
          </a:p>
        </p:txBody>
      </p:sp>
      <p:pic>
        <p:nvPicPr>
          <p:cNvPr id="43" name="Google Shape;43;p9"/>
          <p:cNvPicPr preferRelativeResize="0"/>
          <p:nvPr/>
        </p:nvPicPr>
        <p:blipFill rotWithShape="1">
          <a:blip r:embed="rId3">
            <a:alphaModFix/>
          </a:blip>
          <a:srcRect b="22576" l="0" r="0" t="0"/>
          <a:stretch/>
        </p:blipFill>
        <p:spPr>
          <a:xfrm>
            <a:off x="3607803" y="243102"/>
            <a:ext cx="1928382" cy="156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Introduction</a:t>
            </a:r>
            <a:endParaRPr/>
          </a:p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Gradle is a build and automation tool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Implemented in Java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Open source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Available stand-alone or integrated in IntelliJ Idea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Used to build apps in different ecosystems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JVM-based (Java, Kotlin, Groovy, …)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Android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Native (C, C++, Swift, …)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Other (Python, Go, …)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General principles</a:t>
            </a:r>
            <a:endParaRPr/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Convention based tool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Makes assumptions about the locations of source files, test files, </a:t>
            </a:r>
            <a:br>
              <a:rPr lang="it"/>
            </a:br>
            <a:r>
              <a:rPr lang="it"/>
              <a:t>resources, …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Supports multi-modules builds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Easy customizable via scripts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Support dependency management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Automatically downloading needed modules and libraries from listed repositories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3" name="Google Shape;63;p12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Describing the build process</a:t>
            </a:r>
            <a:endParaRPr/>
          </a:p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entire build process is described in one or more script files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Listing the project configuration, dependencies, and plugins needed to automate the process and reuse functionalities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Scripts can be authored in different languages (DSL)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Groovy  (build.gradle)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Kotlin (build.gradle.kts)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Initializing a Gradle project</a:t>
            </a:r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Using CLI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&gt; mkdir project_name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&gt; cd project_name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&gt; gradle init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Using IntelliJ Idea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File → New → Project →Gradle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Using Android Studio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Is the only way to create a project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Online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Visit </a:t>
            </a:r>
            <a:r>
              <a:rPr lang="it" u="sng">
                <a:solidFill>
                  <a:schemeClr val="hlink"/>
                </a:solidFill>
                <a:hlinkClick r:id="rId3"/>
              </a:rPr>
              <a:t>https://gradle-initializr.cleverapps.io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Download generated file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Plain project structure</a:t>
            </a:r>
            <a:endParaRPr/>
          </a:p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" name="Google Shape;78;p14"/>
          <p:cNvGrpSpPr/>
          <p:nvPr/>
        </p:nvGrpSpPr>
        <p:grpSpPr>
          <a:xfrm>
            <a:off x="1452716" y="1314363"/>
            <a:ext cx="5280298" cy="3269701"/>
            <a:chOff x="1435100" y="1886583"/>
            <a:chExt cx="5280298" cy="4359602"/>
          </a:xfrm>
        </p:grpSpPr>
        <p:sp>
          <p:nvSpPr>
            <p:cNvPr id="79" name="Google Shape;79;p14"/>
            <p:cNvSpPr/>
            <p:nvPr/>
          </p:nvSpPr>
          <p:spPr>
            <a:xfrm>
              <a:off x="1435100" y="1886583"/>
              <a:ext cx="1243800" cy="336000"/>
            </a:xfrm>
            <a:prstGeom prst="rect">
              <a:avLst/>
            </a:prstGeom>
            <a:gradFill>
              <a:gsLst>
                <a:gs pos="0">
                  <a:srgbClr val="D8CBDB"/>
                </a:gs>
                <a:gs pos="35000">
                  <a:srgbClr val="E4DAE4"/>
                </a:gs>
                <a:gs pos="100000">
                  <a:srgbClr val="F3EFF6"/>
                </a:gs>
              </a:gsLst>
              <a:lin ang="16200038" scaled="0"/>
            </a:gra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Project</a:t>
              </a:r>
              <a:endParaRPr/>
            </a:p>
          </p:txBody>
        </p:sp>
        <p:cxnSp>
          <p:nvCxnSpPr>
            <p:cNvPr id="80" name="Google Shape;80;p14"/>
            <p:cNvCxnSpPr>
              <a:stCxn id="79" idx="2"/>
              <a:endCxn id="81" idx="1"/>
            </p:cNvCxnSpPr>
            <p:nvPr/>
          </p:nvCxnSpPr>
          <p:spPr>
            <a:xfrm flipH="1" rot="-5400000">
              <a:off x="1587500" y="2692083"/>
              <a:ext cx="1229400" cy="2904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" name="Google Shape;82;p14"/>
            <p:cNvSpPr/>
            <p:nvPr/>
          </p:nvSpPr>
          <p:spPr>
            <a:xfrm>
              <a:off x="2347354" y="5910185"/>
              <a:ext cx="1243800" cy="336000"/>
            </a:xfrm>
            <a:prstGeom prst="rect">
              <a:avLst/>
            </a:prstGeom>
            <a:solidFill>
              <a:srgbClr val="A8CAEE"/>
            </a:solidFill>
            <a:ln cap="flat" cmpd="sng" w="9525">
              <a:solidFill>
                <a:srgbClr val="B45F06"/>
              </a:solidFill>
              <a:prstDash val="dash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src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" name="Google Shape;83;p14"/>
            <p:cNvCxnSpPr>
              <a:stCxn id="79" idx="2"/>
              <a:endCxn id="82" idx="1"/>
            </p:cNvCxnSpPr>
            <p:nvPr/>
          </p:nvCxnSpPr>
          <p:spPr>
            <a:xfrm flipH="1" rot="-5400000">
              <a:off x="274400" y="4005183"/>
              <a:ext cx="3855600" cy="2904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84" name="Google Shape;84;p14"/>
            <p:cNvSpPr/>
            <p:nvPr/>
          </p:nvSpPr>
          <p:spPr>
            <a:xfrm>
              <a:off x="2347354" y="2828096"/>
              <a:ext cx="1582800" cy="33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build.gradle.kts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2349009" y="2410669"/>
              <a:ext cx="1889700" cy="33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settings.gradle.kts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" name="Google Shape;86;p14"/>
            <p:cNvCxnSpPr>
              <a:stCxn id="79" idx="2"/>
              <a:endCxn id="84" idx="1"/>
            </p:cNvCxnSpPr>
            <p:nvPr/>
          </p:nvCxnSpPr>
          <p:spPr>
            <a:xfrm flipH="1" rot="-5400000">
              <a:off x="1815500" y="2464083"/>
              <a:ext cx="773400" cy="2904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4"/>
            <p:cNvCxnSpPr>
              <a:stCxn id="79" idx="2"/>
              <a:endCxn id="85" idx="1"/>
            </p:cNvCxnSpPr>
            <p:nvPr/>
          </p:nvCxnSpPr>
          <p:spPr>
            <a:xfrm flipH="1" rot="-5400000">
              <a:off x="2024900" y="2254683"/>
              <a:ext cx="356100" cy="2919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" name="Google Shape;81;p14"/>
            <p:cNvSpPr/>
            <p:nvPr/>
          </p:nvSpPr>
          <p:spPr>
            <a:xfrm>
              <a:off x="2347354" y="3283834"/>
              <a:ext cx="1582800" cy="33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gradlew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2352677" y="3726857"/>
              <a:ext cx="1582800" cy="33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gradlew.bat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" name="Google Shape;89;p14"/>
            <p:cNvCxnSpPr>
              <a:stCxn id="79" idx="2"/>
              <a:endCxn id="88" idx="1"/>
            </p:cNvCxnSpPr>
            <p:nvPr/>
          </p:nvCxnSpPr>
          <p:spPr>
            <a:xfrm flipH="1" rot="-5400000">
              <a:off x="1368800" y="2910783"/>
              <a:ext cx="1672200" cy="2958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0" name="Google Shape;90;p14"/>
            <p:cNvSpPr/>
            <p:nvPr/>
          </p:nvSpPr>
          <p:spPr>
            <a:xfrm>
              <a:off x="2347354" y="4173669"/>
              <a:ext cx="1243800" cy="336000"/>
            </a:xfrm>
            <a:prstGeom prst="rect">
              <a:avLst/>
            </a:prstGeom>
            <a:gradFill>
              <a:gsLst>
                <a:gs pos="0">
                  <a:srgbClr val="D8CBDB"/>
                </a:gs>
                <a:gs pos="35000">
                  <a:srgbClr val="E4DAE4"/>
                </a:gs>
                <a:gs pos="100000">
                  <a:srgbClr val="F3EFF6"/>
                </a:gs>
              </a:gsLst>
              <a:lin ang="16200038" scaled="0"/>
            </a:gra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gradle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" name="Google Shape;91;p14"/>
            <p:cNvCxnSpPr>
              <a:stCxn id="79" idx="2"/>
              <a:endCxn id="90" idx="1"/>
            </p:cNvCxnSpPr>
            <p:nvPr/>
          </p:nvCxnSpPr>
          <p:spPr>
            <a:xfrm flipH="1" rot="-5400000">
              <a:off x="1142600" y="3136983"/>
              <a:ext cx="2119200" cy="2904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" name="Google Shape;92;p14"/>
            <p:cNvSpPr/>
            <p:nvPr/>
          </p:nvSpPr>
          <p:spPr>
            <a:xfrm>
              <a:off x="3255717" y="4612297"/>
              <a:ext cx="1243800" cy="336000"/>
            </a:xfrm>
            <a:prstGeom prst="rect">
              <a:avLst/>
            </a:prstGeom>
            <a:gradFill>
              <a:gsLst>
                <a:gs pos="0">
                  <a:srgbClr val="D8CBDB"/>
                </a:gs>
                <a:gs pos="35000">
                  <a:srgbClr val="E4DAE4"/>
                </a:gs>
                <a:gs pos="100000">
                  <a:srgbClr val="F3EFF6"/>
                </a:gs>
              </a:gsLst>
              <a:lin ang="16200038" scaled="0"/>
            </a:gra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wrapper</a:t>
              </a:r>
              <a:endParaRPr/>
            </a:p>
          </p:txBody>
        </p:sp>
        <p:cxnSp>
          <p:nvCxnSpPr>
            <p:cNvPr id="93" name="Google Shape;93;p14"/>
            <p:cNvCxnSpPr>
              <a:stCxn id="90" idx="2"/>
              <a:endCxn id="92" idx="1"/>
            </p:cNvCxnSpPr>
            <p:nvPr/>
          </p:nvCxnSpPr>
          <p:spPr>
            <a:xfrm flipH="1" rot="-5400000">
              <a:off x="2977204" y="4501719"/>
              <a:ext cx="270600" cy="2865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" name="Google Shape;94;p14"/>
            <p:cNvSpPr/>
            <p:nvPr/>
          </p:nvSpPr>
          <p:spPr>
            <a:xfrm>
              <a:off x="4164798" y="5019149"/>
              <a:ext cx="2550600" cy="33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gradle.wrapper.jar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" name="Google Shape;95;p14"/>
            <p:cNvCxnSpPr>
              <a:stCxn id="92" idx="2"/>
              <a:endCxn id="94" idx="1"/>
            </p:cNvCxnSpPr>
            <p:nvPr/>
          </p:nvCxnSpPr>
          <p:spPr>
            <a:xfrm flipH="1" rot="-5400000">
              <a:off x="3901767" y="4924147"/>
              <a:ext cx="238800" cy="2871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" name="Google Shape;96;p14"/>
            <p:cNvSpPr/>
            <p:nvPr/>
          </p:nvSpPr>
          <p:spPr>
            <a:xfrm>
              <a:off x="4164797" y="5432128"/>
              <a:ext cx="2550600" cy="33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gradle.wrapper.properties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" name="Google Shape;97;p14"/>
            <p:cNvCxnSpPr>
              <a:stCxn id="92" idx="2"/>
              <a:endCxn id="96" idx="1"/>
            </p:cNvCxnSpPr>
            <p:nvPr/>
          </p:nvCxnSpPr>
          <p:spPr>
            <a:xfrm flipH="1" rot="-5400000">
              <a:off x="3695217" y="5130697"/>
              <a:ext cx="651900" cy="2871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8" name="Google Shape;98;p14"/>
          <p:cNvSpPr/>
          <p:nvPr/>
        </p:nvSpPr>
        <p:spPr>
          <a:xfrm>
            <a:off x="5221277" y="2025073"/>
            <a:ext cx="2826000" cy="2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66" y="59743"/>
                </a:moveTo>
                <a:lnTo>
                  <a:pt x="-54659" y="59315"/>
                </a:lnTo>
              </a:path>
            </a:pathLst>
          </a:custGeom>
          <a:solidFill>
            <a:srgbClr val="FFFFCC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build script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221278" y="1702481"/>
            <a:ext cx="2826000" cy="2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66" y="59743"/>
                </a:moveTo>
                <a:lnTo>
                  <a:pt x="-41316" y="60342"/>
                </a:lnTo>
              </a:path>
            </a:pathLst>
          </a:custGeom>
          <a:solidFill>
            <a:srgbClr val="FFFFCC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configuration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221287" y="3051469"/>
            <a:ext cx="2826000" cy="2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66" y="59743"/>
                </a:moveTo>
                <a:lnTo>
                  <a:pt x="-68204" y="59370"/>
                </a:lnTo>
              </a:path>
            </a:pathLst>
          </a:custGeom>
          <a:solidFill>
            <a:srgbClr val="FFFFCC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Wrapper copy of gradle code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221276" y="2388824"/>
            <a:ext cx="2826000" cy="2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66" y="59743"/>
                </a:moveTo>
                <a:lnTo>
                  <a:pt x="-54322" y="57421"/>
                </a:lnTo>
              </a:path>
            </a:pathLst>
          </a:custGeom>
          <a:solidFill>
            <a:srgbClr val="FFFFCC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shell script to run gradle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221275" y="2716712"/>
            <a:ext cx="2826000" cy="2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66" y="59743"/>
                </a:moveTo>
                <a:lnTo>
                  <a:pt x="-54568" y="57421"/>
                </a:lnTo>
              </a:path>
            </a:pathLst>
          </a:custGeom>
          <a:solidFill>
            <a:srgbClr val="FFFFCC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windows script to run gradle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Plain project structure</a:t>
            </a:r>
            <a:endParaRPr/>
          </a:p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2822682" y="2398067"/>
            <a:ext cx="1243800" cy="252000"/>
          </a:xfrm>
          <a:prstGeom prst="rect">
            <a:avLst/>
          </a:prstGeom>
          <a:gradFill>
            <a:gsLst>
              <a:gs pos="0">
                <a:srgbClr val="D8CBDB"/>
              </a:gs>
              <a:gs pos="35000">
                <a:srgbClr val="E4DAE4"/>
              </a:gs>
              <a:gs pos="100000">
                <a:srgbClr val="F3EFF6"/>
              </a:gs>
            </a:gsLst>
            <a:lin ang="16200038" scaled="0"/>
          </a:gradFill>
          <a:ln cap="flat" cmpd="sng" w="9525">
            <a:solidFill>
              <a:srgbClr val="998B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4688241" y="3083846"/>
            <a:ext cx="457200" cy="25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cxnSp>
        <p:nvCxnSpPr>
          <p:cNvPr id="111" name="Google Shape;111;p15"/>
          <p:cNvCxnSpPr>
            <a:stCxn id="112" idx="2"/>
            <a:endCxn id="109" idx="1"/>
          </p:cNvCxnSpPr>
          <p:nvPr/>
        </p:nvCxnSpPr>
        <p:spPr>
          <a:xfrm flipH="1" rot="-5400000">
            <a:off x="2530527" y="2231970"/>
            <a:ext cx="294000" cy="290400"/>
          </a:xfrm>
          <a:prstGeom prst="bentConnector2">
            <a:avLst/>
          </a:prstGeom>
          <a:noFill/>
          <a:ln cap="flat" cmpd="sng" w="254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15"/>
          <p:cNvCxnSpPr>
            <a:stCxn id="114" idx="2"/>
            <a:endCxn id="110" idx="1"/>
          </p:cNvCxnSpPr>
          <p:nvPr/>
        </p:nvCxnSpPr>
        <p:spPr>
          <a:xfrm flipH="1" rot="-5400000">
            <a:off x="4404073" y="2925849"/>
            <a:ext cx="229800" cy="338400"/>
          </a:xfrm>
          <a:prstGeom prst="bentConnector2">
            <a:avLst/>
          </a:prstGeom>
          <a:noFill/>
          <a:ln cap="flat" cmpd="sng" w="254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5"/>
          <p:cNvSpPr/>
          <p:nvPr/>
        </p:nvSpPr>
        <p:spPr>
          <a:xfrm>
            <a:off x="3727873" y="2728149"/>
            <a:ext cx="1243800" cy="252000"/>
          </a:xfrm>
          <a:prstGeom prst="rect">
            <a:avLst/>
          </a:prstGeom>
          <a:gradFill>
            <a:gsLst>
              <a:gs pos="0">
                <a:srgbClr val="D8CBDB"/>
              </a:gs>
              <a:gs pos="35000">
                <a:srgbClr val="E4DAE4"/>
              </a:gs>
              <a:gs pos="100000">
                <a:srgbClr val="F3EFF6"/>
              </a:gs>
            </a:gsLst>
            <a:lin ang="16200038" scaled="0"/>
          </a:gradFill>
          <a:ln cap="flat" cmpd="sng" w="9525">
            <a:solidFill>
              <a:srgbClr val="998B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/>
              <a:t>java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15"/>
          <p:cNvCxnSpPr>
            <a:stCxn id="109" idx="2"/>
            <a:endCxn id="114" idx="1"/>
          </p:cNvCxnSpPr>
          <p:nvPr/>
        </p:nvCxnSpPr>
        <p:spPr>
          <a:xfrm flipH="1" rot="-5400000">
            <a:off x="3484182" y="2610467"/>
            <a:ext cx="204000" cy="283200"/>
          </a:xfrm>
          <a:prstGeom prst="bentConnector2">
            <a:avLst/>
          </a:prstGeom>
          <a:noFill/>
          <a:ln cap="flat" cmpd="sng" w="254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15"/>
          <p:cNvSpPr/>
          <p:nvPr/>
        </p:nvSpPr>
        <p:spPr>
          <a:xfrm>
            <a:off x="2819018" y="3439542"/>
            <a:ext cx="1243800" cy="252000"/>
          </a:xfrm>
          <a:prstGeom prst="rect">
            <a:avLst/>
          </a:prstGeom>
          <a:gradFill>
            <a:gsLst>
              <a:gs pos="0">
                <a:srgbClr val="D8CBDB"/>
              </a:gs>
              <a:gs pos="35000">
                <a:srgbClr val="E4DAE4"/>
              </a:gs>
              <a:gs pos="100000">
                <a:srgbClr val="F3EFF6"/>
              </a:gs>
            </a:gsLst>
            <a:lin ang="16200038" scaled="0"/>
          </a:gradFill>
          <a:ln cap="flat" cmpd="sng" w="9525">
            <a:solidFill>
              <a:srgbClr val="998B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/>
          </a:p>
        </p:txBody>
      </p:sp>
      <p:cxnSp>
        <p:nvCxnSpPr>
          <p:cNvPr id="117" name="Google Shape;117;p15"/>
          <p:cNvCxnSpPr>
            <a:stCxn id="112" idx="2"/>
            <a:endCxn id="116" idx="1"/>
          </p:cNvCxnSpPr>
          <p:nvPr/>
        </p:nvCxnSpPr>
        <p:spPr>
          <a:xfrm flipH="1" rot="-5400000">
            <a:off x="2008077" y="2754420"/>
            <a:ext cx="1335300" cy="286800"/>
          </a:xfrm>
          <a:prstGeom prst="bentConnector2">
            <a:avLst/>
          </a:prstGeom>
          <a:noFill/>
          <a:ln cap="flat" cmpd="sng" w="254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15"/>
          <p:cNvSpPr/>
          <p:nvPr/>
        </p:nvSpPr>
        <p:spPr>
          <a:xfrm>
            <a:off x="4700858" y="4125320"/>
            <a:ext cx="457200" cy="25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  <p:cxnSp>
        <p:nvCxnSpPr>
          <p:cNvPr id="119" name="Google Shape;119;p15"/>
          <p:cNvCxnSpPr>
            <a:stCxn id="120" idx="2"/>
            <a:endCxn id="118" idx="1"/>
          </p:cNvCxnSpPr>
          <p:nvPr/>
        </p:nvCxnSpPr>
        <p:spPr>
          <a:xfrm flipH="1" rot="-5400000">
            <a:off x="4416690" y="3967323"/>
            <a:ext cx="229800" cy="338400"/>
          </a:xfrm>
          <a:prstGeom prst="bentConnector2">
            <a:avLst/>
          </a:prstGeom>
          <a:noFill/>
          <a:ln cap="flat" cmpd="sng" w="254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5"/>
          <p:cNvSpPr/>
          <p:nvPr/>
        </p:nvSpPr>
        <p:spPr>
          <a:xfrm>
            <a:off x="3740490" y="3769623"/>
            <a:ext cx="1243800" cy="252000"/>
          </a:xfrm>
          <a:prstGeom prst="rect">
            <a:avLst/>
          </a:prstGeom>
          <a:gradFill>
            <a:gsLst>
              <a:gs pos="0">
                <a:srgbClr val="D8CBDB"/>
              </a:gs>
              <a:gs pos="35000">
                <a:srgbClr val="E4DAE4"/>
              </a:gs>
              <a:gs pos="100000">
                <a:srgbClr val="F3EFF6"/>
              </a:gs>
            </a:gsLst>
            <a:lin ang="16200038" scaled="0"/>
          </a:gradFill>
          <a:ln cap="flat" cmpd="sng" w="9525">
            <a:solidFill>
              <a:srgbClr val="998B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/>
              <a:t>java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15"/>
          <p:cNvCxnSpPr>
            <a:stCxn id="116" idx="2"/>
            <a:endCxn id="120" idx="1"/>
          </p:cNvCxnSpPr>
          <p:nvPr/>
        </p:nvCxnSpPr>
        <p:spPr>
          <a:xfrm flipH="1" rot="-5400000">
            <a:off x="3488768" y="3643692"/>
            <a:ext cx="204000" cy="299700"/>
          </a:xfrm>
          <a:prstGeom prst="bentConnector2">
            <a:avLst/>
          </a:prstGeom>
          <a:noFill/>
          <a:ln cap="flat" cmpd="sng" w="254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5"/>
          <p:cNvSpPr/>
          <p:nvPr/>
        </p:nvSpPr>
        <p:spPr>
          <a:xfrm>
            <a:off x="1194534" y="1314363"/>
            <a:ext cx="1243800" cy="252000"/>
          </a:xfrm>
          <a:prstGeom prst="rect">
            <a:avLst/>
          </a:prstGeom>
          <a:solidFill>
            <a:srgbClr val="A8CAEE"/>
          </a:solidFill>
          <a:ln cap="flat" cmpd="sng" w="9525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1910427" y="1978170"/>
            <a:ext cx="1243800" cy="252000"/>
          </a:xfrm>
          <a:prstGeom prst="rect">
            <a:avLst/>
          </a:prstGeom>
          <a:gradFill>
            <a:gsLst>
              <a:gs pos="0">
                <a:srgbClr val="D8CBDB"/>
              </a:gs>
              <a:gs pos="35000">
                <a:srgbClr val="E4DAE4"/>
              </a:gs>
              <a:gs pos="100000">
                <a:srgbClr val="F3EFF6"/>
              </a:gs>
            </a:gsLst>
            <a:lin ang="16200038" scaled="0"/>
          </a:gradFill>
          <a:ln cap="flat" cmpd="sng" w="9525">
            <a:solidFill>
              <a:srgbClr val="998B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src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15"/>
          <p:cNvCxnSpPr>
            <a:stCxn id="122" idx="2"/>
            <a:endCxn id="112" idx="1"/>
          </p:cNvCxnSpPr>
          <p:nvPr/>
        </p:nvCxnSpPr>
        <p:spPr>
          <a:xfrm flipH="1" rot="-5400000">
            <a:off x="1594434" y="1788363"/>
            <a:ext cx="537900" cy="93900"/>
          </a:xfrm>
          <a:prstGeom prst="bentConnector2">
            <a:avLst/>
          </a:prstGeom>
          <a:noFill/>
          <a:ln cap="flat" cmpd="sng" w="254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15"/>
          <p:cNvSpPr/>
          <p:nvPr/>
        </p:nvSpPr>
        <p:spPr>
          <a:xfrm>
            <a:off x="6218948" y="3074841"/>
            <a:ext cx="1530600" cy="2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66" y="59743"/>
                </a:moveTo>
                <a:lnTo>
                  <a:pt x="-83489" y="60329"/>
                </a:lnTo>
              </a:path>
            </a:pathLst>
          </a:custGeom>
          <a:solidFill>
            <a:srgbClr val="FFFFCC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files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6218948" y="4136465"/>
            <a:ext cx="1530600" cy="2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66" y="59743"/>
                </a:moveTo>
                <a:lnTo>
                  <a:pt x="-83489" y="60329"/>
                </a:lnTo>
              </a:path>
            </a:pathLst>
          </a:custGeom>
          <a:solidFill>
            <a:srgbClr val="FFFFCC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files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31" name="Google Shape;131;p16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Modules</a:t>
            </a:r>
            <a:endParaRPr/>
          </a:p>
        </p:txBody>
      </p:sp>
      <p:sp>
        <p:nvSpPr>
          <p:cNvPr id="132" name="Google Shape;132;p1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Android Studio initializes a multi-module project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 order to support more complex scenarios where the application logic is split into several modules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module is a sub-project that targets the creation of an individual software artifact (e.g., a jar or apk file)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Modules have their own codebases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They can have different dependencies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Each module has its own build.gradle file where </a:t>
            </a:r>
            <a:r>
              <a:rPr lang="it">
                <a:solidFill>
                  <a:schemeClr val="dk1"/>
                </a:solidFill>
              </a:rPr>
              <a:t>specific </a:t>
            </a:r>
            <a:r>
              <a:rPr lang="it"/>
              <a:t>setting are declared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Multi-module project structure</a:t>
            </a:r>
            <a:endParaRPr/>
          </a:p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17"/>
          <p:cNvGrpSpPr/>
          <p:nvPr/>
        </p:nvGrpSpPr>
        <p:grpSpPr>
          <a:xfrm>
            <a:off x="1002866" y="998681"/>
            <a:ext cx="3407308" cy="3605053"/>
            <a:chOff x="1435100" y="1886583"/>
            <a:chExt cx="3407308" cy="4806738"/>
          </a:xfrm>
        </p:grpSpPr>
        <p:sp>
          <p:nvSpPr>
            <p:cNvPr id="140" name="Google Shape;140;p17"/>
            <p:cNvSpPr/>
            <p:nvPr/>
          </p:nvSpPr>
          <p:spPr>
            <a:xfrm>
              <a:off x="1435100" y="1886583"/>
              <a:ext cx="1243800" cy="336000"/>
            </a:xfrm>
            <a:prstGeom prst="rect">
              <a:avLst/>
            </a:prstGeom>
            <a:gradFill>
              <a:gsLst>
                <a:gs pos="0">
                  <a:srgbClr val="D8CBDB"/>
                </a:gs>
                <a:gs pos="35000">
                  <a:srgbClr val="E4DAE4"/>
                </a:gs>
                <a:gs pos="100000">
                  <a:srgbClr val="F3EFF6"/>
                </a:gs>
              </a:gsLst>
              <a:lin ang="16200038" scaled="0"/>
            </a:gra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Project</a:t>
              </a: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2347354" y="2523522"/>
              <a:ext cx="1243800" cy="336000"/>
            </a:xfrm>
            <a:prstGeom prst="rect">
              <a:avLst/>
            </a:prstGeom>
            <a:gradFill>
              <a:gsLst>
                <a:gs pos="0">
                  <a:srgbClr val="D8CBDB"/>
                </a:gs>
                <a:gs pos="35000">
                  <a:srgbClr val="E4DAE4"/>
                </a:gs>
                <a:gs pos="100000">
                  <a:srgbClr val="F3EFF6"/>
                </a:gs>
              </a:gsLst>
              <a:lin ang="16200038" scaled="0"/>
            </a:gra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it" sz="1600"/>
                <a:t>app</a:t>
              </a:r>
              <a:endParaRPr/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3259608" y="3160461"/>
              <a:ext cx="1243800" cy="336000"/>
            </a:xfrm>
            <a:prstGeom prst="rect">
              <a:avLst/>
            </a:prstGeom>
            <a:gradFill>
              <a:gsLst>
                <a:gs pos="0">
                  <a:srgbClr val="D8CBDB"/>
                </a:gs>
                <a:gs pos="35000">
                  <a:srgbClr val="E4DAE4"/>
                </a:gs>
                <a:gs pos="100000">
                  <a:srgbClr val="F3EFF6"/>
                </a:gs>
              </a:gsLst>
              <a:lin ang="16200038" scaled="0"/>
            </a:gra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src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3259608" y="3765457"/>
              <a:ext cx="1582800" cy="33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build.gradle.kts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4" name="Google Shape;144;p17"/>
            <p:cNvCxnSpPr>
              <a:stCxn id="141" idx="2"/>
              <a:endCxn id="142" idx="1"/>
            </p:cNvCxnSpPr>
            <p:nvPr/>
          </p:nvCxnSpPr>
          <p:spPr>
            <a:xfrm flipH="1" rot="-5400000">
              <a:off x="2880004" y="2948772"/>
              <a:ext cx="468900" cy="2904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17"/>
            <p:cNvCxnSpPr>
              <a:stCxn id="141" idx="2"/>
              <a:endCxn id="143" idx="1"/>
            </p:cNvCxnSpPr>
            <p:nvPr/>
          </p:nvCxnSpPr>
          <p:spPr>
            <a:xfrm flipH="1" rot="-5400000">
              <a:off x="2577454" y="3251322"/>
              <a:ext cx="1074000" cy="2904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17"/>
            <p:cNvCxnSpPr>
              <a:stCxn id="140" idx="2"/>
              <a:endCxn id="141" idx="1"/>
            </p:cNvCxnSpPr>
            <p:nvPr/>
          </p:nvCxnSpPr>
          <p:spPr>
            <a:xfrm flipH="1" rot="-5400000">
              <a:off x="1967750" y="2311833"/>
              <a:ext cx="468900" cy="2904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" name="Google Shape;147;p17"/>
            <p:cNvSpPr/>
            <p:nvPr/>
          </p:nvSpPr>
          <p:spPr>
            <a:xfrm>
              <a:off x="2347354" y="4189978"/>
              <a:ext cx="1243800" cy="336000"/>
            </a:xfrm>
            <a:prstGeom prst="rect">
              <a:avLst/>
            </a:prstGeom>
            <a:gradFill>
              <a:gsLst>
                <a:gs pos="0">
                  <a:srgbClr val="D8CBDB"/>
                </a:gs>
                <a:gs pos="35000">
                  <a:srgbClr val="E4DAE4"/>
                </a:gs>
                <a:gs pos="100000">
                  <a:srgbClr val="F3EFF6"/>
                </a:gs>
              </a:gsLst>
              <a:lin ang="16200038" scaled="0"/>
            </a:gra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it" sz="1600"/>
                <a:t>mylibrary</a:t>
              </a: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3259608" y="4826917"/>
              <a:ext cx="1243800" cy="336000"/>
            </a:xfrm>
            <a:prstGeom prst="rect">
              <a:avLst/>
            </a:prstGeom>
            <a:gradFill>
              <a:gsLst>
                <a:gs pos="0">
                  <a:srgbClr val="D8CBDB"/>
                </a:gs>
                <a:gs pos="35000">
                  <a:srgbClr val="E4DAE4"/>
                </a:gs>
                <a:gs pos="100000">
                  <a:srgbClr val="F3EFF6"/>
                </a:gs>
              </a:gsLst>
              <a:lin ang="16200038" scaled="0"/>
            </a:gra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50"/>
                </a:srgbClr>
              </a:outerShdw>
            </a:effectLst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src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3259608" y="5431913"/>
              <a:ext cx="1582800" cy="33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build.gradle.kts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" name="Google Shape;150;p17"/>
            <p:cNvCxnSpPr>
              <a:stCxn id="147" idx="2"/>
              <a:endCxn id="148" idx="1"/>
            </p:cNvCxnSpPr>
            <p:nvPr/>
          </p:nvCxnSpPr>
          <p:spPr>
            <a:xfrm flipH="1" rot="-5400000">
              <a:off x="2880004" y="4615228"/>
              <a:ext cx="468900" cy="2904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17"/>
            <p:cNvCxnSpPr>
              <a:stCxn id="147" idx="2"/>
              <a:endCxn id="149" idx="1"/>
            </p:cNvCxnSpPr>
            <p:nvPr/>
          </p:nvCxnSpPr>
          <p:spPr>
            <a:xfrm flipH="1" rot="-5400000">
              <a:off x="2577454" y="4917778"/>
              <a:ext cx="1074000" cy="2904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17"/>
            <p:cNvCxnSpPr>
              <a:stCxn id="140" idx="2"/>
              <a:endCxn id="147" idx="1"/>
            </p:cNvCxnSpPr>
            <p:nvPr/>
          </p:nvCxnSpPr>
          <p:spPr>
            <a:xfrm flipH="1" rot="-5400000">
              <a:off x="1134500" y="3145083"/>
              <a:ext cx="2135400" cy="2904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" name="Google Shape;153;p17"/>
            <p:cNvSpPr/>
            <p:nvPr/>
          </p:nvSpPr>
          <p:spPr>
            <a:xfrm>
              <a:off x="2347354" y="5888377"/>
              <a:ext cx="1582800" cy="33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build.gradle.kts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2347353" y="6357321"/>
              <a:ext cx="1889700" cy="336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4450" lIns="90475" spcFirstLastPara="1" rIns="90475" wrap="square" tIns="44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it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settings.gradle.kts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" name="Google Shape;155;p17"/>
            <p:cNvCxnSpPr>
              <a:stCxn id="140" idx="2"/>
              <a:endCxn id="153" idx="1"/>
            </p:cNvCxnSpPr>
            <p:nvPr/>
          </p:nvCxnSpPr>
          <p:spPr>
            <a:xfrm flipH="1" rot="-5400000">
              <a:off x="285350" y="3994233"/>
              <a:ext cx="3833700" cy="2904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17"/>
            <p:cNvCxnSpPr>
              <a:stCxn id="140" idx="2"/>
              <a:endCxn id="154" idx="1"/>
            </p:cNvCxnSpPr>
            <p:nvPr/>
          </p:nvCxnSpPr>
          <p:spPr>
            <a:xfrm flipH="1" rot="-5400000">
              <a:off x="50900" y="4228683"/>
              <a:ext cx="4302600" cy="290400"/>
            </a:xfrm>
            <a:prstGeom prst="bentConnector2">
              <a:avLst/>
            </a:prstGeom>
            <a:noFill/>
            <a:ln cap="flat" cmpd="sng" w="25400">
              <a:solidFill>
                <a:srgbClr val="B45F0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7" name="Google Shape;157;p17"/>
          <p:cNvSpPr/>
          <p:nvPr/>
        </p:nvSpPr>
        <p:spPr>
          <a:xfrm>
            <a:off x="5545675" y="3954847"/>
            <a:ext cx="2540400" cy="34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66" y="59743"/>
                </a:moveTo>
                <a:lnTo>
                  <a:pt x="-92234" y="639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Parent build gradle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545675" y="4351734"/>
            <a:ext cx="2540400" cy="34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66" y="59743"/>
                </a:moveTo>
                <a:lnTo>
                  <a:pt x="-80676" y="60515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lists all modules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545674" y="3567321"/>
            <a:ext cx="2540400" cy="34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66" y="59743"/>
                </a:moveTo>
                <a:lnTo>
                  <a:pt x="-53908" y="60515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/>
              <a:t>Mylibrary </a:t>
            </a: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gradle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545674" y="2345998"/>
            <a:ext cx="2540400" cy="34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266" y="59743"/>
                </a:moveTo>
                <a:lnTo>
                  <a:pt x="-53908" y="60515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/>
              <a:t>App </a:t>
            </a:r>
            <a:r>
              <a:rPr b="0" i="0" lang="it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gradle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Parent Build Gradle </a:t>
            </a:r>
            <a:endParaRPr/>
          </a:p>
        </p:txBody>
      </p:sp>
      <p:sp>
        <p:nvSpPr>
          <p:cNvPr id="166" name="Google Shape;166;p1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910733" y="954893"/>
            <a:ext cx="7322400" cy="3509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buildscript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ext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//here lib version are usually reported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compose_ui_version = '1.3.3'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plugins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id 'com.android.application' version '7.4.1' apply false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id 'com.android.library' version '7.4.1' apply false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id 'org.jetbrains.kotlin.android' version '1.7.0' apply false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Modules Build Gradle </a:t>
            </a:r>
            <a:endParaRPr/>
          </a:p>
        </p:txBody>
      </p:sp>
      <p:sp>
        <p:nvSpPr>
          <p:cNvPr id="173" name="Google Shape;173;p1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910733" y="910873"/>
            <a:ext cx="7322400" cy="2308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plugins {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 'com.android.application'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id 'org.jetbrains.kotlin.android'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namespace 'com.mycompany.myapplication'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compileSdk 33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dependencies {   //repositories are inherited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implementation(</a:t>
            </a:r>
            <a:r>
              <a:rPr b="1" lang="it" sz="1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project(":mylibrary")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//cross-reference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//more dependencies here…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/>
          </a:p>
        </p:txBody>
      </p:sp>
      <p:sp>
        <p:nvSpPr>
          <p:cNvPr id="175" name="Google Shape;175;p19"/>
          <p:cNvSpPr txBox="1"/>
          <p:nvPr/>
        </p:nvSpPr>
        <p:spPr>
          <a:xfrm>
            <a:off x="910733" y="3303187"/>
            <a:ext cx="7322400" cy="1385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plugins {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id 'com.android.library'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id 'com.jetbrains.kotlin.android'</a:t>
            </a: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dependencies {   //repositories are inherited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/>
          </a:p>
        </p:txBody>
      </p:sp>
      <p:sp>
        <p:nvSpPr>
          <p:cNvPr id="176" name="Google Shape;176;p19"/>
          <p:cNvSpPr/>
          <p:nvPr/>
        </p:nvSpPr>
        <p:spPr>
          <a:xfrm>
            <a:off x="5453300" y="1021781"/>
            <a:ext cx="2551500" cy="28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app/build.gradle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453300" y="3396113"/>
            <a:ext cx="2551500" cy="285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mylibrary/build.gradle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3" name="Google Shape;183;p20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Settings Gradle</a:t>
            </a:r>
            <a:endParaRPr/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Here the overall project configuration is set-up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Modules need to be included in order to be built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910733" y="2148167"/>
            <a:ext cx="7322400" cy="1200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rootProject.name = "</a:t>
            </a: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 Application</a:t>
            </a:r>
            <a:r>
              <a:rPr b="0" i="0" lang="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include</a:t>
            </a: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':app'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include ':mylibrary'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91" name="Google Shape;191;p21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Project build file</a:t>
            </a:r>
            <a:endParaRPr/>
          </a:p>
        </p:txBody>
      </p:sp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It c</a:t>
            </a:r>
            <a:r>
              <a:rPr lang="it"/>
              <a:t>ontains a description of the build process, in terms of: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</a:rPr>
              <a:t>plugins</a:t>
            </a:r>
            <a:r>
              <a:rPr lang="it"/>
              <a:t>, that define which tasks should be executed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</a:rPr>
              <a:t>repositories</a:t>
            </a:r>
            <a:r>
              <a:rPr lang="it"/>
              <a:t>, that list web sites from which libraries can be downloaded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</a:rPr>
              <a:t>dependencies</a:t>
            </a:r>
            <a:r>
              <a:rPr lang="it"/>
              <a:t>, i.e., a list of libraries with their version that are part of the project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i="1" lang="it">
                <a:solidFill>
                  <a:srgbClr val="0B5394"/>
                </a:solidFill>
              </a:rPr>
              <a:t>further information</a:t>
            </a:r>
            <a:r>
              <a:rPr lang="it">
                <a:solidFill>
                  <a:srgbClr val="C00000"/>
                </a:solidFill>
              </a:rPr>
              <a:t> </a:t>
            </a:r>
            <a:r>
              <a:rPr lang="it"/>
              <a:t>about the project configuration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99" name="Google Shape;199;p22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Module build file</a:t>
            </a:r>
            <a:endParaRPr/>
          </a:p>
        </p:txBody>
      </p:sp>
      <p:sp>
        <p:nvSpPr>
          <p:cNvPr id="200" name="Google Shape;200;p2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It p</a:t>
            </a:r>
            <a:r>
              <a:rPr lang="it"/>
              <a:t>rovides detailed information about the software configuration of the given module, in terms of: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</a:rPr>
              <a:t>plugins </a:t>
            </a:r>
            <a:r>
              <a:rPr lang="it"/>
              <a:t>to be applied to the module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</a:rPr>
              <a:t>android </a:t>
            </a:r>
            <a:r>
              <a:rPr lang="it"/>
              <a:t>settings - properties such as </a:t>
            </a:r>
            <a:r>
              <a:rPr lang="it">
                <a:solidFill>
                  <a:srgbClr val="0B5394"/>
                </a:solidFill>
              </a:rPr>
              <a:t>namespace</a:t>
            </a:r>
            <a:r>
              <a:rPr lang="it"/>
              <a:t>, </a:t>
            </a:r>
            <a:r>
              <a:rPr lang="it">
                <a:solidFill>
                  <a:srgbClr val="0B5394"/>
                </a:solidFill>
              </a:rPr>
              <a:t>defaultConfig </a:t>
            </a:r>
            <a:r>
              <a:rPr lang="it"/>
              <a:t>(minSdkVersion, targetSdkVersion, and test information), </a:t>
            </a:r>
            <a:r>
              <a:rPr lang="it">
                <a:solidFill>
                  <a:srgbClr val="0B5394"/>
                </a:solidFill>
              </a:rPr>
              <a:t>buildTypes</a:t>
            </a:r>
            <a:r>
              <a:rPr lang="it"/>
              <a:t> (build properties such as debuggable, ProGuard enabling, debug signing, compile options and kotlin options)</a:t>
            </a:r>
            <a:endParaRPr/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</a:rPr>
              <a:t>dependencies</a:t>
            </a:r>
            <a:r>
              <a:rPr lang="it"/>
              <a:t> - i.e., libraries the module depends upon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06" name="Google Shape;206;p23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Gradle projects</a:t>
            </a:r>
            <a:endParaRPr/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project is the description of how a given software artifact is built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Sometimes, more than one artifact need to be built: in this case a build can have more than one project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project is based on one or more more tasks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Aimed at performing a specific operation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Plugins extend projects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Adding custom behaviours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project script file (build.gradle.kts) specifies all the tasks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An optional settings file (settings.gradle.kts) provides build level information (i.e., pertaining all projects)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13" name="Google Shape;213;p24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Gradle tasks</a:t>
            </a:r>
            <a:endParaRPr/>
          </a:p>
        </p:txBody>
      </p:sp>
      <p:sp>
        <p:nvSpPr>
          <p:cNvPr id="214" name="Google Shape;214;p24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build system is triggered by a set of commands, each targeted to a specific goal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All these are available from the CLI, thus making it possible to easily script them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IDEs make these commands available also from GUI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Basic command structure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./gradlew &lt;task_name&gt;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Using ./gradlew guarantees that the correct version of gradle is used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set of all available task is accessible using the "tasks" task name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20" name="Google Shape;220;p25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Standard task</a:t>
            </a:r>
            <a:endParaRPr/>
          </a:p>
        </p:txBody>
      </p:sp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58444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Char char="•"/>
            </a:pPr>
            <a:r>
              <a:rPr lang="it"/>
              <a:t>Android tasks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androidDependencies</a:t>
            </a:r>
            <a:r>
              <a:rPr lang="it"/>
              <a:t> → lists OS related libraries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signingReport</a:t>
            </a:r>
            <a:r>
              <a:rPr lang="it"/>
              <a:t> → displays a report about the App signature process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sourceSets</a:t>
            </a:r>
            <a:r>
              <a:rPr lang="it"/>
              <a:t> → allows configuring the source file folder structure</a:t>
            </a:r>
            <a:endParaRPr/>
          </a:p>
          <a:p>
            <a:pPr indent="-258444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20000"/>
              <a:buChar char="•"/>
            </a:pPr>
            <a:r>
              <a:rPr lang="it"/>
              <a:t>Build tasks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assemble</a:t>
            </a:r>
            <a:r>
              <a:rPr lang="it"/>
              <a:t> → Assembles the outputs of the project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build</a:t>
            </a:r>
            <a:r>
              <a:rPr lang="it"/>
              <a:t> → Assembles and tests the project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buildDependents</a:t>
            </a:r>
            <a:r>
              <a:rPr lang="it"/>
              <a:t> → Assembles and tests the project and all projects that depend on it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buildNeeded</a:t>
            </a:r>
            <a:r>
              <a:rPr lang="it"/>
              <a:t> → Assembles and tests the project and all projects it depends on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classes</a:t>
            </a:r>
            <a:r>
              <a:rPr lang="it"/>
              <a:t> → Assembles main classes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clean</a:t>
            </a:r>
            <a:r>
              <a:rPr lang="it"/>
              <a:t> → Deletes the build directory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jar</a:t>
            </a:r>
            <a:r>
              <a:rPr lang="it"/>
              <a:t> → Assembles a jar archive containing the main classes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testClasses</a:t>
            </a:r>
            <a:r>
              <a:rPr lang="it"/>
              <a:t> → Assembles test classes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27" name="Google Shape;227;p26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Standard tasks</a:t>
            </a:r>
            <a:endParaRPr/>
          </a:p>
        </p:txBody>
      </p:sp>
      <p:sp>
        <p:nvSpPr>
          <p:cNvPr id="228" name="Google Shape;228;p2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Build setup tasks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init</a:t>
            </a:r>
            <a:r>
              <a:rPr lang="it"/>
              <a:t> → Initializes a new Gradle build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wrapper</a:t>
            </a:r>
            <a:r>
              <a:rPr lang="it"/>
              <a:t> → Generates Gradle wrapper files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Distribution task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assembleDist</a:t>
            </a:r>
            <a:r>
              <a:rPr lang="it"/>
              <a:t> → Assembles the main distributions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distTar</a:t>
            </a:r>
            <a:r>
              <a:rPr lang="it"/>
              <a:t> → Bundles the project as a distribution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distZip</a:t>
            </a:r>
            <a:r>
              <a:rPr lang="it"/>
              <a:t> → Bundles the project as a distribution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installDist</a:t>
            </a:r>
            <a:r>
              <a:rPr lang="it"/>
              <a:t> → Installs the project as a distribution as-is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Documentation tasks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javadoc</a:t>
            </a:r>
            <a:r>
              <a:rPr lang="it"/>
              <a:t> → Generates Javadoc API documentation</a:t>
            </a:r>
            <a:endParaRPr/>
          </a:p>
          <a:p>
            <a:pPr indent="0" lvl="1" marL="4032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4" name="Google Shape;234;p27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Standard tasks</a:t>
            </a:r>
            <a:endParaRPr/>
          </a:p>
        </p:txBody>
      </p:sp>
      <p:sp>
        <p:nvSpPr>
          <p:cNvPr id="235" name="Google Shape;235;p2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Help tasks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buildEnvironment</a:t>
            </a:r>
            <a:r>
              <a:rPr lang="it"/>
              <a:t> → Displays all buildscript dependencies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components</a:t>
            </a:r>
            <a:r>
              <a:rPr lang="it"/>
              <a:t> → Displays the components produced by the project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dependencies</a:t>
            </a:r>
            <a:r>
              <a:rPr lang="it"/>
              <a:t> → Displays all dependencies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dependencyInsight</a:t>
            </a:r>
            <a:r>
              <a:rPr lang="it"/>
              <a:t> → Displays the insight into a specific dependency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dependentComponents</a:t>
            </a:r>
            <a:r>
              <a:rPr lang="it"/>
              <a:t> → Displays the dependent components of components in the project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help</a:t>
            </a:r>
            <a:r>
              <a:rPr lang="it"/>
              <a:t> → Displays a help message</a:t>
            </a:r>
            <a:endParaRPr/>
          </a:p>
          <a:p>
            <a:pPr indent="0" lvl="1" marL="4032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1" name="Google Shape;241;p28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Standard tasks</a:t>
            </a:r>
            <a:endParaRPr/>
          </a:p>
        </p:txBody>
      </p:sp>
      <p:sp>
        <p:nvSpPr>
          <p:cNvPr id="242" name="Google Shape;242;p2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Help tasks (continues)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kotlinDslAccessorsReport</a:t>
            </a:r>
            <a:r>
              <a:rPr lang="it"/>
              <a:t> → Prints the Kotlin code for accessing the currently available project extensions and conventions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lang="it"/>
              <a:t> → Displays the configuration model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outgoingVariants</a:t>
            </a:r>
            <a:r>
              <a:rPr lang="it"/>
              <a:t> → Displays the outgoing variants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projects</a:t>
            </a:r>
            <a:r>
              <a:rPr lang="it"/>
              <a:t> → Displays the sub-projects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properties</a:t>
            </a:r>
            <a:r>
              <a:rPr lang="it"/>
              <a:t> → Displays the properties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Verification tasks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check</a:t>
            </a:r>
            <a:r>
              <a:rPr lang="it"/>
              <a:t> → Runs all checks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it"/>
              <a:t> → Runs the unit tests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8" name="Google Shape;248;p29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Plugins</a:t>
            </a:r>
            <a:endParaRPr/>
          </a:p>
        </p:txBody>
      </p:sp>
      <p:sp>
        <p:nvSpPr>
          <p:cNvPr id="249" name="Google Shape;249;p2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Software artifacts that extends project's capabilities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Introduced by the plugins block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Plugins are either 'well-known' (maintained by Gradle) or community maintained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Each plugin can introduce custom tasks, set-up dependencies, trigger specific behaviour</a:t>
            </a:r>
            <a:endParaRPr/>
          </a:p>
          <a:p>
            <a:pPr indent="-1111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55" name="Google Shape;255;p30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Core plugins</a:t>
            </a:r>
            <a:endParaRPr/>
          </a:p>
        </p:txBody>
      </p:sp>
      <p:sp>
        <p:nvSpPr>
          <p:cNvPr id="256" name="Google Shape;256;p3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JVM languages and frameworks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java</a:t>
            </a:r>
            <a:r>
              <a:rPr lang="it"/>
              <a:t> - Provides support for building any type of Java project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`java-library`</a:t>
            </a:r>
            <a:r>
              <a:rPr lang="it"/>
              <a:t> - Provides support for building a Java library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`java-platform`</a:t>
            </a:r>
            <a:r>
              <a:rPr lang="it"/>
              <a:t> - Declares a set of modules that are published together or a set of recommended versions of heterogeneous libraries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Packaging and distribution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application</a:t>
            </a:r>
            <a:r>
              <a:rPr lang="it"/>
              <a:t> - Provides support for building JVM-based, runnable applications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`maven-publish`</a:t>
            </a:r>
            <a:r>
              <a:rPr lang="it"/>
              <a:t> - Publishes build artifacts to an Apache</a:t>
            </a:r>
            <a:r>
              <a:rPr lang="it" u="sng">
                <a:solidFill>
                  <a:schemeClr val="hlink"/>
                </a:solidFill>
                <a:hlinkClick r:id="rId3"/>
              </a:rPr>
              <a:t> Maven</a:t>
            </a:r>
            <a:r>
              <a:rPr lang="it"/>
              <a:t> repository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distribution</a:t>
            </a:r>
            <a:r>
              <a:rPr lang="it"/>
              <a:t> - Makes it easy to create ZIP and tarball distributions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2" name="Google Shape;262;p31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Core plugins</a:t>
            </a:r>
            <a:endParaRPr/>
          </a:p>
        </p:txBody>
      </p:sp>
      <p:sp>
        <p:nvSpPr>
          <p:cNvPr id="263" name="Google Shape;263;p3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Code analysis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checkstyle - Performs quality checks on your project’s Java source files using </a:t>
            </a:r>
            <a:r>
              <a:rPr lang="it" u="sng">
                <a:solidFill>
                  <a:schemeClr val="hlink"/>
                </a:solidFill>
                <a:hlinkClick r:id="rId3"/>
              </a:rPr>
              <a:t>Checkstyle</a:t>
            </a:r>
            <a:r>
              <a:rPr lang="it"/>
              <a:t>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pmd - Performs quality checks on your project’s Java source files using </a:t>
            </a:r>
            <a:r>
              <a:rPr lang="it" u="sng">
                <a:solidFill>
                  <a:schemeClr val="hlink"/>
                </a:solidFill>
                <a:hlinkClick r:id="rId4"/>
              </a:rPr>
              <a:t>PMD</a:t>
            </a:r>
            <a:r>
              <a:rPr lang="it"/>
              <a:t> 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jacoco - Provides code coverage metrics for Java code via integration with </a:t>
            </a:r>
            <a:r>
              <a:rPr lang="it" u="sng">
                <a:solidFill>
                  <a:schemeClr val="hlink"/>
                </a:solidFill>
                <a:hlinkClick r:id="rId5"/>
              </a:rPr>
              <a:t>JaCoCo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Utility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base - Provides common lifecycle tasks, such as clean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signing - Adds the ability to digitally sign built files and artifacts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`project-report` - Helps to generate reports containing useful information about your build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9" name="Google Shape;269;p32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Community plugins</a:t>
            </a:r>
            <a:endParaRPr/>
          </a:p>
        </p:txBody>
      </p:sp>
      <p:sp>
        <p:nvSpPr>
          <p:cNvPr id="270" name="Google Shape;270;p3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Kotlin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kotlin(platformName)</a:t>
            </a:r>
            <a:r>
              <a:rPr lang="it"/>
              <a:t> – Provides support for building a Kotlin project on the specified platform ("jvm", "js", "multiplatform")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kotlin("kapt")</a:t>
            </a:r>
            <a:r>
              <a:rPr lang="it"/>
              <a:t> – Provides support for augmenting the Kotlin compiler with custom annotation processors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Android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com.android.application</a:t>
            </a:r>
            <a:r>
              <a:rPr lang="it"/>
              <a:t> - It is the main plugin governing the creation of Android applications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includes support for compiling many different types of sources and linking them together into an application that can be run on a physical Android device or an emulator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76" name="Google Shape;276;p33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Describing a project structure</a:t>
            </a:r>
            <a:endParaRPr/>
          </a:p>
        </p:txBody>
      </p:sp>
      <p:sp>
        <p:nvSpPr>
          <p:cNvPr id="277" name="Google Shape;277;p3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By default, Gradle operates on conventions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expects source files to be located in folder "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./src/main</a:t>
            </a:r>
            <a:r>
              <a:rPr lang="it"/>
              <a:t>", test files in "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./src/test</a:t>
            </a:r>
            <a:r>
              <a:rPr lang="it"/>
              <a:t>", …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is possible to deviate from these conventions by specifying proper entries in the project script file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sourceSets entry can be used to define alternate folders for source and test files </a:t>
            </a:r>
            <a:endParaRPr/>
          </a:p>
        </p:txBody>
      </p:sp>
      <p:sp>
        <p:nvSpPr>
          <p:cNvPr id="278" name="Google Shape;278;p33"/>
          <p:cNvSpPr txBox="1"/>
          <p:nvPr/>
        </p:nvSpPr>
        <p:spPr>
          <a:xfrm>
            <a:off x="1513490" y="3349321"/>
            <a:ext cx="6117000" cy="1385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sourceSets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main {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java { setSrcDirs(listof("src/core")) 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test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java { setSrcDirs(listof("src/coreTest")) 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84" name="Google Shape;284;p34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Adding code dependencies</a:t>
            </a:r>
            <a:endParaRPr/>
          </a:p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 A project often requires libraries or other externally provided resources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These are collectively named dependencies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Being out of control of the project, care should be taken to identify the correct version of the artefact and location where it can be downloaded from 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Gradle allows to specify these information in different blocks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dependencies block lists the artefacts needed by the project, together with their version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repositories block list the web sites where they should be looked up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91" name="Google Shape;291;p35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Transitive dependencies</a:t>
            </a:r>
            <a:endParaRPr/>
          </a:p>
        </p:txBody>
      </p:sp>
      <p:sp>
        <p:nvSpPr>
          <p:cNvPr id="292" name="Google Shape;292;p35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Some dependencies may depend on other libraries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latter are named "transitive dependencies"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Gradle takes care to locate and download all what is needed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gradle –q dependencies</a:t>
            </a:r>
            <a:r>
              <a:rPr lang="it" sz="20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/>
              <a:t>lists all project dependencies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gradle –q dependencies --configuration implementation</a:t>
            </a:r>
            <a:r>
              <a:rPr lang="it" sz="20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/>
              <a:t>lists dependencies needed throughout the artefact lifecycle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98" name="Google Shape;298;p36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Code dependencies</a:t>
            </a:r>
            <a:endParaRPr/>
          </a:p>
        </p:txBody>
      </p:sp>
      <p:sp>
        <p:nvSpPr>
          <p:cNvPr id="299" name="Google Shape;299;p3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5844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Char char="•"/>
            </a:pPr>
            <a:r>
              <a:rPr lang="it"/>
              <a:t>Dependencies can be located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In other projects or in modules of the current project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In the local file system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In Maven repositories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In Ivy repositories </a:t>
            </a:r>
            <a:endParaRPr/>
          </a:p>
          <a:p>
            <a:pPr indent="-25844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20000"/>
              <a:buChar char="•"/>
            </a:pPr>
            <a:r>
              <a:rPr lang="it"/>
              <a:t>Dependencies are needed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At compile time and all though the artifact's life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At compile time only (being provided from other sources at runtime)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At run time only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At test compilation time</a:t>
            </a:r>
            <a:endParaRPr/>
          </a:p>
          <a:p>
            <a:pPr indent="-199231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At test execution time</a:t>
            </a:r>
            <a:endParaRPr/>
          </a:p>
          <a:p>
            <a:pPr indent="-11112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05" name="Google Shape;305;p37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Repositories</a:t>
            </a:r>
            <a:endParaRPr/>
          </a:p>
        </p:txBody>
      </p:sp>
      <p:sp>
        <p:nvSpPr>
          <p:cNvPr id="306" name="Google Shape;306;p3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repositories block is used to indicate where dependencies are downloaded from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flatDir</a:t>
            </a:r>
            <a:r>
              <a:rPr lang="it"/>
              <a:t> sub-block indicate some locations in the local file system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mavenCentral()</a:t>
            </a:r>
            <a:r>
              <a:rPr lang="it"/>
              <a:t> refers to Maven Central, a popular repository hosting open source libraries for consumption by Java projects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jcenter()</a:t>
            </a:r>
            <a:r>
              <a:rPr lang="it"/>
              <a:t> returns a reference to Bintray's JCenter, an up-to-date collection of all popular Maven OSS artifacts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google()</a:t>
            </a:r>
            <a:r>
              <a:rPr lang="it"/>
              <a:t> points to the Google repository, that hosts Android-specific artifacts including the Android SDK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2" name="Google Shape;312;p38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Repositories</a:t>
            </a:r>
            <a:endParaRPr/>
          </a:p>
        </p:txBody>
      </p:sp>
      <p:sp>
        <p:nvSpPr>
          <p:cNvPr id="313" name="Google Shape;313;p3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Many organizations host dependencies in an in-house repository only accessible within the company’s network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Gradle can declare Maven and Ivy repositories by URL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Credentials may be added in order to support different type of authentication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Repositories</a:t>
            </a:r>
            <a:endParaRPr/>
          </a:p>
        </p:txBody>
      </p:sp>
      <p:sp>
        <p:nvSpPr>
          <p:cNvPr id="319" name="Google Shape;319;p3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1062445" y="994698"/>
            <a:ext cx="7019100" cy="3601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plugins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application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repositories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flatDirs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dirs("./lib") 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maven {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uri("https://mycompany.com/maven2")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credentials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username = "user"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password = "pass"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mavenCentral()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0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6" name="Google Shape;326;p40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Dependencies configuration</a:t>
            </a:r>
            <a:endParaRPr/>
          </a:p>
        </p:txBody>
      </p:sp>
      <p:sp>
        <p:nvSpPr>
          <p:cNvPr id="327" name="Google Shape;327;p4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Given a set of locations where dependencies may be download from, two more pieces of information are needed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What exact piece of dependency is needed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 which phase of the build process it is needed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Dependencies are named out of three pieces of information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group name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artifact name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artifact version</a:t>
            </a:r>
            <a:endParaRPr/>
          </a:p>
          <a:p>
            <a:pPr indent="-269875" lvl="0" marL="26987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These are written in a colon-separated string</a:t>
            </a:r>
            <a:endParaRPr/>
          </a:p>
          <a:p>
            <a:pPr indent="-1682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5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io.vertx:vertx-core:3.5.3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3" name="Google Shape;333;p41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Specifying the configuration</a:t>
            </a:r>
            <a:endParaRPr/>
          </a:p>
        </p:txBody>
      </p:sp>
      <p:sp>
        <p:nvSpPr>
          <p:cNvPr id="334" name="Google Shape;334;p4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dependencies block introduces the list of dependencies of the current project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Each one is expressed as an argument of the corresponding configuration function</a:t>
            </a:r>
            <a:endParaRPr/>
          </a:p>
          <a:p>
            <a:pPr indent="-206375" lvl="1" marL="541337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Functions differ in terms of visibility of the artefact at compile-time and/or runtime</a:t>
            </a:r>
            <a:endParaRPr/>
          </a:p>
        </p:txBody>
      </p:sp>
      <p:sp>
        <p:nvSpPr>
          <p:cNvPr id="335" name="Google Shape;335;p41"/>
          <p:cNvSpPr txBox="1"/>
          <p:nvPr/>
        </p:nvSpPr>
        <p:spPr>
          <a:xfrm>
            <a:off x="1164131" y="3295139"/>
            <a:ext cx="7308300" cy="1015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dependencies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implementation("org.hibernate:hibernate-core:3.6.7")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api("com.google.guava:guava:23.0")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testImplementation("junit:junit:4.+")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41" name="Google Shape;341;p42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Main source files java dependency configuration</a:t>
            </a:r>
            <a:endParaRPr/>
          </a:p>
        </p:txBody>
      </p:sp>
      <p:pic>
        <p:nvPicPr>
          <p:cNvPr descr="java main configurations" id="342" name="Google Shape;342;p42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3992" y="1417768"/>
            <a:ext cx="5816100" cy="286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