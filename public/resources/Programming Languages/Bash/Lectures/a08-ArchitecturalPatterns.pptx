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ab8dc9537a_0_1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2ab8dc9537a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g2ab8dc9537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ab8dc9537a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ab8dc9537a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ab8dc9537a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ab8dc9537a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ab8dc9537a_0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9" name="Google Shape;69;g2ab8dc9537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2ab8dc9537a_0_1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b8dc9537a_0_1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7" name="Google Shape;77;g2ab8dc9537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2ab8dc9537a_0_1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ab8dc9537a_0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" name="Google Shape;85;g2ab8dc9537a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2ab8dc9537a_0_1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b8dc9537a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b8dc9537a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ab8dc9537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2ab8dc9537a_0_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b8dc9537a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ab8dc9537a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b8dc9537a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ab8dc9537a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b8dc9537a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ab8dc9537a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ab8dc9537a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ab8dc9537a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ab8dc9537a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ab8dc9537a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ab8dc9537a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ab8dc9537a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ab8dc9537a_0_2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6" name="Google Shape;186;g2ab8dc9537a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2ab8dc9537a_0_2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ab8dc9537a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2ab8dc9537a_0_3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ab8dc9537a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ab8dc9537a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ab8dc9537a_1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ab8dc9537a_1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ab8dc9537a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ab8dc9537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ab8dc9537a_1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ab8dc9537a_1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ab8dc9537a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b8dc9537a_0_3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b8dc9537a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2ab8dc9537a_0_3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ab8dc9537a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2ab8dc9537a_0_3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ab8dc9537a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ab8dc9537a_2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ab8dc9537a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2ab8dc9537a_2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ab8dc9537a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2ab8dc9537a_0_3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ab8dc9537a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2ab8dc9537a_0_3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ab8dc9537a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2ab8dc9537a_0_4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ab8dc9537a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2ab8dc9537a_0_4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b8dc9537a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2ab8dc9537a_0_4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ab8dc9537a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2ab8dc9537a_0_4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ab8dc9537a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2ab8dc9537a_0_4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ab8dc9537a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ab8dc9537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2ab8dc9537a_0_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ab8dc9537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2ab8dc9537a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ab8dc9537a_0_2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1" name="Google Shape;371;g2ab8dc9537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2ab8dc9537a_0_2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ab8dc9537a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9" name="Google Shape;379;g2ab8dc9537a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2ab8dc9537a_0_2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ab8dc9537a_0_2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ab8dc9537a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2ab8dc9537a_0_2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ab8dc9537a_0_3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ab8dc9537a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2ab8dc9537a_0_3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ab8dc9537a_0_3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5" name="Google Shape;405;g2ab8dc9537a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2ab8dc9537a_0_3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ab8dc9537a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2ab8dc9537a_0_3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ab8dc9537a_0_3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ab8dc9537a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2ab8dc9537a_0_3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ab8dc9537a_0_3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1" name="Google Shape;431;g2ab8dc9537a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2ab8dc9537a_0_3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ab8dc9537a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2ab8dc9537a_0_3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ab8dc9537a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2ab8dc9537a_0_5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ab8dc9537a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2ab8dc9537a_0_5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ab8dc9537a_0_3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4" name="Google Shape;464;g2ab8dc9537a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2ab8dc9537a_0_3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aab929d9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aab929d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23850" lvl="1" marL="914400">
              <a:spcBef>
                <a:spcPts val="3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23850" lvl="1" marL="914400">
              <a:spcBef>
                <a:spcPts val="3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>
  <p:cSld name="Titolo e contenu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250371" y="205740"/>
            <a:ext cx="8683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23850" lvl="1" marL="914400" rtl="0">
              <a:spcBef>
                <a:spcPts val="3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23850" lvl="1" marL="914400" rtl="0">
              <a:spcBef>
                <a:spcPts val="3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A. Rabino, 2021-24</a:t>
            </a:r>
            <a:endParaRPr i="1" sz="1100">
              <a:solidFill>
                <a:schemeClr val="lt1"/>
              </a:solidFill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hyperlink" Target="https://developer.android.com/jetpack/compose/state#managing-state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medium.com/swlh/mvi-architecture-with-android-fcde123e3c4a" TargetMode="External"/><Relationship Id="rId4" Type="http://schemas.openxmlformats.org/officeDocument/2006/relationships/hyperlink" Target="https://medium.com/@summitkumar/exploring-data-observables-in-android-livedata-flow-stateflow-and-sharedflow-75b7ce189a79" TargetMode="External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ctrTitle"/>
          </p:nvPr>
        </p:nvSpPr>
        <p:spPr>
          <a:xfrm>
            <a:off x="311708" y="1930031"/>
            <a:ext cx="85206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4000"/>
              <a:t>Android </a:t>
            </a:r>
            <a:br>
              <a:rPr lang="it" sz="4000"/>
            </a:br>
            <a:r>
              <a:rPr lang="it" sz="4000"/>
              <a:t>Architectural Patterns</a:t>
            </a:r>
            <a:endParaRPr b="0" i="1" sz="3200"/>
          </a:p>
        </p:txBody>
      </p:sp>
      <p:sp>
        <p:nvSpPr>
          <p:cNvPr id="51" name="Google Shape;51;p11"/>
          <p:cNvSpPr txBox="1"/>
          <p:nvPr>
            <p:ph idx="1" type="subTitle"/>
          </p:nvPr>
        </p:nvSpPr>
        <p:spPr>
          <a:xfrm>
            <a:off x="311700" y="3497194"/>
            <a:ext cx="85206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2743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2023-24</a:t>
            </a:r>
            <a:endParaRPr/>
          </a:p>
        </p:txBody>
      </p:sp>
      <p:pic>
        <p:nvPicPr>
          <p:cNvPr id="52" name="Google Shape;5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666" y="166256"/>
            <a:ext cx="1666669" cy="1666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Application architecture</a:t>
            </a:r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In a very abstract way, an application is a piece of software that manages a given set of data according to some business rules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user interface of the application depicts (a derivation of) the internal data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When the user interacts with the application (or, sometimes, when time elapses), internal data are evolved according to the business rules, and the user interface is updated accordingly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If the data set is small and business rules are simple, </a:t>
            </a:r>
            <a:r>
              <a:rPr lang="it"/>
              <a:t>conceiving such a software is not usually a problem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But as the size of the application increases, complexity increases much more rapidly, requiring a highly structured approach to software design aimed at dooming</a:t>
            </a:r>
            <a:r>
              <a:rPr lang="it"/>
              <a:t> such a complexity</a:t>
            </a:r>
            <a:endParaRPr/>
          </a:p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Architectural patterns</a:t>
            </a:r>
            <a:endParaRPr/>
          </a:p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Architectural patterns are a general, reusable resolution to a commonly occurring problem in conceiving software, within a given context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Possibly addressing issues of different kinds: software issues (maintainability, evolvability, testability, …), operational issues (availability, scalability, …), business issues (time to market, total cost of ownership, …)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Along time, different patterns have emerged, aimed at solving some specific problem that previous approaches did not cope with in an adequate way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Either because the context had changed, due to technological and socio-economic evolutions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Or because they had not emerged, yet, due to the relatively short history of their usage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 application architecture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4475" lvl="0" marL="2698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Android applications are built by putting together a series of components that are managed directly by the OS </a:t>
            </a:r>
            <a:endParaRPr/>
          </a:p>
          <a:p>
            <a:pPr indent="-206375" lvl="1" marL="541337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Activities, Services, Content providers, Broadcast receivers</a:t>
            </a:r>
            <a:endParaRPr/>
          </a:p>
          <a:p>
            <a:pPr indent="-244475" lvl="0" marL="269875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Components can be launched individually and out-of-order, and can be destroyed at anytime by the user or by the system</a:t>
            </a:r>
            <a:endParaRPr/>
          </a:p>
          <a:p>
            <a:pPr indent="-206375" lvl="1" marL="541337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may lead to unexpected sequences of events that makes designing and testing an app a difficult task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Separation of concerns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44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No top-level component should store, inside its own properties, application data or information about its state</a:t>
            </a:r>
            <a:endParaRPr/>
          </a:p>
          <a:p>
            <a:pPr indent="-212725" lvl="1" marL="54133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Since it can be destroyed by the OS at its own will, and that could cause a loss of data</a:t>
            </a:r>
            <a:r>
              <a:rPr lang="it"/>
              <a:t>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Moreover, no component should depend on the (active) existence of another, unless a specific contract or API provides this kind of guarantee (e.g., a bound service)</a:t>
            </a:r>
            <a:endParaRPr/>
          </a:p>
          <a:p>
            <a:pPr indent="-2444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Asynchronous operations (like interacting with a remote server or performing computations in other threads) are particularly problematic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the response arrives, the component that originated the request, may exist no more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Separation of concerns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44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Classes extending Activity and Fragment should only deal with UI or operating system interactions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These classes are </a:t>
            </a:r>
            <a:r>
              <a:rPr lang="it"/>
              <a:t>intended</a:t>
            </a:r>
            <a:r>
              <a:rPr lang="it"/>
              <a:t> to be glue classes and can be destroyed at any moment by the user or by the OS</a:t>
            </a:r>
            <a:endParaRPr/>
          </a:p>
          <a:p>
            <a:pPr indent="-2444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content of the UI should reflect a </a:t>
            </a:r>
            <a:r>
              <a:rPr b="1" lang="it">
                <a:solidFill>
                  <a:srgbClr val="1E5F9F"/>
                </a:solidFill>
              </a:rPr>
              <a:t>model</a:t>
            </a:r>
            <a:r>
              <a:rPr lang="it"/>
              <a:t>, preferably a persistent one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Users will not lose data if the app gets destroyed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Your app will work even on problematic network connections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What is in the application state?</a:t>
            </a:r>
            <a:endParaRPr/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Application data </a:t>
            </a:r>
            <a:r>
              <a:rPr lang="it"/>
              <a:t>evolve</a:t>
            </a:r>
            <a:r>
              <a:rPr lang="it"/>
              <a:t> across time as the user interacts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Application should keep this data consistent with both the user actions and the business rules it enforces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State may span across several levels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UI state (is the menu open or closed?)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Form state (what is currently entered into each input)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Application state (the personal profile object, that you can edit)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Read-only data (all the articles in the blog section of the application)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…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Some data may be just a cache of a remote db, some must be kept in sync with the remote db, some is local to the device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Where and how should they be stored and processed?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Architecting a general solution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4475" lvl="0" marL="2698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problem of how to properly organize code in order to cope with these problems has received, along time, several responses which, in turn, have led to different architectural patterns</a:t>
            </a:r>
            <a:endParaRPr/>
          </a:p>
          <a:p>
            <a:pPr indent="-206375" lvl="1" marL="541337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Model-View-Controller (MVC)</a:t>
            </a:r>
            <a:endParaRPr/>
          </a:p>
          <a:p>
            <a:pPr indent="-206375" lvl="1" marL="541337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Model-View-Presenter (MVP)</a:t>
            </a:r>
            <a:endParaRPr/>
          </a:p>
          <a:p>
            <a:pPr indent="-206375" lvl="1" marL="541337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Model-View-ViewModel (MVVM)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Google recommends the last one and supports it with several enhancements in its libraries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50371" y="205740"/>
            <a:ext cx="8683200" cy="85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Model-View-Controller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it"/>
              <a:t>Model - Business logic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is the source of truth for data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Its methods evolve data according to the business rules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may operate as a proxy for a remote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"/>
              <a:t>View - Data presentation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is the GUI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depicts model data and collects user interactions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"/>
              <a:t>Controller - Model manipulation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Transforms user interactions into operations onto the model</a:t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5952300" y="1878882"/>
            <a:ext cx="1142100" cy="699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4810200" y="3126807"/>
            <a:ext cx="1142100" cy="69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7094400" y="3092732"/>
            <a:ext cx="1142100" cy="699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Model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19"/>
          <p:cNvCxnSpPr>
            <a:stCxn id="114" idx="0"/>
            <a:endCxn id="112" idx="3"/>
          </p:cNvCxnSpPr>
          <p:nvPr/>
        </p:nvCxnSpPr>
        <p:spPr>
          <a:xfrm flipH="1" rot="5400000">
            <a:off x="6947700" y="2374982"/>
            <a:ext cx="864300" cy="5712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6" name="Google Shape;116;p19"/>
          <p:cNvSpPr txBox="1"/>
          <p:nvPr/>
        </p:nvSpPr>
        <p:spPr>
          <a:xfrm>
            <a:off x="7418100" y="2192832"/>
            <a:ext cx="89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Fires</a:t>
            </a:r>
            <a:b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6352350" y="1443782"/>
            <a:ext cx="342000" cy="435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19"/>
          <p:cNvCxnSpPr>
            <a:stCxn id="112" idx="1"/>
            <a:endCxn id="113" idx="0"/>
          </p:cNvCxnSpPr>
          <p:nvPr/>
        </p:nvCxnSpPr>
        <p:spPr>
          <a:xfrm flipH="1">
            <a:off x="5381100" y="2228532"/>
            <a:ext cx="571200" cy="8982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9"/>
          <p:cNvSpPr txBox="1"/>
          <p:nvPr/>
        </p:nvSpPr>
        <p:spPr>
          <a:xfrm>
            <a:off x="4685400" y="2018907"/>
            <a:ext cx="89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Passes</a:t>
            </a:r>
            <a:b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calls to</a:t>
            </a:r>
            <a:endParaRPr/>
          </a:p>
        </p:txBody>
      </p:sp>
      <p:cxnSp>
        <p:nvCxnSpPr>
          <p:cNvPr id="120" name="Google Shape;120;p19"/>
          <p:cNvCxnSpPr>
            <a:stCxn id="113" idx="2"/>
            <a:endCxn id="114" idx="2"/>
          </p:cNvCxnSpPr>
          <p:nvPr/>
        </p:nvCxnSpPr>
        <p:spPr>
          <a:xfrm rot="-5400000">
            <a:off x="6506250" y="2666907"/>
            <a:ext cx="34200" cy="2284200"/>
          </a:xfrm>
          <a:prstGeom prst="curvedConnector3">
            <a:avLst>
              <a:gd fmla="val -69627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19"/>
          <p:cNvSpPr txBox="1"/>
          <p:nvPr/>
        </p:nvSpPr>
        <p:spPr>
          <a:xfrm>
            <a:off x="5682350" y="4064332"/>
            <a:ext cx="18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Manipulates</a:t>
            </a:r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5615250" y="1063157"/>
            <a:ext cx="18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interactions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MVC - Pros &amp; cons</a:t>
            </a:r>
            <a:endParaRPr/>
          </a:p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Pros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Clear separation of concerns, defining a precise purpose for each of the three components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Model testability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Cons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High coupling among the classes: when one component changes, the other must change, too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 single component cannot be replaced without replacing also the others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35" name="Google Shape;135;p21"/>
          <p:cNvSpPr txBox="1"/>
          <p:nvPr>
            <p:ph type="title"/>
          </p:nvPr>
        </p:nvSpPr>
        <p:spPr>
          <a:xfrm>
            <a:off x="250371" y="205740"/>
            <a:ext cx="8683200" cy="85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Model-View-Presenter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it"/>
              <a:t>Model - Business logic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is the source of truth for data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Its methods evolve data according to the business rules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may operate as a proxy for a remote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"/>
              <a:t>View - Data presentation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is the GUI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depicts model data and collects user interactions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"/>
              <a:t>Presenter - Model and View manipulation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Transforms user interactions into operations onto the model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Updates the view </a:t>
            </a:r>
            <a:r>
              <a:rPr lang="it"/>
              <a:t>according to model</a:t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6898950" y="1955082"/>
            <a:ext cx="1142100" cy="699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5171175" y="2807507"/>
            <a:ext cx="1142100" cy="699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Presenter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6898950" y="3659932"/>
            <a:ext cx="1142100" cy="699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Model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21"/>
          <p:cNvCxnSpPr>
            <a:stCxn id="139" idx="0"/>
            <a:endCxn id="138" idx="3"/>
          </p:cNvCxnSpPr>
          <p:nvPr/>
        </p:nvCxnSpPr>
        <p:spPr>
          <a:xfrm flipH="1" rot="5400000">
            <a:off x="6640200" y="2830132"/>
            <a:ext cx="502800" cy="1156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41" name="Google Shape;141;p21"/>
          <p:cNvSpPr txBox="1"/>
          <p:nvPr/>
        </p:nvSpPr>
        <p:spPr>
          <a:xfrm>
            <a:off x="7280900" y="3076594"/>
            <a:ext cx="89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Fires</a:t>
            </a:r>
            <a:b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7266750" y="1519982"/>
            <a:ext cx="342000" cy="435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21"/>
          <p:cNvCxnSpPr>
            <a:stCxn id="137" idx="1"/>
            <a:endCxn id="138" idx="0"/>
          </p:cNvCxnSpPr>
          <p:nvPr/>
        </p:nvCxnSpPr>
        <p:spPr>
          <a:xfrm flipH="1">
            <a:off x="5742150" y="2304732"/>
            <a:ext cx="1156800" cy="502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1"/>
          <p:cNvSpPr txBox="1"/>
          <p:nvPr/>
        </p:nvSpPr>
        <p:spPr>
          <a:xfrm>
            <a:off x="5574725" y="1768282"/>
            <a:ext cx="89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Passes</a:t>
            </a:r>
            <a:b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calls to</a:t>
            </a:r>
            <a:endParaRPr/>
          </a:p>
        </p:txBody>
      </p:sp>
      <p:cxnSp>
        <p:nvCxnSpPr>
          <p:cNvPr id="145" name="Google Shape;145;p21"/>
          <p:cNvCxnSpPr>
            <a:stCxn id="138" idx="2"/>
            <a:endCxn id="139" idx="1"/>
          </p:cNvCxnSpPr>
          <p:nvPr/>
        </p:nvCxnSpPr>
        <p:spPr>
          <a:xfrm flipH="1" rot="-5400000">
            <a:off x="6069225" y="3179807"/>
            <a:ext cx="502800" cy="1156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1"/>
          <p:cNvSpPr txBox="1"/>
          <p:nvPr/>
        </p:nvSpPr>
        <p:spPr>
          <a:xfrm>
            <a:off x="5069550" y="3859032"/>
            <a:ext cx="18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Manipulates</a:t>
            </a:r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6529650" y="1139357"/>
            <a:ext cx="18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interactions</a:t>
            </a:r>
            <a:endParaRPr b="1"/>
          </a:p>
        </p:txBody>
      </p:sp>
      <p:cxnSp>
        <p:nvCxnSpPr>
          <p:cNvPr id="148" name="Google Shape;148;p21"/>
          <p:cNvCxnSpPr>
            <a:stCxn id="138" idx="3"/>
            <a:endCxn id="137" idx="2"/>
          </p:cNvCxnSpPr>
          <p:nvPr/>
        </p:nvCxnSpPr>
        <p:spPr>
          <a:xfrm flipH="1" rot="10800000">
            <a:off x="6313275" y="2654357"/>
            <a:ext cx="1156800" cy="502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21"/>
          <p:cNvSpPr txBox="1"/>
          <p:nvPr/>
        </p:nvSpPr>
        <p:spPr>
          <a:xfrm>
            <a:off x="6356750" y="2661944"/>
            <a:ext cx="89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MVP - Pros &amp; cons</a:t>
            </a:r>
            <a:endParaRPr/>
          </a:p>
        </p:txBody>
      </p:sp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Pros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Clear separation of concerns as in MVC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View and Model are now decoupled: they can change independently of each other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Improved testability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Cons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Programmatic manipulation of the View can be problematic: depending on the technology used for implementing the View,  a lot of complexity may be introduced due to synchronization issues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type="title"/>
          </p:nvPr>
        </p:nvSpPr>
        <p:spPr>
          <a:xfrm>
            <a:off x="250371" y="205740"/>
            <a:ext cx="8683200" cy="85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Model-View-ViewModel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4327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it"/>
              <a:t>Model - Business logic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This is the source of truth for data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Its methods evolve data according to the business rules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It may operate as a proxy for a remote server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it"/>
              <a:t>View - Data presentation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This is the GUI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It depicts model data and collects user interactions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it"/>
              <a:t>ViewModel - Model manipulation and View data feeding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Transforms user interactions into operations onto the model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Hosts the subset of Model data that View observes</a:t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6898950" y="1955082"/>
            <a:ext cx="1142100" cy="699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5171175" y="2807507"/>
            <a:ext cx="1142100" cy="699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ViewModel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6898950" y="3659932"/>
            <a:ext cx="1142100" cy="699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Model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23"/>
          <p:cNvCxnSpPr>
            <a:stCxn id="166" idx="0"/>
            <a:endCxn id="165" idx="3"/>
          </p:cNvCxnSpPr>
          <p:nvPr/>
        </p:nvCxnSpPr>
        <p:spPr>
          <a:xfrm flipH="1" rot="5400000">
            <a:off x="6640200" y="2830132"/>
            <a:ext cx="502800" cy="1156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68" name="Google Shape;168;p23"/>
          <p:cNvSpPr txBox="1"/>
          <p:nvPr/>
        </p:nvSpPr>
        <p:spPr>
          <a:xfrm>
            <a:off x="7280900" y="3076594"/>
            <a:ext cx="89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Fires</a:t>
            </a:r>
            <a:b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/>
          </a:p>
        </p:txBody>
      </p:sp>
      <p:sp>
        <p:nvSpPr>
          <p:cNvPr id="169" name="Google Shape;169;p23"/>
          <p:cNvSpPr/>
          <p:nvPr/>
        </p:nvSpPr>
        <p:spPr>
          <a:xfrm>
            <a:off x="7266750" y="1519982"/>
            <a:ext cx="342000" cy="435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23"/>
          <p:cNvCxnSpPr>
            <a:stCxn id="164" idx="1"/>
            <a:endCxn id="165" idx="0"/>
          </p:cNvCxnSpPr>
          <p:nvPr/>
        </p:nvCxnSpPr>
        <p:spPr>
          <a:xfrm flipH="1">
            <a:off x="5742150" y="2304732"/>
            <a:ext cx="1156800" cy="502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p23"/>
          <p:cNvSpPr txBox="1"/>
          <p:nvPr/>
        </p:nvSpPr>
        <p:spPr>
          <a:xfrm>
            <a:off x="5574725" y="1768282"/>
            <a:ext cx="89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Passes</a:t>
            </a:r>
            <a:b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calls to</a:t>
            </a:r>
            <a:endParaRPr/>
          </a:p>
        </p:txBody>
      </p:sp>
      <p:cxnSp>
        <p:nvCxnSpPr>
          <p:cNvPr id="172" name="Google Shape;172;p23"/>
          <p:cNvCxnSpPr>
            <a:stCxn id="165" idx="2"/>
            <a:endCxn id="166" idx="1"/>
          </p:cNvCxnSpPr>
          <p:nvPr/>
        </p:nvCxnSpPr>
        <p:spPr>
          <a:xfrm flipH="1" rot="-5400000">
            <a:off x="6069225" y="3179807"/>
            <a:ext cx="502800" cy="1156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23"/>
          <p:cNvSpPr txBox="1"/>
          <p:nvPr/>
        </p:nvSpPr>
        <p:spPr>
          <a:xfrm>
            <a:off x="5069550" y="3859032"/>
            <a:ext cx="18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Manipulates</a:t>
            </a:r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6529650" y="1139357"/>
            <a:ext cx="18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interactions</a:t>
            </a:r>
            <a:endParaRPr b="1"/>
          </a:p>
        </p:txBody>
      </p:sp>
      <p:cxnSp>
        <p:nvCxnSpPr>
          <p:cNvPr id="175" name="Google Shape;175;p23"/>
          <p:cNvCxnSpPr>
            <a:stCxn id="165" idx="3"/>
            <a:endCxn id="164" idx="2"/>
          </p:cNvCxnSpPr>
          <p:nvPr/>
        </p:nvCxnSpPr>
        <p:spPr>
          <a:xfrm flipH="1" rot="10800000">
            <a:off x="6313275" y="2654357"/>
            <a:ext cx="1156800" cy="502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76" name="Google Shape;176;p23"/>
          <p:cNvSpPr txBox="1"/>
          <p:nvPr/>
        </p:nvSpPr>
        <p:spPr>
          <a:xfrm>
            <a:off x="6199425" y="2462694"/>
            <a:ext cx="89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Fires</a:t>
            </a:r>
            <a:b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MVVM - Pros &amp; cons</a:t>
            </a:r>
            <a:endParaRPr/>
          </a:p>
        </p:txBody>
      </p:sp>
      <p:sp>
        <p:nvSpPr>
          <p:cNvPr id="182" name="Google Shape;182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Pros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Clear separation of concerns as in MVC and MVP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Higher decoupling, since there are no direct invocations from ViewModel to View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Less synchronization problems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Improved testability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Cons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Higher complexity, which can be partially smoothed by </a:t>
            </a:r>
            <a:r>
              <a:rPr lang="it"/>
              <a:t>leveraging</a:t>
            </a:r>
            <a:r>
              <a:rPr lang="it"/>
              <a:t> on well architected frameworks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Steeper learning curve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/>
        </p:nvSpPr>
        <p:spPr>
          <a:xfrm>
            <a:off x="1238600" y="2503294"/>
            <a:ext cx="6427800" cy="1472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1248025" y="1671624"/>
            <a:ext cx="6427800" cy="75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2" name="Google Shape;19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MVVM Architecture in Android</a:t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3570875" y="1095188"/>
            <a:ext cx="1734000" cy="44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Activity/Fragment</a:t>
            </a:r>
            <a:endParaRPr/>
          </a:p>
        </p:txBody>
      </p:sp>
      <p:sp>
        <p:nvSpPr>
          <p:cNvPr id="194" name="Google Shape;194;p25"/>
          <p:cNvSpPr/>
          <p:nvPr/>
        </p:nvSpPr>
        <p:spPr>
          <a:xfrm>
            <a:off x="3277475" y="1784277"/>
            <a:ext cx="2320800" cy="585276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ViewModel</a:t>
            </a:r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3570875" y="2627363"/>
            <a:ext cx="1734000" cy="449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BusinessLogic</a:t>
            </a:r>
            <a:endParaRPr/>
          </a:p>
        </p:txBody>
      </p:sp>
      <p:grpSp>
        <p:nvGrpSpPr>
          <p:cNvPr id="196" name="Google Shape;196;p25"/>
          <p:cNvGrpSpPr/>
          <p:nvPr/>
        </p:nvGrpSpPr>
        <p:grpSpPr>
          <a:xfrm>
            <a:off x="1640391" y="3289181"/>
            <a:ext cx="2186780" cy="592875"/>
            <a:chOff x="366725" y="4368725"/>
            <a:chExt cx="1797600" cy="790500"/>
          </a:xfrm>
        </p:grpSpPr>
        <p:sp>
          <p:nvSpPr>
            <p:cNvPr id="197" name="Google Shape;197;p25"/>
            <p:cNvSpPr/>
            <p:nvPr/>
          </p:nvSpPr>
          <p:spPr>
            <a:xfrm>
              <a:off x="366725" y="4368725"/>
              <a:ext cx="1797600" cy="790500"/>
            </a:xfrm>
            <a:prstGeom prst="roundRect">
              <a:avLst>
                <a:gd fmla="val 16667" name="adj"/>
              </a:avLst>
            </a:prstGeom>
            <a:solidFill>
              <a:srgbClr val="B4A7D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</a:rPr>
                <a:t>Local Data Source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1105925" y="4806223"/>
              <a:ext cx="921300" cy="285000"/>
            </a:xfrm>
            <a:prstGeom prst="roundRect">
              <a:avLst>
                <a:gd fmla="val 16667" name="adj"/>
              </a:avLst>
            </a:prstGeom>
            <a:solidFill>
              <a:srgbClr val="D9D2E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300"/>
                <a:t>Room</a:t>
              </a:r>
              <a:endParaRPr sz="1200"/>
            </a:p>
          </p:txBody>
        </p:sp>
      </p:grpSp>
      <p:grpSp>
        <p:nvGrpSpPr>
          <p:cNvPr id="199" name="Google Shape;199;p25"/>
          <p:cNvGrpSpPr/>
          <p:nvPr/>
        </p:nvGrpSpPr>
        <p:grpSpPr>
          <a:xfrm>
            <a:off x="4756275" y="3289181"/>
            <a:ext cx="2186700" cy="592875"/>
            <a:chOff x="366725" y="4368725"/>
            <a:chExt cx="2186700" cy="790500"/>
          </a:xfrm>
        </p:grpSpPr>
        <p:sp>
          <p:nvSpPr>
            <p:cNvPr id="200" name="Google Shape;200;p25"/>
            <p:cNvSpPr/>
            <p:nvPr/>
          </p:nvSpPr>
          <p:spPr>
            <a:xfrm>
              <a:off x="366725" y="4368725"/>
              <a:ext cx="2186700" cy="790500"/>
            </a:xfrm>
            <a:prstGeom prst="roundRect">
              <a:avLst>
                <a:gd fmla="val 16667" name="adj"/>
              </a:avLst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</a:rPr>
                <a:t>Remote Data Source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" name="Google Shape;201;p25"/>
            <p:cNvSpPr/>
            <p:nvPr/>
          </p:nvSpPr>
          <p:spPr>
            <a:xfrm>
              <a:off x="1505125" y="4808175"/>
              <a:ext cx="921300" cy="285000"/>
            </a:xfrm>
            <a:prstGeom prst="roundRect">
              <a:avLst>
                <a:gd fmla="val 16667" name="adj"/>
              </a:avLst>
            </a:prstGeom>
            <a:solidFill>
              <a:srgbClr val="FCE5C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300"/>
                <a:t>Retrofit</a:t>
              </a:r>
              <a:endParaRPr sz="1200"/>
            </a:p>
          </p:txBody>
        </p:sp>
      </p:grpSp>
      <p:sp>
        <p:nvSpPr>
          <p:cNvPr id="202" name="Google Shape;202;p25"/>
          <p:cNvSpPr/>
          <p:nvPr/>
        </p:nvSpPr>
        <p:spPr>
          <a:xfrm>
            <a:off x="2513463" y="4134788"/>
            <a:ext cx="1178400" cy="449700"/>
          </a:xfrm>
          <a:prstGeom prst="can">
            <a:avLst>
              <a:gd fmla="val 25000" name="adj"/>
            </a:avLst>
          </a:prstGeom>
          <a:solidFill>
            <a:srgbClr val="674EA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SQLite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5312888" y="4189369"/>
            <a:ext cx="2086128" cy="393660"/>
          </a:xfrm>
          <a:prstGeom prst="cloud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Network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04" name="Google Shape;204;p25"/>
          <p:cNvCxnSpPr>
            <a:stCxn id="194" idx="2"/>
            <a:endCxn id="195" idx="0"/>
          </p:cNvCxnSpPr>
          <p:nvPr/>
        </p:nvCxnSpPr>
        <p:spPr>
          <a:xfrm>
            <a:off x="4437875" y="2369553"/>
            <a:ext cx="0" cy="25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5"/>
          <p:cNvCxnSpPr>
            <a:stCxn id="206" idx="0"/>
          </p:cNvCxnSpPr>
          <p:nvPr/>
        </p:nvCxnSpPr>
        <p:spPr>
          <a:xfrm rot="10800000">
            <a:off x="4964275" y="1533813"/>
            <a:ext cx="0" cy="3477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5"/>
          <p:cNvCxnSpPr>
            <a:stCxn id="193" idx="2"/>
            <a:endCxn id="194" idx="0"/>
          </p:cNvCxnSpPr>
          <p:nvPr/>
        </p:nvCxnSpPr>
        <p:spPr>
          <a:xfrm>
            <a:off x="4437875" y="1544888"/>
            <a:ext cx="0" cy="23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5"/>
          <p:cNvCxnSpPr>
            <a:stCxn id="195" idx="1"/>
            <a:endCxn id="197" idx="0"/>
          </p:cNvCxnSpPr>
          <p:nvPr/>
        </p:nvCxnSpPr>
        <p:spPr>
          <a:xfrm flipH="1">
            <a:off x="2733875" y="2852213"/>
            <a:ext cx="837000" cy="4371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5"/>
          <p:cNvCxnSpPr>
            <a:stCxn id="195" idx="3"/>
            <a:endCxn id="200" idx="0"/>
          </p:cNvCxnSpPr>
          <p:nvPr/>
        </p:nvCxnSpPr>
        <p:spPr>
          <a:xfrm>
            <a:off x="5304875" y="2852213"/>
            <a:ext cx="544800" cy="4371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5"/>
          <p:cNvCxnSpPr>
            <a:stCxn id="198" idx="2"/>
            <a:endCxn id="202" idx="1"/>
          </p:cNvCxnSpPr>
          <p:nvPr/>
        </p:nvCxnSpPr>
        <p:spPr>
          <a:xfrm>
            <a:off x="3100009" y="3831055"/>
            <a:ext cx="2700" cy="30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5"/>
          <p:cNvCxnSpPr>
            <a:stCxn id="201" idx="2"/>
            <a:endCxn id="203" idx="3"/>
          </p:cNvCxnSpPr>
          <p:nvPr/>
        </p:nvCxnSpPr>
        <p:spPr>
          <a:xfrm>
            <a:off x="6355325" y="3832519"/>
            <a:ext cx="600" cy="37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25"/>
          <p:cNvSpPr txBox="1"/>
          <p:nvPr/>
        </p:nvSpPr>
        <p:spPr>
          <a:xfrm>
            <a:off x="6623300" y="2511516"/>
            <a:ext cx="10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Model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1238600" y="997826"/>
            <a:ext cx="6427800" cy="592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6623300" y="1006059"/>
            <a:ext cx="10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6608675" y="1762902"/>
            <a:ext cx="10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ViewModel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25"/>
          <p:cNvCxnSpPr>
            <a:endCxn id="217" idx="1"/>
          </p:cNvCxnSpPr>
          <p:nvPr/>
        </p:nvCxnSpPr>
        <p:spPr>
          <a:xfrm flipH="1" rot="10800000">
            <a:off x="389212" y="4312988"/>
            <a:ext cx="5226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25"/>
          <p:cNvCxnSpPr>
            <a:endCxn id="219" idx="1"/>
          </p:cNvCxnSpPr>
          <p:nvPr/>
        </p:nvCxnSpPr>
        <p:spPr>
          <a:xfrm flipH="1" rot="10800000">
            <a:off x="385312" y="4587542"/>
            <a:ext cx="526500" cy="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17" name="Google Shape;217;p25"/>
          <p:cNvSpPr txBox="1"/>
          <p:nvPr/>
        </p:nvSpPr>
        <p:spPr>
          <a:xfrm>
            <a:off x="911812" y="4112888"/>
            <a:ext cx="11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911812" y="4387442"/>
            <a:ext cx="11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latin typeface="Calibri"/>
                <a:ea typeface="Calibri"/>
                <a:cs typeface="Calibri"/>
                <a:sym typeface="Calibri"/>
              </a:rPr>
              <a:t>notifies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4442725" y="1881513"/>
            <a:ext cx="1043100" cy="330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LiveData/</a:t>
            </a:r>
            <a:br>
              <a:rPr lang="it" sz="1000"/>
            </a:br>
            <a:r>
              <a:rPr lang="it" sz="1000"/>
              <a:t>State/StateFlow</a:t>
            </a:r>
            <a:endParaRPr sz="900"/>
          </a:p>
        </p:txBody>
      </p:sp>
      <p:cxnSp>
        <p:nvCxnSpPr>
          <p:cNvPr id="220" name="Google Shape;220;p25"/>
          <p:cNvCxnSpPr/>
          <p:nvPr/>
        </p:nvCxnSpPr>
        <p:spPr>
          <a:xfrm rot="10800000">
            <a:off x="4583275" y="2378426"/>
            <a:ext cx="0" cy="251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21" name="Google Shape;221;p25"/>
          <p:cNvSpPr/>
          <p:nvPr/>
        </p:nvSpPr>
        <p:spPr>
          <a:xfrm>
            <a:off x="4503675" y="1994625"/>
            <a:ext cx="1043100" cy="330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LiveData/</a:t>
            </a:r>
            <a:br>
              <a:rPr lang="it" sz="1000"/>
            </a:br>
            <a:r>
              <a:rPr lang="it" sz="1000"/>
              <a:t>State/StateFlow</a:t>
            </a:r>
            <a:endParaRPr sz="900"/>
          </a:p>
        </p:txBody>
      </p:sp>
      <p:cxnSp>
        <p:nvCxnSpPr>
          <p:cNvPr id="222" name="Google Shape;222;p25"/>
          <p:cNvCxnSpPr>
            <a:stCxn id="221" idx="0"/>
          </p:cNvCxnSpPr>
          <p:nvPr/>
        </p:nvCxnSpPr>
        <p:spPr>
          <a:xfrm rot="10800000">
            <a:off x="5025225" y="1545225"/>
            <a:ext cx="0" cy="449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28" name="Google Shape;2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ViewModel</a:t>
            </a:r>
            <a:endParaRPr/>
          </a:p>
        </p:txBody>
      </p:sp>
      <p:sp>
        <p:nvSpPr>
          <p:cNvPr id="229" name="Google Shape;229;p26"/>
          <p:cNvSpPr txBox="1"/>
          <p:nvPr>
            <p:ph idx="1" type="body"/>
          </p:nvPr>
        </p:nvSpPr>
        <p:spPr>
          <a:xfrm>
            <a:off x="311150" y="1149787"/>
            <a:ext cx="8521800" cy="3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46856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405"/>
              <a:buChar char="•"/>
            </a:pPr>
            <a:r>
              <a:rPr lang="it"/>
              <a:t>Object d</a:t>
            </a:r>
            <a:r>
              <a:rPr lang="it"/>
              <a:t>esigned to store and manage UI-related data in a </a:t>
            </a:r>
            <a:r>
              <a:rPr b="1" lang="it">
                <a:solidFill>
                  <a:srgbClr val="0B5394"/>
                </a:solidFill>
              </a:rPr>
              <a:t>lifecycle conscious way</a:t>
            </a:r>
            <a:endParaRPr b="1">
              <a:solidFill>
                <a:srgbClr val="0B5394"/>
              </a:solidFill>
            </a:endParaRPr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And to propagate change requests to the underlying model</a:t>
            </a:r>
            <a:endParaRPr/>
          </a:p>
          <a:p>
            <a:pPr indent="-246856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405"/>
              <a:buChar char="•"/>
            </a:pPr>
            <a:r>
              <a:rPr lang="it"/>
              <a:t>Indirectly instantiated inside an activity or a fragment, using a delegate property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This allows to rebind the same ViewModel when the activity/fragment is destroyed and recreated as a consequence of a configuration change (device rotation, change in the UI language, …)</a:t>
            </a:r>
            <a:endParaRPr/>
          </a:p>
          <a:p>
            <a:pPr indent="-246856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405"/>
              <a:buChar char="•"/>
            </a:pPr>
            <a:r>
              <a:rPr lang="it"/>
              <a:t>When the owning component is finished, the ViewModel is notified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Via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onCleared()</a:t>
            </a:r>
            <a:r>
              <a:rPr lang="it"/>
              <a:t> method</a:t>
            </a:r>
            <a:endParaRPr/>
          </a:p>
          <a:p>
            <a:pPr indent="-246856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405"/>
              <a:buChar char="•"/>
            </a:pPr>
            <a:r>
              <a:rPr lang="it"/>
              <a:t>ViewModels must extend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androidx.lifecycle.ViewModel</a:t>
            </a:r>
            <a:r>
              <a:rPr lang="it"/>
              <a:t> abstract class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Or a subclass of it, like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AndroidViewModel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5" name="Google Shape;23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ViewModel lifecycle</a:t>
            </a:r>
            <a:endParaRPr/>
          </a:p>
        </p:txBody>
      </p:sp>
      <p:sp>
        <p:nvSpPr>
          <p:cNvPr id="236" name="Google Shape;236;p27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6957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0000"/>
              <a:buChar char="•"/>
            </a:pPr>
            <a:r>
              <a:rPr b="1" lang="it" sz="20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ViewModel</a:t>
            </a:r>
            <a:r>
              <a:rPr lang="it" sz="2000">
                <a:solidFill>
                  <a:schemeClr val="dk1"/>
                </a:solidFill>
              </a:rPr>
              <a:t> instances have a special status in Android, since they are always created in association with a scope (a fragment or an activity) and are retained as long as the scope is alive</a:t>
            </a:r>
            <a:endParaRPr sz="2000">
              <a:solidFill>
                <a:schemeClr val="dk1"/>
              </a:solidFill>
            </a:endParaRPr>
          </a:p>
          <a:p>
            <a:pPr indent="-3225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it" sz="1600">
                <a:solidFill>
                  <a:schemeClr val="dk1"/>
                </a:solidFill>
              </a:rPr>
              <a:t>This means that they survive configuration changes</a:t>
            </a:r>
            <a:endParaRPr sz="1600">
              <a:solidFill>
                <a:schemeClr val="dk1"/>
              </a:solidFill>
            </a:endParaRPr>
          </a:p>
          <a:p>
            <a:pPr indent="-3225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it" sz="1600">
                <a:solidFill>
                  <a:schemeClr val="dk1"/>
                </a:solidFill>
              </a:rPr>
              <a:t>E.g., they are kept in memory when a device is rotated and associated back to their scope as soon as it is recreated</a:t>
            </a:r>
            <a:endParaRPr/>
          </a:p>
        </p:txBody>
      </p:sp>
      <p:pic>
        <p:nvPicPr>
          <p:cNvPr id="237" name="Google Shape;2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450" y="950188"/>
            <a:ext cx="3673202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9175" y="1838175"/>
            <a:ext cx="346476" cy="34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9175" y="3176450"/>
            <a:ext cx="346476" cy="34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Implementing a ViewModel</a:t>
            </a:r>
            <a:endParaRPr/>
          </a:p>
        </p:txBody>
      </p:sp>
      <p:sp>
        <p:nvSpPr>
          <p:cNvPr id="245" name="Google Shape;245;p2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Given its role of mediator between the View and the Model, a ViewModel should offer a set of methods invocable from the View to operate on the Model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These methods can simply invoke the corresponding Model methods, or may add some presentation logic (e.g., causing a loading animation to be displayed) to them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At the same time, the ViewModel must host a set of </a:t>
            </a:r>
            <a:r>
              <a:rPr b="1" lang="it">
                <a:solidFill>
                  <a:srgbClr val="0B5394"/>
                </a:solidFill>
              </a:rPr>
              <a:t>observable</a:t>
            </a:r>
            <a:r>
              <a:rPr lang="it"/>
              <a:t> properties, that the View may subscribe to, representing relevant Model data to be displayed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Android offers several abstractions useful for this, like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LiveData&lt;T&gt;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State&lt;T&gt;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StateFlow&lt;T&gt;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SharedFlow&lt;T&gt;</a:t>
            </a:r>
            <a:r>
              <a:rPr lang="it">
                <a:solidFill>
                  <a:schemeClr val="dk1"/>
                </a:solidFill>
              </a:rPr>
              <a:t>,</a:t>
            </a:r>
            <a:r>
              <a:rPr lang="it"/>
              <a:t> as well as their mutable counterparts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Mutable*</a:t>
            </a:r>
            <a:r>
              <a:rPr lang="it"/>
              <a:t>)</a:t>
            </a:r>
            <a:endParaRPr/>
          </a:p>
        </p:txBody>
      </p:sp>
      <p:sp>
        <p:nvSpPr>
          <p:cNvPr id="246" name="Google Shape;246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Using observables in ViewModels</a:t>
            </a:r>
            <a:endParaRPr/>
          </a:p>
        </p:txBody>
      </p:sp>
      <p:sp>
        <p:nvSpPr>
          <p:cNvPr id="252" name="Google Shape;252;p2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53" name="Google Shape;253;p29"/>
          <p:cNvSpPr txBox="1"/>
          <p:nvPr>
            <p:ph idx="1" type="body"/>
          </p:nvPr>
        </p:nvSpPr>
        <p:spPr>
          <a:xfrm>
            <a:off x="311150" y="1244201"/>
            <a:ext cx="8521800" cy="256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Observability refers to the capability of an object to notify others about changes in its data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Notification are sent to subscribers, and each observable kind provide its own way to subscribe/unsubscribe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Observables have in common a read </a:t>
            </a:r>
            <a:r>
              <a:rPr lang="it"/>
              <a:t>only</a:t>
            </a:r>
            <a:r>
              <a:rPr lang="it"/>
              <a:t> property named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Mutable observables give write access to such a property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ViewModels usually declare a private mutable observable </a:t>
            </a:r>
            <a:r>
              <a:rPr lang="it"/>
              <a:t>properties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And expose them as public read-only ones </a:t>
            </a:r>
            <a:endParaRPr/>
          </a:p>
        </p:txBody>
      </p:sp>
      <p:sp>
        <p:nvSpPr>
          <p:cNvPr id="254" name="Google Shape;254;p29"/>
          <p:cNvSpPr txBox="1"/>
          <p:nvPr/>
        </p:nvSpPr>
        <p:spPr>
          <a:xfrm>
            <a:off x="2060750" y="3787678"/>
            <a:ext cx="5022600" cy="923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class MyViewModel: ViewModel()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private val _someData = mutableLiveData&lt;Int&gt;(0)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val someData: LiveData&lt;Int&gt; = _someData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Which observable should be used?</a:t>
            </a:r>
            <a:endParaRPr/>
          </a:p>
        </p:txBody>
      </p:sp>
      <p:sp>
        <p:nvSpPr>
          <p:cNvPr id="260" name="Google Shape;260;p3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1" name="Google Shape;261;p3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It depends on the technology used by the GUI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LiveData&lt;T&gt;</a:t>
            </a:r>
            <a:r>
              <a:rPr lang="it"/>
              <a:t> works smoothly with standard View objects, since they inherit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LifeCycle</a:t>
            </a:r>
            <a:r>
              <a:rPr lang="it"/>
              <a:t> state from the Activity/Fragment they are hosted in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State&lt;T&gt;</a:t>
            </a:r>
            <a:r>
              <a:rPr lang="it"/>
              <a:t> is intended for Jetpack Compose GUIs - a change in its value automatically triggers recomposition, but it is complex to use it outside of that framework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SharedFlow&lt;T&gt;</a:t>
            </a:r>
            <a:r>
              <a:rPr lang="it"/>
              <a:t> and its subclass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StateFlow&lt;T&gt;</a:t>
            </a:r>
            <a:r>
              <a:rPr lang="it"/>
              <a:t> are part of the Kotlin coroutine libraries and provide a general solution to observability that is independent of the Android framework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Extension functions are provided for accessing observables in Compose</a:t>
            </a:r>
            <a:endParaRPr/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LiveData</a:t>
            </a:r>
            <a:r>
              <a:rPr lang="it"/>
              <a:t> can be converted into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State</a:t>
            </a:r>
            <a:r>
              <a:rPr lang="it"/>
              <a:t> by using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.observeAsState()</a:t>
            </a:r>
            <a:endParaRPr/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StateFlow</a:t>
            </a:r>
            <a:r>
              <a:rPr lang="it"/>
              <a:t> con be converted into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State</a:t>
            </a:r>
            <a:r>
              <a:rPr lang="it"/>
              <a:t> via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.collectAsState()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7" name="Google Shape;26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What VMs should not contain</a:t>
            </a:r>
            <a:endParaRPr/>
          </a:p>
        </p:txBody>
      </p:sp>
      <p:sp>
        <p:nvSpPr>
          <p:cNvPr id="268" name="Google Shape;268;p3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444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 ViewModel must never reference a view or any class that may hold a reference to the activity context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Views, fragments, adapters, drawables, lifecycles, lifecycle-aware observables, …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Resources must only be referred to by their ids, and should be loaded by the view</a:t>
            </a:r>
            <a:endParaRPr/>
          </a:p>
          <a:p>
            <a:pPr indent="-2444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only exception to this rule is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ApplicationContext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Since that object lifecycle spans the entire duration of the process, it is safe to store it inside a ViewModel instance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Class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AndroidViewModel</a:t>
            </a:r>
            <a:r>
              <a:rPr lang="it"/>
              <a:t>, which can be used as super-class of ViewModels, requires the application object to be constructed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Android code that instantiates a class deriving from it will automatically inject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Application</a:t>
            </a:r>
            <a:r>
              <a:rPr lang="it"/>
              <a:t> object into the ViewModel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4" name="Google Shape;274;p32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Buffering view state data</a:t>
            </a:r>
            <a:endParaRPr/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130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ViewModel is the natural place where view state can be hoisted</a:t>
            </a:r>
            <a:endParaRPr/>
          </a:p>
          <a:p>
            <a:pPr indent="-213518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gives the possibility to mutate several different properties as a consequence of a single method invocation</a:t>
            </a:r>
            <a:endParaRPr/>
          </a:p>
          <a:p>
            <a:pPr indent="-28130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Methods that propagate change requests to the Model may require switching to a different thread</a:t>
            </a:r>
            <a:endParaRPr/>
          </a:p>
          <a:p>
            <a:pPr indent="-213518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Android forbids, in fact, performing long running operations from the main thread</a:t>
            </a:r>
            <a:endParaRPr/>
          </a:p>
          <a:p>
            <a:pPr indent="-28130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ViewModels can also be used as a communication layer between the different fragments hosted inside the same activity</a:t>
            </a:r>
            <a:endParaRPr/>
          </a:p>
          <a:p>
            <a:pPr indent="-213518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decouples the data exchange allowing fragments to interact without necessarily being alive at the same time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ViewModel example (LiveData)</a:t>
            </a:r>
            <a:endParaRPr/>
          </a:p>
        </p:txBody>
      </p:sp>
      <p:sp>
        <p:nvSpPr>
          <p:cNvPr id="281" name="Google Shape;281;p33"/>
          <p:cNvSpPr txBox="1"/>
          <p:nvPr>
            <p:ph idx="4294967295" type="body"/>
          </p:nvPr>
        </p:nvSpPr>
        <p:spPr>
          <a:xfrm>
            <a:off x="479850" y="1133813"/>
            <a:ext cx="8184300" cy="3186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CounterViewModel : ViewModel()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private val _count = </a:t>
            </a:r>
            <a:r>
              <a:rPr lang="it" sz="14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MutableLiveData&lt;Int&gt;(0)</a:t>
            </a:r>
            <a:endParaRPr sz="1400"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count: </a:t>
            </a:r>
            <a:r>
              <a:rPr lang="it" sz="14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LiveData&lt;Int&gt;</a:t>
            </a: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_count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fun increment() { _count.value = _count.value!! + 1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fun decrement() { _count.value = _count.value!! - 1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3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ViewModel example (State)</a:t>
            </a:r>
            <a:endParaRPr/>
          </a:p>
        </p:txBody>
      </p:sp>
      <p:sp>
        <p:nvSpPr>
          <p:cNvPr id="288" name="Google Shape;288;p34"/>
          <p:cNvSpPr txBox="1"/>
          <p:nvPr>
            <p:ph idx="4294967295" type="body"/>
          </p:nvPr>
        </p:nvSpPr>
        <p:spPr>
          <a:xfrm>
            <a:off x="479850" y="1133813"/>
            <a:ext cx="8184300" cy="3186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CounterViewModel : ViewModel()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private val _count = </a:t>
            </a:r>
            <a:r>
              <a:rPr lang="it" sz="14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mutableStateOf(0)</a:t>
            </a:r>
            <a:endParaRPr sz="1400"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count: </a:t>
            </a:r>
            <a:r>
              <a:rPr lang="it" sz="14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State&lt;Int&gt;</a:t>
            </a: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_count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fun increment() { _count.value ++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fun decrement() { _count.value --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9" name="Google Shape;289;p3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ViewModel example (StateFlow)</a:t>
            </a:r>
            <a:endParaRPr/>
          </a:p>
        </p:txBody>
      </p:sp>
      <p:sp>
        <p:nvSpPr>
          <p:cNvPr id="295" name="Google Shape;295;p35"/>
          <p:cNvSpPr txBox="1"/>
          <p:nvPr>
            <p:ph idx="4294967295" type="body"/>
          </p:nvPr>
        </p:nvSpPr>
        <p:spPr>
          <a:xfrm>
            <a:off x="479850" y="1133813"/>
            <a:ext cx="8184300" cy="3186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CounterViewModel : ViewModel()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private val _count = </a:t>
            </a:r>
            <a:r>
              <a:rPr lang="it" sz="14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MutableStateFlow(0)</a:t>
            </a:r>
            <a:endParaRPr sz="1400"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count: </a:t>
            </a:r>
            <a:r>
              <a:rPr lang="it" sz="14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StateFlow&lt;Int&gt;</a:t>
            </a: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_count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fun increment() { _count.value ++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fun decrement() { _count.value --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6" name="Google Shape;296;p3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2" name="Google Shape;302;p36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What is behind a ViewModel?</a:t>
            </a:r>
            <a:endParaRPr/>
          </a:p>
        </p:txBody>
      </p:sp>
      <p:sp>
        <p:nvSpPr>
          <p:cNvPr id="303" name="Google Shape;303;p3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No magics!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Android defines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androidx.lifecycle.ViewModel </a:t>
            </a:r>
            <a:r>
              <a:rPr lang="it"/>
              <a:t>class and make some provisions to keep it alive across configuration changes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This requires a special way to instantiate ViewModels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They need to be created in association with a scope (a Fragment or an Activity)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They are retained while the scope is alive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9" name="Google Shape;309;p37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Using a ViewModel inside an Activity</a:t>
            </a:r>
            <a:endParaRPr/>
          </a:p>
        </p:txBody>
      </p:sp>
      <p:sp>
        <p:nvSpPr>
          <p:cNvPr id="310" name="Google Shape;310;p37"/>
          <p:cNvSpPr txBox="1"/>
          <p:nvPr>
            <p:ph idx="4294967295" type="body"/>
          </p:nvPr>
        </p:nvSpPr>
        <p:spPr>
          <a:xfrm>
            <a:off x="823044" y="1135055"/>
            <a:ext cx="7497900" cy="3494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800"/>
              <a:buFont typeface="Arial"/>
              <a:buNone/>
            </a:pP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MyActivity</a:t>
            </a: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AppCompatActivity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8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private </a:t>
            </a:r>
            <a:r>
              <a:rPr b="1" lang="it" sz="14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lateinit var vm</a:t>
            </a: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: MyViewModel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8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800"/>
              <a:buFont typeface="Arial"/>
              <a:buNone/>
            </a:pPr>
            <a:r>
              <a:rPr lang="it" sz="14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fun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onCreate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savedInstanceState</a:t>
            </a:r>
            <a:r>
              <a:rPr lang="it" sz="1400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:Bundle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00"/>
              </a:buClr>
              <a:buSzPts val="1800"/>
              <a:buFont typeface="Arial"/>
              <a:buNone/>
            </a:pP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super.onCreate(savedInstanceState)</a:t>
            </a:r>
            <a:br>
              <a:rPr b="0" i="0" lang="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it" sz="1400" u="none" cap="none" strike="noStrik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// This creates a ViewModel the first time 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800"/>
              <a:buFont typeface="Arial"/>
              <a:buNone/>
            </a:pPr>
            <a:r>
              <a:rPr b="0" i="0" lang="it" sz="1400" u="none" cap="none" strike="noStrik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        // the system calls an activity's onCreate() meth</a:t>
            </a:r>
            <a:r>
              <a:rPr lang="it" sz="1400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od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800"/>
              <a:buFont typeface="Arial"/>
              <a:buNone/>
            </a:pP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vm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it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ViewModelProvider(this)</a:t>
            </a:r>
            <a:r>
              <a:rPr b="1" lang="it" sz="14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[ </a:t>
            </a:r>
            <a:r>
              <a:rPr b="1" i="0" lang="it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MyViewModel::class.java </a:t>
            </a:r>
            <a:r>
              <a:rPr b="1" lang="it" sz="14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6666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800"/>
              <a:buFont typeface="Arial"/>
              <a:buNone/>
            </a:pP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vm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getUsers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observe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Observer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users -&gt; </a:t>
            </a:r>
            <a:r>
              <a:rPr b="0" i="0" lang="it" sz="1400" u="none" cap="none" strike="noStrik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// update UI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7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7" name="Google Shape;317;p38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Using a ViewModel in an Activity</a:t>
            </a:r>
            <a:endParaRPr/>
          </a:p>
        </p:txBody>
      </p:sp>
      <p:sp>
        <p:nvSpPr>
          <p:cNvPr id="318" name="Google Shape;318;p3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Alternative code to the one in the previous slide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requires a proper project setup</a:t>
            </a:r>
            <a:endParaRPr/>
          </a:p>
        </p:txBody>
      </p:sp>
      <p:sp>
        <p:nvSpPr>
          <p:cNvPr id="319" name="Google Shape;319;p38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8"/>
          <p:cNvSpPr txBox="1"/>
          <p:nvPr/>
        </p:nvSpPr>
        <p:spPr>
          <a:xfrm>
            <a:off x="822910" y="2208031"/>
            <a:ext cx="7498200" cy="2201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800"/>
              <a:buFont typeface="Noto Sans Symbols"/>
              <a:buNone/>
            </a:pPr>
            <a:r>
              <a:rPr b="0" i="0" lang="it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MyActivity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AppCompatActivity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800"/>
              <a:buFont typeface="Noto Sans Symbols"/>
              <a:buNone/>
            </a:pPr>
            <a:r>
              <a:rPr b="0" i="0" lang="it" u="none" cap="none" strike="noStrik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i="0" lang="it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private val vm by viewModels&lt; MyViewModel &gt;()</a:t>
            </a:r>
            <a:br>
              <a:rPr b="0" i="0" lang="it" u="none" cap="none" strike="noStrik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it" u="none" cap="none" strike="noStrik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it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override fun 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onCreate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savedInstanceState: Bundle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00"/>
              </a:buClr>
              <a:buSzPts val="1800"/>
              <a:buFont typeface="Noto Sans Symbols"/>
              <a:buNone/>
            </a:pP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super.onCreate(savedInstanceState)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vm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getUsers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observe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Observer 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users -&gt;  </a:t>
            </a:r>
            <a:r>
              <a:rPr b="0" i="0" lang="it" u="none" cap="none" strike="noStrik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// update UI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it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Project setup</a:t>
            </a:r>
            <a:endParaRPr/>
          </a:p>
        </p:txBody>
      </p:sp>
      <p:sp>
        <p:nvSpPr>
          <p:cNvPr id="326" name="Google Shape;326;p3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7" name="Google Shape;327;p39"/>
          <p:cNvSpPr txBox="1"/>
          <p:nvPr/>
        </p:nvSpPr>
        <p:spPr>
          <a:xfrm>
            <a:off x="700058" y="1071491"/>
            <a:ext cx="7772400" cy="3487200"/>
          </a:xfrm>
          <a:prstGeom prst="rect">
            <a:avLst/>
          </a:prstGeom>
          <a:solidFill>
            <a:srgbClr val="FEFFC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kotlinOptions { jvmTarget = '1.8' 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dependencies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Activity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implementation 'androidx.activity:activity-ktx:1.8.2'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Fragment (optional)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implementation 'androidx.fragment:fragment-ktx:1.5.6'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ViewModel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implementation "androidx.lifecycle:lifecycle-viewmodel-ktx:2.6.2"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LiveData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implementation "androidx.lifecycle:lifecycle-livedata-ktx:2.6.2"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Navigation (optional)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implementation "androidx.navigation:navigation-ui-ktx:2.6.2"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implementation "androidx.navigation:navigation-fragment-ktx:2.6.2"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3" name="Google Shape;333;p40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viewModels() function</a:t>
            </a:r>
            <a:endParaRPr/>
          </a:p>
        </p:txBody>
      </p:sp>
      <p:sp>
        <p:nvSpPr>
          <p:cNvPr id="334" name="Google Shape;334;p4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Extension function applied to activity/fragment returning a ViewModel tied to the invoker object</a:t>
            </a:r>
            <a:endParaRPr/>
          </a:p>
          <a:p>
            <a:pPr indent="-206375" lvl="1" marL="541337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Part of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activity-ktx</a:t>
            </a:r>
            <a:r>
              <a:rPr lang="it"/>
              <a:t> library</a:t>
            </a:r>
            <a:endParaRPr/>
          </a:p>
          <a:p>
            <a:pPr indent="-206375" lvl="1" marL="541337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Lazily returns a viewModel of the target class (i.e., the class of the variable to be assigned) and stores it in the activity's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ViewModelStore</a:t>
            </a:r>
            <a:r>
              <a:rPr lang="it"/>
              <a:t> using the class name as a key</a:t>
            </a:r>
            <a:endParaRPr/>
          </a:p>
          <a:p>
            <a:pPr indent="-269875" lvl="0" marL="269875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If the same class will be requested in future by an activity having the same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ViewModelStore</a:t>
            </a:r>
            <a:r>
              <a:rPr lang="it"/>
              <a:t>, the current instance will be returned</a:t>
            </a:r>
            <a:endParaRPr/>
          </a:p>
          <a:p>
            <a:pPr indent="-206375" lvl="1" marL="541337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is what makes the ViewModel "special" with respect to the activity life-cycle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40" name="Google Shape;340;p41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ViewModel in fragments</a:t>
            </a:r>
            <a:endParaRPr/>
          </a:p>
        </p:txBody>
      </p:sp>
      <p:sp>
        <p:nvSpPr>
          <p:cNvPr id="341" name="Google Shape;341;p4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fragment can be tied to its own ViewModels (via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by viewModels()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/>
              <a:t>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Or reuse a ViewModel tied to the enclosing activity (via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by activityViewModels()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/>
              <a:t>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Or even one tied to the current NavigationGraph (via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by navGraphViewModels(…)</a:t>
            </a:r>
            <a:r>
              <a:rPr lang="it"/>
              <a:t> ) 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Useful for managing the business logic of related parts of the app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ViewModelFactory</a:t>
            </a:r>
            <a:r>
              <a:rPr lang="it"/>
              <a:t> can be provided to these functions in order to pass parameters to the ViewModel, if it has not been created, yet 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Sharing a VM with fragments</a:t>
            </a:r>
            <a:endParaRPr/>
          </a:p>
        </p:txBody>
      </p:sp>
      <p:sp>
        <p:nvSpPr>
          <p:cNvPr id="347" name="Google Shape;347;p42"/>
          <p:cNvSpPr txBox="1"/>
          <p:nvPr>
            <p:ph idx="4294967295" type="body"/>
          </p:nvPr>
        </p:nvSpPr>
        <p:spPr>
          <a:xfrm>
            <a:off x="822960" y="1242174"/>
            <a:ext cx="7498200" cy="1905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800"/>
              <a:buFont typeface="Arial"/>
              <a:buNone/>
            </a:pP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SomeFragment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it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Fragment()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private lateinit var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vm : </a:t>
            </a:r>
            <a:r>
              <a:rPr b="0" i="0" lang="it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MyViewModel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it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override fun 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onStart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00"/>
              </a:buClr>
              <a:buSzPts val="1800"/>
              <a:buFont typeface="Arial"/>
              <a:buNone/>
            </a:pP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    super.onStart()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00"/>
              </a:buClr>
              <a:buSzPts val="1800"/>
              <a:buFont typeface="Arial"/>
              <a:buNone/>
            </a:pP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it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vm = </a:t>
            </a:r>
            <a:r>
              <a:rPr b="1" i="0" lang="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ViewModelProvider(</a:t>
            </a:r>
            <a:r>
              <a:rPr b="1" i="0" lang="it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b="1" i="0" lang="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it" sz="1400"/>
              <a:t> </a:t>
            </a:r>
            <a:r>
              <a:rPr b="1" lang="it" sz="14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i="0" lang="it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MyViewModel::class.java</a:t>
            </a:r>
            <a:r>
              <a:rPr b="1" lang="it" sz="14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49" name="Google Shape;349;p42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2"/>
          <p:cNvSpPr txBox="1"/>
          <p:nvPr/>
        </p:nvSpPr>
        <p:spPr>
          <a:xfrm>
            <a:off x="822960" y="3656321"/>
            <a:ext cx="7498200" cy="905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800"/>
              <a:buFont typeface="Noto Sans Symbols"/>
              <a:buNone/>
            </a:pPr>
            <a:r>
              <a:rPr lang="it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it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OtherFragment</a:t>
            </a:r>
            <a:r>
              <a:rPr lang="it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it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Fragment()</a:t>
            </a:r>
            <a:r>
              <a:rPr lang="it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it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it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private val</a:t>
            </a:r>
            <a:r>
              <a:rPr lang="it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vm : </a:t>
            </a:r>
            <a:r>
              <a:rPr lang="it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MyViewModel</a:t>
            </a:r>
            <a:r>
              <a:rPr lang="it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by </a:t>
            </a:r>
            <a:r>
              <a:rPr b="1" lang="it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activityViewModels()</a:t>
            </a:r>
            <a:br>
              <a:rPr lang="it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ViewModels in Compose</a:t>
            </a:r>
            <a:endParaRPr/>
          </a:p>
        </p:txBody>
      </p:sp>
      <p:sp>
        <p:nvSpPr>
          <p:cNvPr id="357" name="Google Shape;357;p43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8" name="Google Shape;358;p4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 composable function can access a ViewModel connected to the current activity </a:t>
            </a:r>
            <a:r>
              <a:rPr lang="it">
                <a:solidFill>
                  <a:schemeClr val="dk1"/>
                </a:solidFill>
              </a:rPr>
              <a:t>via the </a:t>
            </a: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androidx.lifecycle.viewmodel.compose.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viewModel()</a:t>
            </a:r>
            <a:r>
              <a:rPr lang="it">
                <a:solidFill>
                  <a:schemeClr val="dk1"/>
                </a:solidFill>
              </a:rPr>
              <a:t> function</a:t>
            </a:r>
            <a:endParaRPr/>
          </a:p>
        </p:txBody>
      </p:sp>
      <p:sp>
        <p:nvSpPr>
          <p:cNvPr id="359" name="Google Shape;359;p43"/>
          <p:cNvSpPr txBox="1"/>
          <p:nvPr/>
        </p:nvSpPr>
        <p:spPr>
          <a:xfrm>
            <a:off x="572450" y="2054825"/>
            <a:ext cx="3615300" cy="1693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class MainViewModel: ViewModel()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val p1: State&lt;Int&gt; = 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val p2: LiveData&lt;String&gt; = 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val p3: StateFlow&lt;Float&gt; = 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// More properties and methods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43"/>
          <p:cNvSpPr txBox="1"/>
          <p:nvPr/>
        </p:nvSpPr>
        <p:spPr>
          <a:xfrm>
            <a:off x="4639450" y="2054825"/>
            <a:ext cx="3932100" cy="2339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 InputPane(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vm: MainViewModel = viewModel()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val p1 = vm.p1 //direct access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val p2 = vm.p2.observeAsState()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val p3 = vm.p3.collectAsState()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// whenever the properties change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// a recomposition will occur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ViewModels in Compose</a:t>
            </a:r>
            <a:endParaRPr/>
          </a:p>
        </p:txBody>
      </p:sp>
      <p:sp>
        <p:nvSpPr>
          <p:cNvPr id="366" name="Google Shape;366;p4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67" name="Google Shape;36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4183" y="1096893"/>
            <a:ext cx="5875636" cy="33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4"/>
          <p:cNvSpPr txBox="1"/>
          <p:nvPr/>
        </p:nvSpPr>
        <p:spPr>
          <a:xfrm>
            <a:off x="2817341" y="4419902"/>
            <a:ext cx="582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https://developer.android.com/jetpack/compose/state#managing-state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5" name="Google Shape;375;p45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Lifecycle architectural components</a:t>
            </a:r>
            <a:endParaRPr/>
          </a:p>
        </p:txBody>
      </p:sp>
      <p:sp>
        <p:nvSpPr>
          <p:cNvPr id="376" name="Google Shape;376;p4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Package androidx.lifecycle contains classes and interfaces that tackle lifecycle problems in a resilient and isolated way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Class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Lifecycle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Holds the information about a component’s lifecycle and makes it </a:t>
            </a:r>
            <a:r>
              <a:rPr b="1" lang="it">
                <a:solidFill>
                  <a:srgbClr val="0B5394"/>
                </a:solidFill>
              </a:rPr>
              <a:t>observable</a:t>
            </a:r>
            <a:endParaRPr>
              <a:solidFill>
                <a:srgbClr val="0B5394"/>
              </a:solidFill>
            </a:endParaRPr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Events and State enums are used to track the state of the related component</a:t>
            </a:r>
            <a:endParaRPr/>
          </a:p>
          <a:p>
            <a:pPr indent="-1111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83" name="Google Shape;38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LifecycleObserver</a:t>
            </a:r>
            <a:endParaRPr/>
          </a:p>
        </p:txBody>
      </p:sp>
      <p:sp>
        <p:nvSpPr>
          <p:cNvPr id="384" name="Google Shape;384;p4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 sz="2000"/>
              <a:t>Marker interface (i.e., it contains no methods) that allows a class to monitor the lifecycle of a </a:t>
            </a:r>
            <a:r>
              <a:rPr b="1" lang="it" sz="20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LifecycleOwner</a:t>
            </a:r>
            <a:r>
              <a:rPr lang="it" sz="2000"/>
              <a:t> component, by adding annotations to its own methods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Classes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it"/>
              <a:t> and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AppCompatActivity</a:t>
            </a:r>
            <a:r>
              <a:rPr lang="it"/>
              <a:t> implement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LifecycleOwner</a:t>
            </a:r>
            <a:r>
              <a:rPr lang="it"/>
              <a:t> interface and can thus be monitored</a:t>
            </a:r>
            <a:endParaRPr sz="1200"/>
          </a:p>
        </p:txBody>
      </p:sp>
      <p:sp>
        <p:nvSpPr>
          <p:cNvPr id="385" name="Google Shape;385;p46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6"/>
          <p:cNvSpPr txBox="1"/>
          <p:nvPr/>
        </p:nvSpPr>
        <p:spPr>
          <a:xfrm>
            <a:off x="1530350" y="3105150"/>
            <a:ext cx="6083400" cy="1523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82550" marR="0" rtl="0" algn="l">
              <a:spcBef>
                <a:spcPts val="0"/>
              </a:spcBef>
              <a:spcAft>
                <a:spcPts val="0"/>
              </a:spcAft>
              <a:buClr>
                <a:srgbClr val="000088"/>
              </a:buClr>
              <a:buSzPts val="1400"/>
              <a:buFont typeface="Consolas"/>
              <a:buNone/>
            </a:pPr>
            <a:r>
              <a:rPr lang="it" sz="1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MyObserver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it" sz="1200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LifecycleObserver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it" sz="1200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@OnLifecycleEvent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it" sz="1200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Lifecycle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it" sz="1200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Event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ON_RESUME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it" sz="1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connectListener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b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it" sz="1200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@OnLifecycleEvent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it" sz="1200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Lifecycle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it" sz="1200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Event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ON_PAUSE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it" sz="1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disconnectListener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it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2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myActivity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getLifecycle().addObserver(MyObserver());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93" name="Google Shape;393;p47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ProcessLifecycleOwner</a:t>
            </a:r>
            <a:endParaRPr/>
          </a:p>
        </p:txBody>
      </p:sp>
      <p:sp>
        <p:nvSpPr>
          <p:cNvPr id="394" name="Google Shape;394;p4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When an application consists of many views (activities and fragment), it may be interesting to detect when it is in use (foreground), and when it is not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is a typical use case for analytics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Although it is possible to detect this by observing and combining the state of each single view, the task may become complex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Class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ProcessLifecycleOwner</a:t>
            </a:r>
            <a:r>
              <a:rPr lang="it"/>
              <a:t> offers a simple solution to this scenario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offers the static method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get()</a:t>
            </a:r>
            <a:r>
              <a:rPr lang="it"/>
              <a:t> that returns its singleton instance and an the instance-level property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lifecycle</a:t>
            </a:r>
            <a:r>
              <a:rPr lang="it"/>
              <a:t> that gives access to the process lifecycle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Event ON_CREATE is dispatched once, when the application starts, ON_DESTROY is never dispatched, ON_START is dispatched when the first activity becomes visible, and ON_STOP is dispatched some delay </a:t>
            </a:r>
            <a:r>
              <a:rPr lang="it">
                <a:solidFill>
                  <a:schemeClr val="dk1"/>
                </a:solidFill>
              </a:rPr>
              <a:t>after the last activity is no more visible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01" name="Google Shape;401;p48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ProcessLifecycleOwner</a:t>
            </a:r>
            <a:endParaRPr/>
          </a:p>
        </p:txBody>
      </p:sp>
      <p:sp>
        <p:nvSpPr>
          <p:cNvPr id="402" name="Google Shape;402;p48"/>
          <p:cNvSpPr txBox="1"/>
          <p:nvPr/>
        </p:nvSpPr>
        <p:spPr>
          <a:xfrm>
            <a:off x="388050" y="1066600"/>
            <a:ext cx="8367900" cy="3509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class AnalyticsReporter: LifecycleEventObserver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override fun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onStateChanged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(source: LifecycleOwner, event: Lifecycle.Event)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when (event.name)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"ON_START"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-&gt;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    // Application in foreground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"ON_STOP"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-&gt;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    // Application in background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else -&gt; {}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class MainActivity: AppCompatActivity()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override fun onCreate(b: Bundle?)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super.onCreate(b)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ProcessLifecycleOwner.get().lifecycle.addObserver(AnalyticsReporter())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	   setContentView(R.layout.activity_main)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9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09" name="Google Shape;409;p49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LiveData</a:t>
            </a:r>
            <a:endParaRPr/>
          </a:p>
        </p:txBody>
      </p:sp>
      <p:sp>
        <p:nvSpPr>
          <p:cNvPr id="410" name="Google Shape;410;p4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observable data holder class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That notifies its observer when the underlying data change, provided its lifecycle is at least in the STARTED state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order to access the value contained,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observe(...)</a:t>
            </a:r>
            <a:r>
              <a:rPr lang="it"/>
              <a:t> method must be invoked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will trigger a callback providing the current value (if any) and any future value the LiveData may contain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Observations are lifecycle-aware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In order to observe changes,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LifecycleOwner</a:t>
            </a:r>
            <a:r>
              <a:rPr lang="it"/>
              <a:t> object must be provided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acts as a guard: value changes are notified only when the owner in an active state (STARTED or RESUMED)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If the owner moves to the DESTROYED state, the observer will be removed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16" name="Google Shape;416;p50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LiveData</a:t>
            </a:r>
            <a:endParaRPr/>
          </a:p>
        </p:txBody>
      </p:sp>
      <p:sp>
        <p:nvSpPr>
          <p:cNvPr id="417" name="Google Shape;417;p50"/>
          <p:cNvSpPr txBox="1"/>
          <p:nvPr/>
        </p:nvSpPr>
        <p:spPr>
          <a:xfrm>
            <a:off x="1060527" y="1199817"/>
            <a:ext cx="7178700" cy="3216900"/>
          </a:xfrm>
          <a:prstGeom prst="rect">
            <a:avLst/>
          </a:prstGeom>
          <a:solidFill>
            <a:srgbClr val="FEFFC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BusinessLogic</a:t>
            </a: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(private val webService: </a:t>
            </a:r>
            <a:r>
              <a:rPr b="0" i="1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WebAPI</a:t>
            </a: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fun getUser(userId: String): LiveData&lt;User&gt; {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</a:t>
            </a:r>
            <a:r>
              <a:rPr b="1" i="0" lang="it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MutableLiveData&lt;User&gt;()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webService.getUser(userId) {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i="0" lang="it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// SIMPLIFIED CODE: NO ERROR CHECKING !!!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response -&gt; </a:t>
            </a:r>
            <a:r>
              <a:rPr b="1" i="0" lang="it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.value = response.body()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};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b="1" i="0" lang="it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/>
          </a:p>
        </p:txBody>
      </p:sp>
      <p:sp>
        <p:nvSpPr>
          <p:cNvPr id="418" name="Google Shape;418;p50"/>
          <p:cNvSpPr/>
          <p:nvPr/>
        </p:nvSpPr>
        <p:spPr>
          <a:xfrm>
            <a:off x="5247352" y="2157631"/>
            <a:ext cx="1511400" cy="278700"/>
          </a:xfrm>
          <a:prstGeom prst="wedgeRoundRectCallout">
            <a:avLst>
              <a:gd fmla="val -111860" name="adj1"/>
              <a:gd fmla="val -67064" name="adj2"/>
              <a:gd fmla="val 16667" name="adj3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Initially empty!</a:t>
            </a:r>
            <a:endParaRPr sz="1200"/>
          </a:p>
        </p:txBody>
      </p:sp>
      <p:sp>
        <p:nvSpPr>
          <p:cNvPr id="419" name="Google Shape;419;p50"/>
          <p:cNvSpPr/>
          <p:nvPr/>
        </p:nvSpPr>
        <p:spPr>
          <a:xfrm>
            <a:off x="2267969" y="4075760"/>
            <a:ext cx="3583500" cy="278700"/>
          </a:xfrm>
          <a:prstGeom prst="wedgeRoundRectCallout">
            <a:avLst>
              <a:gd fmla="val -45095" name="adj1"/>
              <a:gd fmla="val -186566" name="adj2"/>
              <a:gd fmla="val 16667" name="adj3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Still empty when the function returns!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0" name="Google Shape;420;p50"/>
          <p:cNvSpPr/>
          <p:nvPr/>
        </p:nvSpPr>
        <p:spPr>
          <a:xfrm>
            <a:off x="4213433" y="3234708"/>
            <a:ext cx="2990700" cy="687300"/>
          </a:xfrm>
          <a:prstGeom prst="wedgeRoundRectCallout">
            <a:avLst>
              <a:gd fmla="val -81214" name="adj1"/>
              <a:gd fmla="val -73986" name="adj2"/>
              <a:gd fmla="val 16667" name="adj3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callback is called, </a:t>
            </a:r>
            <a:br>
              <a:rPr b="0" i="0" lang="it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value will be stored inside it.</a:t>
            </a:r>
            <a:br>
              <a:rPr b="0" i="0" lang="it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happens LATER!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27" name="Google Shape;427;p51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Observing LiveData</a:t>
            </a:r>
            <a:endParaRPr/>
          </a:p>
        </p:txBody>
      </p:sp>
      <p:sp>
        <p:nvSpPr>
          <p:cNvPr id="428" name="Google Shape;428;p5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 Activity or a Fragment can easily observe LiveData values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former being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LifecycleOwner</a:t>
            </a:r>
            <a:r>
              <a:rPr lang="it"/>
              <a:t>, the latter having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viewLifecycleOwner</a:t>
            </a:r>
            <a:r>
              <a:rPr lang="it"/>
              <a:t> property that can be used as the first argument of the observe(...) method invocation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Objects that do not implement the LifecycleOwner interface (e.g., the ViewModel) can access the encapsulated value in two ways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Either invoking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observeForever(...)</a:t>
            </a:r>
            <a:r>
              <a:rPr lang="it"/>
              <a:t> method, and taking care to invoke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removeObserver(...)</a:t>
            </a:r>
            <a:r>
              <a:rPr lang="it"/>
              <a:t> at the end of their own existence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Or using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Transformations.map(...)</a:t>
            </a:r>
            <a:r>
              <a:rPr lang="it"/>
              <a:t> function to produce a new LiveData object publishing a derived value out of any incoming value in the observed one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Observing LiveData in activities</a:t>
            </a:r>
            <a:endParaRPr/>
          </a:p>
        </p:txBody>
      </p:sp>
      <p:sp>
        <p:nvSpPr>
          <p:cNvPr id="435" name="Google Shape;435;p5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36" name="Google Shape;436;p52"/>
          <p:cNvSpPr txBox="1"/>
          <p:nvPr/>
        </p:nvSpPr>
        <p:spPr>
          <a:xfrm>
            <a:off x="1034657" y="1117415"/>
            <a:ext cx="7074600" cy="3494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override </a:t>
            </a:r>
            <a:r>
              <a:rPr b="0" i="0" lang="it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onCreate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savedInstanceState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it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Bundle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  </a:t>
            </a:r>
            <a:r>
              <a:rPr b="0" i="0" lang="it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onCreate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savedInstanceState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setContentView(R.layout.my_activity)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it" u="none" cap="none" strike="noStrik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// Other code to setup the activity...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val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nameView = findViewById&lt;TextView&gt;(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val userRepository = …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val userId = …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val liveData 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it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userRepository.getUser(userId)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  </a:t>
            </a:r>
            <a:r>
              <a:rPr b="0" i="0" lang="it" u="none" cap="none" strike="noStrik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// Observe the LiveData, passing in this activity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    // as the LifecycleOwner and the observer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  liveData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observe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it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it" u="none" cap="none" strike="noStrik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// Update the UI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user -&gt;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ameView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setText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user.name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it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3"/>
          <p:cNvSpPr txBox="1"/>
          <p:nvPr>
            <p:ph type="title"/>
          </p:nvPr>
        </p:nvSpPr>
        <p:spPr>
          <a:xfrm>
            <a:off x="311700" y="104728"/>
            <a:ext cx="85206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LiveData – updating the value</a:t>
            </a:r>
            <a:endParaRPr/>
          </a:p>
        </p:txBody>
      </p:sp>
      <p:sp>
        <p:nvSpPr>
          <p:cNvPr id="442" name="Google Shape;442;p53"/>
          <p:cNvSpPr txBox="1"/>
          <p:nvPr>
            <p:ph idx="12" type="sldNum"/>
          </p:nvPr>
        </p:nvSpPr>
        <p:spPr>
          <a:xfrm>
            <a:off x="8472458" y="3576379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43" name="Google Shape;443;p53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3"/>
          <p:cNvSpPr txBox="1"/>
          <p:nvPr/>
        </p:nvSpPr>
        <p:spPr>
          <a:xfrm>
            <a:off x="1071232" y="3639644"/>
            <a:ext cx="7074600" cy="785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 userL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MutableLiveData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().a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pply{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val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ue 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b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 userName: </a:t>
            </a: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LiveData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it" sz="12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userLD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.map</a:t>
            </a:r>
            <a:r>
              <a:rPr lang="it" sz="1200"/>
              <a:t> </a:t>
            </a: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   user -&gt; "${user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name} ${user</a:t>
            </a:r>
            <a:r>
              <a:rPr b="0" i="0" lang="it" sz="12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lastName}"</a:t>
            </a:r>
            <a:b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3"/>
          <p:cNvSpPr/>
          <p:nvPr/>
        </p:nvSpPr>
        <p:spPr>
          <a:xfrm>
            <a:off x="0" y="7481"/>
            <a:ext cx="0" cy="3279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58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3"/>
          <p:cNvSpPr txBox="1"/>
          <p:nvPr>
            <p:ph idx="1" type="body"/>
          </p:nvPr>
        </p:nvSpPr>
        <p:spPr>
          <a:xfrm>
            <a:off x="311150" y="1244201"/>
            <a:ext cx="8521800" cy="227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6075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it"/>
              <a:t>LiveData only provides read access to the encapsulated content</a:t>
            </a:r>
            <a:endParaRPr/>
          </a:p>
          <a:p>
            <a:pPr indent="-322580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Subclass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MutableLiveData&lt;T&gt;</a:t>
            </a:r>
            <a:r>
              <a:rPr lang="it"/>
              <a:t> provides write access via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it"/>
              <a:t> property (which can be set only in the main thread) or via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postValue(...)</a:t>
            </a:r>
            <a:r>
              <a:rPr lang="it"/>
              <a:t> method (which can be invoked from any thread)</a:t>
            </a:r>
            <a:endParaRPr/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it"/>
              <a:t>When a MutableLiveData is created, it is empty</a:t>
            </a:r>
            <a:endParaRPr/>
          </a:p>
          <a:p>
            <a:pPr indent="-3225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apply()</a:t>
            </a:r>
            <a:r>
              <a:rPr lang="it"/>
              <a:t> scoped function is typically used to provide an initial value</a:t>
            </a:r>
            <a:endParaRPr/>
          </a:p>
          <a:p>
            <a:pPr indent="-346075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Char char="•"/>
            </a:pPr>
            <a:r>
              <a:rPr lang="it">
                <a:solidFill>
                  <a:schemeClr val="dk1"/>
                </a:solidFill>
              </a:rPr>
              <a:t>LiveData can be transformed via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.map(…)</a:t>
            </a:r>
            <a:r>
              <a:rPr lang="it">
                <a:solidFill>
                  <a:schemeClr val="dk1"/>
                </a:solidFill>
              </a:rPr>
              <a:t> and propagated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Connecting components</a:t>
            </a:r>
            <a:endParaRPr/>
          </a:p>
        </p:txBody>
      </p:sp>
      <p:sp>
        <p:nvSpPr>
          <p:cNvPr id="452" name="Google Shape;452;p5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453" name="Google Shape;453;p54"/>
          <p:cNvPicPr preferRelativeResize="0"/>
          <p:nvPr/>
        </p:nvPicPr>
        <p:blipFill rotWithShape="1">
          <a:blip r:embed="rId3">
            <a:alphaModFix/>
          </a:blip>
          <a:srcRect b="0" l="1827" r="2506" t="0"/>
          <a:stretch/>
        </p:blipFill>
        <p:spPr>
          <a:xfrm>
            <a:off x="580515" y="1915148"/>
            <a:ext cx="7983000" cy="18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59" name="Google Shape;45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Merging multiple LiveData sources</a:t>
            </a:r>
            <a:endParaRPr/>
          </a:p>
        </p:txBody>
      </p:sp>
      <p:sp>
        <p:nvSpPr>
          <p:cNvPr id="460" name="Google Shape;460;p55"/>
          <p:cNvSpPr txBox="1"/>
          <p:nvPr>
            <p:ph idx="1" type="body"/>
          </p:nvPr>
        </p:nvSpPr>
        <p:spPr>
          <a:xfrm>
            <a:off x="311150" y="11680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Dealing with multiple asynchronous data is difficult</a:t>
            </a:r>
            <a:endParaRPr/>
          </a:p>
          <a:p>
            <a:pPr indent="-206375" lvl="1" marL="541337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Multiple callbacks to handle</a:t>
            </a:r>
            <a:endParaRPr/>
          </a:p>
          <a:p>
            <a:pPr indent="-206375" lvl="1" marL="541337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Class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MediatorLiveData</a:t>
            </a:r>
            <a:r>
              <a:rPr lang="it"/>
              <a:t> can be used to merge this data together by creating a single source of the merged data</a:t>
            </a:r>
            <a:endParaRPr/>
          </a:p>
        </p:txBody>
      </p:sp>
      <p:sp>
        <p:nvSpPr>
          <p:cNvPr id="461" name="Google Shape;461;p55"/>
          <p:cNvSpPr txBox="1"/>
          <p:nvPr/>
        </p:nvSpPr>
        <p:spPr>
          <a:xfrm>
            <a:off x="1034107" y="2679720"/>
            <a:ext cx="7074600" cy="2078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 offline = LiveData&lt;Bool&gt; = ... //are we offline?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 userLD1: </a:t>
            </a:r>
            <a:r>
              <a:rPr lang="it" sz="1200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LiveData&lt;User&gt; 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... //from DBMS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 userLD2: </a:t>
            </a:r>
            <a:r>
              <a:rPr lang="it" sz="1200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LiveData&lt;User&gt; </a:t>
            </a: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 ... //from API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 userLD = MediatorLiveData&lt;&gt;()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userLD.addSource(userLD1)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if (offline.value) userLD.value = it.value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userLD.addSource(userLD2)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userLD.value = it.value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6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68" name="Google Shape;468;p56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LiveData - advantages</a:t>
            </a:r>
            <a:endParaRPr/>
          </a:p>
        </p:txBody>
      </p:sp>
      <p:sp>
        <p:nvSpPr>
          <p:cNvPr id="469" name="Google Shape;469;p5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5844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it" sz="2400"/>
              <a:t>No memory leaks</a:t>
            </a:r>
            <a:endParaRPr/>
          </a:p>
          <a:p>
            <a:pPr indent="-25844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it" sz="2400"/>
              <a:t>No crashes due to stopped activities </a:t>
            </a:r>
            <a:endParaRPr/>
          </a:p>
          <a:p>
            <a:pPr indent="-25844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it" sz="2400"/>
              <a:t>No manual lifecycle handling</a:t>
            </a:r>
            <a:endParaRPr/>
          </a:p>
          <a:p>
            <a:pPr indent="-25844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it" sz="2400"/>
              <a:t>Always up to date data</a:t>
            </a:r>
            <a:endParaRPr/>
          </a:p>
          <a:p>
            <a:pPr indent="-25844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it" sz="2400"/>
              <a:t>Proper configuration change handling</a:t>
            </a:r>
            <a:endParaRPr/>
          </a:p>
          <a:p>
            <a:pPr indent="-25844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it" sz="2400"/>
              <a:t>Sharing resources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5000"/>
              <a:buChar char="○"/>
            </a:pPr>
            <a:r>
              <a:rPr lang="it" sz="2000"/>
              <a:t>You can wrap system services with LiveData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5000"/>
              <a:buChar char="○"/>
            </a:pPr>
            <a:r>
              <a:rPr lang="it" sz="2000"/>
              <a:t>The LiveData object connects once to the system service and observers just watch the object for changes</a:t>
            </a:r>
            <a:endParaRPr/>
          </a:p>
          <a:p>
            <a:pPr indent="-1174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2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Learning more</a:t>
            </a:r>
            <a:endParaRPr/>
          </a:p>
        </p:txBody>
      </p:sp>
      <p:sp>
        <p:nvSpPr>
          <p:cNvPr id="475" name="Google Shape;475;p5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76" name="Google Shape;476;p5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MVI Architecture with Android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https://medium.com/swlh/mvi-architecture-with-android-fcde123e3c4a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Exploring Data Observables in Android: LiveData, Flow, StateFlow, and SharedFlow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https://medium.com/@summitkumar/exploring-data-observables-in-android-livedata-flow-stateflow-and-sharedflow-75b7ce189a79</a:t>
            </a:r>
            <a:r>
              <a:rPr lang="it"/>
              <a:t>  </a:t>
            </a:r>
            <a:endParaRPr/>
          </a:p>
        </p:txBody>
      </p:sp>
      <p:pic>
        <p:nvPicPr>
          <p:cNvPr id="477" name="Google Shape;477;p57"/>
          <p:cNvPicPr preferRelativeResize="0"/>
          <p:nvPr/>
        </p:nvPicPr>
        <p:blipFill rotWithShape="1">
          <a:blip r:embed="rId5">
            <a:alphaModFix/>
          </a:blip>
          <a:srcRect b="18805" l="17234" r="17234" t="18799"/>
          <a:stretch/>
        </p:blipFill>
        <p:spPr>
          <a:xfrm>
            <a:off x="7771925" y="156614"/>
            <a:ext cx="1249224" cy="118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