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5"/>
  </p:normalViewPr>
  <p:slideViewPr>
    <p:cSldViewPr snapToGrid="0">
      <p:cViewPr varScale="1">
        <p:scale>
          <a:sx n="160" d="100"/>
          <a:sy n="160" d="100"/>
        </p:scale>
        <p:origin x="4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aab929d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aab929d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ac343627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ac343627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c343627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c343627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c3436273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c3436273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ac3436273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2ac3436273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c3436273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ac3436273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c3436273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2ac3436273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c3436273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2ac3436273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c34362738_0_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2ac34362738_0_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c3436273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2ac3436273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c3436273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ac3436273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c3436273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2ac3436273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c3436273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ac3436273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c3436273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ac3436273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c3436273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2ac3436273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c3436273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2ac3436273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c34362738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2ac3436273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c3436273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ac3436273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c3436273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ac3436273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ac34362738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ac34362738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c3436273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2ac3436273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c34362738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2ac3436273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c3436273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ac3436273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ac34362738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2ac34362738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ac34362738_0_1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c34362738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ac34362738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c34362738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2ac34362738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ac34362738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c34362738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2ac34362738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c34362738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ac34362738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c34362738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ac34362738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c3436273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ac3436273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c34362738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ac34362738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ac34362738_0_2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c34362738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2ac34362738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ac34362738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2ac34362738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ac34362738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ac34362738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ac34362738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ac34362738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c34362738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2ac34362738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ac34362738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ac34362738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ac34362738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ac34362738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ac34362738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2ac34362738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c34362738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2ac34362738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c34362738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2ac34362738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c34362738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2ac34362738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c34362738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g2ac34362738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175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175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>
  <p:cSld name="Titolo e contenut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ourier New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ourier New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9949" y="1143000"/>
            <a:ext cx="41271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757060" y="1143000"/>
            <a:ext cx="417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i="1">
                <a:solidFill>
                  <a:schemeClr val="lt1"/>
                </a:solidFill>
              </a:rPr>
              <a:t>© G. Malnati, A. Rabino, 2021-24</a:t>
            </a:r>
            <a:endParaRPr sz="1100" i="1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aarke/a-comprehensive-guide-to-android-multithreading-unveiling-the-power-of-parallelism-eb42b86361e3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hyperskill.org/learn/step/388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/>
              <a:t>Android threading</a:t>
            </a:r>
            <a:endParaRPr sz="4800"/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825" y="373025"/>
            <a:ext cx="2130351" cy="213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concurrency</a:t>
            </a: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There are situations in which having a single flow of execution is problematic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we need to leverage on all CPU cores, in order to speed up some computation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we need to be able to perform other tasks while waiting for some I/O operation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To solve this problem, operating systems offer the </a:t>
            </a:r>
            <a:r>
              <a:rPr lang="it" b="1">
                <a:solidFill>
                  <a:srgbClr val="0B5394"/>
                </a:solidFill>
              </a:rPr>
              <a:t>thread</a:t>
            </a:r>
            <a:r>
              <a:rPr lang="it"/>
              <a:t> abstraction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thread is an independent computation flow, which is scheduled by the OS and operates inside a process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a process starts, a single thread (the main one) operates inside it, but it may spawn other threads, that will share the addressing space, thus will be able to cooperate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While the abstraction is powerful, it comes with a lot of added complexity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 a concurrent program, there exist many more ways to write wrong code </a:t>
            </a:r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Threads in Kotlin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Creating threads in Kotlin is simple: threads are instances of class java.lang.Thread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Their constructor accepts a java.lang.Runnable object (or a lambda function) representing the computation to be executed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Threads must be explicitly started(), in order to have them scheduled by the OS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 t = Thread{ println("This is a thread") }.also { it.start() }</a:t>
            </a:r>
            <a:r>
              <a:rPr lang="it">
                <a:solidFill>
                  <a:schemeClr val="dk1"/>
                </a:solidFill>
              </a:rPr>
              <a:t>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Once started, a thread performs its computation until the end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Differently from what happens in other languages, if the computation fails, a message is logged but the process is not affected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While it is possible to wait for the termination of a thread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.join()</a:t>
            </a:r>
            <a:r>
              <a:rPr lang="it"/>
              <a:t> method, it is neither possible to return a value nor checking whether the computation failed or nor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Threads in Kotlin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order to support the computation, each thread has its own stack where local variables and return addresses are stored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maximum size of the stack may be set via a constructor parameter or is defined as a default value in the virtual machine executing the code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two thread need to operate on a shared variable, synchronization must be set in place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Differently from Java, where each </a:t>
            </a:r>
            <a:r>
              <a:rPr lang="it" b="1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it"/>
              <a:t> could operate as a synchronization primitive offering both the behavior of a mutex and that of a condition variable, in Kotlin class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it"/>
              <a:t> has been deprived of this behaviour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Depending on the specific context, several synchronization primitives may be adopted, both from the standard Java library (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java.util.concurrent.*</a:t>
            </a:r>
            <a:r>
              <a:rPr lang="it"/>
              <a:t>) and from the Android one (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android.os.*</a:t>
            </a:r>
            <a:r>
              <a:rPr lang="it"/>
              <a:t>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Multi-threading in Android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an application is started, the operating system creates a process and, inside it, a "main" thread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That manages all application components, distributing the events related to their life-cycle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This thread creates a message queue, initializes the objects defined in the manifest-file and then begins an infinite loop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extracts a message from the queue and delivers it to its recipient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may cause the insertion of new messages at the end of the queue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Multithreading in Android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Several other threads are spawned automatically from the main one:</a:t>
            </a:r>
            <a:br>
              <a:rPr lang="it"/>
            </a:br>
            <a:r>
              <a:rPr lang="it"/>
              <a:t>they are managed by the OS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Users never directly interact with them and hardly notice their presence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Their purpose is to support the execution abstraction either of the Dalvik/ART virtual machine or of the overall OS component framework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JVM-level threads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GC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Low priority garbage collection thread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JDWP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Support debugging and memory inspection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Compiler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Provide </a:t>
            </a:r>
            <a:r>
              <a:rPr lang="it" i="1"/>
              <a:t>just in time</a:t>
            </a:r>
            <a:r>
              <a:rPr lang="it"/>
              <a:t> compilation of code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ReferenceQueueD, FinalizerDeamon, FinalizerWatchd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Support object finalization and memory cleanup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system threads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Binder_</a:t>
            </a:r>
            <a:r>
              <a:rPr lang="it" i="1"/>
              <a:t>X</a:t>
            </a:r>
            <a:r>
              <a:rPr lang="it"/>
              <a:t> threads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Handle incoming intents and other IPC requests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Signal catcher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Handle quit, usr1 and usr2 Linux signals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GL updater 	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Handle hardware accelerated UI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hwUITask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Handle incoming messages from UI</a:t>
            </a:r>
            <a:endParaRPr/>
          </a:p>
          <a:p>
            <a:pPr marL="541337" lvl="1" indent="-1111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main thread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main thread implements the Looper pattern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manages a queue where messages are inserted both by itself and by other threads (including the system ones)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continuously loops waiting for a message (if the queue is empty), extracting it, and processing its content  </a:t>
            </a:r>
            <a:endParaRPr/>
          </a:p>
          <a:p>
            <a:pPr marL="541337" lvl="1" indent="-1111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pSp>
        <p:nvGrpSpPr>
          <p:cNvPr id="108" name="Google Shape;108;p19"/>
          <p:cNvGrpSpPr/>
          <p:nvPr/>
        </p:nvGrpSpPr>
        <p:grpSpPr>
          <a:xfrm flipH="1">
            <a:off x="1446409" y="2935503"/>
            <a:ext cx="1297382" cy="1690203"/>
            <a:chOff x="1639805" y="2383346"/>
            <a:chExt cx="1652505" cy="2869614"/>
          </a:xfrm>
        </p:grpSpPr>
        <p:sp>
          <p:nvSpPr>
            <p:cNvPr id="109" name="Google Shape;109;p19"/>
            <p:cNvSpPr/>
            <p:nvPr/>
          </p:nvSpPr>
          <p:spPr>
            <a:xfrm>
              <a:off x="1646155" y="2383346"/>
              <a:ext cx="1646155" cy="2712624"/>
            </a:xfrm>
            <a:custGeom>
              <a:avLst/>
              <a:gdLst/>
              <a:ahLst/>
              <a:cxnLst/>
              <a:rect l="l" t="t" r="r" b="b"/>
              <a:pathLst>
                <a:path w="1646155" h="2712624" extrusionOk="0">
                  <a:moveTo>
                    <a:pt x="15678" y="2101108"/>
                  </a:moveTo>
                  <a:lnTo>
                    <a:pt x="0" y="0"/>
                  </a:lnTo>
                  <a:lnTo>
                    <a:pt x="1599122" y="31360"/>
                  </a:lnTo>
                  <a:lnTo>
                    <a:pt x="1646155" y="2712624"/>
                  </a:lnTo>
                  <a:cubicBezTo>
                    <a:pt x="1599122" y="2707397"/>
                    <a:pt x="1551828" y="2704141"/>
                    <a:pt x="1505056" y="2696944"/>
                  </a:cubicBezTo>
                  <a:cubicBezTo>
                    <a:pt x="1483760" y="2693667"/>
                    <a:pt x="1463642" y="2684541"/>
                    <a:pt x="1442346" y="2681264"/>
                  </a:cubicBezTo>
                  <a:cubicBezTo>
                    <a:pt x="1395574" y="2674067"/>
                    <a:pt x="1348280" y="2670811"/>
                    <a:pt x="1301247" y="2665585"/>
                  </a:cubicBezTo>
                  <a:cubicBezTo>
                    <a:pt x="1245249" y="2643183"/>
                    <a:pt x="1211414" y="2632165"/>
                    <a:pt x="1160148" y="2602865"/>
                  </a:cubicBezTo>
                  <a:cubicBezTo>
                    <a:pt x="1143788" y="2593515"/>
                    <a:pt x="1129968" y="2579933"/>
                    <a:pt x="1113115" y="2571505"/>
                  </a:cubicBezTo>
                  <a:cubicBezTo>
                    <a:pt x="1098334" y="2564113"/>
                    <a:pt x="1080863" y="2563217"/>
                    <a:pt x="1066082" y="2555825"/>
                  </a:cubicBezTo>
                  <a:cubicBezTo>
                    <a:pt x="934031" y="2489790"/>
                    <a:pt x="1110706" y="2564119"/>
                    <a:pt x="972016" y="2477426"/>
                  </a:cubicBezTo>
                  <a:cubicBezTo>
                    <a:pt x="948152" y="2462509"/>
                    <a:pt x="919757" y="2456519"/>
                    <a:pt x="893627" y="2446066"/>
                  </a:cubicBezTo>
                  <a:cubicBezTo>
                    <a:pt x="883175" y="2430386"/>
                    <a:pt x="875596" y="2412352"/>
                    <a:pt x="862272" y="2399026"/>
                  </a:cubicBezTo>
                  <a:cubicBezTo>
                    <a:pt x="835156" y="2371906"/>
                    <a:pt x="783270" y="2354754"/>
                    <a:pt x="752528" y="2336306"/>
                  </a:cubicBezTo>
                  <a:cubicBezTo>
                    <a:pt x="720214" y="2316915"/>
                    <a:pt x="694214" y="2285506"/>
                    <a:pt x="658462" y="2273587"/>
                  </a:cubicBezTo>
                  <a:cubicBezTo>
                    <a:pt x="627107" y="2263134"/>
                    <a:pt x="596461" y="2250244"/>
                    <a:pt x="564396" y="2242227"/>
                  </a:cubicBezTo>
                  <a:cubicBezTo>
                    <a:pt x="522589" y="2231774"/>
                    <a:pt x="479857" y="2224496"/>
                    <a:pt x="438975" y="2210867"/>
                  </a:cubicBezTo>
                  <a:cubicBezTo>
                    <a:pt x="423297" y="2205640"/>
                    <a:pt x="407832" y="2199728"/>
                    <a:pt x="391942" y="2195187"/>
                  </a:cubicBezTo>
                  <a:cubicBezTo>
                    <a:pt x="371224" y="2189267"/>
                    <a:pt x="349949" y="2185427"/>
                    <a:pt x="329231" y="2179507"/>
                  </a:cubicBezTo>
                  <a:cubicBezTo>
                    <a:pt x="313341" y="2174966"/>
                    <a:pt x="297387" y="2170338"/>
                    <a:pt x="282198" y="2163827"/>
                  </a:cubicBezTo>
                  <a:cubicBezTo>
                    <a:pt x="242374" y="2146757"/>
                    <a:pt x="215025" y="2124529"/>
                    <a:pt x="172455" y="2116788"/>
                  </a:cubicBezTo>
                  <a:cubicBezTo>
                    <a:pt x="79097" y="2099811"/>
                    <a:pt x="78639" y="2101108"/>
                    <a:pt x="15678" y="210110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21000">
                  <a:srgbClr val="FFFFFF">
                    <a:alpha val="20784"/>
                  </a:srgbClr>
                </a:gs>
                <a:gs pos="64000">
                  <a:srgbClr val="BFBFBF">
                    <a:alpha val="63921"/>
                  </a:srgbClr>
                </a:gs>
                <a:gs pos="100000">
                  <a:srgbClr val="BFBFBF"/>
                </a:gs>
              </a:gsLst>
              <a:lin ang="17939882" scaled="0"/>
            </a:gradFill>
            <a:ln>
              <a:noFill/>
            </a:ln>
            <a:effectLst>
              <a:outerShdw blurRad="635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1646155" y="2410326"/>
              <a:ext cx="1614300" cy="282600"/>
            </a:xfrm>
            <a:prstGeom prst="rect">
              <a:avLst/>
            </a:prstGeom>
            <a:gradFill>
              <a:gsLst>
                <a:gs pos="0">
                  <a:srgbClr val="EDEDED"/>
                </a:gs>
                <a:gs pos="65000">
                  <a:srgbClr val="D0D0D0"/>
                </a:gs>
                <a:gs pos="100000">
                  <a:srgbClr val="BCBCBC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1646155" y="2692824"/>
              <a:ext cx="1614300" cy="282600"/>
            </a:xfrm>
            <a:prstGeom prst="rect">
              <a:avLst/>
            </a:prstGeom>
            <a:gradFill>
              <a:gsLst>
                <a:gs pos="0">
                  <a:srgbClr val="EDEDED"/>
                </a:gs>
                <a:gs pos="65000">
                  <a:srgbClr val="D0D0D0"/>
                </a:gs>
                <a:gs pos="100000">
                  <a:srgbClr val="BCBCBC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1646155" y="2975323"/>
              <a:ext cx="1614300" cy="280800"/>
            </a:xfrm>
            <a:prstGeom prst="rect">
              <a:avLst/>
            </a:prstGeom>
            <a:gradFill>
              <a:gsLst>
                <a:gs pos="0">
                  <a:srgbClr val="EDEDED"/>
                </a:gs>
                <a:gs pos="65000">
                  <a:srgbClr val="D0D0D0"/>
                </a:gs>
                <a:gs pos="100000">
                  <a:srgbClr val="BCBCBC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1646155" y="3253060"/>
              <a:ext cx="1614300" cy="282600"/>
            </a:xfrm>
            <a:prstGeom prst="rect">
              <a:avLst/>
            </a:prstGeom>
            <a:gradFill>
              <a:gsLst>
                <a:gs pos="0">
                  <a:srgbClr val="EDEDED"/>
                </a:gs>
                <a:gs pos="65000">
                  <a:srgbClr val="D0D0D0"/>
                </a:gs>
                <a:gs pos="100000">
                  <a:srgbClr val="BCBCBC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1646155" y="3530797"/>
              <a:ext cx="1614300" cy="282600"/>
            </a:xfrm>
            <a:prstGeom prst="rect">
              <a:avLst/>
            </a:prstGeom>
            <a:gradFill>
              <a:gsLst>
                <a:gs pos="0">
                  <a:srgbClr val="EDEDED"/>
                </a:gs>
                <a:gs pos="65000">
                  <a:srgbClr val="D0D0D0"/>
                </a:gs>
                <a:gs pos="100000">
                  <a:srgbClr val="BCBCBC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1639805" y="2399217"/>
              <a:ext cx="1636828" cy="2853743"/>
            </a:xfrm>
            <a:custGeom>
              <a:avLst/>
              <a:gdLst/>
              <a:ahLst/>
              <a:cxnLst/>
              <a:rect l="l" t="t" r="r" b="b"/>
              <a:pathLst>
                <a:path w="1636828" h="2853743" extrusionOk="0">
                  <a:moveTo>
                    <a:pt x="6350" y="1865909"/>
                  </a:moveTo>
                  <a:cubicBezTo>
                    <a:pt x="4233" y="1246984"/>
                    <a:pt x="2117" y="628060"/>
                    <a:pt x="0" y="9135"/>
                  </a:cubicBezTo>
                  <a:lnTo>
                    <a:pt x="1636828" y="0"/>
                  </a:lnTo>
                  <a:lnTo>
                    <a:pt x="1636828" y="2853743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19"/>
          <p:cNvSpPr/>
          <p:nvPr/>
        </p:nvSpPr>
        <p:spPr>
          <a:xfrm>
            <a:off x="2838449" y="2930129"/>
            <a:ext cx="5079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737662" y="2663022"/>
            <a:ext cx="55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117101" y="3131782"/>
            <a:ext cx="1558200" cy="116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1331" y="112051"/>
                </a:moveTo>
                <a:lnTo>
                  <a:pt x="61331" y="112051"/>
                </a:lnTo>
                <a:cubicBezTo>
                  <a:pt x="46233" y="112409"/>
                  <a:pt x="31669" y="106667"/>
                  <a:pt x="21165" y="96214"/>
                </a:cubicBezTo>
                <a:lnTo>
                  <a:pt x="17082" y="97220"/>
                </a:lnTo>
                <a:lnTo>
                  <a:pt x="12038" y="71811"/>
                </a:lnTo>
                <a:lnTo>
                  <a:pt x="37508" y="92190"/>
                </a:lnTo>
                <a:lnTo>
                  <a:pt x="34172" y="93011"/>
                </a:lnTo>
                <a:lnTo>
                  <a:pt x="34172" y="93011"/>
                </a:lnTo>
                <a:cubicBezTo>
                  <a:pt x="42038" y="97893"/>
                  <a:pt x="51444" y="100419"/>
                  <a:pt x="61028" y="100224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903549" y="3977169"/>
            <a:ext cx="37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277812" y="3199210"/>
            <a:ext cx="118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</a:t>
            </a:r>
            <a:br>
              <a:rPr lang="it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 sz="1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4235175" y="3036100"/>
            <a:ext cx="3556500" cy="16902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q = MessageQueue()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InitSystemObjects()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(true)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 m=q.getMessage()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dispatchMessage(m)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  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4870275" y="2713877"/>
            <a:ext cx="238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Pseudo-code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main thread is responsible of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Instantiating the 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it"/>
              <a:t> and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it"/>
              <a:t> objects 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Notifying them the events related to their life cycle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Sending drawing requests to the views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Delivering the events related to user interaction to the corresponding listeners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…as well as several other tasks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access to the queue is synchronized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Other threads (including the operating system’s ones) may insert new messages...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... As long as there is no pending dispatching operation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this case, the system waits a few seconds, then it forces the termination of the application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main thread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Android main thread</a:t>
            </a: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necessary that all tasks, carried out in the main thread, terminate in a short time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To prevent the displaying of the </a:t>
            </a:r>
            <a:br>
              <a:rPr lang="it"/>
            </a:br>
            <a:r>
              <a:rPr lang="it"/>
              <a:t>"Application not responding" </a:t>
            </a:r>
            <a:br>
              <a:rPr lang="it"/>
            </a:br>
            <a:r>
              <a:rPr lang="it"/>
              <a:t>dialog box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you need to perform a long-running task, you should either create a new thread…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 delegate to it its execution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…or use a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Which wraps the multi-threading subsystem with a set of abstractions that makes it easier to reason about concurrency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4401" y="1622537"/>
            <a:ext cx="1767500" cy="94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User programs may benefit of multithreading as well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Multithreading may be approached using the Java standard abstractions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it"/>
              <a:t> class, and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java.util.concurrent.*</a:t>
            </a:r>
            <a:r>
              <a:rPr lang="it"/>
              <a:t> abstractions (locks, concurrent collections, cyclic barriers, atomic values, …)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support the programmer in the development of concurrent programs,  Android provides several useful abstractions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Like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</a:t>
            </a:r>
            <a:r>
              <a:rPr lang="it"/>
              <a:t> and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While these abstractions are highly reliable, since they represent the skeleton of the OS infrastructure, they are still very low level when compared with coroutines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Programming abstractions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threads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Short running tasks may be implemented creating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java.lang.Thread</a:t>
            </a:r>
            <a:r>
              <a:rPr lang="it"/>
              <a:t> instances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Delegating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Runnable</a:t>
            </a:r>
            <a:r>
              <a:rPr lang="it"/>
              <a:t> object to express the code to be executed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Once started, they run to completion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I.e., until their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run()</a:t>
            </a:r>
            <a:r>
              <a:rPr lang="it"/>
              <a:t> method returns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Thread objects do not return any value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order to know the result of their computation, a value should be stored in some shared variable, raising the problem of locking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threads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892214" y="1133810"/>
            <a:ext cx="7359600" cy="2990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t= Thread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//the code here will be executed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//in a secondary thread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t.start();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//… other operations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t.join(); </a:t>
            </a:r>
            <a:r>
              <a:rPr lang="it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wait for thread termination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catch (ie: InterruptedException 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Thread.currentThread().interrupt();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Kotlin thread(…) function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822960" y="1716202"/>
            <a:ext cx="7498200" cy="1913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thread(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start: Boolean = true,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isDaemon: Boolean = false,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contextClassLoader: ClassLoader? = null,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name: String? = null,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priority: Int = -1,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 block: () -&gt; Unit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): Thread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shared state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two (or more) threads need to access the same variable a conflict may arise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Read-Modify-Write operations may lead to inconsistent values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lock can be used to guarantee mutual exclusion between threads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Only one thread at a time can hold the lock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other threads are willing to hold it, they are temporarily suspended, until the one holding it leaves the block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shared state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  <p:sp>
        <p:nvSpPr>
          <p:cNvPr id="179" name="Google Shape;179;p27"/>
          <p:cNvSpPr txBox="1"/>
          <p:nvPr/>
        </p:nvSpPr>
        <p:spPr>
          <a:xfrm>
            <a:off x="1009661" y="1255063"/>
            <a:ext cx="7124700" cy="2990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SharedObject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var sharedValue=0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fun increment(): Int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it" b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synchronized(this)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++sharedValue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decrement(): Int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it" b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synchronized(this)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--sharedValue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fun getValue(): Int 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it" b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synchronized(this)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sharedValue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Problems related to threads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All threads access the same address space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particular, there is only a single heap where objects are allocated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an object reference is known to two or more threads, the object is shared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threads may communicate storing values in its attributes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This gives rise to </a:t>
            </a:r>
            <a:r>
              <a:rPr lang="it" b="1">
                <a:solidFill>
                  <a:srgbClr val="FF0000"/>
                </a:solidFill>
              </a:rPr>
              <a:t>interference</a:t>
            </a:r>
            <a:r>
              <a:rPr lang="it"/>
              <a:t>, leading to unexpected results, if no synchronization is performed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Problems related to threads</a:t>
            </a: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By default, threads do not provide ways to  communicate </a:t>
            </a:r>
            <a:r>
              <a:rPr lang="it" b="1">
                <a:solidFill>
                  <a:srgbClr val="FF0000"/>
                </a:solidFill>
              </a:rPr>
              <a:t>asynchronously </a:t>
            </a:r>
            <a:r>
              <a:rPr lang="it"/>
              <a:t>among them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Accessing a shared state is the only viable solution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a thread needs to know whether some state has changed, either polling or blocking waiting is to be used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Making it difficult to keep things working efficiently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Problems related to threads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Secondary threads are not aware of the application </a:t>
            </a:r>
            <a:r>
              <a:rPr lang="it" b="1">
                <a:solidFill>
                  <a:srgbClr val="FF0000"/>
                </a:solidFill>
              </a:rPr>
              <a:t>lifecycle</a:t>
            </a:r>
            <a:endParaRPr b="1"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Nor of any other callbacks received inside the main thread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part of the Android framework is ONLY accessible from the main thread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Typically, the View hierarchy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Any attempt to perform operations entailing this kind of objects from a secondary thread will give rise to an exception, terminating the current process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Problems related to threads</a:t>
            </a: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Thread are extremely easy to create, but hard to </a:t>
            </a:r>
            <a:r>
              <a:rPr lang="it" b="1">
                <a:solidFill>
                  <a:srgbClr val="FF0000"/>
                </a:solidFill>
              </a:rPr>
              <a:t>cancel</a:t>
            </a:r>
            <a:endParaRPr b="1"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only supported mechanism for thread cancellation relies on cooperatively polling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interrupted</a:t>
            </a:r>
            <a:r>
              <a:rPr lang="it"/>
              <a:t> flag provided by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it"/>
              <a:t> objects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 its semantics is complex and it is subject to a large number of border cases that need manual intervention by the programmer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Dealing with asynchronous tasks in Android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1818800" y="1095231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Java native</a:t>
            </a:r>
            <a:endParaRPr sz="1100"/>
          </a:p>
        </p:txBody>
      </p:sp>
      <p:sp>
        <p:nvSpPr>
          <p:cNvPr id="215" name="Google Shape;215;p32"/>
          <p:cNvSpPr/>
          <p:nvPr/>
        </p:nvSpPr>
        <p:spPr>
          <a:xfrm>
            <a:off x="5033523" y="970767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+</a:t>
            </a:r>
            <a:b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Synchronization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5032938" y="1736090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</a:t>
            </a:r>
            <a:b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extensions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1818800" y="2564005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3rd party</a:t>
            </a:r>
            <a:b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libraries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5032938" y="2516474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Callback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5032938" y="3274637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Reactive</a:t>
            </a:r>
            <a:b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Streams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0" name="Google Shape;220;p32"/>
          <p:cNvCxnSpPr>
            <a:stCxn id="214" idx="3"/>
            <a:endCxn id="215" idx="1"/>
          </p:cNvCxnSpPr>
          <p:nvPr/>
        </p:nvCxnSpPr>
        <p:spPr>
          <a:xfrm rot="10800000" flipH="1">
            <a:off x="3978800" y="1283931"/>
            <a:ext cx="1054800" cy="124500"/>
          </a:xfrm>
          <a:prstGeom prst="curvedConnector3">
            <a:avLst>
              <a:gd name="adj1" fmla="val 49996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32"/>
          <p:cNvCxnSpPr>
            <a:stCxn id="214" idx="3"/>
            <a:endCxn id="216" idx="1"/>
          </p:cNvCxnSpPr>
          <p:nvPr/>
        </p:nvCxnSpPr>
        <p:spPr>
          <a:xfrm>
            <a:off x="3978800" y="1408431"/>
            <a:ext cx="1054200" cy="640800"/>
          </a:xfrm>
          <a:prstGeom prst="curvedConnector3">
            <a:avLst>
              <a:gd name="adj1" fmla="val 4999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32"/>
          <p:cNvCxnSpPr>
            <a:stCxn id="217" idx="3"/>
            <a:endCxn id="219" idx="1"/>
          </p:cNvCxnSpPr>
          <p:nvPr/>
        </p:nvCxnSpPr>
        <p:spPr>
          <a:xfrm>
            <a:off x="3978800" y="2877205"/>
            <a:ext cx="1054200" cy="710700"/>
          </a:xfrm>
          <a:prstGeom prst="curvedConnector3">
            <a:avLst>
              <a:gd name="adj1" fmla="val 4999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32"/>
          <p:cNvCxnSpPr>
            <a:stCxn id="217" idx="3"/>
            <a:endCxn id="218" idx="1"/>
          </p:cNvCxnSpPr>
          <p:nvPr/>
        </p:nvCxnSpPr>
        <p:spPr>
          <a:xfrm rot="10800000" flipH="1">
            <a:off x="3978800" y="2829805"/>
            <a:ext cx="1054200" cy="47400"/>
          </a:xfrm>
          <a:prstGeom prst="curvedConnector3">
            <a:avLst>
              <a:gd name="adj1" fmla="val 4999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4" name="Google Shape;224;p32"/>
          <p:cNvSpPr/>
          <p:nvPr/>
        </p:nvSpPr>
        <p:spPr>
          <a:xfrm>
            <a:off x="5032938" y="4032787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Coroutines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1818800" y="4032780"/>
            <a:ext cx="2160000" cy="626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Kotlin only</a:t>
            </a:r>
            <a:endParaRPr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6" name="Google Shape;226;p32"/>
          <p:cNvCxnSpPr>
            <a:stCxn id="225" idx="3"/>
            <a:endCxn id="217" idx="2"/>
          </p:cNvCxnSpPr>
          <p:nvPr/>
        </p:nvCxnSpPr>
        <p:spPr>
          <a:xfrm rot="10800000">
            <a:off x="2898800" y="3190380"/>
            <a:ext cx="1080000" cy="1155600"/>
          </a:xfrm>
          <a:prstGeom prst="curvedConnector4">
            <a:avLst>
              <a:gd name="adj1" fmla="val -22049"/>
              <a:gd name="adj2" fmla="val 63550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32"/>
          <p:cNvCxnSpPr>
            <a:stCxn id="225" idx="3"/>
            <a:endCxn id="224" idx="1"/>
          </p:cNvCxnSpPr>
          <p:nvPr/>
        </p:nvCxnSpPr>
        <p:spPr>
          <a:xfrm>
            <a:off x="3978800" y="4345980"/>
            <a:ext cx="1054200" cy="600"/>
          </a:xfrm>
          <a:prstGeom prst="curvedConnector3">
            <a:avLst>
              <a:gd name="adj1" fmla="val 4999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32"/>
          <p:cNvCxnSpPr>
            <a:stCxn id="214" idx="3"/>
            <a:endCxn id="217" idx="0"/>
          </p:cNvCxnSpPr>
          <p:nvPr/>
        </p:nvCxnSpPr>
        <p:spPr>
          <a:xfrm flipH="1">
            <a:off x="2898800" y="1408431"/>
            <a:ext cx="1080000" cy="1155600"/>
          </a:xfrm>
          <a:prstGeom prst="curvedConnector4">
            <a:avLst>
              <a:gd name="adj1" fmla="val -22049"/>
              <a:gd name="adj2" fmla="val 63550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23</a:t>
            </a:fld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threading extensions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MessageQueue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Mechanism on which all applications are built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Robust and powerful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Complex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AsyncTask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Formerly proposed as a general solution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Now deprecated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Coroutines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Kotlin-only powerful solution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34"/>
          <p:cNvGrpSpPr/>
          <p:nvPr/>
        </p:nvGrpSpPr>
        <p:grpSpPr>
          <a:xfrm>
            <a:off x="607859" y="1867455"/>
            <a:ext cx="2953800" cy="623250"/>
            <a:chOff x="1125422" y="2948264"/>
            <a:chExt cx="2953800" cy="831000"/>
          </a:xfrm>
        </p:grpSpPr>
        <p:sp>
          <p:nvSpPr>
            <p:cNvPr id="242" name="Google Shape;242;p34"/>
            <p:cNvSpPr/>
            <p:nvPr/>
          </p:nvSpPr>
          <p:spPr>
            <a:xfrm>
              <a:off x="1125422" y="2948264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/>
            </a:p>
          </p:txBody>
        </p:sp>
        <p:cxnSp>
          <p:nvCxnSpPr>
            <p:cNvPr id="243" name="Google Shape;243;p34"/>
            <p:cNvCxnSpPr>
              <a:stCxn id="242" idx="3"/>
              <a:endCxn id="244" idx="1"/>
            </p:cNvCxnSpPr>
            <p:nvPr/>
          </p:nvCxnSpPr>
          <p:spPr>
            <a:xfrm rot="10800000" flipH="1">
              <a:off x="2998922" y="3362864"/>
              <a:ext cx="1080300" cy="9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45" name="Google Shape;245;p34"/>
          <p:cNvGrpSpPr/>
          <p:nvPr/>
        </p:nvGrpSpPr>
        <p:grpSpPr>
          <a:xfrm>
            <a:off x="760259" y="1981755"/>
            <a:ext cx="2801400" cy="623250"/>
            <a:chOff x="1277822" y="3100664"/>
            <a:chExt cx="2801400" cy="831000"/>
          </a:xfrm>
        </p:grpSpPr>
        <p:sp>
          <p:nvSpPr>
            <p:cNvPr id="246" name="Google Shape;246;p34"/>
            <p:cNvSpPr/>
            <p:nvPr/>
          </p:nvSpPr>
          <p:spPr>
            <a:xfrm>
              <a:off x="1277822" y="3100664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/>
            </a:p>
          </p:txBody>
        </p:sp>
        <p:cxnSp>
          <p:nvCxnSpPr>
            <p:cNvPr id="247" name="Google Shape;247;p34"/>
            <p:cNvCxnSpPr>
              <a:stCxn id="246" idx="3"/>
              <a:endCxn id="244" idx="1"/>
            </p:cNvCxnSpPr>
            <p:nvPr/>
          </p:nvCxnSpPr>
          <p:spPr>
            <a:xfrm rot="10800000" flipH="1">
              <a:off x="3151322" y="3362864"/>
              <a:ext cx="927900" cy="1533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48" name="Google Shape;248;p34"/>
          <p:cNvGrpSpPr/>
          <p:nvPr/>
        </p:nvGrpSpPr>
        <p:grpSpPr>
          <a:xfrm>
            <a:off x="912659" y="2096055"/>
            <a:ext cx="2649000" cy="623250"/>
            <a:chOff x="1430222" y="3253064"/>
            <a:chExt cx="2649000" cy="831000"/>
          </a:xfrm>
        </p:grpSpPr>
        <p:sp>
          <p:nvSpPr>
            <p:cNvPr id="249" name="Google Shape;249;p34"/>
            <p:cNvSpPr/>
            <p:nvPr/>
          </p:nvSpPr>
          <p:spPr>
            <a:xfrm>
              <a:off x="1430222" y="3253064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/>
            </a:p>
          </p:txBody>
        </p:sp>
        <p:cxnSp>
          <p:nvCxnSpPr>
            <p:cNvPr id="250" name="Google Shape;250;p34"/>
            <p:cNvCxnSpPr>
              <a:stCxn id="249" idx="3"/>
              <a:endCxn id="244" idx="1"/>
            </p:cNvCxnSpPr>
            <p:nvPr/>
          </p:nvCxnSpPr>
          <p:spPr>
            <a:xfrm rot="10800000" flipH="1">
              <a:off x="3303722" y="3362864"/>
              <a:ext cx="775500" cy="3057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1" name="Google Shape;251;p34"/>
          <p:cNvGrpSpPr/>
          <p:nvPr/>
        </p:nvGrpSpPr>
        <p:grpSpPr>
          <a:xfrm>
            <a:off x="1065059" y="2178405"/>
            <a:ext cx="2496600" cy="655200"/>
            <a:chOff x="1582622" y="3362864"/>
            <a:chExt cx="2496600" cy="873600"/>
          </a:xfrm>
        </p:grpSpPr>
        <p:sp>
          <p:nvSpPr>
            <p:cNvPr id="252" name="Google Shape;252;p34"/>
            <p:cNvSpPr/>
            <p:nvPr/>
          </p:nvSpPr>
          <p:spPr>
            <a:xfrm>
              <a:off x="1582622" y="3405464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/>
            </a:p>
          </p:txBody>
        </p:sp>
        <p:cxnSp>
          <p:nvCxnSpPr>
            <p:cNvPr id="253" name="Google Shape;253;p34"/>
            <p:cNvCxnSpPr>
              <a:stCxn id="252" idx="3"/>
              <a:endCxn id="244" idx="1"/>
            </p:cNvCxnSpPr>
            <p:nvPr/>
          </p:nvCxnSpPr>
          <p:spPr>
            <a:xfrm rot="10800000" flipH="1">
              <a:off x="3456122" y="3362864"/>
              <a:ext cx="623100" cy="4581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4" name="Google Shape;25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low-level Looper API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3881898" y="1872553"/>
            <a:ext cx="1873500" cy="6234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Looper</a:t>
            </a:r>
            <a:endParaRPr/>
          </a:p>
        </p:txBody>
      </p:sp>
      <p:sp>
        <p:nvSpPr>
          <p:cNvPr id="244" name="Google Shape;244;p34"/>
          <p:cNvSpPr/>
          <p:nvPr/>
        </p:nvSpPr>
        <p:spPr>
          <a:xfrm>
            <a:off x="3561546" y="2063419"/>
            <a:ext cx="306600" cy="2301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3881900" y="3279632"/>
            <a:ext cx="1873500" cy="763500"/>
          </a:xfrm>
          <a:prstGeom prst="rect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it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br>
              <a:rPr lang="it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endParaRPr/>
          </a:p>
        </p:txBody>
      </p:sp>
      <p:sp>
        <p:nvSpPr>
          <p:cNvPr id="258" name="Google Shape;258;p34"/>
          <p:cNvSpPr/>
          <p:nvPr/>
        </p:nvSpPr>
        <p:spPr>
          <a:xfrm>
            <a:off x="4665281" y="2499008"/>
            <a:ext cx="306600" cy="2301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9" name="Google Shape;259;p34"/>
          <p:cNvCxnSpPr>
            <a:stCxn id="258" idx="2"/>
            <a:endCxn id="257" idx="0"/>
          </p:cNvCxnSpPr>
          <p:nvPr/>
        </p:nvCxnSpPr>
        <p:spPr>
          <a:xfrm rot="-5400000" flipH="1">
            <a:off x="4543631" y="3004058"/>
            <a:ext cx="550500" cy="600"/>
          </a:xfrm>
          <a:prstGeom prst="bentConnector3">
            <a:avLst>
              <a:gd name="adj1" fmla="val 50002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60" name="Google Shape;260;p34"/>
          <p:cNvSpPr txBox="1"/>
          <p:nvPr/>
        </p:nvSpPr>
        <p:spPr>
          <a:xfrm>
            <a:off x="3403562" y="1911722"/>
            <a:ext cx="28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1" name="Google Shape;261;p34"/>
          <p:cNvSpPr txBox="1"/>
          <p:nvPr/>
        </p:nvSpPr>
        <p:spPr>
          <a:xfrm>
            <a:off x="3111462" y="1895054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4540212" y="2597522"/>
            <a:ext cx="28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4542688" y="2991955"/>
            <a:ext cx="28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5745946" y="3569638"/>
            <a:ext cx="306600" cy="2301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5" name="Google Shape;265;p34"/>
          <p:cNvGrpSpPr/>
          <p:nvPr/>
        </p:nvGrpSpPr>
        <p:grpSpPr>
          <a:xfrm>
            <a:off x="6052546" y="3213210"/>
            <a:ext cx="2650855" cy="623250"/>
            <a:chOff x="6251006" y="4293651"/>
            <a:chExt cx="2650855" cy="831000"/>
          </a:xfrm>
        </p:grpSpPr>
        <p:sp>
          <p:nvSpPr>
            <p:cNvPr id="266" name="Google Shape;266;p34"/>
            <p:cNvSpPr/>
            <p:nvPr/>
          </p:nvSpPr>
          <p:spPr>
            <a:xfrm>
              <a:off x="7028361" y="4293651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Message</a:t>
              </a:r>
              <a:endParaRPr/>
            </a:p>
          </p:txBody>
        </p:sp>
        <p:cxnSp>
          <p:nvCxnSpPr>
            <p:cNvPr id="267" name="Google Shape;267;p34"/>
            <p:cNvCxnSpPr>
              <a:stCxn id="264" idx="3"/>
              <a:endCxn id="266" idx="1"/>
            </p:cNvCxnSpPr>
            <p:nvPr/>
          </p:nvCxnSpPr>
          <p:spPr>
            <a:xfrm rot="10800000" flipH="1">
              <a:off x="6251006" y="4709288"/>
              <a:ext cx="777300" cy="213000"/>
            </a:xfrm>
            <a:prstGeom prst="bentConnector3">
              <a:avLst>
                <a:gd name="adj1" fmla="val 50004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8" name="Google Shape;268;p34"/>
          <p:cNvGrpSpPr/>
          <p:nvPr/>
        </p:nvGrpSpPr>
        <p:grpSpPr>
          <a:xfrm>
            <a:off x="6052546" y="3370373"/>
            <a:ext cx="2771532" cy="623250"/>
            <a:chOff x="5860454" y="4246026"/>
            <a:chExt cx="2771532" cy="831000"/>
          </a:xfrm>
        </p:grpSpPr>
        <p:sp>
          <p:nvSpPr>
            <p:cNvPr id="269" name="Google Shape;269;p34"/>
            <p:cNvSpPr/>
            <p:nvPr/>
          </p:nvSpPr>
          <p:spPr>
            <a:xfrm>
              <a:off x="6758486" y="4246026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Message</a:t>
              </a:r>
              <a:endParaRPr/>
            </a:p>
          </p:txBody>
        </p:sp>
        <p:cxnSp>
          <p:nvCxnSpPr>
            <p:cNvPr id="270" name="Google Shape;270;p34"/>
            <p:cNvCxnSpPr>
              <a:stCxn id="264" idx="3"/>
              <a:endCxn id="269" idx="1"/>
            </p:cNvCxnSpPr>
            <p:nvPr/>
          </p:nvCxnSpPr>
          <p:spPr>
            <a:xfrm rot="10800000" flipH="1">
              <a:off x="5860454" y="4661513"/>
              <a:ext cx="897900" cy="3600"/>
            </a:xfrm>
            <a:prstGeom prst="bentConnector3">
              <a:avLst>
                <a:gd name="adj1" fmla="val 50007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71" name="Google Shape;271;p34"/>
          <p:cNvGrpSpPr/>
          <p:nvPr/>
        </p:nvGrpSpPr>
        <p:grpSpPr>
          <a:xfrm>
            <a:off x="6052546" y="3551348"/>
            <a:ext cx="2888238" cy="623250"/>
            <a:chOff x="5743748" y="4246026"/>
            <a:chExt cx="2888238" cy="831000"/>
          </a:xfrm>
        </p:grpSpPr>
        <p:sp>
          <p:nvSpPr>
            <p:cNvPr id="272" name="Google Shape;272;p34"/>
            <p:cNvSpPr/>
            <p:nvPr/>
          </p:nvSpPr>
          <p:spPr>
            <a:xfrm>
              <a:off x="6758486" y="4246026"/>
              <a:ext cx="1873500" cy="8310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nsolas"/>
                <a:buNone/>
              </a:pPr>
              <a:r>
                <a:rPr lang="it" sz="2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Message</a:t>
              </a:r>
              <a:endParaRPr/>
            </a:p>
          </p:txBody>
        </p:sp>
        <p:cxnSp>
          <p:nvCxnSpPr>
            <p:cNvPr id="273" name="Google Shape;273;p34"/>
            <p:cNvCxnSpPr>
              <a:stCxn id="264" idx="3"/>
              <a:endCxn id="272" idx="1"/>
            </p:cNvCxnSpPr>
            <p:nvPr/>
          </p:nvCxnSpPr>
          <p:spPr>
            <a:xfrm>
              <a:off x="5743748" y="4423813"/>
              <a:ext cx="1014600" cy="237600"/>
            </a:xfrm>
            <a:prstGeom prst="bentConnector3">
              <a:avLst>
                <a:gd name="adj1" fmla="val 50007"/>
              </a:avLst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4" name="Google Shape;274;p34"/>
          <p:cNvSpPr txBox="1"/>
          <p:nvPr/>
        </p:nvSpPr>
        <p:spPr>
          <a:xfrm>
            <a:off x="5972137" y="3409942"/>
            <a:ext cx="28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5" name="Google Shape;275;p34"/>
          <p:cNvSpPr txBox="1"/>
          <p:nvPr/>
        </p:nvSpPr>
        <p:spPr>
          <a:xfrm>
            <a:off x="6172162" y="3417086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63" y="1229966"/>
            <a:ext cx="369921" cy="39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/>
        </p:nvSpPr>
        <p:spPr>
          <a:xfrm>
            <a:off x="5078981" y="1185320"/>
            <a:ext cx="20838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Java thread</a:t>
            </a:r>
            <a:endParaRPr/>
          </a:p>
        </p:txBody>
      </p:sp>
      <p:cxnSp>
        <p:nvCxnSpPr>
          <p:cNvPr id="278" name="Google Shape;278;p34"/>
          <p:cNvCxnSpPr>
            <a:stCxn id="256" idx="0"/>
            <a:endCxn id="276" idx="2"/>
          </p:cNvCxnSpPr>
          <p:nvPr/>
        </p:nvCxnSpPr>
        <p:spPr>
          <a:xfrm rot="10800000">
            <a:off x="4757148" y="1626553"/>
            <a:ext cx="61500" cy="2460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25</a:t>
            </a:fld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android.os.Looper</a:t>
            </a:r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Class that manages a message queue associated with a single thread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queue is not directly accessible to the programmer, but is it created through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Looper.prepare()</a:t>
            </a:r>
            <a:r>
              <a:rPr lang="it"/>
              <a:t> static method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thread that invokes this method becomes the owner of the queue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Looper.loop()</a:t>
            </a:r>
            <a:r>
              <a:rPr lang="it"/>
              <a:t> static method is called, an infinite loop starts, waiting for messages from other threads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main thread of an application is built with this schema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android.os.Looper</a:t>
            </a:r>
            <a:endParaRPr/>
          </a:p>
        </p:txBody>
      </p:sp>
      <p:sp>
        <p:nvSpPr>
          <p:cNvPr id="293" name="Google Shape;293;p36"/>
          <p:cNvSpPr txBox="1"/>
          <p:nvPr/>
        </p:nvSpPr>
        <p:spPr>
          <a:xfrm>
            <a:off x="1128632" y="985686"/>
            <a:ext cx="5288400" cy="375570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MyLooper :Thread() {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lateinit 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var h : Handler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private 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val cdl = CountDownLatch(1)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override fun run(){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Looper.prepare()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h = MyHandler() 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cdl.countDown()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Looper.loop()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fun getHandler(): Handler {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cdl.await()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h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294" name="Google Shape;294;p36"/>
          <p:cNvSpPr/>
          <p:nvPr/>
        </p:nvSpPr>
        <p:spPr>
          <a:xfrm>
            <a:off x="5811276" y="899572"/>
            <a:ext cx="2922600" cy="759900"/>
          </a:xfrm>
          <a:prstGeom prst="wedgeRectCallout">
            <a:avLst>
              <a:gd name="adj1" fmla="val -132207"/>
              <a:gd name="adj2" fmla="val 146852"/>
            </a:avLst>
          </a:prstGeom>
          <a:solidFill>
            <a:srgbClr val="FFC000"/>
          </a:solidFill>
          <a:ln w="25400" cap="flat" cmpd="sng">
            <a:solidFill>
              <a:srgbClr val="5C6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a queue associated with the current thread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5824505" y="1985663"/>
            <a:ext cx="2922600" cy="990600"/>
          </a:xfrm>
          <a:prstGeom prst="wedgeRectCallout">
            <a:avLst>
              <a:gd name="adj1" fmla="val -134471"/>
              <a:gd name="adj2" fmla="val 16315"/>
            </a:avLst>
          </a:prstGeom>
          <a:solidFill>
            <a:srgbClr val="FFC000"/>
          </a:solidFill>
          <a:ln w="25400" cap="flat" cmpd="sng">
            <a:solidFill>
              <a:srgbClr val="5C6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a message processor, through which messages and tasks can be sent</a:t>
            </a:r>
            <a:endParaRPr sz="1000"/>
          </a:p>
        </p:txBody>
      </p:sp>
      <p:sp>
        <p:nvSpPr>
          <p:cNvPr id="296" name="Google Shape;296;p36"/>
          <p:cNvSpPr/>
          <p:nvPr/>
        </p:nvSpPr>
        <p:spPr>
          <a:xfrm>
            <a:off x="5837733" y="3248930"/>
            <a:ext cx="2922600" cy="1452300"/>
          </a:xfrm>
          <a:prstGeom prst="wedgeRectCallout">
            <a:avLst>
              <a:gd name="adj1" fmla="val -142172"/>
              <a:gd name="adj2" fmla="val -60756"/>
            </a:avLst>
          </a:prstGeom>
          <a:solidFill>
            <a:srgbClr val="FFC000"/>
          </a:solidFill>
          <a:ln w="25400" cap="flat" cmpd="sng">
            <a:solidFill>
              <a:srgbClr val="5C6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a loop that continuously waits (without consuming CPU) for the next message,</a:t>
            </a:r>
            <a:endParaRPr sz="10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then dispatches it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27</a:t>
            </a:fld>
            <a:endParaRPr/>
          </a:p>
        </p:txBody>
      </p:sp>
      <p:sp>
        <p:nvSpPr>
          <p:cNvPr id="302" name="Google Shape;30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android.as.Looper</a:t>
            </a:r>
            <a:endParaRPr/>
          </a:p>
        </p:txBody>
      </p:sp>
      <p:sp>
        <p:nvSpPr>
          <p:cNvPr id="303" name="Google Shape;303;p37"/>
          <p:cNvSpPr txBox="1">
            <a:spLocks noGrp="1"/>
          </p:cNvSpPr>
          <p:nvPr>
            <p:ph type="body" idx="4294967295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Generally, looper objects are only accessible from their own thread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Via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Looper.myLooper()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Main looper is an exception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accessible from any thread, via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Looper.getMainLooper()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Loopers can be terminated via their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quit()</a:t>
            </a:r>
            <a:r>
              <a:rPr lang="it"/>
              <a:t> method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Or via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quitSafely()</a:t>
            </a:r>
            <a:r>
              <a:rPr lang="it"/>
              <a:t> (requires API 18+)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28</a:t>
            </a:fld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android.os.MessageQueue</a:t>
            </a:r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body" idx="4294967295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Unbounded linked list of messages to be processed by the consumer thread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Every looper (and thread) has at most one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MessageQueue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possible to retrieve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MessageQueue</a:t>
            </a:r>
            <a:r>
              <a:rPr lang="it"/>
              <a:t> for the current thread via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Looper.myQueue()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29</a:t>
            </a:fld>
            <a:endParaRPr/>
          </a:p>
        </p:txBody>
      </p:sp>
      <p:sp>
        <p:nvSpPr>
          <p:cNvPr id="316" name="Google Shape;31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android.os.Handler</a:t>
            </a:r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body" idx="4294967295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class that provides a thread-safe interface for inserting and processing of new requests in a looper queue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r>
              <a:rPr lang="it"/>
              <a:t> object is bound to the implicit queue associated with the thread in which it was created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request may be constituted by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Runnable</a:t>
            </a:r>
            <a:r>
              <a:rPr lang="it"/>
              <a:t> or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it"/>
              <a:t> object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the first case, the handler will execute the associated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run()</a:t>
            </a:r>
            <a:r>
              <a:rPr lang="it"/>
              <a:t> method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the other case,  it will process it via its own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handleMessage(m: Message)</a:t>
            </a:r>
            <a:r>
              <a:rPr lang="it"/>
              <a:t> method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both cases, processing will happen inside the associated looper thread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android.os.Handler (2)</a:t>
            </a:r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30</a:t>
            </a:fld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requests can be queued immediately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post(r: Runnable)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sendMessage(m: Message)</a:t>
            </a:r>
            <a:r>
              <a:rPr lang="it"/>
              <a:t>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... Or after a given time interval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postDelayed(r: Runnable, delay: Long)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postAtTime(r: Runnable, time: Long)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sendMessageDelayed(m: Message, delay: Long)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sendMessageAtTime(m: Message, time: Long)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31</a:t>
            </a:fld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android.os.Handler</a:t>
            </a:r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handler mechanism can be used to asynchronously communicate with a thread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Provided it is a looper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looper thread can be associated with many different handler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 they all insert messages in the same queue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message will be picked up, it will be processed by the handler through which it was inserted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32</a:t>
            </a:fld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android.os.Message</a:t>
            </a:r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Models an event described by an integer value, a pair of (integers) parameters and an eventual object to be delivered to the recipient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use of integer values ​​makes the use (and reuse) of objects of this type  efficient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Given the allocation and releasing cost of new items, the operating system maintains a queue of messages that are not in use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You get a message by invoking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Message.obtain()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You can release it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.recycle()</a:t>
            </a:r>
            <a:r>
              <a:rPr lang="it">
                <a:solidFill>
                  <a:schemeClr val="dk1"/>
                </a:solidFill>
              </a:rPr>
              <a:t> method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33</a:t>
            </a:fld>
            <a:endParaRPr/>
          </a:p>
        </p:txBody>
      </p:sp>
      <p:sp>
        <p:nvSpPr>
          <p:cNvPr id="345" name="Google Shape;34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producer/consumer pattern</a:t>
            </a:r>
            <a:endParaRPr/>
          </a:p>
        </p:txBody>
      </p:sp>
      <p:sp>
        <p:nvSpPr>
          <p:cNvPr id="346" name="Google Shape;346;p4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Looper threads naturally lend themselves to implement the producer/consumer pattern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producer thread asynchronously generates pieces of information, storing them in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it"/>
              <a:t> objects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Messages are inserted in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MessageQueue</a:t>
            </a:r>
            <a:r>
              <a:rPr lang="it"/>
              <a:t> of the consumer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sendMessage()</a:t>
            </a:r>
            <a:r>
              <a:rPr lang="it"/>
              <a:t> method provided by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Looper (consumer) thread extracts one message at a time and dispatches it to the handler though which it was posted, in order to process it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/>
          <p:nvPr/>
        </p:nvSpPr>
        <p:spPr>
          <a:xfrm>
            <a:off x="948226" y="2792325"/>
            <a:ext cx="1764045" cy="1161798"/>
          </a:xfrm>
          <a:custGeom>
            <a:avLst/>
            <a:gdLst/>
            <a:ahLst/>
            <a:cxnLst/>
            <a:rect l="l" t="t" r="r" b="b"/>
            <a:pathLst>
              <a:path w="1510959" h="1549064" extrusionOk="0">
                <a:moveTo>
                  <a:pt x="1510959" y="955850"/>
                </a:moveTo>
                <a:lnTo>
                  <a:pt x="1508289" y="14367"/>
                </a:lnTo>
                <a:lnTo>
                  <a:pt x="0" y="0"/>
                </a:lnTo>
                <a:lnTo>
                  <a:pt x="0" y="1549064"/>
                </a:lnTo>
              </a:path>
            </a:pathLst>
          </a:custGeom>
          <a:noFill/>
          <a:ln w="25400" cap="flat" cmpd="sng">
            <a:solidFill>
              <a:srgbClr val="008000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producer/consumer pattern</a:t>
            </a:r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34</a:t>
            </a:fld>
            <a:endParaRPr/>
          </a:p>
        </p:txBody>
      </p:sp>
      <p:pic>
        <p:nvPicPr>
          <p:cNvPr id="354" name="Google Shape;35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65" y="1329554"/>
            <a:ext cx="369921" cy="39669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4"/>
          <p:cNvSpPr txBox="1"/>
          <p:nvPr/>
        </p:nvSpPr>
        <p:spPr>
          <a:xfrm>
            <a:off x="1113000" y="1125450"/>
            <a:ext cx="30396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Producer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endParaRPr sz="2000"/>
          </a:p>
        </p:txBody>
      </p:sp>
      <p:sp>
        <p:nvSpPr>
          <p:cNvPr id="356" name="Google Shape;356;p44"/>
          <p:cNvSpPr/>
          <p:nvPr/>
        </p:nvSpPr>
        <p:spPr>
          <a:xfrm>
            <a:off x="948225" y="1740875"/>
            <a:ext cx="1104935" cy="939700"/>
          </a:xfrm>
          <a:custGeom>
            <a:avLst/>
            <a:gdLst/>
            <a:ahLst/>
            <a:cxnLst/>
            <a:rect l="l" t="t" r="r" b="b"/>
            <a:pathLst>
              <a:path w="34730" h="37588" extrusionOk="0">
                <a:moveTo>
                  <a:pt x="0" y="0"/>
                </a:moveTo>
                <a:lnTo>
                  <a:pt x="237" y="37529"/>
                </a:lnTo>
                <a:lnTo>
                  <a:pt x="34730" y="37588"/>
                </a:lnTo>
              </a:path>
            </a:pathLst>
          </a:custGeom>
          <a:noFill/>
          <a:ln w="25400" cap="flat" cmpd="sng">
            <a:solidFill>
              <a:srgbClr val="008000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2512506" y="3151664"/>
            <a:ext cx="1944900" cy="684600"/>
          </a:xfrm>
          <a:prstGeom prst="rect">
            <a:avLst/>
          </a:prstGeom>
          <a:solidFill>
            <a:srgbClr val="EAE8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b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endParaRPr sz="2000"/>
          </a:p>
        </p:txBody>
      </p:sp>
      <p:sp>
        <p:nvSpPr>
          <p:cNvPr id="358" name="Google Shape;358;p44"/>
          <p:cNvSpPr txBox="1"/>
          <p:nvPr/>
        </p:nvSpPr>
        <p:spPr>
          <a:xfrm>
            <a:off x="930896" y="2727038"/>
            <a:ext cx="21408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sendMessage(m)</a:t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2069533" y="2183851"/>
            <a:ext cx="1944900" cy="684600"/>
          </a:xfrm>
          <a:prstGeom prst="rect">
            <a:avLst/>
          </a:prstGeom>
          <a:solidFill>
            <a:srgbClr val="EAE8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44"/>
          <p:cNvSpPr/>
          <p:nvPr/>
        </p:nvSpPr>
        <p:spPr>
          <a:xfrm>
            <a:off x="2076780" y="2682539"/>
            <a:ext cx="821975" cy="176413"/>
          </a:xfrm>
          <a:custGeom>
            <a:avLst/>
            <a:gdLst/>
            <a:ahLst/>
            <a:cxnLst/>
            <a:rect l="l" t="t" r="r" b="b"/>
            <a:pathLst>
              <a:path w="821975" h="235218" extrusionOk="0">
                <a:moveTo>
                  <a:pt x="0" y="0"/>
                </a:moveTo>
                <a:lnTo>
                  <a:pt x="821975" y="14313"/>
                </a:lnTo>
                <a:lnTo>
                  <a:pt x="816501" y="235218"/>
                </a:lnTo>
              </a:path>
            </a:pathLst>
          </a:custGeom>
          <a:noFill/>
          <a:ln w="25400" cap="flat" cmpd="sng">
            <a:solidFill>
              <a:srgbClr val="008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44"/>
          <p:cNvCxnSpPr/>
          <p:nvPr/>
        </p:nvCxnSpPr>
        <p:spPr>
          <a:xfrm>
            <a:off x="2882418" y="2863550"/>
            <a:ext cx="0" cy="270600"/>
          </a:xfrm>
          <a:prstGeom prst="straightConnector1">
            <a:avLst/>
          </a:prstGeom>
          <a:noFill/>
          <a:ln w="25400" cap="flat" cmpd="sng">
            <a:solidFill>
              <a:srgbClr val="008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2" name="Google Shape;362;p44"/>
          <p:cNvSpPr/>
          <p:nvPr/>
        </p:nvSpPr>
        <p:spPr>
          <a:xfrm>
            <a:off x="2059479" y="2797445"/>
            <a:ext cx="657580" cy="65861"/>
          </a:xfrm>
          <a:custGeom>
            <a:avLst/>
            <a:gdLst/>
            <a:ahLst/>
            <a:cxnLst/>
            <a:rect l="l" t="t" r="r" b="b"/>
            <a:pathLst>
              <a:path w="821975" h="235218" extrusionOk="0">
                <a:moveTo>
                  <a:pt x="0" y="0"/>
                </a:moveTo>
                <a:lnTo>
                  <a:pt x="821975" y="14313"/>
                </a:lnTo>
                <a:lnTo>
                  <a:pt x="816501" y="235218"/>
                </a:lnTo>
              </a:path>
            </a:pathLst>
          </a:custGeom>
          <a:noFill/>
          <a:ln w="25400" cap="flat" cmpd="sng">
            <a:solidFill>
              <a:srgbClr val="008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4618341" y="4176598"/>
            <a:ext cx="877800" cy="364500"/>
          </a:xfrm>
          <a:prstGeom prst="chevron">
            <a:avLst>
              <a:gd name="adj" fmla="val 50000"/>
            </a:avLst>
          </a:prstGeom>
          <a:solidFill>
            <a:srgbClr val="3C78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44"/>
          <p:cNvSpPr/>
          <p:nvPr/>
        </p:nvSpPr>
        <p:spPr>
          <a:xfrm>
            <a:off x="3814403" y="4176598"/>
            <a:ext cx="877800" cy="364500"/>
          </a:xfrm>
          <a:prstGeom prst="chevron">
            <a:avLst>
              <a:gd name="adj" fmla="val 50000"/>
            </a:avLst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44"/>
          <p:cNvSpPr/>
          <p:nvPr/>
        </p:nvSpPr>
        <p:spPr>
          <a:xfrm>
            <a:off x="3010465" y="4176598"/>
            <a:ext cx="877800" cy="364500"/>
          </a:xfrm>
          <a:prstGeom prst="chevron">
            <a:avLst>
              <a:gd name="adj" fmla="val 50000"/>
            </a:avLst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2235335" y="4188358"/>
            <a:ext cx="862200" cy="352800"/>
          </a:xfrm>
          <a:prstGeom prst="homePlate">
            <a:avLst>
              <a:gd name="adj" fmla="val 50000"/>
            </a:avLst>
          </a:prstGeom>
          <a:solidFill>
            <a:srgbClr val="6AA84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7" name="Google Shape;36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8" y="1329554"/>
            <a:ext cx="369921" cy="39669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/>
          <p:nvPr/>
        </p:nvSpPr>
        <p:spPr>
          <a:xfrm>
            <a:off x="4876000" y="1125450"/>
            <a:ext cx="20838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b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endParaRPr sz="2000"/>
          </a:p>
        </p:txBody>
      </p:sp>
      <p:grpSp>
        <p:nvGrpSpPr>
          <p:cNvPr id="369" name="Google Shape;369;p44"/>
          <p:cNvGrpSpPr/>
          <p:nvPr/>
        </p:nvGrpSpPr>
        <p:grpSpPr>
          <a:xfrm>
            <a:off x="6282448" y="2183851"/>
            <a:ext cx="1944900" cy="684450"/>
            <a:chOff x="6931804" y="3512090"/>
            <a:chExt cx="1944900" cy="912600"/>
          </a:xfrm>
        </p:grpSpPr>
        <p:sp>
          <p:nvSpPr>
            <p:cNvPr id="370" name="Google Shape;370;p44"/>
            <p:cNvSpPr/>
            <p:nvPr/>
          </p:nvSpPr>
          <p:spPr>
            <a:xfrm>
              <a:off x="6945204" y="4170856"/>
              <a:ext cx="423300" cy="250800"/>
            </a:xfrm>
            <a:prstGeom prst="rect">
              <a:avLst/>
            </a:prstGeom>
            <a:solidFill>
              <a:srgbClr val="EAE8EB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1" name="Google Shape;371;p44"/>
            <p:cNvSpPr txBox="1"/>
            <p:nvPr/>
          </p:nvSpPr>
          <p:spPr>
            <a:xfrm>
              <a:off x="6931804" y="3512090"/>
              <a:ext cx="1944900" cy="912600"/>
            </a:xfrm>
            <a:prstGeom prst="rect">
              <a:avLst/>
            </a:prstGeom>
            <a:solidFill>
              <a:srgbClr val="EAE8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3600" rIns="91425" bIns="93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Looper</a:t>
              </a:r>
              <a:endParaRPr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372" name="Google Shape;372;p44"/>
          <p:cNvCxnSpPr>
            <a:endCxn id="371" idx="0"/>
          </p:cNvCxnSpPr>
          <p:nvPr/>
        </p:nvCxnSpPr>
        <p:spPr>
          <a:xfrm>
            <a:off x="7247398" y="1750351"/>
            <a:ext cx="7500" cy="4335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3" name="Google Shape;373;p44"/>
          <p:cNvCxnSpPr>
            <a:stCxn id="371" idx="2"/>
          </p:cNvCxnSpPr>
          <p:nvPr/>
        </p:nvCxnSpPr>
        <p:spPr>
          <a:xfrm rot="5400000">
            <a:off x="5463448" y="1870051"/>
            <a:ext cx="793200" cy="2789700"/>
          </a:xfrm>
          <a:prstGeom prst="bentConnector2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4" name="Google Shape;374;p44"/>
          <p:cNvCxnSpPr>
            <a:stCxn id="371" idx="0"/>
            <a:endCxn id="371" idx="2"/>
          </p:cNvCxnSpPr>
          <p:nvPr/>
        </p:nvCxnSpPr>
        <p:spPr>
          <a:xfrm>
            <a:off x="7254898" y="2183851"/>
            <a:ext cx="0" cy="68460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75" name="Google Shape;375;p44"/>
          <p:cNvCxnSpPr>
            <a:stCxn id="357" idx="3"/>
            <a:endCxn id="370" idx="2"/>
          </p:cNvCxnSpPr>
          <p:nvPr/>
        </p:nvCxnSpPr>
        <p:spPr>
          <a:xfrm rot="10800000" flipH="1">
            <a:off x="4457406" y="2866064"/>
            <a:ext cx="2050200" cy="627900"/>
          </a:xfrm>
          <a:prstGeom prst="bentConnector2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6" name="Google Shape;376;p44"/>
          <p:cNvCxnSpPr>
            <a:stCxn id="370" idx="1"/>
          </p:cNvCxnSpPr>
          <p:nvPr/>
        </p:nvCxnSpPr>
        <p:spPr>
          <a:xfrm flipH="1">
            <a:off x="4022448" y="2771975"/>
            <a:ext cx="2273400" cy="600"/>
          </a:xfrm>
          <a:prstGeom prst="bentConnector3">
            <a:avLst>
              <a:gd name="adj1" fmla="val 49997"/>
            </a:avLst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7" name="Google Shape;377;p44"/>
          <p:cNvCxnSpPr>
            <a:stCxn id="359" idx="3"/>
            <a:endCxn id="371" idx="1"/>
          </p:cNvCxnSpPr>
          <p:nvPr/>
        </p:nvCxnSpPr>
        <p:spPr>
          <a:xfrm>
            <a:off x="4014433" y="2526151"/>
            <a:ext cx="2268000" cy="0"/>
          </a:xfrm>
          <a:prstGeom prst="straightConnector1">
            <a:avLst/>
          </a:prstGeom>
          <a:noFill/>
          <a:ln w="25400" cap="flat" cmpd="sng">
            <a:solidFill>
              <a:srgbClr val="0000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8" name="Google Shape;378;p44"/>
          <p:cNvSpPr/>
          <p:nvPr/>
        </p:nvSpPr>
        <p:spPr>
          <a:xfrm>
            <a:off x="6311529" y="2772004"/>
            <a:ext cx="203439" cy="117609"/>
          </a:xfrm>
          <a:custGeom>
            <a:avLst/>
            <a:gdLst/>
            <a:ahLst/>
            <a:cxnLst/>
            <a:rect l="l" t="t" r="r" b="b"/>
            <a:pathLst>
              <a:path w="821975" h="235218" extrusionOk="0">
                <a:moveTo>
                  <a:pt x="0" y="0"/>
                </a:moveTo>
                <a:lnTo>
                  <a:pt x="821975" y="14313"/>
                </a:lnTo>
                <a:lnTo>
                  <a:pt x="816501" y="235218"/>
                </a:lnTo>
              </a:path>
            </a:pathLst>
          </a:custGeom>
          <a:noFill/>
          <a:ln w="25400" cap="flat" cmpd="sng">
            <a:solidFill>
              <a:srgbClr val="0000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4"/>
          <p:cNvSpPr/>
          <p:nvPr/>
        </p:nvSpPr>
        <p:spPr>
          <a:xfrm>
            <a:off x="3846655" y="2525045"/>
            <a:ext cx="175933" cy="252178"/>
          </a:xfrm>
          <a:custGeom>
            <a:avLst/>
            <a:gdLst/>
            <a:ahLst/>
            <a:cxnLst/>
            <a:rect l="l" t="t" r="r" b="b"/>
            <a:pathLst>
              <a:path w="175933" h="336237" extrusionOk="0">
                <a:moveTo>
                  <a:pt x="158496" y="334520"/>
                </a:moveTo>
                <a:lnTo>
                  <a:pt x="0" y="336237"/>
                </a:lnTo>
                <a:cubicBezTo>
                  <a:pt x="1160" y="226478"/>
                  <a:pt x="2319" y="109759"/>
                  <a:pt x="3479" y="0"/>
                </a:cubicBezTo>
                <a:lnTo>
                  <a:pt x="175933" y="0"/>
                </a:lnTo>
              </a:path>
            </a:pathLst>
          </a:custGeom>
          <a:noFill/>
          <a:ln w="25400" cap="flat" cmpd="sng">
            <a:solidFill>
              <a:srgbClr val="0000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4"/>
          <p:cNvSpPr txBox="1"/>
          <p:nvPr/>
        </p:nvSpPr>
        <p:spPr>
          <a:xfrm>
            <a:off x="4094775" y="2662850"/>
            <a:ext cx="20838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handleMessage(m)</a:t>
            </a:r>
            <a:endParaRPr/>
          </a:p>
        </p:txBody>
      </p:sp>
      <p:sp>
        <p:nvSpPr>
          <p:cNvPr id="381" name="Google Shape;381;p44"/>
          <p:cNvSpPr txBox="1"/>
          <p:nvPr/>
        </p:nvSpPr>
        <p:spPr>
          <a:xfrm>
            <a:off x="7241604" y="1836838"/>
            <a:ext cx="9525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loop()</a:t>
            </a:r>
            <a:endParaRPr/>
          </a:p>
        </p:txBody>
      </p:sp>
      <p:sp>
        <p:nvSpPr>
          <p:cNvPr id="382" name="Google Shape;382;p44"/>
          <p:cNvSpPr/>
          <p:nvPr/>
        </p:nvSpPr>
        <p:spPr>
          <a:xfrm rot="5400000" flipH="1">
            <a:off x="3695486" y="2226661"/>
            <a:ext cx="307200" cy="3576600"/>
          </a:xfrm>
          <a:prstGeom prst="rightBrace">
            <a:avLst>
              <a:gd name="adj1" fmla="val 41472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44"/>
          <p:cNvCxnSpPr>
            <a:stCxn id="384" idx="1"/>
            <a:endCxn id="366" idx="0"/>
          </p:cNvCxnSpPr>
          <p:nvPr/>
        </p:nvCxnSpPr>
        <p:spPr>
          <a:xfrm rot="5400000">
            <a:off x="2213868" y="3604250"/>
            <a:ext cx="948600" cy="219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008000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384" name="Google Shape;384;p44"/>
          <p:cNvSpPr/>
          <p:nvPr/>
        </p:nvSpPr>
        <p:spPr>
          <a:xfrm rot="-5400000">
            <a:off x="2754018" y="3069650"/>
            <a:ext cx="87900" cy="252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4354218" y="3450650"/>
            <a:ext cx="87900" cy="2523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44"/>
          <p:cNvCxnSpPr>
            <a:stCxn id="385" idx="1"/>
            <a:endCxn id="363" idx="0"/>
          </p:cNvCxnSpPr>
          <p:nvPr/>
        </p:nvCxnSpPr>
        <p:spPr>
          <a:xfrm>
            <a:off x="4354218" y="3576800"/>
            <a:ext cx="612000" cy="599700"/>
          </a:xfrm>
          <a:prstGeom prst="bentConnector4">
            <a:avLst>
              <a:gd name="adj1" fmla="val -38909"/>
              <a:gd name="adj2" fmla="val 60526"/>
            </a:avLst>
          </a:prstGeom>
          <a:noFill/>
          <a:ln w="25400" cap="flat" cmpd="sng">
            <a:solidFill>
              <a:srgbClr val="0000FF"/>
            </a:solidFill>
            <a:prstDash val="dash"/>
            <a:round/>
            <a:headEnd type="stealth" w="sm" len="sm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35</a:t>
            </a:fld>
            <a:endParaRPr/>
          </a:p>
        </p:txBody>
      </p:sp>
      <p:sp>
        <p:nvSpPr>
          <p:cNvPr id="392" name="Google Shape;39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typical problems</a:t>
            </a:r>
            <a:endParaRPr/>
          </a:p>
        </p:txBody>
      </p:sp>
      <p:sp>
        <p:nvSpPr>
          <p:cNvPr id="393" name="Google Shape;393;p4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Only the main thread can access objects of the graphical interface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a secondary thread tries to operate on them, the application is terminated with an exception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mechanism that allows the secondary thread to notify its results to the main thread is required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main thread will then show them</a:t>
            </a:r>
            <a:endParaRPr/>
          </a:p>
        </p:txBody>
      </p:sp>
      <p:sp>
        <p:nvSpPr>
          <p:cNvPr id="394" name="Google Shape;394;p45"/>
          <p:cNvSpPr txBox="1"/>
          <p:nvPr/>
        </p:nvSpPr>
        <p:spPr>
          <a:xfrm>
            <a:off x="742950" y="3486453"/>
            <a:ext cx="7658100" cy="692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FATAL EXCEPTION: Thread-8 E/AndroidRuntime(374): </a:t>
            </a:r>
            <a:b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android.view.ViewRoot$CalledFromWrongThreadException: </a:t>
            </a:r>
            <a:b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Only the original thread that created a view hierarchy can touch its views.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36</a:t>
            </a:fld>
            <a:endParaRPr/>
          </a:p>
        </p:txBody>
      </p:sp>
      <p:sp>
        <p:nvSpPr>
          <p:cNvPr id="400" name="Google Shape;40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typical problems</a:t>
            </a:r>
            <a:endParaRPr/>
          </a:p>
        </p:txBody>
      </p:sp>
      <p:sp>
        <p:nvSpPr>
          <p:cNvPr id="401" name="Google Shape;401;p4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Storing a value in an activity attribute is not usually a good solution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main thread would not notice this change and, unless an external event that causes the redesign of the interface occurs, the view would remain unchanged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necessary that a new event is inserted in the message queue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main thread will process it, it will understand that the secondary thread has finished and what are its results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37</a:t>
            </a:fld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Sending messages to the main thread</a:t>
            </a:r>
            <a:endParaRPr/>
          </a:p>
        </p:txBody>
      </p:sp>
      <p:sp>
        <p:nvSpPr>
          <p:cNvPr id="408" name="Google Shape;408;p4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provides five different alternatives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with its own strengths and weaknesses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activity.runOnUiThread(r: Runnable)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this method is executed, if the current thread is not the main one, a new message that encapsulates the runnable is inserted into the queue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message will be processed, the main thread will executed it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requires the secondary thread to hold a reference to the current activity (which could be a problem, should it finish…)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38</a:t>
            </a:fld>
            <a:endParaRPr/>
          </a:p>
        </p:txBody>
      </p:sp>
      <p:sp>
        <p:nvSpPr>
          <p:cNvPr id="414" name="Google Shape;41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Sending messages to the main thread</a:t>
            </a:r>
            <a:endParaRPr/>
          </a:p>
        </p:txBody>
      </p:sp>
      <p:sp>
        <p:nvSpPr>
          <p:cNvPr id="415" name="Google Shape;415;p4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view.postRunnable(r: Runnable)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Inserts the Runnable object in the message queue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can be called from any thread as long as the view is displayed inside a window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view.postDelayed(r: Runnable, l: Long)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Similarly to the previous case, it inserts the object into the queue, but it will not be processed before an interval equal to the given number of milliseconds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this case, too, the view must be connected to a window and be visible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39</a:t>
            </a:fld>
            <a:endParaRPr/>
          </a:p>
        </p:txBody>
      </p:sp>
      <p:sp>
        <p:nvSpPr>
          <p:cNvPr id="421" name="Google Shape;42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Sending messages to the main thread</a:t>
            </a:r>
            <a:endParaRPr/>
          </a:p>
        </p:txBody>
      </p:sp>
      <p:sp>
        <p:nvSpPr>
          <p:cNvPr id="422" name="Google Shape;422;p4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 instances of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</a:t>
            </a:r>
            <a:r>
              <a:rPr lang="it"/>
              <a:t> class, created in the main thread, and queue messages via one of the following methods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sendMessage(…)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sendMessageDelayed(…)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sendMessageAtTime(…)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sendMessageAtFrontOfQueue(…)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Or request the execution of a runnable, via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postDelayed(…)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postAtTime(…)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postAtFrontOfQueue(…)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40</a:t>
            </a:fld>
            <a:endParaRPr/>
          </a:p>
        </p:txBody>
      </p:sp>
      <p:sp>
        <p:nvSpPr>
          <p:cNvPr id="428" name="Google Shape;42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android.os.HandlerThread</a:t>
            </a:r>
            <a:endParaRPr/>
          </a:p>
        </p:txBody>
      </p:sp>
      <p:sp>
        <p:nvSpPr>
          <p:cNvPr id="429" name="Google Shape;429;p5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Helper class that builds a secondary thread that incorporates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Looper</a:t>
            </a:r>
            <a:r>
              <a:rPr lang="it"/>
              <a:t> and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MessageQueue</a:t>
            </a:r>
            <a:r>
              <a:rPr lang="it"/>
              <a:t> 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739208" y="2387448"/>
            <a:ext cx="7665600" cy="19392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ht= HandlerThread("HT"); </a:t>
            </a:r>
            <a:b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ht.start();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handler = Handler(ht.looper) 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 (it.msg)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   // Process messages here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41</a:t>
            </a:fld>
            <a:endParaRPr/>
          </a:p>
        </p:txBody>
      </p:sp>
      <p:sp>
        <p:nvSpPr>
          <p:cNvPr id="436" name="Google Shape;43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Incorporating an handler thread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Handler threads can safely be incorporated into standard components, binding their lifecycle to the component one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HandlerThread</a:t>
            </a:r>
            <a:r>
              <a:rPr lang="it"/>
              <a:t> is created in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it"/>
              <a:t> method and quitted in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onDestroy()</a:t>
            </a:r>
            <a:r>
              <a:rPr lang="it"/>
              <a:t> one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By subclassing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HandlerThread</a:t>
            </a:r>
            <a:r>
              <a:rPr lang="it"/>
              <a:t>, it possible to expose convenience methods to simplify custom operations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While guaranteeing ordered execution of requested messages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HandlerThread subclassing</a:t>
            </a:r>
            <a:endParaRPr/>
          </a:p>
        </p:txBody>
      </p:sp>
      <p:sp>
        <p:nvSpPr>
          <p:cNvPr id="443" name="Google Shape;443;p5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42</a:t>
            </a:fld>
            <a:endParaRPr/>
          </a:p>
        </p:txBody>
      </p:sp>
      <p:sp>
        <p:nvSpPr>
          <p:cNvPr id="444" name="Google Shape;444;p52"/>
          <p:cNvSpPr txBox="1"/>
          <p:nvPr/>
        </p:nvSpPr>
        <p:spPr>
          <a:xfrm>
            <a:off x="822325" y="1195859"/>
            <a:ext cx="7499400" cy="3206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MyHandlerThread(name:String): HandlerThread(name)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val cdl = CountDownLatch(1)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handler : MyHandler by lazy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cdl.await()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MyHandler(looper)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override fun onLooperPrepared()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cdl.countDown()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43</a:t>
            </a:fld>
            <a:endParaRPr/>
          </a:p>
        </p:txBody>
      </p:sp>
      <p:sp>
        <p:nvSpPr>
          <p:cNvPr id="450" name="Google Shape;450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more…</a:t>
            </a:r>
            <a:endParaRPr/>
          </a:p>
        </p:txBody>
      </p:sp>
      <p:sp>
        <p:nvSpPr>
          <p:cNvPr id="451" name="Google Shape;451;p5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indent="-269875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dirty="0"/>
              <a:t>A Comprehensive Guide to Android Multithreading: Unveiling the Power of Parallelism</a:t>
            </a:r>
          </a:p>
          <a:p>
            <a:pPr marL="541337" lvl="1" indent="-212725"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hlinkClick r:id="rId3"/>
              </a:rPr>
              <a:t>https://medium.com/@aaarke/a-comprehensive-guide-to-android-multithreading-unveiling-the-power-of-parallelism-eb42b86361e3</a:t>
            </a:r>
            <a:r>
              <a:rPr lang="en-GB" dirty="0"/>
              <a:t> </a:t>
            </a:r>
            <a:endParaRPr lang="it" sz="1400" dirty="0">
              <a:solidFill>
                <a:schemeClr val="dk2"/>
              </a:solidFill>
            </a:endParaRPr>
          </a:p>
          <a:p>
            <a:pPr marL="269875" indent="-269875" fontAlgn="base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GB" dirty="0"/>
              <a:t>Debugging of multithreading application</a:t>
            </a:r>
          </a:p>
          <a:p>
            <a:pPr marL="541337" lvl="1" indent="-212725"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https://hyperskill.org/learn/step/38850</a:t>
            </a:r>
            <a:r>
              <a:rPr lang="en-GB" dirty="0"/>
              <a:t> </a:t>
            </a:r>
            <a:endParaRPr lang="it" dirty="0"/>
          </a:p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dirty="0"/>
              <a:t>Programming Android with Kotlin:  </a:t>
            </a:r>
            <a:r>
              <a:rPr lang="it" sz="1900" dirty="0"/>
              <a:t>achieving structured concurrency with coroutines</a:t>
            </a:r>
            <a:endParaRPr sz="1900" dirty="0"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O'Reilly, 2022 - ISBN: 9781492063001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52" name="Google Shape;452;p53"/>
          <p:cNvPicPr preferRelativeResize="0"/>
          <p:nvPr/>
        </p:nvPicPr>
        <p:blipFill rotWithShape="1">
          <a:blip r:embed="rId5">
            <a:alphaModFix/>
          </a:blip>
          <a:srcRect l="17234" t="18799" r="17234" b="18805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3062</Words>
  <Application>Microsoft Macintosh PowerPoint</Application>
  <PresentationFormat>On-screen Show (16:9)</PresentationFormat>
  <Paragraphs>397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Courier New</vt:lpstr>
      <vt:lpstr>Noto Sans Symbols</vt:lpstr>
      <vt:lpstr>Polito</vt:lpstr>
      <vt:lpstr>Android threading</vt:lpstr>
      <vt:lpstr>Managing concurrency</vt:lpstr>
      <vt:lpstr>Threads in Kotlin</vt:lpstr>
      <vt:lpstr>Threads in Kotlin</vt:lpstr>
      <vt:lpstr>Multi-threading in Android</vt:lpstr>
      <vt:lpstr>Multithreading in Android</vt:lpstr>
      <vt:lpstr>JVM-level threads</vt:lpstr>
      <vt:lpstr>Android system threads</vt:lpstr>
      <vt:lpstr>The Android main thread</vt:lpstr>
      <vt:lpstr>The Android main thread</vt:lpstr>
      <vt:lpstr>The Android main thread</vt:lpstr>
      <vt:lpstr>Programming abstractions</vt:lpstr>
      <vt:lpstr>Creating threads</vt:lpstr>
      <vt:lpstr>Creating threads</vt:lpstr>
      <vt:lpstr>The Kotlin thread(…) function</vt:lpstr>
      <vt:lpstr>Accessing shared state</vt:lpstr>
      <vt:lpstr>Accessing shared state</vt:lpstr>
      <vt:lpstr>Problems related to threads</vt:lpstr>
      <vt:lpstr>Problems related to threads</vt:lpstr>
      <vt:lpstr>Problems related to threads</vt:lpstr>
      <vt:lpstr>Problems related to threads</vt:lpstr>
      <vt:lpstr>Dealing with asynchronous tasks in Android</vt:lpstr>
      <vt:lpstr>Android threading extensions</vt:lpstr>
      <vt:lpstr>The low-level Looper API</vt:lpstr>
      <vt:lpstr>android.os.Looper</vt:lpstr>
      <vt:lpstr>android.os.Looper</vt:lpstr>
      <vt:lpstr>android.as.Looper</vt:lpstr>
      <vt:lpstr>android.os.MessageQueue</vt:lpstr>
      <vt:lpstr>android.os.Handler</vt:lpstr>
      <vt:lpstr>android.os.Handler (2)</vt:lpstr>
      <vt:lpstr>android.os.Handler</vt:lpstr>
      <vt:lpstr>android.os.Message</vt:lpstr>
      <vt:lpstr>The producer/consumer pattern</vt:lpstr>
      <vt:lpstr>The producer/consumer pattern</vt:lpstr>
      <vt:lpstr>Managing typical problems</vt:lpstr>
      <vt:lpstr>Managing typical problems</vt:lpstr>
      <vt:lpstr>Sending messages to the main thread</vt:lpstr>
      <vt:lpstr>Sending messages to the main thread</vt:lpstr>
      <vt:lpstr>Sending messages to the main thread</vt:lpstr>
      <vt:lpstr>android.os.HandlerThread</vt:lpstr>
      <vt:lpstr>Incorporating an handler thread</vt:lpstr>
      <vt:lpstr>HandlerThread subclassing</vt:lpstr>
      <vt:lpstr>Learning more…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threading</dc:title>
  <cp:lastModifiedBy>Giovanni Malnati</cp:lastModifiedBy>
  <cp:revision>1</cp:revision>
  <dcterms:modified xsi:type="dcterms:W3CDTF">2024-03-01T16:12:18Z</dcterms:modified>
</cp:coreProperties>
</file>