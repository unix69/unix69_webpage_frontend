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55"/>
  </p:notesMasterIdLst>
  <p:handoutMasterIdLst>
    <p:handoutMasterId r:id="rId56"/>
  </p:handoutMasterIdLst>
  <p:sldIdLst>
    <p:sldId id="415" r:id="rId2"/>
    <p:sldId id="411" r:id="rId3"/>
    <p:sldId id="302" r:id="rId4"/>
    <p:sldId id="368" r:id="rId5"/>
    <p:sldId id="369" r:id="rId6"/>
    <p:sldId id="370" r:id="rId7"/>
    <p:sldId id="312" r:id="rId8"/>
    <p:sldId id="365" r:id="rId9"/>
    <p:sldId id="366" r:id="rId10"/>
    <p:sldId id="354" r:id="rId11"/>
    <p:sldId id="355" r:id="rId12"/>
    <p:sldId id="379" r:id="rId13"/>
    <p:sldId id="332" r:id="rId14"/>
    <p:sldId id="376" r:id="rId15"/>
    <p:sldId id="306" r:id="rId16"/>
    <p:sldId id="377" r:id="rId17"/>
    <p:sldId id="378" r:id="rId18"/>
    <p:sldId id="380" r:id="rId19"/>
    <p:sldId id="381" r:id="rId20"/>
    <p:sldId id="382" r:id="rId21"/>
    <p:sldId id="335" r:id="rId22"/>
    <p:sldId id="336" r:id="rId23"/>
    <p:sldId id="337" r:id="rId24"/>
    <p:sldId id="395" r:id="rId25"/>
    <p:sldId id="394" r:id="rId26"/>
    <p:sldId id="396" r:id="rId27"/>
    <p:sldId id="397" r:id="rId28"/>
    <p:sldId id="402" r:id="rId29"/>
    <p:sldId id="324" r:id="rId30"/>
    <p:sldId id="418" r:id="rId31"/>
    <p:sldId id="398" r:id="rId32"/>
    <p:sldId id="399" r:id="rId33"/>
    <p:sldId id="400" r:id="rId34"/>
    <p:sldId id="416" r:id="rId35"/>
    <p:sldId id="328" r:id="rId36"/>
    <p:sldId id="383" r:id="rId37"/>
    <p:sldId id="384" r:id="rId38"/>
    <p:sldId id="385" r:id="rId39"/>
    <p:sldId id="386" r:id="rId40"/>
    <p:sldId id="389" r:id="rId41"/>
    <p:sldId id="388" r:id="rId42"/>
    <p:sldId id="390" r:id="rId43"/>
    <p:sldId id="391" r:id="rId44"/>
    <p:sldId id="392" r:id="rId45"/>
    <p:sldId id="393" r:id="rId46"/>
    <p:sldId id="417" r:id="rId47"/>
    <p:sldId id="403" r:id="rId48"/>
    <p:sldId id="404" r:id="rId49"/>
    <p:sldId id="405" r:id="rId50"/>
    <p:sldId id="406" r:id="rId51"/>
    <p:sldId id="412" r:id="rId52"/>
    <p:sldId id="413" r:id="rId53"/>
    <p:sldId id="414" r:id="rId54"/>
  </p:sldIdLst>
  <p:sldSz cx="9144000" cy="6858000" type="screen4x3"/>
  <p:notesSz cx="7315200" cy="9601200"/>
  <p:defaultTextStyle>
    <a:defPPr>
      <a:defRPr lang="it-IT"/>
    </a:defPPr>
    <a:lvl1pPr algn="l" rtl="0" fontAlgn="base">
      <a:spcBef>
        <a:spcPct val="20000"/>
      </a:spcBef>
      <a:spcAft>
        <a:spcPct val="0"/>
      </a:spcAft>
      <a:buSzPct val="75000"/>
      <a:buFont typeface="Symbol" charset="0"/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1pPr>
    <a:lvl2pPr marL="457200" algn="l" rtl="0" fontAlgn="base">
      <a:spcBef>
        <a:spcPct val="20000"/>
      </a:spcBef>
      <a:spcAft>
        <a:spcPct val="0"/>
      </a:spcAft>
      <a:buSzPct val="75000"/>
      <a:buFont typeface="Symbol" charset="0"/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2pPr>
    <a:lvl3pPr marL="914400" algn="l" rtl="0" fontAlgn="base">
      <a:spcBef>
        <a:spcPct val="20000"/>
      </a:spcBef>
      <a:spcAft>
        <a:spcPct val="0"/>
      </a:spcAft>
      <a:buSzPct val="75000"/>
      <a:buFont typeface="Symbol" charset="0"/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3pPr>
    <a:lvl4pPr marL="1371600" algn="l" rtl="0" fontAlgn="base">
      <a:spcBef>
        <a:spcPct val="20000"/>
      </a:spcBef>
      <a:spcAft>
        <a:spcPct val="0"/>
      </a:spcAft>
      <a:buSzPct val="75000"/>
      <a:buFont typeface="Symbol" charset="0"/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4pPr>
    <a:lvl5pPr marL="1828800" algn="l" rtl="0" fontAlgn="base">
      <a:spcBef>
        <a:spcPct val="20000"/>
      </a:spcBef>
      <a:spcAft>
        <a:spcPct val="0"/>
      </a:spcAft>
      <a:buSzPct val="75000"/>
      <a:buFont typeface="Symbol" charset="0"/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Lucida Sans Unicode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6600"/>
    <a:srgbClr val="FF9933"/>
    <a:srgbClr val="FF0000"/>
    <a:srgbClr val="EFFFFF"/>
    <a:srgbClr val="CCFFFF"/>
    <a:srgbClr val="3333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-1168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32"/>
    </p:cViewPr>
  </p:sorterViewPr>
  <p:notesViewPr>
    <p:cSldViewPr snapToGrid="0">
      <p:cViewPr varScale="1">
        <p:scale>
          <a:sx n="54" d="100"/>
          <a:sy n="54" d="100"/>
        </p:scale>
        <p:origin x="-1740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printerSettings" Target="printerSettings/printerSettings1.bin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469063" y="9150350"/>
            <a:ext cx="4302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443" tIns="44517" rIns="87443" bIns="44517">
            <a:spAutoFit/>
          </a:bodyPr>
          <a:lstStyle/>
          <a:p>
            <a:pPr algn="ctr" defTabSz="869950" eaLnBrk="0" hangingPunct="0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it-IT" sz="1200">
                <a:latin typeface="Arial" charset="0"/>
              </a:rPr>
              <a:t> </a:t>
            </a:r>
            <a:fld id="{5555EB3C-9C82-7A4B-BB02-5D461E03C711}" type="slidenum">
              <a:rPr lang="it-IT" sz="1200">
                <a:latin typeface="Arial" charset="0"/>
              </a:rPr>
              <a:pPr algn="ctr" defTabSz="869950" eaLnBrk="0" hangingPunct="0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it-IT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3962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3168650" y="9124950"/>
            <a:ext cx="86042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443" tIns="44517" rIns="87443" bIns="44517">
            <a:spAutoFit/>
          </a:bodyPr>
          <a:lstStyle/>
          <a:p>
            <a:pPr algn="ctr" defTabSz="869950" eaLnBrk="0" hangingPunct="0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it-IT" sz="1200">
                <a:latin typeface="Arial" charset="0"/>
              </a:rPr>
              <a:t>Pag. </a:t>
            </a:r>
            <a:fld id="{C4D3D7EB-B6FD-884A-8F58-5986646D1BEB}" type="slidenum">
              <a:rPr lang="it-IT" sz="1200">
                <a:latin typeface="Arial" charset="0"/>
              </a:rPr>
              <a:pPr algn="ctr" defTabSz="869950" eaLnBrk="0" hangingPunct="0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it-IT" sz="1200">
              <a:latin typeface="Arial" charset="0"/>
            </a:endParaRPr>
          </a:p>
        </p:txBody>
      </p:sp>
      <p:sp>
        <p:nvSpPr>
          <p:cNvPr id="143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5575" y="846138"/>
            <a:ext cx="4464050" cy="33480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4063"/>
            <a:ext cx="5365750" cy="404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24" tIns="44517" rIns="90624" bIns="445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Corpo testo</a:t>
            </a:r>
          </a:p>
          <a:p>
            <a:pPr lvl="0"/>
            <a:r>
              <a:rPr lang="it-IT" noProof="0"/>
              <a:t>Secondo livello</a:t>
            </a:r>
          </a:p>
          <a:p>
            <a:pPr lvl="0"/>
            <a:r>
              <a:rPr lang="it-IT" noProof="0"/>
              <a:t>Terzo livello</a:t>
            </a:r>
          </a:p>
          <a:p>
            <a:pPr lvl="0"/>
            <a:r>
              <a:rPr lang="it-IT" noProof="0"/>
              <a:t>Quarto livello</a:t>
            </a:r>
          </a:p>
          <a:p>
            <a:pPr lvl="0"/>
            <a:r>
              <a:rPr lang="it-IT" noProof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07309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84" charset="-128"/>
        <a:cs typeface="ＭＳ Ｐゴシック" pitchFamily="-84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5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29699" name="Rectangle 1026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1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0" tIns="45710" rIns="91420" bIns="45710"/>
          <a:lstStyle>
            <a:lvl1pPr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7020F7A-D1D9-6744-B3BA-694639E1A141}" type="slidenum">
              <a:rPr lang="en-GB" sz="1200">
                <a:solidFill>
                  <a:srgbClr val="000000"/>
                </a:solidFill>
              </a:rPr>
              <a:pPr/>
              <a:t>2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982663" y="720725"/>
            <a:ext cx="5349875" cy="3602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20" tIns="45710" rIns="91420" bIns="45710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en-US" sz="2500"/>
          </a:p>
        </p:txBody>
      </p:sp>
      <p:sp>
        <p:nvSpPr>
          <p:cNvPr id="273412" name="Text Box 2"/>
          <p:cNvSpPr>
            <a:spLocks noGrp="1" noChangeArrowheads="1"/>
          </p:cNvSpPr>
          <p:nvPr>
            <p:ph type="body"/>
          </p:nvPr>
        </p:nvSpPr>
        <p:spPr>
          <a:xfrm>
            <a:off x="731838" y="4562475"/>
            <a:ext cx="5845175" cy="4406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C3DC47FF-B245-BC44-8A17-62AE98E8C141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28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92163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9216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49937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87E58728-A5FB-0D4B-860C-6636FA35999D}" type="slidenum">
              <a:rPr lang="en-US"/>
              <a:pPr eaLnBrk="1" hangingPunct="1"/>
              <a:t>32</a:t>
            </a:fld>
            <a:endParaRPr lang="en-US"/>
          </a:p>
        </p:txBody>
      </p:sp>
      <p:sp>
        <p:nvSpPr>
          <p:cNvPr id="100355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solidFill>
            <a:srgbClr val="FFFFFF"/>
          </a:solidFill>
          <a:ln/>
        </p:spPr>
      </p:sp>
      <p:sp>
        <p:nvSpPr>
          <p:cNvPr id="10035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49937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73C526B3-CA00-3047-A082-7045A72627AF}" type="slidenum">
              <a:rPr lang="en-US"/>
              <a:pPr eaLnBrk="1" hangingPunct="1"/>
              <a:t>33</a:t>
            </a:fld>
            <a:endParaRPr lang="en-US"/>
          </a:p>
        </p:txBody>
      </p:sp>
      <p:sp>
        <p:nvSpPr>
          <p:cNvPr id="102403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solidFill>
            <a:srgbClr val="FFFFFF"/>
          </a:solidFill>
          <a:ln/>
        </p:spPr>
      </p:sp>
      <p:sp>
        <p:nvSpPr>
          <p:cNvPr id="10240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49937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4987A1FA-948A-9344-AB66-491ED986287D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47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4451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0445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49937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FA265159-D52B-ED45-8311-ADCA2D126516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48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649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0650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49937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52AB7E73-AF03-E042-89E0-F5B996AC8A17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49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854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0854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49937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6C82C0C6-9976-A94F-8D40-FB06B7173A3C}" type="slidenum">
              <a:rPr lang="en-US" sz="1200">
                <a:solidFill>
                  <a:srgbClr val="000000"/>
                </a:solidFill>
                <a:latin typeface="Times New Roman" charset="0"/>
              </a:rPr>
              <a:pPr eaLnBrk="1" hangingPunct="1"/>
              <a:t>50</a:t>
            </a:fld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10595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1059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49937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5715000"/>
            <a:ext cx="86995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group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868988"/>
            <a:ext cx="27432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685800" y="3429000"/>
            <a:ext cx="77724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667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657600"/>
            <a:ext cx="6400800" cy="1981200"/>
          </a:xfrm>
        </p:spPr>
        <p:txBody>
          <a:bodyPr/>
          <a:lstStyle>
            <a:lvl1pPr marL="0" indent="0" algn="r">
              <a:buFont typeface="Wingdings" pitchFamily="-110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3119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C8513-4DFC-A04A-AD6A-395CA0F385DF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251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5000C-4947-CD4D-9EFC-B4BCB5E4306E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813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40005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295400"/>
            <a:ext cx="40005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227CA-DB33-A348-B09A-08F8D14CD9C1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501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7D6C5-3EA5-874B-B267-720AD59C484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731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D072AD-93D8-274A-B55A-969B998310C1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509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5C573-D26E-2543-AB3B-28669E11D1AB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974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3746E-B20B-9E4D-BFF0-C7DC4331E0D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612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23676-C26A-744C-BAC2-46D6AF519CF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696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20D37-544D-0448-B031-9F1A636F6C7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8373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0"/>
            <a:ext cx="2152650" cy="6019800"/>
          </a:xfrm>
        </p:spPr>
        <p:txBody>
          <a:bodyPr vert="eaVert"/>
          <a:lstStyle/>
          <a:p>
            <a:r>
              <a:rPr lang="it-IT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0"/>
            <a:ext cx="6305550" cy="6019800"/>
          </a:xfrm>
        </p:spPr>
        <p:txBody>
          <a:bodyPr vert="eaVert"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1B6FE-50B8-694B-B80B-FD88C357FF8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7194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764463" cy="28876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idx="10"/>
          </p:nvPr>
        </p:nvSpPr>
        <p:spPr>
          <a:xfrm>
            <a:off x="685800" y="6248400"/>
            <a:ext cx="1897063" cy="4492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864C-3A55-3E4D-BE8E-B116F3059F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54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0"/>
            <a:ext cx="861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8153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34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30975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SzTx/>
              <a:buFontTx/>
              <a:buNone/>
              <a:defRPr sz="1200">
                <a:latin typeface="Lucida Sans Unicode" pitchFamily="-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4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30975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pPr>
              <a:defRPr/>
            </a:pPr>
            <a:fld id="{EEF178C4-318B-A940-AC85-E512B7C9D9E1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 flipH="1">
            <a:off x="304800" y="990600"/>
            <a:ext cx="88392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 flipH="1">
            <a:off x="685800" y="6477000"/>
            <a:ext cx="84582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3" name="Picture 9" descr="group_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505826"/>
            <a:ext cx="18288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ＭＳ Ｐゴシック" pitchFamily="-84" charset="-128"/>
          <a:cs typeface="ＭＳ Ｐゴシック" pitchFamily="-8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 Unicode" pitchFamily="-110" charset="-52"/>
          <a:ea typeface="ＭＳ Ｐゴシック" pitchFamily="-84" charset="-128"/>
          <a:cs typeface="ＭＳ Ｐゴシック" pitchFamily="-8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 Unicode" pitchFamily="-110" charset="-52"/>
          <a:ea typeface="ＭＳ Ｐゴシック" pitchFamily="-84" charset="-128"/>
          <a:cs typeface="ＭＳ Ｐゴシック" pitchFamily="-8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 Unicode" pitchFamily="-110" charset="-52"/>
          <a:ea typeface="ＭＳ Ｐゴシック" pitchFamily="-84" charset="-128"/>
          <a:cs typeface="ＭＳ Ｐゴシック" pitchFamily="-8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Lucida Sans Unicode" pitchFamily="-110" charset="-52"/>
          <a:ea typeface="ＭＳ Ｐゴシック" pitchFamily="-84" charset="-128"/>
          <a:cs typeface="ＭＳ Ｐゴシック" pitchFamily="-8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-110" charset="-5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-110" charset="-5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-110" charset="-5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-110" charset="-5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0"/>
        <a:buChar char="§"/>
        <a:defRPr sz="3200">
          <a:solidFill>
            <a:schemeClr val="tx1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Font typeface="Symbol" charset="0"/>
        <a:buChar char="¨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Symbol" charset="0"/>
        <a:buChar char="-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Symbol" charset="0"/>
        <a:buChar char="-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Symbol" charset="0"/>
        <a:buChar char="-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Symbol" pitchFamily="-110" charset="2"/>
        <a:buChar char="-"/>
        <a:defRPr sz="2000">
          <a:solidFill>
            <a:schemeClr val="tx1"/>
          </a:solidFill>
          <a:latin typeface="+mn-lt"/>
          <a:ea typeface="ＭＳ Ｐゴシック" pitchFamily="-110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Symbol" pitchFamily="-110" charset="2"/>
        <a:buChar char="-"/>
        <a:defRPr sz="2000">
          <a:solidFill>
            <a:schemeClr val="tx1"/>
          </a:solidFill>
          <a:latin typeface="+mn-lt"/>
          <a:ea typeface="ＭＳ Ｐゴシック" pitchFamily="-110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Symbol" pitchFamily="-110" charset="2"/>
        <a:buChar char="-"/>
        <a:defRPr sz="2000">
          <a:solidFill>
            <a:schemeClr val="tx1"/>
          </a:solidFill>
          <a:latin typeface="+mn-lt"/>
          <a:ea typeface="ＭＳ Ｐゴシック" pitchFamily="-110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Symbol" pitchFamily="-110" charset="2"/>
        <a:buChar char="-"/>
        <a:defRPr sz="200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hyperlink" Target="http://softeng.polito.it/courses/09CBI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nd/4.0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85800" y="2583359"/>
            <a:ext cx="7772400" cy="769441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Java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Exceptions</a:t>
            </a:r>
            <a:endParaRPr lang="en-GB" b="1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it-IT" dirty="0">
                <a:latin typeface="Lucida Sans Unicode" charset="0"/>
              </a:rPr>
              <a:t>Object </a:t>
            </a:r>
            <a:r>
              <a:rPr lang="it-IT" dirty="0" err="1">
                <a:latin typeface="Lucida Sans Unicode" charset="0"/>
              </a:rPr>
              <a:t>Oriented</a:t>
            </a:r>
            <a:r>
              <a:rPr lang="it-IT" dirty="0">
                <a:latin typeface="Lucida Sans Unicode" charset="0"/>
              </a:rPr>
              <a:t> Programming</a:t>
            </a:r>
          </a:p>
          <a:p>
            <a:pPr eaLnBrk="1" hangingPunct="1"/>
            <a:endParaRPr lang="it-IT" dirty="0">
              <a:latin typeface="Lucida Sans Unicode" charset="0"/>
            </a:endParaRPr>
          </a:p>
          <a:p>
            <a:pPr eaLnBrk="1" hangingPunct="1"/>
            <a:r>
              <a:rPr lang="it-IT" sz="2000" b="1" dirty="0">
                <a:latin typeface="Courier New"/>
                <a:cs typeface="Courier New"/>
              </a:rPr>
              <a:t>http://</a:t>
            </a:r>
            <a:r>
              <a:rPr lang="it-IT" sz="2000" b="1" dirty="0" err="1">
                <a:latin typeface="Courier New"/>
                <a:cs typeface="Courier New"/>
              </a:rPr>
              <a:t>softeng.polito.it</a:t>
            </a:r>
            <a:r>
              <a:rPr lang="it-IT" sz="2000" b="1" dirty="0">
                <a:latin typeface="Courier New"/>
                <a:cs typeface="Courier New"/>
              </a:rPr>
              <a:t>/</a:t>
            </a:r>
            <a:r>
              <a:rPr lang="it-IT" sz="2000" b="1" dirty="0" err="1">
                <a:latin typeface="Courier New"/>
                <a:cs typeface="Courier New"/>
              </a:rPr>
              <a:t>courses</a:t>
            </a:r>
            <a:r>
              <a:rPr lang="it-IT" sz="2000" b="1" dirty="0">
                <a:latin typeface="Courier New"/>
                <a:cs typeface="Courier New"/>
              </a:rPr>
              <a:t>/</a:t>
            </a:r>
            <a:r>
              <a:rPr lang="it-IT" sz="2000" b="1" dirty="0" smtClean="0">
                <a:latin typeface="Courier New"/>
                <a:cs typeface="Courier New"/>
              </a:rPr>
              <a:t>09CBI  </a:t>
            </a:r>
            <a:endParaRPr lang="it-IT" sz="2000" b="1" dirty="0">
              <a:latin typeface="Courier New"/>
              <a:cs typeface="Courier New"/>
            </a:endParaRPr>
          </a:p>
          <a:p>
            <a:pPr eaLnBrk="1" hangingPunct="1"/>
            <a:endParaRPr lang="it-IT" sz="2000" dirty="0">
              <a:latin typeface="Lucida Sans Unicode" charset="0"/>
              <a:cs typeface="Lucida Sans Unicode" charset="0"/>
            </a:endParaRPr>
          </a:p>
          <a:p>
            <a:endParaRPr lang="en-US" sz="2000" dirty="0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6495485" y="5765749"/>
            <a:ext cx="1957033" cy="255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7000"/>
              </a:lnSpc>
            </a:pPr>
            <a:r>
              <a:rPr lang="en-GB" sz="1200">
                <a:solidFill>
                  <a:srgbClr val="000000"/>
                </a:solidFill>
                <a:latin typeface="Tahoma" charset="0"/>
              </a:rPr>
              <a:t>Version </a:t>
            </a:r>
            <a:r>
              <a:rPr lang="en-GB" sz="1200" smtClean="0">
                <a:solidFill>
                  <a:srgbClr val="000000"/>
                </a:solidFill>
                <a:latin typeface="Tahoma" charset="0"/>
              </a:rPr>
              <a:t>2.3.2  </a:t>
            </a:r>
            <a:r>
              <a:rPr lang="en-GB" sz="1200" dirty="0">
                <a:solidFill>
                  <a:srgbClr val="000000"/>
                </a:solidFill>
                <a:latin typeface="Tahoma" charset="0"/>
              </a:rPr>
              <a:t>- </a:t>
            </a:r>
            <a:r>
              <a:rPr lang="en-GB" sz="1200" dirty="0" smtClean="0">
                <a:solidFill>
                  <a:srgbClr val="000000"/>
                </a:solidFill>
                <a:latin typeface="Tahoma" charset="0"/>
              </a:rPr>
              <a:t>April 2017</a:t>
            </a:r>
            <a:endParaRPr lang="en-GB" sz="1200" dirty="0">
              <a:solidFill>
                <a:srgbClr val="000000"/>
              </a:solidFill>
              <a:latin typeface="Tahoma" charset="0"/>
            </a:endParaRP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6660232" y="6017123"/>
            <a:ext cx="1780190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GB" sz="1000" dirty="0">
                <a:solidFill>
                  <a:srgbClr val="000000"/>
                </a:solidFill>
              </a:rPr>
              <a:t>© </a:t>
            </a:r>
            <a:r>
              <a:rPr lang="en-GB" sz="1000" dirty="0" smtClean="0">
                <a:solidFill>
                  <a:srgbClr val="000000"/>
                </a:solidFill>
              </a:rPr>
              <a:t>Marco </a:t>
            </a:r>
            <a:r>
              <a:rPr lang="en-GB" sz="1000" dirty="0">
                <a:solidFill>
                  <a:srgbClr val="000000"/>
                </a:solidFill>
              </a:rPr>
              <a:t>Torchiano, </a:t>
            </a:r>
            <a:r>
              <a:rPr lang="en-GB" sz="1000" dirty="0" smtClean="0">
                <a:solidFill>
                  <a:srgbClr val="000000"/>
                </a:solidFill>
              </a:rPr>
              <a:t>2017</a:t>
            </a:r>
            <a:endParaRPr lang="en-GB" sz="1000" dirty="0">
              <a:solidFill>
                <a:srgbClr val="000000"/>
              </a:solidFill>
            </a:endParaRP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6310313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63" y="6308725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6308725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6297613"/>
            <a:ext cx="10541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1" name="Rounded Rectangle 10">
            <a:hlinkClick r:id="rId7"/>
          </p:cNvPr>
          <p:cNvSpPr/>
          <p:nvPr/>
        </p:nvSpPr>
        <p:spPr bwMode="auto">
          <a:xfrm>
            <a:off x="2531024" y="4880131"/>
            <a:ext cx="5904656" cy="288032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4203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543800" y="6553200"/>
            <a:ext cx="136525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D11AE6E-B0C7-244A-9485-90198FEC357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69314" name="Rectangle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ＭＳ Ｐゴシック" charset="0"/>
              </a:rPr>
              <a:t>Licensing Note</a:t>
            </a: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052513"/>
            <a:ext cx="8229600" cy="5805487"/>
          </a:xfrm>
          <a:solidFill>
            <a:srgbClr val="FFFFFF"/>
          </a:solidFill>
        </p:spPr>
        <p:txBody>
          <a:bodyPr>
            <a:normAutofit/>
          </a:bodyPr>
          <a:lstStyle/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This work is licensed under the Creative Commons Attribution-</a:t>
            </a:r>
            <a:r>
              <a:rPr lang="en-GB" sz="1800" b="1" dirty="0" err="1"/>
              <a:t>NonCommercial</a:t>
            </a:r>
            <a:r>
              <a:rPr lang="en-GB" sz="1800" b="1" dirty="0"/>
              <a:t>-</a:t>
            </a:r>
            <a:r>
              <a:rPr lang="en-GB" sz="1800" b="1" dirty="0" err="1"/>
              <a:t>NoDerivatives</a:t>
            </a:r>
            <a:r>
              <a:rPr lang="en-GB" sz="1800" b="1" dirty="0"/>
              <a:t> 4.0 International License. </a:t>
            </a:r>
            <a:endParaRPr lang="en-GB" sz="1800" b="1" dirty="0" smtClean="0"/>
          </a:p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To </a:t>
            </a:r>
            <a:r>
              <a:rPr lang="en-GB" sz="1800" b="1" dirty="0"/>
              <a:t>view a copy of this license, visit </a:t>
            </a:r>
            <a:r>
              <a:rPr lang="en-GB" sz="1800" b="1" dirty="0">
                <a:hlinkClick r:id="rId3"/>
              </a:rPr>
              <a:t>http://creativecommons.org/licenses/by-nc-nd/4.0/</a:t>
            </a:r>
            <a:r>
              <a:rPr lang="en-GB" sz="1800" b="1" dirty="0" smtClean="0"/>
              <a:t>.</a:t>
            </a:r>
          </a:p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You </a:t>
            </a:r>
            <a:r>
              <a:rPr lang="en-GB" sz="1800" b="1" dirty="0"/>
              <a:t>are free:</a:t>
            </a:r>
            <a:r>
              <a:rPr lang="en-GB" sz="1800" dirty="0"/>
              <a:t>  to copy, distribute, display, and perform the work </a:t>
            </a:r>
          </a:p>
          <a:p>
            <a:pPr marL="295174" indent="-29517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Under the following conditions:</a:t>
            </a:r>
            <a:r>
              <a:rPr lang="en-GB" sz="1800" dirty="0"/>
              <a:t>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Attribution</a:t>
            </a:r>
            <a:r>
              <a:rPr lang="en-GB" sz="1800" dirty="0"/>
              <a:t>. You must attribute the work in the manner specified by the author or licensor.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300"/>
              </a:spcBef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Non-commercial</a:t>
            </a:r>
            <a:r>
              <a:rPr lang="en-GB" sz="1800" dirty="0"/>
              <a:t>. You may not use this work for commercial purposes.  </a:t>
            </a:r>
          </a:p>
          <a:p>
            <a:pPr marL="1451391" lvl="3" indent="-207341" defTabSz="414683" eaLnBrk="1" hangingPunct="1">
              <a:lnSpc>
                <a:spcPct val="80000"/>
              </a:lnSpc>
              <a:spcBef>
                <a:spcPts val="300"/>
              </a:spcBef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No Derivative Works</a:t>
            </a:r>
            <a:r>
              <a:rPr lang="en-GB" sz="1800" dirty="0"/>
              <a:t>. You may not alter, transform, or build upon this work.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300"/>
              </a:spcBef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dirty="0"/>
              <a:t>For any reuse or distribution, you must make clear to others the license terms of this work.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dirty="0"/>
              <a:t>Any of these conditions can be waived if you get permission from the copyright holder.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Your fair use and other rights are in no way affected by the above.</a:t>
            </a:r>
            <a:r>
              <a:rPr lang="en-GB" sz="1800" dirty="0"/>
              <a:t>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434975" y="2925763"/>
            <a:ext cx="43180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20" tIns="45711" rIns="91420" bIns="45711" anchor="ctr"/>
          <a:lstStyle/>
          <a:p>
            <a:endParaRPr lang="en-US"/>
          </a:p>
        </p:txBody>
      </p:sp>
      <p:pic>
        <p:nvPicPr>
          <p:cNvPr id="269317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5888"/>
            <a:ext cx="30591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8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924175"/>
            <a:ext cx="5048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9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644900"/>
            <a:ext cx="5048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20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365625"/>
            <a:ext cx="5048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76418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Motivation</a:t>
            </a: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 smtClean="0"/>
              <a:t>Report </a:t>
            </a:r>
            <a:r>
              <a:rPr lang="it-IT" dirty="0" err="1" smtClean="0"/>
              <a:t>errors</a:t>
            </a:r>
            <a:r>
              <a:rPr lang="it-IT" dirty="0" smtClean="0"/>
              <a:t>, by </a:t>
            </a:r>
            <a:r>
              <a:rPr lang="it-IT" dirty="0" err="1" smtClean="0"/>
              <a:t>delegating</a:t>
            </a:r>
            <a:r>
              <a:rPr lang="it-IT" dirty="0" smtClean="0"/>
              <a:t> </a:t>
            </a:r>
            <a:r>
              <a:rPr lang="it-IT" dirty="0" err="1" smtClean="0"/>
              <a:t>error</a:t>
            </a:r>
            <a:r>
              <a:rPr lang="it-IT" dirty="0" smtClean="0"/>
              <a:t> </a:t>
            </a:r>
            <a:r>
              <a:rPr lang="it-IT" dirty="0" err="1" smtClean="0"/>
              <a:t>handling</a:t>
            </a:r>
            <a:r>
              <a:rPr lang="it-IT" dirty="0" smtClean="0"/>
              <a:t> to </a:t>
            </a:r>
            <a:r>
              <a:rPr lang="it-IT" dirty="0" err="1" smtClean="0"/>
              <a:t>higher</a:t>
            </a:r>
            <a:r>
              <a:rPr lang="it-IT" dirty="0" smtClean="0"/>
              <a:t> </a:t>
            </a:r>
            <a:r>
              <a:rPr lang="it-IT" dirty="0" err="1" smtClean="0"/>
              <a:t>levels</a:t>
            </a:r>
            <a:endParaRPr lang="it-IT" dirty="0" smtClean="0"/>
          </a:p>
          <a:p>
            <a:pPr lvl="1"/>
            <a:r>
              <a:rPr lang="en-US" dirty="0" err="1" smtClean="0"/>
              <a:t>Callee</a:t>
            </a:r>
            <a:r>
              <a:rPr lang="en-US" dirty="0" smtClean="0"/>
              <a:t> might not know how to recover from an error</a:t>
            </a:r>
          </a:p>
          <a:p>
            <a:pPr lvl="1"/>
            <a:r>
              <a:rPr lang="en-US" dirty="0" smtClean="0"/>
              <a:t>Caller of a method can handle error in a more appropriate way than the </a:t>
            </a:r>
            <a:r>
              <a:rPr lang="en-US" dirty="0" err="1" smtClean="0"/>
              <a:t>callee</a:t>
            </a:r>
            <a:endParaRPr lang="it-IT" dirty="0" smtClean="0"/>
          </a:p>
          <a:p>
            <a:r>
              <a:rPr lang="it-IT" dirty="0" err="1" smtClean="0"/>
              <a:t>Localize</a:t>
            </a:r>
            <a:r>
              <a:rPr lang="it-IT" dirty="0" smtClean="0"/>
              <a:t> </a:t>
            </a:r>
            <a:r>
              <a:rPr lang="it-IT" dirty="0" err="1" smtClean="0"/>
              <a:t>error</a:t>
            </a:r>
            <a:r>
              <a:rPr lang="it-IT" dirty="0" smtClean="0"/>
              <a:t> </a:t>
            </a:r>
            <a:r>
              <a:rPr lang="it-IT" dirty="0" err="1" smtClean="0"/>
              <a:t>handling</a:t>
            </a:r>
            <a:r>
              <a:rPr lang="it-IT" smtClean="0"/>
              <a:t> code by </a:t>
            </a:r>
            <a:r>
              <a:rPr lang="it-IT" dirty="0" err="1" smtClean="0"/>
              <a:t>separating</a:t>
            </a:r>
            <a:r>
              <a:rPr lang="it-IT" dirty="0" smtClean="0"/>
              <a:t> </a:t>
            </a:r>
            <a:r>
              <a:rPr lang="it-IT" dirty="0" err="1" smtClean="0"/>
              <a:t>it</a:t>
            </a:r>
            <a:r>
              <a:rPr lang="it-IT" dirty="0" smtClean="0"/>
              <a:t> from </a:t>
            </a:r>
            <a:r>
              <a:rPr lang="it-IT" dirty="0" err="1" smtClean="0"/>
              <a:t>functional</a:t>
            </a:r>
            <a:r>
              <a:rPr lang="it-IT" dirty="0" smtClean="0"/>
              <a:t> code</a:t>
            </a:r>
          </a:p>
          <a:p>
            <a:pPr lvl="1"/>
            <a:r>
              <a:rPr lang="en-US" dirty="0" smtClean="0"/>
              <a:t>Functional code is more readable</a:t>
            </a:r>
          </a:p>
          <a:p>
            <a:pPr lvl="1"/>
            <a:r>
              <a:rPr lang="en-US" dirty="0" smtClean="0"/>
              <a:t>Error code is collected together, rather than being scattered</a:t>
            </a:r>
            <a:endParaRPr lang="en-US" dirty="0"/>
          </a:p>
        </p:txBody>
      </p:sp>
      <p:sp>
        <p:nvSpPr>
          <p:cNvPr id="1945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fld id="{D7BCD3B0-CBE8-C34E-B2B5-FF7C36BB90F2}" type="slidenum">
              <a:rPr lang="it-IT" smtClean="0"/>
              <a:pPr/>
              <a:t>3</a:t>
            </a:fld>
            <a:endParaRPr lang="it-IT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A3F653F-B955-5C43-A711-78E9AA532F92}" type="slidenum">
              <a:rPr lang="it-IT" sz="1200"/>
              <a:pPr eaLnBrk="1" hangingPunct="1"/>
              <a:t>4</a:t>
            </a:fld>
            <a:endParaRPr lang="it-IT" sz="120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40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Errors</a:t>
            </a:r>
            <a:r>
              <a:rPr lang="it-IT" sz="40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40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without</a:t>
            </a:r>
            <a:r>
              <a:rPr lang="it-IT" sz="40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4000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exceptions</a:t>
            </a:r>
            <a:r>
              <a:rPr lang="it-IT" sz="4000" dirty="0">
                <a:latin typeface="Lucida Sans Unicode" charset="0"/>
                <a:ea typeface="ＭＳ Ｐゴシック" charset="0"/>
                <a:cs typeface="ＭＳ Ｐゴシック" charset="0"/>
              </a:rPr>
              <a:t> (I)</a:t>
            </a:r>
            <a:endParaRPr lang="en-US" sz="4000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If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a non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locally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remediable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happens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while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method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executing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, call </a:t>
            </a:r>
            <a:r>
              <a:rPr lang="it-IT" sz="2800" b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Courier New" charset="0"/>
              </a:rPr>
              <a:t>System.exit</a:t>
            </a:r>
            <a:r>
              <a:rPr lang="it-IT" sz="2800" b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Courier New" charset="0"/>
              </a:rPr>
              <a:t>()</a:t>
            </a:r>
            <a:endParaRPr lang="it-IT" b="1" dirty="0">
              <a:solidFill>
                <a:srgbClr val="FF6633"/>
              </a:solidFill>
              <a:latin typeface="Courier New" charset="0"/>
              <a:ea typeface="ＭＳ Ｐゴシック" charset="0"/>
              <a:cs typeface="Courier New" charset="0"/>
            </a:endParaRPr>
          </a:p>
          <a:p>
            <a:pPr lvl="1" eaLnBrk="1" hangingPunct="1"/>
            <a:r>
              <a:rPr lang="it-IT" dirty="0" err="1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Abort</a:t>
            </a:r>
            <a:r>
              <a:rPr lang="it-IT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program</a:t>
            </a:r>
            <a:r>
              <a:rPr lang="it-IT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execution</a:t>
            </a:r>
            <a:r>
              <a:rPr lang="it-IT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, no </a:t>
            </a:r>
            <a:r>
              <a:rPr lang="it-IT" dirty="0" err="1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clean</a:t>
            </a:r>
            <a:r>
              <a:rPr lang="it-IT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up or </a:t>
            </a:r>
            <a:r>
              <a:rPr lang="it-IT" dirty="0" err="1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resource</a:t>
            </a:r>
            <a:r>
              <a:rPr lang="it-IT" dirty="0" smtClean="0">
                <a:solidFill>
                  <a:srgbClr val="0000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release</a:t>
            </a:r>
            <a:endParaRPr lang="it-IT" dirty="0">
              <a:solidFill>
                <a:srgbClr val="000000"/>
              </a:solidFill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A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method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causing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an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unconditional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program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interruption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in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not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very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dependable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(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nor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usable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)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CDF4DE3-FAF0-384B-9AAD-BE71B94FBD5F}" type="slidenum">
              <a:rPr lang="it-IT" sz="1200"/>
              <a:pPr eaLnBrk="1" hangingPunct="1"/>
              <a:t>5</a:t>
            </a:fld>
            <a:endParaRPr lang="it-IT" sz="120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40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Errors</a:t>
            </a:r>
            <a:r>
              <a:rPr lang="it-IT" sz="40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40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without</a:t>
            </a:r>
            <a:r>
              <a:rPr lang="it-IT" sz="40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4000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exceptions</a:t>
            </a:r>
            <a:r>
              <a:rPr lang="it-IT" sz="4000" dirty="0">
                <a:latin typeface="Lucida Sans Unicode" charset="0"/>
                <a:ea typeface="ＭＳ Ｐゴシック" charset="0"/>
                <a:cs typeface="ＭＳ Ｐゴシック" charset="0"/>
              </a:rPr>
              <a:t> (II)</a:t>
            </a:r>
            <a:endParaRPr lang="en-US" sz="4000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If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errors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happen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while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method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executing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, </a:t>
            </a:r>
            <a:r>
              <a:rPr lang="it-IT" sz="2800" dirty="0" err="1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return</a:t>
            </a:r>
            <a:r>
              <a:rPr lang="it-IT" sz="2800" dirty="0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a special </a:t>
            </a:r>
            <a:r>
              <a:rPr lang="it-IT" sz="2800" dirty="0" err="1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value</a:t>
            </a:r>
            <a:endParaRPr lang="it-IT" sz="2800" dirty="0">
              <a:solidFill>
                <a:srgbClr val="FF6600"/>
              </a:solidFill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Special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values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are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different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from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normal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return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value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(e.g.,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null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, -1, etc.</a:t>
            </a:r>
            <a:r>
              <a:rPr lang="it-IT" sz="28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)</a:t>
            </a:r>
            <a:endParaRPr lang="it-IT" sz="28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Developer must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remember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value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/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meaning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of special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values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for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each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call to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check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for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errors</a:t>
            </a:r>
            <a:endParaRPr lang="it-IT" sz="28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What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if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all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values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are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normal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it-IT" sz="2400" b="1" dirty="0">
                <a:latin typeface="Courier New"/>
                <a:ea typeface="ＭＳ Ｐゴシック" charset="0"/>
                <a:cs typeface="Courier New"/>
              </a:rPr>
              <a:t>double </a:t>
            </a:r>
            <a:r>
              <a:rPr lang="it-IT" sz="2400" b="1" dirty="0" err="1">
                <a:latin typeface="Courier New"/>
                <a:ea typeface="ＭＳ Ｐゴシック" charset="0"/>
                <a:cs typeface="Courier New"/>
              </a:rPr>
              <a:t>pow</a:t>
            </a:r>
            <a:r>
              <a:rPr lang="it-IT" sz="2400" b="1" dirty="0">
                <a:latin typeface="Courier New"/>
                <a:ea typeface="ＭＳ Ｐゴシック" charset="0"/>
                <a:cs typeface="Courier New"/>
              </a:rPr>
              <a:t>(base, </a:t>
            </a:r>
            <a:r>
              <a:rPr lang="it-IT" sz="2400" b="1" dirty="0" err="1">
                <a:latin typeface="Courier New"/>
                <a:ea typeface="ＭＳ Ｐゴシック" charset="0"/>
                <a:cs typeface="Courier New"/>
              </a:rPr>
              <a:t>exponent</a:t>
            </a:r>
            <a:r>
              <a:rPr lang="it-IT" sz="2400" b="1" dirty="0">
                <a:latin typeface="Courier New"/>
                <a:ea typeface="ＭＳ Ｐゴシック" charset="0"/>
                <a:cs typeface="Courier New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it-IT" sz="2400" b="1" dirty="0" err="1">
                <a:latin typeface="Courier New"/>
                <a:ea typeface="ＭＳ Ｐゴシック" charset="0"/>
                <a:cs typeface="Courier New"/>
              </a:rPr>
              <a:t>pow</a:t>
            </a:r>
            <a:r>
              <a:rPr lang="it-IT" sz="2400" b="1" dirty="0">
                <a:latin typeface="Courier New"/>
                <a:ea typeface="ＭＳ Ｐゴシック" charset="0"/>
                <a:cs typeface="Courier New"/>
              </a:rPr>
              <a:t>(-1, 0.5); </a:t>
            </a:r>
            <a:r>
              <a:rPr lang="it-IT" sz="2400" dirty="0">
                <a:latin typeface="Lucida Sans Unicode" charset="0"/>
                <a:ea typeface="ＭＳ Ｐゴシック" charset="0"/>
              </a:rPr>
              <a:t>//</a:t>
            </a:r>
            <a:r>
              <a:rPr lang="it-IT" sz="2400" dirty="0" err="1">
                <a:latin typeface="Lucida Sans Unicode" charset="0"/>
                <a:ea typeface="ＭＳ Ｐゴシック" charset="0"/>
              </a:rPr>
              <a:t>not</a:t>
            </a:r>
            <a:r>
              <a:rPr lang="it-IT" sz="2400" dirty="0">
                <a:latin typeface="Lucida Sans Unicode" charset="0"/>
                <a:ea typeface="ＭＳ Ｐゴシック" charset="0"/>
              </a:rPr>
              <a:t> a </a:t>
            </a:r>
            <a:r>
              <a:rPr lang="it-IT" sz="2400" dirty="0" err="1">
                <a:latin typeface="Lucida Sans Unicode" charset="0"/>
                <a:ea typeface="ＭＳ Ｐゴシック" charset="0"/>
              </a:rPr>
              <a:t>real</a:t>
            </a:r>
            <a:endParaRPr lang="en-US" sz="2400" dirty="0">
              <a:latin typeface="Lucida Sans Unicode" charset="0"/>
              <a:ea typeface="ＭＳ Ｐゴシック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A0F0CD2-FF61-5B45-B8EB-7F3B6979B480}" type="slidenum">
              <a:rPr lang="it-IT" sz="1200"/>
              <a:pPr eaLnBrk="1" hangingPunct="1"/>
              <a:t>6</a:t>
            </a:fld>
            <a:endParaRPr lang="it-IT" sz="120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Real problems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Code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messy</a:t>
            </a:r>
            <a:r>
              <a:rPr lang="it-IT" sz="28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to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write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and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harder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to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read</a:t>
            </a:r>
            <a:endParaRPr lang="it-IT" sz="28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it-IT" sz="28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if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( 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somefunc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() == ERROR ) // 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detect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endParaRPr lang="it-IT" sz="24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  //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handle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endParaRPr lang="it-IT" sz="24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else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  //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proceed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normally</a:t>
            </a:r>
            <a:endParaRPr lang="it-IT" sz="24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it-IT" sz="24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Only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800" dirty="0" err="1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direct</a:t>
            </a:r>
            <a:r>
              <a:rPr lang="it-IT" sz="2800" dirty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caller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can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intercept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errors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endParaRPr lang="it-IT" sz="2800" dirty="0" smtClean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it-IT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no </a:t>
            </a:r>
            <a:r>
              <a:rPr lang="it-IT" sz="24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simple</a:t>
            </a:r>
            <a:r>
              <a:rPr lang="it-IT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delegation</a:t>
            </a:r>
            <a:r>
              <a:rPr lang="it-IT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dirty="0">
                <a:latin typeface="Lucida Sans Unicode" charset="0"/>
                <a:ea typeface="ＭＳ Ｐゴシック" charset="0"/>
                <a:cs typeface="ＭＳ Ｐゴシック" charset="0"/>
              </a:rPr>
              <a:t>to </a:t>
            </a:r>
            <a:r>
              <a:rPr lang="it-IT" sz="2400" dirty="0" err="1">
                <a:latin typeface="Lucida Sans Unicode" charset="0"/>
                <a:ea typeface="ＭＳ Ｐゴシック" charset="0"/>
                <a:cs typeface="ＭＳ Ｐゴシック" charset="0"/>
              </a:rPr>
              <a:t>any</a:t>
            </a:r>
            <a:r>
              <a:rPr lang="it-IT" sz="24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dirty="0" err="1">
                <a:latin typeface="Lucida Sans Unicode" charset="0"/>
                <a:ea typeface="ＭＳ Ｐゴシック" charset="0"/>
                <a:cs typeface="ＭＳ Ｐゴシック" charset="0"/>
              </a:rPr>
              <a:t>upward</a:t>
            </a:r>
            <a:r>
              <a:rPr lang="it-IT" sz="24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method</a:t>
            </a:r>
            <a:endParaRPr lang="it-IT" sz="2400" dirty="0" smtClean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it-IT" sz="2400" b="1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Unless</a:t>
            </a:r>
            <a:r>
              <a:rPr lang="it-IT" sz="2400" b="1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additional</a:t>
            </a:r>
            <a:r>
              <a:rPr lang="it-IT" sz="2400" b="1" dirty="0" smtClean="0">
                <a:latin typeface="Lucida Sans Unicode" charset="0"/>
                <a:ea typeface="ＭＳ Ｐゴシック" charset="0"/>
                <a:cs typeface="ＭＳ Ｐゴシック" charset="0"/>
              </a:rPr>
              <a:t> code </a:t>
            </a:r>
            <a:r>
              <a:rPr lang="it-IT" sz="2400" b="1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sz="2400" b="1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added</a:t>
            </a:r>
            <a:endParaRPr lang="it-IT" sz="2400" b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442E146D-7361-BA44-B633-ED0CF46CEBA5}" type="slidenum">
              <a:rPr lang="it-IT" sz="1200"/>
              <a:pPr eaLnBrk="1" hangingPunct="1"/>
              <a:t>7</a:t>
            </a:fld>
            <a:endParaRPr lang="it-IT" sz="12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ea typeface="ＭＳ Ｐゴシック" charset="0"/>
                <a:cs typeface="ＭＳ Ｐゴシック" charset="0"/>
              </a:rPr>
              <a:t>Example – Read file</a:t>
            </a:r>
          </a:p>
        </p:txBody>
      </p:sp>
      <p:sp>
        <p:nvSpPr>
          <p:cNvPr id="276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153400" cy="2422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>
                <a:latin typeface="Lucida Sans Unicode" charset="0"/>
                <a:ea typeface="ＭＳ Ｐゴシック" charset="0"/>
                <a:cs typeface="ＭＳ Ｐゴシック" charset="0"/>
              </a:rPr>
              <a:t>open the file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latin typeface="Lucida Sans Unicode" charset="0"/>
                <a:ea typeface="ＭＳ Ｐゴシック" charset="0"/>
                <a:cs typeface="ＭＳ Ｐゴシック" charset="0"/>
              </a:rPr>
              <a:t>determine file size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latin typeface="Lucida Sans Unicode" charset="0"/>
                <a:ea typeface="ＭＳ Ｐゴシック" charset="0"/>
                <a:cs typeface="ＭＳ Ｐゴシック" charset="0"/>
              </a:rPr>
              <a:t>allocate that much memory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latin typeface="Lucida Sans Unicode" charset="0"/>
                <a:ea typeface="ＭＳ Ｐゴシック" charset="0"/>
                <a:cs typeface="ＭＳ Ｐゴシック" charset="0"/>
              </a:rPr>
              <a:t>read the file into memory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latin typeface="Lucida Sans Unicode" charset="0"/>
                <a:ea typeface="ＭＳ Ｐゴシック" charset="0"/>
                <a:cs typeface="ＭＳ Ｐゴシック" charset="0"/>
              </a:rPr>
              <a:t>close the file</a:t>
            </a:r>
          </a:p>
          <a:p>
            <a:pPr eaLnBrk="1" hangingPunct="1">
              <a:lnSpc>
                <a:spcPct val="90000"/>
              </a:lnSpc>
            </a:pPr>
            <a:endParaRPr lang="en-US" sz="280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27652" name="AutoShape 8"/>
          <p:cNvCxnSpPr>
            <a:cxnSpLocks noChangeShapeType="1"/>
            <a:stCxn id="27653" idx="3"/>
            <a:endCxn id="27654" idx="1"/>
          </p:cNvCxnSpPr>
          <p:nvPr/>
        </p:nvCxnSpPr>
        <p:spPr bwMode="auto">
          <a:xfrm flipV="1">
            <a:off x="3311525" y="3997325"/>
            <a:ext cx="1279525" cy="925513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3" name="Text Box 9"/>
          <p:cNvSpPr txBox="1">
            <a:spLocks noChangeArrowheads="1"/>
          </p:cNvSpPr>
          <p:nvPr/>
        </p:nvSpPr>
        <p:spPr bwMode="auto">
          <a:xfrm>
            <a:off x="1801813" y="4525963"/>
            <a:ext cx="1509712" cy="792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readFile()</a:t>
            </a:r>
          </a:p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(caller)</a:t>
            </a:r>
          </a:p>
        </p:txBody>
      </p:sp>
      <p:sp>
        <p:nvSpPr>
          <p:cNvPr id="27654" name="Text Box 10"/>
          <p:cNvSpPr txBox="1">
            <a:spLocks noChangeArrowheads="1"/>
          </p:cNvSpPr>
          <p:nvPr/>
        </p:nvSpPr>
        <p:spPr bwMode="auto">
          <a:xfrm>
            <a:off x="4591050" y="3600450"/>
            <a:ext cx="1509713" cy="7921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open ()</a:t>
            </a:r>
          </a:p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(callee)</a:t>
            </a:r>
          </a:p>
        </p:txBody>
      </p:sp>
      <p:sp>
        <p:nvSpPr>
          <p:cNvPr id="27655" name="Text Box 11"/>
          <p:cNvSpPr txBox="1">
            <a:spLocks noChangeArrowheads="1"/>
          </p:cNvSpPr>
          <p:nvPr/>
        </p:nvSpPr>
        <p:spPr bwMode="auto">
          <a:xfrm>
            <a:off x="4806950" y="4062413"/>
            <a:ext cx="1509713" cy="792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size()</a:t>
            </a:r>
          </a:p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(callee)</a:t>
            </a:r>
          </a:p>
        </p:txBody>
      </p:sp>
      <p:sp>
        <p:nvSpPr>
          <p:cNvPr id="27656" name="Text Box 12"/>
          <p:cNvSpPr txBox="1">
            <a:spLocks noChangeArrowheads="1"/>
          </p:cNvSpPr>
          <p:nvPr/>
        </p:nvSpPr>
        <p:spPr bwMode="auto">
          <a:xfrm>
            <a:off x="4987925" y="4505325"/>
            <a:ext cx="1509713" cy="7921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alloc()</a:t>
            </a:r>
          </a:p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(callee)</a:t>
            </a:r>
          </a:p>
        </p:txBody>
      </p:sp>
      <p:sp>
        <p:nvSpPr>
          <p:cNvPr id="27657" name="Text Box 13"/>
          <p:cNvSpPr txBox="1">
            <a:spLocks noChangeArrowheads="1"/>
          </p:cNvSpPr>
          <p:nvPr/>
        </p:nvSpPr>
        <p:spPr bwMode="auto">
          <a:xfrm>
            <a:off x="5180013" y="4935538"/>
            <a:ext cx="1509712" cy="792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read()</a:t>
            </a:r>
          </a:p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(callee)</a:t>
            </a:r>
          </a:p>
        </p:txBody>
      </p:sp>
      <p:sp>
        <p:nvSpPr>
          <p:cNvPr id="27658" name="Text Box 14"/>
          <p:cNvSpPr txBox="1">
            <a:spLocks noChangeArrowheads="1"/>
          </p:cNvSpPr>
          <p:nvPr/>
        </p:nvSpPr>
        <p:spPr bwMode="auto">
          <a:xfrm>
            <a:off x="5405438" y="5395913"/>
            <a:ext cx="1509712" cy="792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close()</a:t>
            </a:r>
          </a:p>
          <a:p>
            <a:pPr algn="ctr">
              <a:spcBef>
                <a:spcPct val="50000"/>
              </a:spcBef>
              <a:buSzTx/>
              <a:buFontTx/>
              <a:buNone/>
            </a:pPr>
            <a:r>
              <a:rPr lang="en-US" sz="1800" b="1">
                <a:latin typeface="Arial" charset="0"/>
              </a:rPr>
              <a:t>(callee)</a:t>
            </a:r>
          </a:p>
        </p:txBody>
      </p:sp>
      <p:cxnSp>
        <p:nvCxnSpPr>
          <p:cNvPr id="27659" name="AutoShape 15"/>
          <p:cNvCxnSpPr>
            <a:cxnSpLocks noChangeShapeType="1"/>
            <a:stCxn id="27653" idx="3"/>
            <a:endCxn id="27655" idx="1"/>
          </p:cNvCxnSpPr>
          <p:nvPr/>
        </p:nvCxnSpPr>
        <p:spPr bwMode="auto">
          <a:xfrm flipV="1">
            <a:off x="3311525" y="4459288"/>
            <a:ext cx="1495425" cy="463550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0" name="AutoShape 16"/>
          <p:cNvCxnSpPr>
            <a:cxnSpLocks noChangeShapeType="1"/>
            <a:stCxn id="27653" idx="3"/>
            <a:endCxn id="27656" idx="1"/>
          </p:cNvCxnSpPr>
          <p:nvPr/>
        </p:nvCxnSpPr>
        <p:spPr bwMode="auto">
          <a:xfrm flipV="1">
            <a:off x="3311525" y="4902200"/>
            <a:ext cx="1676400" cy="20638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7"/>
          <p:cNvCxnSpPr>
            <a:cxnSpLocks noChangeShapeType="1"/>
            <a:stCxn id="27653" idx="3"/>
            <a:endCxn id="27657" idx="1"/>
          </p:cNvCxnSpPr>
          <p:nvPr/>
        </p:nvCxnSpPr>
        <p:spPr bwMode="auto">
          <a:xfrm>
            <a:off x="3311525" y="4922838"/>
            <a:ext cx="1868488" cy="409575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8"/>
          <p:cNvCxnSpPr>
            <a:cxnSpLocks noChangeShapeType="1"/>
            <a:stCxn id="27653" idx="3"/>
            <a:endCxn id="27658" idx="1"/>
          </p:cNvCxnSpPr>
          <p:nvPr/>
        </p:nvCxnSpPr>
        <p:spPr bwMode="auto">
          <a:xfrm>
            <a:off x="3311525" y="4922838"/>
            <a:ext cx="2093913" cy="869950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3" name="Text Box 19"/>
          <p:cNvSpPr txBox="1">
            <a:spLocks noChangeArrowheads="1"/>
          </p:cNvSpPr>
          <p:nvPr/>
        </p:nvSpPr>
        <p:spPr bwMode="auto">
          <a:xfrm>
            <a:off x="6919913" y="4175125"/>
            <a:ext cx="20208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/>
              <a:t>All of them </a:t>
            </a:r>
            <a:br>
              <a:rPr lang="en-US"/>
            </a:br>
            <a:r>
              <a:rPr lang="en-US"/>
              <a:t>can fail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1CF4A44-BED8-DC48-898B-6E2B10095C49}" type="slidenum">
              <a:rPr lang="it-IT" sz="1200"/>
              <a:pPr eaLnBrk="1" hangingPunct="1"/>
              <a:t>8</a:t>
            </a:fld>
            <a:endParaRPr lang="it-IT" sz="1200"/>
          </a:p>
        </p:txBody>
      </p:sp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Special return code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635000" y="1263650"/>
            <a:ext cx="3124441" cy="470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 err="1">
                <a:latin typeface="Courier New" charset="0"/>
              </a:rPr>
              <a:t>int</a:t>
            </a:r>
            <a:r>
              <a:rPr lang="it-IT" sz="1400" b="1" dirty="0">
                <a:latin typeface="Courier New" charset="0"/>
              </a:rPr>
              <a:t>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readFile</a:t>
            </a:r>
            <a:r>
              <a:rPr lang="it-IT" sz="1400" b="1" dirty="0">
                <a:latin typeface="Courier New" charset="0"/>
              </a:rPr>
              <a:t> {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  open the file;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latin typeface="Courier New" charset="0"/>
              </a:rPr>
              <a:t>  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if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(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operationFailed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)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latin typeface="Courier New" charset="0"/>
              </a:rPr>
              <a:t>     </a:t>
            </a:r>
            <a:r>
              <a:rPr lang="it-IT" sz="1400" b="1" dirty="0">
                <a:solidFill>
                  <a:schemeClr val="accent4"/>
                </a:solidFill>
                <a:latin typeface="Courier New" charset="0"/>
              </a:rPr>
              <a:t> </a:t>
            </a:r>
            <a:r>
              <a:rPr lang="it-IT" sz="1400" b="1" dirty="0" err="1">
                <a:solidFill>
                  <a:schemeClr val="accent4"/>
                </a:solidFill>
                <a:latin typeface="Courier New" charset="0"/>
              </a:rPr>
              <a:t>return</a:t>
            </a:r>
            <a:r>
              <a:rPr lang="it-IT" sz="1400" b="1" dirty="0">
                <a:solidFill>
                  <a:schemeClr val="accent4"/>
                </a:solidFill>
                <a:latin typeface="Courier New" charset="0"/>
              </a:rPr>
              <a:t> -1;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 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determine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file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size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latin typeface="Courier New" charset="0"/>
              </a:rPr>
              <a:t> 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if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(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operationFailed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) 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latin typeface="Courier New" charset="0"/>
              </a:rPr>
              <a:t>    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return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-2;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  allocate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that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much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memory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if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(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operationFailed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) {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   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close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the file;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   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return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-3;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latin typeface="Courier New" charset="0"/>
              </a:rPr>
              <a:t>  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}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 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read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the file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into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memory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if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(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operationFailed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) { 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   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close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the file;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   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return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-4;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  }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  </a:t>
            </a:r>
            <a:r>
              <a:rPr lang="it-IT" sz="1400" b="1" dirty="0" err="1">
                <a:solidFill>
                  <a:srgbClr val="FF6600"/>
                </a:solidFill>
                <a:latin typeface="Courier New" charset="0"/>
              </a:rPr>
              <a:t>close</a:t>
            </a: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the file;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FF6600"/>
                </a:solidFill>
                <a:latin typeface="Courier New" charset="0"/>
              </a:rPr>
              <a:t> 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if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(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operationFailed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) 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     </a:t>
            </a:r>
            <a:r>
              <a:rPr lang="it-IT" sz="1400" b="1" dirty="0" err="1">
                <a:solidFill>
                  <a:srgbClr val="8064A2"/>
                </a:solidFill>
                <a:latin typeface="Courier New" charset="0"/>
              </a:rPr>
              <a:t>return</a:t>
            </a:r>
            <a:r>
              <a:rPr lang="it-IT" sz="1400" b="1" dirty="0">
                <a:solidFill>
                  <a:srgbClr val="8064A2"/>
                </a:solidFill>
                <a:latin typeface="Courier New" charset="0"/>
              </a:rPr>
              <a:t> -5;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latin typeface="Courier New" charset="0"/>
              </a:rPr>
              <a:t>   </a:t>
            </a:r>
            <a:r>
              <a:rPr lang="it-IT" sz="1400" b="1" dirty="0" err="1">
                <a:latin typeface="Courier New" charset="0"/>
              </a:rPr>
              <a:t>return</a:t>
            </a:r>
            <a:r>
              <a:rPr lang="it-IT" sz="1400" b="1" dirty="0">
                <a:latin typeface="Courier New" charset="0"/>
              </a:rPr>
              <a:t> 0;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1400" b="1" dirty="0">
                <a:latin typeface="Courier New" charset="0"/>
              </a:rPr>
              <a:t>}</a:t>
            </a:r>
            <a:endParaRPr lang="en-US" dirty="0"/>
          </a:p>
        </p:txBody>
      </p:sp>
      <p:sp>
        <p:nvSpPr>
          <p:cNvPr id="29701" name="AutoShape 8"/>
          <p:cNvSpPr>
            <a:spLocks noChangeArrowheads="1"/>
          </p:cNvSpPr>
          <p:nvPr/>
        </p:nvSpPr>
        <p:spPr bwMode="auto">
          <a:xfrm>
            <a:off x="5083175" y="1239838"/>
            <a:ext cx="3760788" cy="1219200"/>
          </a:xfrm>
          <a:prstGeom prst="wedgeRoundRectCallout">
            <a:avLst>
              <a:gd name="adj1" fmla="val -119398"/>
              <a:gd name="adj2" fmla="val 768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SzTx/>
              <a:buFont typeface="Wingdings" charset="0"/>
              <a:buNone/>
            </a:pPr>
            <a:r>
              <a:rPr lang="en-US" sz="2400"/>
              <a:t>Lots of </a:t>
            </a:r>
            <a:br>
              <a:rPr lang="en-US" sz="2400"/>
            </a:br>
            <a:r>
              <a:rPr lang="en-US" sz="2400"/>
              <a:t>error-detection and </a:t>
            </a:r>
            <a:br>
              <a:rPr lang="en-US" sz="2400"/>
            </a:br>
            <a:r>
              <a:rPr lang="en-US" sz="2400"/>
              <a:t>error-handling code</a:t>
            </a:r>
          </a:p>
        </p:txBody>
      </p:sp>
      <p:sp>
        <p:nvSpPr>
          <p:cNvPr id="29702" name="AutoShape 9"/>
          <p:cNvSpPr>
            <a:spLocks noChangeArrowheads="1"/>
          </p:cNvSpPr>
          <p:nvPr/>
        </p:nvSpPr>
        <p:spPr bwMode="auto">
          <a:xfrm>
            <a:off x="4949825" y="2690813"/>
            <a:ext cx="3760788" cy="1539875"/>
          </a:xfrm>
          <a:prstGeom prst="wedgeRoundRectCallout">
            <a:avLst>
              <a:gd name="adj1" fmla="val -99134"/>
              <a:gd name="adj2" fmla="val -6659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buSzTx/>
              <a:buFont typeface="Wingdings" charset="0"/>
              <a:buNone/>
            </a:pPr>
            <a:r>
              <a:rPr lang="en-US" sz="2400"/>
              <a:t>To detect errors we must check specs of library calls (no homogeneity)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82FE422-E212-8C4B-BB68-138F1CC53EA5}" type="slidenum">
              <a:rPr lang="it-IT" sz="1200"/>
              <a:pPr eaLnBrk="1" hangingPunct="1"/>
              <a:t>9</a:t>
            </a:fld>
            <a:endParaRPr lang="it-IT" sz="120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No error handling</a:t>
            </a:r>
            <a:endParaRPr lang="en-US" sz="4000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633413" y="1387475"/>
            <a:ext cx="5303837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2400" b="1">
                <a:latin typeface="Courier New" charset="0"/>
              </a:rPr>
              <a:t>int </a:t>
            </a:r>
            <a:r>
              <a:rPr lang="it-IT" sz="2400" b="1">
                <a:solidFill>
                  <a:srgbClr val="FF6600"/>
                </a:solidFill>
                <a:latin typeface="Courier New" charset="0"/>
              </a:rPr>
              <a:t>readFile</a:t>
            </a:r>
            <a:r>
              <a:rPr lang="it-IT" sz="2400" b="1">
                <a:latin typeface="Courier New" charset="0"/>
              </a:rPr>
              <a:t> {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endParaRPr lang="it-IT" sz="2400" b="1">
              <a:latin typeface="Courier New" charset="0"/>
            </a:endParaRP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2400" b="1">
                <a:latin typeface="Courier New" charset="0"/>
              </a:rPr>
              <a:t>   open the file;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2400" b="1">
                <a:latin typeface="Courier New" charset="0"/>
              </a:rPr>
              <a:t>   determine file size;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2400" b="1">
                <a:latin typeface="Courier New" charset="0"/>
              </a:rPr>
              <a:t>   allocate that much memory;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2400" b="1">
                <a:latin typeface="Courier New" charset="0"/>
              </a:rPr>
              <a:t>   read the file into memory;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2400" b="1">
                <a:latin typeface="Courier New" charset="0"/>
              </a:rPr>
              <a:t>   close the file;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endParaRPr lang="it-IT" sz="2400" b="1">
              <a:latin typeface="Courier New" charset="0"/>
            </a:endParaRP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2400" b="1">
                <a:latin typeface="Courier New" charset="0"/>
              </a:rPr>
              <a:t>   return 0;</a:t>
            </a:r>
          </a:p>
          <a:p>
            <a:pPr eaLnBrk="1" hangingPunct="1">
              <a:lnSpc>
                <a:spcPct val="80000"/>
              </a:lnSpc>
              <a:buSzTx/>
              <a:buFont typeface="Wingdings" charset="0"/>
              <a:buNone/>
            </a:pPr>
            <a:r>
              <a:rPr lang="it-IT" sz="2400" b="1">
                <a:latin typeface="Courier New" charset="0"/>
              </a:rPr>
              <a:t>}</a:t>
            </a:r>
            <a:endParaRPr lang="en-US" sz="2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0FAEE6AD-0E1D-B647-89CD-D19236CFE104}" type="slidenum">
              <a:rPr lang="it-IT" sz="1200"/>
              <a:pPr eaLnBrk="1" hangingPunct="1"/>
              <a:t>10</a:t>
            </a:fld>
            <a:endParaRPr lang="it-IT" sz="120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Using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exceptions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       open the file;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      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determine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file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size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       allocate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that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much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memory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      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read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the file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into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memory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       </a:t>
            </a:r>
            <a:r>
              <a:rPr lang="it-IT" sz="1800" b="1" dirty="0" err="1">
                <a:latin typeface="Courier New" charset="0"/>
                <a:ea typeface="ＭＳ Ｐゴシック" charset="0"/>
                <a:cs typeface="ＭＳ Ｐゴシック" charset="0"/>
              </a:rPr>
              <a:t>close</a:t>
            </a:r>
            <a:r>
              <a:rPr lang="it-IT" sz="1800" b="1" dirty="0">
                <a:latin typeface="Courier New" charset="0"/>
                <a:ea typeface="ＭＳ Ｐゴシック" charset="0"/>
                <a:cs typeface="ＭＳ Ｐゴシック" charset="0"/>
              </a:rPr>
              <a:t> the file;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 catch (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fileOpenFailed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    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doSomething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 catch (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sizeDeterminationFailed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    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doSomething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 catch (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memoryAllocationFailed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    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doSomething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 catch (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readFailed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    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doSomething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 catch (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fileCloseFailed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    </a:t>
            </a:r>
            <a:r>
              <a:rPr lang="it-IT" sz="1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doSomething</a:t>
            </a: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1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endParaRPr lang="en-US" sz="1800" dirty="0">
              <a:solidFill>
                <a:srgbClr val="FF6600"/>
              </a:solidFill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ea typeface="ＭＳ Ｐゴシック" charset="0"/>
                <a:cs typeface="ＭＳ Ｐゴシック" charset="0"/>
              </a:rPr>
              <a:t>Basic concepts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sz="2800" dirty="0">
                <a:latin typeface="Lucida Sans Unicode" charset="0"/>
                <a:ea typeface="ＭＳ Ｐゴシック" charset="0"/>
                <a:cs typeface="ＭＳ Ｐゴシック" charset="0"/>
              </a:rPr>
              <a:t>The code </a:t>
            </a:r>
            <a:r>
              <a:rPr lang="en-US" sz="28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detecting the the </a:t>
            </a:r>
            <a:r>
              <a:rPr lang="en-US" sz="2800" dirty="0">
                <a:latin typeface="Lucida Sans Unicode" charset="0"/>
                <a:ea typeface="ＭＳ Ｐゴシック" charset="0"/>
                <a:cs typeface="ＭＳ Ｐゴシック" charset="0"/>
              </a:rPr>
              <a:t>error will </a:t>
            </a:r>
            <a:r>
              <a:rPr lang="en-US" sz="2800" dirty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generate</a:t>
            </a:r>
            <a:r>
              <a:rPr lang="en-US" sz="2800" dirty="0">
                <a:latin typeface="Lucida Sans Unicode" charset="0"/>
                <a:ea typeface="ＭＳ Ｐゴシック" charset="0"/>
                <a:cs typeface="ＭＳ Ｐゴシック" charset="0"/>
              </a:rPr>
              <a:t> an exception </a:t>
            </a:r>
          </a:p>
          <a:p>
            <a:pPr marL="914400" lvl="1" indent="-457200" eaLnBrk="1" hangingPunct="1"/>
            <a:r>
              <a:rPr lang="en-US" sz="2400" dirty="0">
                <a:latin typeface="Lucida Sans Unicode" charset="0"/>
                <a:ea typeface="ＭＳ Ｐゴシック" charset="0"/>
              </a:rPr>
              <a:t>Developers code</a:t>
            </a:r>
          </a:p>
          <a:p>
            <a:pPr marL="914400" lvl="1" indent="-457200" eaLnBrk="1" hangingPunct="1"/>
            <a:r>
              <a:rPr lang="en-US" sz="2400" dirty="0">
                <a:latin typeface="Lucida Sans Unicode" charset="0"/>
                <a:ea typeface="ＭＳ Ｐゴシック" charset="0"/>
              </a:rPr>
              <a:t>Third-party library</a:t>
            </a:r>
          </a:p>
          <a:p>
            <a:pPr marL="533400" indent="-533400" eaLnBrk="1" hangingPunct="1"/>
            <a:r>
              <a:rPr lang="en-US" sz="2800" dirty="0">
                <a:latin typeface="Lucida Sans Unicode" charset="0"/>
                <a:ea typeface="ＭＳ Ｐゴシック" charset="0"/>
                <a:cs typeface="ＭＳ Ｐゴシック" charset="0"/>
              </a:rPr>
              <a:t>At some point up in the hierarchy of method invocations, a caller will </a:t>
            </a:r>
            <a:r>
              <a:rPr lang="en-US" sz="2800" dirty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intercept</a:t>
            </a:r>
            <a:r>
              <a:rPr lang="en-US" sz="2800" dirty="0">
                <a:latin typeface="Lucida Sans Unicode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sz="2800" dirty="0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handle </a:t>
            </a:r>
            <a:r>
              <a:rPr lang="en-US" sz="28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sz="2800" dirty="0">
                <a:latin typeface="Lucida Sans Unicode" charset="0"/>
                <a:ea typeface="ＭＳ Ｐゴシック" charset="0"/>
                <a:cs typeface="ＭＳ Ｐゴシック" charset="0"/>
              </a:rPr>
              <a:t>exception</a:t>
            </a:r>
          </a:p>
          <a:p>
            <a:pPr marL="533400" indent="-533400" eaLnBrk="1" hangingPunct="1"/>
            <a:r>
              <a:rPr lang="en-US" sz="2800" dirty="0">
                <a:latin typeface="Lucida Sans Unicode" charset="0"/>
                <a:ea typeface="ＭＳ Ｐゴシック" charset="0"/>
                <a:cs typeface="ＭＳ Ｐゴシック" charset="0"/>
              </a:rPr>
              <a:t>In between, methods can </a:t>
            </a:r>
          </a:p>
          <a:p>
            <a:pPr marL="914400" lvl="1" indent="-457200" eaLnBrk="1" hangingPunct="1"/>
            <a:r>
              <a:rPr lang="en-US" sz="2400" dirty="0" smtClean="0">
                <a:latin typeface="Lucida Sans Unicode" charset="0"/>
                <a:ea typeface="ＭＳ Ｐゴシック" charset="0"/>
              </a:rPr>
              <a:t> </a:t>
            </a:r>
            <a:r>
              <a:rPr lang="en-US" sz="2400" dirty="0" smtClean="0">
                <a:solidFill>
                  <a:srgbClr val="FF6600"/>
                </a:solidFill>
                <a:latin typeface="Lucida Sans Unicode" charset="0"/>
                <a:ea typeface="ＭＳ Ｐゴシック" charset="0"/>
              </a:rPr>
              <a:t>Ignore</a:t>
            </a:r>
            <a:r>
              <a:rPr lang="en-US" sz="2400" dirty="0" smtClean="0">
                <a:latin typeface="Lucida Sans Unicode" charset="0"/>
                <a:ea typeface="ＭＳ Ｐゴシック" charset="0"/>
              </a:rPr>
              <a:t> </a:t>
            </a:r>
            <a:r>
              <a:rPr lang="en-US" sz="2400" dirty="0">
                <a:latin typeface="Lucida Sans Unicode" charset="0"/>
                <a:ea typeface="ＭＳ Ｐゴシック" charset="0"/>
              </a:rPr>
              <a:t>the exception (complete delegation)</a:t>
            </a:r>
          </a:p>
          <a:p>
            <a:pPr marL="914400" lvl="1" indent="-457200" eaLnBrk="1" hangingPunct="1"/>
            <a:r>
              <a:rPr lang="en-US" sz="2400" dirty="0" smtClean="0">
                <a:latin typeface="Lucida Sans Unicode" charset="0"/>
                <a:ea typeface="ＭＳ Ｐゴシック" charset="0"/>
              </a:rPr>
              <a:t> Intercept and re-issues </a:t>
            </a:r>
            <a:r>
              <a:rPr lang="en-US" sz="2400" dirty="0">
                <a:latin typeface="Lucida Sans Unicode" charset="0"/>
                <a:ea typeface="ＭＳ Ｐゴシック" charset="0"/>
              </a:rPr>
              <a:t>(partial delegation)</a:t>
            </a:r>
          </a:p>
        </p:txBody>
      </p:sp>
      <p:sp>
        <p:nvSpPr>
          <p:cNvPr id="358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5DD93054-7F56-2648-8DE6-982B70A84781}" type="slidenum">
              <a:rPr lang="it-IT" sz="1200"/>
              <a:pPr eaLnBrk="1" hangingPunct="1"/>
              <a:t>11</a:t>
            </a:fld>
            <a:endParaRPr lang="it-IT" sz="12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8C6C4760-DC36-174B-8267-C9B609989558}" type="slidenum">
              <a:rPr lang="it-IT" sz="1200"/>
              <a:pPr eaLnBrk="1" hangingPunct="1"/>
              <a:t>12</a:t>
            </a:fld>
            <a:endParaRPr lang="it-IT" sz="1200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ea typeface="ＭＳ Ｐゴシック" charset="0"/>
                <a:cs typeface="ＭＳ Ｐゴシック" charset="0"/>
              </a:rPr>
              <a:t>Syntax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Java provides three keywords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FF6633"/>
                </a:solidFill>
                <a:latin typeface="Courier New"/>
                <a:ea typeface="ＭＳ Ｐゴシック" charset="0"/>
                <a:cs typeface="Courier New"/>
              </a:rPr>
              <a:t>throw</a:t>
            </a:r>
            <a:endParaRPr lang="en-US" b="1" dirty="0">
              <a:solidFill>
                <a:srgbClr val="FF6633"/>
              </a:solidFill>
              <a:latin typeface="Courier New"/>
              <a:ea typeface="ＭＳ Ｐゴシック" charset="0"/>
              <a:cs typeface="Courier New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ＭＳ Ｐゴシック" charset="0"/>
              </a:rPr>
              <a:t>Generates an exception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>
                <a:solidFill>
                  <a:srgbClr val="FF6633"/>
                </a:solidFill>
                <a:latin typeface="Courier New"/>
                <a:ea typeface="ＭＳ Ｐゴシック" charset="0"/>
                <a:cs typeface="Courier New"/>
              </a:rPr>
              <a:t>t</a:t>
            </a:r>
            <a:r>
              <a:rPr lang="en-US" b="1" dirty="0" smtClean="0">
                <a:solidFill>
                  <a:srgbClr val="FF6633"/>
                </a:solidFill>
                <a:latin typeface="Courier New"/>
                <a:ea typeface="ＭＳ Ｐゴシック" charset="0"/>
                <a:cs typeface="Courier New"/>
              </a:rPr>
              <a:t>ry</a:t>
            </a:r>
            <a:endParaRPr lang="en-US" b="1" dirty="0">
              <a:solidFill>
                <a:srgbClr val="FF6633"/>
              </a:solidFill>
              <a:latin typeface="Courier New"/>
              <a:ea typeface="ＭＳ Ｐゴシック" charset="0"/>
              <a:cs typeface="Courier New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ＭＳ Ｐゴシック" charset="0"/>
              </a:rPr>
              <a:t>Contains code that may generate exceptions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>
                <a:solidFill>
                  <a:srgbClr val="FF6633"/>
                </a:solidFill>
                <a:latin typeface="Courier New"/>
                <a:ea typeface="ＭＳ Ｐゴシック" charset="0"/>
                <a:cs typeface="Courier New"/>
              </a:rPr>
              <a:t>c</a:t>
            </a:r>
            <a:r>
              <a:rPr lang="en-US" b="1" dirty="0" smtClean="0">
                <a:solidFill>
                  <a:srgbClr val="FF6633"/>
                </a:solidFill>
                <a:latin typeface="Courier New"/>
                <a:ea typeface="ＭＳ Ｐゴシック" charset="0"/>
                <a:cs typeface="Courier New"/>
              </a:rPr>
              <a:t>atch</a:t>
            </a:r>
            <a:endParaRPr lang="en-US" b="1" dirty="0">
              <a:solidFill>
                <a:srgbClr val="FF6633"/>
              </a:solidFill>
              <a:latin typeface="Courier New"/>
              <a:ea typeface="ＭＳ Ｐゴシック" charset="0"/>
              <a:cs typeface="Courier New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ＭＳ Ｐゴシック" charset="0"/>
              </a:rPr>
              <a:t>Defines the error handler</a:t>
            </a:r>
          </a:p>
          <a:p>
            <a:pPr lvl="2" eaLnBrk="1" hangingPunct="1">
              <a:lnSpc>
                <a:spcPct val="90000"/>
              </a:lnSpc>
            </a:pPr>
            <a:endParaRPr lang="en-US" dirty="0">
              <a:latin typeface="Lucida Sans Unicode" charset="0"/>
              <a:ea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We also need a new entity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err="1" smtClean="0">
                <a:solidFill>
                  <a:srgbClr val="FF6633"/>
                </a:solidFill>
                <a:latin typeface="Courier New"/>
                <a:ea typeface="ＭＳ Ｐゴシック" charset="0"/>
                <a:cs typeface="Courier New"/>
              </a:rPr>
              <a:t>Throwable</a:t>
            </a:r>
            <a:r>
              <a:rPr lang="en-US" dirty="0" smtClean="0">
                <a:solidFill>
                  <a:srgbClr val="FF6633"/>
                </a:solidFill>
                <a:latin typeface="Lucida Sans Unicode" charset="0"/>
                <a:ea typeface="ＭＳ Ｐゴシック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Lucida Sans Unicode" charset="0"/>
                <a:ea typeface="ＭＳ Ｐゴシック" charset="0"/>
              </a:rPr>
              <a:t>class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C7E05BD5-1FEA-D54B-AFE9-677CB56D42F6}" type="slidenum">
              <a:rPr lang="it-IT" sz="1200"/>
              <a:pPr eaLnBrk="1" hangingPunct="1"/>
              <a:t>13</a:t>
            </a:fld>
            <a:endParaRPr lang="it-IT" sz="1200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Generating Exceptions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9939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Arial" charset="0"/>
              <a:buAutoNum type="arabicPeriod"/>
            </a:pP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Identify/define an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exception class</a:t>
            </a:r>
          </a:p>
          <a:p>
            <a:pPr marL="609600" indent="-609600" eaLnBrk="1" hangingPunct="1">
              <a:buFont typeface="Arial" charset="0"/>
              <a:buAutoNum type="arabicPeriod"/>
            </a:pP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Have the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method generating the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exception marked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marL="609600" indent="-609600" eaLnBrk="1" hangingPunct="1">
              <a:buFont typeface="Arial" charset="0"/>
              <a:buAutoNum type="arabicPeriod"/>
            </a:pP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Create an exception object</a:t>
            </a:r>
          </a:p>
          <a:p>
            <a:pPr marL="609600" indent="-609600" eaLnBrk="1" hangingPunct="1">
              <a:buFont typeface="Arial" charset="0"/>
              <a:buAutoNum type="arabicPeriod"/>
            </a:pP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Throw upward the exception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 bwMode="auto">
          <a:xfrm>
            <a:off x="546950" y="2568881"/>
            <a:ext cx="7923541" cy="327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554835" y="1257557"/>
            <a:ext cx="7903325" cy="10602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buFont typeface="Symbol" pitchFamily="-110" charset="2"/>
              <a:buNone/>
            </a:pPr>
            <a:endParaRPr lang="en-US">
              <a:latin typeface="Lucida Sans Unicode" pitchFamily="-110" charset="-52"/>
            </a:endParaRPr>
          </a:p>
        </p:txBody>
      </p:sp>
      <p:sp>
        <p:nvSpPr>
          <p:cNvPr id="4198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4EB2ED12-6875-ED4C-B036-B6A8FAAE4775}" type="slidenum">
              <a:rPr lang="it-IT" sz="1200"/>
              <a:pPr eaLnBrk="1" hangingPunct="1"/>
              <a:t>14</a:t>
            </a:fld>
            <a:endParaRPr lang="it-IT" sz="1200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ea typeface="ＭＳ Ｐゴシック" charset="0"/>
                <a:cs typeface="ＭＳ Ｐゴシック" charset="0"/>
              </a:rPr>
              <a:t>Generation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// </a:t>
            </a:r>
            <a:r>
              <a:rPr lang="en-US" sz="2000" b="1" dirty="0" err="1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java.lang.Exception</a:t>
            </a:r>
            <a:endParaRPr lang="en-US" sz="2000" b="1" dirty="0">
              <a:solidFill>
                <a:schemeClr val="folHlink"/>
              </a:solidFill>
              <a:latin typeface="Courier New" charset="0"/>
              <a:ea typeface="ＭＳ Ｐゴシック" charset="0"/>
              <a:cs typeface="ＭＳ Ｐゴシック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public class </a:t>
            </a:r>
            <a:r>
              <a:rPr lang="en-US" sz="2000" b="1" dirty="0" err="1">
                <a:latin typeface="Courier New" charset="0"/>
                <a:ea typeface="ＭＳ Ｐゴシック" charset="0"/>
                <a:cs typeface="ＭＳ Ｐゴシック" charset="0"/>
              </a:rPr>
              <a:t>EmptyStack</a:t>
            </a: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extends Exception </a:t>
            </a: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{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endParaRPr lang="en-US" sz="28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class </a:t>
            </a:r>
            <a:r>
              <a:rPr lang="en-US" sz="2000" b="1" dirty="0" smtClean="0">
                <a:latin typeface="Courier New" charset="0"/>
                <a:ea typeface="ＭＳ Ｐゴシック" charset="0"/>
                <a:cs typeface="ＭＳ Ｐゴシック" charset="0"/>
              </a:rPr>
              <a:t>Stack&lt;E&gt;{</a:t>
            </a:r>
            <a:endParaRPr lang="en-US" sz="20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  public </a:t>
            </a:r>
            <a:r>
              <a:rPr lang="en-US" sz="2000" b="1" dirty="0" smtClean="0">
                <a:latin typeface="Courier New" charset="0"/>
                <a:ea typeface="ＭＳ Ｐゴシック" charset="0"/>
                <a:cs typeface="ＭＳ Ｐゴシック" charset="0"/>
              </a:rPr>
              <a:t>E pop</a:t>
            </a: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() </a:t>
            </a:r>
            <a:r>
              <a:rPr lang="en-US" sz="20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throws</a:t>
            </a: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dirty="0" err="1">
                <a:latin typeface="Courier New" charset="0"/>
                <a:ea typeface="ＭＳ Ｐゴシック" charset="0"/>
                <a:cs typeface="ＭＳ Ｐゴシック" charset="0"/>
              </a:rPr>
              <a:t>EmptyStack</a:t>
            </a: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{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     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     if(size == 0) {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        Exception e = </a:t>
            </a:r>
            <a:r>
              <a:rPr lang="en-US" sz="20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new</a:t>
            </a: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b="1" dirty="0" err="1">
                <a:latin typeface="Courier New" charset="0"/>
                <a:ea typeface="ＭＳ Ｐゴシック" charset="0"/>
                <a:cs typeface="ＭＳ Ｐゴシック" charset="0"/>
              </a:rPr>
              <a:t>EmptyStack</a:t>
            </a: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();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        </a:t>
            </a:r>
            <a:r>
              <a:rPr lang="en-US" sz="20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throw</a:t>
            </a: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e;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     }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     ...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   }</a:t>
            </a:r>
          </a:p>
          <a:p>
            <a:pPr marL="609600" indent="-609600"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0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4294188" y="1492250"/>
            <a:ext cx="2901950" cy="614363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7500938" y="1287463"/>
            <a:ext cx="4556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(1)</a:t>
            </a:r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4111625" y="2801938"/>
            <a:ext cx="2940050" cy="614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6961188" y="2482850"/>
            <a:ext cx="4556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(2)</a:t>
            </a:r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4135438" y="3700463"/>
            <a:ext cx="2940050" cy="614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1993" name="Oval 9"/>
          <p:cNvSpPr>
            <a:spLocks noChangeArrowheads="1"/>
          </p:cNvSpPr>
          <p:nvPr/>
        </p:nvSpPr>
        <p:spPr bwMode="auto">
          <a:xfrm>
            <a:off x="1908175" y="4033838"/>
            <a:ext cx="1557338" cy="614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1994" name="Text Box 10"/>
          <p:cNvSpPr txBox="1">
            <a:spLocks noChangeArrowheads="1"/>
          </p:cNvSpPr>
          <p:nvPr/>
        </p:nvSpPr>
        <p:spPr bwMode="auto">
          <a:xfrm>
            <a:off x="7235825" y="3605213"/>
            <a:ext cx="4556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(3)</a:t>
            </a:r>
          </a:p>
        </p:txBody>
      </p:sp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3548063" y="4337050"/>
            <a:ext cx="4556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(4)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3459A74-A80F-284D-B3E1-F86953CDF9A1}" type="slidenum">
              <a:rPr lang="it-IT" sz="1200"/>
              <a:pPr eaLnBrk="1" hangingPunct="1"/>
              <a:t>15</a:t>
            </a:fld>
            <a:endParaRPr lang="it-IT" sz="120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Courier New"/>
                <a:ea typeface="ＭＳ Ｐゴシック" charset="0"/>
                <a:cs typeface="Courier New"/>
              </a:rPr>
              <a:t>throws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The method signature must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declare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dirty="0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exception 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type(s)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 generated within its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body </a:t>
            </a:r>
          </a:p>
          <a:p>
            <a:pPr lvl="1"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Possibly more than one</a:t>
            </a:r>
            <a:endParaRPr lang="en-US" dirty="0">
              <a:latin typeface="Lucida Sans Unicode" charset="0"/>
              <a:ea typeface="ＭＳ Ｐゴシック" charset="0"/>
            </a:endParaRPr>
          </a:p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Either </a:t>
            </a:r>
            <a:endParaRPr lang="en-US" dirty="0" smtClean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thrown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by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the method, </a:t>
            </a:r>
            <a:r>
              <a:rPr lang="en-US" dirty="0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directly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or thrown by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other methods called within the method and 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not caught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2ED7685-CFCC-2B46-81E7-E67D9BCE8BCC}" type="slidenum">
              <a:rPr lang="it-IT" sz="1200"/>
              <a:pPr eaLnBrk="1" hangingPunct="1"/>
              <a:t>16</a:t>
            </a:fld>
            <a:endParaRPr lang="it-IT" sz="1200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atin typeface="Courier New"/>
                <a:ea typeface="ＭＳ Ｐゴシック" charset="0"/>
                <a:cs typeface="Courier New"/>
              </a:rPr>
              <a:t>throw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When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an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thrown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:</a:t>
            </a:r>
          </a:p>
          <a:p>
            <a:pPr lvl="1" eaLnBrk="1" hangingPunct="1"/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The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xecution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of 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the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current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method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interrupted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immediatelly</a:t>
            </a:r>
            <a:endParaRPr lang="it-IT" dirty="0">
              <a:solidFill>
                <a:srgbClr val="FF6600"/>
              </a:solidFill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The code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immediately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following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b="1" dirty="0" err="1" smtClean="0">
                <a:latin typeface="Courier New"/>
                <a:ea typeface="ＭＳ Ｐゴシック" charset="0"/>
                <a:cs typeface="Courier New"/>
              </a:rPr>
              <a:t>throw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not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exectuted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</a:p>
          <a:p>
            <a:pPr lvl="2" eaLnBrk="1" hangingPunct="1"/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Similar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to a </a:t>
            </a:r>
            <a:r>
              <a:rPr lang="it-IT" b="1" dirty="0" err="1" smtClean="0">
                <a:latin typeface="Courier New"/>
                <a:ea typeface="ＭＳ Ｐゴシック" charset="0"/>
                <a:cs typeface="Courier New"/>
              </a:rPr>
              <a:t>return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statement</a:t>
            </a:r>
          </a:p>
          <a:p>
            <a:pPr lvl="1" eaLnBrk="1" hangingPunct="1"/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The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catching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phase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starts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33400" y="2120900"/>
            <a:ext cx="8089900" cy="3949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481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CEC45986-404C-FF41-BE2F-C55D57033BC7}" type="slidenum">
              <a:rPr lang="it-IT" sz="1200"/>
              <a:pPr eaLnBrk="1" hangingPunct="1"/>
              <a:t>17</a:t>
            </a:fld>
            <a:endParaRPr lang="it-IT" sz="120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Interception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Catching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generated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in a code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portion</a:t>
            </a:r>
            <a:endParaRPr lang="it-IT" sz="28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 typeface="Symbol" charset="0"/>
              <a:buNone/>
            </a:pPr>
            <a:endParaRPr lang="it-IT" sz="2000" b="1" dirty="0">
              <a:latin typeface="Courier New" charset="0"/>
              <a:ea typeface="ＭＳ Ｐゴシック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 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// in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this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piece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of code some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//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exceptions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may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be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generated</a:t>
            </a:r>
            <a:endParaRPr lang="it-IT" sz="2400" b="1" dirty="0">
              <a:solidFill>
                <a:srgbClr val="77933C"/>
              </a:solidFill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 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stack.pop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();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 ...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catch 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(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StackEmpty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e) 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endParaRPr lang="it-IT" sz="24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//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handling</a:t>
            </a:r>
            <a:endParaRPr lang="it-IT" sz="2400" b="1" dirty="0">
              <a:solidFill>
                <a:srgbClr val="77933C"/>
              </a:solidFill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 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System.out.println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(e);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 ...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endParaRPr lang="en-US" sz="2400" b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0BCB50AA-5B48-5A4E-814F-C44EBA90D836}" type="slidenum">
              <a:rPr lang="it-IT" sz="1200"/>
              <a:pPr eaLnBrk="1" hangingPunct="1"/>
              <a:t>18</a:t>
            </a:fld>
            <a:endParaRPr lang="it-IT" sz="1200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Execution flow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3473450" cy="4724400"/>
          </a:xfrm>
        </p:spPr>
        <p:txBody>
          <a:bodyPr/>
          <a:lstStyle/>
          <a:p>
            <a:pPr eaLnBrk="1" hangingPunct="1"/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open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close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 can generate a </a:t>
            </a:r>
            <a:r>
              <a:rPr lang="en-US" b="1" dirty="0" err="1">
                <a:latin typeface="Courier New" charset="0"/>
                <a:ea typeface="ＭＳ Ｐゴシック" charset="0"/>
                <a:cs typeface="ＭＳ Ｐゴシック" charset="0"/>
              </a:rPr>
              <a:t>FileError</a:t>
            </a:r>
            <a:endParaRPr lang="en-US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Suppose</a:t>
            </a:r>
            <a:r>
              <a:rPr lang="en-US" dirty="0">
                <a:latin typeface="Courier New" charset="0"/>
                <a:ea typeface="ＭＳ Ｐゴシック" charset="0"/>
                <a:cs typeface="ＭＳ Ｐゴシック" charset="0"/>
              </a:rPr>
              <a:t> read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does not generate exceptions</a:t>
            </a:r>
          </a:p>
        </p:txBody>
      </p:sp>
      <p:sp>
        <p:nvSpPr>
          <p:cNvPr id="48132" name="AutoShape 5"/>
          <p:cNvSpPr>
            <a:spLocks noChangeArrowheads="1"/>
          </p:cNvSpPr>
          <p:nvPr/>
        </p:nvSpPr>
        <p:spPr bwMode="auto">
          <a:xfrm>
            <a:off x="4343400" y="1600200"/>
            <a:ext cx="4572000" cy="3900488"/>
          </a:xfrm>
          <a:prstGeom prst="foldedCorner">
            <a:avLst>
              <a:gd name="adj" fmla="val 12500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75000"/>
              </a:schemeClr>
            </a:solidFill>
            <a:round/>
            <a:headEnd/>
            <a:tailEnd/>
          </a:ln>
        </p:spPr>
        <p:txBody>
          <a:bodyPr wrap="none" tIns="72000" bIns="72000"/>
          <a:lstStyle/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System.out.print</a:t>
            </a:r>
            <a:r>
              <a:rPr lang="it-IT" sz="2000" b="1" dirty="0">
                <a:latin typeface="Courier New" charset="0"/>
              </a:rPr>
              <a:t>("</a:t>
            </a:r>
            <a:r>
              <a:rPr lang="it-IT" sz="2000" b="1" dirty="0" err="1">
                <a:latin typeface="Courier New" charset="0"/>
              </a:rPr>
              <a:t>Begin</a:t>
            </a:r>
            <a:r>
              <a:rPr lang="it-IT" sz="2000" b="1" dirty="0">
                <a:latin typeface="Courier New" charset="0"/>
              </a:rPr>
              <a:t>");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File </a:t>
            </a:r>
            <a:r>
              <a:rPr lang="it-IT" sz="2000" b="1" dirty="0" err="1">
                <a:latin typeface="Courier New" charset="0"/>
              </a:rPr>
              <a:t>f</a:t>
            </a:r>
            <a:r>
              <a:rPr lang="it-IT" sz="2000" b="1" dirty="0">
                <a:latin typeface="Courier New" charset="0"/>
              </a:rPr>
              <a:t> = new File(</a:t>
            </a:r>
            <a:r>
              <a:rPr lang="ja-JP" altLang="it-IT" sz="2000" b="1" dirty="0">
                <a:latin typeface="Courier New" charset="0"/>
              </a:rPr>
              <a:t>“</a:t>
            </a:r>
            <a:r>
              <a:rPr lang="it-IT" altLang="ja-JP" sz="2000" b="1" dirty="0" err="1">
                <a:latin typeface="Courier New" charset="0"/>
              </a:rPr>
              <a:t>foo.txt</a:t>
            </a:r>
            <a:r>
              <a:rPr lang="ja-JP" altLang="it-IT" sz="2000" b="1" dirty="0">
                <a:latin typeface="Courier New" charset="0"/>
              </a:rPr>
              <a:t>”</a:t>
            </a:r>
            <a:r>
              <a:rPr lang="it-IT" altLang="ja-JP" sz="2000" b="1" dirty="0"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try</a:t>
            </a:r>
            <a:r>
              <a:rPr lang="it-IT" sz="2000" b="1" dirty="0">
                <a:latin typeface="Courier New" charset="0"/>
              </a:rPr>
              <a:t>{ 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f.open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f.read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f.close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dirty="0" err="1">
                <a:latin typeface="Courier New" charset="0"/>
              </a:rPr>
              <a:t>FileError</a:t>
            </a:r>
            <a:r>
              <a:rPr lang="it-IT" sz="2000" b="1" dirty="0">
                <a:latin typeface="Courier New" charset="0"/>
              </a:rPr>
              <a:t> </a:t>
            </a:r>
            <a:r>
              <a:rPr lang="it-IT" sz="2000" b="1" dirty="0" err="1">
                <a:latin typeface="Courier New" charset="0"/>
              </a:rPr>
              <a:t>fe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8064A2"/>
                </a:solidFill>
                <a:latin typeface="Courier New" charset="0"/>
              </a:rPr>
              <a:t>System.out.print</a:t>
            </a:r>
            <a:r>
              <a:rPr lang="it-IT" sz="2000" b="1" dirty="0">
                <a:solidFill>
                  <a:srgbClr val="8064A2"/>
                </a:solidFill>
                <a:latin typeface="Courier New" charset="0"/>
              </a:rPr>
              <a:t>("</a:t>
            </a:r>
            <a:r>
              <a:rPr lang="it-IT" sz="2000" b="1" dirty="0" err="1">
                <a:solidFill>
                  <a:srgbClr val="8064A2"/>
                </a:solidFill>
                <a:latin typeface="Courier New" charset="0"/>
              </a:rPr>
              <a:t>Error</a:t>
            </a:r>
            <a:r>
              <a:rPr lang="it-IT" sz="2000" b="1" dirty="0">
                <a:solidFill>
                  <a:srgbClr val="8064A2"/>
                </a:solidFill>
                <a:latin typeface="Courier New" charset="0"/>
              </a:rPr>
              <a:t>");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}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System.out.print</a:t>
            </a:r>
            <a:r>
              <a:rPr lang="it-IT" sz="2000" b="1" dirty="0">
                <a:latin typeface="Courier New" charset="0"/>
              </a:rPr>
              <a:t>("End");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0440B7E-3319-B346-A461-418A3B9678DC}" type="slidenum">
              <a:rPr lang="it-IT" sz="1200"/>
              <a:pPr eaLnBrk="1" hangingPunct="1"/>
              <a:t>19</a:t>
            </a:fld>
            <a:endParaRPr lang="it-IT" sz="1200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Execution flow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2868613" cy="4724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If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no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generated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then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b="1" dirty="0" smtClean="0">
                <a:latin typeface="Courier New"/>
                <a:ea typeface="ＭＳ Ｐゴシック" charset="0"/>
                <a:cs typeface="Courier New"/>
              </a:rPr>
              <a:t>catch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block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skipped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2228" name="Line 5"/>
          <p:cNvSpPr>
            <a:spLocks noChangeShapeType="1"/>
          </p:cNvSpPr>
          <p:nvPr/>
        </p:nvSpPr>
        <p:spPr bwMode="auto">
          <a:xfrm>
            <a:off x="4038600" y="2897188"/>
            <a:ext cx="0" cy="896937"/>
          </a:xfrm>
          <a:prstGeom prst="line">
            <a:avLst/>
          </a:prstGeom>
          <a:noFill/>
          <a:ln w="28575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9" name="Line 6"/>
          <p:cNvSpPr>
            <a:spLocks noChangeShapeType="1"/>
          </p:cNvSpPr>
          <p:nvPr/>
        </p:nvSpPr>
        <p:spPr bwMode="auto">
          <a:xfrm>
            <a:off x="4038600" y="4846638"/>
            <a:ext cx="0" cy="441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Oval 7"/>
          <p:cNvSpPr>
            <a:spLocks noChangeArrowheads="1"/>
          </p:cNvSpPr>
          <p:nvPr/>
        </p:nvSpPr>
        <p:spPr bwMode="auto">
          <a:xfrm>
            <a:off x="3962400" y="3736975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8"/>
          <p:cNvSpPr>
            <a:spLocks noChangeArrowheads="1"/>
          </p:cNvSpPr>
          <p:nvPr/>
        </p:nvSpPr>
        <p:spPr bwMode="auto">
          <a:xfrm>
            <a:off x="3962400" y="4629150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2232" name="AutoShape 9"/>
          <p:cNvCxnSpPr>
            <a:cxnSpLocks noChangeShapeType="1"/>
            <a:stCxn id="52230" idx="2"/>
            <a:endCxn id="52231" idx="2"/>
          </p:cNvCxnSpPr>
          <p:nvPr/>
        </p:nvCxnSpPr>
        <p:spPr bwMode="auto">
          <a:xfrm rot="10800000" flipH="1" flipV="1">
            <a:off x="3962400" y="3813175"/>
            <a:ext cx="1588" cy="892175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accent4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33" name="Line 10"/>
          <p:cNvSpPr>
            <a:spLocks noChangeShapeType="1"/>
          </p:cNvSpPr>
          <p:nvPr/>
        </p:nvSpPr>
        <p:spPr bwMode="auto">
          <a:xfrm>
            <a:off x="4038600" y="1752600"/>
            <a:ext cx="0" cy="1082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AutoShape 13"/>
          <p:cNvSpPr>
            <a:spLocks noChangeArrowheads="1"/>
          </p:cNvSpPr>
          <p:nvPr/>
        </p:nvSpPr>
        <p:spPr bwMode="auto">
          <a:xfrm>
            <a:off x="4343400" y="1600200"/>
            <a:ext cx="4572000" cy="3900488"/>
          </a:xfrm>
          <a:prstGeom prst="foldedCorner">
            <a:avLst>
              <a:gd name="adj" fmla="val 12500"/>
            </a:avLst>
          </a:prstGeom>
          <a:solidFill>
            <a:srgbClr val="FDEADA"/>
          </a:solidFill>
          <a:ln w="6350">
            <a:solidFill>
              <a:srgbClr val="E46C0A"/>
            </a:solidFill>
            <a:round/>
            <a:headEnd/>
            <a:tailEnd/>
          </a:ln>
        </p:spPr>
        <p:txBody>
          <a:bodyPr wrap="none" tIns="72000" bIns="72000"/>
          <a:lstStyle/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System.out.print</a:t>
            </a:r>
            <a:r>
              <a:rPr lang="it-IT" sz="2000" b="1" dirty="0">
                <a:latin typeface="Courier New" charset="0"/>
              </a:rPr>
              <a:t>("</a:t>
            </a:r>
            <a:r>
              <a:rPr lang="it-IT" sz="2000" b="1" dirty="0" err="1">
                <a:latin typeface="Courier New" charset="0"/>
              </a:rPr>
              <a:t>Begin</a:t>
            </a:r>
            <a:r>
              <a:rPr lang="it-IT" sz="2000" b="1" dirty="0">
                <a:latin typeface="Courier New" charset="0"/>
              </a:rPr>
              <a:t>");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File </a:t>
            </a:r>
            <a:r>
              <a:rPr lang="it-IT" sz="2000" b="1" dirty="0" err="1">
                <a:latin typeface="Courier New" charset="0"/>
              </a:rPr>
              <a:t>f</a:t>
            </a:r>
            <a:r>
              <a:rPr lang="it-IT" sz="2000" b="1" dirty="0">
                <a:latin typeface="Courier New" charset="0"/>
              </a:rPr>
              <a:t> = new File(</a:t>
            </a:r>
            <a:r>
              <a:rPr lang="ja-JP" altLang="it-IT" sz="2000" b="1" dirty="0">
                <a:latin typeface="Courier New" charset="0"/>
              </a:rPr>
              <a:t>“</a:t>
            </a:r>
            <a:r>
              <a:rPr lang="it-IT" altLang="ja-JP" sz="2000" b="1" dirty="0" err="1">
                <a:latin typeface="Courier New" charset="0"/>
              </a:rPr>
              <a:t>foo.txt</a:t>
            </a:r>
            <a:r>
              <a:rPr lang="ja-JP" altLang="it-IT" sz="2000" b="1" dirty="0">
                <a:latin typeface="Courier New" charset="0"/>
              </a:rPr>
              <a:t>”</a:t>
            </a:r>
            <a:r>
              <a:rPr lang="it-IT" altLang="ja-JP" sz="2000" b="1" dirty="0"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try</a:t>
            </a:r>
            <a:r>
              <a:rPr lang="it-IT" sz="2000" b="1" dirty="0">
                <a:latin typeface="Courier New" charset="0"/>
              </a:rPr>
              <a:t>{ 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 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f.open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f.read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f.close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dirty="0" err="1">
                <a:latin typeface="Courier New" charset="0"/>
              </a:rPr>
              <a:t>FileError</a:t>
            </a:r>
            <a:r>
              <a:rPr lang="it-IT" sz="2000" b="1" dirty="0">
                <a:latin typeface="Courier New" charset="0"/>
              </a:rPr>
              <a:t> </a:t>
            </a:r>
            <a:r>
              <a:rPr lang="it-IT" sz="2000" b="1" dirty="0" err="1">
                <a:latin typeface="Courier New" charset="0"/>
              </a:rPr>
              <a:t>fe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  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System.out.print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("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Error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");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}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System.out.print</a:t>
            </a:r>
            <a:r>
              <a:rPr lang="it-IT" sz="2000" b="1" dirty="0">
                <a:latin typeface="Courier New" charset="0"/>
              </a:rPr>
              <a:t>("End");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98A0E307-BC3D-3347-BC76-247B01ACBB7B}" type="slidenum">
              <a:rPr lang="it-IT" sz="1200"/>
              <a:pPr eaLnBrk="1" hangingPunct="1"/>
              <a:t>20</a:t>
            </a:fld>
            <a:endParaRPr lang="it-IT" sz="120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Execution flow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2868613" cy="4724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If </a:t>
            </a:r>
            <a:r>
              <a:rPr lang="en-US" dirty="0" smtClean="0">
                <a:latin typeface="Courier New" charset="0"/>
                <a:ea typeface="ＭＳ Ｐゴシック" charset="0"/>
                <a:cs typeface="ＭＳ Ｐゴシック" charset="0"/>
              </a:rPr>
              <a:t>open</a:t>
            </a:r>
            <a:r>
              <a:rPr lang="en-US" dirty="0">
                <a:latin typeface="Courier New" charset="0"/>
                <a:ea typeface="ＭＳ Ｐゴシック" charset="0"/>
                <a:cs typeface="ＭＳ Ｐゴシック" charset="0"/>
              </a:rPr>
              <a:t>()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 generates an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exception then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buNone/>
            </a:pPr>
            <a:r>
              <a:rPr lang="en-US" dirty="0">
                <a:latin typeface="Courier New" charset="0"/>
                <a:ea typeface="ＭＳ Ｐゴシック" charset="0"/>
                <a:cs typeface="ＭＳ Ｐゴシック" charset="0"/>
              </a:rPr>
              <a:t>read()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dirty="0">
                <a:latin typeface="Courier New" charset="0"/>
                <a:ea typeface="ＭＳ Ｐゴシック" charset="0"/>
                <a:cs typeface="ＭＳ Ｐゴシック" charset="0"/>
              </a:rPr>
              <a:t>close()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 are skipped</a:t>
            </a:r>
          </a:p>
        </p:txBody>
      </p:sp>
      <p:sp>
        <p:nvSpPr>
          <p:cNvPr id="54276" name="Line 5"/>
          <p:cNvSpPr>
            <a:spLocks noChangeShapeType="1"/>
          </p:cNvSpPr>
          <p:nvPr/>
        </p:nvSpPr>
        <p:spPr bwMode="auto">
          <a:xfrm>
            <a:off x="4038600" y="2865438"/>
            <a:ext cx="0" cy="306387"/>
          </a:xfrm>
          <a:prstGeom prst="line">
            <a:avLst/>
          </a:prstGeom>
          <a:noFill/>
          <a:ln w="28575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7" name="Oval 7"/>
          <p:cNvSpPr>
            <a:spLocks noChangeArrowheads="1"/>
          </p:cNvSpPr>
          <p:nvPr/>
        </p:nvSpPr>
        <p:spPr bwMode="auto">
          <a:xfrm>
            <a:off x="3962400" y="3168650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8" name="Oval 8"/>
          <p:cNvSpPr>
            <a:spLocks noChangeArrowheads="1"/>
          </p:cNvSpPr>
          <p:nvPr/>
        </p:nvSpPr>
        <p:spPr bwMode="auto">
          <a:xfrm>
            <a:off x="3962400" y="3749675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4279" name="AutoShape 9"/>
          <p:cNvCxnSpPr>
            <a:cxnSpLocks noChangeShapeType="1"/>
            <a:stCxn id="54277" idx="2"/>
            <a:endCxn id="54278" idx="2"/>
          </p:cNvCxnSpPr>
          <p:nvPr/>
        </p:nvCxnSpPr>
        <p:spPr bwMode="auto">
          <a:xfrm rot="10800000" flipH="1" flipV="1">
            <a:off x="3962400" y="3244850"/>
            <a:ext cx="1588" cy="581025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accent6">
                <a:lumMod val="75000"/>
              </a:schemeClr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280" name="Line 11"/>
          <p:cNvSpPr>
            <a:spLocks noChangeShapeType="1"/>
          </p:cNvSpPr>
          <p:nvPr/>
        </p:nvSpPr>
        <p:spPr bwMode="auto">
          <a:xfrm>
            <a:off x="4038600" y="3978275"/>
            <a:ext cx="0" cy="746125"/>
          </a:xfrm>
          <a:prstGeom prst="line">
            <a:avLst/>
          </a:prstGeom>
          <a:noFill/>
          <a:ln w="28575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AutoShape 15"/>
          <p:cNvSpPr>
            <a:spLocks noChangeArrowheads="1"/>
          </p:cNvSpPr>
          <p:nvPr/>
        </p:nvSpPr>
        <p:spPr bwMode="auto">
          <a:xfrm>
            <a:off x="4343400" y="1600200"/>
            <a:ext cx="4572000" cy="3900488"/>
          </a:xfrm>
          <a:prstGeom prst="foldedCorner">
            <a:avLst>
              <a:gd name="adj" fmla="val 12500"/>
            </a:avLst>
          </a:prstGeom>
          <a:solidFill>
            <a:srgbClr val="FDEADA"/>
          </a:solidFill>
          <a:ln w="6350">
            <a:solidFill>
              <a:srgbClr val="E46C0A"/>
            </a:solidFill>
            <a:round/>
            <a:headEnd/>
            <a:tailEnd/>
          </a:ln>
        </p:spPr>
        <p:txBody>
          <a:bodyPr wrap="none" tIns="72000" bIns="72000"/>
          <a:lstStyle/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System.out.print</a:t>
            </a:r>
            <a:r>
              <a:rPr lang="it-IT" sz="2000" b="1" dirty="0">
                <a:latin typeface="Courier New" charset="0"/>
              </a:rPr>
              <a:t>("</a:t>
            </a:r>
            <a:r>
              <a:rPr lang="it-IT" sz="2000" b="1" dirty="0" err="1">
                <a:latin typeface="Courier New" charset="0"/>
              </a:rPr>
              <a:t>Begin</a:t>
            </a:r>
            <a:r>
              <a:rPr lang="it-IT" sz="2000" b="1" dirty="0">
                <a:latin typeface="Courier New" charset="0"/>
              </a:rPr>
              <a:t>");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File </a:t>
            </a:r>
            <a:r>
              <a:rPr lang="it-IT" sz="2000" b="1" dirty="0" err="1">
                <a:latin typeface="Courier New" charset="0"/>
              </a:rPr>
              <a:t>f</a:t>
            </a:r>
            <a:r>
              <a:rPr lang="it-IT" sz="2000" b="1" dirty="0">
                <a:latin typeface="Courier New" charset="0"/>
              </a:rPr>
              <a:t> = new File(</a:t>
            </a:r>
            <a:r>
              <a:rPr lang="ja-JP" altLang="it-IT" sz="2000" b="1" dirty="0">
                <a:latin typeface="Courier New" charset="0"/>
              </a:rPr>
              <a:t>“</a:t>
            </a:r>
            <a:r>
              <a:rPr lang="it-IT" altLang="ja-JP" sz="2000" b="1" dirty="0" err="1">
                <a:latin typeface="Courier New" charset="0"/>
              </a:rPr>
              <a:t>foo.txt</a:t>
            </a:r>
            <a:r>
              <a:rPr lang="ja-JP" altLang="it-IT" sz="2000" b="1" dirty="0">
                <a:latin typeface="Courier New" charset="0"/>
              </a:rPr>
              <a:t>”</a:t>
            </a:r>
            <a:r>
              <a:rPr lang="it-IT" altLang="ja-JP" sz="2000" b="1" dirty="0"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try</a:t>
            </a:r>
            <a:r>
              <a:rPr lang="it-IT" sz="2000" b="1" dirty="0">
                <a:latin typeface="Courier New" charset="0"/>
              </a:rPr>
              <a:t>{ 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f.open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f.read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f.close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dirty="0" err="1">
                <a:latin typeface="Courier New" charset="0"/>
              </a:rPr>
              <a:t>FileError</a:t>
            </a:r>
            <a:r>
              <a:rPr lang="it-IT" sz="2000" b="1" dirty="0">
                <a:latin typeface="Courier New" charset="0"/>
              </a:rPr>
              <a:t> </a:t>
            </a:r>
            <a:r>
              <a:rPr lang="it-IT" sz="2000" b="1" dirty="0" err="1">
                <a:latin typeface="Courier New" charset="0"/>
              </a:rPr>
              <a:t>fe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 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 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System.out.print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("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Error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");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>
                <a:latin typeface="Courier New" charset="0"/>
              </a:rPr>
              <a:t>}</a:t>
            </a: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it-IT" sz="2000" b="1" dirty="0" err="1">
                <a:latin typeface="Courier New" charset="0"/>
              </a:rPr>
              <a:t>System.out.print</a:t>
            </a:r>
            <a:r>
              <a:rPr lang="it-IT" sz="2000" b="1" dirty="0">
                <a:latin typeface="Courier New" charset="0"/>
              </a:rPr>
              <a:t>("End");</a:t>
            </a:r>
          </a:p>
        </p:txBody>
      </p:sp>
      <p:sp>
        <p:nvSpPr>
          <p:cNvPr id="54282" name="Line 18"/>
          <p:cNvSpPr>
            <a:spLocks noChangeShapeType="1"/>
          </p:cNvSpPr>
          <p:nvPr/>
        </p:nvSpPr>
        <p:spPr bwMode="auto">
          <a:xfrm>
            <a:off x="4038600" y="4846638"/>
            <a:ext cx="0" cy="441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Line 19"/>
          <p:cNvSpPr>
            <a:spLocks noChangeShapeType="1"/>
          </p:cNvSpPr>
          <p:nvPr/>
        </p:nvSpPr>
        <p:spPr bwMode="auto">
          <a:xfrm>
            <a:off x="4038600" y="1752600"/>
            <a:ext cx="0" cy="1082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Exception checking</a:t>
            </a:r>
            <a:endParaRPr lang="en-US" dirty="0"/>
          </a:p>
        </p:txBody>
      </p:sp>
      <p:sp>
        <p:nvSpPr>
          <p:cNvPr id="7885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a fragment of code can possibly raise an exception, the exception must be checked.</a:t>
            </a:r>
          </a:p>
          <a:p>
            <a:r>
              <a:rPr lang="en-US" dirty="0" smtClean="0"/>
              <a:t>Checking can use different strategies:</a:t>
            </a:r>
          </a:p>
          <a:p>
            <a:pPr lvl="1"/>
            <a:r>
              <a:rPr lang="en-US" dirty="0" smtClean="0"/>
              <a:t>Catch </a:t>
            </a:r>
          </a:p>
          <a:p>
            <a:pPr lvl="1"/>
            <a:r>
              <a:rPr lang="en-US" dirty="0" smtClean="0"/>
              <a:t>Propagate</a:t>
            </a:r>
          </a:p>
          <a:p>
            <a:pPr lvl="1"/>
            <a:r>
              <a:rPr lang="en-US" dirty="0" smtClean="0"/>
              <a:t>Catch and re-throw</a:t>
            </a:r>
            <a:endParaRPr lang="en-US" dirty="0"/>
          </a:p>
        </p:txBody>
      </p:sp>
      <p:sp>
        <p:nvSpPr>
          <p:cNvPr id="7884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fld id="{7AFA95A1-BAB4-7E43-8709-42E174AB4178}" type="slidenum">
              <a:rPr lang="it-IT" sz="1200" smtClean="0"/>
              <a:pPr/>
              <a:t>21</a:t>
            </a:fld>
            <a:endParaRPr lang="it-IT" sz="12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80F9DF4-2100-5F4C-BD4C-99718C356B7C}" type="slidenum">
              <a:rPr lang="it-IT" sz="1200"/>
              <a:pPr eaLnBrk="1" hangingPunct="1"/>
              <a:t>22</a:t>
            </a:fld>
            <a:endParaRPr lang="it-IT" sz="1200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Checking: Catch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338" y="1173163"/>
            <a:ext cx="8424862" cy="48466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class Dummy 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  public void foo(){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</a:t>
            </a:r>
            <a:r>
              <a:rPr lang="en-US" sz="2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try{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      </a:t>
            </a:r>
            <a:r>
              <a:rPr lang="en-US" sz="2800" b="1" dirty="0" err="1">
                <a:latin typeface="Courier New" charset="0"/>
                <a:ea typeface="ＭＳ Ｐゴシック" charset="0"/>
                <a:cs typeface="ＭＳ Ｐゴシック" charset="0"/>
              </a:rPr>
              <a:t>FileReader</a:t>
            </a: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 f;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      f = new </a:t>
            </a:r>
            <a:r>
              <a:rPr lang="en-US" sz="2800" b="1" dirty="0" err="1">
                <a:latin typeface="Courier New" charset="0"/>
                <a:ea typeface="ＭＳ Ｐゴシック" charset="0"/>
                <a:cs typeface="ＭＳ Ｐゴシック" charset="0"/>
              </a:rPr>
              <a:t>FileReader</a:t>
            </a: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(“</a:t>
            </a:r>
            <a:r>
              <a:rPr lang="en-US" sz="2800" b="1" dirty="0" err="1">
                <a:latin typeface="Courier New" charset="0"/>
                <a:ea typeface="ＭＳ Ｐゴシック" charset="0"/>
                <a:cs typeface="ＭＳ Ｐゴシック" charset="0"/>
              </a:rPr>
              <a:t>file.txt</a:t>
            </a: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”);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    </a:t>
            </a:r>
            <a:r>
              <a:rPr lang="en-US" sz="2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 catch (</a:t>
            </a:r>
            <a:r>
              <a:rPr lang="en-US" sz="2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FileNotFound</a:t>
            </a:r>
            <a:r>
              <a:rPr lang="en-US" sz="2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8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fnf</a:t>
            </a:r>
            <a:r>
              <a:rPr lang="en-US" sz="2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   // do something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  }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8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r>
              <a:rPr lang="en-US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C9C38CE-FEAE-074B-9EEE-4AB961819799}" type="slidenum">
              <a:rPr lang="it-IT" sz="1200"/>
              <a:pPr eaLnBrk="1" hangingPunct="1"/>
              <a:t>23</a:t>
            </a:fld>
            <a:endParaRPr lang="it-IT" sz="1200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Checking: Propagate</a:t>
            </a:r>
          </a:p>
        </p:txBody>
      </p:sp>
      <p:sp>
        <p:nvSpPr>
          <p:cNvPr id="8294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class Dummy {</a:t>
            </a:r>
          </a:p>
          <a:p>
            <a:pPr eaLnBrk="1" hangingPunct="1">
              <a:buFont typeface="Wingdings" charset="0"/>
              <a:buNone/>
            </a:pPr>
            <a:endParaRPr lang="en-US" sz="26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  public void foo() </a:t>
            </a:r>
            <a:r>
              <a:rPr lang="en-US" sz="26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throws </a:t>
            </a:r>
            <a:r>
              <a:rPr lang="en-US" sz="26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FileNotFound</a:t>
            </a: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1" hangingPunct="1">
              <a:buFont typeface="Wingdings" charset="0"/>
              <a:buNone/>
            </a:pP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    </a:t>
            </a:r>
            <a:r>
              <a:rPr lang="en-US" sz="2600" b="1" dirty="0" err="1">
                <a:latin typeface="Courier New" charset="0"/>
                <a:ea typeface="ＭＳ Ｐゴシック" charset="0"/>
                <a:cs typeface="ＭＳ Ｐゴシック" charset="0"/>
              </a:rPr>
              <a:t>FileReader</a:t>
            </a: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 f;</a:t>
            </a:r>
          </a:p>
          <a:p>
            <a:pPr eaLnBrk="1" hangingPunct="1">
              <a:buFont typeface="Wingdings" charset="0"/>
              <a:buNone/>
            </a:pP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    f = new </a:t>
            </a:r>
            <a:r>
              <a:rPr lang="en-US" sz="2600" b="1" dirty="0" err="1">
                <a:latin typeface="Courier New" charset="0"/>
                <a:ea typeface="ＭＳ Ｐゴシック" charset="0"/>
                <a:cs typeface="ＭＳ Ｐゴシック" charset="0"/>
              </a:rPr>
              <a:t>FileReader</a:t>
            </a: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(“</a:t>
            </a:r>
            <a:r>
              <a:rPr lang="en-US" sz="2600" b="1" dirty="0" err="1">
                <a:latin typeface="Courier New" charset="0"/>
                <a:ea typeface="ＭＳ Ｐゴシック" charset="0"/>
                <a:cs typeface="ＭＳ Ｐゴシック" charset="0"/>
              </a:rPr>
              <a:t>file.txt</a:t>
            </a: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”);</a:t>
            </a:r>
            <a:endParaRPr lang="en-US" sz="2600" b="1" dirty="0">
              <a:solidFill>
                <a:srgbClr val="FF0000"/>
              </a:solidFill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  }</a:t>
            </a:r>
          </a:p>
          <a:p>
            <a:pPr eaLnBrk="1" hangingPunct="1">
              <a:buFont typeface="Wingdings" charset="0"/>
              <a:buNone/>
            </a:pP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</a:p>
          <a:p>
            <a:pPr eaLnBrk="1" hangingPunct="1">
              <a:buFont typeface="Wingdings" charset="0"/>
              <a:buNone/>
            </a:pPr>
            <a:r>
              <a:rPr lang="en-US" sz="26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endParaRPr lang="en-US" sz="2600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18A99BF5-5563-0D45-B6C5-E94C6C4B0C54}" type="slidenum">
              <a:rPr lang="it-IT" sz="1200"/>
              <a:pPr eaLnBrk="1" hangingPunct="1"/>
              <a:t>24</a:t>
            </a:fld>
            <a:endParaRPr lang="it-IT" sz="1200"/>
          </a:p>
        </p:txBody>
      </p:sp>
      <p:sp>
        <p:nvSpPr>
          <p:cNvPr id="849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Checking: Propagate (cont’d)</a:t>
            </a:r>
          </a:p>
        </p:txBody>
      </p:sp>
      <p:sp>
        <p:nvSpPr>
          <p:cNvPr id="344069" name="Rectangle 5"/>
          <p:cNvSpPr>
            <a:spLocks noChangeArrowheads="1"/>
          </p:cNvSpPr>
          <p:nvPr/>
        </p:nvSpPr>
        <p:spPr bwMode="auto">
          <a:xfrm>
            <a:off x="253347" y="2112402"/>
            <a:ext cx="8621712" cy="2788304"/>
          </a:xfrm>
          <a:prstGeom prst="rect">
            <a:avLst/>
          </a:prstGeom>
          <a:solidFill>
            <a:srgbClr val="FDEADA"/>
          </a:solidFill>
          <a:ln w="12700">
            <a:solidFill>
              <a:srgbClr val="E46C0A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lIns="90488" tIns="44450" rIns="90488" bIns="44450"/>
          <a:lstStyle/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class </a:t>
            </a:r>
            <a:r>
              <a:rPr lang="en-US" sz="2400" b="1" dirty="0">
                <a:solidFill>
                  <a:srgbClr val="FF6600"/>
                </a:solidFill>
                <a:latin typeface="Courier New" pitchFamily="-84" charset="0"/>
                <a:ea typeface="+mn-ea"/>
                <a:cs typeface="+mn-cs"/>
              </a:rPr>
              <a:t>Dummy 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{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  public void foo() </a:t>
            </a:r>
            <a:endParaRPr lang="en-US" sz="2400" b="1" dirty="0" smtClean="0">
              <a:latin typeface="Courier New" pitchFamily="-84" charset="0"/>
              <a:ea typeface="+mn-ea"/>
              <a:cs typeface="+mn-cs"/>
            </a:endParaRP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</a:t>
            </a:r>
            <a:r>
              <a:rPr lang="en-US" sz="2400" b="1" dirty="0" smtClean="0">
                <a:latin typeface="Courier New" pitchFamily="-84" charset="0"/>
                <a:ea typeface="+mn-ea"/>
                <a:cs typeface="+mn-cs"/>
              </a:rPr>
              <a:t>    throws </a:t>
            </a:r>
            <a:r>
              <a:rPr lang="en-US" sz="2400" b="1" dirty="0" err="1">
                <a:latin typeface="Courier New" pitchFamily="-84" charset="0"/>
                <a:ea typeface="+mn-ea"/>
                <a:cs typeface="+mn-cs"/>
              </a:rPr>
              <a:t>FileNotFound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{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    </a:t>
            </a:r>
            <a:r>
              <a:rPr lang="en-US" sz="2400" b="1" dirty="0" err="1" smtClean="0">
                <a:latin typeface="Courier New" pitchFamily="-84" charset="0"/>
                <a:ea typeface="+mn-ea"/>
                <a:cs typeface="+mn-cs"/>
              </a:rPr>
              <a:t>FileReader</a:t>
            </a:r>
            <a:r>
              <a:rPr lang="en-US" sz="2400" b="1" dirty="0" smtClean="0">
                <a:latin typeface="Courier New" pitchFamily="-84" charset="0"/>
                <a:ea typeface="+mn-ea"/>
                <a:cs typeface="+mn-cs"/>
              </a:rPr>
              <a:t> 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f = new </a:t>
            </a:r>
            <a:r>
              <a:rPr lang="en-US" sz="2400" b="1" dirty="0" err="1">
                <a:latin typeface="Courier New" pitchFamily="-84" charset="0"/>
                <a:ea typeface="+mn-ea"/>
                <a:cs typeface="+mn-cs"/>
              </a:rPr>
              <a:t>FileReader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(</a:t>
            </a:r>
            <a:r>
              <a:rPr lang="en-US" sz="2400" b="1" dirty="0" smtClean="0">
                <a:latin typeface="Courier New" pitchFamily="-84" charset="0"/>
                <a:ea typeface="+mn-ea"/>
                <a:cs typeface="+mn-cs"/>
              </a:rPr>
              <a:t>“file”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);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  } 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}</a:t>
            </a:r>
          </a:p>
        </p:txBody>
      </p:sp>
      <p:sp>
        <p:nvSpPr>
          <p:cNvPr id="344070" name="Rectangle 6"/>
          <p:cNvSpPr>
            <a:spLocks noChangeArrowheads="1"/>
          </p:cNvSpPr>
          <p:nvPr/>
        </p:nvSpPr>
        <p:spPr bwMode="auto">
          <a:xfrm>
            <a:off x="3257175" y="3869764"/>
            <a:ext cx="5643003" cy="27790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8064A2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lIns="90488" tIns="44450" rIns="90488" bIns="44450"/>
          <a:lstStyle/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class </a:t>
            </a:r>
            <a:r>
              <a:rPr lang="en-US" sz="2400" b="1" dirty="0">
                <a:solidFill>
                  <a:schemeClr val="accent4"/>
                </a:solidFill>
                <a:latin typeface="Courier New" pitchFamily="-84" charset="0"/>
                <a:ea typeface="+mn-ea"/>
                <a:cs typeface="+mn-cs"/>
              </a:rPr>
              <a:t>Program 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{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  public static 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  void main(String </a:t>
            </a:r>
            <a:r>
              <a:rPr lang="en-US" sz="2400" b="1" dirty="0" err="1">
                <a:latin typeface="Courier New" pitchFamily="-84" charset="0"/>
                <a:ea typeface="+mn-ea"/>
                <a:cs typeface="+mn-cs"/>
              </a:rPr>
              <a:t>args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[]) </a:t>
            </a:r>
            <a:endParaRPr lang="en-US" sz="2400" b="1" dirty="0" smtClean="0">
              <a:latin typeface="Courier New" pitchFamily="-84" charset="0"/>
              <a:ea typeface="+mn-ea"/>
              <a:cs typeface="+mn-cs"/>
            </a:endParaRP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	</a:t>
            </a:r>
            <a:r>
              <a:rPr lang="en-US" sz="2400" b="1" dirty="0" smtClean="0">
                <a:latin typeface="Courier New" pitchFamily="-84" charset="0"/>
                <a:ea typeface="+mn-ea"/>
                <a:cs typeface="+mn-cs"/>
              </a:rPr>
              <a:t>throws </a:t>
            </a:r>
            <a:r>
              <a:rPr lang="en-US" sz="2400" b="1" dirty="0" err="1">
                <a:latin typeface="Courier New" pitchFamily="-84" charset="0"/>
                <a:ea typeface="+mn-ea"/>
                <a:cs typeface="+mn-cs"/>
              </a:rPr>
              <a:t>FileNotFound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{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     Dummy d = new Dummy();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      </a:t>
            </a:r>
            <a:r>
              <a:rPr lang="en-US" sz="2400" b="1" dirty="0" err="1">
                <a:latin typeface="Courier New" pitchFamily="-84" charset="0"/>
                <a:ea typeface="+mn-ea"/>
                <a:cs typeface="+mn-cs"/>
              </a:rPr>
              <a:t>d.foo</a:t>
            </a: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();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400" b="1" dirty="0">
                <a:latin typeface="Courier New" pitchFamily="-84" charset="0"/>
                <a:ea typeface="+mn-ea"/>
                <a:cs typeface="+mn-cs"/>
              </a:rPr>
              <a:t>}</a:t>
            </a:r>
          </a:p>
        </p:txBody>
      </p:sp>
      <p:sp>
        <p:nvSpPr>
          <p:cNvPr id="84997" name="Rectangle 7"/>
          <p:cNvSpPr>
            <a:spLocks noChangeArrowheads="1"/>
          </p:cNvSpPr>
          <p:nvPr/>
        </p:nvSpPr>
        <p:spPr bwMode="auto">
          <a:xfrm>
            <a:off x="685800" y="1295400"/>
            <a:ext cx="81534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0000"/>
              </a:lnSpc>
              <a:buSzTx/>
              <a:buFont typeface="Wingdings" charset="0"/>
              <a:buChar char="§"/>
            </a:pPr>
            <a:r>
              <a:rPr lang="en-US" dirty="0"/>
              <a:t>Exception not caught can be propagated </a:t>
            </a:r>
            <a:r>
              <a:rPr lang="en-US" dirty="0" err="1" smtClean="0"/>
              <a:t>untill</a:t>
            </a:r>
            <a:r>
              <a:rPr lang="en-US" dirty="0" smtClean="0"/>
              <a:t> the </a:t>
            </a:r>
            <a:r>
              <a:rPr lang="en-US" b="1" dirty="0">
                <a:latin typeface="Courier New"/>
                <a:cs typeface="Courier New"/>
              </a:rPr>
              <a:t>main(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  <a:r>
              <a:rPr lang="en-US" dirty="0" smtClean="0"/>
              <a:t> method and the JVM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1A1EDF95-E3E7-AB40-B127-F6C242119964}" type="slidenum">
              <a:rPr lang="it-IT" sz="1200"/>
              <a:pPr eaLnBrk="1" hangingPunct="1"/>
              <a:t>25</a:t>
            </a:fld>
            <a:endParaRPr lang="it-IT" sz="1200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800" dirty="0">
                <a:latin typeface="Lucida Sans Unicode" charset="0"/>
                <a:ea typeface="ＭＳ Ｐゴシック" charset="0"/>
                <a:cs typeface="ＭＳ Ｐゴシック" charset="0"/>
              </a:rPr>
              <a:t>Checking: Re-throw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338" y="1173163"/>
            <a:ext cx="8424862" cy="48466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class Dummy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  public void foo() </a:t>
            </a:r>
            <a:r>
              <a:rPr lang="en-US" sz="26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throws </a:t>
            </a:r>
            <a:r>
              <a:rPr lang="en-US" sz="26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FileNotFound</a:t>
            </a: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</a:t>
            </a:r>
            <a:r>
              <a:rPr lang="en-US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try{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      </a:t>
            </a:r>
            <a:r>
              <a:rPr lang="en-US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FileReader</a:t>
            </a: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 f;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      f = new </a:t>
            </a:r>
            <a:r>
              <a:rPr lang="en-US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FileReader</a:t>
            </a: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(“</a:t>
            </a:r>
            <a:r>
              <a:rPr lang="en-US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file.txt</a:t>
            </a: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”);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    </a:t>
            </a:r>
            <a:r>
              <a:rPr lang="en-US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 catch (</a:t>
            </a:r>
            <a:r>
              <a:rPr lang="en-US" sz="24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FileNotFound</a:t>
            </a:r>
            <a:r>
              <a:rPr lang="en-US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fnf</a:t>
            </a:r>
            <a:r>
              <a:rPr lang="en-US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solidFill>
                  <a:srgbClr val="3333FF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   </a:t>
            </a: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// handle </a:t>
            </a:r>
            <a:r>
              <a:rPr lang="en-US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fnf</a:t>
            </a: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, e.g., print it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       </a:t>
            </a:r>
            <a:r>
              <a:rPr lang="en-US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throw </a:t>
            </a:r>
            <a:r>
              <a:rPr lang="en-US" sz="24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fnf</a:t>
            </a:r>
            <a:r>
              <a:rPr lang="en-US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</a:t>
            </a:r>
            <a:r>
              <a:rPr lang="en-US" sz="2400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  }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r>
              <a:rPr lang="en-US" sz="24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2962406" y="2092476"/>
            <a:ext cx="4089118" cy="2479524"/>
          </a:xfrm>
          <a:custGeom>
            <a:avLst/>
            <a:gdLst>
              <a:gd name="connsiteX0" fmla="*/ 0 w 4064000"/>
              <a:gd name="connsiteY0" fmla="*/ 133048 h 2564191"/>
              <a:gd name="connsiteX1" fmla="*/ 181428 w 4064000"/>
              <a:gd name="connsiteY1" fmla="*/ 12095 h 2564191"/>
              <a:gd name="connsiteX2" fmla="*/ 1850571 w 4064000"/>
              <a:gd name="connsiteY2" fmla="*/ 0 h 2564191"/>
              <a:gd name="connsiteX3" fmla="*/ 1971523 w 4064000"/>
              <a:gd name="connsiteY3" fmla="*/ 108857 h 2564191"/>
              <a:gd name="connsiteX4" fmla="*/ 1959428 w 4064000"/>
              <a:gd name="connsiteY4" fmla="*/ 471714 h 2564191"/>
              <a:gd name="connsiteX5" fmla="*/ 2165047 w 4064000"/>
              <a:gd name="connsiteY5" fmla="*/ 592667 h 2564191"/>
              <a:gd name="connsiteX6" fmla="*/ 3725333 w 4064000"/>
              <a:gd name="connsiteY6" fmla="*/ 580572 h 2564191"/>
              <a:gd name="connsiteX7" fmla="*/ 3955142 w 4064000"/>
              <a:gd name="connsiteY7" fmla="*/ 725714 h 2564191"/>
              <a:gd name="connsiteX8" fmla="*/ 4064000 w 4064000"/>
              <a:gd name="connsiteY8" fmla="*/ 1318381 h 2564191"/>
              <a:gd name="connsiteX9" fmla="*/ 3858381 w 4064000"/>
              <a:gd name="connsiteY9" fmla="*/ 1524000 h 2564191"/>
              <a:gd name="connsiteX10" fmla="*/ 3132666 w 4064000"/>
              <a:gd name="connsiteY10" fmla="*/ 1608667 h 2564191"/>
              <a:gd name="connsiteX11" fmla="*/ 2963333 w 4064000"/>
              <a:gd name="connsiteY11" fmla="*/ 1717524 h 2564191"/>
              <a:gd name="connsiteX12" fmla="*/ 2963333 w 4064000"/>
              <a:gd name="connsiteY12" fmla="*/ 2358572 h 2564191"/>
              <a:gd name="connsiteX13" fmla="*/ 2830285 w 4064000"/>
              <a:gd name="connsiteY13" fmla="*/ 2479524 h 2564191"/>
              <a:gd name="connsiteX14" fmla="*/ 1136952 w 4064000"/>
              <a:gd name="connsiteY14" fmla="*/ 2564191 h 2564191"/>
              <a:gd name="connsiteX15" fmla="*/ 967619 w 4064000"/>
              <a:gd name="connsiteY15" fmla="*/ 2467429 h 2564191"/>
              <a:gd name="connsiteX16" fmla="*/ 955523 w 4064000"/>
              <a:gd name="connsiteY16" fmla="*/ 1560286 h 2564191"/>
              <a:gd name="connsiteX17" fmla="*/ 1088571 w 4064000"/>
              <a:gd name="connsiteY17" fmla="*/ 1463524 h 2564191"/>
              <a:gd name="connsiteX18" fmla="*/ 1741714 w 4064000"/>
              <a:gd name="connsiteY18" fmla="*/ 1427238 h 2564191"/>
              <a:gd name="connsiteX19" fmla="*/ 1971523 w 4064000"/>
              <a:gd name="connsiteY19" fmla="*/ 1209524 h 2564191"/>
              <a:gd name="connsiteX20" fmla="*/ 1717523 w 4064000"/>
              <a:gd name="connsiteY20" fmla="*/ 1003905 h 2564191"/>
              <a:gd name="connsiteX21" fmla="*/ 1717523 w 4064000"/>
              <a:gd name="connsiteY21" fmla="*/ 1003905 h 2564191"/>
              <a:gd name="connsiteX22" fmla="*/ 1560285 w 4064000"/>
              <a:gd name="connsiteY22" fmla="*/ 749905 h 2564191"/>
              <a:gd name="connsiteX23" fmla="*/ 181428 w 4064000"/>
              <a:gd name="connsiteY23" fmla="*/ 628953 h 2564191"/>
              <a:gd name="connsiteX0" fmla="*/ 0 w 4064000"/>
              <a:gd name="connsiteY0" fmla="*/ 133048 h 2564191"/>
              <a:gd name="connsiteX1" fmla="*/ 181428 w 4064000"/>
              <a:gd name="connsiteY1" fmla="*/ 12095 h 2564191"/>
              <a:gd name="connsiteX2" fmla="*/ 1850571 w 4064000"/>
              <a:gd name="connsiteY2" fmla="*/ 0 h 2564191"/>
              <a:gd name="connsiteX3" fmla="*/ 1971523 w 4064000"/>
              <a:gd name="connsiteY3" fmla="*/ 108857 h 2564191"/>
              <a:gd name="connsiteX4" fmla="*/ 1959428 w 4064000"/>
              <a:gd name="connsiteY4" fmla="*/ 471714 h 2564191"/>
              <a:gd name="connsiteX5" fmla="*/ 2165047 w 4064000"/>
              <a:gd name="connsiteY5" fmla="*/ 592667 h 2564191"/>
              <a:gd name="connsiteX6" fmla="*/ 3725333 w 4064000"/>
              <a:gd name="connsiteY6" fmla="*/ 580572 h 2564191"/>
              <a:gd name="connsiteX7" fmla="*/ 3955142 w 4064000"/>
              <a:gd name="connsiteY7" fmla="*/ 725714 h 2564191"/>
              <a:gd name="connsiteX8" fmla="*/ 4064000 w 4064000"/>
              <a:gd name="connsiteY8" fmla="*/ 1318381 h 2564191"/>
              <a:gd name="connsiteX9" fmla="*/ 3858381 w 4064000"/>
              <a:gd name="connsiteY9" fmla="*/ 1524000 h 2564191"/>
              <a:gd name="connsiteX10" fmla="*/ 3132666 w 4064000"/>
              <a:gd name="connsiteY10" fmla="*/ 1608667 h 2564191"/>
              <a:gd name="connsiteX11" fmla="*/ 2963333 w 4064000"/>
              <a:gd name="connsiteY11" fmla="*/ 1717524 h 2564191"/>
              <a:gd name="connsiteX12" fmla="*/ 2963333 w 4064000"/>
              <a:gd name="connsiteY12" fmla="*/ 2358572 h 2564191"/>
              <a:gd name="connsiteX13" fmla="*/ 2830285 w 4064000"/>
              <a:gd name="connsiteY13" fmla="*/ 2479524 h 2564191"/>
              <a:gd name="connsiteX14" fmla="*/ 1136952 w 4064000"/>
              <a:gd name="connsiteY14" fmla="*/ 2564191 h 2564191"/>
              <a:gd name="connsiteX15" fmla="*/ 967619 w 4064000"/>
              <a:gd name="connsiteY15" fmla="*/ 2467429 h 2564191"/>
              <a:gd name="connsiteX16" fmla="*/ 955523 w 4064000"/>
              <a:gd name="connsiteY16" fmla="*/ 1560286 h 2564191"/>
              <a:gd name="connsiteX17" fmla="*/ 1088571 w 4064000"/>
              <a:gd name="connsiteY17" fmla="*/ 1463524 h 2564191"/>
              <a:gd name="connsiteX18" fmla="*/ 1741714 w 4064000"/>
              <a:gd name="connsiteY18" fmla="*/ 1427238 h 2564191"/>
              <a:gd name="connsiteX19" fmla="*/ 1971523 w 4064000"/>
              <a:gd name="connsiteY19" fmla="*/ 1209524 h 2564191"/>
              <a:gd name="connsiteX20" fmla="*/ 1717523 w 4064000"/>
              <a:gd name="connsiteY20" fmla="*/ 1003905 h 2564191"/>
              <a:gd name="connsiteX21" fmla="*/ 1717523 w 4064000"/>
              <a:gd name="connsiteY21" fmla="*/ 1003905 h 2564191"/>
              <a:gd name="connsiteX22" fmla="*/ 1560285 w 4064000"/>
              <a:gd name="connsiteY22" fmla="*/ 749905 h 2564191"/>
              <a:gd name="connsiteX23" fmla="*/ 350761 w 4064000"/>
              <a:gd name="connsiteY23" fmla="*/ 641048 h 2564191"/>
              <a:gd name="connsiteX24" fmla="*/ 181428 w 4064000"/>
              <a:gd name="connsiteY24" fmla="*/ 628953 h 2564191"/>
              <a:gd name="connsiteX0" fmla="*/ 12096 w 4076096"/>
              <a:gd name="connsiteY0" fmla="*/ 133048 h 2564191"/>
              <a:gd name="connsiteX1" fmla="*/ 193524 w 4076096"/>
              <a:gd name="connsiteY1" fmla="*/ 12095 h 2564191"/>
              <a:gd name="connsiteX2" fmla="*/ 1862667 w 4076096"/>
              <a:gd name="connsiteY2" fmla="*/ 0 h 2564191"/>
              <a:gd name="connsiteX3" fmla="*/ 1983619 w 4076096"/>
              <a:gd name="connsiteY3" fmla="*/ 108857 h 2564191"/>
              <a:gd name="connsiteX4" fmla="*/ 1971524 w 4076096"/>
              <a:gd name="connsiteY4" fmla="*/ 471714 h 2564191"/>
              <a:gd name="connsiteX5" fmla="*/ 2177143 w 4076096"/>
              <a:gd name="connsiteY5" fmla="*/ 592667 h 2564191"/>
              <a:gd name="connsiteX6" fmla="*/ 3737429 w 4076096"/>
              <a:gd name="connsiteY6" fmla="*/ 580572 h 2564191"/>
              <a:gd name="connsiteX7" fmla="*/ 3967238 w 4076096"/>
              <a:gd name="connsiteY7" fmla="*/ 725714 h 2564191"/>
              <a:gd name="connsiteX8" fmla="*/ 4076096 w 4076096"/>
              <a:gd name="connsiteY8" fmla="*/ 1318381 h 2564191"/>
              <a:gd name="connsiteX9" fmla="*/ 3870477 w 4076096"/>
              <a:gd name="connsiteY9" fmla="*/ 1524000 h 2564191"/>
              <a:gd name="connsiteX10" fmla="*/ 3144762 w 4076096"/>
              <a:gd name="connsiteY10" fmla="*/ 1608667 h 2564191"/>
              <a:gd name="connsiteX11" fmla="*/ 2975429 w 4076096"/>
              <a:gd name="connsiteY11" fmla="*/ 1717524 h 2564191"/>
              <a:gd name="connsiteX12" fmla="*/ 2975429 w 4076096"/>
              <a:gd name="connsiteY12" fmla="*/ 2358572 h 2564191"/>
              <a:gd name="connsiteX13" fmla="*/ 2842381 w 4076096"/>
              <a:gd name="connsiteY13" fmla="*/ 2479524 h 2564191"/>
              <a:gd name="connsiteX14" fmla="*/ 1149048 w 4076096"/>
              <a:gd name="connsiteY14" fmla="*/ 2564191 h 2564191"/>
              <a:gd name="connsiteX15" fmla="*/ 979715 w 4076096"/>
              <a:gd name="connsiteY15" fmla="*/ 2467429 h 2564191"/>
              <a:gd name="connsiteX16" fmla="*/ 967619 w 4076096"/>
              <a:gd name="connsiteY16" fmla="*/ 1560286 h 2564191"/>
              <a:gd name="connsiteX17" fmla="*/ 1100667 w 4076096"/>
              <a:gd name="connsiteY17" fmla="*/ 1463524 h 2564191"/>
              <a:gd name="connsiteX18" fmla="*/ 1753810 w 4076096"/>
              <a:gd name="connsiteY18" fmla="*/ 1427238 h 2564191"/>
              <a:gd name="connsiteX19" fmla="*/ 1983619 w 4076096"/>
              <a:gd name="connsiteY19" fmla="*/ 1209524 h 2564191"/>
              <a:gd name="connsiteX20" fmla="*/ 1729619 w 4076096"/>
              <a:gd name="connsiteY20" fmla="*/ 1003905 h 2564191"/>
              <a:gd name="connsiteX21" fmla="*/ 1729619 w 4076096"/>
              <a:gd name="connsiteY21" fmla="*/ 1003905 h 2564191"/>
              <a:gd name="connsiteX22" fmla="*/ 1572381 w 4076096"/>
              <a:gd name="connsiteY22" fmla="*/ 749905 h 2564191"/>
              <a:gd name="connsiteX23" fmla="*/ 362857 w 4076096"/>
              <a:gd name="connsiteY23" fmla="*/ 641048 h 2564191"/>
              <a:gd name="connsiteX24" fmla="*/ 0 w 4076096"/>
              <a:gd name="connsiteY24" fmla="*/ 145143 h 2564191"/>
              <a:gd name="connsiteX0" fmla="*/ 12096 w 4076096"/>
              <a:gd name="connsiteY0" fmla="*/ 133048 h 2564191"/>
              <a:gd name="connsiteX1" fmla="*/ 193524 w 4076096"/>
              <a:gd name="connsiteY1" fmla="*/ 12095 h 2564191"/>
              <a:gd name="connsiteX2" fmla="*/ 1862667 w 4076096"/>
              <a:gd name="connsiteY2" fmla="*/ 0 h 2564191"/>
              <a:gd name="connsiteX3" fmla="*/ 1983619 w 4076096"/>
              <a:gd name="connsiteY3" fmla="*/ 108857 h 2564191"/>
              <a:gd name="connsiteX4" fmla="*/ 1971524 w 4076096"/>
              <a:gd name="connsiteY4" fmla="*/ 471714 h 2564191"/>
              <a:gd name="connsiteX5" fmla="*/ 2177143 w 4076096"/>
              <a:gd name="connsiteY5" fmla="*/ 592667 h 2564191"/>
              <a:gd name="connsiteX6" fmla="*/ 3737429 w 4076096"/>
              <a:gd name="connsiteY6" fmla="*/ 580572 h 2564191"/>
              <a:gd name="connsiteX7" fmla="*/ 3967238 w 4076096"/>
              <a:gd name="connsiteY7" fmla="*/ 725714 h 2564191"/>
              <a:gd name="connsiteX8" fmla="*/ 4076096 w 4076096"/>
              <a:gd name="connsiteY8" fmla="*/ 1318381 h 2564191"/>
              <a:gd name="connsiteX9" fmla="*/ 3870477 w 4076096"/>
              <a:gd name="connsiteY9" fmla="*/ 1524000 h 2564191"/>
              <a:gd name="connsiteX10" fmla="*/ 3144762 w 4076096"/>
              <a:gd name="connsiteY10" fmla="*/ 1608667 h 2564191"/>
              <a:gd name="connsiteX11" fmla="*/ 2975429 w 4076096"/>
              <a:gd name="connsiteY11" fmla="*/ 1717524 h 2564191"/>
              <a:gd name="connsiteX12" fmla="*/ 2975429 w 4076096"/>
              <a:gd name="connsiteY12" fmla="*/ 2358572 h 2564191"/>
              <a:gd name="connsiteX13" fmla="*/ 2842381 w 4076096"/>
              <a:gd name="connsiteY13" fmla="*/ 2479524 h 2564191"/>
              <a:gd name="connsiteX14" fmla="*/ 1149048 w 4076096"/>
              <a:gd name="connsiteY14" fmla="*/ 2564191 h 2564191"/>
              <a:gd name="connsiteX15" fmla="*/ 979715 w 4076096"/>
              <a:gd name="connsiteY15" fmla="*/ 2467429 h 2564191"/>
              <a:gd name="connsiteX16" fmla="*/ 967619 w 4076096"/>
              <a:gd name="connsiteY16" fmla="*/ 1560286 h 2564191"/>
              <a:gd name="connsiteX17" fmla="*/ 1100667 w 4076096"/>
              <a:gd name="connsiteY17" fmla="*/ 1463524 h 2564191"/>
              <a:gd name="connsiteX18" fmla="*/ 1753810 w 4076096"/>
              <a:gd name="connsiteY18" fmla="*/ 1427238 h 2564191"/>
              <a:gd name="connsiteX19" fmla="*/ 1983619 w 4076096"/>
              <a:gd name="connsiteY19" fmla="*/ 1209524 h 2564191"/>
              <a:gd name="connsiteX20" fmla="*/ 1729619 w 4076096"/>
              <a:gd name="connsiteY20" fmla="*/ 1003905 h 2564191"/>
              <a:gd name="connsiteX21" fmla="*/ 1729619 w 4076096"/>
              <a:gd name="connsiteY21" fmla="*/ 1003905 h 2564191"/>
              <a:gd name="connsiteX22" fmla="*/ 1572381 w 4076096"/>
              <a:gd name="connsiteY22" fmla="*/ 749905 h 2564191"/>
              <a:gd name="connsiteX23" fmla="*/ 362857 w 4076096"/>
              <a:gd name="connsiteY23" fmla="*/ 641048 h 2564191"/>
              <a:gd name="connsiteX24" fmla="*/ 0 w 4076096"/>
              <a:gd name="connsiteY24" fmla="*/ 145143 h 2564191"/>
              <a:gd name="connsiteX25" fmla="*/ 12096 w 4076096"/>
              <a:gd name="connsiteY25" fmla="*/ 133048 h 2564191"/>
              <a:gd name="connsiteX0" fmla="*/ 12096 w 4076096"/>
              <a:gd name="connsiteY0" fmla="*/ 133048 h 2564191"/>
              <a:gd name="connsiteX1" fmla="*/ 193524 w 4076096"/>
              <a:gd name="connsiteY1" fmla="*/ 12095 h 2564191"/>
              <a:gd name="connsiteX2" fmla="*/ 1862667 w 4076096"/>
              <a:gd name="connsiteY2" fmla="*/ 0 h 2564191"/>
              <a:gd name="connsiteX3" fmla="*/ 1983619 w 4076096"/>
              <a:gd name="connsiteY3" fmla="*/ 108857 h 2564191"/>
              <a:gd name="connsiteX4" fmla="*/ 1971524 w 4076096"/>
              <a:gd name="connsiteY4" fmla="*/ 471714 h 2564191"/>
              <a:gd name="connsiteX5" fmla="*/ 2177143 w 4076096"/>
              <a:gd name="connsiteY5" fmla="*/ 592667 h 2564191"/>
              <a:gd name="connsiteX6" fmla="*/ 3737429 w 4076096"/>
              <a:gd name="connsiteY6" fmla="*/ 580572 h 2564191"/>
              <a:gd name="connsiteX7" fmla="*/ 3967238 w 4076096"/>
              <a:gd name="connsiteY7" fmla="*/ 725714 h 2564191"/>
              <a:gd name="connsiteX8" fmla="*/ 4076096 w 4076096"/>
              <a:gd name="connsiteY8" fmla="*/ 1318381 h 2564191"/>
              <a:gd name="connsiteX9" fmla="*/ 3870477 w 4076096"/>
              <a:gd name="connsiteY9" fmla="*/ 1524000 h 2564191"/>
              <a:gd name="connsiteX10" fmla="*/ 3144762 w 4076096"/>
              <a:gd name="connsiteY10" fmla="*/ 1608667 h 2564191"/>
              <a:gd name="connsiteX11" fmla="*/ 2975429 w 4076096"/>
              <a:gd name="connsiteY11" fmla="*/ 1717524 h 2564191"/>
              <a:gd name="connsiteX12" fmla="*/ 2975429 w 4076096"/>
              <a:gd name="connsiteY12" fmla="*/ 2358572 h 2564191"/>
              <a:gd name="connsiteX13" fmla="*/ 2842381 w 4076096"/>
              <a:gd name="connsiteY13" fmla="*/ 2479524 h 2564191"/>
              <a:gd name="connsiteX14" fmla="*/ 1149048 w 4076096"/>
              <a:gd name="connsiteY14" fmla="*/ 2564191 h 2564191"/>
              <a:gd name="connsiteX15" fmla="*/ 979715 w 4076096"/>
              <a:gd name="connsiteY15" fmla="*/ 2467429 h 2564191"/>
              <a:gd name="connsiteX16" fmla="*/ 967619 w 4076096"/>
              <a:gd name="connsiteY16" fmla="*/ 1560286 h 2564191"/>
              <a:gd name="connsiteX17" fmla="*/ 1100667 w 4076096"/>
              <a:gd name="connsiteY17" fmla="*/ 1463524 h 2564191"/>
              <a:gd name="connsiteX18" fmla="*/ 1753810 w 4076096"/>
              <a:gd name="connsiteY18" fmla="*/ 1427238 h 2564191"/>
              <a:gd name="connsiteX19" fmla="*/ 1983619 w 4076096"/>
              <a:gd name="connsiteY19" fmla="*/ 1209524 h 2564191"/>
              <a:gd name="connsiteX20" fmla="*/ 1729619 w 4076096"/>
              <a:gd name="connsiteY20" fmla="*/ 1003905 h 2564191"/>
              <a:gd name="connsiteX21" fmla="*/ 1729619 w 4076096"/>
              <a:gd name="connsiteY21" fmla="*/ 1003905 h 2564191"/>
              <a:gd name="connsiteX22" fmla="*/ 1572381 w 4076096"/>
              <a:gd name="connsiteY22" fmla="*/ 749905 h 2564191"/>
              <a:gd name="connsiteX23" fmla="*/ 84667 w 4076096"/>
              <a:gd name="connsiteY23" fmla="*/ 665239 h 2564191"/>
              <a:gd name="connsiteX24" fmla="*/ 0 w 4076096"/>
              <a:gd name="connsiteY24" fmla="*/ 145143 h 2564191"/>
              <a:gd name="connsiteX25" fmla="*/ 12096 w 4076096"/>
              <a:gd name="connsiteY25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730546 w 4077023"/>
              <a:gd name="connsiteY20" fmla="*/ 1003905 h 2564191"/>
              <a:gd name="connsiteX21" fmla="*/ 1730546 w 4077023"/>
              <a:gd name="connsiteY21" fmla="*/ 1003905 h 2564191"/>
              <a:gd name="connsiteX22" fmla="*/ 1573308 w 4077023"/>
              <a:gd name="connsiteY22" fmla="*/ 749905 h 2564191"/>
              <a:gd name="connsiteX23" fmla="*/ 85594 w 4077023"/>
              <a:gd name="connsiteY23" fmla="*/ 665239 h 2564191"/>
              <a:gd name="connsiteX24" fmla="*/ 927 w 4077023"/>
              <a:gd name="connsiteY24" fmla="*/ 145143 h 2564191"/>
              <a:gd name="connsiteX25" fmla="*/ 13023 w 4077023"/>
              <a:gd name="connsiteY25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730546 w 4077023"/>
              <a:gd name="connsiteY20" fmla="*/ 1003905 h 2564191"/>
              <a:gd name="connsiteX21" fmla="*/ 1730546 w 4077023"/>
              <a:gd name="connsiteY21" fmla="*/ 1003905 h 2564191"/>
              <a:gd name="connsiteX22" fmla="*/ 1573308 w 4077023"/>
              <a:gd name="connsiteY22" fmla="*/ 749905 h 2564191"/>
              <a:gd name="connsiteX23" fmla="*/ 291214 w 4077023"/>
              <a:gd name="connsiteY23" fmla="*/ 665238 h 2564191"/>
              <a:gd name="connsiteX24" fmla="*/ 85594 w 4077023"/>
              <a:gd name="connsiteY24" fmla="*/ 665239 h 2564191"/>
              <a:gd name="connsiteX25" fmla="*/ 927 w 4077023"/>
              <a:gd name="connsiteY25" fmla="*/ 145143 h 2564191"/>
              <a:gd name="connsiteX26" fmla="*/ 13023 w 4077023"/>
              <a:gd name="connsiteY26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730546 w 4077023"/>
              <a:gd name="connsiteY20" fmla="*/ 1003905 h 2564191"/>
              <a:gd name="connsiteX21" fmla="*/ 1730546 w 4077023"/>
              <a:gd name="connsiteY21" fmla="*/ 1003905 h 2564191"/>
              <a:gd name="connsiteX22" fmla="*/ 1573308 w 4077023"/>
              <a:gd name="connsiteY22" fmla="*/ 749905 h 2564191"/>
              <a:gd name="connsiteX23" fmla="*/ 291214 w 4077023"/>
              <a:gd name="connsiteY23" fmla="*/ 665238 h 2564191"/>
              <a:gd name="connsiteX24" fmla="*/ 25117 w 4077023"/>
              <a:gd name="connsiteY24" fmla="*/ 520096 h 2564191"/>
              <a:gd name="connsiteX25" fmla="*/ 927 w 4077023"/>
              <a:gd name="connsiteY25" fmla="*/ 145143 h 2564191"/>
              <a:gd name="connsiteX26" fmla="*/ 13023 w 4077023"/>
              <a:gd name="connsiteY26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730546 w 4077023"/>
              <a:gd name="connsiteY20" fmla="*/ 1003905 h 2564191"/>
              <a:gd name="connsiteX21" fmla="*/ 1730546 w 4077023"/>
              <a:gd name="connsiteY21" fmla="*/ 1003905 h 2564191"/>
              <a:gd name="connsiteX22" fmla="*/ 1573308 w 4077023"/>
              <a:gd name="connsiteY22" fmla="*/ 749905 h 2564191"/>
              <a:gd name="connsiteX23" fmla="*/ 182356 w 4077023"/>
              <a:gd name="connsiteY23" fmla="*/ 665238 h 2564191"/>
              <a:gd name="connsiteX24" fmla="*/ 25117 w 4077023"/>
              <a:gd name="connsiteY24" fmla="*/ 520096 h 2564191"/>
              <a:gd name="connsiteX25" fmla="*/ 927 w 4077023"/>
              <a:gd name="connsiteY25" fmla="*/ 145143 h 2564191"/>
              <a:gd name="connsiteX26" fmla="*/ 13023 w 4077023"/>
              <a:gd name="connsiteY26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730546 w 4077023"/>
              <a:gd name="connsiteY20" fmla="*/ 1003905 h 2564191"/>
              <a:gd name="connsiteX21" fmla="*/ 1730546 w 4077023"/>
              <a:gd name="connsiteY21" fmla="*/ 1003905 h 2564191"/>
              <a:gd name="connsiteX22" fmla="*/ 1573308 w 4077023"/>
              <a:gd name="connsiteY22" fmla="*/ 749905 h 2564191"/>
              <a:gd name="connsiteX23" fmla="*/ 182356 w 4077023"/>
              <a:gd name="connsiteY23" fmla="*/ 665238 h 2564191"/>
              <a:gd name="connsiteX24" fmla="*/ 25117 w 4077023"/>
              <a:gd name="connsiteY24" fmla="*/ 520096 h 2564191"/>
              <a:gd name="connsiteX25" fmla="*/ 927 w 4077023"/>
              <a:gd name="connsiteY25" fmla="*/ 145143 h 2564191"/>
              <a:gd name="connsiteX26" fmla="*/ 13023 w 4077023"/>
              <a:gd name="connsiteY26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730546 w 4077023"/>
              <a:gd name="connsiteY20" fmla="*/ 1003905 h 2564191"/>
              <a:gd name="connsiteX21" fmla="*/ 1730546 w 4077023"/>
              <a:gd name="connsiteY21" fmla="*/ 1003905 h 2564191"/>
              <a:gd name="connsiteX22" fmla="*/ 1778927 w 4077023"/>
              <a:gd name="connsiteY22" fmla="*/ 653143 h 2564191"/>
              <a:gd name="connsiteX23" fmla="*/ 182356 w 4077023"/>
              <a:gd name="connsiteY23" fmla="*/ 665238 h 2564191"/>
              <a:gd name="connsiteX24" fmla="*/ 25117 w 4077023"/>
              <a:gd name="connsiteY24" fmla="*/ 520096 h 2564191"/>
              <a:gd name="connsiteX25" fmla="*/ 927 w 4077023"/>
              <a:gd name="connsiteY25" fmla="*/ 145143 h 2564191"/>
              <a:gd name="connsiteX26" fmla="*/ 13023 w 4077023"/>
              <a:gd name="connsiteY26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730546 w 4077023"/>
              <a:gd name="connsiteY20" fmla="*/ 1003905 h 2564191"/>
              <a:gd name="connsiteX21" fmla="*/ 1984546 w 4077023"/>
              <a:gd name="connsiteY21" fmla="*/ 979715 h 2564191"/>
              <a:gd name="connsiteX22" fmla="*/ 1778927 w 4077023"/>
              <a:gd name="connsiteY22" fmla="*/ 653143 h 2564191"/>
              <a:gd name="connsiteX23" fmla="*/ 182356 w 4077023"/>
              <a:gd name="connsiteY23" fmla="*/ 665238 h 2564191"/>
              <a:gd name="connsiteX24" fmla="*/ 25117 w 4077023"/>
              <a:gd name="connsiteY24" fmla="*/ 520096 h 2564191"/>
              <a:gd name="connsiteX25" fmla="*/ 927 w 4077023"/>
              <a:gd name="connsiteY25" fmla="*/ 145143 h 2564191"/>
              <a:gd name="connsiteX26" fmla="*/ 13023 w 4077023"/>
              <a:gd name="connsiteY26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706356 w 4077023"/>
              <a:gd name="connsiteY20" fmla="*/ 1052286 h 2564191"/>
              <a:gd name="connsiteX21" fmla="*/ 1984546 w 4077023"/>
              <a:gd name="connsiteY21" fmla="*/ 979715 h 2564191"/>
              <a:gd name="connsiteX22" fmla="*/ 1778927 w 4077023"/>
              <a:gd name="connsiteY22" fmla="*/ 653143 h 2564191"/>
              <a:gd name="connsiteX23" fmla="*/ 182356 w 4077023"/>
              <a:gd name="connsiteY23" fmla="*/ 665238 h 2564191"/>
              <a:gd name="connsiteX24" fmla="*/ 25117 w 4077023"/>
              <a:gd name="connsiteY24" fmla="*/ 520096 h 2564191"/>
              <a:gd name="connsiteX25" fmla="*/ 927 w 4077023"/>
              <a:gd name="connsiteY25" fmla="*/ 145143 h 2564191"/>
              <a:gd name="connsiteX26" fmla="*/ 13023 w 4077023"/>
              <a:gd name="connsiteY26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984546 w 4077023"/>
              <a:gd name="connsiteY20" fmla="*/ 979715 h 2564191"/>
              <a:gd name="connsiteX21" fmla="*/ 1778927 w 4077023"/>
              <a:gd name="connsiteY21" fmla="*/ 653143 h 2564191"/>
              <a:gd name="connsiteX22" fmla="*/ 182356 w 4077023"/>
              <a:gd name="connsiteY22" fmla="*/ 665238 h 2564191"/>
              <a:gd name="connsiteX23" fmla="*/ 25117 w 4077023"/>
              <a:gd name="connsiteY23" fmla="*/ 520096 h 2564191"/>
              <a:gd name="connsiteX24" fmla="*/ 927 w 4077023"/>
              <a:gd name="connsiteY24" fmla="*/ 145143 h 2564191"/>
              <a:gd name="connsiteX25" fmla="*/ 13023 w 4077023"/>
              <a:gd name="connsiteY25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984546 w 4077023"/>
              <a:gd name="connsiteY20" fmla="*/ 979715 h 2564191"/>
              <a:gd name="connsiteX21" fmla="*/ 1778927 w 4077023"/>
              <a:gd name="connsiteY21" fmla="*/ 653143 h 2564191"/>
              <a:gd name="connsiteX22" fmla="*/ 182356 w 4077023"/>
              <a:gd name="connsiteY22" fmla="*/ 665238 h 2564191"/>
              <a:gd name="connsiteX23" fmla="*/ 25117 w 4077023"/>
              <a:gd name="connsiteY23" fmla="*/ 520096 h 2564191"/>
              <a:gd name="connsiteX24" fmla="*/ 927 w 4077023"/>
              <a:gd name="connsiteY24" fmla="*/ 145143 h 2564191"/>
              <a:gd name="connsiteX25" fmla="*/ 13023 w 4077023"/>
              <a:gd name="connsiteY25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467429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984546 w 4077023"/>
              <a:gd name="connsiteY20" fmla="*/ 979715 h 2564191"/>
              <a:gd name="connsiteX21" fmla="*/ 1778927 w 4077023"/>
              <a:gd name="connsiteY21" fmla="*/ 653143 h 2564191"/>
              <a:gd name="connsiteX22" fmla="*/ 182356 w 4077023"/>
              <a:gd name="connsiteY22" fmla="*/ 665238 h 2564191"/>
              <a:gd name="connsiteX23" fmla="*/ 25117 w 4077023"/>
              <a:gd name="connsiteY23" fmla="*/ 520096 h 2564191"/>
              <a:gd name="connsiteX24" fmla="*/ 927 w 4077023"/>
              <a:gd name="connsiteY24" fmla="*/ 145143 h 2564191"/>
              <a:gd name="connsiteX25" fmla="*/ 13023 w 4077023"/>
              <a:gd name="connsiteY25" fmla="*/ 133048 h 2564191"/>
              <a:gd name="connsiteX0" fmla="*/ 13023 w 4077023"/>
              <a:gd name="connsiteY0" fmla="*/ 133048 h 2578147"/>
              <a:gd name="connsiteX1" fmla="*/ 194451 w 4077023"/>
              <a:gd name="connsiteY1" fmla="*/ 12095 h 2578147"/>
              <a:gd name="connsiteX2" fmla="*/ 1863594 w 4077023"/>
              <a:gd name="connsiteY2" fmla="*/ 0 h 2578147"/>
              <a:gd name="connsiteX3" fmla="*/ 1984546 w 4077023"/>
              <a:gd name="connsiteY3" fmla="*/ 108857 h 2578147"/>
              <a:gd name="connsiteX4" fmla="*/ 1972451 w 4077023"/>
              <a:gd name="connsiteY4" fmla="*/ 471714 h 2578147"/>
              <a:gd name="connsiteX5" fmla="*/ 2178070 w 4077023"/>
              <a:gd name="connsiteY5" fmla="*/ 592667 h 2578147"/>
              <a:gd name="connsiteX6" fmla="*/ 3738356 w 4077023"/>
              <a:gd name="connsiteY6" fmla="*/ 580572 h 2578147"/>
              <a:gd name="connsiteX7" fmla="*/ 3968165 w 4077023"/>
              <a:gd name="connsiteY7" fmla="*/ 725714 h 2578147"/>
              <a:gd name="connsiteX8" fmla="*/ 4077023 w 4077023"/>
              <a:gd name="connsiteY8" fmla="*/ 1318381 h 2578147"/>
              <a:gd name="connsiteX9" fmla="*/ 3871404 w 4077023"/>
              <a:gd name="connsiteY9" fmla="*/ 1524000 h 2578147"/>
              <a:gd name="connsiteX10" fmla="*/ 3145689 w 4077023"/>
              <a:gd name="connsiteY10" fmla="*/ 1608667 h 2578147"/>
              <a:gd name="connsiteX11" fmla="*/ 2976356 w 4077023"/>
              <a:gd name="connsiteY11" fmla="*/ 1717524 h 2578147"/>
              <a:gd name="connsiteX12" fmla="*/ 2976356 w 4077023"/>
              <a:gd name="connsiteY12" fmla="*/ 2358572 h 2578147"/>
              <a:gd name="connsiteX13" fmla="*/ 2843308 w 4077023"/>
              <a:gd name="connsiteY13" fmla="*/ 2479524 h 2578147"/>
              <a:gd name="connsiteX14" fmla="*/ 1149975 w 4077023"/>
              <a:gd name="connsiteY14" fmla="*/ 2564191 h 2578147"/>
              <a:gd name="connsiteX15" fmla="*/ 980642 w 4077023"/>
              <a:gd name="connsiteY15" fmla="*/ 2467429 h 2578147"/>
              <a:gd name="connsiteX16" fmla="*/ 968546 w 4077023"/>
              <a:gd name="connsiteY16" fmla="*/ 1560286 h 2578147"/>
              <a:gd name="connsiteX17" fmla="*/ 1101594 w 4077023"/>
              <a:gd name="connsiteY17" fmla="*/ 1463524 h 2578147"/>
              <a:gd name="connsiteX18" fmla="*/ 1754737 w 4077023"/>
              <a:gd name="connsiteY18" fmla="*/ 1427238 h 2578147"/>
              <a:gd name="connsiteX19" fmla="*/ 1984546 w 4077023"/>
              <a:gd name="connsiteY19" fmla="*/ 1209524 h 2578147"/>
              <a:gd name="connsiteX20" fmla="*/ 1984546 w 4077023"/>
              <a:gd name="connsiteY20" fmla="*/ 979715 h 2578147"/>
              <a:gd name="connsiteX21" fmla="*/ 1778927 w 4077023"/>
              <a:gd name="connsiteY21" fmla="*/ 653143 h 2578147"/>
              <a:gd name="connsiteX22" fmla="*/ 182356 w 4077023"/>
              <a:gd name="connsiteY22" fmla="*/ 665238 h 2578147"/>
              <a:gd name="connsiteX23" fmla="*/ 25117 w 4077023"/>
              <a:gd name="connsiteY23" fmla="*/ 520096 h 2578147"/>
              <a:gd name="connsiteX24" fmla="*/ 927 w 4077023"/>
              <a:gd name="connsiteY24" fmla="*/ 145143 h 2578147"/>
              <a:gd name="connsiteX25" fmla="*/ 13023 w 4077023"/>
              <a:gd name="connsiteY25" fmla="*/ 133048 h 2578147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346476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984546 w 4077023"/>
              <a:gd name="connsiteY20" fmla="*/ 979715 h 2564191"/>
              <a:gd name="connsiteX21" fmla="*/ 1778927 w 4077023"/>
              <a:gd name="connsiteY21" fmla="*/ 653143 h 2564191"/>
              <a:gd name="connsiteX22" fmla="*/ 182356 w 4077023"/>
              <a:gd name="connsiteY22" fmla="*/ 665238 h 2564191"/>
              <a:gd name="connsiteX23" fmla="*/ 25117 w 4077023"/>
              <a:gd name="connsiteY23" fmla="*/ 520096 h 2564191"/>
              <a:gd name="connsiteX24" fmla="*/ 927 w 4077023"/>
              <a:gd name="connsiteY24" fmla="*/ 145143 h 2564191"/>
              <a:gd name="connsiteX25" fmla="*/ 13023 w 4077023"/>
              <a:gd name="connsiteY25" fmla="*/ 133048 h 2564191"/>
              <a:gd name="connsiteX0" fmla="*/ 13023 w 4077023"/>
              <a:gd name="connsiteY0" fmla="*/ 133048 h 2564191"/>
              <a:gd name="connsiteX1" fmla="*/ 194451 w 4077023"/>
              <a:gd name="connsiteY1" fmla="*/ 12095 h 2564191"/>
              <a:gd name="connsiteX2" fmla="*/ 1863594 w 4077023"/>
              <a:gd name="connsiteY2" fmla="*/ 0 h 2564191"/>
              <a:gd name="connsiteX3" fmla="*/ 1984546 w 4077023"/>
              <a:gd name="connsiteY3" fmla="*/ 108857 h 2564191"/>
              <a:gd name="connsiteX4" fmla="*/ 1972451 w 4077023"/>
              <a:gd name="connsiteY4" fmla="*/ 471714 h 2564191"/>
              <a:gd name="connsiteX5" fmla="*/ 2178070 w 4077023"/>
              <a:gd name="connsiteY5" fmla="*/ 592667 h 2564191"/>
              <a:gd name="connsiteX6" fmla="*/ 3738356 w 4077023"/>
              <a:gd name="connsiteY6" fmla="*/ 580572 h 2564191"/>
              <a:gd name="connsiteX7" fmla="*/ 3968165 w 4077023"/>
              <a:gd name="connsiteY7" fmla="*/ 725714 h 2564191"/>
              <a:gd name="connsiteX8" fmla="*/ 4077023 w 4077023"/>
              <a:gd name="connsiteY8" fmla="*/ 1318381 h 2564191"/>
              <a:gd name="connsiteX9" fmla="*/ 3871404 w 4077023"/>
              <a:gd name="connsiteY9" fmla="*/ 1524000 h 2564191"/>
              <a:gd name="connsiteX10" fmla="*/ 3145689 w 4077023"/>
              <a:gd name="connsiteY10" fmla="*/ 1608667 h 2564191"/>
              <a:gd name="connsiteX11" fmla="*/ 2976356 w 4077023"/>
              <a:gd name="connsiteY11" fmla="*/ 1717524 h 2564191"/>
              <a:gd name="connsiteX12" fmla="*/ 2976356 w 4077023"/>
              <a:gd name="connsiteY12" fmla="*/ 2358572 h 2564191"/>
              <a:gd name="connsiteX13" fmla="*/ 2843308 w 4077023"/>
              <a:gd name="connsiteY13" fmla="*/ 2479524 h 2564191"/>
              <a:gd name="connsiteX14" fmla="*/ 1149975 w 4077023"/>
              <a:gd name="connsiteY14" fmla="*/ 2564191 h 2564191"/>
              <a:gd name="connsiteX15" fmla="*/ 980642 w 4077023"/>
              <a:gd name="connsiteY15" fmla="*/ 2273905 h 2564191"/>
              <a:gd name="connsiteX16" fmla="*/ 968546 w 4077023"/>
              <a:gd name="connsiteY16" fmla="*/ 1560286 h 2564191"/>
              <a:gd name="connsiteX17" fmla="*/ 1101594 w 4077023"/>
              <a:gd name="connsiteY17" fmla="*/ 1463524 h 2564191"/>
              <a:gd name="connsiteX18" fmla="*/ 1754737 w 4077023"/>
              <a:gd name="connsiteY18" fmla="*/ 1427238 h 2564191"/>
              <a:gd name="connsiteX19" fmla="*/ 1984546 w 4077023"/>
              <a:gd name="connsiteY19" fmla="*/ 1209524 h 2564191"/>
              <a:gd name="connsiteX20" fmla="*/ 1984546 w 4077023"/>
              <a:gd name="connsiteY20" fmla="*/ 979715 h 2564191"/>
              <a:gd name="connsiteX21" fmla="*/ 1778927 w 4077023"/>
              <a:gd name="connsiteY21" fmla="*/ 653143 h 2564191"/>
              <a:gd name="connsiteX22" fmla="*/ 182356 w 4077023"/>
              <a:gd name="connsiteY22" fmla="*/ 665238 h 2564191"/>
              <a:gd name="connsiteX23" fmla="*/ 25117 w 4077023"/>
              <a:gd name="connsiteY23" fmla="*/ 520096 h 2564191"/>
              <a:gd name="connsiteX24" fmla="*/ 927 w 4077023"/>
              <a:gd name="connsiteY24" fmla="*/ 145143 h 2564191"/>
              <a:gd name="connsiteX25" fmla="*/ 13023 w 4077023"/>
              <a:gd name="connsiteY25" fmla="*/ 133048 h 2564191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863594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358572 h 2479524"/>
              <a:gd name="connsiteX13" fmla="*/ 2843308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863594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358572 h 2479524"/>
              <a:gd name="connsiteX13" fmla="*/ 2843308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863594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358572 h 2479524"/>
              <a:gd name="connsiteX13" fmla="*/ 2843308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863594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358572 h 2479524"/>
              <a:gd name="connsiteX13" fmla="*/ 2843308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863594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358572 h 2479524"/>
              <a:gd name="connsiteX13" fmla="*/ 2843308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863594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358572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863594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863594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778928 w 4077023"/>
              <a:gd name="connsiteY2" fmla="*/ 0 h 2479524"/>
              <a:gd name="connsiteX3" fmla="*/ 1984546 w 4077023"/>
              <a:gd name="connsiteY3" fmla="*/ 108857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778928 w 4077023"/>
              <a:gd name="connsiteY2" fmla="*/ 0 h 2479524"/>
              <a:gd name="connsiteX3" fmla="*/ 1960356 w 4077023"/>
              <a:gd name="connsiteY3" fmla="*/ 145143 h 2479524"/>
              <a:gd name="connsiteX4" fmla="*/ 1972451 w 4077023"/>
              <a:gd name="connsiteY4" fmla="*/ 471714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778928 w 4077023"/>
              <a:gd name="connsiteY2" fmla="*/ 0 h 2479524"/>
              <a:gd name="connsiteX3" fmla="*/ 1960356 w 4077023"/>
              <a:gd name="connsiteY3" fmla="*/ 145143 h 2479524"/>
              <a:gd name="connsiteX4" fmla="*/ 1972451 w 4077023"/>
              <a:gd name="connsiteY4" fmla="*/ 423333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778928 w 4077023"/>
              <a:gd name="connsiteY2" fmla="*/ 0 h 2479524"/>
              <a:gd name="connsiteX3" fmla="*/ 1960356 w 4077023"/>
              <a:gd name="connsiteY3" fmla="*/ 145143 h 2479524"/>
              <a:gd name="connsiteX4" fmla="*/ 1972451 w 4077023"/>
              <a:gd name="connsiteY4" fmla="*/ 423333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778928 w 4077023"/>
              <a:gd name="connsiteY2" fmla="*/ 0 h 2479524"/>
              <a:gd name="connsiteX3" fmla="*/ 1960356 w 4077023"/>
              <a:gd name="connsiteY3" fmla="*/ 145143 h 2479524"/>
              <a:gd name="connsiteX4" fmla="*/ 1972451 w 4077023"/>
              <a:gd name="connsiteY4" fmla="*/ 423333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778928 w 4077023"/>
              <a:gd name="connsiteY2" fmla="*/ 0 h 2479524"/>
              <a:gd name="connsiteX3" fmla="*/ 1960356 w 4077023"/>
              <a:gd name="connsiteY3" fmla="*/ 145143 h 2479524"/>
              <a:gd name="connsiteX4" fmla="*/ 1972451 w 4077023"/>
              <a:gd name="connsiteY4" fmla="*/ 423333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77023"/>
              <a:gd name="connsiteY0" fmla="*/ 133048 h 2479524"/>
              <a:gd name="connsiteX1" fmla="*/ 194451 w 4077023"/>
              <a:gd name="connsiteY1" fmla="*/ 12095 h 2479524"/>
              <a:gd name="connsiteX2" fmla="*/ 1778928 w 4077023"/>
              <a:gd name="connsiteY2" fmla="*/ 0 h 2479524"/>
              <a:gd name="connsiteX3" fmla="*/ 1960356 w 4077023"/>
              <a:gd name="connsiteY3" fmla="*/ 145143 h 2479524"/>
              <a:gd name="connsiteX4" fmla="*/ 1972451 w 4077023"/>
              <a:gd name="connsiteY4" fmla="*/ 423333 h 2479524"/>
              <a:gd name="connsiteX5" fmla="*/ 2178070 w 4077023"/>
              <a:gd name="connsiteY5" fmla="*/ 592667 h 2479524"/>
              <a:gd name="connsiteX6" fmla="*/ 3738356 w 4077023"/>
              <a:gd name="connsiteY6" fmla="*/ 580572 h 2479524"/>
              <a:gd name="connsiteX7" fmla="*/ 3968165 w 4077023"/>
              <a:gd name="connsiteY7" fmla="*/ 725714 h 2479524"/>
              <a:gd name="connsiteX8" fmla="*/ 4077023 w 4077023"/>
              <a:gd name="connsiteY8" fmla="*/ 1318381 h 2479524"/>
              <a:gd name="connsiteX9" fmla="*/ 3871404 w 4077023"/>
              <a:gd name="connsiteY9" fmla="*/ 1524000 h 2479524"/>
              <a:gd name="connsiteX10" fmla="*/ 3145689 w 4077023"/>
              <a:gd name="connsiteY10" fmla="*/ 1608667 h 2479524"/>
              <a:gd name="connsiteX11" fmla="*/ 2976356 w 4077023"/>
              <a:gd name="connsiteY11" fmla="*/ 1717524 h 2479524"/>
              <a:gd name="connsiteX12" fmla="*/ 2976356 w 4077023"/>
              <a:gd name="connsiteY12" fmla="*/ 2249715 h 2479524"/>
              <a:gd name="connsiteX13" fmla="*/ 2722355 w 4077023"/>
              <a:gd name="connsiteY13" fmla="*/ 2479524 h 2479524"/>
              <a:gd name="connsiteX14" fmla="*/ 1149975 w 4077023"/>
              <a:gd name="connsiteY14" fmla="*/ 2467429 h 2479524"/>
              <a:gd name="connsiteX15" fmla="*/ 980642 w 4077023"/>
              <a:gd name="connsiteY15" fmla="*/ 2273905 h 2479524"/>
              <a:gd name="connsiteX16" fmla="*/ 968546 w 4077023"/>
              <a:gd name="connsiteY16" fmla="*/ 1560286 h 2479524"/>
              <a:gd name="connsiteX17" fmla="*/ 1101594 w 4077023"/>
              <a:gd name="connsiteY17" fmla="*/ 1463524 h 2479524"/>
              <a:gd name="connsiteX18" fmla="*/ 1754737 w 4077023"/>
              <a:gd name="connsiteY18" fmla="*/ 1427238 h 2479524"/>
              <a:gd name="connsiteX19" fmla="*/ 1984546 w 4077023"/>
              <a:gd name="connsiteY19" fmla="*/ 1209524 h 2479524"/>
              <a:gd name="connsiteX20" fmla="*/ 1984546 w 4077023"/>
              <a:gd name="connsiteY20" fmla="*/ 979715 h 2479524"/>
              <a:gd name="connsiteX21" fmla="*/ 1778927 w 4077023"/>
              <a:gd name="connsiteY21" fmla="*/ 653143 h 2479524"/>
              <a:gd name="connsiteX22" fmla="*/ 182356 w 4077023"/>
              <a:gd name="connsiteY22" fmla="*/ 665238 h 2479524"/>
              <a:gd name="connsiteX23" fmla="*/ 25117 w 4077023"/>
              <a:gd name="connsiteY23" fmla="*/ 520096 h 2479524"/>
              <a:gd name="connsiteX24" fmla="*/ 927 w 4077023"/>
              <a:gd name="connsiteY24" fmla="*/ 145143 h 2479524"/>
              <a:gd name="connsiteX25" fmla="*/ 13023 w 4077023"/>
              <a:gd name="connsiteY25" fmla="*/ 133048 h 2479524"/>
              <a:gd name="connsiteX0" fmla="*/ 13023 w 4089118"/>
              <a:gd name="connsiteY0" fmla="*/ 133048 h 2479524"/>
              <a:gd name="connsiteX1" fmla="*/ 194451 w 4089118"/>
              <a:gd name="connsiteY1" fmla="*/ 12095 h 2479524"/>
              <a:gd name="connsiteX2" fmla="*/ 1778928 w 4089118"/>
              <a:gd name="connsiteY2" fmla="*/ 0 h 2479524"/>
              <a:gd name="connsiteX3" fmla="*/ 1960356 w 4089118"/>
              <a:gd name="connsiteY3" fmla="*/ 145143 h 2479524"/>
              <a:gd name="connsiteX4" fmla="*/ 1972451 w 4089118"/>
              <a:gd name="connsiteY4" fmla="*/ 423333 h 2479524"/>
              <a:gd name="connsiteX5" fmla="*/ 2178070 w 4089118"/>
              <a:gd name="connsiteY5" fmla="*/ 592667 h 2479524"/>
              <a:gd name="connsiteX6" fmla="*/ 3738356 w 4089118"/>
              <a:gd name="connsiteY6" fmla="*/ 580572 h 2479524"/>
              <a:gd name="connsiteX7" fmla="*/ 4089118 w 4089118"/>
              <a:gd name="connsiteY7" fmla="*/ 725714 h 2479524"/>
              <a:gd name="connsiteX8" fmla="*/ 4077023 w 4089118"/>
              <a:gd name="connsiteY8" fmla="*/ 1318381 h 2479524"/>
              <a:gd name="connsiteX9" fmla="*/ 3871404 w 4089118"/>
              <a:gd name="connsiteY9" fmla="*/ 1524000 h 2479524"/>
              <a:gd name="connsiteX10" fmla="*/ 3145689 w 4089118"/>
              <a:gd name="connsiteY10" fmla="*/ 1608667 h 2479524"/>
              <a:gd name="connsiteX11" fmla="*/ 2976356 w 4089118"/>
              <a:gd name="connsiteY11" fmla="*/ 1717524 h 2479524"/>
              <a:gd name="connsiteX12" fmla="*/ 2976356 w 4089118"/>
              <a:gd name="connsiteY12" fmla="*/ 2249715 h 2479524"/>
              <a:gd name="connsiteX13" fmla="*/ 2722355 w 4089118"/>
              <a:gd name="connsiteY13" fmla="*/ 2479524 h 2479524"/>
              <a:gd name="connsiteX14" fmla="*/ 1149975 w 4089118"/>
              <a:gd name="connsiteY14" fmla="*/ 2467429 h 2479524"/>
              <a:gd name="connsiteX15" fmla="*/ 980642 w 4089118"/>
              <a:gd name="connsiteY15" fmla="*/ 2273905 h 2479524"/>
              <a:gd name="connsiteX16" fmla="*/ 968546 w 4089118"/>
              <a:gd name="connsiteY16" fmla="*/ 1560286 h 2479524"/>
              <a:gd name="connsiteX17" fmla="*/ 1101594 w 4089118"/>
              <a:gd name="connsiteY17" fmla="*/ 1463524 h 2479524"/>
              <a:gd name="connsiteX18" fmla="*/ 1754737 w 4089118"/>
              <a:gd name="connsiteY18" fmla="*/ 1427238 h 2479524"/>
              <a:gd name="connsiteX19" fmla="*/ 1984546 w 4089118"/>
              <a:gd name="connsiteY19" fmla="*/ 1209524 h 2479524"/>
              <a:gd name="connsiteX20" fmla="*/ 1984546 w 4089118"/>
              <a:gd name="connsiteY20" fmla="*/ 979715 h 2479524"/>
              <a:gd name="connsiteX21" fmla="*/ 1778927 w 4089118"/>
              <a:gd name="connsiteY21" fmla="*/ 653143 h 2479524"/>
              <a:gd name="connsiteX22" fmla="*/ 182356 w 4089118"/>
              <a:gd name="connsiteY22" fmla="*/ 665238 h 2479524"/>
              <a:gd name="connsiteX23" fmla="*/ 25117 w 4089118"/>
              <a:gd name="connsiteY23" fmla="*/ 520096 h 2479524"/>
              <a:gd name="connsiteX24" fmla="*/ 927 w 4089118"/>
              <a:gd name="connsiteY24" fmla="*/ 145143 h 2479524"/>
              <a:gd name="connsiteX25" fmla="*/ 13023 w 4089118"/>
              <a:gd name="connsiteY25" fmla="*/ 133048 h 2479524"/>
              <a:gd name="connsiteX0" fmla="*/ 13023 w 4089118"/>
              <a:gd name="connsiteY0" fmla="*/ 133048 h 2479524"/>
              <a:gd name="connsiteX1" fmla="*/ 194451 w 4089118"/>
              <a:gd name="connsiteY1" fmla="*/ 12095 h 2479524"/>
              <a:gd name="connsiteX2" fmla="*/ 1778928 w 4089118"/>
              <a:gd name="connsiteY2" fmla="*/ 0 h 2479524"/>
              <a:gd name="connsiteX3" fmla="*/ 1960356 w 4089118"/>
              <a:gd name="connsiteY3" fmla="*/ 181429 h 2479524"/>
              <a:gd name="connsiteX4" fmla="*/ 1972451 w 4089118"/>
              <a:gd name="connsiteY4" fmla="*/ 423333 h 2479524"/>
              <a:gd name="connsiteX5" fmla="*/ 2178070 w 4089118"/>
              <a:gd name="connsiteY5" fmla="*/ 592667 h 2479524"/>
              <a:gd name="connsiteX6" fmla="*/ 3738356 w 4089118"/>
              <a:gd name="connsiteY6" fmla="*/ 580572 h 2479524"/>
              <a:gd name="connsiteX7" fmla="*/ 4089118 w 4089118"/>
              <a:gd name="connsiteY7" fmla="*/ 725714 h 2479524"/>
              <a:gd name="connsiteX8" fmla="*/ 4077023 w 4089118"/>
              <a:gd name="connsiteY8" fmla="*/ 1318381 h 2479524"/>
              <a:gd name="connsiteX9" fmla="*/ 3871404 w 4089118"/>
              <a:gd name="connsiteY9" fmla="*/ 1524000 h 2479524"/>
              <a:gd name="connsiteX10" fmla="*/ 3145689 w 4089118"/>
              <a:gd name="connsiteY10" fmla="*/ 1608667 h 2479524"/>
              <a:gd name="connsiteX11" fmla="*/ 2976356 w 4089118"/>
              <a:gd name="connsiteY11" fmla="*/ 1717524 h 2479524"/>
              <a:gd name="connsiteX12" fmla="*/ 2976356 w 4089118"/>
              <a:gd name="connsiteY12" fmla="*/ 2249715 h 2479524"/>
              <a:gd name="connsiteX13" fmla="*/ 2722355 w 4089118"/>
              <a:gd name="connsiteY13" fmla="*/ 2479524 h 2479524"/>
              <a:gd name="connsiteX14" fmla="*/ 1149975 w 4089118"/>
              <a:gd name="connsiteY14" fmla="*/ 2467429 h 2479524"/>
              <a:gd name="connsiteX15" fmla="*/ 980642 w 4089118"/>
              <a:gd name="connsiteY15" fmla="*/ 2273905 h 2479524"/>
              <a:gd name="connsiteX16" fmla="*/ 968546 w 4089118"/>
              <a:gd name="connsiteY16" fmla="*/ 1560286 h 2479524"/>
              <a:gd name="connsiteX17" fmla="*/ 1101594 w 4089118"/>
              <a:gd name="connsiteY17" fmla="*/ 1463524 h 2479524"/>
              <a:gd name="connsiteX18" fmla="*/ 1754737 w 4089118"/>
              <a:gd name="connsiteY18" fmla="*/ 1427238 h 2479524"/>
              <a:gd name="connsiteX19" fmla="*/ 1984546 w 4089118"/>
              <a:gd name="connsiteY19" fmla="*/ 1209524 h 2479524"/>
              <a:gd name="connsiteX20" fmla="*/ 1984546 w 4089118"/>
              <a:gd name="connsiteY20" fmla="*/ 979715 h 2479524"/>
              <a:gd name="connsiteX21" fmla="*/ 1778927 w 4089118"/>
              <a:gd name="connsiteY21" fmla="*/ 653143 h 2479524"/>
              <a:gd name="connsiteX22" fmla="*/ 182356 w 4089118"/>
              <a:gd name="connsiteY22" fmla="*/ 665238 h 2479524"/>
              <a:gd name="connsiteX23" fmla="*/ 25117 w 4089118"/>
              <a:gd name="connsiteY23" fmla="*/ 520096 h 2479524"/>
              <a:gd name="connsiteX24" fmla="*/ 927 w 4089118"/>
              <a:gd name="connsiteY24" fmla="*/ 145143 h 2479524"/>
              <a:gd name="connsiteX25" fmla="*/ 13023 w 4089118"/>
              <a:gd name="connsiteY25" fmla="*/ 133048 h 2479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089118" h="2479524">
                <a:moveTo>
                  <a:pt x="13023" y="133048"/>
                </a:moveTo>
                <a:cubicBezTo>
                  <a:pt x="45277" y="110873"/>
                  <a:pt x="-113977" y="34270"/>
                  <a:pt x="194451" y="12095"/>
                </a:cubicBezTo>
                <a:lnTo>
                  <a:pt x="1778928" y="0"/>
                </a:lnTo>
                <a:cubicBezTo>
                  <a:pt x="2077277" y="16127"/>
                  <a:pt x="1942213" y="102810"/>
                  <a:pt x="1960356" y="181429"/>
                </a:cubicBezTo>
                <a:lnTo>
                  <a:pt x="1972451" y="423333"/>
                </a:lnTo>
                <a:cubicBezTo>
                  <a:pt x="2008737" y="497920"/>
                  <a:pt x="1883752" y="566460"/>
                  <a:pt x="2178070" y="592667"/>
                </a:cubicBezTo>
                <a:lnTo>
                  <a:pt x="3738356" y="580572"/>
                </a:lnTo>
                <a:cubicBezTo>
                  <a:pt x="4036705" y="602747"/>
                  <a:pt x="4032674" y="602746"/>
                  <a:pt x="4089118" y="725714"/>
                </a:cubicBezTo>
                <a:lnTo>
                  <a:pt x="4077023" y="1318381"/>
                </a:lnTo>
                <a:cubicBezTo>
                  <a:pt x="4060896" y="1451429"/>
                  <a:pt x="4026626" y="1475619"/>
                  <a:pt x="3871404" y="1524000"/>
                </a:cubicBezTo>
                <a:lnTo>
                  <a:pt x="3145689" y="1608667"/>
                </a:lnTo>
                <a:cubicBezTo>
                  <a:pt x="2996514" y="1640921"/>
                  <a:pt x="3004578" y="1610683"/>
                  <a:pt x="2976356" y="1717524"/>
                </a:cubicBezTo>
                <a:lnTo>
                  <a:pt x="2976356" y="2249715"/>
                </a:lnTo>
                <a:cubicBezTo>
                  <a:pt x="2954181" y="2376715"/>
                  <a:pt x="3026752" y="2461381"/>
                  <a:pt x="2722355" y="2479524"/>
                </a:cubicBezTo>
                <a:lnTo>
                  <a:pt x="1149975" y="2467429"/>
                </a:lnTo>
                <a:cubicBezTo>
                  <a:pt x="912102" y="2453318"/>
                  <a:pt x="974594" y="2465414"/>
                  <a:pt x="980642" y="2273905"/>
                </a:cubicBezTo>
                <a:lnTo>
                  <a:pt x="968546" y="1560286"/>
                </a:lnTo>
                <a:cubicBezTo>
                  <a:pt x="988705" y="1392969"/>
                  <a:pt x="970562" y="1485699"/>
                  <a:pt x="1101594" y="1463524"/>
                </a:cubicBezTo>
                <a:lnTo>
                  <a:pt x="1754737" y="1427238"/>
                </a:lnTo>
                <a:cubicBezTo>
                  <a:pt x="1901896" y="1384905"/>
                  <a:pt x="1946245" y="1284111"/>
                  <a:pt x="1984546" y="1209524"/>
                </a:cubicBezTo>
                <a:cubicBezTo>
                  <a:pt x="2022847" y="1134937"/>
                  <a:pt x="2018816" y="1072445"/>
                  <a:pt x="1984546" y="979715"/>
                </a:cubicBezTo>
                <a:cubicBezTo>
                  <a:pt x="1950276" y="886985"/>
                  <a:pt x="1847467" y="762000"/>
                  <a:pt x="1778927" y="653143"/>
                </a:cubicBezTo>
                <a:lnTo>
                  <a:pt x="182356" y="665238"/>
                </a:lnTo>
                <a:cubicBezTo>
                  <a:pt x="-75676" y="626937"/>
                  <a:pt x="55355" y="606779"/>
                  <a:pt x="25117" y="520096"/>
                </a:cubicBezTo>
                <a:lnTo>
                  <a:pt x="927" y="145143"/>
                </a:lnTo>
                <a:lnTo>
                  <a:pt x="13023" y="133048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34" name="Rounded Rectangle 33"/>
          <p:cNvSpPr/>
          <p:nvPr/>
        </p:nvSpPr>
        <p:spPr bwMode="auto">
          <a:xfrm>
            <a:off x="6320971" y="3889828"/>
            <a:ext cx="2315029" cy="18796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1112762" y="2902857"/>
            <a:ext cx="2201333" cy="157238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rgbClr val="8064A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8908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6992E10C-51F5-004F-BAF4-B511FABC3925}" type="slidenum">
              <a:rPr lang="it-IT" sz="1200"/>
              <a:pPr eaLnBrk="1" hangingPunct="1"/>
              <a:t>26</a:t>
            </a:fld>
            <a:endParaRPr lang="it-IT" sz="1200"/>
          </a:p>
        </p:txBody>
      </p:sp>
      <p:sp>
        <p:nvSpPr>
          <p:cNvPr id="89091" name="Text Box 34"/>
          <p:cNvSpPr txBox="1">
            <a:spLocks noChangeArrowheads="1"/>
          </p:cNvSpPr>
          <p:nvPr/>
        </p:nvSpPr>
        <p:spPr bwMode="auto">
          <a:xfrm>
            <a:off x="1304925" y="4483100"/>
            <a:ext cx="1854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unchecked</a:t>
            </a:r>
          </a:p>
        </p:txBody>
      </p:sp>
      <p:sp>
        <p:nvSpPr>
          <p:cNvPr id="89093" name="Text Box 36"/>
          <p:cNvSpPr txBox="1">
            <a:spLocks noChangeArrowheads="1"/>
          </p:cNvSpPr>
          <p:nvPr/>
        </p:nvSpPr>
        <p:spPr bwMode="auto">
          <a:xfrm>
            <a:off x="6565900" y="5797550"/>
            <a:ext cx="1854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unchecked</a:t>
            </a:r>
          </a:p>
        </p:txBody>
      </p:sp>
      <p:sp>
        <p:nvSpPr>
          <p:cNvPr id="890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ea typeface="ＭＳ Ｐゴシック" charset="0"/>
                <a:cs typeface="ＭＳ Ｐゴシック" charset="0"/>
              </a:rPr>
              <a:t>Exceptions hierarchy</a:t>
            </a:r>
          </a:p>
        </p:txBody>
      </p:sp>
      <p:sp>
        <p:nvSpPr>
          <p:cNvPr id="87048" name="AutoShape 5"/>
          <p:cNvSpPr>
            <a:spLocks noChangeArrowheads="1"/>
          </p:cNvSpPr>
          <p:nvPr/>
        </p:nvSpPr>
        <p:spPr bwMode="auto">
          <a:xfrm>
            <a:off x="3197225" y="1609725"/>
            <a:ext cx="1550988" cy="34925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Object</a:t>
            </a:r>
          </a:p>
        </p:txBody>
      </p:sp>
      <p:sp>
        <p:nvSpPr>
          <p:cNvPr id="87049" name="AutoShape 7"/>
          <p:cNvSpPr>
            <a:spLocks noChangeArrowheads="1"/>
          </p:cNvSpPr>
          <p:nvPr/>
        </p:nvSpPr>
        <p:spPr bwMode="auto">
          <a:xfrm>
            <a:off x="3182938" y="2252663"/>
            <a:ext cx="1582737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r>
              <a:rPr lang="en-US" sz="2000"/>
              <a:t>Throwable</a:t>
            </a:r>
          </a:p>
        </p:txBody>
      </p:sp>
      <p:cxnSp>
        <p:nvCxnSpPr>
          <p:cNvPr id="89098" name="AutoShape 8"/>
          <p:cNvCxnSpPr>
            <a:cxnSpLocks noChangeShapeType="1"/>
            <a:stCxn id="87048" idx="2"/>
            <a:endCxn id="87049" idx="0"/>
          </p:cNvCxnSpPr>
          <p:nvPr/>
        </p:nvCxnSpPr>
        <p:spPr bwMode="auto">
          <a:xfrm>
            <a:off x="3973513" y="1958975"/>
            <a:ext cx="1587" cy="293688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51" name="AutoShape 9"/>
          <p:cNvSpPr>
            <a:spLocks noChangeArrowheads="1"/>
          </p:cNvSpPr>
          <p:nvPr/>
        </p:nvSpPr>
        <p:spPr bwMode="auto">
          <a:xfrm>
            <a:off x="1382713" y="3063875"/>
            <a:ext cx="1549400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r>
              <a:rPr lang="en-US" sz="2000"/>
              <a:t>Error</a:t>
            </a:r>
          </a:p>
        </p:txBody>
      </p:sp>
      <p:sp>
        <p:nvSpPr>
          <p:cNvPr id="87052" name="AutoShape 10"/>
          <p:cNvSpPr>
            <a:spLocks noChangeArrowheads="1"/>
          </p:cNvSpPr>
          <p:nvPr/>
        </p:nvSpPr>
        <p:spPr bwMode="auto">
          <a:xfrm>
            <a:off x="5257800" y="3049588"/>
            <a:ext cx="1566863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r>
              <a:rPr lang="en-US" sz="2000"/>
              <a:t>Exception</a:t>
            </a:r>
          </a:p>
        </p:txBody>
      </p:sp>
      <p:sp>
        <p:nvSpPr>
          <p:cNvPr id="89101" name="AutoShape 11"/>
          <p:cNvSpPr>
            <a:spLocks noChangeArrowheads="1"/>
          </p:cNvSpPr>
          <p:nvPr/>
        </p:nvSpPr>
        <p:spPr bwMode="auto">
          <a:xfrm>
            <a:off x="6527800" y="4008438"/>
            <a:ext cx="1835150" cy="685800"/>
          </a:xfrm>
          <a:prstGeom prst="roundRect">
            <a:avLst>
              <a:gd name="adj" fmla="val 16667"/>
            </a:avLst>
          </a:prstGeom>
          <a:solidFill>
            <a:srgbClr val="FDEADA"/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sz="2000"/>
              <a:t>Runtime</a:t>
            </a:r>
            <a:br>
              <a:rPr lang="en-US" sz="2000"/>
            </a:br>
            <a:r>
              <a:rPr lang="en-US" sz="2000"/>
              <a:t>Exception</a:t>
            </a:r>
          </a:p>
        </p:txBody>
      </p:sp>
      <p:sp>
        <p:nvSpPr>
          <p:cNvPr id="87054" name="AutoShape 12"/>
          <p:cNvSpPr>
            <a:spLocks noChangeArrowheads="1"/>
          </p:cNvSpPr>
          <p:nvPr/>
        </p:nvSpPr>
        <p:spPr bwMode="auto">
          <a:xfrm>
            <a:off x="1265238" y="3689350"/>
            <a:ext cx="1549400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endParaRPr lang="en-US" sz="2000"/>
          </a:p>
        </p:txBody>
      </p:sp>
      <p:sp>
        <p:nvSpPr>
          <p:cNvPr id="87055" name="AutoShape 13"/>
          <p:cNvSpPr>
            <a:spLocks noChangeArrowheads="1"/>
          </p:cNvSpPr>
          <p:nvPr/>
        </p:nvSpPr>
        <p:spPr bwMode="auto">
          <a:xfrm>
            <a:off x="1389063" y="3783013"/>
            <a:ext cx="1549400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endParaRPr lang="en-US" sz="2000"/>
          </a:p>
        </p:txBody>
      </p:sp>
      <p:sp>
        <p:nvSpPr>
          <p:cNvPr id="87056" name="AutoShape 14"/>
          <p:cNvSpPr>
            <a:spLocks noChangeArrowheads="1"/>
          </p:cNvSpPr>
          <p:nvPr/>
        </p:nvSpPr>
        <p:spPr bwMode="auto">
          <a:xfrm>
            <a:off x="1541463" y="3875088"/>
            <a:ext cx="1549400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endParaRPr lang="en-US" sz="2000"/>
          </a:p>
        </p:txBody>
      </p:sp>
      <p:sp>
        <p:nvSpPr>
          <p:cNvPr id="87057" name="AutoShape 15"/>
          <p:cNvSpPr>
            <a:spLocks noChangeArrowheads="1"/>
          </p:cNvSpPr>
          <p:nvPr/>
        </p:nvSpPr>
        <p:spPr bwMode="auto">
          <a:xfrm>
            <a:off x="4037013" y="3889375"/>
            <a:ext cx="1549400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endParaRPr lang="en-US" sz="2000"/>
          </a:p>
        </p:txBody>
      </p:sp>
      <p:sp>
        <p:nvSpPr>
          <p:cNvPr id="87058" name="AutoShape 16"/>
          <p:cNvSpPr>
            <a:spLocks noChangeArrowheads="1"/>
          </p:cNvSpPr>
          <p:nvPr/>
        </p:nvSpPr>
        <p:spPr bwMode="auto">
          <a:xfrm>
            <a:off x="4160838" y="3983038"/>
            <a:ext cx="1549400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endParaRPr lang="en-US" sz="2000"/>
          </a:p>
        </p:txBody>
      </p:sp>
      <p:sp>
        <p:nvSpPr>
          <p:cNvPr id="87059" name="AutoShape 17"/>
          <p:cNvSpPr>
            <a:spLocks noChangeArrowheads="1"/>
          </p:cNvSpPr>
          <p:nvPr/>
        </p:nvSpPr>
        <p:spPr bwMode="auto">
          <a:xfrm>
            <a:off x="4313238" y="4075113"/>
            <a:ext cx="1549400" cy="3492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defRPr/>
            </a:pPr>
            <a:endParaRPr lang="en-US" sz="2000"/>
          </a:p>
        </p:txBody>
      </p:sp>
      <p:sp>
        <p:nvSpPr>
          <p:cNvPr id="89108" name="AutoShape 18"/>
          <p:cNvSpPr>
            <a:spLocks noChangeArrowheads="1"/>
          </p:cNvSpPr>
          <p:nvPr/>
        </p:nvSpPr>
        <p:spPr bwMode="auto">
          <a:xfrm>
            <a:off x="6551613" y="5021263"/>
            <a:ext cx="1549400" cy="349250"/>
          </a:xfrm>
          <a:prstGeom prst="roundRect">
            <a:avLst>
              <a:gd name="adj" fmla="val 16667"/>
            </a:avLst>
          </a:prstGeom>
          <a:solidFill>
            <a:srgbClr val="FDEADA"/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/>
            <a:endParaRPr lang="en-US" sz="2000"/>
          </a:p>
        </p:txBody>
      </p:sp>
      <p:sp>
        <p:nvSpPr>
          <p:cNvPr id="89109" name="AutoShape 19"/>
          <p:cNvSpPr>
            <a:spLocks noChangeArrowheads="1"/>
          </p:cNvSpPr>
          <p:nvPr/>
        </p:nvSpPr>
        <p:spPr bwMode="auto">
          <a:xfrm>
            <a:off x="6675438" y="5114925"/>
            <a:ext cx="1549400" cy="349250"/>
          </a:xfrm>
          <a:prstGeom prst="roundRect">
            <a:avLst>
              <a:gd name="adj" fmla="val 16667"/>
            </a:avLst>
          </a:prstGeom>
          <a:solidFill>
            <a:srgbClr val="FDEADA"/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/>
            <a:endParaRPr lang="en-US" sz="2000"/>
          </a:p>
        </p:txBody>
      </p:sp>
      <p:sp>
        <p:nvSpPr>
          <p:cNvPr id="89110" name="AutoShape 20"/>
          <p:cNvSpPr>
            <a:spLocks noChangeArrowheads="1"/>
          </p:cNvSpPr>
          <p:nvPr/>
        </p:nvSpPr>
        <p:spPr bwMode="auto">
          <a:xfrm>
            <a:off x="6827838" y="5207000"/>
            <a:ext cx="1549400" cy="349250"/>
          </a:xfrm>
          <a:prstGeom prst="roundRect">
            <a:avLst>
              <a:gd name="adj" fmla="val 16667"/>
            </a:avLst>
          </a:prstGeom>
          <a:solidFill>
            <a:srgbClr val="FDEADA"/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/>
            <a:endParaRPr lang="en-US" sz="2000"/>
          </a:p>
        </p:txBody>
      </p:sp>
      <p:cxnSp>
        <p:nvCxnSpPr>
          <p:cNvPr id="89111" name="AutoShape 21"/>
          <p:cNvCxnSpPr>
            <a:cxnSpLocks noChangeShapeType="1"/>
            <a:stCxn id="89101" idx="2"/>
            <a:endCxn id="89109" idx="0"/>
          </p:cNvCxnSpPr>
          <p:nvPr/>
        </p:nvCxnSpPr>
        <p:spPr bwMode="auto">
          <a:xfrm>
            <a:off x="7445375" y="4694238"/>
            <a:ext cx="4763" cy="420687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12" name="AutoShape 22"/>
          <p:cNvCxnSpPr>
            <a:cxnSpLocks noChangeShapeType="1"/>
            <a:stCxn id="87051" idx="2"/>
            <a:endCxn id="87055" idx="0"/>
          </p:cNvCxnSpPr>
          <p:nvPr/>
        </p:nvCxnSpPr>
        <p:spPr bwMode="auto">
          <a:xfrm>
            <a:off x="2157413" y="3413125"/>
            <a:ext cx="6350" cy="369888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13" name="AutoShape 23"/>
          <p:cNvCxnSpPr>
            <a:cxnSpLocks noChangeShapeType="1"/>
            <a:stCxn id="87051" idx="0"/>
            <a:endCxn id="87049" idx="2"/>
          </p:cNvCxnSpPr>
          <p:nvPr/>
        </p:nvCxnSpPr>
        <p:spPr bwMode="auto">
          <a:xfrm rot="-5400000">
            <a:off x="2835276" y="1924050"/>
            <a:ext cx="461962" cy="1817687"/>
          </a:xfrm>
          <a:prstGeom prst="bentConnector3">
            <a:avLst>
              <a:gd name="adj1" fmla="val 49829"/>
            </a:avLst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14" name="AutoShape 24"/>
          <p:cNvCxnSpPr>
            <a:cxnSpLocks noChangeShapeType="1"/>
            <a:stCxn id="87052" idx="0"/>
            <a:endCxn id="87049" idx="2"/>
          </p:cNvCxnSpPr>
          <p:nvPr/>
        </p:nvCxnSpPr>
        <p:spPr bwMode="auto">
          <a:xfrm rot="5400000" flipH="1">
            <a:off x="4784725" y="1792288"/>
            <a:ext cx="447675" cy="20669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15" name="AutoShape 25"/>
          <p:cNvCxnSpPr>
            <a:cxnSpLocks noChangeShapeType="1"/>
            <a:stCxn id="87058" idx="0"/>
            <a:endCxn id="87052" idx="2"/>
          </p:cNvCxnSpPr>
          <p:nvPr/>
        </p:nvCxnSpPr>
        <p:spPr bwMode="auto">
          <a:xfrm rot="-5400000">
            <a:off x="5196682" y="3137694"/>
            <a:ext cx="584200" cy="1106487"/>
          </a:xfrm>
          <a:prstGeom prst="bentConnector3">
            <a:avLst>
              <a:gd name="adj1" fmla="val 68477"/>
            </a:avLst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116" name="AutoShape 26"/>
          <p:cNvCxnSpPr>
            <a:cxnSpLocks noChangeShapeType="1"/>
            <a:stCxn id="89101" idx="0"/>
            <a:endCxn id="87052" idx="2"/>
          </p:cNvCxnSpPr>
          <p:nvPr/>
        </p:nvCxnSpPr>
        <p:spPr bwMode="auto">
          <a:xfrm rot="5400000" flipH="1">
            <a:off x="6438900" y="3001963"/>
            <a:ext cx="609600" cy="1403350"/>
          </a:xfrm>
          <a:prstGeom prst="bentConnector3">
            <a:avLst>
              <a:gd name="adj1" fmla="val 70051"/>
            </a:avLst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117" name="Text Box 28"/>
          <p:cNvSpPr txBox="1">
            <a:spLocks noChangeArrowheads="1"/>
          </p:cNvSpPr>
          <p:nvPr/>
        </p:nvSpPr>
        <p:spPr bwMode="auto">
          <a:xfrm>
            <a:off x="4330700" y="4708525"/>
            <a:ext cx="14128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checked</a:t>
            </a:r>
          </a:p>
        </p:txBody>
      </p:sp>
      <p:sp>
        <p:nvSpPr>
          <p:cNvPr id="89118" name="AutoShape 37"/>
          <p:cNvSpPr>
            <a:spLocks noChangeArrowheads="1"/>
          </p:cNvSpPr>
          <p:nvPr/>
        </p:nvSpPr>
        <p:spPr bwMode="auto">
          <a:xfrm>
            <a:off x="320675" y="1245243"/>
            <a:ext cx="2268538" cy="1362075"/>
          </a:xfrm>
          <a:prstGeom prst="wedgeRoundRectCallout">
            <a:avLst>
              <a:gd name="adj1" fmla="val 6963"/>
              <a:gd name="adj2" fmla="val 7956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  <a:extLst/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sz="2000" dirty="0"/>
              <a:t>Internal Error, Hard failure in VM (e.g. out of memory)</a:t>
            </a:r>
          </a:p>
        </p:txBody>
      </p:sp>
      <p:sp>
        <p:nvSpPr>
          <p:cNvPr id="89119" name="AutoShape 38"/>
          <p:cNvSpPr>
            <a:spLocks noChangeArrowheads="1"/>
          </p:cNvSpPr>
          <p:nvPr/>
        </p:nvSpPr>
        <p:spPr bwMode="auto">
          <a:xfrm>
            <a:off x="6127750" y="1331889"/>
            <a:ext cx="3016250" cy="1021556"/>
          </a:xfrm>
          <a:prstGeom prst="wedgeRoundRectCallout">
            <a:avLst>
              <a:gd name="adj1" fmla="val 5613"/>
              <a:gd name="adj2" fmla="val 20344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  <a:extLst/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sz="2000" dirty="0"/>
              <a:t>Programming error (e.g. null pointer, out of bounds, cast error)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5B9F880-8AE9-2B41-9EBC-5DFF955CC8B0}" type="slidenum">
              <a:rPr lang="it-IT" sz="1200"/>
              <a:pPr eaLnBrk="1" hangingPunct="1"/>
              <a:t>27</a:t>
            </a:fld>
            <a:endParaRPr lang="it-IT" sz="1200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Checked and unchecked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Unchecked exceptions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ＭＳ Ｐゴシック" charset="0"/>
              </a:rPr>
              <a:t>Their generation is not foreseen (can happen everywhere)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ＭＳ Ｐゴシック" charset="0"/>
              </a:rPr>
              <a:t>Need not to be declared (not checked by the compiler)</a:t>
            </a:r>
          </a:p>
          <a:p>
            <a:pPr lvl="1" eaLnBrk="1" hangingPunct="1"/>
            <a:r>
              <a:rPr lang="en-US" dirty="0" smtClean="0">
                <a:latin typeface="Lucida Sans Unicode" charset="0"/>
                <a:ea typeface="ＭＳ Ｐゴシック" charset="0"/>
              </a:rPr>
              <a:t>Errors are generated </a:t>
            </a:r>
            <a:r>
              <a:rPr lang="en-US" dirty="0">
                <a:latin typeface="Lucida Sans Unicode" charset="0"/>
                <a:ea typeface="ＭＳ Ｐゴシック" charset="0"/>
              </a:rPr>
              <a:t>by </a:t>
            </a:r>
            <a:r>
              <a:rPr lang="en-US" dirty="0" smtClean="0">
                <a:latin typeface="Lucida Sans Unicode" charset="0"/>
                <a:ea typeface="ＭＳ Ｐゴシック" charset="0"/>
              </a:rPr>
              <a:t>JVM only</a:t>
            </a:r>
            <a:endParaRPr lang="en-US" dirty="0">
              <a:latin typeface="Lucida Sans Unicode" charset="0"/>
              <a:ea typeface="ＭＳ Ｐゴシック" charset="0"/>
            </a:endParaRPr>
          </a:p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Checked exceptions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ＭＳ Ｐゴシック" charset="0"/>
              </a:rPr>
              <a:t>Exceptions declared and checked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ＭＳ Ｐゴシック" charset="0"/>
              </a:rPr>
              <a:t>Generated with “throw”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Main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xception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classes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3000" dirty="0">
                <a:latin typeface="Lucida Sans Unicode" charset="0"/>
                <a:ea typeface="ＭＳ Ｐゴシック" charset="0"/>
                <a:cs typeface="ＭＳ Ｐゴシック" charset="0"/>
              </a:rPr>
              <a:t>Error</a:t>
            </a:r>
          </a:p>
          <a:p>
            <a:pPr lvl="1">
              <a:lnSpc>
                <a:spcPct val="80000"/>
              </a:lnSpc>
              <a:buFont typeface="Arial" charset="0"/>
              <a:buChar char="•"/>
            </a:pPr>
            <a:r>
              <a:rPr lang="en-US" sz="2600" b="1" dirty="0" err="1">
                <a:latin typeface="Courier New"/>
                <a:ea typeface="ＭＳ Ｐゴシック" charset="0"/>
                <a:cs typeface="Courier New"/>
              </a:rPr>
              <a:t>OutOfMemoryError</a:t>
            </a:r>
            <a:endParaRPr lang="en-US" sz="2600" b="1" dirty="0">
              <a:latin typeface="Courier New"/>
              <a:ea typeface="ＭＳ Ｐゴシック" charset="0"/>
              <a:cs typeface="Courier New"/>
            </a:endParaRP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3000" dirty="0">
                <a:latin typeface="Lucida Sans Unicode" charset="0"/>
                <a:ea typeface="ＭＳ Ｐゴシック" charset="0"/>
                <a:cs typeface="ＭＳ Ｐゴシック" charset="0"/>
              </a:rPr>
              <a:t>Exception</a:t>
            </a:r>
          </a:p>
          <a:p>
            <a:pPr lvl="1">
              <a:lnSpc>
                <a:spcPct val="80000"/>
              </a:lnSpc>
              <a:buFont typeface="Arial" charset="0"/>
              <a:buChar char="•"/>
            </a:pPr>
            <a:r>
              <a:rPr lang="en-US" sz="2600" b="1" dirty="0" err="1">
                <a:latin typeface="Courier New"/>
                <a:ea typeface="ＭＳ Ｐゴシック" charset="0"/>
                <a:cs typeface="Courier New"/>
              </a:rPr>
              <a:t>ClassNotFoundException</a:t>
            </a:r>
            <a:endParaRPr lang="en-US" sz="2600" b="1" dirty="0">
              <a:latin typeface="Courier New"/>
              <a:ea typeface="ＭＳ Ｐゴシック" charset="0"/>
              <a:cs typeface="Courier New"/>
            </a:endParaRPr>
          </a:p>
          <a:p>
            <a:pPr lvl="1">
              <a:lnSpc>
                <a:spcPct val="80000"/>
              </a:lnSpc>
              <a:buFont typeface="Arial" charset="0"/>
              <a:buChar char="•"/>
            </a:pPr>
            <a:r>
              <a:rPr lang="en-US" sz="2600" b="1" dirty="0" err="1">
                <a:latin typeface="Courier New"/>
                <a:ea typeface="ＭＳ Ｐゴシック" charset="0"/>
                <a:cs typeface="Courier New"/>
              </a:rPr>
              <a:t>InstantiationException</a:t>
            </a:r>
            <a:endParaRPr lang="en-US" sz="2600" b="1" dirty="0">
              <a:latin typeface="Courier New"/>
              <a:ea typeface="ＭＳ Ｐゴシック" charset="0"/>
              <a:cs typeface="Courier New"/>
            </a:endParaRPr>
          </a:p>
          <a:p>
            <a:pPr lvl="1">
              <a:lnSpc>
                <a:spcPct val="80000"/>
              </a:lnSpc>
              <a:buFont typeface="Arial" charset="0"/>
              <a:buChar char="•"/>
            </a:pPr>
            <a:r>
              <a:rPr lang="en-US" sz="2600" b="1" dirty="0" err="1">
                <a:latin typeface="Courier New"/>
                <a:ea typeface="ＭＳ Ｐゴシック" charset="0"/>
                <a:cs typeface="Courier New"/>
              </a:rPr>
              <a:t>NoSuchMethodException</a:t>
            </a:r>
            <a:endParaRPr lang="en-US" sz="2600" b="1" dirty="0">
              <a:latin typeface="Courier New"/>
              <a:ea typeface="ＭＳ Ｐゴシック" charset="0"/>
              <a:cs typeface="Courier New"/>
            </a:endParaRPr>
          </a:p>
          <a:p>
            <a:pPr lvl="1">
              <a:lnSpc>
                <a:spcPct val="80000"/>
              </a:lnSpc>
              <a:buFont typeface="Arial" charset="0"/>
              <a:buChar char="•"/>
            </a:pPr>
            <a:r>
              <a:rPr lang="en-US" sz="2600" b="1" dirty="0" err="1">
                <a:latin typeface="Courier New"/>
                <a:ea typeface="ＭＳ Ｐゴシック" charset="0"/>
                <a:cs typeface="Courier New"/>
              </a:rPr>
              <a:t>IllegalAccessException</a:t>
            </a:r>
            <a:endParaRPr lang="en-US" sz="2600" b="1" dirty="0">
              <a:latin typeface="Courier New"/>
              <a:ea typeface="ＭＳ Ｐゴシック" charset="0"/>
              <a:cs typeface="Courier New"/>
            </a:endParaRPr>
          </a:p>
          <a:p>
            <a:pPr lvl="1">
              <a:lnSpc>
                <a:spcPct val="80000"/>
              </a:lnSpc>
              <a:buFont typeface="Arial" charset="0"/>
              <a:buChar char="•"/>
            </a:pPr>
            <a:r>
              <a:rPr lang="en-US" sz="2600" b="1" dirty="0" err="1">
                <a:latin typeface="Courier New"/>
                <a:ea typeface="ＭＳ Ｐゴシック" charset="0"/>
                <a:cs typeface="Courier New"/>
              </a:rPr>
              <a:t>NegativeArraySizeException</a:t>
            </a:r>
            <a:endParaRPr lang="en-US" sz="2600" b="1" dirty="0">
              <a:latin typeface="Courier New"/>
              <a:ea typeface="ＭＳ Ｐゴシック" charset="0"/>
              <a:cs typeface="Courier New"/>
            </a:endParaRP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30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RuntimeException</a:t>
            </a:r>
            <a:endParaRPr lang="en-US" sz="30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>
              <a:lnSpc>
                <a:spcPct val="80000"/>
              </a:lnSpc>
              <a:buFont typeface="Arial" charset="0"/>
              <a:buChar char="•"/>
            </a:pPr>
            <a:r>
              <a:rPr lang="en-US" sz="2600" b="1" dirty="0" err="1" smtClean="0">
                <a:latin typeface="Courier New"/>
                <a:ea typeface="ＭＳ Ｐゴシック" charset="0"/>
                <a:cs typeface="Courier New"/>
              </a:rPr>
              <a:t>NullPointerException</a:t>
            </a:r>
            <a:endParaRPr lang="en-US" sz="2600" b="1" dirty="0" smtClean="0">
              <a:latin typeface="Courier New"/>
              <a:ea typeface="ＭＳ Ｐゴシック" charset="0"/>
              <a:cs typeface="Courier New"/>
            </a:endParaRPr>
          </a:p>
          <a:p>
            <a:pPr lvl="1">
              <a:lnSpc>
                <a:spcPct val="80000"/>
              </a:lnSpc>
              <a:buFont typeface="Arial" charset="0"/>
              <a:buChar char="•"/>
            </a:pPr>
            <a:r>
              <a:rPr lang="en-US" sz="2600" b="1" dirty="0" err="1" smtClean="0">
                <a:latin typeface="Courier New"/>
                <a:ea typeface="ＭＳ Ｐゴシック" charset="0"/>
                <a:cs typeface="Courier New"/>
              </a:rPr>
              <a:t>ClassCastException</a:t>
            </a:r>
            <a:endParaRPr lang="en-US" sz="2600" b="1" dirty="0"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466B19F-F046-F54E-A1C6-1A5141F52E7C}" type="slidenum">
              <a:rPr lang="it-IT" sz="1200"/>
              <a:pPr eaLnBrk="1" hangingPunct="1"/>
              <a:t>29</a:t>
            </a:fld>
            <a:endParaRPr lang="it-IT" sz="120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Application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specific exceptions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It is possible to define new types of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exceptions</a:t>
            </a:r>
          </a:p>
          <a:p>
            <a:pPr lvl="1"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Represent anomalies specific for the application</a:t>
            </a:r>
          </a:p>
          <a:p>
            <a:pPr lvl="1"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Can be caught separately from the predefined ones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Must extend </a:t>
            </a:r>
            <a:r>
              <a:rPr lang="en-US" b="1" dirty="0" err="1" smtClean="0">
                <a:latin typeface="Courier New"/>
                <a:ea typeface="ＭＳ Ｐゴシック" charset="0"/>
                <a:cs typeface="Courier New"/>
              </a:rPr>
              <a:t>Throwable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or one of its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descendants</a:t>
            </a:r>
          </a:p>
          <a:p>
            <a:pPr lvl="1" eaLnBrk="1" hangingPunct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Most commonly they extend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ea typeface="ＭＳ Ｐゴシック" charset="0"/>
                <a:cs typeface="Courier New"/>
              </a:rPr>
              <a:t>Exception</a:t>
            </a:r>
            <a:endParaRPr lang="en-US" b="1" dirty="0">
              <a:solidFill>
                <a:srgbClr val="FF6600"/>
              </a:solidFill>
              <a:latin typeface="Courier New"/>
              <a:ea typeface="ＭＳ Ｐゴシック" charset="0"/>
              <a:cs typeface="Courier New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specific exceptions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Exceptions are like stones</a:t>
            </a:r>
          </a:p>
          <a:p>
            <a:pPr lvl="1"/>
            <a:r>
              <a:rPr lang="en-US" dirty="0" smtClean="0"/>
              <a:t>When they hit </a:t>
            </a:r>
            <a:r>
              <a:rPr lang="en-US" dirty="0"/>
              <a:t>you, </a:t>
            </a:r>
            <a:r>
              <a:rPr lang="en-US" dirty="0" smtClean="0"/>
              <a:t>they </a:t>
            </a:r>
            <a:r>
              <a:rPr lang="en-US" dirty="0"/>
              <a:t>first matters because </a:t>
            </a:r>
            <a:r>
              <a:rPr lang="en-US" dirty="0" smtClean="0"/>
              <a:t>they exists </a:t>
            </a:r>
            <a:r>
              <a:rPr lang="en-US" dirty="0"/>
              <a:t>and </a:t>
            </a:r>
            <a:r>
              <a:rPr lang="en-US" dirty="0" smtClean="0"/>
              <a:t>are thrown</a:t>
            </a:r>
            <a:r>
              <a:rPr lang="en-US" dirty="0"/>
              <a:t>, then for </a:t>
            </a:r>
            <a:r>
              <a:rPr lang="en-US" dirty="0" smtClean="0"/>
              <a:t>their message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BC8513-4DFC-A04A-AD6A-395CA0F385DF}" type="slidenum">
              <a:rPr lang="it-IT" smtClean="0"/>
              <a:pPr>
                <a:defRPr/>
              </a:pPr>
              <a:t>30</a:t>
            </a:fld>
            <a:endParaRPr lang="it-IT"/>
          </a:p>
        </p:txBody>
      </p:sp>
      <p:sp>
        <p:nvSpPr>
          <p:cNvPr id="7" name="Rectangle 6"/>
          <p:cNvSpPr/>
          <p:nvPr/>
        </p:nvSpPr>
        <p:spPr>
          <a:xfrm>
            <a:off x="4694179" y="2939143"/>
            <a:ext cx="4449822" cy="1854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Ins="36000" rtlCol="0" anchor="t"/>
          <a:lstStyle/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class 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MessageStone</a:t>
            </a:r>
            <a:endParaRPr lang="en-US" sz="2400" b="1" dirty="0" smtClean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extends 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Throwable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public Stone(String m){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 super(m); }    </a:t>
            </a:r>
          </a:p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24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6110" y="3232427"/>
            <a:ext cx="3703298" cy="13395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class Stone</a:t>
            </a:r>
          </a:p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extends </a:t>
            </a:r>
            <a:r>
              <a:rPr lang="en-US" sz="2400" b="1" dirty="0" err="1" smtClean="0">
                <a:solidFill>
                  <a:srgbClr val="000000"/>
                </a:solidFill>
                <a:latin typeface="Courier New"/>
                <a:cs typeface="Courier New"/>
              </a:rPr>
              <a:t>Throwable</a:t>
            </a: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rgbClr val="000000"/>
                </a:solidFill>
                <a:latin typeface="Courier New"/>
                <a:cs typeface="Courier New"/>
              </a:rPr>
              <a:t>{}</a:t>
            </a:r>
            <a:endParaRPr lang="en-US" sz="24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4064000"/>
            <a:ext cx="2053748" cy="2794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00" y="4168019"/>
            <a:ext cx="2053748" cy="279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19027700">
            <a:off x="7043893" y="4906825"/>
            <a:ext cx="1446026" cy="707886"/>
          </a:xfrm>
          <a:prstGeom prst="rect">
            <a:avLst/>
          </a:prstGeom>
          <a:noFill/>
          <a:effectLst>
            <a:innerShdw blurRad="82550" dist="50800" dir="135000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000" b="1" spc="50" noProof="1" smtClean="0">
                <a:ln w="28575" cmpd="sng">
                  <a:solidFill>
                    <a:schemeClr val="tx1"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24000"/>
                  </a:schemeClr>
                </a:solidFill>
                <a:effectLst>
                  <a:innerShdw blurRad="152400" dist="190500" dir="16200000">
                    <a:srgbClr val="000000"/>
                  </a:innerShdw>
                </a:effectLst>
              </a:rPr>
              <a:t>Error</a:t>
            </a:r>
            <a:endParaRPr lang="it-IT" sz="4000" b="1" spc="50" noProof="1">
              <a:ln w="28575" cmpd="sng">
                <a:solidFill>
                  <a:schemeClr val="tx1"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24000"/>
                </a:schemeClr>
              </a:solidFill>
              <a:effectLst>
                <a:innerShdw blurRad="152400" dist="190500" dir="16200000">
                  <a:srgbClr val="000000"/>
                </a:inn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 rot="19027700">
            <a:off x="7039675" y="4902596"/>
            <a:ext cx="1446026" cy="707886"/>
          </a:xfrm>
          <a:prstGeom prst="rect">
            <a:avLst/>
          </a:prstGeom>
          <a:noFill/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4000" b="1" noProof="1" smtClean="0">
                <a:ln w="3175" cmpd="sng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noFill/>
              </a:rPr>
              <a:t>Error</a:t>
            </a:r>
            <a:endParaRPr lang="it-IT" sz="4000" b="1" noProof="1">
              <a:ln w="3175" cmpd="sng">
                <a:solidFill>
                  <a:schemeClr val="bg1">
                    <a:lumMod val="50000"/>
                  </a:schemeClr>
                </a:solidFill>
                <a:prstDash val="solid"/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2799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01316EB5-BD6C-8649-A342-070E3198FDBC}" type="slidenum">
              <a:rPr lang="it-IT" sz="1200"/>
              <a:pPr eaLnBrk="1" hangingPunct="1"/>
              <a:t>31</a:t>
            </a:fld>
            <a:endParaRPr lang="it-IT" sz="120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b="1" dirty="0" err="1">
                <a:latin typeface="Courier New"/>
                <a:ea typeface="ＭＳ Ｐゴシック" charset="0"/>
                <a:cs typeface="Courier New"/>
              </a:rPr>
              <a:t>finally</a:t>
            </a:r>
            <a:endParaRPr lang="en-US" b="1" dirty="0">
              <a:latin typeface="Courier New"/>
              <a:ea typeface="ＭＳ Ｐゴシック" charset="0"/>
              <a:cs typeface="Courier New"/>
            </a:endParaRPr>
          </a:p>
        </p:txBody>
      </p:sp>
      <p:sp>
        <p:nvSpPr>
          <p:cNvPr id="9728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153400" cy="2590800"/>
          </a:xfrm>
        </p:spPr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The keyword </a:t>
            </a:r>
            <a:r>
              <a:rPr lang="en-US" b="1" dirty="0">
                <a:solidFill>
                  <a:srgbClr val="FF6600"/>
                </a:solidFill>
                <a:latin typeface="Courier New"/>
                <a:ea typeface="ＭＳ Ｐゴシック" charset="0"/>
                <a:cs typeface="Courier New"/>
              </a:rPr>
              <a:t>finally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allows specifying actions that must be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executed in any case, e.g.: </a:t>
            </a:r>
            <a:endParaRPr lang="en-US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US" dirty="0">
                <a:latin typeface="Lucida Sans Unicode" charset="0"/>
                <a:ea typeface="ＭＳ Ｐゴシック" charset="0"/>
              </a:rPr>
              <a:t>Dispose </a:t>
            </a:r>
            <a:r>
              <a:rPr lang="en-US" dirty="0" smtClean="0">
                <a:latin typeface="Lucida Sans Unicode" charset="0"/>
                <a:ea typeface="ＭＳ Ｐゴシック" charset="0"/>
              </a:rPr>
              <a:t>of resources</a:t>
            </a:r>
            <a:endParaRPr lang="en-US" dirty="0">
              <a:latin typeface="Lucida Sans Unicode" charset="0"/>
              <a:ea typeface="ＭＳ Ｐゴシック" charset="0"/>
            </a:endParaRPr>
          </a:p>
          <a:p>
            <a:pPr lvl="1" eaLnBrk="1" hangingPunct="1"/>
            <a:r>
              <a:rPr lang="en-US" dirty="0">
                <a:latin typeface="Lucida Sans Unicode" charset="0"/>
                <a:ea typeface="ＭＳ Ｐゴシック" charset="0"/>
              </a:rPr>
              <a:t>Close a file</a:t>
            </a:r>
          </a:p>
        </p:txBody>
      </p:sp>
      <p:sp>
        <p:nvSpPr>
          <p:cNvPr id="351239" name="Rectangle 7"/>
          <p:cNvSpPr>
            <a:spLocks noChangeArrowheads="1"/>
          </p:cNvSpPr>
          <p:nvPr/>
        </p:nvSpPr>
        <p:spPr bwMode="auto">
          <a:xfrm>
            <a:off x="4069368" y="3638191"/>
            <a:ext cx="4876800" cy="2768600"/>
          </a:xfrm>
          <a:prstGeom prst="rect">
            <a:avLst/>
          </a:prstGeom>
          <a:solidFill>
            <a:srgbClr val="FDEADA"/>
          </a:solidFill>
          <a:ln w="12700">
            <a:solidFill>
              <a:srgbClr val="E46C0A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lIns="90488" tIns="44450" rIns="90488" bIns="44450"/>
          <a:lstStyle/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000" b="1">
                <a:latin typeface="Courier New" pitchFamily="-84" charset="0"/>
                <a:ea typeface="+mn-ea"/>
                <a:cs typeface="+mn-cs"/>
              </a:rPr>
              <a:t>MyFile f = new MyFile();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000" b="1">
                <a:latin typeface="Courier New" pitchFamily="-84" charset="0"/>
                <a:ea typeface="+mn-ea"/>
                <a:cs typeface="+mn-cs"/>
              </a:rPr>
              <a:t>if (f.open(“myfile.txt")) {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000" b="1">
                <a:latin typeface="Courier New" pitchFamily="-84" charset="0"/>
                <a:ea typeface="+mn-ea"/>
                <a:cs typeface="+mn-cs"/>
              </a:rPr>
              <a:t>   try {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000" b="1">
                <a:latin typeface="Courier New" pitchFamily="-84" charset="0"/>
                <a:ea typeface="+mn-ea"/>
                <a:cs typeface="+mn-cs"/>
              </a:rPr>
              <a:t>      exceptionalMethod();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000" b="1">
                <a:latin typeface="Courier New" pitchFamily="-84" charset="0"/>
                <a:ea typeface="+mn-ea"/>
                <a:cs typeface="+mn-cs"/>
              </a:rPr>
              <a:t>   } </a:t>
            </a:r>
            <a:r>
              <a:rPr lang="en-US" sz="2000" b="1">
                <a:solidFill>
                  <a:srgbClr val="FF6600"/>
                </a:solidFill>
                <a:latin typeface="Courier New" pitchFamily="-84" charset="0"/>
                <a:ea typeface="+mn-ea"/>
                <a:cs typeface="+mn-cs"/>
              </a:rPr>
              <a:t>finally</a:t>
            </a:r>
            <a:r>
              <a:rPr lang="en-US" sz="2000" b="1">
                <a:latin typeface="Courier New" pitchFamily="-84" charset="0"/>
                <a:ea typeface="+mn-ea"/>
                <a:cs typeface="+mn-cs"/>
              </a:rPr>
              <a:t> {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000" b="1">
                <a:latin typeface="Courier New" pitchFamily="-84" charset="0"/>
                <a:ea typeface="+mn-ea"/>
                <a:cs typeface="+mn-cs"/>
              </a:rPr>
              <a:t>      f.close();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000" b="1">
                <a:latin typeface="Courier New" pitchFamily="-84" charset="0"/>
                <a:ea typeface="+mn-ea"/>
                <a:cs typeface="+mn-cs"/>
              </a:rPr>
              <a:t>   }</a:t>
            </a:r>
          </a:p>
          <a:p>
            <a:pPr>
              <a:spcBef>
                <a:spcPct val="0"/>
              </a:spcBef>
              <a:spcAft>
                <a:spcPct val="5000"/>
              </a:spcAft>
              <a:buClr>
                <a:srgbClr val="000000"/>
              </a:buClr>
              <a:buSzTx/>
              <a:buFont typeface="Wingdings" pitchFamily="-84" charset="2"/>
              <a:buNone/>
              <a:defRPr/>
            </a:pPr>
            <a:r>
              <a:rPr lang="en-US" sz="2000" b="1">
                <a:latin typeface="Courier New" pitchFamily="-84" charset="0"/>
                <a:ea typeface="+mn-ea"/>
                <a:cs typeface="+mn-cs"/>
              </a:rPr>
              <a:t>}</a:t>
            </a:r>
          </a:p>
        </p:txBody>
      </p:sp>
      <p:sp>
        <p:nvSpPr>
          <p:cNvPr id="95237" name="AutoShape 8"/>
          <p:cNvSpPr>
            <a:spLocks noChangeArrowheads="1"/>
          </p:cNvSpPr>
          <p:nvPr/>
        </p:nvSpPr>
        <p:spPr bwMode="auto">
          <a:xfrm>
            <a:off x="1581756" y="4033479"/>
            <a:ext cx="2087562" cy="1231900"/>
          </a:xfrm>
          <a:prstGeom prst="wedgeRoundRectCallout">
            <a:avLst>
              <a:gd name="adj1" fmla="val 90759"/>
              <a:gd name="adj2" fmla="val 353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2000"/>
              <a:t>After all </a:t>
            </a:r>
            <a:br>
              <a:rPr lang="en-US" sz="2000"/>
            </a:br>
            <a:r>
              <a:rPr lang="en-US" sz="2000"/>
              <a:t>catch branches </a:t>
            </a:r>
            <a:br>
              <a:rPr lang="en-US" sz="2000"/>
            </a:br>
            <a:r>
              <a:rPr lang="en-US" sz="2000"/>
              <a:t>(if any)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67165" y="3704479"/>
            <a:ext cx="7410139" cy="2626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9932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Exceptions and loops (I)</a:t>
            </a: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23888" y="1020763"/>
            <a:ext cx="8229600" cy="5346700"/>
          </a:xfrm>
        </p:spPr>
        <p:txBody>
          <a:bodyPr/>
          <a:lstStyle/>
          <a:p>
            <a:pPr marL="341313" indent="-341313" eaLnBrk="1" hangingPunct="1">
              <a:spcBef>
                <a:spcPts val="700"/>
              </a:spcBef>
              <a:spcAft>
                <a:spcPts val="175"/>
              </a:spcAft>
              <a:buFont typeface="Wingdings" charset="0"/>
              <a:buChar char="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For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errors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affecting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a single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iteration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, the </a:t>
            </a:r>
            <a:r>
              <a:rPr lang="it-IT" sz="2800" b="1" dirty="0" err="1">
                <a:latin typeface="Courier New"/>
                <a:ea typeface="ＭＳ Ｐゴシック" charset="0"/>
                <a:cs typeface="Courier New"/>
              </a:rPr>
              <a:t>try</a:t>
            </a:r>
            <a:r>
              <a:rPr lang="it-IT" sz="2800" b="1" dirty="0">
                <a:latin typeface="Courier New"/>
                <a:ea typeface="ＭＳ Ｐゴシック" charset="0"/>
                <a:cs typeface="Courier New"/>
              </a:rPr>
              <a:t>-catch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blocks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nested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in the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loop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.</a:t>
            </a:r>
          </a:p>
          <a:p>
            <a:pPr marL="341313" indent="-341313" eaLnBrk="1" hangingPunct="1">
              <a:spcBef>
                <a:spcPts val="700"/>
              </a:spcBef>
              <a:spcAft>
                <a:spcPts val="175"/>
              </a:spcAft>
              <a:buFont typeface="Wingdings" charset="0"/>
              <a:buChar char="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In case of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execution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goes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to the </a:t>
            </a:r>
            <a:r>
              <a:rPr lang="it-IT" sz="2800" b="1" dirty="0">
                <a:latin typeface="Courier New"/>
                <a:ea typeface="ＭＳ Ｐゴシック" charset="0"/>
                <a:cs typeface="Courier New"/>
              </a:rPr>
              <a:t>catch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block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and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then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proceed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with the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next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iteration</a:t>
            </a:r>
            <a:r>
              <a:rPr lang="it-IT" sz="28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.</a:t>
            </a:r>
            <a:endParaRPr lang="it-IT" sz="28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marL="341313" indent="-341313" eaLnBrk="1" hangingPunct="1">
              <a:spcBef>
                <a:spcPct val="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b="1" dirty="0" smtClean="0">
              <a:latin typeface="Courier New" charset="0"/>
              <a:ea typeface="ＭＳ Ｐゴシック" charset="0"/>
              <a:cs typeface="Courier New" charset="0"/>
            </a:endParaRPr>
          </a:p>
          <a:p>
            <a:pPr marL="341313" indent="-341313" eaLnBrk="1" hangingPunct="1">
              <a:spcBef>
                <a:spcPct val="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 smtClean="0">
                <a:latin typeface="Courier New" charset="0"/>
                <a:ea typeface="ＭＳ Ｐゴシック" charset="0"/>
                <a:cs typeface="Courier New" charset="0"/>
              </a:rPr>
              <a:t>while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(true){</a:t>
            </a:r>
          </a:p>
          <a:p>
            <a:pPr marL="341313" indent="-341313" eaLnBrk="1" hangingPunct="1">
              <a:spcBef>
                <a:spcPct val="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 try{</a:t>
            </a:r>
          </a:p>
          <a:p>
            <a:pPr marL="341313" indent="-341313" eaLnBrk="1" hangingPunct="1">
              <a:spcBef>
                <a:spcPct val="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   // potential exceptions</a:t>
            </a:r>
          </a:p>
          <a:p>
            <a:pPr marL="341313" indent="-341313" eaLnBrk="1" hangingPunct="1">
              <a:spcBef>
                <a:spcPct val="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 }catch(</a:t>
            </a: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AnException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e){</a:t>
            </a:r>
          </a:p>
          <a:p>
            <a:pPr marL="341313" indent="-341313" eaLnBrk="1" hangingPunct="1">
              <a:spcBef>
                <a:spcPct val="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   // handle the anomaly</a:t>
            </a:r>
          </a:p>
          <a:p>
            <a:pPr marL="341313" indent="-341313" eaLnBrk="1" hangingPunct="1">
              <a:spcBef>
                <a:spcPct val="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 }</a:t>
            </a:r>
          </a:p>
          <a:p>
            <a:pPr marL="341313" indent="-341313" eaLnBrk="1" hangingPunct="1">
              <a:spcBef>
                <a:spcPct val="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67166" y="3495524"/>
            <a:ext cx="7360820" cy="26791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10137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Exceptions and loops (II)</a:t>
            </a: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800600"/>
          </a:xfrm>
        </p:spPr>
        <p:txBody>
          <a:bodyPr>
            <a:normAutofit lnSpcReduction="10000"/>
          </a:bodyPr>
          <a:lstStyle/>
          <a:p>
            <a:pPr marL="341313" indent="-341313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Char char="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For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serious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errors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compromising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whole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loop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loop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nested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within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block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.</a:t>
            </a:r>
          </a:p>
          <a:p>
            <a:pPr marL="341313" indent="-341313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Char char="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In case of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execution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goes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to the catch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block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,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thus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exiting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800" dirty="0" err="1">
                <a:latin typeface="Lucida Sans Unicode" charset="0"/>
                <a:ea typeface="ＭＳ Ｐゴシック" charset="0"/>
                <a:cs typeface="ＭＳ Ｐゴシック" charset="0"/>
              </a:rPr>
              <a:t>loop</a:t>
            </a:r>
            <a:r>
              <a:rPr lang="it-IT" sz="2800" dirty="0">
                <a:latin typeface="Lucida Sans Unicode" charset="0"/>
                <a:ea typeface="ＭＳ Ｐゴシック" charset="0"/>
                <a:cs typeface="ＭＳ Ｐゴシック" charset="0"/>
              </a:rPr>
              <a:t>.</a:t>
            </a:r>
          </a:p>
          <a:p>
            <a:pPr marL="341313" indent="-341313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b="1" dirty="0" smtClean="0">
              <a:latin typeface="Courier New" charset="0"/>
              <a:ea typeface="ＭＳ Ｐゴシック" charset="0"/>
              <a:cs typeface="Courier New" charset="0"/>
            </a:endParaRPr>
          </a:p>
          <a:p>
            <a:pPr marL="341313" indent="-341313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 smtClean="0">
                <a:latin typeface="Courier New" charset="0"/>
                <a:ea typeface="ＭＳ Ｐゴシック" charset="0"/>
                <a:cs typeface="Courier New" charset="0"/>
              </a:rPr>
              <a:t>try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{</a:t>
            </a:r>
            <a:b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</a:b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 while(true){</a:t>
            </a:r>
            <a:b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</a:b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	  // potential exceptions</a:t>
            </a:r>
            <a:b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</a:b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 }</a:t>
            </a:r>
          </a:p>
          <a:p>
            <a:pPr marL="341313" indent="-341313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}catch(</a:t>
            </a: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AnException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e){</a:t>
            </a:r>
            <a:b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</a:b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  // print error message</a:t>
            </a:r>
          </a:p>
          <a:p>
            <a:pPr marL="341313" indent="-341313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Catches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85000C-4947-CD4D-9EFC-B4BCB5E4306E}" type="slidenum">
              <a:rPr lang="it-IT" smtClean="0"/>
              <a:pPr>
                <a:defRPr/>
              </a:pPr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198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58800" y="2603500"/>
            <a:ext cx="8407400" cy="3632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563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A47BB765-E9E2-B644-952C-F3D597B7CDB4}" type="slidenum">
              <a:rPr lang="it-IT" sz="1200"/>
              <a:pPr eaLnBrk="1" hangingPunct="1"/>
              <a:t>35</a:t>
            </a:fld>
            <a:endParaRPr lang="it-IT" sz="1200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Multiple catch</a:t>
            </a:r>
          </a:p>
        </p:txBody>
      </p:sp>
      <p:sp>
        <p:nvSpPr>
          <p:cNvPr id="5632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Capturing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different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types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of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possible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with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different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catch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blocks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spcBef>
                <a:spcPct val="0"/>
              </a:spcBef>
              <a:buFont typeface="Symbol" charset="0"/>
              <a:buNone/>
            </a:pPr>
            <a:endParaRPr lang="it-IT" sz="2400" b="1" dirty="0">
              <a:solidFill>
                <a:schemeClr val="hlink"/>
              </a:solidFill>
              <a:latin typeface="Courier New" charset="0"/>
              <a:ea typeface="ＭＳ Ｐゴシック" charset="0"/>
            </a:endParaRP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{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... 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StackEmpty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se) {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	</a:t>
            </a:r>
            <a:r>
              <a:rPr lang="it-IT" sz="2400" b="1" dirty="0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ＭＳ Ｐゴシック" charset="0"/>
                <a:cs typeface="ＭＳ Ｐゴシック" charset="0"/>
              </a:rPr>
              <a:t>// </a:t>
            </a:r>
            <a:r>
              <a:rPr lang="it-IT" sz="2400" b="1" dirty="0" err="1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ＭＳ Ｐゴシック" charset="0"/>
                <a:cs typeface="ＭＳ Ｐゴシック" charset="0"/>
              </a:rPr>
              <a:t>here</a:t>
            </a:r>
            <a:r>
              <a:rPr lang="it-IT" sz="2400" b="1" dirty="0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ＭＳ Ｐゴシック" charset="0"/>
                <a:cs typeface="ＭＳ Ｐゴシック" charset="0"/>
              </a:rPr>
              <a:t>stack</a:t>
            </a:r>
            <a:r>
              <a:rPr lang="it-IT" sz="2400" b="1" dirty="0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ＭＳ Ｐゴシック" charset="0"/>
                <a:cs typeface="ＭＳ Ｐゴシック" charset="0"/>
              </a:rPr>
              <a:t>errors</a:t>
            </a:r>
            <a:r>
              <a:rPr lang="it-IT" sz="2400" b="1" dirty="0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ＭＳ Ｐゴシック" charset="0"/>
                <a:cs typeface="ＭＳ Ｐゴシック" charset="0"/>
              </a:rPr>
              <a:t> are </a:t>
            </a:r>
            <a:r>
              <a:rPr lang="it-IT" sz="2400" b="1" dirty="0" err="1">
                <a:solidFill>
                  <a:schemeClr val="accent3">
                    <a:lumMod val="75000"/>
                  </a:schemeClr>
                </a:solidFill>
                <a:latin typeface="Courier New" charset="0"/>
                <a:ea typeface="ＭＳ Ｐゴシック" charset="0"/>
                <a:cs typeface="ＭＳ Ｐゴシック" charset="0"/>
              </a:rPr>
              <a:t>handled</a:t>
            </a:r>
            <a:endParaRPr lang="it-IT" sz="2400" b="1" dirty="0">
              <a:solidFill>
                <a:schemeClr val="accent3">
                  <a:lumMod val="75000"/>
                </a:schemeClr>
              </a:solidFill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IOException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ioe</a:t>
            </a: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  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//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here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all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other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IO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problems</a:t>
            </a:r>
            <a:r>
              <a:rPr lang="it-IT" sz="2400" b="1" dirty="0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are </a:t>
            </a:r>
            <a:r>
              <a:rPr lang="it-IT" sz="2400" b="1" dirty="0" err="1">
                <a:solidFill>
                  <a:srgbClr val="77933C"/>
                </a:solidFill>
                <a:latin typeface="Courier New" charset="0"/>
                <a:ea typeface="ＭＳ Ｐゴシック" charset="0"/>
                <a:cs typeface="ＭＳ Ｐゴシック" charset="0"/>
              </a:rPr>
              <a:t>handled</a:t>
            </a:r>
            <a:endParaRPr lang="it-IT" sz="2400" b="1" dirty="0">
              <a:solidFill>
                <a:srgbClr val="77933C"/>
              </a:solidFill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0"/>
              </a:spcBef>
              <a:buFont typeface="Wingdings" charset="0"/>
              <a:buNone/>
            </a:pPr>
            <a:r>
              <a:rPr lang="it-IT" sz="24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endParaRPr lang="en-US" sz="2800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03A6B588-7B36-CB4A-9C07-2B2E3A2F46EB}" type="slidenum">
              <a:rPr lang="it-IT" sz="1200"/>
              <a:pPr eaLnBrk="1" hangingPunct="1"/>
              <a:t>36</a:t>
            </a:fld>
            <a:endParaRPr lang="it-IT" sz="120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Execution flow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3321050" cy="4724400"/>
          </a:xfrm>
        </p:spPr>
        <p:txBody>
          <a:bodyPr/>
          <a:lstStyle/>
          <a:p>
            <a:pPr eaLnBrk="1" hangingPunct="1"/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open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 and 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close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 can generate a </a:t>
            </a:r>
            <a:r>
              <a:rPr lang="en-US" b="1" dirty="0" err="1">
                <a:latin typeface="Courier New" charset="0"/>
                <a:ea typeface="ＭＳ Ｐゴシック" charset="0"/>
                <a:cs typeface="ＭＳ Ｐゴシック" charset="0"/>
              </a:rPr>
              <a:t>FileError</a:t>
            </a:r>
            <a:endParaRPr lang="en-US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read</a:t>
            </a:r>
            <a:r>
              <a:rPr lang="en-US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can generate a </a:t>
            </a:r>
            <a:r>
              <a:rPr lang="it-IT" b="1" dirty="0" err="1">
                <a:latin typeface="Courier New" charset="0"/>
                <a:ea typeface="ＭＳ Ｐゴシック" charset="0"/>
                <a:cs typeface="ＭＳ Ｐゴシック" charset="0"/>
              </a:rPr>
              <a:t>IOError</a:t>
            </a:r>
            <a:endParaRPr lang="en-US" b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8372" name="AutoShape 4"/>
          <p:cNvSpPr>
            <a:spLocks noChangeArrowheads="1"/>
          </p:cNvSpPr>
          <p:nvPr/>
        </p:nvSpPr>
        <p:spPr bwMode="auto">
          <a:xfrm>
            <a:off x="4067175" y="1493838"/>
            <a:ext cx="5013325" cy="4543425"/>
          </a:xfrm>
          <a:prstGeom prst="foldedCorner">
            <a:avLst>
              <a:gd name="adj" fmla="val 12500"/>
            </a:avLst>
          </a:prstGeom>
          <a:solidFill>
            <a:srgbClr val="FDEADA"/>
          </a:solidFill>
          <a:ln w="6350">
            <a:solidFill>
              <a:srgbClr val="E46C0A"/>
            </a:solidFill>
            <a:round/>
            <a:headEnd/>
            <a:tailEnd/>
          </a:ln>
        </p:spPr>
        <p:txBody>
          <a:bodyPr wrap="none" tIns="72000" bIns="72000"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 err="1">
                <a:latin typeface="Courier New" charset="0"/>
              </a:rPr>
              <a:t>System.out.print</a:t>
            </a:r>
            <a:r>
              <a:rPr lang="en-US" sz="2000" b="1" dirty="0">
                <a:latin typeface="Courier New" charset="0"/>
              </a:rPr>
              <a:t>("Begin");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>
                <a:latin typeface="Courier New" charset="0"/>
              </a:rPr>
              <a:t>File f = new File(“</a:t>
            </a:r>
            <a:r>
              <a:rPr lang="en-US" altLang="ja-JP" sz="2000" b="1" dirty="0" err="1">
                <a:latin typeface="Courier New" charset="0"/>
              </a:rPr>
              <a:t>foo.txt</a:t>
            </a:r>
            <a:r>
              <a:rPr lang="en-US" sz="2000" b="1" dirty="0">
                <a:latin typeface="Courier New" charset="0"/>
              </a:rPr>
              <a:t>”</a:t>
            </a:r>
            <a:r>
              <a:rPr lang="en-US" altLang="ja-JP" sz="2000" b="1" dirty="0">
                <a:latin typeface="Courier New" charset="0"/>
              </a:rPr>
              <a:t>);</a:t>
            </a:r>
            <a:endParaRPr lang="it-IT" altLang="ja-JP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 err="1">
                <a:latin typeface="Courier New" charset="0"/>
              </a:rPr>
              <a:t>try</a:t>
            </a:r>
            <a:r>
              <a:rPr lang="it-IT" sz="2000" b="1" dirty="0">
                <a:latin typeface="Courier New" charset="0"/>
              </a:rPr>
              <a:t>{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f.open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f.read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f.close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i="1" dirty="0" err="1">
                <a:latin typeface="Courier New" charset="0"/>
              </a:rPr>
              <a:t>FileError</a:t>
            </a:r>
            <a:r>
              <a:rPr lang="it-IT" sz="2000" b="1" i="1" dirty="0">
                <a:latin typeface="Courier New" charset="0"/>
              </a:rPr>
              <a:t> </a:t>
            </a:r>
            <a:r>
              <a:rPr lang="it-IT" sz="2000" b="1" i="1" dirty="0" err="1">
                <a:latin typeface="Courier New" charset="0"/>
              </a:rPr>
              <a:t>fe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 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 </a:t>
            </a:r>
            <a:r>
              <a:rPr lang="en-US" sz="2000" b="1" dirty="0" err="1">
                <a:solidFill>
                  <a:schemeClr val="accent4"/>
                </a:solidFill>
                <a:latin typeface="Courier New" charset="0"/>
              </a:rPr>
              <a:t>System.out</a:t>
            </a:r>
            <a:r>
              <a:rPr lang="en-US" sz="2000" b="1" dirty="0">
                <a:solidFill>
                  <a:schemeClr val="accent4"/>
                </a:solidFill>
                <a:latin typeface="Courier New" charset="0"/>
              </a:rPr>
              <a:t>.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print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(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“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File </a:t>
            </a:r>
            <a:r>
              <a:rPr lang="it-IT" altLang="ja-JP" sz="2000" b="1" dirty="0" err="1">
                <a:solidFill>
                  <a:schemeClr val="accent4"/>
                </a:solidFill>
                <a:latin typeface="Courier New" charset="0"/>
              </a:rPr>
              <a:t>err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”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i="1" dirty="0" err="1">
                <a:latin typeface="Courier New" charset="0"/>
              </a:rPr>
              <a:t>IOError</a:t>
            </a:r>
            <a:r>
              <a:rPr lang="it-IT" sz="2000" b="1" i="1" dirty="0">
                <a:latin typeface="Courier New" charset="0"/>
              </a:rPr>
              <a:t> </a:t>
            </a:r>
            <a:r>
              <a:rPr lang="it-IT" sz="2000" b="1" i="1" dirty="0" err="1">
                <a:latin typeface="Courier New" charset="0"/>
              </a:rPr>
              <a:t>ioe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  </a:t>
            </a:r>
            <a:r>
              <a:rPr lang="en-US" sz="2000" b="1" dirty="0" err="1">
                <a:solidFill>
                  <a:schemeClr val="accent4"/>
                </a:solidFill>
                <a:latin typeface="Courier New" charset="0"/>
              </a:rPr>
              <a:t>System.out</a:t>
            </a:r>
            <a:r>
              <a:rPr lang="en-US" sz="2000" b="1" dirty="0">
                <a:solidFill>
                  <a:schemeClr val="accent4"/>
                </a:solidFill>
                <a:latin typeface="Courier New" charset="0"/>
              </a:rPr>
              <a:t>.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print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(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“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I/O </a:t>
            </a:r>
            <a:r>
              <a:rPr lang="it-IT" altLang="ja-JP" sz="2000" b="1" dirty="0" err="1">
                <a:solidFill>
                  <a:schemeClr val="accent4"/>
                </a:solidFill>
                <a:latin typeface="Courier New" charset="0"/>
              </a:rPr>
              <a:t>err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”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 err="1">
                <a:latin typeface="Courier New" charset="0"/>
              </a:rPr>
              <a:t>System.out</a:t>
            </a:r>
            <a:r>
              <a:rPr lang="en-US" sz="2000" b="1" dirty="0">
                <a:latin typeface="Courier New" charset="0"/>
              </a:rPr>
              <a:t>.</a:t>
            </a:r>
            <a:r>
              <a:rPr lang="it-IT" sz="2000" b="1" dirty="0" err="1">
                <a:latin typeface="Courier New" charset="0"/>
              </a:rPr>
              <a:t>print</a:t>
            </a:r>
            <a:r>
              <a:rPr lang="it-IT" sz="2000" b="1" dirty="0">
                <a:latin typeface="Courier New" charset="0"/>
              </a:rPr>
              <a:t>("End");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DE1E7BAA-5376-554F-8E27-CC6C37F402A6}" type="slidenum">
              <a:rPr lang="it-IT" sz="1200"/>
              <a:pPr eaLnBrk="1" hangingPunct="1"/>
              <a:t>37</a:t>
            </a:fld>
            <a:endParaRPr lang="it-IT" sz="1200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Execution flow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3321050" cy="4724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If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b="1" dirty="0" err="1" smtClean="0">
                <a:latin typeface="Courier New" charset="0"/>
                <a:ea typeface="ＭＳ Ｐゴシック" charset="0"/>
                <a:cs typeface="ＭＳ Ｐゴシック" charset="0"/>
              </a:rPr>
              <a:t>close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fails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ja-JP" altLang="it-IT" dirty="0">
                <a:latin typeface="Lucida Sans Unicode" charset="0"/>
                <a:ea typeface="ＭＳ Ｐゴシック" charset="0"/>
                <a:cs typeface="ＭＳ Ｐゴシック" charset="0"/>
              </a:rPr>
              <a:t>“</a:t>
            </a:r>
            <a:r>
              <a:rPr lang="it-IT" altLang="ja-JP" i="1" dirty="0">
                <a:latin typeface="Lucida Sans Unicode" charset="0"/>
                <a:ea typeface="ＭＳ Ｐゴシック" charset="0"/>
                <a:cs typeface="ＭＳ Ｐゴシック" charset="0"/>
              </a:rPr>
              <a:t>File </a:t>
            </a:r>
            <a:r>
              <a:rPr lang="it-IT" altLang="ja-JP" i="1" dirty="0" err="1">
                <a:latin typeface="Lucida Sans Unicode" charset="0"/>
                <a:ea typeface="ＭＳ Ｐゴシック" charset="0"/>
                <a:cs typeface="ＭＳ Ｐゴシック" charset="0"/>
              </a:rPr>
              <a:t>error</a:t>
            </a:r>
            <a:r>
              <a:rPr lang="ja-JP" altLang="it-IT" dirty="0">
                <a:latin typeface="Lucida Sans Unicode" charset="0"/>
                <a:ea typeface="ＭＳ Ｐゴシック" charset="0"/>
                <a:cs typeface="ＭＳ Ｐゴシック" charset="0"/>
              </a:rPr>
              <a:t>”</a:t>
            </a:r>
            <a:r>
              <a:rPr lang="it-IT" altLang="ja-JP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altLang="ja-JP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altLang="ja-JP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altLang="ja-JP" dirty="0" err="1">
                <a:latin typeface="Lucida Sans Unicode" charset="0"/>
                <a:ea typeface="ＭＳ Ｐゴシック" charset="0"/>
                <a:cs typeface="ＭＳ Ｐゴシック" charset="0"/>
              </a:rPr>
              <a:t>printed</a:t>
            </a:r>
            <a:endParaRPr lang="it-IT" altLang="ja-JP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Eventually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program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terminates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/>
            </a:r>
            <a:b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</a:b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with “</a:t>
            </a:r>
            <a:r>
              <a:rPr lang="it-IT" i="1" dirty="0">
                <a:latin typeface="Lucida Sans Unicode" charset="0"/>
                <a:ea typeface="ＭＳ Ｐゴシック" charset="0"/>
                <a:cs typeface="ＭＳ Ｐゴシック" charset="0"/>
              </a:rPr>
              <a:t>End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”</a:t>
            </a:r>
            <a:endParaRPr lang="en-US" altLang="ja-JP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0420" name="Line 4"/>
          <p:cNvSpPr>
            <a:spLocks noChangeShapeType="1"/>
          </p:cNvSpPr>
          <p:nvPr/>
        </p:nvSpPr>
        <p:spPr bwMode="auto">
          <a:xfrm>
            <a:off x="3781425" y="2665413"/>
            <a:ext cx="0" cy="928687"/>
          </a:xfrm>
          <a:prstGeom prst="line">
            <a:avLst/>
          </a:prstGeom>
          <a:noFill/>
          <a:ln w="28575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1" name="Line 5"/>
          <p:cNvSpPr>
            <a:spLocks noChangeShapeType="1"/>
          </p:cNvSpPr>
          <p:nvPr/>
        </p:nvSpPr>
        <p:spPr bwMode="auto">
          <a:xfrm>
            <a:off x="3781425" y="5265738"/>
            <a:ext cx="0" cy="5476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2" name="Oval 6"/>
          <p:cNvSpPr>
            <a:spLocks noChangeArrowheads="1"/>
          </p:cNvSpPr>
          <p:nvPr/>
        </p:nvSpPr>
        <p:spPr bwMode="auto">
          <a:xfrm>
            <a:off x="3705225" y="3509963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3" name="Oval 7"/>
          <p:cNvSpPr>
            <a:spLocks noChangeArrowheads="1"/>
          </p:cNvSpPr>
          <p:nvPr/>
        </p:nvSpPr>
        <p:spPr bwMode="auto">
          <a:xfrm>
            <a:off x="3705225" y="3843338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60424" name="AutoShape 8"/>
          <p:cNvCxnSpPr>
            <a:cxnSpLocks noChangeShapeType="1"/>
            <a:stCxn id="60422" idx="2"/>
            <a:endCxn id="60423" idx="2"/>
          </p:cNvCxnSpPr>
          <p:nvPr/>
        </p:nvCxnSpPr>
        <p:spPr bwMode="auto">
          <a:xfrm rot="10800000" flipH="1" flipV="1">
            <a:off x="3705225" y="3586163"/>
            <a:ext cx="1588" cy="333375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accent6">
                <a:lumMod val="75000"/>
              </a:schemeClr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3781425" y="1524000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6" name="Line 11"/>
          <p:cNvSpPr>
            <a:spLocks noChangeShapeType="1"/>
          </p:cNvSpPr>
          <p:nvPr/>
        </p:nvSpPr>
        <p:spPr bwMode="auto">
          <a:xfrm>
            <a:off x="3781425" y="3995738"/>
            <a:ext cx="0" cy="457200"/>
          </a:xfrm>
          <a:prstGeom prst="line">
            <a:avLst/>
          </a:prstGeom>
          <a:noFill/>
          <a:ln w="28575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7" name="Oval 12"/>
          <p:cNvSpPr>
            <a:spLocks noChangeArrowheads="1"/>
          </p:cNvSpPr>
          <p:nvPr/>
        </p:nvSpPr>
        <p:spPr bwMode="auto">
          <a:xfrm>
            <a:off x="3705225" y="4376738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8" name="Oval 13"/>
          <p:cNvSpPr>
            <a:spLocks noChangeArrowheads="1"/>
          </p:cNvSpPr>
          <p:nvPr/>
        </p:nvSpPr>
        <p:spPr bwMode="auto">
          <a:xfrm>
            <a:off x="3705225" y="5072063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60429" name="AutoShape 14"/>
          <p:cNvCxnSpPr>
            <a:cxnSpLocks noChangeShapeType="1"/>
            <a:stCxn id="60427" idx="2"/>
            <a:endCxn id="60428" idx="2"/>
          </p:cNvCxnSpPr>
          <p:nvPr/>
        </p:nvCxnSpPr>
        <p:spPr bwMode="auto">
          <a:xfrm rot="10800000" flipH="1" flipV="1">
            <a:off x="3705225" y="4452938"/>
            <a:ext cx="1588" cy="695325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accent4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4067175" y="1493838"/>
            <a:ext cx="5013325" cy="4543425"/>
          </a:xfrm>
          <a:prstGeom prst="foldedCorner">
            <a:avLst>
              <a:gd name="adj" fmla="val 12500"/>
            </a:avLst>
          </a:prstGeom>
          <a:solidFill>
            <a:srgbClr val="FDEADA"/>
          </a:solidFill>
          <a:ln w="6350">
            <a:solidFill>
              <a:srgbClr val="E46C0A"/>
            </a:solidFill>
            <a:round/>
            <a:headEnd/>
            <a:tailEnd/>
          </a:ln>
        </p:spPr>
        <p:txBody>
          <a:bodyPr wrap="none" tIns="72000" bIns="72000"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 err="1">
                <a:latin typeface="Courier New" charset="0"/>
              </a:rPr>
              <a:t>System.out.print</a:t>
            </a:r>
            <a:r>
              <a:rPr lang="en-US" sz="2000" b="1" dirty="0">
                <a:latin typeface="Courier New" charset="0"/>
              </a:rPr>
              <a:t>("Begin");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>
                <a:latin typeface="Courier New" charset="0"/>
              </a:rPr>
              <a:t>File f = new File(“</a:t>
            </a:r>
            <a:r>
              <a:rPr lang="en-US" altLang="ja-JP" sz="2000" b="1" dirty="0" err="1">
                <a:latin typeface="Courier New" charset="0"/>
              </a:rPr>
              <a:t>foo.txt</a:t>
            </a:r>
            <a:r>
              <a:rPr lang="en-US" sz="2000" b="1" dirty="0">
                <a:latin typeface="Courier New" charset="0"/>
              </a:rPr>
              <a:t>”</a:t>
            </a:r>
            <a:r>
              <a:rPr lang="en-US" altLang="ja-JP" sz="2000" b="1" dirty="0">
                <a:latin typeface="Courier New" charset="0"/>
              </a:rPr>
              <a:t>);</a:t>
            </a:r>
            <a:endParaRPr lang="it-IT" altLang="ja-JP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 err="1">
                <a:latin typeface="Courier New" charset="0"/>
              </a:rPr>
              <a:t>try</a:t>
            </a:r>
            <a:r>
              <a:rPr lang="it-IT" sz="2000" b="1" dirty="0">
                <a:latin typeface="Courier New" charset="0"/>
              </a:rPr>
              <a:t>{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f.open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f.read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f.close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i="1" dirty="0" err="1">
                <a:latin typeface="Courier New" charset="0"/>
              </a:rPr>
              <a:t>FileError</a:t>
            </a:r>
            <a:r>
              <a:rPr lang="it-IT" sz="2000" b="1" i="1" dirty="0">
                <a:latin typeface="Courier New" charset="0"/>
              </a:rPr>
              <a:t> </a:t>
            </a:r>
            <a:r>
              <a:rPr lang="it-IT" sz="2000" b="1" i="1" dirty="0" err="1">
                <a:latin typeface="Courier New" charset="0"/>
              </a:rPr>
              <a:t>fe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 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 </a:t>
            </a:r>
            <a:r>
              <a:rPr lang="en-US" sz="2000" b="1" dirty="0" err="1">
                <a:solidFill>
                  <a:schemeClr val="accent4"/>
                </a:solidFill>
                <a:latin typeface="Courier New" charset="0"/>
              </a:rPr>
              <a:t>System.out</a:t>
            </a:r>
            <a:r>
              <a:rPr lang="en-US" sz="2000" b="1" dirty="0">
                <a:solidFill>
                  <a:schemeClr val="accent4"/>
                </a:solidFill>
                <a:latin typeface="Courier New" charset="0"/>
              </a:rPr>
              <a:t>.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print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(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“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File </a:t>
            </a:r>
            <a:r>
              <a:rPr lang="it-IT" altLang="ja-JP" sz="2000" b="1" dirty="0" err="1">
                <a:solidFill>
                  <a:schemeClr val="accent4"/>
                </a:solidFill>
                <a:latin typeface="Courier New" charset="0"/>
              </a:rPr>
              <a:t>err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”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i="1" dirty="0" err="1">
                <a:latin typeface="Courier New" charset="0"/>
              </a:rPr>
              <a:t>IOError</a:t>
            </a:r>
            <a:r>
              <a:rPr lang="it-IT" sz="2000" b="1" i="1" dirty="0">
                <a:latin typeface="Courier New" charset="0"/>
              </a:rPr>
              <a:t> </a:t>
            </a:r>
            <a:r>
              <a:rPr lang="it-IT" sz="2000" b="1" i="1" dirty="0" err="1">
                <a:latin typeface="Courier New" charset="0"/>
              </a:rPr>
              <a:t>ioe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  </a:t>
            </a:r>
            <a:r>
              <a:rPr lang="en-US" sz="2000" b="1" dirty="0" err="1">
                <a:solidFill>
                  <a:schemeClr val="accent4"/>
                </a:solidFill>
                <a:latin typeface="Courier New" charset="0"/>
              </a:rPr>
              <a:t>System.out</a:t>
            </a:r>
            <a:r>
              <a:rPr lang="en-US" sz="2000" b="1" dirty="0">
                <a:solidFill>
                  <a:schemeClr val="accent4"/>
                </a:solidFill>
                <a:latin typeface="Courier New" charset="0"/>
              </a:rPr>
              <a:t>.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print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(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“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I/O </a:t>
            </a:r>
            <a:r>
              <a:rPr lang="it-IT" altLang="ja-JP" sz="2000" b="1" dirty="0" err="1">
                <a:solidFill>
                  <a:schemeClr val="accent4"/>
                </a:solidFill>
                <a:latin typeface="Courier New" charset="0"/>
              </a:rPr>
              <a:t>err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”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 err="1">
                <a:latin typeface="Courier New" charset="0"/>
              </a:rPr>
              <a:t>System.out</a:t>
            </a:r>
            <a:r>
              <a:rPr lang="en-US" sz="2000" b="1" dirty="0">
                <a:latin typeface="Courier New" charset="0"/>
              </a:rPr>
              <a:t>.</a:t>
            </a:r>
            <a:r>
              <a:rPr lang="it-IT" sz="2000" b="1" dirty="0" err="1">
                <a:latin typeface="Courier New" charset="0"/>
              </a:rPr>
              <a:t>print</a:t>
            </a:r>
            <a:r>
              <a:rPr lang="it-IT" sz="2000" b="1" dirty="0">
                <a:latin typeface="Courier New" charset="0"/>
              </a:rPr>
              <a:t>("End");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43DB07CF-87B8-8040-943D-AA441948557E}" type="slidenum">
              <a:rPr lang="it-IT" sz="1200"/>
              <a:pPr eaLnBrk="1" hangingPunct="1"/>
              <a:t>38</a:t>
            </a:fld>
            <a:endParaRPr lang="it-IT" sz="1200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Execution flow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3321050" cy="4724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If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b="1" dirty="0" err="1" smtClean="0">
                <a:latin typeface="Courier New" charset="0"/>
                <a:ea typeface="ＭＳ Ｐゴシック" charset="0"/>
                <a:cs typeface="ＭＳ Ｐゴシック" charset="0"/>
              </a:rPr>
              <a:t>read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fails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: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ja-JP" altLang="it-IT" dirty="0">
                <a:latin typeface="Lucida Sans Unicode" charset="0"/>
                <a:ea typeface="ＭＳ Ｐゴシック" charset="0"/>
                <a:cs typeface="ＭＳ Ｐゴシック" charset="0"/>
              </a:rPr>
              <a:t>“</a:t>
            </a:r>
            <a:r>
              <a:rPr lang="it-IT" altLang="ja-JP" i="1" dirty="0">
                <a:latin typeface="Lucida Sans Unicode" charset="0"/>
                <a:ea typeface="ＭＳ Ｐゴシック" charset="0"/>
                <a:cs typeface="ＭＳ Ｐゴシック" charset="0"/>
              </a:rPr>
              <a:t>I/O </a:t>
            </a:r>
            <a:r>
              <a:rPr lang="it-IT" altLang="ja-JP" i="1" dirty="0" err="1">
                <a:latin typeface="Lucida Sans Unicode" charset="0"/>
                <a:ea typeface="ＭＳ Ｐゴシック" charset="0"/>
                <a:cs typeface="ＭＳ Ｐゴシック" charset="0"/>
              </a:rPr>
              <a:t>error</a:t>
            </a:r>
            <a:r>
              <a:rPr lang="ja-JP" altLang="it-IT" dirty="0">
                <a:latin typeface="Lucida Sans Unicode" charset="0"/>
                <a:ea typeface="ＭＳ Ｐゴシック" charset="0"/>
                <a:cs typeface="ＭＳ Ｐゴシック" charset="0"/>
              </a:rPr>
              <a:t>”</a:t>
            </a:r>
            <a:r>
              <a:rPr lang="it-IT" altLang="ja-JP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altLang="ja-JP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altLang="ja-JP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altLang="ja-JP" dirty="0" err="1">
                <a:latin typeface="Lucida Sans Unicode" charset="0"/>
                <a:ea typeface="ＭＳ Ｐゴシック" charset="0"/>
                <a:cs typeface="ＭＳ Ｐゴシック" charset="0"/>
              </a:rPr>
              <a:t>printed</a:t>
            </a:r>
            <a:endParaRPr lang="it-IT" altLang="ja-JP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Eventually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program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terminates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/>
            </a:r>
            <a:b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</a:b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with “</a:t>
            </a:r>
            <a:r>
              <a:rPr lang="it-IT" i="1" dirty="0">
                <a:latin typeface="Lucida Sans Unicode" charset="0"/>
                <a:ea typeface="ＭＳ Ｐゴシック" charset="0"/>
                <a:cs typeface="ＭＳ Ｐゴシック" charset="0"/>
              </a:rPr>
              <a:t>End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”</a:t>
            </a:r>
            <a:endParaRPr lang="en-US" altLang="ja-JP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2469" name="Line 24"/>
          <p:cNvSpPr>
            <a:spLocks noChangeShapeType="1"/>
          </p:cNvSpPr>
          <p:nvPr/>
        </p:nvSpPr>
        <p:spPr bwMode="auto">
          <a:xfrm>
            <a:off x="3781425" y="2665413"/>
            <a:ext cx="0" cy="531812"/>
          </a:xfrm>
          <a:prstGeom prst="line">
            <a:avLst/>
          </a:prstGeom>
          <a:noFill/>
          <a:ln w="28575">
            <a:solidFill>
              <a:srgbClr val="E46C0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0" name="Line 25"/>
          <p:cNvSpPr>
            <a:spLocks noChangeShapeType="1"/>
          </p:cNvSpPr>
          <p:nvPr/>
        </p:nvSpPr>
        <p:spPr bwMode="auto">
          <a:xfrm>
            <a:off x="3781425" y="5265738"/>
            <a:ext cx="0" cy="5476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1" name="Oval 26"/>
          <p:cNvSpPr>
            <a:spLocks noChangeArrowheads="1"/>
          </p:cNvSpPr>
          <p:nvPr/>
        </p:nvSpPr>
        <p:spPr bwMode="auto">
          <a:xfrm>
            <a:off x="3705225" y="3208338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2" name="Oval 27"/>
          <p:cNvSpPr>
            <a:spLocks noChangeArrowheads="1"/>
          </p:cNvSpPr>
          <p:nvPr/>
        </p:nvSpPr>
        <p:spPr bwMode="auto">
          <a:xfrm>
            <a:off x="3705225" y="4462463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62473" name="AutoShape 28"/>
          <p:cNvCxnSpPr>
            <a:cxnSpLocks noChangeShapeType="1"/>
            <a:stCxn id="62471" idx="2"/>
            <a:endCxn id="62472" idx="2"/>
          </p:cNvCxnSpPr>
          <p:nvPr/>
        </p:nvCxnSpPr>
        <p:spPr bwMode="auto">
          <a:xfrm rot="10800000" flipH="1" flipV="1">
            <a:off x="3705225" y="3284538"/>
            <a:ext cx="1588" cy="1254125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rgbClr val="E46C0A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474" name="Line 29"/>
          <p:cNvSpPr>
            <a:spLocks noChangeShapeType="1"/>
          </p:cNvSpPr>
          <p:nvPr/>
        </p:nvSpPr>
        <p:spPr bwMode="auto">
          <a:xfrm>
            <a:off x="3781425" y="1524000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5" name="Line 30"/>
          <p:cNvSpPr>
            <a:spLocks noChangeShapeType="1"/>
          </p:cNvSpPr>
          <p:nvPr/>
        </p:nvSpPr>
        <p:spPr bwMode="auto">
          <a:xfrm>
            <a:off x="3781425" y="4598988"/>
            <a:ext cx="0" cy="595312"/>
          </a:xfrm>
          <a:prstGeom prst="line">
            <a:avLst/>
          </a:prstGeom>
          <a:noFill/>
          <a:ln w="28575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4067175" y="1493838"/>
            <a:ext cx="5013325" cy="4543425"/>
          </a:xfrm>
          <a:prstGeom prst="foldedCorner">
            <a:avLst>
              <a:gd name="adj" fmla="val 12500"/>
            </a:avLst>
          </a:prstGeom>
          <a:solidFill>
            <a:srgbClr val="FDEADA"/>
          </a:solidFill>
          <a:ln w="6350">
            <a:solidFill>
              <a:srgbClr val="E46C0A"/>
            </a:solidFill>
            <a:round/>
            <a:headEnd/>
            <a:tailEnd/>
          </a:ln>
        </p:spPr>
        <p:txBody>
          <a:bodyPr wrap="none" tIns="72000" bIns="72000"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 err="1">
                <a:latin typeface="Courier New" charset="0"/>
              </a:rPr>
              <a:t>System.out.print</a:t>
            </a:r>
            <a:r>
              <a:rPr lang="en-US" sz="2000" b="1" dirty="0">
                <a:latin typeface="Courier New" charset="0"/>
              </a:rPr>
              <a:t>("Begin");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>
                <a:latin typeface="Courier New" charset="0"/>
              </a:rPr>
              <a:t>File f = new File(“</a:t>
            </a:r>
            <a:r>
              <a:rPr lang="en-US" altLang="ja-JP" sz="2000" b="1" dirty="0" err="1">
                <a:latin typeface="Courier New" charset="0"/>
              </a:rPr>
              <a:t>foo.txt</a:t>
            </a:r>
            <a:r>
              <a:rPr lang="en-US" sz="2000" b="1" dirty="0">
                <a:latin typeface="Courier New" charset="0"/>
              </a:rPr>
              <a:t>”</a:t>
            </a:r>
            <a:r>
              <a:rPr lang="en-US" altLang="ja-JP" sz="2000" b="1" dirty="0">
                <a:latin typeface="Courier New" charset="0"/>
              </a:rPr>
              <a:t>);</a:t>
            </a:r>
            <a:endParaRPr lang="it-IT" altLang="ja-JP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 err="1">
                <a:latin typeface="Courier New" charset="0"/>
              </a:rPr>
              <a:t>try</a:t>
            </a:r>
            <a:r>
              <a:rPr lang="it-IT" sz="2000" b="1" dirty="0">
                <a:latin typeface="Courier New" charset="0"/>
              </a:rPr>
              <a:t>{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f.open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f.read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  </a:t>
            </a:r>
            <a:r>
              <a:rPr lang="it-IT" sz="2000" b="1" dirty="0" err="1">
                <a:solidFill>
                  <a:srgbClr val="FF6600"/>
                </a:solidFill>
                <a:latin typeface="Courier New" charset="0"/>
              </a:rPr>
              <a:t>f.close</a:t>
            </a:r>
            <a:r>
              <a:rPr lang="it-IT" sz="2000" b="1" dirty="0">
                <a:solidFill>
                  <a:srgbClr val="FF6600"/>
                </a:solidFill>
                <a:latin typeface="Courier New" charset="0"/>
              </a:rPr>
              <a:t>();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i="1" dirty="0" err="1">
                <a:latin typeface="Courier New" charset="0"/>
              </a:rPr>
              <a:t>FileError</a:t>
            </a:r>
            <a:r>
              <a:rPr lang="it-IT" sz="2000" b="1" i="1" dirty="0">
                <a:latin typeface="Courier New" charset="0"/>
              </a:rPr>
              <a:t> </a:t>
            </a:r>
            <a:r>
              <a:rPr lang="it-IT" sz="2000" b="1" i="1" dirty="0" err="1">
                <a:latin typeface="Courier New" charset="0"/>
              </a:rPr>
              <a:t>fe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 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 </a:t>
            </a:r>
            <a:r>
              <a:rPr lang="en-US" sz="2000" b="1" dirty="0" err="1">
                <a:solidFill>
                  <a:schemeClr val="accent4"/>
                </a:solidFill>
                <a:latin typeface="Courier New" charset="0"/>
              </a:rPr>
              <a:t>System.out</a:t>
            </a:r>
            <a:r>
              <a:rPr lang="en-US" sz="2000" b="1" dirty="0">
                <a:solidFill>
                  <a:schemeClr val="accent4"/>
                </a:solidFill>
                <a:latin typeface="Courier New" charset="0"/>
              </a:rPr>
              <a:t>.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print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(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“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File </a:t>
            </a:r>
            <a:r>
              <a:rPr lang="it-IT" altLang="ja-JP" sz="2000" b="1" dirty="0" err="1">
                <a:solidFill>
                  <a:schemeClr val="accent4"/>
                </a:solidFill>
                <a:latin typeface="Courier New" charset="0"/>
              </a:rPr>
              <a:t>err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”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}catch(</a:t>
            </a:r>
            <a:r>
              <a:rPr lang="it-IT" sz="2000" b="1" i="1" dirty="0" err="1">
                <a:latin typeface="Courier New" charset="0"/>
              </a:rPr>
              <a:t>IOError</a:t>
            </a:r>
            <a:r>
              <a:rPr lang="it-IT" sz="2000" b="1" i="1" dirty="0">
                <a:latin typeface="Courier New" charset="0"/>
              </a:rPr>
              <a:t> </a:t>
            </a:r>
            <a:r>
              <a:rPr lang="it-IT" sz="2000" b="1" i="1" dirty="0" err="1">
                <a:latin typeface="Courier New" charset="0"/>
              </a:rPr>
              <a:t>ioe</a:t>
            </a:r>
            <a:r>
              <a:rPr lang="it-IT" sz="2000" b="1" dirty="0">
                <a:latin typeface="Courier New" charset="0"/>
              </a:rPr>
              <a:t>){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  </a:t>
            </a:r>
            <a:r>
              <a:rPr lang="en-US" sz="2000" b="1" dirty="0" err="1">
                <a:solidFill>
                  <a:schemeClr val="accent4"/>
                </a:solidFill>
                <a:latin typeface="Courier New" charset="0"/>
              </a:rPr>
              <a:t>System.out</a:t>
            </a:r>
            <a:r>
              <a:rPr lang="en-US" sz="2000" b="1" dirty="0">
                <a:solidFill>
                  <a:schemeClr val="accent4"/>
                </a:solidFill>
                <a:latin typeface="Courier New" charset="0"/>
              </a:rPr>
              <a:t>.</a:t>
            </a:r>
            <a:r>
              <a:rPr lang="it-IT" sz="2000" b="1" dirty="0" err="1">
                <a:solidFill>
                  <a:schemeClr val="accent4"/>
                </a:solidFill>
                <a:latin typeface="Courier New" charset="0"/>
              </a:rPr>
              <a:t>print</a:t>
            </a:r>
            <a:r>
              <a:rPr lang="it-IT" sz="2000" b="1" dirty="0">
                <a:solidFill>
                  <a:schemeClr val="accent4"/>
                </a:solidFill>
                <a:latin typeface="Courier New" charset="0"/>
              </a:rPr>
              <a:t>(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“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I/O </a:t>
            </a:r>
            <a:r>
              <a:rPr lang="it-IT" altLang="ja-JP" sz="2000" b="1" dirty="0" err="1">
                <a:solidFill>
                  <a:schemeClr val="accent4"/>
                </a:solidFill>
                <a:latin typeface="Courier New" charset="0"/>
              </a:rPr>
              <a:t>err</a:t>
            </a:r>
            <a:r>
              <a:rPr lang="ja-JP" altLang="it-IT" sz="2000" b="1" dirty="0">
                <a:solidFill>
                  <a:schemeClr val="accent4"/>
                </a:solidFill>
                <a:latin typeface="Courier New" charset="0"/>
              </a:rPr>
              <a:t>”</a:t>
            </a:r>
            <a:r>
              <a:rPr lang="it-IT" altLang="ja-JP" sz="2000" b="1" dirty="0">
                <a:solidFill>
                  <a:schemeClr val="accent4"/>
                </a:solidFill>
                <a:latin typeface="Courier New" charset="0"/>
              </a:rPr>
              <a:t>);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it-IT" sz="2000" b="1" dirty="0">
                <a:latin typeface="Courier New" charset="0"/>
              </a:rPr>
              <a:t>}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it-IT" sz="2000" b="1" dirty="0">
              <a:latin typeface="Courier New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000" b="1" dirty="0" err="1">
                <a:latin typeface="Courier New" charset="0"/>
              </a:rPr>
              <a:t>System.out</a:t>
            </a:r>
            <a:r>
              <a:rPr lang="en-US" sz="2000" b="1" dirty="0">
                <a:latin typeface="Courier New" charset="0"/>
              </a:rPr>
              <a:t>.</a:t>
            </a:r>
            <a:r>
              <a:rPr lang="it-IT" sz="2000" b="1" dirty="0" err="1">
                <a:latin typeface="Courier New" charset="0"/>
              </a:rPr>
              <a:t>print</a:t>
            </a:r>
            <a:r>
              <a:rPr lang="it-IT" sz="2000" b="1" dirty="0">
                <a:latin typeface="Courier New" charset="0"/>
              </a:rPr>
              <a:t>("End");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999E0534-29F1-0642-9EBC-AAA28572F217}" type="slidenum">
              <a:rPr lang="it-IT" sz="1200"/>
              <a:pPr eaLnBrk="1" hangingPunct="1"/>
              <a:t>39</a:t>
            </a:fld>
            <a:endParaRPr lang="it-IT" sz="1200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Matching rules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Only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one</a:t>
            </a:r>
            <a:r>
              <a:rPr lang="it-IT" dirty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handler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executed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The </a:t>
            </a:r>
            <a:r>
              <a:rPr lang="it-IT" dirty="0" err="1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most</a:t>
            </a:r>
            <a:r>
              <a:rPr lang="it-IT" dirty="0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specific</a:t>
            </a:r>
            <a:r>
              <a:rPr lang="it-IT" dirty="0" smtClean="0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handler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is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selected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,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according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to the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type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order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Handlers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are </a:t>
            </a:r>
            <a:r>
              <a:rPr lang="it-IT" dirty="0" err="1">
                <a:solidFill>
                  <a:srgbClr val="FF6600"/>
                </a:solidFill>
                <a:latin typeface="Lucida Sans Unicode" charset="0"/>
                <a:ea typeface="ＭＳ Ｐゴシック" charset="0"/>
                <a:cs typeface="ＭＳ Ｐゴシック" charset="0"/>
              </a:rPr>
              <a:t>ordered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according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to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their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ja-JP" altLang="it-IT" dirty="0">
                <a:latin typeface="Lucida Sans Unicode" charset="0"/>
                <a:ea typeface="ＭＳ Ｐゴシック" charset="0"/>
                <a:cs typeface="ＭＳ Ｐゴシック" charset="0"/>
              </a:rPr>
              <a:t>“</a:t>
            </a:r>
            <a:r>
              <a:rPr lang="it-IT" altLang="ja-JP" dirty="0" err="1">
                <a:latin typeface="Lucida Sans Unicode" charset="0"/>
                <a:ea typeface="ＭＳ Ｐゴシック" charset="0"/>
                <a:cs typeface="ＭＳ Ｐゴシック" charset="0"/>
              </a:rPr>
              <a:t>generality</a:t>
            </a:r>
            <a:r>
              <a:rPr lang="ja-JP" alt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”</a:t>
            </a:r>
            <a:endParaRPr lang="it-IT" altLang="ja-JP" dirty="0" smtClean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From the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most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general (base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classes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) to the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most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specific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(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derived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classes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)</a:t>
            </a:r>
          </a:p>
          <a:p>
            <a:pPr lvl="1" eaLnBrk="1" hangingPunct="1"/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Most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general are the first to be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selected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AF6CDCA-F32E-354E-8620-38BDAAB6E2F2}" type="slidenum">
              <a:rPr lang="it-IT" sz="1200"/>
              <a:pPr eaLnBrk="1" hangingPunct="1"/>
              <a:t>40</a:t>
            </a:fld>
            <a:endParaRPr lang="it-IT" sz="1200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Matching rules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3200400" y="1600200"/>
            <a:ext cx="1981200" cy="83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  <a:defRPr/>
            </a:pPr>
            <a:r>
              <a:rPr lang="en-US" sz="2000"/>
              <a:t>Exception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1524000" y="3124200"/>
            <a:ext cx="1981200" cy="83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  <a:defRPr/>
            </a:pPr>
            <a:r>
              <a:rPr lang="en-US" sz="2000"/>
              <a:t>Error</a:t>
            </a: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4876800" y="3124200"/>
            <a:ext cx="1981200" cy="83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  <a:defRPr/>
            </a:pPr>
            <a:r>
              <a:rPr lang="en-US" sz="2000"/>
              <a:t>FatalEx</a:t>
            </a: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2819400" y="4724400"/>
            <a:ext cx="1981200" cy="83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  <a:defRPr/>
            </a:pPr>
            <a:r>
              <a:rPr lang="en-US" sz="2000"/>
              <a:t>FileErr</a:t>
            </a: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304800" y="4724400"/>
            <a:ext cx="1981200" cy="83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  <a:defRPr/>
            </a:pPr>
            <a:r>
              <a:rPr lang="en-US" sz="2000"/>
              <a:t>IOErr</a:t>
            </a:r>
          </a:p>
        </p:txBody>
      </p:sp>
      <p:cxnSp>
        <p:nvCxnSpPr>
          <p:cNvPr id="66568" name="AutoShape 8"/>
          <p:cNvCxnSpPr>
            <a:cxnSpLocks noChangeShapeType="1"/>
            <a:stCxn id="64519" idx="0"/>
            <a:endCxn id="64516" idx="2"/>
          </p:cNvCxnSpPr>
          <p:nvPr/>
        </p:nvCxnSpPr>
        <p:spPr bwMode="auto">
          <a:xfrm rot="-5400000">
            <a:off x="1524000" y="3733800"/>
            <a:ext cx="762000" cy="1219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69" name="AutoShape 9"/>
          <p:cNvCxnSpPr>
            <a:cxnSpLocks noChangeShapeType="1"/>
            <a:stCxn id="64518" idx="0"/>
            <a:endCxn id="64516" idx="2"/>
          </p:cNvCxnSpPr>
          <p:nvPr/>
        </p:nvCxnSpPr>
        <p:spPr bwMode="auto">
          <a:xfrm rot="5400000" flipH="1">
            <a:off x="2781300" y="3695700"/>
            <a:ext cx="762000" cy="12954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70" name="AutoShape 10"/>
          <p:cNvCxnSpPr>
            <a:cxnSpLocks noChangeShapeType="1"/>
            <a:stCxn id="64517" idx="0"/>
            <a:endCxn id="64515" idx="2"/>
          </p:cNvCxnSpPr>
          <p:nvPr/>
        </p:nvCxnSpPr>
        <p:spPr bwMode="auto">
          <a:xfrm rot="5400000" flipH="1">
            <a:off x="4686300" y="1943100"/>
            <a:ext cx="685800" cy="16764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71" name="AutoShape 11"/>
          <p:cNvCxnSpPr>
            <a:cxnSpLocks noChangeShapeType="1"/>
            <a:stCxn id="64516" idx="0"/>
            <a:endCxn id="64515" idx="2"/>
          </p:cNvCxnSpPr>
          <p:nvPr/>
        </p:nvCxnSpPr>
        <p:spPr bwMode="auto">
          <a:xfrm rot="-5400000">
            <a:off x="3009900" y="1943100"/>
            <a:ext cx="685800" cy="16764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572" name="Line 12"/>
          <p:cNvSpPr>
            <a:spLocks noChangeShapeType="1"/>
          </p:cNvSpPr>
          <p:nvPr/>
        </p:nvSpPr>
        <p:spPr bwMode="auto">
          <a:xfrm flipV="1">
            <a:off x="7315200" y="1828800"/>
            <a:ext cx="0" cy="3581400"/>
          </a:xfrm>
          <a:prstGeom prst="line">
            <a:avLst/>
          </a:prstGeom>
          <a:noFill/>
          <a:ln w="9525">
            <a:solidFill>
              <a:srgbClr val="E46C0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Text Box 13"/>
          <p:cNvSpPr txBox="1">
            <a:spLocks noChangeArrowheads="1"/>
          </p:cNvSpPr>
          <p:nvPr/>
        </p:nvSpPr>
        <p:spPr bwMode="auto">
          <a:xfrm>
            <a:off x="7467600" y="5181600"/>
            <a:ext cx="1328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sz="2000"/>
              <a:t>- general</a:t>
            </a:r>
          </a:p>
        </p:txBody>
      </p:sp>
      <p:sp>
        <p:nvSpPr>
          <p:cNvPr id="66574" name="Text Box 14"/>
          <p:cNvSpPr txBox="1">
            <a:spLocks noChangeArrowheads="1"/>
          </p:cNvSpPr>
          <p:nvPr/>
        </p:nvSpPr>
        <p:spPr bwMode="auto">
          <a:xfrm>
            <a:off x="7467600" y="1676400"/>
            <a:ext cx="1382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sz="2000"/>
              <a:t>+ general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879846F7-1748-8849-B1EA-8E1AB0915898}" type="slidenum">
              <a:rPr lang="it-IT" sz="1200"/>
              <a:pPr eaLnBrk="1" hangingPunct="1"/>
              <a:t>41</a:t>
            </a:fld>
            <a:endParaRPr lang="it-IT" sz="1200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Matching rules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class </a:t>
            </a:r>
            <a:r>
              <a:rPr lang="it-IT" sz="2800" b="1" i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Error   </a:t>
            </a: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extends Exception{}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class </a:t>
            </a:r>
            <a:r>
              <a:rPr lang="it-IT" sz="2800" b="1" i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IOErr</a:t>
            </a: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   extends Error{}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class </a:t>
            </a:r>
            <a:r>
              <a:rPr lang="it-IT" sz="2800" b="1" i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FileErr</a:t>
            </a: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 extends Error{}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class </a:t>
            </a:r>
            <a:r>
              <a:rPr lang="it-IT" sz="2800" b="1" i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FatalEx</a:t>
            </a: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 extends Exception{}</a:t>
            </a:r>
          </a:p>
          <a:p>
            <a:pPr eaLnBrk="1" hangingPunct="1">
              <a:buFont typeface="Wingdings" charset="0"/>
              <a:buNone/>
            </a:pPr>
            <a:endParaRPr lang="it-IT" sz="2800" b="1" i="1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try{ </a:t>
            </a:r>
            <a:r>
              <a:rPr lang="it-IT" sz="2800" b="1" i="1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catch(IOErr ioe){ </a:t>
            </a:r>
            <a:r>
              <a:rPr lang="it-IT" sz="2800" b="1" i="1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catch(Error er){ </a:t>
            </a:r>
            <a:r>
              <a:rPr lang="it-IT" sz="2800" b="1" i="1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catch(Exception ex){ </a:t>
            </a:r>
            <a:r>
              <a:rPr lang="it-IT" sz="2800" b="1" i="1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  <a:endParaRPr lang="en-US" sz="2800" b="1" i="1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6934200" y="4528672"/>
            <a:ext cx="0" cy="1371600"/>
          </a:xfrm>
          <a:prstGeom prst="line">
            <a:avLst/>
          </a:prstGeom>
          <a:noFill/>
          <a:ln w="38100" cmpd="sng">
            <a:solidFill>
              <a:srgbClr val="E46C0A"/>
            </a:solidFill>
            <a:round/>
            <a:headEnd type="none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7086600" y="4119283"/>
            <a:ext cx="1328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sz="2000" dirty="0"/>
              <a:t>- general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7077075" y="5867961"/>
            <a:ext cx="1382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sz="2000" dirty="0"/>
              <a:t>+ general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A0CC9E83-3E9A-2745-AAB9-6549DF70B8F6}" type="slidenum">
              <a:rPr lang="it-IT" sz="1200"/>
              <a:pPr eaLnBrk="1" hangingPunct="1"/>
              <a:t>42</a:t>
            </a:fld>
            <a:endParaRPr lang="it-IT" sz="120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Matching rules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IOErr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 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FatalEx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endParaRPr lang="it-IT" sz="2800" b="1" i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IOErr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ioe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){ </a:t>
            </a:r>
            <a:r>
              <a:rPr lang="it-IT" sz="2800" b="1" i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){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ex){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  <a:endParaRPr lang="en-US" sz="2800" b="1" i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0660" name="AutoShape 4"/>
          <p:cNvSpPr>
            <a:spLocks/>
          </p:cNvSpPr>
          <p:nvPr/>
        </p:nvSpPr>
        <p:spPr bwMode="auto">
          <a:xfrm>
            <a:off x="6629400" y="3810000"/>
            <a:ext cx="1666875" cy="855663"/>
          </a:xfrm>
          <a:prstGeom prst="accentCallout2">
            <a:avLst>
              <a:gd name="adj1" fmla="val 13356"/>
              <a:gd name="adj2" fmla="val -4569"/>
              <a:gd name="adj3" fmla="val 13356"/>
              <a:gd name="adj4" fmla="val -26000"/>
              <a:gd name="adj5" fmla="val 96102"/>
              <a:gd name="adj6" fmla="val -48097"/>
            </a:avLst>
          </a:prstGeom>
          <a:noFill/>
          <a:ln w="9525">
            <a:solidFill>
              <a:srgbClr val="E46C0A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it-IT" sz="2000" b="1" dirty="0" err="1">
                <a:solidFill>
                  <a:srgbClr val="FF6600"/>
                </a:solidFill>
              </a:rPr>
              <a:t>IOErr</a:t>
            </a:r>
            <a:r>
              <a:rPr lang="it-IT" sz="2000" b="1" dirty="0">
                <a:solidFill>
                  <a:srgbClr val="FF6600"/>
                </a:solidFill>
              </a:rPr>
              <a:t> </a:t>
            </a:r>
            <a:r>
              <a:rPr lang="it-IT" sz="2000" b="1" dirty="0" err="1">
                <a:solidFill>
                  <a:srgbClr val="FF6600"/>
                </a:solidFill>
              </a:rPr>
              <a:t>is</a:t>
            </a:r>
            <a:r>
              <a:rPr lang="it-IT" sz="2000" b="1" dirty="0">
                <a:solidFill>
                  <a:srgbClr val="FF6600"/>
                </a:solidFill>
              </a:rPr>
              <a:t> </a:t>
            </a:r>
            <a:r>
              <a:rPr lang="it-IT" sz="2000" b="1" dirty="0" err="1">
                <a:solidFill>
                  <a:srgbClr val="FF6600"/>
                </a:solidFill>
              </a:rPr>
              <a:t>generated</a:t>
            </a:r>
            <a:endParaRPr lang="en-US" sz="20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1D8880FF-8057-7945-B3EB-74DB32B14812}" type="slidenum">
              <a:rPr lang="it-IT" sz="1200"/>
              <a:pPr eaLnBrk="1" hangingPunct="1"/>
              <a:t>43</a:t>
            </a:fld>
            <a:endParaRPr lang="it-IT" sz="1200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Matching rules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IOErr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 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FatalEx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endParaRPr lang="it-IT" sz="2800" b="1" i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IOErr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ioe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){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){ </a:t>
            </a:r>
            <a:r>
              <a:rPr lang="it-IT" sz="2800" b="1" i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ex){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  <a:endParaRPr lang="en-US" sz="2800" b="1" i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2708" name="AutoShape 4"/>
          <p:cNvSpPr>
            <a:spLocks/>
          </p:cNvSpPr>
          <p:nvPr/>
        </p:nvSpPr>
        <p:spPr bwMode="auto">
          <a:xfrm>
            <a:off x="7086600" y="4572000"/>
            <a:ext cx="1828800" cy="1143000"/>
          </a:xfrm>
          <a:prstGeom prst="accentCallout2">
            <a:avLst>
              <a:gd name="adj1" fmla="val 10000"/>
              <a:gd name="adj2" fmla="val -4167"/>
              <a:gd name="adj3" fmla="val 10000"/>
              <a:gd name="adj4" fmla="val -37935"/>
              <a:gd name="adj5" fmla="val 54583"/>
              <a:gd name="adj6" fmla="val -82639"/>
            </a:avLst>
          </a:prstGeom>
          <a:noFill/>
          <a:ln w="9525">
            <a:solidFill>
              <a:srgbClr val="E46C0A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it-IT" sz="2000" b="1" dirty="0" err="1">
                <a:solidFill>
                  <a:srgbClr val="FF6600"/>
                </a:solidFill>
              </a:rPr>
              <a:t>Error</a:t>
            </a:r>
            <a:r>
              <a:rPr lang="it-IT" sz="2000" b="1" dirty="0">
                <a:solidFill>
                  <a:srgbClr val="FF6600"/>
                </a:solidFill>
              </a:rPr>
              <a:t> or </a:t>
            </a:r>
            <a:r>
              <a:rPr lang="it-IT" sz="2000" b="1" dirty="0" err="1">
                <a:solidFill>
                  <a:srgbClr val="FF6600"/>
                </a:solidFill>
              </a:rPr>
              <a:t>FileErr</a:t>
            </a:r>
            <a:r>
              <a:rPr lang="it-IT" sz="2000" b="1" dirty="0">
                <a:solidFill>
                  <a:srgbClr val="FF6600"/>
                </a:solidFill>
              </a:rPr>
              <a:t> </a:t>
            </a:r>
            <a:r>
              <a:rPr lang="it-IT" sz="2000" b="1" dirty="0" err="1">
                <a:solidFill>
                  <a:srgbClr val="FF6600"/>
                </a:solidFill>
              </a:rPr>
              <a:t>is</a:t>
            </a:r>
            <a:r>
              <a:rPr lang="it-IT" sz="2000" b="1" dirty="0">
                <a:solidFill>
                  <a:srgbClr val="FF6600"/>
                </a:solidFill>
              </a:rPr>
              <a:t> </a:t>
            </a:r>
            <a:r>
              <a:rPr lang="it-IT" sz="2000" b="1" dirty="0" err="1">
                <a:solidFill>
                  <a:srgbClr val="FF6600"/>
                </a:solidFill>
              </a:rPr>
              <a:t>generated</a:t>
            </a:r>
            <a:endParaRPr lang="en-US" sz="20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8BDF91BB-0ACB-FF4F-A011-2BAD934B71D9}" type="slidenum">
              <a:rPr lang="it-IT" sz="1200"/>
              <a:pPr eaLnBrk="1" hangingPunct="1"/>
              <a:t>44</a:t>
            </a:fld>
            <a:endParaRPr lang="it-IT" sz="1200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Matching rules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IOErr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 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FileErr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FatalEx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extends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{}</a:t>
            </a:r>
          </a:p>
          <a:p>
            <a:pPr eaLnBrk="1" hangingPunct="1">
              <a:buFont typeface="Wingdings" charset="0"/>
              <a:buNone/>
            </a:pPr>
            <a:endParaRPr lang="it-IT" sz="2800" b="1" i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IOErr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ioe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){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er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){ 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</a:p>
          <a:p>
            <a:pPr eaLnBrk="1" hangingPunct="1">
              <a:buFont typeface="Wingdings" charset="0"/>
              <a:buNone/>
            </a:pP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catch(</a:t>
            </a:r>
            <a:r>
              <a:rPr lang="it-IT" sz="2800" b="1" i="1" dirty="0" err="1">
                <a:latin typeface="Courier New" charset="0"/>
                <a:ea typeface="ＭＳ Ｐゴシック" charset="0"/>
                <a:cs typeface="ＭＳ Ｐゴシック" charset="0"/>
              </a:rPr>
              <a:t>Exception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 ex){ </a:t>
            </a:r>
            <a:r>
              <a:rPr lang="it-IT" sz="2800" b="1" i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/*…*/</a:t>
            </a:r>
            <a:r>
              <a:rPr lang="it-IT" sz="2800" b="1" i="1" dirty="0">
                <a:solidFill>
                  <a:schemeClr val="folHlink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800" b="1" i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endParaRPr lang="en-US" sz="2800" b="1" i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56" name="AutoShape 4"/>
          <p:cNvSpPr>
            <a:spLocks/>
          </p:cNvSpPr>
          <p:nvPr/>
        </p:nvSpPr>
        <p:spPr bwMode="auto">
          <a:xfrm>
            <a:off x="6934200" y="4800600"/>
            <a:ext cx="1828800" cy="1143000"/>
          </a:xfrm>
          <a:prstGeom prst="accentCallout2">
            <a:avLst>
              <a:gd name="adj1" fmla="val 10000"/>
              <a:gd name="adj2" fmla="val -4167"/>
              <a:gd name="adj3" fmla="val 10000"/>
              <a:gd name="adj4" fmla="val -18579"/>
              <a:gd name="adj5" fmla="val 68333"/>
              <a:gd name="adj6" fmla="val -32551"/>
            </a:avLst>
          </a:prstGeom>
          <a:noFill/>
          <a:ln w="9525">
            <a:solidFill>
              <a:srgbClr val="E46C0A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it-IT" sz="2000" b="1" dirty="0" err="1">
                <a:solidFill>
                  <a:srgbClr val="FF6600"/>
                </a:solidFill>
              </a:rPr>
              <a:t>FatalEx</a:t>
            </a:r>
            <a:r>
              <a:rPr lang="it-IT" sz="2000" b="1" dirty="0">
                <a:solidFill>
                  <a:srgbClr val="FF6600"/>
                </a:solidFill>
              </a:rPr>
              <a:t> </a:t>
            </a:r>
            <a:r>
              <a:rPr lang="it-IT" sz="2000" b="1" dirty="0" err="1">
                <a:solidFill>
                  <a:srgbClr val="FF6600"/>
                </a:solidFill>
              </a:rPr>
              <a:t>is</a:t>
            </a:r>
            <a:r>
              <a:rPr lang="it-IT" sz="2000" b="1" dirty="0">
                <a:solidFill>
                  <a:srgbClr val="FF6600"/>
                </a:solidFill>
              </a:rPr>
              <a:t> </a:t>
            </a:r>
            <a:r>
              <a:rPr lang="it-IT" sz="2000" b="1" dirty="0" err="1">
                <a:solidFill>
                  <a:srgbClr val="FF6600"/>
                </a:solidFill>
              </a:rPr>
              <a:t>generated</a:t>
            </a:r>
            <a:endParaRPr lang="en-US" sz="20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Symbol" charset="0"/>
              <a:defRPr sz="28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4F9101C-8A74-5B45-9632-7E08C28AAA07}" type="slidenum">
              <a:rPr lang="it-IT" sz="1200"/>
              <a:pPr eaLnBrk="1" hangingPunct="1"/>
              <a:t>45</a:t>
            </a:fld>
            <a:endParaRPr lang="it-IT" sz="1200" dirty="0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Nesting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Try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/catch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blocks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can be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nested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E.g.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because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handlers</a:t>
            </a:r>
            <a:r>
              <a:rPr lang="it-IT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Lucida Sans Unicode" charset="0"/>
                <a:ea typeface="ＭＳ Ｐゴシック" charset="0"/>
                <a:cs typeface="ＭＳ Ｐゴシック" charset="0"/>
              </a:rPr>
              <a:t>may</a:t>
            </a:r>
            <a:r>
              <a:rPr lang="it-IT" dirty="0">
                <a:latin typeface="Lucida Sans Unicode" charset="0"/>
                <a:ea typeface="ＭＳ Ｐゴシック" charset="0"/>
                <a:cs typeface="ＭＳ Ｐゴシック" charset="0"/>
              </a:rPr>
              <a:t> generate new </a:t>
            </a:r>
            <a:r>
              <a:rPr lang="it-IT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exceptions</a:t>
            </a:r>
            <a:endParaRPr lang="it-IT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it-IT" sz="2800" b="1" dirty="0" err="1">
                <a:latin typeface="Courier New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2800" b="1" dirty="0">
                <a:latin typeface="Courier New" charset="0"/>
                <a:ea typeface="ＭＳ Ｐゴシック" charset="0"/>
                <a:cs typeface="ＭＳ Ｐゴシック" charset="0"/>
              </a:rPr>
              <a:t>{ </a:t>
            </a:r>
            <a:endParaRPr lang="it-IT" sz="2800" b="1" dirty="0" smtClean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it-IT" sz="2800" b="1" dirty="0">
                <a:latin typeface="Courier New" charset="0"/>
                <a:ea typeface="ＭＳ Ｐゴシック" charset="0"/>
                <a:cs typeface="ＭＳ Ｐゴシック" charset="0"/>
              </a:rPr>
              <a:t>	</a:t>
            </a:r>
            <a:r>
              <a:rPr lang="it-IT" sz="2800" b="1" dirty="0" smtClean="0">
                <a:latin typeface="Courier New" charset="0"/>
                <a:ea typeface="ＭＳ Ｐゴシック" charset="0"/>
                <a:cs typeface="ＭＳ Ｐゴシック" charset="0"/>
              </a:rPr>
              <a:t>/</a:t>
            </a:r>
            <a:r>
              <a:rPr lang="it-IT" sz="2800" b="1" dirty="0">
                <a:latin typeface="Courier New" charset="0"/>
                <a:ea typeface="ＭＳ Ｐゴシック" charset="0"/>
                <a:cs typeface="ＭＳ Ｐゴシック" charset="0"/>
              </a:rPr>
              <a:t>* Do </a:t>
            </a:r>
            <a:r>
              <a:rPr lang="it-IT" sz="2800" b="1" dirty="0" err="1">
                <a:latin typeface="Courier New" charset="0"/>
                <a:ea typeface="ＭＳ Ｐゴシック" charset="0"/>
                <a:cs typeface="ＭＳ Ｐゴシック" charset="0"/>
              </a:rPr>
              <a:t>something</a:t>
            </a:r>
            <a:r>
              <a:rPr lang="it-IT" sz="2800" b="1" dirty="0">
                <a:latin typeface="Courier New" charset="0"/>
                <a:ea typeface="ＭＳ Ｐゴシック" charset="0"/>
                <a:cs typeface="ＭＳ Ｐゴシック" charset="0"/>
              </a:rPr>
              <a:t> */ </a:t>
            </a:r>
            <a:endParaRPr lang="it-IT" sz="2800" b="1" dirty="0" smtClean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it-IT" sz="2800" b="1" dirty="0" smtClean="0">
                <a:latin typeface="Courier New" charset="0"/>
                <a:ea typeface="ＭＳ Ｐゴシック" charset="0"/>
                <a:cs typeface="ＭＳ Ｐゴシック" charset="0"/>
              </a:rPr>
              <a:t>}catch</a:t>
            </a:r>
            <a:r>
              <a:rPr lang="it-IT" sz="2800" b="1" dirty="0">
                <a:latin typeface="Courier New" charset="0"/>
                <a:ea typeface="ＭＳ Ｐゴシック" charset="0"/>
                <a:cs typeface="ＭＳ Ｐゴシック" charset="0"/>
              </a:rPr>
              <a:t>(…){</a:t>
            </a:r>
            <a:br>
              <a:rPr lang="it-IT" sz="2800" b="1" dirty="0">
                <a:latin typeface="Courier New" charset="0"/>
                <a:ea typeface="ＭＳ Ｐゴシック" charset="0"/>
                <a:cs typeface="ＭＳ Ｐゴシック" charset="0"/>
              </a:rPr>
            </a:br>
            <a:r>
              <a:rPr lang="it-IT" sz="2800" b="1" dirty="0">
                <a:latin typeface="Courier New" charset="0"/>
                <a:ea typeface="ＭＳ Ｐゴシック" charset="0"/>
                <a:cs typeface="ＭＳ Ｐゴシック" charset="0"/>
              </a:rPr>
              <a:t>  </a:t>
            </a:r>
            <a:r>
              <a:rPr lang="it-IT" sz="2800" b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try</a:t>
            </a:r>
            <a:r>
              <a:rPr lang="it-IT" sz="2800" b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   { /* Log on file */ }</a:t>
            </a:r>
            <a:br>
              <a:rPr lang="it-IT" sz="2800" b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</a:br>
            <a:r>
              <a:rPr lang="it-IT" sz="2800" b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 catch(…){ /* </a:t>
            </a:r>
            <a:r>
              <a:rPr lang="it-IT" sz="2800" b="1" dirty="0" err="1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Ignore</a:t>
            </a:r>
            <a:r>
              <a:rPr lang="it-IT" sz="2800" b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 *</a:t>
            </a:r>
            <a:r>
              <a:rPr lang="it-IT" sz="2800" b="1" dirty="0" smtClean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>/ }</a:t>
            </a:r>
            <a:r>
              <a:rPr lang="it-IT" sz="2800" b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  <a:t/>
            </a:r>
            <a:br>
              <a:rPr lang="it-IT" sz="2800" b="1" dirty="0">
                <a:solidFill>
                  <a:srgbClr val="FF6633"/>
                </a:solidFill>
                <a:latin typeface="Courier New" charset="0"/>
                <a:ea typeface="ＭＳ Ｐゴシック" charset="0"/>
                <a:cs typeface="ＭＳ Ｐゴシック" charset="0"/>
              </a:rPr>
            </a:br>
            <a:r>
              <a:rPr lang="it-IT" sz="2800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endParaRPr lang="en-US" sz="2800" b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EXCEPTIONS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85000C-4947-CD4D-9EFC-B4BCB5E4306E}" type="slidenum">
              <a:rPr lang="it-IT" smtClean="0"/>
              <a:pPr>
                <a:defRPr/>
              </a:pPr>
              <a:t>46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70205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Testing exceptions</a:t>
            </a:r>
          </a:p>
        </p:txBody>
      </p:sp>
      <p:sp>
        <p:nvSpPr>
          <p:cNvPr id="10342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60350" indent="-260350" eaLnBrk="1" hangingPunct="1">
              <a:spcBef>
                <a:spcPts val="700"/>
              </a:spcBef>
              <a:spcAft>
                <a:spcPts val="175"/>
              </a:spcAft>
              <a:buFont typeface="Wingdings" charset="0"/>
              <a:buChar char=""/>
              <a:tabLst>
                <a:tab pos="830263" algn="l"/>
                <a:tab pos="1744663" algn="l"/>
                <a:tab pos="2659063" algn="l"/>
                <a:tab pos="3573463" algn="l"/>
                <a:tab pos="4487863" algn="l"/>
                <a:tab pos="5402263" algn="l"/>
                <a:tab pos="6316663" algn="l"/>
                <a:tab pos="7231063" algn="l"/>
                <a:tab pos="8145463" algn="l"/>
                <a:tab pos="9059863" algn="l"/>
                <a:tab pos="9974263" algn="l"/>
              </a:tabLst>
            </a:pPr>
            <a:r>
              <a:rPr lang="it-IT" sz="2800">
                <a:latin typeface="Lucida Sans Unicode" charset="0"/>
                <a:ea typeface="ＭＳ Ｐゴシック" charset="0"/>
                <a:cs typeface="ＭＳ Ｐゴシック" charset="0"/>
              </a:rPr>
              <a:t>Two main cases shall be checked:</a:t>
            </a:r>
          </a:p>
          <a:p>
            <a:pPr marL="260350" indent="-260350" eaLnBrk="1" hangingPunct="1">
              <a:spcBef>
                <a:spcPts val="700"/>
              </a:spcBef>
              <a:spcAft>
                <a:spcPts val="175"/>
              </a:spcAft>
              <a:buFont typeface="Wingdings" charset="0"/>
              <a:buChar char=""/>
              <a:tabLst>
                <a:tab pos="830263" algn="l"/>
                <a:tab pos="1744663" algn="l"/>
                <a:tab pos="2659063" algn="l"/>
                <a:tab pos="3573463" algn="l"/>
                <a:tab pos="4487863" algn="l"/>
                <a:tab pos="5402263" algn="l"/>
                <a:tab pos="6316663" algn="l"/>
                <a:tab pos="7231063" algn="l"/>
                <a:tab pos="8145463" algn="l"/>
                <a:tab pos="9059863" algn="l"/>
                <a:tab pos="9974263" algn="l"/>
              </a:tabLst>
            </a:pPr>
            <a:r>
              <a:rPr lang="it-IT" sz="2800">
                <a:latin typeface="Lucida Sans Unicode" charset="0"/>
                <a:ea typeface="ＭＳ Ｐゴシック" charset="0"/>
                <a:cs typeface="ＭＳ Ｐゴシック" charset="0"/>
              </a:rPr>
              <a:t>We expect an anomaly and therefore an exception should be rised</a:t>
            </a:r>
          </a:p>
          <a:p>
            <a:pPr marL="685800" lvl="1" indent="-228600" eaLnBrk="1" hangingPunct="1">
              <a:spcBef>
                <a:spcPts val="600"/>
              </a:spcBef>
              <a:buFont typeface="Wingdings" charset="0"/>
              <a:buChar char=""/>
              <a:tabLst>
                <a:tab pos="830263" algn="l"/>
                <a:tab pos="1744663" algn="l"/>
                <a:tab pos="2659063" algn="l"/>
                <a:tab pos="3573463" algn="l"/>
                <a:tab pos="4487863" algn="l"/>
                <a:tab pos="5402263" algn="l"/>
                <a:tab pos="6316663" algn="l"/>
                <a:tab pos="7231063" algn="l"/>
                <a:tab pos="8145463" algn="l"/>
                <a:tab pos="9059863" algn="l"/>
                <a:tab pos="9974263" algn="l"/>
              </a:tabLst>
            </a:pPr>
            <a:r>
              <a:rPr lang="it-IT" sz="2400">
                <a:latin typeface="Lucida Sans Unicode" charset="0"/>
                <a:ea typeface="ＭＳ Ｐゴシック" charset="0"/>
              </a:rPr>
              <a:t>In this case the tests fails whether NO exception is detected</a:t>
            </a:r>
          </a:p>
          <a:p>
            <a:pPr marL="260350" indent="-260350" eaLnBrk="1" hangingPunct="1">
              <a:spcBef>
                <a:spcPts val="700"/>
              </a:spcBef>
              <a:spcAft>
                <a:spcPts val="175"/>
              </a:spcAft>
              <a:buFont typeface="Wingdings" charset="0"/>
              <a:buChar char=""/>
              <a:tabLst>
                <a:tab pos="830263" algn="l"/>
                <a:tab pos="1744663" algn="l"/>
                <a:tab pos="2659063" algn="l"/>
                <a:tab pos="3573463" algn="l"/>
                <a:tab pos="4487863" algn="l"/>
                <a:tab pos="5402263" algn="l"/>
                <a:tab pos="6316663" algn="l"/>
                <a:tab pos="7231063" algn="l"/>
                <a:tab pos="8145463" algn="l"/>
                <a:tab pos="9059863" algn="l"/>
                <a:tab pos="9974263" algn="l"/>
              </a:tabLst>
            </a:pPr>
            <a:r>
              <a:rPr lang="it-IT" sz="2800">
                <a:latin typeface="Lucida Sans Unicode" charset="0"/>
                <a:ea typeface="ＭＳ Ｐゴシック" charset="0"/>
                <a:cs typeface="ＭＳ Ｐゴシック" charset="0"/>
              </a:rPr>
              <a:t>We expect a normal behavior and therefore no exception should be raised</a:t>
            </a:r>
          </a:p>
          <a:p>
            <a:pPr marL="685800" lvl="1" indent="-228600" eaLnBrk="1" hangingPunct="1">
              <a:spcBef>
                <a:spcPts val="600"/>
              </a:spcBef>
              <a:buFont typeface="Wingdings" charset="0"/>
              <a:buChar char=""/>
              <a:tabLst>
                <a:tab pos="830263" algn="l"/>
                <a:tab pos="1744663" algn="l"/>
                <a:tab pos="2659063" algn="l"/>
                <a:tab pos="3573463" algn="l"/>
                <a:tab pos="4487863" algn="l"/>
                <a:tab pos="5402263" algn="l"/>
                <a:tab pos="6316663" algn="l"/>
                <a:tab pos="7231063" algn="l"/>
                <a:tab pos="8145463" algn="l"/>
                <a:tab pos="9059863" algn="l"/>
                <a:tab pos="9974263" algn="l"/>
              </a:tabLst>
            </a:pPr>
            <a:r>
              <a:rPr lang="it-IT" sz="2400">
                <a:latin typeface="Lucida Sans Unicode" charset="0"/>
                <a:ea typeface="ＭＳ Ｐゴシック" charset="0"/>
              </a:rPr>
              <a:t>In this case the tests fails whether that exception in raised</a:t>
            </a:r>
          </a:p>
          <a:p>
            <a:pPr marL="260350" indent="-260350" eaLnBrk="1" hangingPunct="1">
              <a:spcBef>
                <a:spcPts val="600"/>
              </a:spcBef>
              <a:spcAft>
                <a:spcPts val="150"/>
              </a:spcAft>
              <a:buFontTx/>
              <a:buNone/>
              <a:tabLst>
                <a:tab pos="830263" algn="l"/>
                <a:tab pos="1744663" algn="l"/>
                <a:tab pos="2659063" algn="l"/>
                <a:tab pos="3573463" algn="l"/>
                <a:tab pos="4487863" algn="l"/>
                <a:tab pos="5402263" algn="l"/>
                <a:tab pos="6316663" algn="l"/>
                <a:tab pos="7231063" algn="l"/>
                <a:tab pos="8145463" algn="l"/>
                <a:tab pos="9059863" algn="l"/>
                <a:tab pos="9974263" algn="l"/>
              </a:tabLst>
            </a:pPr>
            <a:endParaRPr lang="it-IT" sz="240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521919" y="1347285"/>
            <a:ext cx="8273217" cy="32548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10547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Expected exception test</a:t>
            </a:r>
          </a:p>
        </p:txBody>
      </p:sp>
      <p:sp>
        <p:nvSpPr>
          <p:cNvPr id="10547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try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{</a:t>
            </a:r>
          </a:p>
          <a:p>
            <a:pPr marL="0" indent="0" eaLnBrk="1" hangingPunct="1"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 // </a:t>
            </a:r>
            <a:r>
              <a:rPr lang="it-IT" sz="2400" i="1" dirty="0">
                <a:latin typeface="Lucida Sans Unicode" charset="0"/>
                <a:ea typeface="ＭＳ Ｐゴシック" charset="0"/>
                <a:cs typeface="Courier New" charset="0"/>
              </a:rPr>
              <a:t>e.g. </a:t>
            </a:r>
            <a:r>
              <a:rPr lang="it-IT" sz="2400" i="1" dirty="0" err="1">
                <a:latin typeface="Lucida Sans Unicode" charset="0"/>
                <a:ea typeface="ＭＳ Ｐゴシック" charset="0"/>
                <a:cs typeface="Courier New" charset="0"/>
              </a:rPr>
              <a:t>method</a:t>
            </a:r>
            <a:r>
              <a:rPr lang="it-IT" sz="2400" i="1" dirty="0">
                <a:latin typeface="Lucida Sans Unicode" charset="0"/>
                <a:ea typeface="ＭＳ Ｐゴシック" charset="0"/>
                <a:cs typeface="Courier New" charset="0"/>
              </a:rPr>
              <a:t> </a:t>
            </a:r>
            <a:r>
              <a:rPr lang="it-IT" sz="2400" i="1" dirty="0" err="1">
                <a:latin typeface="Lucida Sans Unicode" charset="0"/>
                <a:ea typeface="ＭＳ Ｐゴシック" charset="0"/>
                <a:cs typeface="Courier New" charset="0"/>
              </a:rPr>
              <a:t>invoked</a:t>
            </a:r>
            <a:r>
              <a:rPr lang="it-IT" sz="2400" i="1" dirty="0">
                <a:latin typeface="Lucida Sans Unicode" charset="0"/>
                <a:ea typeface="ＭＳ Ｐゴシック" charset="0"/>
                <a:cs typeface="Courier New" charset="0"/>
              </a:rPr>
              <a:t> with “</a:t>
            </a:r>
            <a:r>
              <a:rPr lang="it-IT" altLang="ja-JP" sz="2400" i="1" dirty="0" err="1">
                <a:latin typeface="Lucida Sans Unicode" charset="0"/>
                <a:ea typeface="ＭＳ Ｐゴシック" charset="0"/>
                <a:cs typeface="Courier New" charset="0"/>
              </a:rPr>
              <a:t>wrong</a:t>
            </a:r>
            <a:r>
              <a:rPr lang="it-IT" sz="2400" i="1" dirty="0">
                <a:latin typeface="Lucida Sans Unicode" charset="0"/>
                <a:ea typeface="ＭＳ Ｐゴシック" charset="0"/>
                <a:cs typeface="Courier New" charset="0"/>
              </a:rPr>
              <a:t>”</a:t>
            </a:r>
            <a:r>
              <a:rPr lang="it-IT" altLang="ja-JP" sz="2400" i="1" dirty="0">
                <a:latin typeface="Lucida Sans Unicode" charset="0"/>
                <a:ea typeface="ＭＳ Ｐゴシック" charset="0"/>
                <a:cs typeface="Courier New" charset="0"/>
              </a:rPr>
              <a:t> </a:t>
            </a:r>
            <a:r>
              <a:rPr lang="it-IT" altLang="ja-JP" sz="2400" i="1" dirty="0" err="1">
                <a:latin typeface="Lucida Sans Unicode" charset="0"/>
                <a:ea typeface="ＭＳ Ｐゴシック" charset="0"/>
                <a:cs typeface="Courier New" charset="0"/>
              </a:rPr>
              <a:t>args</a:t>
            </a:r>
            <a:endParaRPr lang="it-IT" altLang="ja-JP" sz="2400" i="1" dirty="0">
              <a:latin typeface="Lucida Sans Unicode" charset="0"/>
              <a:ea typeface="ＭＳ Ｐゴシック" charset="0"/>
              <a:cs typeface="Courier New" charset="0"/>
            </a:endParaRPr>
          </a:p>
          <a:p>
            <a:pPr marL="0" indent="0" eaLnBrk="1" hangingPunct="1"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obj.method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(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null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);</a:t>
            </a:r>
          </a:p>
          <a:p>
            <a:pPr marL="0" indent="0" eaLnBrk="1" hangingPunct="1"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 </a:t>
            </a:r>
            <a:r>
              <a:rPr lang="it-IT" sz="2400" b="1" dirty="0" err="1">
                <a:solidFill>
                  <a:srgbClr val="FF6600"/>
                </a:solidFill>
                <a:latin typeface="Courier New" charset="0"/>
                <a:ea typeface="ＭＳ Ｐゴシック" charset="0"/>
                <a:cs typeface="Courier New" charset="0"/>
              </a:rPr>
              <a:t>fail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(“</a:t>
            </a:r>
            <a:r>
              <a:rPr lang="it-IT" altLang="ja-JP" sz="2400" b="1" dirty="0" err="1">
                <a:latin typeface="Courier New" charset="0"/>
                <a:ea typeface="ＭＳ Ｐゴシック" charset="0"/>
                <a:cs typeface="Courier New" charset="0"/>
              </a:rPr>
              <a:t>Methdo</a:t>
            </a:r>
            <a:r>
              <a:rPr lang="it-IT" altLang="ja-JP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it-IT" altLang="ja-JP" sz="2400" b="1" dirty="0" err="1">
                <a:latin typeface="Courier New" charset="0"/>
                <a:ea typeface="ＭＳ Ｐゴシック" charset="0"/>
                <a:cs typeface="Courier New" charset="0"/>
              </a:rPr>
              <a:t>didn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’</a:t>
            </a:r>
            <a:r>
              <a:rPr lang="it-IT" altLang="ja-JP" sz="2400" b="1" dirty="0" err="1">
                <a:latin typeface="Courier New" charset="0"/>
                <a:ea typeface="ＭＳ Ｐゴシック" charset="0"/>
                <a:cs typeface="Courier New" charset="0"/>
              </a:rPr>
              <a:t>t</a:t>
            </a:r>
            <a:r>
              <a:rPr lang="it-IT" altLang="ja-JP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it-IT" altLang="ja-JP" sz="2400" b="1" dirty="0" err="1">
                <a:latin typeface="Courier New" charset="0"/>
                <a:ea typeface="ＭＳ Ｐゴシック" charset="0"/>
                <a:cs typeface="Courier New" charset="0"/>
              </a:rPr>
              <a:t>detected</a:t>
            </a:r>
            <a:r>
              <a:rPr lang="it-IT" altLang="ja-JP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it-IT" altLang="ja-JP" sz="2400" b="1" dirty="0" err="1" smtClean="0">
                <a:latin typeface="Courier New" charset="0"/>
                <a:ea typeface="ＭＳ Ｐゴシック" charset="0"/>
                <a:cs typeface="Courier New" charset="0"/>
              </a:rPr>
              <a:t>anomaly</a:t>
            </a:r>
            <a:r>
              <a:rPr lang="it-IT" altLang="ja-JP" sz="2400" b="1" dirty="0">
                <a:latin typeface="Courier New" charset="0"/>
                <a:ea typeface="ＭＳ Ｐゴシック" charset="0"/>
                <a:cs typeface="Courier New" charset="0"/>
              </a:rPr>
              <a:t>");</a:t>
            </a:r>
          </a:p>
          <a:p>
            <a:pPr marL="0" indent="0" eaLnBrk="1" hangingPunct="1"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}catch(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PossibleException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e){ </a:t>
            </a:r>
          </a:p>
          <a:p>
            <a:pPr marL="0" indent="0" eaLnBrk="1" hangingPunct="1"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assertTrue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(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true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); // OK</a:t>
            </a:r>
          </a:p>
          <a:p>
            <a:pPr marL="0" indent="0" eaLnBrk="1" hangingPunct="1"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}</a:t>
            </a:r>
          </a:p>
        </p:txBody>
      </p:sp>
      <p:sp>
        <p:nvSpPr>
          <p:cNvPr id="12291" name="AutoShape 3"/>
          <p:cNvSpPr>
            <a:spLocks noChangeArrowheads="1"/>
          </p:cNvSpPr>
          <p:nvPr/>
        </p:nvSpPr>
        <p:spPr bwMode="auto">
          <a:xfrm>
            <a:off x="3851275" y="4724400"/>
            <a:ext cx="4986338" cy="1943100"/>
          </a:xfrm>
          <a:prstGeom prst="foldedCorner">
            <a:avLst>
              <a:gd name="adj" fmla="val 12500"/>
            </a:avLst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63500" dist="17819" dir="2700000" algn="ctr" rotWithShape="0">
              <a:srgbClr val="808080"/>
            </a:outerShdw>
          </a:effectLst>
        </p:spPr>
        <p:txBody>
          <a:bodyPr wrap="none" lIns="90000" tIns="46800" rIns="90000" bIns="4680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it-IT" sz="2000" b="1" dirty="0" err="1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class</a:t>
            </a: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 </a:t>
            </a:r>
            <a:r>
              <a:rPr lang="it-IT" sz="2000" b="1" dirty="0" err="1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TheClassUnderTest</a:t>
            </a: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 public </a:t>
            </a:r>
            <a:r>
              <a:rPr lang="it-IT" sz="2000" b="1" dirty="0" err="1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void</a:t>
            </a: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 </a:t>
            </a:r>
            <a:r>
              <a:rPr lang="it-IT" sz="2000" b="1" dirty="0" err="1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method</a:t>
            </a: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(</a:t>
            </a:r>
            <a:r>
              <a:rPr lang="it-IT" sz="2000" b="1" dirty="0" err="1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String</a:t>
            </a: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 </a:t>
            </a:r>
            <a:r>
              <a:rPr lang="it-IT" sz="2000" b="1" dirty="0" err="1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p</a:t>
            </a: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	</a:t>
            </a:r>
            <a:r>
              <a:rPr lang="it-IT" sz="2000" b="1" dirty="0" err="1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throws</a:t>
            </a: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 </a:t>
            </a:r>
            <a:r>
              <a:rPr lang="it-IT" sz="2000" b="1" dirty="0" err="1">
                <a:latin typeface="Courier New" charset="0"/>
                <a:cs typeface="Courier New" charset="0"/>
              </a:rPr>
              <a:t>PossibleException</a:t>
            </a:r>
            <a:endParaRPr lang="it-IT" sz="2000" b="1" dirty="0">
              <a:solidFill>
                <a:srgbClr val="000000"/>
              </a:solidFill>
              <a:latin typeface="Courier New"/>
              <a:ea typeface="+mn-ea"/>
              <a:cs typeface="Courier New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  { /*... */ }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it-IT" sz="2000" b="1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610819" y="1283785"/>
            <a:ext cx="8273217" cy="32548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10752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Unexpected exception test</a:t>
            </a:r>
          </a:p>
        </p:txBody>
      </p:sp>
      <p:sp>
        <p:nvSpPr>
          <p:cNvPr id="107522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try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 // </a:t>
            </a:r>
            <a:r>
              <a:rPr lang="it-IT" sz="2400" i="1" dirty="0">
                <a:latin typeface="Lucida Sans Unicode" charset="0"/>
                <a:ea typeface="ＭＳ Ｐゴシック" charset="0"/>
                <a:cs typeface="Courier New" charset="0"/>
              </a:rPr>
              <a:t>e.g. </a:t>
            </a:r>
            <a:r>
              <a:rPr lang="it-IT" sz="2400" i="1" dirty="0" err="1">
                <a:latin typeface="Lucida Sans Unicode" charset="0"/>
                <a:ea typeface="ＭＳ Ｐゴシック" charset="0"/>
                <a:cs typeface="Courier New" charset="0"/>
              </a:rPr>
              <a:t>method</a:t>
            </a:r>
            <a:r>
              <a:rPr lang="it-IT" sz="2400" i="1" dirty="0">
                <a:latin typeface="Lucida Sans Unicode" charset="0"/>
                <a:ea typeface="ＭＳ Ｐゴシック" charset="0"/>
                <a:cs typeface="Courier New" charset="0"/>
              </a:rPr>
              <a:t> </a:t>
            </a:r>
            <a:r>
              <a:rPr lang="it-IT" sz="2400" i="1" dirty="0" err="1">
                <a:latin typeface="Lucida Sans Unicode" charset="0"/>
                <a:ea typeface="ＭＳ Ｐゴシック" charset="0"/>
                <a:cs typeface="Courier New" charset="0"/>
              </a:rPr>
              <a:t>invoked</a:t>
            </a:r>
            <a:r>
              <a:rPr lang="it-IT" sz="2400" i="1" dirty="0">
                <a:latin typeface="Lucida Sans Unicode" charset="0"/>
                <a:ea typeface="ＭＳ Ｐゴシック" charset="0"/>
                <a:cs typeface="Courier New" charset="0"/>
              </a:rPr>
              <a:t> with right </a:t>
            </a:r>
            <a:r>
              <a:rPr lang="it-IT" sz="2400" i="1" dirty="0" err="1">
                <a:latin typeface="Lucida Sans Unicode" charset="0"/>
                <a:ea typeface="ＭＳ Ｐゴシック" charset="0"/>
                <a:cs typeface="Courier New" charset="0"/>
              </a:rPr>
              <a:t>args</a:t>
            </a:r>
            <a:endParaRPr lang="it-IT" sz="2400" i="1" dirty="0">
              <a:latin typeface="Lucida Sans Unicode" charset="0"/>
              <a:ea typeface="ＭＳ Ｐゴシック" charset="0"/>
              <a:cs typeface="Courier New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obj.method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(“Right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Argument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");</a:t>
            </a:r>
          </a:p>
          <a:p>
            <a:pPr marL="0" indent="0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assertTrue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(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true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); // OK </a:t>
            </a:r>
          </a:p>
          <a:p>
            <a:pPr marL="0" indent="0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}catch(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PossibleException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e){ </a:t>
            </a:r>
          </a:p>
          <a:p>
            <a:pPr marL="0" indent="0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fail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(“Method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should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not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raise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except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.");</a:t>
            </a:r>
          </a:p>
          <a:p>
            <a:pPr marL="0" indent="0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}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39875" y="4616450"/>
            <a:ext cx="6877050" cy="1739900"/>
            <a:chOff x="970" y="2908"/>
            <a:chExt cx="4332" cy="109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05476" name="AutoShape 4"/>
            <p:cNvSpPr>
              <a:spLocks noChangeArrowheads="1"/>
            </p:cNvSpPr>
            <p:nvPr/>
          </p:nvSpPr>
          <p:spPr bwMode="auto">
            <a:xfrm>
              <a:off x="970" y="2908"/>
              <a:ext cx="4333" cy="1097"/>
            </a:xfrm>
            <a:prstGeom prst="wedgeRoundRectCallout">
              <a:avLst>
                <a:gd name="adj1" fmla="val -51523"/>
                <a:gd name="adj2" fmla="val -77440"/>
                <a:gd name="adj3" fmla="val 16667"/>
              </a:avLst>
            </a:prstGeom>
            <a:solidFill>
              <a:srgbClr val="E6E0EC"/>
            </a:solidFill>
            <a:ln w="9360">
              <a:solidFill>
                <a:srgbClr val="8064A2"/>
              </a:solidFill>
              <a:miter lim="800000"/>
              <a:headEnd/>
              <a:tailEnd/>
            </a:ln>
          </p:spPr>
          <p:txBody>
            <a:bodyPr lIns="90000" tIns="46800" rIns="90000" bIns="46800" anchorCtr="1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US" sz="2000" dirty="0">
                  <a:solidFill>
                    <a:srgbClr val="000000"/>
                  </a:solidFill>
                </a:rPr>
                <a:t>Exception </a:t>
              </a:r>
              <a:r>
                <a:rPr lang="en-US" sz="2000" dirty="0">
                  <a:sym typeface="Wingdings"/>
                </a:rPr>
                <a:t></a:t>
              </a:r>
              <a:r>
                <a:rPr lang="en-US" sz="2000" dirty="0" smtClean="0">
                  <a:solidFill>
                    <a:srgbClr val="000000"/>
                  </a:solidFill>
                </a:rPr>
                <a:t> </a:t>
              </a:r>
              <a:r>
                <a:rPr lang="en-US" sz="2000" dirty="0">
                  <a:solidFill>
                    <a:srgbClr val="000000"/>
                  </a:solidFill>
                </a:rPr>
                <a:t>Failure</a:t>
              </a:r>
            </a:p>
          </p:txBody>
        </p:sp>
        <p:grpSp>
          <p:nvGrpSpPr>
            <p:cNvPr id="105477" name="Group 5"/>
            <p:cNvGrpSpPr>
              <a:grpSpLocks/>
            </p:cNvGrpSpPr>
            <p:nvPr/>
          </p:nvGrpSpPr>
          <p:grpSpPr bwMode="auto">
            <a:xfrm>
              <a:off x="1158" y="3222"/>
              <a:ext cx="3857" cy="702"/>
              <a:chOff x="1158" y="3222"/>
              <a:chExt cx="3857" cy="702"/>
            </a:xfrm>
            <a:grpFill/>
          </p:grpSpPr>
          <p:pic>
            <p:nvPicPr>
              <p:cNvPr id="105478" name="Picture 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8" y="3222"/>
                <a:ext cx="3858" cy="70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sp>
            <p:nvSpPr>
              <p:cNvPr id="105479" name="Oval 7"/>
              <p:cNvSpPr>
                <a:spLocks noChangeArrowheads="1"/>
              </p:cNvSpPr>
              <p:nvPr/>
            </p:nvSpPr>
            <p:spPr bwMode="auto">
              <a:xfrm>
                <a:off x="4562" y="3227"/>
                <a:ext cx="302" cy="302"/>
              </a:xfrm>
              <a:prstGeom prst="ellipse">
                <a:avLst/>
              </a:prstGeom>
              <a:noFill/>
              <a:ln w="38160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610819" y="1283785"/>
            <a:ext cx="8202981" cy="2577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Symbol" pitchFamily="-110" charset="2"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-110" charset="-52"/>
            </a:endParaRPr>
          </a:p>
        </p:txBody>
      </p:sp>
      <p:sp>
        <p:nvSpPr>
          <p:cNvPr id="1095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>
                <a:latin typeface="Lucida Sans Unicode" charset="0"/>
                <a:ea typeface="ＭＳ Ｐゴシック" charset="0"/>
                <a:cs typeface="ＭＳ Ｐゴシック" charset="0"/>
              </a:rPr>
              <a:t>Unexpected exception test</a:t>
            </a:r>
            <a:endParaRPr lang="en-US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800600"/>
          </a:xfrm>
        </p:spPr>
        <p:txBody>
          <a:bodyPr>
            <a:normAutofit/>
          </a:bodyPr>
          <a:lstStyle/>
          <a:p>
            <a:pPr marL="0" indent="0" eaLnBrk="1" hangingPunct="1">
              <a:buFont typeface="Wingdings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public void </a:t>
            </a:r>
            <a:r>
              <a:rPr lang="en-US" sz="2400" b="1" dirty="0" err="1">
                <a:latin typeface="Courier New" charset="0"/>
                <a:ea typeface="ＭＳ Ｐゴシック" charset="0"/>
                <a:cs typeface="Courier New" charset="0"/>
              </a:rPr>
              <a:t>testSomething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()</a:t>
            </a:r>
          </a:p>
          <a:p>
            <a:pPr marL="0" indent="0" eaLnBrk="1" hangingPunct="1">
              <a:buFont typeface="Wingdings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	throws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PossibleException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{</a:t>
            </a:r>
          </a:p>
          <a:p>
            <a:pPr marL="0" indent="0" eaLnBrk="1" hangingPunct="1"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t-IT" sz="2000" b="1" dirty="0">
                <a:latin typeface="Courier New" charset="0"/>
                <a:ea typeface="ＭＳ Ｐゴシック" charset="0"/>
                <a:cs typeface="Courier New" charset="0"/>
              </a:rPr>
              <a:t>  // </a:t>
            </a:r>
            <a:r>
              <a:rPr lang="it-IT" sz="2000" i="1" dirty="0">
                <a:latin typeface="Lucida Sans Unicode" charset="0"/>
                <a:ea typeface="ＭＳ Ｐゴシック" charset="0"/>
                <a:cs typeface="Courier New" charset="0"/>
              </a:rPr>
              <a:t>e.g. </a:t>
            </a:r>
            <a:r>
              <a:rPr lang="it-IT" sz="2000" i="1" dirty="0" err="1">
                <a:latin typeface="Lucida Sans Unicode" charset="0"/>
                <a:ea typeface="ＭＳ Ｐゴシック" charset="0"/>
                <a:cs typeface="Courier New" charset="0"/>
              </a:rPr>
              <a:t>method</a:t>
            </a:r>
            <a:r>
              <a:rPr lang="it-IT" sz="2000" i="1" dirty="0">
                <a:latin typeface="Lucida Sans Unicode" charset="0"/>
                <a:ea typeface="ＭＳ Ｐゴシック" charset="0"/>
                <a:cs typeface="Courier New" charset="0"/>
              </a:rPr>
              <a:t> </a:t>
            </a:r>
            <a:r>
              <a:rPr lang="it-IT" sz="2000" i="1" dirty="0" err="1">
                <a:latin typeface="Lucida Sans Unicode" charset="0"/>
                <a:ea typeface="ＭＳ Ｐゴシック" charset="0"/>
                <a:cs typeface="Courier New" charset="0"/>
              </a:rPr>
              <a:t>invoked</a:t>
            </a:r>
            <a:r>
              <a:rPr lang="it-IT" sz="2000" i="1" dirty="0">
                <a:latin typeface="Lucida Sans Unicode" charset="0"/>
                <a:ea typeface="ＭＳ Ｐゴシック" charset="0"/>
                <a:cs typeface="Courier New" charset="0"/>
              </a:rPr>
              <a:t> with right </a:t>
            </a:r>
            <a:r>
              <a:rPr lang="it-IT" sz="2000" i="1" dirty="0" err="1">
                <a:latin typeface="Lucida Sans Unicode" charset="0"/>
                <a:ea typeface="ＭＳ Ｐゴシック" charset="0"/>
                <a:cs typeface="Courier New" charset="0"/>
              </a:rPr>
              <a:t>args</a:t>
            </a:r>
            <a:endParaRPr lang="it-IT" sz="2000" i="1" dirty="0">
              <a:latin typeface="Lucida Sans Unicode" charset="0"/>
              <a:ea typeface="ＭＳ Ｐゴシック" charset="0"/>
              <a:cs typeface="Courier New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 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obj.method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(“Right </a:t>
            </a:r>
            <a:r>
              <a:rPr lang="it-IT" sz="2400" b="1" dirty="0" err="1">
                <a:latin typeface="Courier New" charset="0"/>
                <a:ea typeface="ＭＳ Ｐゴシック" charset="0"/>
                <a:cs typeface="Courier New" charset="0"/>
              </a:rPr>
              <a:t>Argument</a:t>
            </a:r>
            <a:r>
              <a:rPr lang="it-IT" sz="2400" b="1" dirty="0">
                <a:latin typeface="Courier New" charset="0"/>
                <a:ea typeface="ＭＳ Ｐゴシック" charset="0"/>
                <a:cs typeface="Courier New" charset="0"/>
              </a:rPr>
              <a:t>");</a:t>
            </a:r>
          </a:p>
          <a:p>
            <a:pPr marL="0" indent="0" eaLnBrk="1" hangingPunct="1">
              <a:buFont typeface="Wingdings" charset="0"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Courier New" charset="0"/>
              </a:rPr>
              <a:t>}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998133" y="4343400"/>
            <a:ext cx="6629400" cy="2006600"/>
            <a:chOff x="1998133" y="4343400"/>
            <a:chExt cx="6629400" cy="2006600"/>
          </a:xfrm>
        </p:grpSpPr>
        <p:sp>
          <p:nvSpPr>
            <p:cNvPr id="3" name="Rounded Rectangular Callout 2"/>
            <p:cNvSpPr/>
            <p:nvPr/>
          </p:nvSpPr>
          <p:spPr bwMode="auto">
            <a:xfrm>
              <a:off x="1998133" y="4343400"/>
              <a:ext cx="6629400" cy="2006600"/>
            </a:xfrm>
            <a:prstGeom prst="wedgeRoundRectCallout">
              <a:avLst>
                <a:gd name="adj1" fmla="val -45908"/>
                <a:gd name="adj2" fmla="val -94092"/>
                <a:gd name="adj3" fmla="val 16667"/>
              </a:avLst>
            </a:prstGeom>
            <a:solidFill>
              <a:srgbClr val="E6E0EC"/>
            </a:solidFill>
            <a:ln w="9525" cap="flat" cmpd="sng" algn="ctr">
              <a:solidFill>
                <a:srgbClr val="8064A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rm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5000"/>
                <a:buFont typeface="Symbol" pitchFamily="-110" charset="2"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-110" charset="-52"/>
              </a:endParaRPr>
            </a:p>
          </p:txBody>
        </p:sp>
        <p:pic>
          <p:nvPicPr>
            <p:cNvPr id="109571" name="Group 3"/>
            <p:cNvPicPr>
              <a:picLocks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90" t="65890" r="9012" b="5082"/>
            <a:stretch/>
          </p:blipFill>
          <p:spPr bwMode="auto">
            <a:xfrm>
              <a:off x="2381250" y="4989969"/>
              <a:ext cx="5905500" cy="1169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4258235" y="4572000"/>
              <a:ext cx="2569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Exception </a:t>
              </a:r>
              <a:r>
                <a:rPr lang="en-US" sz="2000" dirty="0" smtClean="0">
                  <a:sym typeface="Wingdings"/>
                </a:rPr>
                <a:t></a:t>
              </a:r>
              <a:r>
                <a:rPr lang="en-US" sz="2000" dirty="0" smtClean="0"/>
                <a:t> Error</a:t>
              </a:r>
              <a:endParaRPr lang="en-US" sz="2000" dirty="0"/>
            </a:p>
          </p:txBody>
        </p:sp>
      </p:grp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Exceptions provide a mechanism to handle anomalies and errors</a:t>
            </a:r>
          </a:p>
          <a:p>
            <a:r>
              <a:rPr lang="en-US" dirty="0" smtClean="0"/>
              <a:t>Allow separating “nominal case” code from exceptional case code</a:t>
            </a:r>
          </a:p>
          <a:p>
            <a:r>
              <a:rPr lang="en-US" dirty="0" smtClean="0"/>
              <a:t>Decouple anomaly detection from anomaly handling</a:t>
            </a:r>
          </a:p>
          <a:p>
            <a:r>
              <a:rPr lang="en-US" dirty="0" smtClean="0"/>
              <a:t>They are used pervasively throughout the standard Java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BC8513-4DFC-A04A-AD6A-395CA0F385DF}" type="slidenum">
              <a:rPr lang="it-IT" smtClean="0"/>
              <a:pPr>
                <a:defRPr/>
              </a:pPr>
              <a:t>51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6058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Exceptions are classes extending the </a:t>
            </a:r>
            <a:r>
              <a:rPr lang="en-US" b="1" dirty="0" err="1" smtClean="0">
                <a:latin typeface="Courier New"/>
                <a:cs typeface="Courier New"/>
              </a:rPr>
              <a:t>Throwable</a:t>
            </a:r>
            <a:r>
              <a:rPr lang="en-US" dirty="0" smtClean="0"/>
              <a:t> base class</a:t>
            </a:r>
          </a:p>
          <a:p>
            <a:r>
              <a:rPr lang="en-US" dirty="0" smtClean="0"/>
              <a:t>Inheritance is used to classify exceptions</a:t>
            </a: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Error</a:t>
            </a:r>
            <a:r>
              <a:rPr lang="en-US" dirty="0" smtClean="0"/>
              <a:t> represent internal JVM errors</a:t>
            </a:r>
          </a:p>
          <a:p>
            <a:pPr lvl="1"/>
            <a:r>
              <a:rPr lang="en-US" b="1" dirty="0" err="1" smtClean="0">
                <a:latin typeface="Courier New"/>
                <a:cs typeface="Courier New"/>
              </a:rPr>
              <a:t>RuntimeException</a:t>
            </a:r>
            <a:r>
              <a:rPr lang="en-US" dirty="0" smtClean="0"/>
              <a:t> represent programming error detected by JVM</a:t>
            </a: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Exception</a:t>
            </a:r>
            <a:r>
              <a:rPr lang="en-US" dirty="0" smtClean="0"/>
              <a:t> represent the usual application-level 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BC8513-4DFC-A04A-AD6A-395CA0F385DF}" type="slidenum">
              <a:rPr lang="it-IT" smtClean="0"/>
              <a:pPr>
                <a:defRPr/>
              </a:pPr>
              <a:t>52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6053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Exception </a:t>
            </a:r>
            <a:r>
              <a:rPr lang="en-US" dirty="0" smtClean="0">
                <a:solidFill>
                  <a:srgbClr val="FF6600"/>
                </a:solidFill>
              </a:rPr>
              <a:t>must</a:t>
            </a:r>
            <a:r>
              <a:rPr lang="en-US" dirty="0" smtClean="0"/>
              <a:t> be checked by</a:t>
            </a:r>
          </a:p>
          <a:p>
            <a:pPr lvl="1"/>
            <a:r>
              <a:rPr lang="en-US" dirty="0" smtClean="0"/>
              <a:t>Catching them with </a:t>
            </a:r>
            <a:r>
              <a:rPr lang="en-US" b="1" dirty="0" smtClean="0">
                <a:latin typeface="Courier New"/>
                <a:cs typeface="Courier New"/>
              </a:rPr>
              <a:t>try{ }catch{ }</a:t>
            </a:r>
          </a:p>
          <a:p>
            <a:pPr lvl="1"/>
            <a:r>
              <a:rPr lang="en-US" dirty="0" smtClean="0"/>
              <a:t>Propagating with </a:t>
            </a:r>
            <a:r>
              <a:rPr lang="en-US" b="1" dirty="0" smtClean="0">
                <a:latin typeface="Courier New"/>
                <a:cs typeface="Courier New"/>
              </a:rPr>
              <a:t>throws</a:t>
            </a:r>
          </a:p>
          <a:p>
            <a:pPr lvl="1"/>
            <a:r>
              <a:rPr lang="en-US" dirty="0" smtClean="0"/>
              <a:t>Catching and re-throwing (propagating)</a:t>
            </a:r>
          </a:p>
          <a:p>
            <a:r>
              <a:rPr lang="en-US" dirty="0" smtClean="0"/>
              <a:t>Unchecked exception can avoid mandatory handling</a:t>
            </a:r>
          </a:p>
          <a:p>
            <a:pPr lvl="1"/>
            <a:r>
              <a:rPr lang="en-US" dirty="0" smtClean="0"/>
              <a:t>All exceptions extending </a:t>
            </a:r>
            <a:r>
              <a:rPr lang="en-US" b="1" dirty="0" smtClean="0">
                <a:latin typeface="Courier New"/>
                <a:cs typeface="Courier New"/>
              </a:rPr>
              <a:t>Error</a:t>
            </a:r>
            <a:r>
              <a:rPr lang="en-US" dirty="0" smtClean="0"/>
              <a:t> and </a:t>
            </a:r>
            <a:r>
              <a:rPr lang="en-US" b="1" dirty="0" err="1" smtClean="0">
                <a:latin typeface="Courier New"/>
                <a:cs typeface="Courier New"/>
              </a:rPr>
              <a:t>RuntimeException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BC8513-4DFC-A04A-AD6A-395CA0F385DF}" type="slidenum">
              <a:rPr lang="it-IT" smtClean="0"/>
              <a:pPr>
                <a:defRPr/>
              </a:pPr>
              <a:t>53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6992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softe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fteng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>
            <a:lumMod val="20000"/>
            <a:lumOff val="80000"/>
          </a:schemeClr>
        </a:solidFill>
        <a:ln w="9525" cap="flat" cmpd="sng" algn="ctr">
          <a:solidFill>
            <a:srgbClr val="E46C0A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rtlCol="0" anchor="t" anchorCtr="0" compatLnSpc="1">
        <a:prstTxWarp prst="textNoShape">
          <a:avLst/>
        </a:prstTxWarp>
        <a:norm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75000"/>
          <a:buFont typeface="Symbol" pitchFamily="-110" charset="2"/>
          <a:buNone/>
          <a:tabLst/>
          <a:defRPr kumimoji="0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 Unicode" pitchFamily="-110" charset="-5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75000"/>
          <a:buFont typeface="Symbol" pitchFamily="-110" charset="2"/>
          <a:buNone/>
          <a:tabLst/>
          <a:defRPr kumimoji="0" lang="it-IT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 Unicode" pitchFamily="-110" charset="-52"/>
          </a:defRPr>
        </a:defPPr>
      </a:lstStyle>
    </a:lnDef>
  </a:objectDefaults>
  <a:extraClrSchemeLst>
    <a:extraClrScheme>
      <a:clrScheme name="softe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e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e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e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e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e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e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Settings\paolo.SIMPSONS.002\Application Data\Microsoft\Templates\softeng.pot</Template>
  <TotalTime>46307467</TotalTime>
  <Pages>8</Pages>
  <Words>2894</Words>
  <Application>Microsoft Macintosh PowerPoint</Application>
  <PresentationFormat>On-screen Show (4:3)</PresentationFormat>
  <Paragraphs>610</Paragraphs>
  <Slides>53</Slides>
  <Notes>47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softeng</vt:lpstr>
      <vt:lpstr>Java Exceptions</vt:lpstr>
      <vt:lpstr>Licensing Note</vt:lpstr>
      <vt:lpstr>Motivation</vt:lpstr>
      <vt:lpstr>Errors without exceptions (I)</vt:lpstr>
      <vt:lpstr>Errors without exceptions (II)</vt:lpstr>
      <vt:lpstr>Real problems</vt:lpstr>
      <vt:lpstr>Example – Read file</vt:lpstr>
      <vt:lpstr>Special return code</vt:lpstr>
      <vt:lpstr>No error handling</vt:lpstr>
      <vt:lpstr>Using exceptions</vt:lpstr>
      <vt:lpstr>Basic concepts</vt:lpstr>
      <vt:lpstr>Syntax</vt:lpstr>
      <vt:lpstr>Generating Exceptions</vt:lpstr>
      <vt:lpstr>Generation</vt:lpstr>
      <vt:lpstr>throws</vt:lpstr>
      <vt:lpstr>throw</vt:lpstr>
      <vt:lpstr>Interception</vt:lpstr>
      <vt:lpstr>Execution flow</vt:lpstr>
      <vt:lpstr>Execution flow</vt:lpstr>
      <vt:lpstr>Execution flow</vt:lpstr>
      <vt:lpstr>Exception checking</vt:lpstr>
      <vt:lpstr>Checking: Catch</vt:lpstr>
      <vt:lpstr>Checking: Propagate</vt:lpstr>
      <vt:lpstr>Checking: Propagate (cont’d)</vt:lpstr>
      <vt:lpstr>Checking: Re-throw</vt:lpstr>
      <vt:lpstr>Exceptions hierarchy</vt:lpstr>
      <vt:lpstr>Checked and unchecked</vt:lpstr>
      <vt:lpstr>Main exception classes</vt:lpstr>
      <vt:lpstr>Application specific exceptions</vt:lpstr>
      <vt:lpstr>Application specific exceptions</vt:lpstr>
      <vt:lpstr>finally</vt:lpstr>
      <vt:lpstr>Exceptions and loops (I)</vt:lpstr>
      <vt:lpstr>Exceptions and loops (II)</vt:lpstr>
      <vt:lpstr>Multiple Catches</vt:lpstr>
      <vt:lpstr>Multiple catch</vt:lpstr>
      <vt:lpstr>Execution flow</vt:lpstr>
      <vt:lpstr>Execution flow</vt:lpstr>
      <vt:lpstr>Execution flow</vt:lpstr>
      <vt:lpstr>Matching rules</vt:lpstr>
      <vt:lpstr>Matching rules</vt:lpstr>
      <vt:lpstr>Matching rules</vt:lpstr>
      <vt:lpstr>Matching rules</vt:lpstr>
      <vt:lpstr>Matching rules</vt:lpstr>
      <vt:lpstr>Matching rules</vt:lpstr>
      <vt:lpstr>Nesting</vt:lpstr>
      <vt:lpstr>TESTING EXCEPTIONS</vt:lpstr>
      <vt:lpstr>Testing exceptions</vt:lpstr>
      <vt:lpstr>Expected exception test</vt:lpstr>
      <vt:lpstr>Unexpected exception test</vt:lpstr>
      <vt:lpstr>Unexpected exception test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 CGI</dc:title>
  <dc:subject/>
  <dc:creator>R. Sisto</dc:creator>
  <cp:keywords/>
  <dc:description/>
  <cp:lastModifiedBy>Marco Torchiano</cp:lastModifiedBy>
  <cp:revision>239</cp:revision>
  <cp:lastPrinted>2017-04-20T09:25:23Z</cp:lastPrinted>
  <dcterms:created xsi:type="dcterms:W3CDTF">2011-12-15T08:58:48Z</dcterms:created>
  <dcterms:modified xsi:type="dcterms:W3CDTF">2017-04-26T13:01:09Z</dcterms:modified>
</cp:coreProperties>
</file>