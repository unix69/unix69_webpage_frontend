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55"/>
  </p:notesMasterIdLst>
  <p:sldIdLst>
    <p:sldId id="256" r:id="rId3"/>
    <p:sldId id="392" r:id="rId4"/>
    <p:sldId id="380" r:id="rId5"/>
    <p:sldId id="257" r:id="rId6"/>
    <p:sldId id="258" r:id="rId7"/>
    <p:sldId id="259" r:id="rId8"/>
    <p:sldId id="385" r:id="rId9"/>
    <p:sldId id="260" r:id="rId10"/>
    <p:sldId id="261" r:id="rId11"/>
    <p:sldId id="263" r:id="rId12"/>
    <p:sldId id="264" r:id="rId13"/>
    <p:sldId id="265" r:id="rId14"/>
    <p:sldId id="266" r:id="rId15"/>
    <p:sldId id="268" r:id="rId16"/>
    <p:sldId id="369" r:id="rId17"/>
    <p:sldId id="270" r:id="rId18"/>
    <p:sldId id="271" r:id="rId19"/>
    <p:sldId id="272" r:id="rId20"/>
    <p:sldId id="273" r:id="rId21"/>
    <p:sldId id="409" r:id="rId22"/>
    <p:sldId id="275" r:id="rId23"/>
    <p:sldId id="276" r:id="rId24"/>
    <p:sldId id="277" r:id="rId25"/>
    <p:sldId id="417" r:id="rId26"/>
    <p:sldId id="278" r:id="rId27"/>
    <p:sldId id="279" r:id="rId28"/>
    <p:sldId id="280" r:id="rId29"/>
    <p:sldId id="418" r:id="rId30"/>
    <p:sldId id="419" r:id="rId31"/>
    <p:sldId id="420" r:id="rId32"/>
    <p:sldId id="421" r:id="rId33"/>
    <p:sldId id="422" r:id="rId34"/>
    <p:sldId id="423" r:id="rId35"/>
    <p:sldId id="282" r:id="rId36"/>
    <p:sldId id="283" r:id="rId37"/>
    <p:sldId id="284" r:id="rId38"/>
    <p:sldId id="285" r:id="rId39"/>
    <p:sldId id="373" r:id="rId40"/>
    <p:sldId id="286" r:id="rId41"/>
    <p:sldId id="287" r:id="rId42"/>
    <p:sldId id="374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404" r:id="rId51"/>
    <p:sldId id="295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98" r:id="rId67"/>
    <p:sldId id="334" r:id="rId68"/>
    <p:sldId id="335" r:id="rId69"/>
    <p:sldId id="336" r:id="rId70"/>
    <p:sldId id="337" r:id="rId71"/>
    <p:sldId id="338" r:id="rId72"/>
    <p:sldId id="339" r:id="rId73"/>
    <p:sldId id="375" r:id="rId74"/>
    <p:sldId id="340" r:id="rId75"/>
    <p:sldId id="341" r:id="rId76"/>
    <p:sldId id="342" r:id="rId77"/>
    <p:sldId id="343" r:id="rId78"/>
    <p:sldId id="344" r:id="rId79"/>
    <p:sldId id="345" r:id="rId80"/>
    <p:sldId id="296" r:id="rId81"/>
    <p:sldId id="297" r:id="rId82"/>
    <p:sldId id="298" r:id="rId83"/>
    <p:sldId id="299" r:id="rId84"/>
    <p:sldId id="300" r:id="rId85"/>
    <p:sldId id="301" r:id="rId86"/>
    <p:sldId id="372" r:id="rId87"/>
    <p:sldId id="302" r:id="rId88"/>
    <p:sldId id="410" r:id="rId89"/>
    <p:sldId id="411" r:id="rId90"/>
    <p:sldId id="412" r:id="rId91"/>
    <p:sldId id="414" r:id="rId92"/>
    <p:sldId id="415" r:id="rId93"/>
    <p:sldId id="349" r:id="rId94"/>
    <p:sldId id="350" r:id="rId95"/>
    <p:sldId id="351" r:id="rId96"/>
    <p:sldId id="371" r:id="rId97"/>
    <p:sldId id="353" r:id="rId98"/>
    <p:sldId id="426" r:id="rId99"/>
    <p:sldId id="354" r:id="rId100"/>
    <p:sldId id="303" r:id="rId101"/>
    <p:sldId id="318" r:id="rId102"/>
    <p:sldId id="319" r:id="rId103"/>
    <p:sldId id="320" r:id="rId104"/>
    <p:sldId id="321" r:id="rId105"/>
    <p:sldId id="322" r:id="rId106"/>
    <p:sldId id="323" r:id="rId107"/>
    <p:sldId id="324" r:id="rId108"/>
    <p:sldId id="325" r:id="rId109"/>
    <p:sldId id="326" r:id="rId110"/>
    <p:sldId id="370" r:id="rId111"/>
    <p:sldId id="327" r:id="rId112"/>
    <p:sldId id="328" r:id="rId113"/>
    <p:sldId id="329" r:id="rId114"/>
    <p:sldId id="330" r:id="rId115"/>
    <p:sldId id="331" r:id="rId116"/>
    <p:sldId id="355" r:id="rId117"/>
    <p:sldId id="356" r:id="rId118"/>
    <p:sldId id="346" r:id="rId119"/>
    <p:sldId id="347" r:id="rId120"/>
    <p:sldId id="348" r:id="rId121"/>
    <p:sldId id="376" r:id="rId122"/>
    <p:sldId id="399" r:id="rId123"/>
    <p:sldId id="387" r:id="rId124"/>
    <p:sldId id="408" r:id="rId125"/>
    <p:sldId id="262" r:id="rId126"/>
    <p:sldId id="397" r:id="rId127"/>
    <p:sldId id="401" r:id="rId128"/>
    <p:sldId id="400" r:id="rId129"/>
    <p:sldId id="402" r:id="rId130"/>
    <p:sldId id="403" r:id="rId131"/>
    <p:sldId id="367" r:id="rId132"/>
    <p:sldId id="407" r:id="rId133"/>
    <p:sldId id="357" r:id="rId134"/>
    <p:sldId id="358" r:id="rId135"/>
    <p:sldId id="377" r:id="rId136"/>
    <p:sldId id="378" r:id="rId137"/>
    <p:sldId id="360" r:id="rId138"/>
    <p:sldId id="406" r:id="rId139"/>
    <p:sldId id="366" r:id="rId140"/>
    <p:sldId id="365" r:id="rId141"/>
    <p:sldId id="386" r:id="rId142"/>
    <p:sldId id="393" r:id="rId143"/>
    <p:sldId id="405" r:id="rId144"/>
    <p:sldId id="388" r:id="rId145"/>
    <p:sldId id="424" r:id="rId146"/>
    <p:sldId id="425" r:id="rId147"/>
    <p:sldId id="389" r:id="rId148"/>
    <p:sldId id="396" r:id="rId149"/>
    <p:sldId id="395" r:id="rId150"/>
    <p:sldId id="390" r:id="rId151"/>
    <p:sldId id="394" r:id="rId152"/>
    <p:sldId id="391" r:id="rId153"/>
    <p:sldId id="381" r:id="rId154"/>
  </p:sldIdLst>
  <p:sldSz cx="9144000" cy="6858000" type="screen4x3"/>
  <p:notesSz cx="7315200" cy="9601200"/>
  <p:defaultTextStyle>
    <a:defPPr>
      <a:defRPr lang="en-GB"/>
    </a:defPPr>
    <a:lvl1pPr algn="l" defTabSz="457200" rtl="0" eaLnBrk="0" fontAlgn="base" hangingPunct="0">
      <a:lnSpc>
        <a:spcPct val="6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lnSpc>
        <a:spcPct val="6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defTabSz="457200" rtl="0" eaLnBrk="0" fontAlgn="base" hangingPunct="0">
      <a:lnSpc>
        <a:spcPct val="6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defTabSz="457200" rtl="0" eaLnBrk="0" fontAlgn="base" hangingPunct="0">
      <a:lnSpc>
        <a:spcPct val="6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defTabSz="457200" rtl="0" eaLnBrk="0" fontAlgn="base" hangingPunct="0">
      <a:lnSpc>
        <a:spcPct val="6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08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4" y="-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9" d="100"/>
        <a:sy n="89" d="100"/>
      </p:scale>
      <p:origin x="0" y="24595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slide" Target="slides/slide152.xml"/><Relationship Id="rId159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53" Type="http://schemas.openxmlformats.org/officeDocument/2006/relationships/slide" Target="slides/slide1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51" Type="http://schemas.openxmlformats.org/officeDocument/2006/relationships/slide" Target="slides/slide149.xml"/><Relationship Id="rId15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3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4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6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7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8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69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70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71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3170238" y="9124950"/>
            <a:ext cx="860425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3520" tIns="42480" rIns="83520" bIns="42480">
            <a:spAutoFit/>
          </a:bodyPr>
          <a:lstStyle/>
          <a:p>
            <a:pPr algn="ctr">
              <a:lnSpc>
                <a:spcPct val="9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100">
                <a:solidFill>
                  <a:srgbClr val="000000"/>
                </a:solidFill>
                <a:latin typeface="Arial" charset="0"/>
              </a:rPr>
              <a:t>Pag. </a:t>
            </a:r>
            <a:fld id="{14F9A1CA-FC7A-DC42-A52B-DBE9626F56B2}" type="slidenum">
              <a:rPr lang="en-GB" sz="1100">
                <a:solidFill>
                  <a:srgbClr val="000000"/>
                </a:solidFill>
                <a:latin typeface="Arial" charset="0"/>
              </a:rPr>
              <a:pPr algn="ctr">
                <a:lnSpc>
                  <a:spcPct val="9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GB" sz="11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373" name="Rectangle 1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3988" y="846138"/>
            <a:ext cx="4451350" cy="33496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85" name="Rectangle 13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4063"/>
            <a:ext cx="5349875" cy="40433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6760" tIns="42480" rIns="86760" bIns="4248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095072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ＭＳ Ｐゴシック" charset="-128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0" tIns="45710" rIns="91420" bIns="45710"/>
          <a:lstStyle>
            <a:lvl1pPr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020F7A-D1D9-6744-B3BA-694639E1A141}" type="slidenum">
              <a:rPr lang="en-GB" sz="1200">
                <a:solidFill>
                  <a:srgbClr val="000000"/>
                </a:solidFill>
              </a:rPr>
              <a:pPr/>
              <a:t>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982663" y="720725"/>
            <a:ext cx="5349875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20" tIns="45710" rIns="91420" bIns="45710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 sz="2500"/>
          </a:p>
        </p:txBody>
      </p:sp>
      <p:sp>
        <p:nvSpPr>
          <p:cNvPr id="273412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62475"/>
            <a:ext cx="5845175" cy="4406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FFCAA0-E6ED-BB4F-A65D-52F67C20359D}" type="slidenum">
              <a:rPr lang="en-GB" sz="1300">
                <a:solidFill>
                  <a:srgbClr val="000000"/>
                </a:solidFill>
              </a:rPr>
              <a:pPr eaLnBrk="1" hangingPunct="1"/>
              <a:t>3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562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274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Or at least they should.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43010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351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Da rivedere l’esempio….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454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474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495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515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597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638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679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699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720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740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1761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802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822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843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863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08547" name="Text Box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65750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imes New Roman" charset="0"/>
                <a:ea typeface="ＭＳ Ｐゴシック" charset="0"/>
                <a:cs typeface="Lucida Sans Unicode" charset="0"/>
              </a:rPr>
              <a:t>Operator + can be a problem for performance…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124930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90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925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945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1986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068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088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09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29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50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70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191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2462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11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2462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32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52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733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93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231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385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81036" indent="-37523242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794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5589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338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3117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 eaLnBrk="1" hangingPunct="1"/>
            <a:fld id="{D2C30F27-0C46-4B42-A538-7927DC87A066}" type="slidenum">
              <a:rPr lang="en-GB" sz="1300">
                <a:solidFill>
                  <a:srgbClr val="000000"/>
                </a:solidFill>
              </a:rPr>
              <a:pPr eaLnBrk="1" hangingPunct="1"/>
              <a:t>128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33123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33124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74619" y="4559816"/>
            <a:ext cx="5364374" cy="4321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81036" indent="-37523242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794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5589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338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3117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 eaLnBrk="1" hangingPunct="1"/>
            <a:fld id="{38FA390C-92F9-BA43-A3EC-1C21ACF6292F}" type="slidenum">
              <a:rPr lang="en-GB" sz="1300">
                <a:solidFill>
                  <a:srgbClr val="000000"/>
                </a:solidFill>
              </a:rPr>
              <a:pPr eaLnBrk="1" hangingPunct="1"/>
              <a:t>129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35171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35172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74619" y="4559816"/>
            <a:ext cx="5364374" cy="4321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56112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334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17638" y="846138"/>
            <a:ext cx="4464050" cy="3349625"/>
          </a:xfrm>
          <a:ln/>
        </p:spPr>
      </p:sp>
      <p:sp>
        <p:nvSpPr>
          <p:cNvPr id="2355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406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426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8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20DB2AC-348E-7142-AA31-BEB9188156A3}" type="slidenum">
              <a:rPr lang="en-GB"/>
              <a:pPr/>
              <a:t>134</a:t>
            </a:fld>
            <a:endParaRPr lang="en-GB"/>
          </a:p>
        </p:txBody>
      </p:sp>
      <p:sp>
        <p:nvSpPr>
          <p:cNvPr id="244739" name="Text Box 1"/>
          <p:cNvSpPr txBox="1">
            <a:spLocks noChangeArrowheads="1"/>
          </p:cNvSpPr>
          <p:nvPr/>
        </p:nvSpPr>
        <p:spPr bwMode="auto">
          <a:xfrm>
            <a:off x="1255713" y="720725"/>
            <a:ext cx="4802187" cy="35988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559" tIns="45779" rIns="91559" bIns="45779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244740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835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8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2B453A-B0F7-2641-97BB-72F4C33E9068}" type="slidenum">
              <a:rPr lang="en-GB"/>
              <a:pPr/>
              <a:t>135</a:t>
            </a:fld>
            <a:endParaRPr lang="en-GB"/>
          </a:p>
        </p:txBody>
      </p:sp>
      <p:sp>
        <p:nvSpPr>
          <p:cNvPr id="246787" name="Text Box 1025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7425" cy="3597275"/>
          </a:xfrm>
          <a:solidFill>
            <a:srgbClr val="FFFFFF"/>
          </a:solidFill>
          <a:ln/>
        </p:spPr>
      </p:sp>
      <p:sp>
        <p:nvSpPr>
          <p:cNvPr id="246788" name="Text Box 1026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8350" cy="4230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488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570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590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1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89E751A-324B-0B40-B5DB-65C5ED359F4F}" type="slidenum">
              <a:rPr lang="en-GB" sz="1300">
                <a:solidFill>
                  <a:srgbClr val="000000"/>
                </a:solidFill>
              </a:rPr>
              <a:pPr eaLnBrk="1" hangingPunct="1"/>
              <a:t>152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268291" name="Text Box 1"/>
          <p:cNvSpPr txBox="1">
            <a:spLocks noChangeArrowheads="1"/>
          </p:cNvSpPr>
          <p:nvPr/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268292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0888"/>
            <a:ext cx="53562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5B592-EB43-514B-9324-B005CB2F3B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58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6033F-2CB3-E847-9DEB-ED138AC8BC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06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B6D3C-10D2-104A-A2CD-D18FB315D5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94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992563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30763" y="1295400"/>
            <a:ext cx="3992562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F0C5B-1CC4-1C4C-809C-CEF7FDE020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55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FFAD9-E2B7-CB44-AB3D-4D3C8270D1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06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AD79B-AAD6-C641-9F36-8FDDAE8241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82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C2D76-74AB-014E-8F20-66E45E3005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4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8BBC8-2FB8-3B45-986E-8C0E4EA581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74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A12A6-484F-0D46-9564-551B995A1B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61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A1743-E558-C442-A4F3-66EB75C98F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75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905625" y="-563563"/>
            <a:ext cx="2224088" cy="6583363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228600" y="-563563"/>
            <a:ext cx="6524625" cy="6583363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6B85C-4D39-8A48-9BB7-098D76AB84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810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-563563"/>
            <a:ext cx="8901113" cy="1538288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685800" y="1295400"/>
            <a:ext cx="8137525" cy="4724400"/>
          </a:xfrm>
        </p:spPr>
        <p:txBody>
          <a:bodyPr>
            <a:normAutofit/>
          </a:bodyPr>
          <a:lstStyle/>
          <a:p>
            <a:pPr lvl="0"/>
            <a:endParaRPr lang="it-IT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44EDE-49C3-D34A-BDC3-DC5DF400FC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734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63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6443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90712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3657600"/>
            <a:ext cx="4030663" cy="442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0263" y="3657600"/>
            <a:ext cx="4030662" cy="442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310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9324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9268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185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255704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9215510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1949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18288" y="685800"/>
            <a:ext cx="2052637" cy="7396163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08688" cy="7396163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3260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56525" cy="26638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744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-563563"/>
            <a:ext cx="8901113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81375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530975"/>
            <a:ext cx="2879725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Font typeface="Lucida Sans Unicode" pitchFamily="-1" charset="0"/>
              <a:buNone/>
              <a:defRPr sz="1200">
                <a:solidFill>
                  <a:srgbClr val="000000"/>
                </a:solidFill>
                <a:latin typeface="Lucida Sans Unicode" pitchFamily="-1" charset="0"/>
                <a:ea typeface="Lucida Sans Unicode" pitchFamily="-1" charset="0"/>
                <a:cs typeface="Lucida Sans Unicode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62800" y="6530975"/>
            <a:ext cx="1889125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Font typeface="Lucida Sans Unicode" charset="0"/>
              <a:buNone/>
              <a:defRPr sz="1200">
                <a:solidFill>
                  <a:srgbClr val="000000"/>
                </a:solidFill>
                <a:latin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fld id="{F038879D-181A-9040-88A0-87252096F8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 flipH="1">
            <a:off x="288925" y="990600"/>
            <a:ext cx="8870950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 flipH="1">
            <a:off x="669925" y="6477000"/>
            <a:ext cx="8489950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521450"/>
            <a:ext cx="1511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2pPr>
      <a:lvl3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3pPr>
      <a:lvl4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4pPr>
      <a:lvl5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5pPr>
      <a:lvl6pPr marL="4572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6pPr>
      <a:lvl7pPr marL="9144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7pPr>
      <a:lvl8pPr marL="13716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8pPr>
      <a:lvl9pPr marL="18288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9pPr>
    </p:titleStyle>
    <p:bodyStyle>
      <a:lvl1pPr marL="327025" indent="-327025" algn="l" defTabSz="457200" rtl="0" eaLnBrk="0" fontAlgn="base" hangingPunct="0">
        <a:lnSpc>
          <a:spcPct val="10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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27075" indent="-269875" algn="l" defTabSz="457200" rtl="0" eaLnBrk="0" fontAlgn="base" hangingPunct="0">
        <a:lnSpc>
          <a:spcPct val="103000"/>
        </a:lnSpc>
        <a:spcBef>
          <a:spcPts val="700"/>
        </a:spcBef>
        <a:spcAft>
          <a:spcPct val="0"/>
        </a:spcAft>
        <a:buClr>
          <a:srgbClr val="000000"/>
        </a:buClr>
        <a:buSzPct val="80000"/>
        <a:buFont typeface="Symbol" charset="0"/>
        <a:buChar char=""/>
        <a:defRPr sz="2800">
          <a:solidFill>
            <a:srgbClr val="000000"/>
          </a:solidFill>
          <a:latin typeface="+mn-lt"/>
          <a:ea typeface="Lucida Sans Unicode" charset="-52"/>
          <a:cs typeface="+mn-cs"/>
        </a:defRPr>
      </a:lvl2pPr>
      <a:lvl3pPr marL="1143000" indent="-228600" algn="l" defTabSz="457200" rtl="0" eaLnBrk="0" fontAlgn="base" hangingPunct="0">
        <a:lnSpc>
          <a:spcPct val="10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400">
          <a:solidFill>
            <a:srgbClr val="000000"/>
          </a:solidFill>
          <a:latin typeface="+mn-lt"/>
          <a:ea typeface="Lucida Sans Unicode" charset="-52"/>
          <a:cs typeface="+mn-cs"/>
        </a:defRPr>
      </a:lvl3pPr>
      <a:lvl4pPr marL="16002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4pPr>
      <a:lvl5pPr marL="20574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5pPr>
      <a:lvl6pPr marL="25146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565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5715000"/>
            <a:ext cx="8699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685800" y="3429000"/>
            <a:ext cx="7772400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3573463"/>
            <a:ext cx="8074025" cy="19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4342" name="Picture 6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5876925"/>
            <a:ext cx="31067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2pPr>
      <a:lvl3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3pPr>
      <a:lvl4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4pPr>
      <a:lvl5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2" charset="0"/>
          <a:ea typeface="ＭＳ Ｐゴシック" charset="0"/>
          <a:cs typeface="Lucida Sans Unicode" pitchFamily="32" charset="0"/>
        </a:defRPr>
      </a:lvl5pPr>
      <a:lvl6pPr marL="4572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6pPr>
      <a:lvl7pPr marL="9144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7pPr>
      <a:lvl8pPr marL="13716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8pPr>
      <a:lvl9pPr marL="18288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2" charset="0"/>
        <a:defRPr sz="4400">
          <a:solidFill>
            <a:srgbClr val="000000"/>
          </a:solidFill>
          <a:latin typeface="Lucida Sans Unicode" pitchFamily="32" charset="0"/>
          <a:cs typeface="Lucida Sans Unicode" pitchFamily="32" charset="0"/>
        </a:defRPr>
      </a:lvl9pPr>
    </p:titleStyle>
    <p:bodyStyle>
      <a:lvl1pPr marL="327025" indent="-327025" algn="l" defTabSz="457200" rtl="0" eaLnBrk="0" fontAlgn="base" hangingPunct="0">
        <a:lnSpc>
          <a:spcPct val="10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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27075" indent="-269875" algn="l" defTabSz="457200" rtl="0" eaLnBrk="0" fontAlgn="base" hangingPunct="0">
        <a:lnSpc>
          <a:spcPct val="103000"/>
        </a:lnSpc>
        <a:spcBef>
          <a:spcPts val="700"/>
        </a:spcBef>
        <a:spcAft>
          <a:spcPct val="0"/>
        </a:spcAft>
        <a:buClr>
          <a:srgbClr val="000000"/>
        </a:buClr>
        <a:buSzPct val="80000"/>
        <a:buFont typeface="Symbol" charset="0"/>
        <a:buChar char=""/>
        <a:defRPr sz="2800">
          <a:solidFill>
            <a:srgbClr val="000000"/>
          </a:solidFill>
          <a:latin typeface="+mn-lt"/>
          <a:ea typeface="Lucida Sans Unicode" charset="-52"/>
          <a:cs typeface="+mn-cs"/>
        </a:defRPr>
      </a:lvl2pPr>
      <a:lvl3pPr marL="1143000" indent="-228600" algn="l" defTabSz="457200" rtl="0" eaLnBrk="0" fontAlgn="base" hangingPunct="0">
        <a:lnSpc>
          <a:spcPct val="10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400">
          <a:solidFill>
            <a:srgbClr val="000000"/>
          </a:solidFill>
          <a:latin typeface="+mn-lt"/>
          <a:ea typeface="Lucida Sans Unicode" charset="-52"/>
          <a:cs typeface="+mn-cs"/>
        </a:defRPr>
      </a:lvl3pPr>
      <a:lvl4pPr marL="16002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4pPr>
      <a:lvl5pPr marL="20574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charset="0"/>
        <a:buChar char="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5pPr>
      <a:lvl6pPr marL="25146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Symbol" pitchFamily="16" charset="2"/>
        <a:buChar char="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softeng.polito.it/courses/09CB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nd/4.0/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nicode.org/versions/latest/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2667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Java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Basic Features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2057400" y="4102100"/>
            <a:ext cx="6400800" cy="1997075"/>
          </a:xfrm>
        </p:spPr>
        <p:txBody>
          <a:bodyPr anchor="ctr"/>
          <a:lstStyle/>
          <a:p>
            <a:pPr marL="0" indent="0" algn="r" eaLnBrk="1" hangingPunct="1">
              <a:buNone/>
            </a:pPr>
            <a:r>
              <a:rPr lang="it-IT" dirty="0">
                <a:latin typeface="Lucida Sans Unicode" charset="0"/>
              </a:rPr>
              <a:t>Object </a:t>
            </a:r>
            <a:r>
              <a:rPr lang="it-IT" dirty="0" err="1">
                <a:latin typeface="Lucida Sans Unicode" charset="0"/>
              </a:rPr>
              <a:t>Oriented</a:t>
            </a:r>
            <a:r>
              <a:rPr lang="it-IT" dirty="0">
                <a:latin typeface="Lucida Sans Unicode" charset="0"/>
              </a:rPr>
              <a:t> Programming</a:t>
            </a:r>
          </a:p>
          <a:p>
            <a:pPr marL="0" indent="0" algn="r" eaLnBrk="1" hangingPunct="1">
              <a:buNone/>
            </a:pPr>
            <a:endParaRPr lang="it-IT" dirty="0">
              <a:latin typeface="Lucida Sans Unicode" charset="0"/>
            </a:endParaRPr>
          </a:p>
          <a:p>
            <a:pPr marL="0" indent="0" algn="r" eaLnBrk="1" hangingPunct="1">
              <a:buNone/>
            </a:pPr>
            <a:r>
              <a:rPr lang="it-IT" sz="2000" b="1" dirty="0">
                <a:solidFill>
                  <a:schemeClr val="tx1"/>
                </a:solidFill>
                <a:latin typeface="Courier New"/>
                <a:cs typeface="Courier New"/>
              </a:rPr>
              <a:t>http://</a:t>
            </a:r>
            <a:r>
              <a:rPr lang="it-IT" sz="2000" b="1" dirty="0" err="1">
                <a:solidFill>
                  <a:schemeClr val="tx1"/>
                </a:solidFill>
                <a:latin typeface="Courier New"/>
                <a:cs typeface="Courier New"/>
              </a:rPr>
              <a:t>softeng.polito.it</a:t>
            </a:r>
            <a:r>
              <a:rPr lang="it-IT" sz="2000" b="1" dirty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lang="it-IT" sz="2000" b="1" dirty="0" err="1">
                <a:solidFill>
                  <a:schemeClr val="tx1"/>
                </a:solidFill>
                <a:latin typeface="Courier New"/>
                <a:cs typeface="Courier New"/>
              </a:rPr>
              <a:t>courses</a:t>
            </a:r>
            <a:r>
              <a:rPr lang="it-IT" sz="2000" b="1" dirty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09CBI  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5580112" y="5805264"/>
            <a:ext cx="290166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100000"/>
              </a:lnSpc>
            </a:pPr>
            <a:r>
              <a:rPr lang="en-GB" sz="1000" dirty="0" smtClean="0">
                <a:solidFill>
                  <a:srgbClr val="000000"/>
                </a:solidFill>
                <a:latin typeface="Lucida Sans Unicode" charset="0"/>
              </a:rPr>
              <a:t>Version 1.5.0</a:t>
            </a:r>
          </a:p>
          <a:p>
            <a:pPr eaLnBrk="1" hangingPunct="1">
              <a:lnSpc>
                <a:spcPct val="100000"/>
              </a:lnSpc>
            </a:pPr>
            <a:r>
              <a:rPr lang="en-GB" sz="1000" dirty="0" smtClean="0">
                <a:solidFill>
                  <a:srgbClr val="000000"/>
                </a:solidFill>
                <a:latin typeface="Lucida Sans Unicode" charset="0"/>
              </a:rPr>
              <a:t>© </a:t>
            </a:r>
            <a:r>
              <a:rPr lang="en-GB" sz="1000" dirty="0">
                <a:solidFill>
                  <a:srgbClr val="000000"/>
                </a:solidFill>
                <a:latin typeface="Lucida Sans Unicode" charset="0"/>
              </a:rPr>
              <a:t>Maurizio </a:t>
            </a:r>
            <a:r>
              <a:rPr lang="en-GB" sz="1000" dirty="0" err="1">
                <a:solidFill>
                  <a:srgbClr val="000000"/>
                </a:solidFill>
                <a:latin typeface="Lucida Sans Unicode" charset="0"/>
              </a:rPr>
              <a:t>Morisio</a:t>
            </a:r>
            <a:r>
              <a:rPr lang="en-GB" sz="1000" dirty="0">
                <a:solidFill>
                  <a:srgbClr val="000000"/>
                </a:solidFill>
                <a:latin typeface="Lucida Sans Unicode" charset="0"/>
              </a:rPr>
              <a:t>, Marco Torchiano</a:t>
            </a:r>
            <a:r>
              <a:rPr lang="en-GB" sz="1000">
                <a:solidFill>
                  <a:srgbClr val="000000"/>
                </a:solidFill>
                <a:latin typeface="Lucida Sans Unicode" charset="0"/>
              </a:rPr>
              <a:t>, </a:t>
            </a:r>
            <a:r>
              <a:rPr lang="en-GB" sz="1000" smtClean="0">
                <a:solidFill>
                  <a:srgbClr val="000000"/>
                </a:solidFill>
                <a:latin typeface="Lucida Sans Unicode" charset="0"/>
              </a:rPr>
              <a:t>2018</a:t>
            </a:r>
            <a:endParaRPr lang="en-GB" sz="1000" dirty="0">
              <a:solidFill>
                <a:srgbClr val="000000"/>
              </a:solidFill>
              <a:latin typeface="Lucida Sans Unicode" charset="0"/>
            </a:endParaRP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310313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630872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90" name="Picture 7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6308725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6391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97613"/>
            <a:ext cx="10541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" name="Rounded Rectangle 9">
            <a:hlinkClick r:id="rId7"/>
          </p:cNvPr>
          <p:cNvSpPr/>
          <p:nvPr/>
        </p:nvSpPr>
        <p:spPr bwMode="auto">
          <a:xfrm>
            <a:off x="2627784" y="5301208"/>
            <a:ext cx="5904656" cy="288032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543800" y="6553200"/>
            <a:ext cx="13652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D11AE6E-B0C7-244A-9485-90198FEC357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69314" name="Rectangle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ＭＳ Ｐゴシック" charset="0"/>
              </a:rPr>
              <a:t>Licensing Note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052513"/>
            <a:ext cx="8229600" cy="5805487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This work is licensed under the Creative Commons Attribution-</a:t>
            </a:r>
            <a:r>
              <a:rPr lang="en-GB" sz="1800" b="1" dirty="0" err="1"/>
              <a:t>NonCommercial</a:t>
            </a:r>
            <a:r>
              <a:rPr lang="en-GB" sz="1800" b="1" dirty="0"/>
              <a:t>-</a:t>
            </a:r>
            <a:r>
              <a:rPr lang="en-GB" sz="1800" b="1" dirty="0" err="1"/>
              <a:t>NoDerivatives</a:t>
            </a:r>
            <a:r>
              <a:rPr lang="en-GB" sz="1800" b="1" dirty="0"/>
              <a:t> 4.0 International License. </a:t>
            </a:r>
            <a:endParaRPr lang="en-GB" sz="1800" b="1" dirty="0" smtClean="0"/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To </a:t>
            </a:r>
            <a:r>
              <a:rPr lang="en-GB" sz="1800" b="1" dirty="0"/>
              <a:t>view a copy of this license, visit </a:t>
            </a:r>
            <a:r>
              <a:rPr lang="en-GB" sz="1800" b="1" dirty="0">
                <a:hlinkClick r:id="rId3"/>
              </a:rPr>
              <a:t>http://creativecommons.org/licenses/by-nc-nd/4.0/</a:t>
            </a:r>
            <a:r>
              <a:rPr lang="en-GB" sz="1800" b="1" dirty="0" smtClean="0"/>
              <a:t>.</a:t>
            </a:r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You </a:t>
            </a:r>
            <a:r>
              <a:rPr lang="en-GB" sz="1800" b="1" dirty="0"/>
              <a:t>are free:</a:t>
            </a:r>
            <a:r>
              <a:rPr lang="en-GB" sz="1800" dirty="0"/>
              <a:t>  to copy, distribute, display, and perform the work </a:t>
            </a:r>
          </a:p>
          <a:p>
            <a:pPr marL="295174" indent="-29517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Under the following conditions: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Attribution</a:t>
            </a:r>
            <a:r>
              <a:rPr lang="en-GB" sz="1800" dirty="0"/>
              <a:t>. You must attribute the work in the manner specified by the author or licensor.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Non-commercial</a:t>
            </a:r>
            <a:r>
              <a:rPr lang="en-GB" sz="1800" dirty="0"/>
              <a:t>. You may not use this work for commercial purposes.  </a:t>
            </a:r>
          </a:p>
          <a:p>
            <a:pPr marL="1451391" lvl="3" indent="-207341" defTabSz="414683" eaLnBrk="1" hangingPunct="1">
              <a:lnSpc>
                <a:spcPct val="80000"/>
              </a:lnSpc>
              <a:spcBef>
                <a:spcPts val="300"/>
              </a:spcBef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No Derivative Works</a:t>
            </a:r>
            <a:r>
              <a:rPr lang="en-GB" sz="1800" dirty="0"/>
              <a:t>. You may not alter, transform, or build upon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For any reuse or distribution, you must make clear to others the license terms of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Any of these conditions can be waived if you get permission from the copyright holder.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Your fair use and other rights are in no way affected by the above.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4975" y="2925763"/>
            <a:ext cx="43180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20" tIns="45711" rIns="91420" bIns="45711" anchor="ctr"/>
          <a:lstStyle/>
          <a:p>
            <a:endParaRPr lang="en-US"/>
          </a:p>
        </p:txBody>
      </p:sp>
      <p:pic>
        <p:nvPicPr>
          <p:cNvPr id="269317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591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8" name="Pictur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24175"/>
            <a:ext cx="5048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9" name="Picture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644900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20" name="Picture 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36562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Learning objectives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Learn the syntax of the Java language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Understand the primitive types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Understand how classes are defined and objects used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Understand how modularization and scoping work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Understand how arrays work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Learn about wrapper types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18435" name="Segnaposto numero diapositiva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DB1C743-5904-8F4B-9AA1-7DE6DA948EE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B98CDD8-929E-9C44-9821-BECE6DB2E87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Comments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C-style comments (multi-lines)‏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/* this comment is so long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  that it needs two lines */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Comments on a single line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// comment on one line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97DAF49-9409-C644-87BB-4AAE5E8A216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25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Code blocks and Scope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73100" y="1263650"/>
            <a:ext cx="8047038" cy="468471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>
                <a:latin typeface="Lucida Sans Unicode" charset="0"/>
                <a:cs typeface="Lucida Sans Unicode" charset="0"/>
              </a:rPr>
              <a:t>Java code blocks are the same as in </a:t>
            </a:r>
            <a:r>
              <a:rPr lang="en-GB" sz="3000" dirty="0" smtClean="0">
                <a:latin typeface="Lucida Sans Unicode" charset="0"/>
                <a:cs typeface="Lucida Sans Unicode" charset="0"/>
              </a:rPr>
              <a:t>C</a:t>
            </a:r>
            <a:endParaRPr lang="en-GB" sz="30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>
                <a:latin typeface="Lucida Sans Unicode" charset="0"/>
                <a:cs typeface="Lucida Sans Unicode" charset="0"/>
              </a:rPr>
              <a:t>Each block is enclosed by </a:t>
            </a:r>
            <a:r>
              <a:rPr lang="en-GB" sz="30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braces</a:t>
            </a:r>
            <a:r>
              <a:rPr lang="en-GB" sz="3000" dirty="0">
                <a:latin typeface="Lucida Sans Unicode" charset="0"/>
                <a:cs typeface="Lucida Sans Unicode" charset="0"/>
              </a:rPr>
              <a:t> </a:t>
            </a:r>
            <a:r>
              <a:rPr lang="en-GB" sz="3000" b="1" dirty="0">
                <a:latin typeface="Courier New"/>
                <a:cs typeface="Courier New"/>
              </a:rPr>
              <a:t>{ }</a:t>
            </a:r>
            <a:r>
              <a:rPr lang="en-GB" sz="3000" dirty="0">
                <a:latin typeface="Lucida Sans Unicode" charset="0"/>
                <a:cs typeface="Lucida Sans Unicode" charset="0"/>
              </a:rPr>
              <a:t> and starts a new </a:t>
            </a:r>
            <a:r>
              <a:rPr lang="en-GB" sz="30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scope</a:t>
            </a:r>
            <a:r>
              <a:rPr lang="en-GB" sz="3000" dirty="0">
                <a:latin typeface="Lucida Sans Unicode" charset="0"/>
                <a:cs typeface="Lucida Sans Unicode" charset="0"/>
              </a:rPr>
              <a:t> for the variables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000" dirty="0">
                <a:latin typeface="Lucida Sans Unicode" charset="0"/>
                <a:cs typeface="Lucida Sans Unicode" charset="0"/>
              </a:rPr>
              <a:t>Variables can be declared both at the beginning and in the middle of </a:t>
            </a:r>
            <a:r>
              <a:rPr lang="en-GB" sz="3000" dirty="0" smtClean="0">
                <a:latin typeface="Lucida Sans Unicode" charset="0"/>
                <a:cs typeface="Lucida Sans Unicode" charset="0"/>
              </a:rPr>
              <a:t>a block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for (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400" b="1" dirty="0">
                <a:latin typeface="Courier New" charset="0"/>
                <a:cs typeface="Lucida Sans Unicode" charset="0"/>
              </a:rPr>
              <a:t>=0;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400" b="1" dirty="0">
                <a:latin typeface="Courier New" charset="0"/>
                <a:cs typeface="Lucida Sans Unicode" charset="0"/>
              </a:rPr>
              <a:t>&lt;10;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400" b="1" dirty="0">
                <a:latin typeface="Courier New" charset="0"/>
                <a:cs typeface="Lucida Sans Unicode" charset="0"/>
              </a:rPr>
              <a:t>++){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x = 12;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...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buClr>
                <a:srgbClr val="3333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err="1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y;</a:t>
            </a:r>
          </a:p>
          <a:p>
            <a:pPr lvl="1" eaLnBrk="1" hangingPunct="1">
              <a:lnSpc>
                <a:spcPct val="8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...	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FD7905A-A368-0445-AD37-D7D5574D74E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45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Control statements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Similar to C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if-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else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switch,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while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do-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while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for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break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continue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Switch statements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dirty="0" err="1" smtClean="0"/>
              <a:t>Strings</a:t>
            </a:r>
            <a:r>
              <a:rPr lang="it-IT" dirty="0" smtClean="0"/>
              <a:t> can be </a:t>
            </a:r>
            <a:r>
              <a:rPr lang="it-IT" dirty="0" err="1" smtClean="0"/>
              <a:t>used</a:t>
            </a:r>
            <a:r>
              <a:rPr lang="it-IT" dirty="0" smtClean="0"/>
              <a:t> </a:t>
            </a:r>
            <a:r>
              <a:rPr lang="it-IT" dirty="0" err="1" smtClean="0"/>
              <a:t>as</a:t>
            </a:r>
            <a:r>
              <a:rPr lang="it-IT" dirty="0" smtClean="0"/>
              <a:t> </a:t>
            </a:r>
            <a:r>
              <a:rPr lang="it-IT" dirty="0" err="1" smtClean="0"/>
              <a:t>cases</a:t>
            </a:r>
            <a:r>
              <a:rPr lang="it-IT" dirty="0" smtClean="0"/>
              <a:t> </a:t>
            </a:r>
            <a:r>
              <a:rPr lang="it-IT" dirty="0" err="1" smtClean="0"/>
              <a:t>values</a:t>
            </a:r>
            <a:endParaRPr lang="it-IT" dirty="0"/>
          </a:p>
          <a:p>
            <a:pPr lvl="2">
              <a:defRPr/>
            </a:pPr>
            <a:r>
              <a:rPr lang="it-IT" dirty="0" err="1" smtClean="0"/>
              <a:t>Since</a:t>
            </a:r>
            <a:r>
              <a:rPr lang="it-IT" dirty="0" smtClean="0"/>
              <a:t> Java 7</a:t>
            </a:r>
          </a:p>
          <a:p>
            <a:pPr marL="815975" lvl="2" indent="0">
              <a:buFont typeface="Symbol" charset="0"/>
              <a:buNone/>
              <a:defRPr/>
            </a:pPr>
            <a:r>
              <a:rPr lang="it-IT" b="1" dirty="0" err="1" smtClean="0">
                <a:latin typeface="Courier New"/>
                <a:cs typeface="Courier New"/>
              </a:rPr>
              <a:t>switch</a:t>
            </a:r>
            <a:r>
              <a:rPr lang="it-IT" b="1" dirty="0" smtClean="0">
                <a:latin typeface="Courier New"/>
                <a:cs typeface="Courier New"/>
              </a:rPr>
              <a:t>(season){</a:t>
            </a:r>
          </a:p>
          <a:p>
            <a:pPr marL="815975" lvl="2" indent="0">
              <a:buFont typeface="Symbol" charset="0"/>
              <a:buNone/>
              <a:defRPr/>
            </a:pPr>
            <a:r>
              <a:rPr lang="it-IT" b="1" dirty="0" smtClean="0">
                <a:latin typeface="Courier New"/>
                <a:cs typeface="Courier New"/>
              </a:rPr>
              <a:t>case “</a:t>
            </a:r>
            <a:r>
              <a:rPr lang="it-IT" b="1" dirty="0" err="1" smtClean="0">
                <a:latin typeface="Courier New"/>
                <a:cs typeface="Courier New"/>
              </a:rPr>
              <a:t>summer</a:t>
            </a:r>
            <a:r>
              <a:rPr lang="it-IT" b="1" dirty="0" smtClean="0">
                <a:latin typeface="Courier New"/>
                <a:cs typeface="Courier New"/>
              </a:rPr>
              <a:t>”:</a:t>
            </a:r>
          </a:p>
          <a:p>
            <a:pPr marL="815975" lvl="2" indent="0">
              <a:buFont typeface="Symbol" charset="0"/>
              <a:buNone/>
              <a:defRPr/>
            </a:pPr>
            <a:r>
              <a:rPr lang="it-IT" b="1" dirty="0" smtClean="0">
                <a:latin typeface="Courier New"/>
                <a:cs typeface="Courier New"/>
              </a:rPr>
              <a:t>case “</a:t>
            </a:r>
            <a:r>
              <a:rPr lang="it-IT" b="1" dirty="0" err="1" smtClean="0">
                <a:latin typeface="Courier New"/>
                <a:cs typeface="Courier New"/>
              </a:rPr>
              <a:t>spring</a:t>
            </a:r>
            <a:r>
              <a:rPr lang="it-IT" b="1" dirty="0" smtClean="0">
                <a:latin typeface="Courier New"/>
                <a:cs typeface="Courier New"/>
              </a:rPr>
              <a:t>”: </a:t>
            </a:r>
            <a:r>
              <a:rPr lang="it-IT" b="1" dirty="0" err="1" smtClean="0">
                <a:latin typeface="Courier New"/>
                <a:cs typeface="Courier New"/>
              </a:rPr>
              <a:t>temp</a:t>
            </a:r>
            <a:r>
              <a:rPr lang="it-IT" b="1" dirty="0" smtClean="0">
                <a:latin typeface="Courier New"/>
                <a:cs typeface="Courier New"/>
              </a:rPr>
              <a:t> = “hot”;</a:t>
            </a:r>
          </a:p>
          <a:p>
            <a:pPr marL="815975" lvl="2" indent="0">
              <a:buFont typeface="Symbol" charset="0"/>
              <a:buNone/>
              <a:defRPr/>
            </a:pPr>
            <a:r>
              <a:rPr lang="it-IT" b="1" dirty="0" smtClean="0">
                <a:latin typeface="Courier New"/>
                <a:cs typeface="Courier New"/>
              </a:rPr>
              <a:t>               break;</a:t>
            </a:r>
          </a:p>
          <a:p>
            <a:pPr marL="815975" lvl="2" indent="0">
              <a:buFont typeface="Symbol" charset="0"/>
              <a:buNone/>
              <a:defRPr/>
            </a:pPr>
            <a:r>
              <a:rPr lang="it-IT" b="1" dirty="0" smtClean="0">
                <a:latin typeface="Courier New"/>
                <a:cs typeface="Courier New"/>
              </a:rPr>
              <a:t>}</a:t>
            </a:r>
          </a:p>
          <a:p>
            <a:pPr lvl="2">
              <a:defRPr/>
            </a:pPr>
            <a:r>
              <a:rPr lang="it-IT" dirty="0"/>
              <a:t>C</a:t>
            </a:r>
            <a:r>
              <a:rPr lang="it-IT" dirty="0" smtClean="0"/>
              <a:t>ompiler </a:t>
            </a:r>
            <a:r>
              <a:rPr lang="it-IT" dirty="0" err="1"/>
              <a:t>generates</a:t>
            </a:r>
            <a:r>
              <a:rPr lang="it-IT" dirty="0"/>
              <a:t> </a:t>
            </a:r>
            <a:r>
              <a:rPr lang="it-IT" dirty="0" smtClean="0"/>
              <a:t>more </a:t>
            </a:r>
            <a:r>
              <a:rPr lang="it-IT" dirty="0" err="1"/>
              <a:t>efficient</a:t>
            </a:r>
            <a:r>
              <a:rPr lang="it-IT" dirty="0"/>
              <a:t> </a:t>
            </a:r>
            <a:r>
              <a:rPr lang="it-IT" dirty="0" err="1"/>
              <a:t>bytecode</a:t>
            </a:r>
            <a:r>
              <a:rPr lang="it-IT" dirty="0"/>
              <a:t> from </a:t>
            </a:r>
            <a:r>
              <a:rPr lang="it-IT" dirty="0" err="1" smtClean="0"/>
              <a:t>switch</a:t>
            </a:r>
            <a:r>
              <a:rPr lang="it-IT" dirty="0" smtClean="0"/>
              <a:t> </a:t>
            </a:r>
            <a:r>
              <a:rPr lang="it-IT" dirty="0" err="1" smtClean="0"/>
              <a:t>using</a:t>
            </a:r>
            <a:r>
              <a:rPr lang="it-IT" dirty="0" smtClean="0"/>
              <a:t> </a:t>
            </a:r>
            <a:r>
              <a:rPr lang="it-IT" dirty="0" err="1"/>
              <a:t>String</a:t>
            </a:r>
            <a:r>
              <a:rPr lang="it-IT" dirty="0"/>
              <a:t>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from </a:t>
            </a:r>
            <a:r>
              <a:rPr lang="it-IT" dirty="0" err="1"/>
              <a:t>chained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-</a:t>
            </a:r>
            <a:r>
              <a:rPr lang="it-IT" dirty="0" err="1"/>
              <a:t>then</a:t>
            </a:r>
            <a:r>
              <a:rPr lang="it-IT" dirty="0"/>
              <a:t>-else </a:t>
            </a:r>
            <a:r>
              <a:rPr lang="it-IT" dirty="0" err="1"/>
              <a:t>statements</a:t>
            </a:r>
            <a:r>
              <a:rPr lang="it-IT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Boolean</a:t>
            </a:r>
            <a:endParaRPr lang="en-GB"/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Java has an explicit type (</a:t>
            </a:r>
            <a:r>
              <a:rPr lang="en-GB" b="1" dirty="0" err="1">
                <a:latin typeface="Courier New"/>
                <a:ea typeface="Lucida Sans Unicode" charset="-52"/>
                <a:cs typeface="Courier New"/>
              </a:rPr>
              <a:t>boolean</a:t>
            </a:r>
            <a:r>
              <a:rPr lang="en-GB" dirty="0" smtClean="0"/>
              <a:t>) to represent logical values (</a:t>
            </a:r>
            <a:r>
              <a:rPr lang="en-GB" b="1" dirty="0">
                <a:latin typeface="Courier New"/>
                <a:ea typeface="Lucida Sans Unicode" charset="-52"/>
                <a:cs typeface="Courier New"/>
              </a:rPr>
              <a:t>true</a:t>
            </a:r>
            <a:r>
              <a:rPr lang="en-GB" dirty="0" smtClean="0"/>
              <a:t>, </a:t>
            </a:r>
            <a:r>
              <a:rPr lang="en-GB" b="1" dirty="0">
                <a:latin typeface="Courier New"/>
                <a:ea typeface="Lucida Sans Unicode" charset="-52"/>
                <a:cs typeface="Courier New"/>
              </a:rPr>
              <a:t>false</a:t>
            </a:r>
            <a:r>
              <a:rPr lang="en-GB" dirty="0" smtClean="0"/>
              <a:t>)</a:t>
            </a:r>
          </a:p>
          <a:p>
            <a:r>
              <a:rPr lang="en-GB" dirty="0" smtClean="0"/>
              <a:t>Conditional constructs require </a:t>
            </a:r>
            <a:r>
              <a:rPr lang="en-GB" dirty="0" err="1" smtClean="0"/>
              <a:t>boolean</a:t>
            </a:r>
            <a:r>
              <a:rPr lang="en-GB" dirty="0" smtClean="0"/>
              <a:t> conditions</a:t>
            </a:r>
          </a:p>
          <a:p>
            <a:pPr lvl="1"/>
            <a:r>
              <a:rPr lang="en-GB" dirty="0" smtClean="0"/>
              <a:t>Illegal</a:t>
            </a:r>
            <a:r>
              <a:rPr lang="en-GB" altLang="ja-JP" dirty="0" smtClean="0"/>
              <a:t> to evaluate integer condition</a:t>
            </a:r>
            <a:br>
              <a:rPr lang="en-GB" altLang="ja-JP" dirty="0" smtClean="0"/>
            </a:br>
            <a:r>
              <a:rPr lang="en-GB" altLang="ja-JP" dirty="0" smtClean="0"/>
              <a:t>		</a:t>
            </a:r>
            <a:r>
              <a:rPr lang="en-GB" altLang="ja-JP" sz="3200" b="1" dirty="0" err="1">
                <a:latin typeface="Courier New"/>
                <a:cs typeface="Courier New"/>
              </a:rPr>
              <a:t>int</a:t>
            </a:r>
            <a:r>
              <a:rPr lang="en-GB" altLang="ja-JP" sz="3200" b="1" dirty="0">
                <a:latin typeface="Courier New"/>
                <a:cs typeface="Courier New"/>
              </a:rPr>
              <a:t> x = 7; if(</a:t>
            </a:r>
            <a:r>
              <a:rPr lang="en-GB" altLang="ja-JP" sz="3200" b="1" dirty="0">
                <a:solidFill>
                  <a:srgbClr val="FF6600"/>
                </a:solidFill>
                <a:latin typeface="Courier New"/>
                <a:cs typeface="Courier New"/>
              </a:rPr>
              <a:t>x</a:t>
            </a:r>
            <a:r>
              <a:rPr lang="en-GB" altLang="ja-JP" sz="3200" b="1" dirty="0">
                <a:latin typeface="Courier New"/>
                <a:cs typeface="Courier New"/>
              </a:rPr>
              <a:t>){…} </a:t>
            </a:r>
            <a:r>
              <a:rPr lang="en-GB" altLang="ja-JP" sz="3200" b="1" dirty="0">
                <a:solidFill>
                  <a:srgbClr val="FF6600"/>
                </a:solidFill>
                <a:latin typeface="Courier New"/>
                <a:cs typeface="Courier New"/>
              </a:rPr>
              <a:t>//NO</a:t>
            </a:r>
          </a:p>
          <a:p>
            <a:pPr lvl="1"/>
            <a:r>
              <a:rPr lang="en-GB" dirty="0" smtClean="0"/>
              <a:t>Use relational operators</a:t>
            </a:r>
            <a:r>
              <a:rPr lang="en-GB" dirty="0"/>
              <a:t> </a:t>
            </a:r>
            <a:r>
              <a:rPr lang="en-GB" sz="3200" b="1" dirty="0" smtClean="0">
                <a:latin typeface="Courier New"/>
                <a:cs typeface="Courier New"/>
              </a:rPr>
              <a:t>if </a:t>
            </a:r>
            <a:r>
              <a:rPr lang="en-GB" sz="3200" b="1" dirty="0">
                <a:latin typeface="Courier New"/>
                <a:cs typeface="Courier New"/>
              </a:rPr>
              <a:t>(x != 0)</a:t>
            </a:r>
          </a:p>
          <a:p>
            <a:pPr lvl="1"/>
            <a:r>
              <a:rPr lang="en-GB" dirty="0" smtClean="0"/>
              <a:t>Avoids common mistakes, e.g. </a:t>
            </a:r>
            <a:r>
              <a:rPr lang="en-GB" sz="3200" b="1" dirty="0" smtClean="0">
                <a:latin typeface="Courier New"/>
                <a:cs typeface="Courier New"/>
              </a:rPr>
              <a:t>if(x=0)</a:t>
            </a:r>
            <a:endParaRPr lang="en-GB" sz="3200" b="1" dirty="0">
              <a:latin typeface="Courier New"/>
              <a:cs typeface="Courier New"/>
            </a:endParaRPr>
          </a:p>
        </p:txBody>
      </p:sp>
      <p:sp>
        <p:nvSpPr>
          <p:cNvPr id="27649" name="Segnaposto numero diapositiva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703C227-0F94-6744-99A2-06CEE3D5BF33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B42BE70-2DDE-DC40-8E5A-8283A7BCE2E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969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Passing parameters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Parameters are always passed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by value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...they can be primitive types or object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references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Note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: </a:t>
            </a:r>
            <a:r>
              <a:rPr lang="en-GB" dirty="0">
                <a:latin typeface="Lucida Sans Unicode" charset="0"/>
                <a:cs typeface="Lucida Sans Unicode" charset="0"/>
              </a:rPr>
              <a:t>only the object reference is copied not the whole object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egnaposto numero diapositiva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DFAA01E3-E7DB-4B4C-B3FE-0168DBEA8C9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174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Elements in a OO program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3814192" cy="4645025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Structural </a:t>
            </a:r>
            <a:r>
              <a:rPr lang="en-GB" sz="2800" dirty="0">
                <a:latin typeface="Lucida Sans Unicode" charset="0"/>
                <a:cs typeface="Lucida Sans Unicode" charset="0"/>
              </a:rPr>
              <a:t>elements</a:t>
            </a:r>
            <a:br>
              <a:rPr lang="en-GB" sz="2800" dirty="0">
                <a:latin typeface="Lucida Sans Unicode" charset="0"/>
                <a:cs typeface="Lucida Sans Unicode" charset="0"/>
              </a:rPr>
            </a:br>
            <a:r>
              <a:rPr lang="en-GB" sz="2800" dirty="0">
                <a:latin typeface="Lucida Sans Unicode" charset="0"/>
                <a:cs typeface="Lucida Sans Unicode" charset="0"/>
              </a:rPr>
              <a:t>(types)</a:t>
            </a:r>
            <a:br>
              <a:rPr lang="en-GB" sz="2800" dirty="0">
                <a:latin typeface="Lucida Sans Unicode" charset="0"/>
                <a:cs typeface="Lucida Sans Unicode" charset="0"/>
              </a:rPr>
            </a:br>
            <a:r>
              <a:rPr lang="en-GB" sz="2800" dirty="0">
                <a:latin typeface="Lucida Sans Unicode" charset="0"/>
                <a:cs typeface="Lucida Sans Unicode" charset="0"/>
              </a:rPr>
              <a:t>(compile time)</a:t>
            </a: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>
              <a:latin typeface="Lucida Sans Unicode" charset="0"/>
              <a:cs typeface="Lucida Sans Unicode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Dynamic elements</a:t>
            </a:r>
            <a:br>
              <a:rPr lang="en-GB" sz="2800" dirty="0">
                <a:latin typeface="Lucida Sans Unicode" charset="0"/>
                <a:cs typeface="Lucida Sans Unicode" charset="0"/>
              </a:rPr>
            </a:br>
            <a:r>
              <a:rPr lang="en-GB" sz="2800" dirty="0" smtClean="0">
                <a:latin typeface="Lucida Sans Unicode" charset="0"/>
                <a:cs typeface="Lucida Sans Unicode" charset="0"/>
              </a:rPr>
              <a:t>(instances)</a:t>
            </a:r>
            <a:r>
              <a:rPr lang="en-GB" sz="2800" dirty="0">
                <a:latin typeface="Lucida Sans Unicode" charset="0"/>
                <a:cs typeface="Lucida Sans Unicode" charset="0"/>
              </a:rPr>
              <a:t/>
            </a:r>
            <a:br>
              <a:rPr lang="en-GB" sz="2800" dirty="0">
                <a:latin typeface="Lucida Sans Unicode" charset="0"/>
                <a:cs typeface="Lucida Sans Unicode" charset="0"/>
              </a:rPr>
            </a:br>
            <a:r>
              <a:rPr lang="en-GB" sz="2800" dirty="0">
                <a:latin typeface="Lucida Sans Unicode" charset="0"/>
                <a:cs typeface="Lucida Sans Unicode" charset="0"/>
              </a:rPr>
              <a:t>(run time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)</a:t>
            </a:r>
            <a:endParaRPr lang="en-GB" sz="28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76056" y="1295400"/>
            <a:ext cx="3763144" cy="4824413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spcBef>
                <a:spcPts val="7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Class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Primitive type</a:t>
            </a: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>
              <a:latin typeface="Lucida Sans Unicode" charset="0"/>
              <a:cs typeface="Lucida Sans Unicode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Reference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Variable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755576" y="3212976"/>
            <a:ext cx="7560840" cy="0"/>
          </a:xfrm>
          <a:prstGeom prst="line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egnaposto numero diapositiva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4DF2402-6864-2642-8582-AFDAA6549CE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37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Classes and primitive types 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73100" y="1655763"/>
            <a:ext cx="3489325" cy="417671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Class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class Exam {}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Variable </a:t>
            </a:r>
            <a:r>
              <a:rPr lang="en-GB" sz="2800" dirty="0">
                <a:latin typeface="Lucida Sans Unicode" charset="0"/>
                <a:cs typeface="Lucida Sans Unicode" charset="0"/>
              </a:rPr>
              <a:t>of type reference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Exam e;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e = new Exam();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68938" y="1636713"/>
            <a:ext cx="3446462" cy="417671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type primitive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int, char, float</a:t>
            </a:r>
            <a:r>
              <a:rPr lang="en-GB" sz="2800">
                <a:latin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Variable of type primitive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int i;</a:t>
            </a:r>
          </a:p>
        </p:txBody>
      </p:sp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3808012" y="1196752"/>
            <a:ext cx="1109095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sz="3200" b="1" dirty="0" smtClean="0">
                <a:solidFill>
                  <a:srgbClr val="FF6600"/>
                </a:solidFill>
                <a:latin typeface="Arial" charset="0"/>
              </a:rPr>
              <a:t>Type</a:t>
            </a:r>
            <a:endParaRPr lang="en-GB" sz="3200" b="1" dirty="0">
              <a:solidFill>
                <a:srgbClr val="FF6600"/>
              </a:solidFill>
              <a:latin typeface="Arial" charset="0"/>
            </a:endParaRPr>
          </a:p>
        </p:txBody>
      </p:sp>
      <p:sp>
        <p:nvSpPr>
          <p:cNvPr id="33798" name="Text Box 5"/>
          <p:cNvSpPr txBox="1">
            <a:spLocks noChangeArrowheads="1"/>
          </p:cNvSpPr>
          <p:nvPr/>
        </p:nvSpPr>
        <p:spPr bwMode="auto">
          <a:xfrm>
            <a:off x="3643806" y="3212976"/>
            <a:ext cx="1846677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sz="3200" b="1" dirty="0" smtClean="0">
                <a:solidFill>
                  <a:srgbClr val="FF6600"/>
                </a:solidFill>
                <a:latin typeface="Arial" charset="0"/>
              </a:rPr>
              <a:t>Instance</a:t>
            </a:r>
            <a:endParaRPr lang="en-GB" sz="3200" b="1" dirty="0">
              <a:solidFill>
                <a:srgbClr val="FF6600"/>
              </a:solidFill>
              <a:latin typeface="Arial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755576" y="3212976"/>
            <a:ext cx="7560840" cy="0"/>
          </a:xfrm>
          <a:prstGeom prst="line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94C4122-6494-2744-9DD6-611C29C3D6D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5842" name="Rectangle 1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Defined in the language: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int, double, boolean, etc.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Instance declaration: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Declares instance name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Declares the type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Allocates memory space for the value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Primitive type 		</a:t>
            </a: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6503988" y="3109913"/>
            <a:ext cx="914400" cy="304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2160" tIns="46080" rIns="92160" bIns="4608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6162675" y="2586038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int i;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96BA033-21D0-D344-B896-B59BFB8EC1F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78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Class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3854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Defined by developer (</a:t>
            </a:r>
            <a:r>
              <a:rPr lang="en-GB" sz="2400" dirty="0" err="1">
                <a:latin typeface="Lucida Sans Unicode" charset="0"/>
                <a:cs typeface="Lucida Sans Unicode" charset="0"/>
              </a:rPr>
              <a:t>eg</a:t>
            </a:r>
            <a:r>
              <a:rPr lang="en-GB" sz="2400" dirty="0">
                <a:latin typeface="Lucida Sans Unicode" charset="0"/>
                <a:cs typeface="Lucida Sans Unicode" charset="0"/>
              </a:rPr>
              <a:t>, Exam) or in the Java runtime libraries (e.g., String)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The declaration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   …allocates memory space for the </a:t>
            </a:r>
            <a:r>
              <a:rPr lang="en-GB" sz="2400" i="1" dirty="0">
                <a:latin typeface="Lucida Sans Unicode" charset="0"/>
                <a:cs typeface="Lucida Sans Unicode" charset="0"/>
              </a:rPr>
              <a:t>reference</a:t>
            </a:r>
            <a:r>
              <a:rPr lang="en-GB" sz="2400" dirty="0">
                <a:latin typeface="Lucida Sans Unicode" charset="0"/>
                <a:cs typeface="Lucida Sans Unicode" charset="0"/>
              </a:rPr>
              <a:t> (</a:t>
            </a:r>
            <a:r>
              <a:rPr lang="ja-JP" altLang="en-GB" sz="2400" dirty="0">
                <a:latin typeface="Lucida Sans Unicode" charset="0"/>
                <a:cs typeface="Lucida Sans Unicode" charset="0"/>
              </a:rPr>
              <a:t>‘</a:t>
            </a:r>
            <a:r>
              <a:rPr lang="en-GB" altLang="ja-JP" sz="2400" dirty="0">
                <a:latin typeface="Lucida Sans Unicode" charset="0"/>
                <a:cs typeface="Lucida Sans Unicode" charset="0"/>
              </a:rPr>
              <a:t>pointer</a:t>
            </a:r>
            <a:r>
              <a:rPr lang="ja-JP" altLang="en-GB" sz="2400" dirty="0">
                <a:latin typeface="Lucida Sans Unicode" charset="0"/>
                <a:cs typeface="Lucida Sans Unicode" charset="0"/>
              </a:rPr>
              <a:t>’</a:t>
            </a:r>
            <a:r>
              <a:rPr lang="en-GB" altLang="ja-JP" sz="2400" dirty="0">
                <a:latin typeface="Lucida Sans Unicode" charset="0"/>
                <a:cs typeface="Lucida Sans Unicode" charset="0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	…and </a:t>
            </a:r>
            <a:r>
              <a:rPr lang="en-GB" sz="2400" i="1" dirty="0">
                <a:latin typeface="Lucida Sans Unicode" charset="0"/>
                <a:cs typeface="Lucida Sans Unicode" charset="0"/>
              </a:rPr>
              <a:t>sometimes</a:t>
            </a:r>
            <a:r>
              <a:rPr lang="en-GB" sz="2400" dirty="0">
                <a:latin typeface="Lucida Sans Unicode" charset="0"/>
                <a:cs typeface="Lucida Sans Unicode" charset="0"/>
              </a:rPr>
              <a:t> it initializes it with </a:t>
            </a:r>
            <a:r>
              <a:rPr lang="en-GB" sz="24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null</a:t>
            </a:r>
            <a:r>
              <a:rPr lang="en-GB" sz="2400" dirty="0">
                <a:latin typeface="Lucida Sans Unicode" charset="0"/>
                <a:cs typeface="Lucida Sans Unicode" charset="0"/>
              </a:rPr>
              <a:t> by default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Allocation and initialization of the </a:t>
            </a:r>
            <a:r>
              <a:rPr lang="en-GB" sz="2400" i="1" dirty="0">
                <a:latin typeface="Lucida Sans Unicode" charset="0"/>
                <a:cs typeface="Lucida Sans Unicode" charset="0"/>
              </a:rPr>
              <a:t>object</a:t>
            </a:r>
            <a:r>
              <a:rPr lang="en-GB" sz="2400" dirty="0">
                <a:latin typeface="Lucida Sans Unicode" charset="0"/>
                <a:cs typeface="Lucida Sans Unicode" charset="0"/>
              </a:rPr>
              <a:t> value are made later by its constructor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2486025" y="2644775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Exam e;</a:t>
            </a: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5321300" y="2678113"/>
            <a:ext cx="914400" cy="3048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4921250" y="2613025"/>
            <a:ext cx="307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e</a:t>
            </a:r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5391150" y="2613025"/>
            <a:ext cx="587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 flipV="1">
            <a:off x="5773738" y="5589588"/>
            <a:ext cx="1655762" cy="68262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Rectangle 8"/>
          <p:cNvSpPr>
            <a:spLocks noChangeArrowheads="1"/>
          </p:cNvSpPr>
          <p:nvPr/>
        </p:nvSpPr>
        <p:spPr bwMode="auto">
          <a:xfrm>
            <a:off x="7458075" y="5062538"/>
            <a:ext cx="1312863" cy="1189037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lIns="92160" tIns="46080" rIns="92160" bIns="4608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Object</a:t>
            </a:r>
          </a:p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Exam</a:t>
            </a:r>
          </a:p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8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4714875" y="5495925"/>
            <a:ext cx="923925" cy="41275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899" name="Text Box 10"/>
          <p:cNvSpPr txBox="1">
            <a:spLocks noChangeArrowheads="1"/>
          </p:cNvSpPr>
          <p:nvPr/>
        </p:nvSpPr>
        <p:spPr bwMode="auto">
          <a:xfrm>
            <a:off x="4313238" y="5408613"/>
            <a:ext cx="307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e</a:t>
            </a:r>
          </a:p>
        </p:txBody>
      </p:sp>
      <p:sp>
        <p:nvSpPr>
          <p:cNvPr id="37900" name="Rectangle 11"/>
          <p:cNvSpPr>
            <a:spLocks noChangeArrowheads="1"/>
          </p:cNvSpPr>
          <p:nvPr/>
        </p:nvSpPr>
        <p:spPr bwMode="auto">
          <a:xfrm>
            <a:off x="919163" y="5484813"/>
            <a:ext cx="315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e = new Exam();</a:t>
            </a:r>
          </a:p>
        </p:txBody>
      </p:sp>
      <p:sp>
        <p:nvSpPr>
          <p:cNvPr id="37901" name="Text Box 12"/>
          <p:cNvSpPr txBox="1">
            <a:spLocks noChangeArrowheads="1"/>
          </p:cNvSpPr>
          <p:nvPr/>
        </p:nvSpPr>
        <p:spPr bwMode="auto">
          <a:xfrm>
            <a:off x="4637088" y="5503863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0Xffe1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Primitive types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Primitive types</a:t>
            </a:r>
          </a:p>
        </p:txBody>
      </p:sp>
      <p:sp>
        <p:nvSpPr>
          <p:cNvPr id="41985" name="Segnaposto numero diapositiva 4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F6845F3-7808-7949-A5A4-0A2596556B89}" type="slidenum">
              <a:rPr lang="it-IT" sz="1200">
                <a:solidFill>
                  <a:srgbClr val="000000"/>
                </a:solidFill>
                <a:latin typeface="Lucida Sans Unicode" charset="0"/>
              </a:rPr>
              <a:pPr/>
              <a:t>15</a:t>
            </a:fld>
            <a:endParaRPr lang="it-IT" sz="1200">
              <a:solidFill>
                <a:srgbClr val="000000"/>
              </a:solidFill>
              <a:latin typeface="Lucida Sans Unicode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625963"/>
              </p:ext>
            </p:extLst>
          </p:nvPr>
        </p:nvGraphicFramePr>
        <p:xfrm>
          <a:off x="179512" y="404664"/>
          <a:ext cx="7704856" cy="6093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84844"/>
                <a:gridCol w="1631616"/>
                <a:gridCol w="3988396"/>
              </a:tblGrid>
              <a:tr h="385188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Type</a:t>
                      </a:r>
                      <a:endParaRPr lang="en-US" sz="2800" b="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Size</a:t>
                      </a:r>
                      <a:endParaRPr lang="en-US" sz="28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Encoding</a:t>
                      </a:r>
                      <a:endParaRPr lang="en-US" sz="2800" b="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2530">
                <a:tc>
                  <a:txBody>
                    <a:bodyPr/>
                    <a:lstStyle/>
                    <a:p>
                      <a:r>
                        <a:rPr lang="en-US" sz="2600" b="1" dirty="0" err="1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boolean</a:t>
                      </a:r>
                      <a:endParaRPr 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  1 bit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-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char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16 bits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Unicode UTF16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byte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  8 bits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solidFill>
                            <a:schemeClr val="tx1"/>
                          </a:solidFill>
                          <a:latin typeface="Lucida Sans Unicode" charset="0"/>
                        </a:rPr>
                        <a:t>Signed integer 2C</a:t>
                      </a:r>
                      <a:endParaRPr lang="en-US" sz="2600" dirty="0" smtClean="0">
                        <a:solidFill>
                          <a:schemeClr val="tx1"/>
                        </a:solidFill>
                        <a:latin typeface="Courier New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short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16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solidFill>
                            <a:schemeClr val="tx1"/>
                          </a:solidFill>
                          <a:latin typeface="Lucida Sans Unicode" charset="0"/>
                        </a:rPr>
                        <a:t>Signed integer 2C</a:t>
                      </a:r>
                      <a:endParaRPr lang="en-US" sz="2600" dirty="0" smtClean="0">
                        <a:solidFill>
                          <a:schemeClr val="tx1"/>
                        </a:solidFill>
                        <a:latin typeface="Courier New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err="1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int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32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solidFill>
                            <a:schemeClr val="tx1"/>
                          </a:solidFill>
                          <a:latin typeface="Lucida Sans Unicode" charset="0"/>
                        </a:rPr>
                        <a:t>Signed integer 2C</a:t>
                      </a:r>
                      <a:endParaRPr lang="en-US" sz="2600" dirty="0" smtClean="0">
                        <a:solidFill>
                          <a:schemeClr val="tx1"/>
                        </a:solidFill>
                        <a:latin typeface="Courier New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long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64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solidFill>
                            <a:schemeClr val="tx1"/>
                          </a:solidFill>
                          <a:latin typeface="Lucida Sans Unicode" charset="0"/>
                        </a:rPr>
                        <a:t>Signed integer 2C</a:t>
                      </a:r>
                      <a:endParaRPr lang="en-US" sz="2600" dirty="0" smtClean="0">
                        <a:solidFill>
                          <a:schemeClr val="tx1"/>
                        </a:solidFill>
                        <a:latin typeface="Courier New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float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32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IEEE 754 </a:t>
                      </a:r>
                      <a:r>
                        <a:rPr lang="en-US" sz="2600" dirty="0" err="1" smtClean="0"/>
                        <a:t>sp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57085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double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64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/>
                        <a:t>IEEE 754 </a:t>
                      </a:r>
                      <a:r>
                        <a:rPr lang="en-US" sz="2600" dirty="0" err="1" smtClean="0"/>
                        <a:t>dp</a:t>
                      </a:r>
                      <a:endParaRPr lang="en-US" sz="2600" dirty="0" smtClean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2530"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chemeClr val="tx1"/>
                          </a:solidFill>
                          <a:latin typeface="Courier New" charset="0"/>
                        </a:rPr>
                        <a:t>void</a:t>
                      </a:r>
                      <a:endParaRPr lang="en-US" sz="2600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-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Rounded Rectangular Callout 2"/>
          <p:cNvSpPr/>
          <p:nvPr/>
        </p:nvSpPr>
        <p:spPr bwMode="auto">
          <a:xfrm>
            <a:off x="7236296" y="2348880"/>
            <a:ext cx="1728192" cy="1296144"/>
          </a:xfrm>
          <a:prstGeom prst="wedgeRoundRectCallout">
            <a:avLst>
              <a:gd name="adj1" fmla="val -70547"/>
              <a:gd name="adj2" fmla="val -7680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Logical size != memory occupation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AC8E80B-D8A3-7B4E-90A3-3799D681F0A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440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Literals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Literals of type int, float, char, strings follow C syntax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123  256789L  0xff34  123.75  0.12375e+3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%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\n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prova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prova\n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Boolean literals (do not exist in C) are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true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, 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false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-1"/>
            <a:ext cx="8901113" cy="97472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Operators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(integer and </a:t>
            </a:r>
            <a:r>
              <a:rPr lang="en-GB" dirty="0" err="1" smtClean="0">
                <a:latin typeface="Lucida Sans Unicode" charset="0"/>
                <a:cs typeface="Lucida Sans Unicode" charset="0"/>
              </a:rPr>
              <a:t>f.p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.)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Operators follow C syntax: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arithmetical	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+  -  *  /  %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relational	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==  !=  &gt;  &lt;  &gt;=  &lt;=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bitwise (</a:t>
            </a:r>
            <a:r>
              <a:rPr lang="en-GB" sz="2400" dirty="0" err="1">
                <a:latin typeface="Lucida Sans Unicode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)	&amp;  |  ^  &lt;&lt;  &gt;&gt;  ~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Assignment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=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+=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-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=  *=  /=  %= &amp;= |= ^=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Increment  	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+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+  --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Chars are considered like integers (e.g. switch)</a:t>
            </a:r>
          </a:p>
        </p:txBody>
      </p:sp>
      <p:sp>
        <p:nvSpPr>
          <p:cNvPr id="46081" name="Segnaposto numero diapositiva 4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0414C26-BF8D-494C-A31F-8E910819A9B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93CF070-43C1-6A42-8BBE-8322BD31A54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481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Logical operators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Logical operators follows C syntax: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&amp;&amp;  ||  !  ^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Warning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: logical </a:t>
            </a:r>
            <a:r>
              <a:rPr lang="en-GB" dirty="0">
                <a:latin typeface="Lucida Sans Unicode" charset="0"/>
                <a:cs typeface="Lucida Sans Unicode" charset="0"/>
              </a:rPr>
              <a:t>operators work ONLY on </a:t>
            </a:r>
            <a:r>
              <a:rPr lang="en-GB" b="1" dirty="0" err="1" smtClean="0">
                <a:latin typeface="Courier New"/>
                <a:cs typeface="Courier New"/>
              </a:rPr>
              <a:t>boolean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operands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Type </a:t>
            </a:r>
            <a:r>
              <a:rPr lang="en-GB" b="1" dirty="0" err="1">
                <a:latin typeface="Courier New"/>
                <a:ea typeface="Lucida Sans Unicode" charset="0"/>
                <a:cs typeface="Courier New"/>
              </a:rPr>
              <a:t>int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is NOT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treated like a </a:t>
            </a:r>
            <a:r>
              <a:rPr lang="en-GB" dirty="0" err="1" smtClean="0">
                <a:latin typeface="Lucida Sans Unicode" charset="0"/>
                <a:ea typeface="Lucida Sans Unicode" charset="0"/>
                <a:cs typeface="Lucida Sans Unicode" charset="0"/>
              </a:rPr>
              <a:t>boolean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: this is different from C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Relational operators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return </a:t>
            </a:r>
            <a:r>
              <a:rPr lang="en-GB" b="1" dirty="0" err="1">
                <a:latin typeface="Courier New"/>
                <a:ea typeface="ＭＳ Ｐゴシック" charset="0"/>
                <a:cs typeface="Courier New"/>
              </a:rPr>
              <a:t>boolean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values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Classes and Objects</a:t>
            </a:r>
          </a:p>
        </p:txBody>
      </p:sp>
      <p:sp>
        <p:nvSpPr>
          <p:cNvPr id="50178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GB" dirty="0">
                <a:latin typeface="Lucida Sans Unicode" charset="0"/>
              </a:rPr>
              <a:t>Object </a:t>
            </a:r>
            <a:r>
              <a:rPr lang="en-GB" dirty="0" smtClean="0">
                <a:latin typeface="Lucida Sans Unicode" charset="0"/>
              </a:rPr>
              <a:t>descriptor</a:t>
            </a:r>
          </a:p>
          <a:p>
            <a:pPr lvl="1" eaLnBrk="1" hangingPunct="1">
              <a:lnSpc>
                <a:spcPct val="100000"/>
              </a:lnSpc>
            </a:pPr>
            <a:r>
              <a:rPr lang="en-GB" dirty="0" smtClean="0">
                <a:latin typeface="Lucida Sans Unicode" charset="0"/>
              </a:rPr>
              <a:t>Defines the common structure of a set of objects</a:t>
            </a:r>
            <a:endParaRPr lang="en-GB" dirty="0">
              <a:latin typeface="Lucida Sans Unicode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GB" dirty="0">
                <a:latin typeface="Lucida Sans Unicode" charset="0"/>
              </a:rPr>
              <a:t>C</a:t>
            </a:r>
            <a:r>
              <a:rPr lang="en-GB" dirty="0" smtClean="0">
                <a:latin typeface="Lucida Sans Unicode" charset="0"/>
              </a:rPr>
              <a:t>onsists </a:t>
            </a:r>
            <a:r>
              <a:rPr lang="en-GB" dirty="0">
                <a:latin typeface="Lucida Sans Unicode" charset="0"/>
              </a:rPr>
              <a:t>of a set of </a:t>
            </a:r>
            <a:r>
              <a:rPr lang="en-GB" dirty="0">
                <a:solidFill>
                  <a:srgbClr val="FF6600"/>
                </a:solidFill>
                <a:latin typeface="Lucida Sans Unicode" charset="0"/>
              </a:rPr>
              <a:t>members</a:t>
            </a:r>
          </a:p>
          <a:p>
            <a:pPr lvl="1" eaLnBrk="1" hangingPunct="1">
              <a:lnSpc>
                <a:spcPct val="100000"/>
              </a:lnSpc>
            </a:pPr>
            <a:r>
              <a:rPr lang="en-GB" dirty="0">
                <a:latin typeface="Lucida Sans Unicode" charset="0"/>
              </a:rPr>
              <a:t>Attributes </a:t>
            </a:r>
          </a:p>
          <a:p>
            <a:pPr lvl="1" eaLnBrk="1" hangingPunct="1">
              <a:lnSpc>
                <a:spcPct val="100000"/>
              </a:lnSpc>
            </a:pPr>
            <a:r>
              <a:rPr lang="en-GB" dirty="0">
                <a:latin typeface="Lucida Sans Unicode" charset="0"/>
              </a:rPr>
              <a:t>Methods</a:t>
            </a:r>
          </a:p>
          <a:p>
            <a:pPr lvl="1" eaLnBrk="1" hangingPunct="1">
              <a:lnSpc>
                <a:spcPct val="100000"/>
              </a:lnSpc>
            </a:pPr>
            <a:r>
              <a:rPr lang="en-GB" dirty="0">
                <a:latin typeface="Lucida Sans Unicode" charset="0"/>
              </a:rPr>
              <a:t>Constructors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0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83B54D3-7A13-E94E-9D0E-865DD24CDB8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grpSp>
        <p:nvGrpSpPr>
          <p:cNvPr id="54274" name="Group 1"/>
          <p:cNvGrpSpPr>
            <a:grpSpLocks/>
          </p:cNvGrpSpPr>
          <p:nvPr/>
        </p:nvGrpSpPr>
        <p:grpSpPr bwMode="auto">
          <a:xfrm>
            <a:off x="449263" y="2411413"/>
            <a:ext cx="8262937" cy="3711575"/>
            <a:chOff x="283" y="1519"/>
            <a:chExt cx="5205" cy="2338"/>
          </a:xfrm>
        </p:grpSpPr>
        <p:sp>
          <p:nvSpPr>
            <p:cNvPr id="54291" name="Freeform 2"/>
            <p:cNvSpPr>
              <a:spLocks noChangeArrowheads="1"/>
            </p:cNvSpPr>
            <p:nvPr/>
          </p:nvSpPr>
          <p:spPr bwMode="auto">
            <a:xfrm>
              <a:off x="283" y="1519"/>
              <a:ext cx="5206" cy="2339"/>
            </a:xfrm>
            <a:custGeom>
              <a:avLst/>
              <a:gdLst>
                <a:gd name="T0" fmla="*/ 0 w 22956"/>
                <a:gd name="T1" fmla="*/ 0 h 10313"/>
                <a:gd name="T2" fmla="*/ 0 w 22956"/>
                <a:gd name="T3" fmla="*/ 0 h 10313"/>
                <a:gd name="T4" fmla="*/ 0 w 22956"/>
                <a:gd name="T5" fmla="*/ 0 h 10313"/>
                <a:gd name="T6" fmla="*/ 0 w 22956"/>
                <a:gd name="T7" fmla="*/ 0 h 10313"/>
                <a:gd name="T8" fmla="*/ 0 w 22956"/>
                <a:gd name="T9" fmla="*/ 0 h 10313"/>
                <a:gd name="T10" fmla="*/ 0 w 22956"/>
                <a:gd name="T11" fmla="*/ 0 h 10313"/>
                <a:gd name="T12" fmla="*/ 0 w 22956"/>
                <a:gd name="T13" fmla="*/ 0 h 10313"/>
                <a:gd name="T14" fmla="*/ 0 w 22956"/>
                <a:gd name="T15" fmla="*/ 0 h 10313"/>
                <a:gd name="T16" fmla="*/ 0 w 22956"/>
                <a:gd name="T17" fmla="*/ 0 h 10313"/>
                <a:gd name="T18" fmla="*/ 0 w 22956"/>
                <a:gd name="T19" fmla="*/ 0 h 10313"/>
                <a:gd name="T20" fmla="*/ 0 w 22956"/>
                <a:gd name="T21" fmla="*/ 0 h 10313"/>
                <a:gd name="T22" fmla="*/ 0 w 22956"/>
                <a:gd name="T23" fmla="*/ 0 h 10313"/>
                <a:gd name="T24" fmla="*/ 0 w 22956"/>
                <a:gd name="T25" fmla="*/ 0 h 10313"/>
                <a:gd name="T26" fmla="*/ 0 w 22956"/>
                <a:gd name="T27" fmla="*/ 0 h 10313"/>
                <a:gd name="T28" fmla="*/ 0 w 22956"/>
                <a:gd name="T29" fmla="*/ 0 h 10313"/>
                <a:gd name="T30" fmla="*/ 0 w 22956"/>
                <a:gd name="T31" fmla="*/ 0 h 10313"/>
                <a:gd name="T32" fmla="*/ 0 w 22956"/>
                <a:gd name="T33" fmla="*/ 0 h 103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2956"/>
                <a:gd name="T52" fmla="*/ 0 h 10313"/>
                <a:gd name="T53" fmla="*/ 22956 w 22956"/>
                <a:gd name="T54" fmla="*/ 10313 h 103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2956" h="10313">
                  <a:moveTo>
                    <a:pt x="831" y="167"/>
                  </a:moveTo>
                  <a:cubicBezTo>
                    <a:pt x="593" y="527"/>
                    <a:pt x="110" y="3652"/>
                    <a:pt x="61" y="4019"/>
                  </a:cubicBezTo>
                  <a:cubicBezTo>
                    <a:pt x="0" y="4476"/>
                    <a:pt x="96" y="8286"/>
                    <a:pt x="295" y="8574"/>
                  </a:cubicBezTo>
                  <a:cubicBezTo>
                    <a:pt x="559" y="8956"/>
                    <a:pt x="727" y="9399"/>
                    <a:pt x="998" y="9779"/>
                  </a:cubicBezTo>
                  <a:cubicBezTo>
                    <a:pt x="1299" y="10200"/>
                    <a:pt x="2044" y="9886"/>
                    <a:pt x="2472" y="10114"/>
                  </a:cubicBezTo>
                  <a:cubicBezTo>
                    <a:pt x="2844" y="10312"/>
                    <a:pt x="5496" y="9550"/>
                    <a:pt x="5888" y="9578"/>
                  </a:cubicBezTo>
                  <a:cubicBezTo>
                    <a:pt x="6289" y="9607"/>
                    <a:pt x="13843" y="9241"/>
                    <a:pt x="14295" y="9177"/>
                  </a:cubicBezTo>
                  <a:cubicBezTo>
                    <a:pt x="14783" y="9108"/>
                    <a:pt x="17010" y="7540"/>
                    <a:pt x="17409" y="7535"/>
                  </a:cubicBezTo>
                  <a:cubicBezTo>
                    <a:pt x="17881" y="7530"/>
                    <a:pt x="22263" y="7597"/>
                    <a:pt x="22567" y="7201"/>
                  </a:cubicBezTo>
                  <a:cubicBezTo>
                    <a:pt x="22814" y="6879"/>
                    <a:pt x="22955" y="6459"/>
                    <a:pt x="22801" y="6129"/>
                  </a:cubicBezTo>
                  <a:cubicBezTo>
                    <a:pt x="22626" y="5756"/>
                    <a:pt x="15913" y="5635"/>
                    <a:pt x="15467" y="5425"/>
                  </a:cubicBezTo>
                  <a:cubicBezTo>
                    <a:pt x="15042" y="5225"/>
                    <a:pt x="14551" y="5328"/>
                    <a:pt x="14194" y="4990"/>
                  </a:cubicBezTo>
                  <a:cubicBezTo>
                    <a:pt x="13886" y="4699"/>
                    <a:pt x="13057" y="3221"/>
                    <a:pt x="12854" y="2847"/>
                  </a:cubicBezTo>
                  <a:cubicBezTo>
                    <a:pt x="12603" y="2386"/>
                    <a:pt x="11537" y="907"/>
                    <a:pt x="11180" y="837"/>
                  </a:cubicBezTo>
                  <a:cubicBezTo>
                    <a:pt x="10810" y="765"/>
                    <a:pt x="8052" y="187"/>
                    <a:pt x="7596" y="167"/>
                  </a:cubicBezTo>
                  <a:lnTo>
                    <a:pt x="3879" y="0"/>
                  </a:lnTo>
                  <a:lnTo>
                    <a:pt x="1098" y="153"/>
                  </a:lnTo>
                </a:path>
              </a:pathLst>
            </a:custGeom>
            <a:noFill/>
            <a:ln w="9360">
              <a:solidFill>
                <a:srgbClr val="E46C0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Text Box 3"/>
            <p:cNvSpPr txBox="1">
              <a:spLocks noChangeArrowheads="1"/>
            </p:cNvSpPr>
            <p:nvPr/>
          </p:nvSpPr>
          <p:spPr bwMode="auto">
            <a:xfrm>
              <a:off x="283" y="1519"/>
              <a:ext cx="5206" cy="233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5000" rIns="90000" bIns="45000" anchor="ctr" anchorCtr="1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GB">
                  <a:solidFill>
                    <a:srgbClr val="000000"/>
                  </a:solidFill>
                </a:rPr>
                <a:t> </a:t>
              </a:r>
            </a:p>
          </p:txBody>
        </p:sp>
      </p:grpSp>
      <p:sp>
        <p:nvSpPr>
          <p:cNvPr id="5427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Class - definition</a:t>
            </a:r>
          </a:p>
        </p:txBody>
      </p:sp>
      <p:sp>
        <p:nvSpPr>
          <p:cNvPr id="54276" name="Line 5"/>
          <p:cNvSpPr>
            <a:spLocks noChangeShapeType="1"/>
          </p:cNvSpPr>
          <p:nvPr/>
        </p:nvSpPr>
        <p:spPr bwMode="auto">
          <a:xfrm>
            <a:off x="5724128" y="3140968"/>
            <a:ext cx="535385" cy="400745"/>
          </a:xfrm>
          <a:prstGeom prst="line">
            <a:avLst/>
          </a:prstGeom>
          <a:noFill/>
          <a:ln w="12600">
            <a:solidFill>
              <a:schemeClr val="accent6">
                <a:lumMod val="75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auto">
          <a:xfrm>
            <a:off x="433388" y="1165225"/>
            <a:ext cx="8343900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Courier New" charset="0"/>
              </a:rPr>
              <a:t>p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ublic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class</a:t>
            </a:r>
            <a:r>
              <a:rPr lang="en-GB" sz="2000" b="1" dirty="0">
                <a:solidFill>
                  <a:srgbClr val="CCCCFF"/>
                </a:solidFill>
                <a:latin typeface="Courier New" charset="0"/>
              </a:rPr>
              <a:t> </a:t>
            </a:r>
            <a:r>
              <a:rPr lang="en-GB" sz="2000" b="1" dirty="0">
                <a:solidFill>
                  <a:srgbClr val="008000"/>
                </a:solidFill>
                <a:latin typeface="Courier New" charset="0"/>
              </a:rPr>
              <a:t>Car</a:t>
            </a:r>
            <a:r>
              <a:rPr lang="en-GB" sz="2000" b="1" dirty="0">
                <a:solidFill>
                  <a:srgbClr val="CCCCFF"/>
                </a:solidFill>
                <a:latin typeface="Courier New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String 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</a:rPr>
              <a:t>color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;</a:t>
            </a:r>
          </a:p>
          <a:p>
            <a:pPr>
              <a:lnSpc>
                <a:spcPct val="100000"/>
              </a:lnSpc>
              <a:buClr>
                <a:srgbClr val="3333FF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  String brand;</a:t>
            </a:r>
          </a:p>
          <a:p>
            <a:pPr>
              <a:lnSpc>
                <a:spcPct val="100000"/>
              </a:lnSpc>
              <a:buClr>
                <a:srgbClr val="3333FF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  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</a:rPr>
              <a:t>boolean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</a:rPr>
              <a:t>turnedOn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</a:rPr>
              <a:t>;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void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turnOn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() {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 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turnedOn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= true;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}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void paint (String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newCol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) {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 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color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=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newCol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;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}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void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printState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() {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 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System.out.println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(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“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Car 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“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 + brand + 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“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“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 + </a:t>
            </a:r>
            <a:r>
              <a:rPr lang="en-GB" altLang="ja-JP" sz="2000" b="1" dirty="0" err="1">
                <a:solidFill>
                  <a:srgbClr val="FF6600"/>
                </a:solidFill>
                <a:latin typeface="Courier New" charset="0"/>
              </a:rPr>
              <a:t>color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);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  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System.out.println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(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“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the engine is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”</a:t>
            </a:r>
            <a:endParaRPr lang="en-GB" altLang="ja-JP" sz="2000" b="1" dirty="0">
              <a:solidFill>
                <a:srgbClr val="FF66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			+(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turnedOn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?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”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on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”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: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”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off</a:t>
            </a:r>
            <a:r>
              <a:rPr lang="ja-JP" altLang="en-GB" sz="2000" b="1" dirty="0">
                <a:solidFill>
                  <a:srgbClr val="FF6600"/>
                </a:solidFill>
                <a:latin typeface="Courier New" charset="0"/>
              </a:rPr>
              <a:t>”</a:t>
            </a:r>
            <a:r>
              <a:rPr lang="en-GB" altLang="ja-JP" sz="2000" b="1" dirty="0">
                <a:solidFill>
                  <a:srgbClr val="FF6600"/>
                </a:solidFill>
                <a:latin typeface="Courier New" charset="0"/>
              </a:rPr>
              <a:t>));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}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54278" name="Rectangle 7"/>
          <p:cNvSpPr>
            <a:spLocks noChangeArrowheads="1"/>
          </p:cNvSpPr>
          <p:nvPr/>
        </p:nvSpPr>
        <p:spPr bwMode="auto">
          <a:xfrm>
            <a:off x="4035525" y="1990725"/>
            <a:ext cx="1276149" cy="370059"/>
          </a:xfrm>
          <a:prstGeom prst="rect">
            <a:avLst/>
          </a:prstGeom>
          <a:solidFill>
            <a:srgbClr val="FFFFFF"/>
          </a:solidFill>
          <a:ln w="25560">
            <a:solidFill>
              <a:schemeClr val="accent4"/>
            </a:solidFill>
            <a:prstDash val="lgDash"/>
            <a:miter lim="800000"/>
            <a:headEnd/>
            <a:tailEnd/>
          </a:ln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3333FF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chemeClr val="accent4"/>
                </a:solidFill>
                <a:latin typeface="Arial" charset="0"/>
              </a:rPr>
              <a:t>Attributes</a:t>
            </a:r>
          </a:p>
        </p:txBody>
      </p:sp>
      <p:sp>
        <p:nvSpPr>
          <p:cNvPr id="54279" name="Line 8"/>
          <p:cNvSpPr>
            <a:spLocks noChangeShapeType="1"/>
          </p:cNvSpPr>
          <p:nvPr/>
        </p:nvSpPr>
        <p:spPr bwMode="auto">
          <a:xfrm flipH="1" flipV="1">
            <a:off x="2828925" y="1912937"/>
            <a:ext cx="1167011" cy="291926"/>
          </a:xfrm>
          <a:prstGeom prst="line">
            <a:avLst/>
          </a:prstGeom>
          <a:noFill/>
          <a:ln w="12600">
            <a:solidFill>
              <a:schemeClr val="accent4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0" name="Rectangle 9"/>
          <p:cNvSpPr>
            <a:spLocks noChangeArrowheads="1"/>
          </p:cNvSpPr>
          <p:nvPr/>
        </p:nvSpPr>
        <p:spPr bwMode="auto">
          <a:xfrm>
            <a:off x="6289675" y="1698625"/>
            <a:ext cx="1957388" cy="2590800"/>
          </a:xfrm>
          <a:prstGeom prst="rect">
            <a:avLst/>
          </a:prstGeom>
          <a:solidFill>
            <a:srgbClr val="FFFFFF"/>
          </a:solidFill>
          <a:ln w="19050" cmpd="sng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4281" name="Rectangle 10"/>
          <p:cNvSpPr>
            <a:spLocks noChangeArrowheads="1"/>
          </p:cNvSpPr>
          <p:nvPr/>
        </p:nvSpPr>
        <p:spPr bwMode="auto">
          <a:xfrm>
            <a:off x="7015163" y="1774825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008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b="1">
                <a:solidFill>
                  <a:srgbClr val="008000"/>
                </a:solidFill>
                <a:latin typeface="Arial" charset="0"/>
              </a:rPr>
              <a:t>Car</a:t>
            </a:r>
          </a:p>
        </p:txBody>
      </p:sp>
      <p:sp>
        <p:nvSpPr>
          <p:cNvPr id="54282" name="Line 11"/>
          <p:cNvSpPr>
            <a:spLocks noChangeShapeType="1"/>
          </p:cNvSpPr>
          <p:nvPr/>
        </p:nvSpPr>
        <p:spPr bwMode="auto">
          <a:xfrm>
            <a:off x="6292850" y="2155825"/>
            <a:ext cx="1965325" cy="15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Line 12"/>
          <p:cNvSpPr>
            <a:spLocks noChangeShapeType="1"/>
          </p:cNvSpPr>
          <p:nvPr/>
        </p:nvSpPr>
        <p:spPr bwMode="auto">
          <a:xfrm>
            <a:off x="6286500" y="3063875"/>
            <a:ext cx="1966913" cy="1588"/>
          </a:xfrm>
          <a:prstGeom prst="line">
            <a:avLst/>
          </a:prstGeom>
          <a:noFill/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Rectangle 13"/>
          <p:cNvSpPr>
            <a:spLocks noChangeArrowheads="1"/>
          </p:cNvSpPr>
          <p:nvPr/>
        </p:nvSpPr>
        <p:spPr bwMode="auto">
          <a:xfrm>
            <a:off x="6359525" y="2232025"/>
            <a:ext cx="10318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Clr>
                <a:srgbClr val="3333FF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err="1">
                <a:solidFill>
                  <a:srgbClr val="8064A2"/>
                </a:solidFill>
                <a:latin typeface="Arial" charset="0"/>
              </a:rPr>
              <a:t>color</a:t>
            </a:r>
            <a:endParaRPr lang="en-GB" sz="1600" dirty="0">
              <a:solidFill>
                <a:srgbClr val="8064A2"/>
              </a:solidFill>
              <a:latin typeface="Arial" charset="0"/>
            </a:endParaRPr>
          </a:p>
          <a:p>
            <a:pPr>
              <a:lnSpc>
                <a:spcPct val="100000"/>
              </a:lnSpc>
              <a:buClr>
                <a:srgbClr val="3333FF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8064A2"/>
                </a:solidFill>
                <a:latin typeface="Arial" charset="0"/>
              </a:rPr>
              <a:t>brand</a:t>
            </a:r>
          </a:p>
          <a:p>
            <a:pPr>
              <a:lnSpc>
                <a:spcPct val="100000"/>
              </a:lnSpc>
              <a:buClr>
                <a:srgbClr val="3333FF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err="1">
                <a:solidFill>
                  <a:srgbClr val="8064A2"/>
                </a:solidFill>
                <a:latin typeface="Arial" charset="0"/>
              </a:rPr>
              <a:t>turnedOn</a:t>
            </a:r>
            <a:endParaRPr lang="en-GB" sz="1600" dirty="0">
              <a:solidFill>
                <a:srgbClr val="8064A2"/>
              </a:solidFill>
              <a:latin typeface="Arial" charset="0"/>
            </a:endParaRPr>
          </a:p>
        </p:txBody>
      </p:sp>
      <p:sp>
        <p:nvSpPr>
          <p:cNvPr id="54285" name="Rectangle 14"/>
          <p:cNvSpPr>
            <a:spLocks noChangeArrowheads="1"/>
          </p:cNvSpPr>
          <p:nvPr/>
        </p:nvSpPr>
        <p:spPr bwMode="auto">
          <a:xfrm>
            <a:off x="6338888" y="3162300"/>
            <a:ext cx="10541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err="1">
                <a:solidFill>
                  <a:srgbClr val="FF6600"/>
                </a:solidFill>
                <a:latin typeface="Arial" charset="0"/>
              </a:rPr>
              <a:t>turnOn</a:t>
            </a:r>
            <a:endParaRPr lang="en-GB" sz="1600" dirty="0">
              <a:solidFill>
                <a:srgbClr val="FF6600"/>
              </a:solidFill>
              <a:latin typeface="Arial" charset="0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FF6600"/>
                </a:solidFill>
                <a:latin typeface="Arial" charset="0"/>
              </a:rPr>
              <a:t>paint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 err="1">
                <a:solidFill>
                  <a:srgbClr val="FF6600"/>
                </a:solidFill>
                <a:latin typeface="Arial" charset="0"/>
              </a:rPr>
              <a:t>printState</a:t>
            </a:r>
            <a:endParaRPr lang="en-GB" sz="1600" dirty="0">
              <a:solidFill>
                <a:srgbClr val="FF6600"/>
              </a:solidFill>
              <a:latin typeface="Arial" charset="0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4286" name="Line 15"/>
          <p:cNvSpPr>
            <a:spLocks noChangeShapeType="1"/>
          </p:cNvSpPr>
          <p:nvPr/>
        </p:nvSpPr>
        <p:spPr bwMode="auto">
          <a:xfrm>
            <a:off x="5364088" y="2204864"/>
            <a:ext cx="784300" cy="255761"/>
          </a:xfrm>
          <a:prstGeom prst="line">
            <a:avLst/>
          </a:prstGeom>
          <a:noFill/>
          <a:ln w="12600">
            <a:solidFill>
              <a:schemeClr val="accent4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7" name="Rectangle 16"/>
          <p:cNvSpPr>
            <a:spLocks noChangeArrowheads="1"/>
          </p:cNvSpPr>
          <p:nvPr/>
        </p:nvSpPr>
        <p:spPr bwMode="auto">
          <a:xfrm>
            <a:off x="4352925" y="1457325"/>
            <a:ext cx="831850" cy="392113"/>
          </a:xfrm>
          <a:prstGeom prst="rect">
            <a:avLst/>
          </a:prstGeom>
          <a:solidFill>
            <a:srgbClr val="FFFFFF"/>
          </a:solidFill>
          <a:ln w="25560">
            <a:solidFill>
              <a:srgbClr val="008000"/>
            </a:solidFill>
            <a:prstDash val="lgDash"/>
            <a:miter lim="800000"/>
            <a:headEnd/>
            <a:tailEnd/>
          </a:ln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008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8000"/>
                </a:solidFill>
                <a:latin typeface="Arial" charset="0"/>
              </a:rPr>
              <a:t>Name</a:t>
            </a:r>
          </a:p>
        </p:txBody>
      </p:sp>
      <p:sp>
        <p:nvSpPr>
          <p:cNvPr id="54288" name="Line 17"/>
          <p:cNvSpPr>
            <a:spLocks noChangeShapeType="1"/>
          </p:cNvSpPr>
          <p:nvPr/>
        </p:nvSpPr>
        <p:spPr bwMode="auto">
          <a:xfrm flipH="1" flipV="1">
            <a:off x="3059831" y="1484784"/>
            <a:ext cx="1274042" cy="228128"/>
          </a:xfrm>
          <a:prstGeom prst="line">
            <a:avLst/>
          </a:prstGeom>
          <a:noFill/>
          <a:ln w="126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9" name="Line 18"/>
          <p:cNvSpPr>
            <a:spLocks noChangeShapeType="1"/>
          </p:cNvSpPr>
          <p:nvPr/>
        </p:nvSpPr>
        <p:spPr bwMode="auto">
          <a:xfrm>
            <a:off x="5167313" y="1701800"/>
            <a:ext cx="1052512" cy="149225"/>
          </a:xfrm>
          <a:prstGeom prst="line">
            <a:avLst/>
          </a:prstGeom>
          <a:noFill/>
          <a:ln w="12600">
            <a:solidFill>
              <a:srgbClr val="008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0" name="Rectangle 19"/>
          <p:cNvSpPr>
            <a:spLocks noChangeArrowheads="1"/>
          </p:cNvSpPr>
          <p:nvPr/>
        </p:nvSpPr>
        <p:spPr bwMode="auto">
          <a:xfrm>
            <a:off x="4572694" y="2852936"/>
            <a:ext cx="1168598" cy="370059"/>
          </a:xfrm>
          <a:prstGeom prst="rect">
            <a:avLst/>
          </a:prstGeom>
          <a:solidFill>
            <a:srgbClr val="FFFFFF"/>
          </a:solidFill>
          <a:ln w="25560">
            <a:solidFill>
              <a:schemeClr val="accent6">
                <a:lumMod val="75000"/>
              </a:schemeClr>
            </a:solidFill>
            <a:prstDash val="lgDash"/>
            <a:miter lim="800000"/>
            <a:headEnd/>
            <a:tailEnd/>
          </a:ln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FF6600"/>
                </a:solidFill>
                <a:latin typeface="Courier New" charset="0"/>
              </a:rPr>
              <a:t>Methods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A6A4CB0-4509-E04E-B36C-4F71B103262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563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Methods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>
                <a:latin typeface="Lucida Sans Unicode" charset="0"/>
                <a:cs typeface="Lucida Sans Unicode" charset="0"/>
              </a:rPr>
              <a:t>Methods represent the messages that an object can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accept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b="1" dirty="0" err="1">
                <a:latin typeface="Courier New"/>
                <a:ea typeface="Lucida Sans Unicode" charset="0"/>
                <a:cs typeface="Courier New"/>
              </a:rPr>
              <a:t>turnOn</a:t>
            </a:r>
            <a:endParaRPr lang="en-US" b="1" dirty="0">
              <a:latin typeface="Courier New"/>
              <a:ea typeface="Lucida Sans Unicode" charset="0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b="1" dirty="0">
                <a:latin typeface="Courier New"/>
                <a:ea typeface="Lucida Sans Unicode" charset="0"/>
                <a:cs typeface="Courier New"/>
              </a:rPr>
              <a:t>paint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b="1" dirty="0" err="1">
                <a:latin typeface="Courier New"/>
                <a:ea typeface="Lucida Sans Unicode" charset="0"/>
                <a:cs typeface="Courier New"/>
              </a:rPr>
              <a:t>printState</a:t>
            </a:r>
            <a:endParaRPr lang="en-US" b="1" dirty="0">
              <a:latin typeface="Courier New"/>
              <a:ea typeface="Lucida Sans Unicode" charset="0"/>
              <a:cs typeface="Courier New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>
                <a:latin typeface="Lucida Sans Unicode" charset="0"/>
                <a:cs typeface="Lucida Sans Unicode" charset="0"/>
              </a:rPr>
              <a:t>Methods may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accept arguments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b="1" dirty="0">
                <a:latin typeface="Courier New"/>
                <a:ea typeface="Lucida Sans Unicode" charset="0"/>
                <a:cs typeface="Courier New"/>
              </a:rPr>
              <a:t>paint(“Red”)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Overloading</a:t>
            </a:r>
            <a:endParaRPr lang="en-GB" dirty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A class may define different methods with the same name</a:t>
            </a:r>
          </a:p>
          <a:p>
            <a:r>
              <a:rPr lang="en-GB" dirty="0" smtClean="0"/>
              <a:t>They must have have distinct </a:t>
            </a:r>
            <a:r>
              <a:rPr lang="en-GB" dirty="0" smtClean="0">
                <a:solidFill>
                  <a:srgbClr val="FF6600"/>
                </a:solidFill>
              </a:rPr>
              <a:t>signature</a:t>
            </a:r>
          </a:p>
          <a:p>
            <a:r>
              <a:rPr lang="en-GB" dirty="0" smtClean="0"/>
              <a:t>A signature consists of:</a:t>
            </a:r>
          </a:p>
          <a:p>
            <a:pPr lvl="1"/>
            <a:r>
              <a:rPr lang="en-GB" dirty="0" smtClean="0"/>
              <a:t>Method name </a:t>
            </a:r>
          </a:p>
          <a:p>
            <a:pPr lvl="1"/>
            <a:r>
              <a:rPr lang="en-GB" dirty="0" smtClean="0"/>
              <a:t>Ordered list of argument types </a:t>
            </a:r>
          </a:p>
          <a:p>
            <a:r>
              <a:rPr lang="en-GB" dirty="0" smtClean="0"/>
              <a:t>The method whose </a:t>
            </a:r>
            <a:r>
              <a:rPr lang="en-GB" dirty="0"/>
              <a:t>argument types </a:t>
            </a:r>
            <a:r>
              <a:rPr lang="en-GB" dirty="0" smtClean="0"/>
              <a:t>list matches the actual parameters, is selected</a:t>
            </a:r>
            <a:endParaRPr lang="en-GB" dirty="0"/>
          </a:p>
        </p:txBody>
      </p:sp>
      <p:sp>
        <p:nvSpPr>
          <p:cNvPr id="58369" name="Segnaposto numero diapositiva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32AC4F7-6312-6D4B-BE6F-A2D987997C9E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467544" y="1268760"/>
            <a:ext cx="8136904" cy="4608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class Car </a:t>
            </a:r>
            <a:r>
              <a:rPr lang="en-US" b="1" dirty="0" smtClean="0">
                <a:latin typeface="Courier New"/>
                <a:cs typeface="Courier New"/>
              </a:rPr>
              <a:t>{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String color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void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paint</a:t>
            </a:r>
            <a:r>
              <a:rPr lang="en-US" b="1" dirty="0">
                <a:latin typeface="Courier New"/>
                <a:cs typeface="Courier New"/>
              </a:rPr>
              <a:t>()</a:t>
            </a:r>
            <a:r>
              <a:rPr lang="en-US" b="1" dirty="0" smtClean="0">
                <a:latin typeface="Courier New"/>
                <a:cs typeface="Courier New"/>
              </a:rPr>
              <a:t>{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  color = “white”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</a:t>
            </a: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void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paint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i</a:t>
            </a:r>
            <a:r>
              <a:rPr lang="en-US" b="1" dirty="0">
                <a:latin typeface="Courier New"/>
                <a:cs typeface="Courier New"/>
              </a:rPr>
              <a:t>){</a:t>
            </a: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void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paint</a:t>
            </a:r>
            <a:r>
              <a:rPr lang="en-US" b="1" dirty="0">
                <a:latin typeface="Courier New"/>
                <a:cs typeface="Courier New"/>
              </a:rPr>
              <a:t>(String </a:t>
            </a:r>
            <a:r>
              <a:rPr lang="en-US" b="1" dirty="0" err="1">
                <a:latin typeface="Courier New"/>
                <a:cs typeface="Courier New"/>
              </a:rPr>
              <a:t>newCol</a:t>
            </a:r>
            <a:r>
              <a:rPr lang="en-US" b="1" dirty="0">
                <a:latin typeface="Courier New"/>
                <a:cs typeface="Courier New"/>
              </a:rPr>
              <a:t>)</a:t>
            </a:r>
            <a:r>
              <a:rPr lang="en-US" b="1" dirty="0" smtClean="0">
                <a:latin typeface="Courier New"/>
                <a:cs typeface="Courier New"/>
              </a:rPr>
              <a:t>{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  color = </a:t>
            </a:r>
            <a:r>
              <a:rPr lang="en-US" b="1" dirty="0" err="1">
                <a:latin typeface="Courier New"/>
                <a:cs typeface="Courier New"/>
              </a:rPr>
              <a:t>newCol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  </a:t>
            </a: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0330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268760"/>
            <a:ext cx="8136904" cy="4608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041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D5043CE-52B8-CC4C-88B1-E077B871E86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04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Overloading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class Foo{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public void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doIt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x,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long</a:t>
            </a:r>
            <a:r>
              <a:rPr lang="en-GB" sz="2400" b="1" dirty="0">
                <a:latin typeface="Courier New" charset="0"/>
                <a:cs typeface="Lucida Sans Unicode" charset="0"/>
              </a:rPr>
              <a:t> c){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("a");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}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public void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doIt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long</a:t>
            </a:r>
            <a:r>
              <a:rPr lang="en-GB" sz="2400" b="1" dirty="0">
                <a:latin typeface="Courier New" charset="0"/>
                <a:cs typeface="Lucida Sans Unicode" charset="0"/>
              </a:rPr>
              <a:t> x,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c){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("b");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}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public static void main(String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[]){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  Foo f = new Foo();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f.doIt</a:t>
            </a:r>
            <a:r>
              <a:rPr lang="en-GB" sz="2400" b="1" dirty="0">
                <a:latin typeface="Courier New" charset="0"/>
                <a:cs typeface="Lucida Sans Unicode" charset="0"/>
              </a:rPr>
              <a:t>(       5 ,(long)7 ); // </a:t>
            </a:r>
            <a:r>
              <a:rPr lang="ja-JP" altLang="en-GB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a</a:t>
            </a:r>
            <a:r>
              <a:rPr lang="ja-JP" altLang="en-GB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/>
            </a:r>
            <a:br>
              <a:rPr lang="en-GB" altLang="ja-JP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altLang="ja-JP" sz="2400" b="1" dirty="0" err="1">
                <a:latin typeface="Courier New" charset="0"/>
                <a:cs typeface="Lucida Sans Unicode" charset="0"/>
              </a:rPr>
              <a:t>f.doIt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( (long)5 ,      7 ); // </a:t>
            </a:r>
            <a:r>
              <a:rPr lang="ja-JP" altLang="en-GB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b</a:t>
            </a:r>
            <a:r>
              <a:rPr lang="ja-JP" altLang="en-GB" sz="24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  }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}</a:t>
            </a:r>
            <a:r>
              <a:rPr lang="en-GB" altLang="ja-JP" b="1" dirty="0">
                <a:latin typeface="Lucida Sans Unicode" charset="0"/>
                <a:cs typeface="Lucida Sans Unicode" charset="0"/>
              </a:rPr>
              <a:t> </a:t>
            </a:r>
            <a:endParaRPr lang="en-GB" b="1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E3B8922-5569-764D-9E14-EA52D4E2112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24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 object is identified by: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lass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, which defines its structure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(in terms of attributes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and methods)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State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(values of attributes)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I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nternal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unique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 identifier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Zero, one or more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references </a:t>
            </a:r>
            <a:r>
              <a:rPr lang="en-GB" dirty="0">
                <a:latin typeface="Lucida Sans Unicode" charset="0"/>
                <a:cs typeface="Lucida Sans Unicode" charset="0"/>
              </a:rPr>
              <a:t>can point to the same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object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Aliasing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54B56E6-A8E4-5A43-B552-8DA7A9341DD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45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</a:t>
            </a: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675208" y="1241896"/>
            <a:ext cx="6489080" cy="48514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Car {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String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paint(){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“white”;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paint(String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newCol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) {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newCol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a1.paint(“green”);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= new Car();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1196752"/>
            <a:ext cx="2592288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220072" y="5229200"/>
            <a:ext cx="3816424" cy="1296144"/>
          </a:xfrm>
          <a:prstGeom prst="wedgeRoundRectCallout">
            <a:avLst>
              <a:gd name="adj1" fmla="val -62847"/>
              <a:gd name="adj2" fmla="val -7318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Two </a:t>
            </a:r>
            <a:r>
              <a:rPr lang="en-US" sz="2000" dirty="0" smtClean="0">
                <a:solidFill>
                  <a:srgbClr val="FF6600"/>
                </a:solidFill>
                <a:latin typeface="+mn-lt"/>
              </a:rPr>
              <a:t>uninitialized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 references are created, they can’t be used in any way.</a:t>
            </a:r>
            <a:br>
              <a:rPr lang="en-US" sz="2000" dirty="0" smtClean="0">
                <a:solidFill>
                  <a:schemeClr val="tx1"/>
                </a:solidFill>
                <a:latin typeface="+mn-lt"/>
              </a:rPr>
            </a:b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A reference </a:t>
            </a:r>
            <a:r>
              <a:rPr lang="en-US" sz="2000" b="1" dirty="0" smtClean="0">
                <a:solidFill>
                  <a:schemeClr val="tx1"/>
                </a:solidFill>
                <a:latin typeface="+mn-lt"/>
              </a:rPr>
              <a:t>is not 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an object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9541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10" grpId="0" animBg="1"/>
      <p:bldP spid="11" grpId="0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29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1628800"/>
            <a:ext cx="3384376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28184" y="3212976"/>
            <a:ext cx="187220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1 : Car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9" name="Curved Connector 8"/>
          <p:cNvCxnSpPr>
            <a:stCxn id="12" idx="3"/>
            <a:endCxn id="6" idx="1"/>
          </p:cNvCxnSpPr>
          <p:nvPr/>
        </p:nvCxnSpPr>
        <p:spPr bwMode="auto">
          <a:xfrm flipV="1">
            <a:off x="4644008" y="3501008"/>
            <a:ext cx="1584176" cy="1152128"/>
          </a:xfrm>
          <a:prstGeom prst="curvedConnector3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ounded Rectangular Callout 15"/>
          <p:cNvSpPr/>
          <p:nvPr/>
        </p:nvSpPr>
        <p:spPr bwMode="auto">
          <a:xfrm>
            <a:off x="5652120" y="4869160"/>
            <a:ext cx="3132856" cy="1440160"/>
          </a:xfrm>
          <a:prstGeom prst="wedgeRoundRectCallout">
            <a:avLst>
              <a:gd name="adj1" fmla="val -77535"/>
              <a:gd name="adj2" fmla="val -5983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An object is created and the “pointer” stored into the reference 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a1</a:t>
            </a:r>
            <a:endParaRPr lang="en-US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16966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6" grpId="0" animBg="1"/>
      <p:bldP spid="7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2060848"/>
            <a:ext cx="4248472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28184" y="3212976"/>
            <a:ext cx="187220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1 : Car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9" name="Curved Connector 8"/>
          <p:cNvCxnSpPr>
            <a:stCxn id="12" idx="3"/>
            <a:endCxn id="6" idx="1"/>
          </p:cNvCxnSpPr>
          <p:nvPr/>
        </p:nvCxnSpPr>
        <p:spPr bwMode="auto">
          <a:xfrm flipV="1">
            <a:off x="4644008" y="3501008"/>
            <a:ext cx="1584176" cy="1152128"/>
          </a:xfrm>
          <a:prstGeom prst="curvedConnector3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 rot="20268579">
            <a:off x="4910430" y="4284728"/>
            <a:ext cx="2309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+mn-lt"/>
              </a:rPr>
              <a:t>p</a:t>
            </a:r>
            <a:r>
              <a:rPr lang="en-US" dirty="0" smtClean="0">
                <a:solidFill>
                  <a:srgbClr val="000000"/>
                </a:solidFill>
                <a:latin typeface="+mn-lt"/>
              </a:rPr>
              <a:t>aint(“yellow”)</a:t>
            </a:r>
            <a:endParaRPr lang="en-US" dirty="0">
              <a:solidFill>
                <a:srgbClr val="000000"/>
              </a:solidFill>
              <a:latin typeface="+mn-lt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5364088" y="3861048"/>
            <a:ext cx="648072" cy="576064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ectangle 17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5868144" y="4869160"/>
            <a:ext cx="2916832" cy="1440160"/>
          </a:xfrm>
          <a:prstGeom prst="wedgeRoundRectCallout">
            <a:avLst>
              <a:gd name="adj1" fmla="val -64594"/>
              <a:gd name="adj2" fmla="val -5815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Method </a:t>
            </a:r>
            <a:r>
              <a:rPr lang="en-US" sz="20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paint()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 is invoked on the object through the reference </a:t>
            </a:r>
            <a:r>
              <a:rPr lang="en-US" sz="20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887024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2492896"/>
            <a:ext cx="1944216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?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28184" y="3212976"/>
            <a:ext cx="187220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1 : Car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9" name="Curved Connector 8"/>
          <p:cNvCxnSpPr>
            <a:endCxn id="6" idx="1"/>
          </p:cNvCxnSpPr>
          <p:nvPr/>
        </p:nvCxnSpPr>
        <p:spPr bwMode="auto">
          <a:xfrm flipV="1">
            <a:off x="4644008" y="3501008"/>
            <a:ext cx="1584176" cy="1152128"/>
          </a:xfrm>
          <a:prstGeom prst="curvedConnector3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ectangle 17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9" name="Curved Connector 18"/>
          <p:cNvCxnSpPr>
            <a:stCxn id="10" idx="3"/>
            <a:endCxn id="6" idx="2"/>
          </p:cNvCxnSpPr>
          <p:nvPr/>
        </p:nvCxnSpPr>
        <p:spPr bwMode="auto">
          <a:xfrm flipV="1">
            <a:off x="4644008" y="3789040"/>
            <a:ext cx="2520280" cy="1440160"/>
          </a:xfrm>
          <a:prstGeom prst="curvedConnector2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Rounded Rectangular Callout 21"/>
          <p:cNvSpPr/>
          <p:nvPr/>
        </p:nvSpPr>
        <p:spPr bwMode="auto">
          <a:xfrm>
            <a:off x="5652120" y="5229200"/>
            <a:ext cx="3132856" cy="1080120"/>
          </a:xfrm>
          <a:prstGeom prst="wedgeRoundRectCallout">
            <a:avLst>
              <a:gd name="adj1" fmla="val -78693"/>
              <a:gd name="adj2" fmla="val -4052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Two references point to the same object.</a:t>
            </a:r>
          </a:p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This is </a:t>
            </a:r>
            <a:r>
              <a:rPr lang="en-US" sz="2000" dirty="0" smtClean="0">
                <a:solidFill>
                  <a:srgbClr val="FF6600"/>
                </a:solidFill>
                <a:latin typeface="+mn-lt"/>
              </a:rPr>
              <a:t>aliasing</a:t>
            </a:r>
            <a:endParaRPr lang="en-US" sz="2000" dirty="0">
              <a:solidFill>
                <a:srgbClr val="FF66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7867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2852936"/>
            <a:ext cx="2304256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28184" y="3212976"/>
            <a:ext cx="187220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1 : Car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9" name="Curved Connector 8"/>
          <p:cNvCxnSpPr>
            <a:endCxn id="6" idx="1"/>
          </p:cNvCxnSpPr>
          <p:nvPr/>
        </p:nvCxnSpPr>
        <p:spPr bwMode="auto">
          <a:xfrm flipV="1">
            <a:off x="4644008" y="3501008"/>
            <a:ext cx="1584176" cy="1152128"/>
          </a:xfrm>
          <a:prstGeom prst="curvedConnector3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ectangle 17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9" name="Curved Connector 18"/>
          <p:cNvCxnSpPr>
            <a:stCxn id="10" idx="3"/>
            <a:endCxn id="6" idx="2"/>
          </p:cNvCxnSpPr>
          <p:nvPr/>
        </p:nvCxnSpPr>
        <p:spPr bwMode="auto">
          <a:xfrm flipV="1">
            <a:off x="4644008" y="3789040"/>
            <a:ext cx="2520280" cy="1440160"/>
          </a:xfrm>
          <a:prstGeom prst="curvedConnector2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null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5652120" y="5517232"/>
            <a:ext cx="3132856" cy="792088"/>
          </a:xfrm>
          <a:prstGeom prst="wedgeRoundRectCallout">
            <a:avLst>
              <a:gd name="adj1" fmla="val -73674"/>
              <a:gd name="adj2" fmla="val -6800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Only one reference points to the object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8024" y="4356393"/>
            <a:ext cx="569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chemeClr val="accent4">
                    <a:lumMod val="75000"/>
                  </a:schemeClr>
                </a:solidFill>
                <a:latin typeface="+mn-lt"/>
              </a:rPr>
              <a:t>X</a:t>
            </a:r>
            <a:endParaRPr lang="en-US" sz="4800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9759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20" grpId="0" animBg="1"/>
      <p:bldP spid="22" grpId="0"/>
      <p:bldP spid="2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79512" y="1124744"/>
            <a:ext cx="453650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64E63-CA51-184C-A908-01DD0B8B147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and references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51520" y="3284984"/>
            <a:ext cx="2304256" cy="504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40283" y="1139825"/>
            <a:ext cx="4547741" cy="267838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wrap="square" lIns="92160" tIns="46080" rIns="92160" bIns="46080">
            <a:spAutoFit/>
          </a:bodyPr>
          <a:lstStyle/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 a1, a2;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new Car();</a:t>
            </a: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a1.paint(“yellow”)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 smtClean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a1; </a:t>
            </a:r>
            <a:endParaRPr lang="en-GB" sz="2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a1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Courier New" charset="0"/>
              <a:cs typeface="Lucida Sans Unicode" charset="0"/>
            </a:endParaRPr>
          </a:p>
          <a:p>
            <a:pPr algn="just"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a2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 null</a:t>
            </a:r>
            <a:r>
              <a:rPr lang="en-GB" sz="2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endParaRPr lang="en-GB" sz="28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75856" y="4437112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null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99792" y="4509120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a1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5085184"/>
            <a:ext cx="549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a2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28184" y="3212976"/>
            <a:ext cx="1872208" cy="576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1 : Car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812360" y="3068960"/>
            <a:ext cx="504056" cy="43204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9" name="Curved Connector 18"/>
          <p:cNvCxnSpPr>
            <a:stCxn id="10" idx="3"/>
            <a:endCxn id="6" idx="2"/>
          </p:cNvCxnSpPr>
          <p:nvPr/>
        </p:nvCxnSpPr>
        <p:spPr bwMode="auto">
          <a:xfrm flipV="1">
            <a:off x="4644008" y="3789040"/>
            <a:ext cx="2520280" cy="1440160"/>
          </a:xfrm>
          <a:prstGeom prst="curvedConnector2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3275856" y="5013176"/>
            <a:ext cx="1368152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null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2040" y="5004465"/>
            <a:ext cx="569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chemeClr val="accent4">
                    <a:lumMod val="75000"/>
                  </a:schemeClr>
                </a:solidFill>
                <a:latin typeface="+mn-lt"/>
              </a:rPr>
              <a:t>X</a:t>
            </a:r>
            <a:endParaRPr lang="en-US" sz="4800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5508104" y="5085184"/>
            <a:ext cx="3456384" cy="1584176"/>
          </a:xfrm>
          <a:prstGeom prst="wedgeRoundRectCallout">
            <a:avLst>
              <a:gd name="adj1" fmla="val 2652"/>
              <a:gd name="adj2" fmla="val -12374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No reference pointing to the object, which is </a:t>
            </a:r>
            <a:r>
              <a:rPr lang="en-US" sz="2000" dirty="0" smtClean="0">
                <a:solidFill>
                  <a:srgbClr val="FF6600"/>
                </a:solidFill>
                <a:latin typeface="+mn-lt"/>
              </a:rPr>
              <a:t>unreachable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 and may be disposed of by the garbage collector</a:t>
            </a:r>
          </a:p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3567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8" grpId="0"/>
      <p:bldP spid="8" grpId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55C584D-F63B-8F49-8E1A-93AE16FC251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86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Objects Creation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Creation of an object is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performed using </a:t>
            </a:r>
            <a:r>
              <a:rPr lang="en-GB" dirty="0">
                <a:latin typeface="Lucida Sans Unicode" charset="0"/>
                <a:cs typeface="Lucida Sans Unicode" charset="0"/>
              </a:rPr>
              <a:t>the keyword </a:t>
            </a:r>
            <a:r>
              <a:rPr lang="en-GB" b="1" dirty="0">
                <a:solidFill>
                  <a:srgbClr val="FF6600"/>
                </a:solidFill>
                <a:latin typeface="Courier New"/>
                <a:cs typeface="Courier New"/>
              </a:rPr>
              <a:t>new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returns a reference to the piece of memory containing the created object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Motorcycle m =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new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Motorcycle();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CFCB975-9868-F84F-A95B-FB32FF5F484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7065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The keyword </a:t>
            </a:r>
            <a:r>
              <a:rPr lang="en-GB" b="1" dirty="0">
                <a:latin typeface="Courier New"/>
                <a:cs typeface="Courier New"/>
              </a:rPr>
              <a:t>new</a:t>
            </a: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Creates a new instance of the specific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class</a:t>
            </a: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Allocates </a:t>
            </a:r>
            <a:r>
              <a:rPr lang="en-GB" sz="2800" dirty="0">
                <a:latin typeface="Lucida Sans Unicode" charset="0"/>
                <a:cs typeface="Lucida Sans Unicode" charset="0"/>
              </a:rPr>
              <a:t>the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required memory </a:t>
            </a:r>
            <a:r>
              <a:rPr lang="en-GB" sz="2800" dirty="0">
                <a:latin typeface="Lucida Sans Unicode" charset="0"/>
                <a:cs typeface="Lucida Sans Unicode" charset="0"/>
              </a:rPr>
              <a:t>in the heap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Calls the </a:t>
            </a:r>
            <a:r>
              <a:rPr lang="en-GB" sz="2800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constructor</a:t>
            </a:r>
            <a:r>
              <a:rPr lang="en-GB" sz="2800" dirty="0">
                <a:latin typeface="Lucida Sans Unicode" charset="0"/>
                <a:cs typeface="Lucida Sans Unicode" charset="0"/>
              </a:rPr>
              <a:t>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of </a:t>
            </a:r>
            <a:r>
              <a:rPr lang="en-GB" sz="2800" dirty="0">
                <a:latin typeface="Lucida Sans Unicode" charset="0"/>
                <a:cs typeface="Lucida Sans Unicode" charset="0"/>
              </a:rPr>
              <a:t>the object (a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special method </a:t>
            </a:r>
            <a:r>
              <a:rPr lang="en-GB" sz="2800" dirty="0">
                <a:latin typeface="Lucida Sans Unicode" charset="0"/>
                <a:cs typeface="Lucida Sans Unicode" charset="0"/>
              </a:rPr>
              <a:t>without return type and with the same name of the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class</a:t>
            </a:r>
            <a:r>
              <a:rPr lang="en-GB" sz="2800" dirty="0">
                <a:latin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Returns a reference to the new object created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Constructor can have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parameters, e.g.</a:t>
            </a:r>
            <a:endParaRPr lang="en-GB" sz="2800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/>
                <a:ea typeface="Lucida Sans Unicode" charset="0"/>
                <a:cs typeface="Courier New"/>
              </a:rPr>
              <a:t>String s = new String(</a:t>
            </a:r>
            <a:r>
              <a:rPr lang="ja-JP" altLang="en-GB" sz="2400" b="1" dirty="0">
                <a:latin typeface="Courier New"/>
                <a:ea typeface="Lucida Sans Unicode" charset="0"/>
                <a:cs typeface="Courier New"/>
              </a:rPr>
              <a:t>“</a:t>
            </a:r>
            <a:r>
              <a:rPr lang="en-GB" altLang="ja-JP" sz="2400" b="1" dirty="0">
                <a:latin typeface="Courier New"/>
                <a:ea typeface="Lucida Sans Unicode" charset="0"/>
                <a:cs typeface="Courier New"/>
              </a:rPr>
              <a:t>ABC</a:t>
            </a:r>
            <a:r>
              <a:rPr lang="ja-JP" altLang="en-GB" sz="2400" b="1" dirty="0">
                <a:latin typeface="Courier New"/>
                <a:ea typeface="Lucida Sans Unicode" charset="0"/>
                <a:cs typeface="Courier New"/>
              </a:rPr>
              <a:t>”</a:t>
            </a:r>
            <a:r>
              <a:rPr lang="en-GB" altLang="ja-JP" sz="2400" b="1" dirty="0">
                <a:latin typeface="Courier New"/>
                <a:ea typeface="Lucida Sans Unicode" charset="0"/>
                <a:cs typeface="Courier New"/>
              </a:rPr>
              <a:t>);</a:t>
            </a:r>
            <a:endParaRPr lang="en-GB" sz="2400" b="1" dirty="0">
              <a:latin typeface="Courier New"/>
              <a:ea typeface="Lucida Sans Unicode" charset="0"/>
              <a:cs typeface="Courier New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4BD2CA0-FA1F-8946-A325-587BD5C22B7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7270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Heap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A part of the memory used by an executing program to store data dynamically created at run-time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C: </a:t>
            </a:r>
            <a:r>
              <a:rPr lang="en-GB" sz="2800" b="1" dirty="0" err="1">
                <a:latin typeface="Courier New"/>
                <a:cs typeface="Courier New"/>
              </a:rPr>
              <a:t>malloc</a:t>
            </a:r>
            <a:r>
              <a:rPr lang="en-GB" sz="2800" dirty="0">
                <a:latin typeface="Lucida Sans Unicode" charset="0"/>
                <a:cs typeface="Lucida Sans Unicode" charset="0"/>
              </a:rPr>
              <a:t>, </a:t>
            </a:r>
            <a:r>
              <a:rPr lang="en-GB" sz="2800" b="1" dirty="0" err="1">
                <a:latin typeface="Courier New"/>
                <a:cs typeface="Courier New"/>
              </a:rPr>
              <a:t>calloc</a:t>
            </a:r>
            <a:r>
              <a:rPr lang="en-GB" sz="2800" dirty="0">
                <a:latin typeface="Lucida Sans Unicode" charset="0"/>
                <a:cs typeface="Lucida Sans Unicode" charset="0"/>
              </a:rPr>
              <a:t> and </a:t>
            </a:r>
            <a:r>
              <a:rPr lang="en-GB" sz="2800" b="1" dirty="0">
                <a:latin typeface="Courier New"/>
                <a:cs typeface="Courier New"/>
              </a:rPr>
              <a:t>free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Instances of types in static memory or in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heap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Java: </a:t>
            </a:r>
            <a:r>
              <a:rPr lang="en-GB" sz="2800" b="1" dirty="0">
                <a:latin typeface="Courier New"/>
                <a:cs typeface="Courier New"/>
              </a:rPr>
              <a:t>new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Instances (Objects) are always in the heap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92E2F81-E509-4E4B-BEF4-5F5FC0EF359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7475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Constructor (1)</a:t>
            </a: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Constructor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is a special method containing the operations (e.g. initialization </a:t>
            </a:r>
            <a:r>
              <a:rPr lang="en-GB" sz="2800" dirty="0">
                <a:latin typeface="Lucida Sans Unicode" charset="0"/>
                <a:cs typeface="Lucida Sans Unicode" charset="0"/>
              </a:rPr>
              <a:t>of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attributes) to be executed </a:t>
            </a:r>
            <a:r>
              <a:rPr lang="en-GB" sz="2800" dirty="0">
                <a:latin typeface="Lucida Sans Unicode" charset="0"/>
                <a:cs typeface="Lucida Sans Unicode" charset="0"/>
              </a:rPr>
              <a:t>on each object as soon as it is created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Attributes are always initialized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If </a:t>
            </a:r>
            <a:r>
              <a:rPr lang="en-GB" sz="2800" dirty="0">
                <a:latin typeface="Lucida Sans Unicode" charset="0"/>
                <a:cs typeface="Lucida Sans Unicode" charset="0"/>
              </a:rPr>
              <a:t>no constructor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at all</a:t>
            </a:r>
            <a:r>
              <a:rPr lang="en-GB" sz="2800" dirty="0">
                <a:latin typeface="Lucida Sans Unicode" charset="0"/>
                <a:cs typeface="Lucida Sans Unicode" charset="0"/>
              </a:rPr>
              <a:t> is declared, a default one (with no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arguments) </a:t>
            </a:r>
            <a:r>
              <a:rPr lang="en-GB" sz="2800" dirty="0">
                <a:latin typeface="Lucida Sans Unicode" charset="0"/>
                <a:cs typeface="Lucida Sans Unicode" charset="0"/>
              </a:rPr>
              <a:t>is provided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Overloading of constructors is often used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Constructor (2)</a:t>
            </a:r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Attributes are always initialized before any possible constructor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Attributes are initialized with default values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000" dirty="0">
                <a:latin typeface="Lucida Sans Unicode" charset="0"/>
                <a:ea typeface="Lucida Sans Unicode" charset="0"/>
                <a:cs typeface="Lucida Sans Unicode" charset="0"/>
              </a:rPr>
              <a:t>Numeric: </a:t>
            </a:r>
            <a:r>
              <a:rPr lang="en-GB" b="1" dirty="0">
                <a:latin typeface="Courier New"/>
                <a:ea typeface="Lucida Sans Unicode" charset="0"/>
                <a:cs typeface="Courier New"/>
              </a:rPr>
              <a:t>0</a:t>
            </a:r>
            <a:r>
              <a:rPr lang="en-GB" sz="2000" dirty="0">
                <a:latin typeface="Lucida Sans Unicode" charset="0"/>
                <a:ea typeface="Lucida Sans Unicode" charset="0"/>
                <a:cs typeface="Lucida Sans Unicode" charset="0"/>
              </a:rPr>
              <a:t> (zero)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000" dirty="0">
                <a:latin typeface="Lucida Sans Unicode" charset="0"/>
                <a:ea typeface="Lucida Sans Unicode" charset="0"/>
                <a:cs typeface="Lucida Sans Unicode" charset="0"/>
              </a:rPr>
              <a:t>Boolean: </a:t>
            </a:r>
            <a:r>
              <a:rPr lang="en-GB" b="1" dirty="0">
                <a:latin typeface="Courier New"/>
                <a:ea typeface="Lucida Sans Unicode" charset="0"/>
                <a:cs typeface="Courier New"/>
              </a:rPr>
              <a:t>false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000" dirty="0">
                <a:latin typeface="Lucida Sans Unicode" charset="0"/>
                <a:ea typeface="Lucida Sans Unicode" charset="0"/>
                <a:cs typeface="Lucida Sans Unicode" charset="0"/>
              </a:rPr>
              <a:t>Reference: </a:t>
            </a:r>
            <a:r>
              <a:rPr lang="en-GB" b="1" dirty="0">
                <a:latin typeface="Courier New"/>
                <a:ea typeface="Lucida Sans Unicode" charset="0"/>
                <a:cs typeface="Courier New"/>
              </a:rPr>
              <a:t>null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Return type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must not</a:t>
            </a:r>
            <a:r>
              <a:rPr lang="en-US" dirty="0">
                <a:latin typeface="Lucida Sans Unicode" charset="0"/>
                <a:cs typeface="Lucida Sans Unicode" charset="0"/>
              </a:rPr>
              <a:t> be declared for constructors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If present,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constructor is considered a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method and it is not invoked upon instantiation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51520" y="1268760"/>
            <a:ext cx="8712968" cy="51845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8849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5E1AC9B-BC8D-0945-83B4-DBD01BD33E5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39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7885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Constructors with overloading</a:t>
            </a:r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341313" y="1246188"/>
            <a:ext cx="8593137" cy="488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Car { </a:t>
            </a:r>
            <a:r>
              <a:rPr lang="en-GB" sz="2200" b="1" dirty="0">
                <a:solidFill>
                  <a:srgbClr val="7F7F7F"/>
                </a:solidFill>
                <a:latin typeface="Courier New" charset="0"/>
              </a:rPr>
              <a:t>// </a:t>
            </a:r>
            <a:r>
              <a:rPr lang="en-US" sz="2200" b="1" dirty="0">
                <a:solidFill>
                  <a:srgbClr val="7F7F7F"/>
                </a:solidFill>
                <a:latin typeface="Courier New" charset="0"/>
              </a:rPr>
              <a:t>…</a:t>
            </a:r>
            <a:endParaRPr lang="en-GB" sz="2200" b="1" dirty="0">
              <a:solidFill>
                <a:srgbClr val="7F7F7F"/>
              </a:solidFill>
              <a:latin typeface="Courier New" charset="0"/>
            </a:endParaRP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chemeClr val="accent3"/>
                </a:solidFill>
                <a:latin typeface="Courier New" charset="0"/>
              </a:rPr>
              <a:t>//	Default constructor, creates a red Ferrari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  public 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Car()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	color = "red";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	brand = "Ferrari";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}	  	  </a:t>
            </a:r>
          </a:p>
          <a:p>
            <a:pPr marL="327025" indent="-327025" eaLnBrk="1" hangingPunct="1">
              <a:lnSpc>
                <a:spcPct val="90000"/>
              </a:lnSpc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chemeClr val="accent3"/>
                </a:solidFill>
                <a:latin typeface="Courier New" charset="0"/>
              </a:rPr>
              <a:t>// Constructor accepting the brand only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7F7F7F"/>
                </a:solidFill>
                <a:latin typeface="Courier New" charset="0"/>
              </a:rPr>
              <a:t>	</a:t>
            </a:r>
            <a:r>
              <a:rPr lang="en-US" sz="2200" b="1" dirty="0" smtClean="0">
                <a:solidFill>
                  <a:srgbClr val="000000"/>
                </a:solidFill>
                <a:latin typeface="Courier New" charset="0"/>
              </a:rPr>
              <a:t>public 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Car(String </a:t>
            </a:r>
            <a:r>
              <a:rPr lang="en-US" sz="2200" b="1" dirty="0" err="1">
                <a:solidFill>
                  <a:srgbClr val="FF6600"/>
                </a:solidFill>
                <a:latin typeface="Courier New" charset="0"/>
              </a:rPr>
              <a:t>carBrand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)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	color = "white”;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    brand = </a:t>
            </a:r>
            <a:r>
              <a:rPr lang="en-US" sz="2200" b="1" dirty="0" err="1">
                <a:solidFill>
                  <a:srgbClr val="000000"/>
                </a:solidFill>
                <a:latin typeface="Courier New" charset="0"/>
              </a:rPr>
              <a:t>carBrand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}	  	  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chemeClr val="accent3"/>
                </a:solidFill>
                <a:latin typeface="Courier New" charset="0"/>
              </a:rPr>
              <a:t>// Constructor accepting the brand and the color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public 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Car(String </a:t>
            </a:r>
            <a:r>
              <a:rPr lang="en-US" sz="2200" b="1" dirty="0" err="1">
                <a:solidFill>
                  <a:srgbClr val="FF6600"/>
                </a:solidFill>
                <a:latin typeface="Courier New" charset="0"/>
              </a:rPr>
              <a:t>carBrand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, String </a:t>
            </a:r>
            <a:r>
              <a:rPr lang="en-US" sz="2200" b="1" dirty="0" err="1">
                <a:solidFill>
                  <a:srgbClr val="FF6600"/>
                </a:solidFill>
                <a:latin typeface="Courier New" charset="0"/>
              </a:rPr>
              <a:t>carColor</a:t>
            </a:r>
            <a:r>
              <a:rPr lang="en-US" sz="2200" b="1" dirty="0">
                <a:solidFill>
                  <a:srgbClr val="FF6600"/>
                </a:solidFill>
                <a:latin typeface="Courier New" charset="0"/>
              </a:rPr>
              <a:t>)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	color = </a:t>
            </a:r>
            <a:r>
              <a:rPr lang="en-US" sz="2200" b="1" dirty="0" err="1">
                <a:solidFill>
                  <a:srgbClr val="000000"/>
                </a:solidFill>
                <a:latin typeface="Courier New" charset="0"/>
              </a:rPr>
              <a:t>carColor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	brand = </a:t>
            </a:r>
            <a:r>
              <a:rPr lang="en-US" sz="2200" b="1" dirty="0" err="1">
                <a:solidFill>
                  <a:srgbClr val="000000"/>
                </a:solidFill>
                <a:latin typeface="Courier New" charset="0"/>
              </a:rPr>
              <a:t>carBrand</a:t>
            </a: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ourier New" charset="0"/>
              </a:rPr>
              <a:t>	}</a:t>
            </a: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784225" algn="l"/>
                <a:tab pos="1241425" algn="l"/>
                <a:tab pos="1698625" algn="l"/>
                <a:tab pos="2155825" algn="l"/>
                <a:tab pos="2613025" algn="l"/>
                <a:tab pos="3070225" algn="l"/>
                <a:tab pos="3527425" algn="l"/>
                <a:tab pos="3984625" algn="l"/>
                <a:tab pos="4441825" algn="l"/>
                <a:tab pos="4899025" algn="l"/>
                <a:tab pos="5356225" algn="l"/>
                <a:tab pos="5813425" algn="l"/>
                <a:tab pos="6270625" algn="l"/>
                <a:tab pos="6727825" algn="l"/>
                <a:tab pos="7185025" algn="l"/>
                <a:tab pos="7642225" algn="l"/>
                <a:tab pos="8099425" algn="l"/>
                <a:tab pos="8556625" algn="l"/>
                <a:tab pos="9013825" algn="l"/>
                <a:tab pos="9471025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D2ACC8EA-83B2-C24C-BA89-05F5A8A23C8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089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Destruction of objects</a:t>
            </a: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Memory release, in Java, is </a:t>
            </a:r>
            <a:r>
              <a:rPr lang="en-GB" dirty="0">
                <a:latin typeface="Lucida Sans Unicode" charset="0"/>
                <a:cs typeface="Lucida Sans Unicode" charset="0"/>
              </a:rPr>
              <a:t>no longer a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programmer’s </a:t>
            </a:r>
            <a:r>
              <a:rPr lang="en-GB" dirty="0">
                <a:latin typeface="Lucida Sans Unicode" charset="0"/>
                <a:cs typeface="Lucida Sans Unicode" charset="0"/>
              </a:rPr>
              <a:t>concern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Managed memory language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Before the object is really destroyed the method </a:t>
            </a:r>
            <a:r>
              <a:rPr lang="en-GB" b="1" dirty="0">
                <a:latin typeface="Courier New"/>
                <a:cs typeface="Courier New"/>
              </a:rPr>
              <a:t>finalize</a:t>
            </a:r>
            <a:r>
              <a:rPr lang="en-GB" dirty="0">
                <a:latin typeface="Lucida Sans Unicode" charset="0"/>
                <a:cs typeface="Lucida Sans Unicode" charset="0"/>
              </a:rPr>
              <a:t>, if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defined, </a:t>
            </a:r>
            <a:r>
              <a:rPr lang="en-GB" dirty="0">
                <a:latin typeface="Lucida Sans Unicode" charset="0"/>
                <a:cs typeface="Lucida Sans Unicode" charset="0"/>
              </a:rPr>
              <a:t>is invoked:</a:t>
            </a:r>
          </a:p>
          <a:p>
            <a:pPr algn="ctr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cs typeface="Lucida Sans Unicode" charset="0"/>
              </a:rPr>
              <a:t>public void finalize()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Current object – </a:t>
            </a:r>
            <a:r>
              <a:rPr lang="en-US" dirty="0" err="1">
                <a:latin typeface="Lucida Sans Unicode" charset="0"/>
                <a:cs typeface="Lucida Sans Unicode" charset="0"/>
              </a:rPr>
              <a:t>a.k.a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this</a:t>
            </a:r>
          </a:p>
        </p:txBody>
      </p:sp>
      <p:sp>
        <p:nvSpPr>
          <p:cNvPr id="829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During the execution of a method it is possible to refer to the current object using the keyword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endParaRPr lang="en-US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object upon which the method has been invoked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This makes no sense within methods that have not been invoked on an object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E.g. the </a:t>
            </a:r>
            <a:r>
              <a:rPr lang="en-US" b="1" dirty="0">
                <a:latin typeface="Courier New"/>
                <a:ea typeface="Lucida Sans Unicode" charset="0"/>
                <a:cs typeface="Courier New"/>
              </a:rPr>
              <a:t>main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971600" y="4365104"/>
            <a:ext cx="4320480" cy="1656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499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B724D53-5AA4-BB41-92B1-40F16C88E3A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49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Method invocation</a:t>
            </a: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A method is invoked using dotted notation</a:t>
            </a:r>
          </a:p>
          <a:p>
            <a:pPr lvl="1" eaLnBrk="1" hangingPunct="1">
              <a:lnSpc>
                <a:spcPct val="100000"/>
              </a:lnSpc>
              <a:buClr>
                <a:srgbClr val="FF9900"/>
              </a:buClr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 err="1" smtClean="0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objectReference</a:t>
            </a:r>
            <a:r>
              <a:rPr lang="en-GB" sz="3600" b="1" dirty="0" err="1">
                <a:solidFill>
                  <a:srgbClr val="FF663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dirty="0" err="1" smtClean="0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method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GB" b="1" dirty="0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parameters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smtClean="0">
                <a:latin typeface="Lucida Sans Unicode" charset="0"/>
                <a:cs typeface="Lucida Sans Unicode" charset="0"/>
              </a:rPr>
              <a:t>Example</a:t>
            </a:r>
            <a:r>
              <a:rPr lang="en-GB" dirty="0">
                <a:latin typeface="Lucida Sans Unicode" charset="0"/>
                <a:cs typeface="Lucida Sans Unicode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0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Car a = new Car();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en-GB" sz="3200" b="1" dirty="0" err="1">
                <a:solidFill>
                  <a:srgbClr val="FF663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turnOn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();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 err="1" smtClean="0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en-GB" b="1" dirty="0" err="1">
                <a:solidFill>
                  <a:srgbClr val="FF663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dirty="0" err="1" smtClean="0">
                <a:latin typeface="Courier New" charset="0"/>
                <a:ea typeface="Lucida Sans Unicode" charset="0"/>
                <a:cs typeface="Lucida Sans Unicode" charset="0"/>
              </a:rPr>
              <a:t>paint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it-IT" altLang="ja-JP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ea typeface="Lucida Sans Unicode" charset="0"/>
                <a:cs typeface="Lucida Sans Unicode" charset="0"/>
              </a:rPr>
              <a:t>Blue</a:t>
            </a:r>
            <a:r>
              <a:rPr lang="it-IT" altLang="ja-JP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899592" y="2780928"/>
            <a:ext cx="6552728" cy="3240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704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CBBFB6D-0CCA-A144-94FD-CAF8A77BE59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704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Note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>
                <a:latin typeface="Lucida Sans Unicode" charset="0"/>
                <a:cs typeface="Lucida Sans Unicode" charset="0"/>
              </a:rPr>
              <a:t>If a method is invoked from within another method of the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same object</a:t>
            </a:r>
            <a:r>
              <a:rPr lang="en-US" dirty="0">
                <a:latin typeface="Lucida Sans Unicode" charset="0"/>
                <a:cs typeface="Lucida Sans Unicode" charset="0"/>
              </a:rPr>
              <a:t> dotted notation is not mandatory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class Book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 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2400" b="1" dirty="0">
                <a:latin typeface="Courier New" charset="0"/>
                <a:cs typeface="Lucida Sans Unicode" charset="0"/>
              </a:rPr>
              <a:t> pages;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  void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readPage</a:t>
            </a:r>
            <a:r>
              <a:rPr lang="en-US" sz="2400" b="1" dirty="0">
                <a:latin typeface="Courier New" charset="0"/>
                <a:cs typeface="Lucida Sans Unicode" charset="0"/>
              </a:rPr>
              <a:t>(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2400" b="1" dirty="0">
                <a:latin typeface="Courier New" charset="0"/>
                <a:cs typeface="Lucida Sans Unicode" charset="0"/>
              </a:rPr>
              <a:t> n) { …    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  void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readAll</a:t>
            </a:r>
            <a:r>
              <a:rPr lang="en-US" sz="2400" b="1" dirty="0">
                <a:latin typeface="Courier New" charset="0"/>
                <a:cs typeface="Lucida Sans Unicode" charset="0"/>
              </a:rPr>
              <a:t>()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       for(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2400" b="1" dirty="0">
                <a:latin typeface="Courier New" charset="0"/>
                <a:cs typeface="Lucida Sans Unicode" charset="0"/>
              </a:rPr>
              <a:t>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US" sz="2400" b="1" dirty="0">
                <a:latin typeface="Courier New" charset="0"/>
                <a:cs typeface="Lucida Sans Unicode" charset="0"/>
              </a:rPr>
              <a:t>=0;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US" sz="2400" b="1" dirty="0">
                <a:latin typeface="Courier New" charset="0"/>
                <a:cs typeface="Lucida Sans Unicode" charset="0"/>
              </a:rPr>
              <a:t>&lt;pages; </a:t>
            </a:r>
            <a:r>
              <a:rPr lang="en-US" sz="2400" b="1" dirty="0" err="1">
                <a:latin typeface="Courier New" charset="0"/>
                <a:cs typeface="Lucida Sans Unicode" charset="0"/>
              </a:rPr>
              <a:t>i</a:t>
            </a:r>
            <a:r>
              <a:rPr lang="en-US" sz="2400" b="1" dirty="0">
                <a:latin typeface="Courier New" charset="0"/>
                <a:cs typeface="Lucida Sans Unicode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cs typeface="Lucida Sans Unicode" charset="0"/>
              </a:rPr>
              <a:t>            </a:t>
            </a:r>
            <a:r>
              <a:rPr lang="en-US" sz="2400" b="1" dirty="0" err="1" smtClean="0">
                <a:latin typeface="Courier New" charset="0"/>
                <a:cs typeface="Lucida Sans Unicode" charset="0"/>
              </a:rPr>
              <a:t>readPage</a:t>
            </a:r>
            <a:r>
              <a:rPr lang="en-US" sz="2400" b="1" dirty="0" smtClean="0">
                <a:latin typeface="Courier New" charset="0"/>
                <a:cs typeface="Lucida Sans Unicode" charset="0"/>
              </a:rPr>
              <a:t>(</a:t>
            </a:r>
            <a:r>
              <a:rPr lang="en-US" sz="2400" b="1" dirty="0" err="1" smtClean="0">
                <a:latin typeface="Courier New" charset="0"/>
                <a:cs typeface="Lucida Sans Unicode" charset="0"/>
              </a:rPr>
              <a:t>i</a:t>
            </a:r>
            <a:r>
              <a:rPr lang="en-US" sz="2400" b="1" dirty="0">
                <a:latin typeface="Courier New" charset="0"/>
                <a:cs typeface="Lucida Sans Unicode" charset="0"/>
              </a:rPr>
              <a:t>);</a:t>
            </a:r>
            <a:br>
              <a:rPr lang="en-US" sz="2400" b="1" dirty="0">
                <a:latin typeface="Courier New" charset="0"/>
                <a:cs typeface="Lucida Sans Unicode" charset="0"/>
              </a:rPr>
            </a:br>
            <a:r>
              <a:rPr lang="en-US" sz="2400" b="1" dirty="0">
                <a:latin typeface="Courier New" charset="0"/>
                <a:cs typeface="Lucida Sans Unicode" charset="0"/>
              </a:rPr>
              <a:t>       }</a:t>
            </a:r>
            <a:br>
              <a:rPr lang="en-US" sz="2400" b="1" dirty="0">
                <a:latin typeface="Courier New" charset="0"/>
                <a:cs typeface="Lucida Sans Unicode" charset="0"/>
              </a:rPr>
            </a:br>
            <a:r>
              <a:rPr lang="en-US" sz="2400" b="1" dirty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9D701A4-1D85-C044-BC87-92F400F1517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90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Note (</a:t>
            </a:r>
            <a:r>
              <a:rPr lang="en-GB" dirty="0" err="1">
                <a:latin typeface="Lucida Sans Unicode" charset="0"/>
                <a:cs typeface="Lucida Sans Unicode" charset="0"/>
              </a:rPr>
              <a:t>cont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’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d)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9525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In such cases </a:t>
            </a:r>
            <a:r>
              <a:rPr lang="en-GB" sz="2800" b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this</a:t>
            </a:r>
            <a:r>
              <a:rPr lang="en-GB" sz="2800">
                <a:latin typeface="Lucida Sans Unicode" charset="0"/>
                <a:cs typeface="Lucida Sans Unicode" charset="0"/>
              </a:rPr>
              <a:t> is implied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>
                <a:latin typeface="Lucida Sans Unicode" charset="0"/>
                <a:cs typeface="Lucida Sans Unicode" charset="0"/>
              </a:rPr>
              <a:t>I</a:t>
            </a:r>
            <a:r>
              <a:rPr lang="en-GB" sz="2800">
                <a:latin typeface="Lucida Sans Unicode" charset="0"/>
                <a:cs typeface="Lucida Sans Unicode" charset="0"/>
              </a:rPr>
              <a:t>t is not mandatory</a:t>
            </a:r>
          </a:p>
        </p:txBody>
      </p:sp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279400" y="2273300"/>
            <a:ext cx="4862513" cy="3022600"/>
          </a:xfrm>
          <a:prstGeom prst="rect">
            <a:avLst/>
          </a:prstGeom>
          <a:solidFill>
            <a:srgbClr val="FDEADA"/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class Book {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int pages;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void readPage(int n){…}</a:t>
            </a:r>
            <a:br>
              <a:rPr lang="en-GB" b="1">
                <a:solidFill>
                  <a:srgbClr val="000000"/>
                </a:solidFill>
                <a:latin typeface="Courier New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</a:rPr>
              <a:t>  void readAll() {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  for(…)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    </a:t>
            </a:r>
            <a:r>
              <a:rPr lang="en-GB" b="1">
                <a:solidFill>
                  <a:srgbClr val="FF6633"/>
                </a:solidFill>
                <a:latin typeface="Courier New" charset="0"/>
              </a:rPr>
              <a:t>readPage</a:t>
            </a:r>
            <a:r>
              <a:rPr lang="en-GB" b="1">
                <a:solidFill>
                  <a:srgbClr val="000000"/>
                </a:solidFill>
                <a:latin typeface="Courier New" charset="0"/>
              </a:rPr>
              <a:t>(i);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}</a:t>
            </a:r>
            <a:br>
              <a:rPr lang="en-GB" b="1">
                <a:solidFill>
                  <a:srgbClr val="000000"/>
                </a:solidFill>
                <a:latin typeface="Courier New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4114800" y="4724400"/>
            <a:ext cx="4699000" cy="1571625"/>
          </a:xfrm>
          <a:prstGeom prst="rect">
            <a:avLst/>
          </a:prstGeom>
          <a:solidFill>
            <a:srgbClr val="FDEADA"/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void readAll() {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  for(…)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    </a:t>
            </a:r>
            <a:r>
              <a:rPr lang="en-GB" b="1">
                <a:solidFill>
                  <a:srgbClr val="FF6633"/>
                </a:solidFill>
                <a:latin typeface="Courier New" charset="0"/>
              </a:rPr>
              <a:t>this</a:t>
            </a:r>
            <a:r>
              <a:rPr lang="en-GB" b="1">
                <a:solidFill>
                  <a:srgbClr val="000000"/>
                </a:solidFill>
                <a:latin typeface="Courier New" charset="0"/>
              </a:rPr>
              <a:t>.readPage(i);</a:t>
            </a:r>
          </a:p>
          <a:p>
            <a:pPr eaLnBrk="1" hangingPunct="1">
              <a:lnSpc>
                <a:spcPct val="100000"/>
              </a:lnSpc>
              <a:buSzPct val="80000"/>
              <a:buFont typeface="Symbol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}</a:t>
            </a:r>
          </a:p>
        </p:txBody>
      </p:sp>
      <p:cxnSp>
        <p:nvCxnSpPr>
          <p:cNvPr id="89094" name="Shape 9"/>
          <p:cNvCxnSpPr>
            <a:cxnSpLocks noChangeShapeType="1"/>
            <a:stCxn id="89092" idx="3"/>
            <a:endCxn id="89093" idx="0"/>
          </p:cNvCxnSpPr>
          <p:nvPr/>
        </p:nvCxnSpPr>
        <p:spPr bwMode="auto">
          <a:xfrm>
            <a:off x="5141913" y="3784600"/>
            <a:ext cx="1322387" cy="9398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095" name="TextBox 14"/>
          <p:cNvSpPr txBox="1">
            <a:spLocks noChangeArrowheads="1"/>
          </p:cNvSpPr>
          <p:nvPr/>
        </p:nvSpPr>
        <p:spPr bwMode="auto">
          <a:xfrm>
            <a:off x="6096000" y="3810000"/>
            <a:ext cx="17256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Lucida Sans Unicode" charset="0"/>
              </a:rPr>
              <a:t>equivalent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971600" y="3429000"/>
            <a:ext cx="7776864" cy="1800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113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3F24D7D-89BC-C641-B440-513CE756AA2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911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Access to attributes</a:t>
            </a: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Dotted notation</a:t>
            </a:r>
          </a:p>
          <a:p>
            <a:pPr lvl="1" algn="ctr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 dirty="0" err="1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objectReference</a:t>
            </a:r>
            <a:r>
              <a:rPr lang="en-GB" sz="3200" b="1" i="1" dirty="0" err="1">
                <a:solidFill>
                  <a:srgbClr val="FF6633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i="1" dirty="0" err="1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attribute</a:t>
            </a:r>
            <a:endParaRPr lang="en-GB" b="1" i="1" dirty="0">
              <a:solidFill>
                <a:srgbClr val="9BBB59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A reference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is used like a normal variable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Car a = new Car();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color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= </a:t>
            </a:r>
            <a:r>
              <a:rPr lang="it-IT" altLang="ja-JP" b="1" dirty="0" smtClean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ea typeface="Lucida Sans Unicode" charset="0"/>
                <a:cs typeface="Lucida Sans Unicode" charset="0"/>
              </a:rPr>
              <a:t>Blue</a:t>
            </a:r>
            <a:r>
              <a:rPr lang="it-IT" altLang="ja-JP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ea typeface="Lucida Sans Unicode" charset="0"/>
                <a:cs typeface="Lucida Sans Unicode" charset="0"/>
              </a:rPr>
              <a:t>; </a:t>
            </a:r>
            <a:r>
              <a:rPr lang="en-GB" altLang="ja-JP" sz="2400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//what</a:t>
            </a:r>
            <a:r>
              <a:rPr lang="ja-JP" altLang="en-GB" sz="2400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s wrong here?</a:t>
            </a:r>
            <a:endParaRPr lang="en-GB" altLang="ja-JP" b="1" dirty="0">
              <a:solidFill>
                <a:srgbClr val="7F7F7F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boolean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x =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a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.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turnedOn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043608" y="2708920"/>
            <a:ext cx="7848872" cy="3240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318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B99FC9D-4B24-0844-9069-A7C1F85F7C8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931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Access to attributes 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9752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Methods accessing attributes of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same object</a:t>
            </a:r>
            <a:r>
              <a:rPr lang="en-GB" dirty="0">
                <a:latin typeface="Lucida Sans Unicode" charset="0"/>
                <a:cs typeface="Lucida Sans Unicode" charset="0"/>
              </a:rPr>
              <a:t> do not need to use the object reference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class Car {</a:t>
            </a:r>
            <a:b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String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color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  <a:b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is-IS" b="1" dirty="0" smtClean="0">
                <a:latin typeface="Courier New" charset="0"/>
                <a:ea typeface="Lucida Sans Unicode" charset="0"/>
                <a:cs typeface="Lucida Sans Unicode" charset="0"/>
              </a:rPr>
              <a:t>…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/>
            </a:r>
            <a:b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void paint(){</a:t>
            </a:r>
            <a:b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 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color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 = </a:t>
            </a:r>
            <a:r>
              <a:rPr lang="ja-JP" altLang="en-GB" b="1" dirty="0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green</a:t>
            </a:r>
            <a:r>
              <a:rPr lang="ja-JP" altLang="en-GB" b="1" dirty="0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;  </a:t>
            </a:r>
            <a:b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   </a:t>
            </a:r>
            <a:r>
              <a:rPr lang="en-GB" altLang="ja-JP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// </a:t>
            </a:r>
            <a:r>
              <a:rPr lang="en-GB" altLang="ja-JP" b="1" dirty="0" err="1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color</a:t>
            </a:r>
            <a:r>
              <a:rPr lang="en-GB" altLang="ja-JP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 refers to current </a:t>
            </a:r>
            <a:r>
              <a:rPr lang="en-GB" altLang="ja-JP" b="1" dirty="0" err="1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r>
              <a:rPr lang="en-GB" altLang="ja-JP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  <a:t/>
            </a:r>
            <a:br>
              <a:rPr lang="en-GB" altLang="ja-JP" b="1" dirty="0">
                <a:solidFill>
                  <a:srgbClr val="7F7F7F"/>
                </a:solidFill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 }</a:t>
            </a:r>
            <a:b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altLang="ja-JP" b="1" dirty="0"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683568" y="3212976"/>
            <a:ext cx="7128792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523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D1F2639-E89C-564B-B442-5509C5A1AC5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952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Using 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“</a:t>
            </a:r>
            <a:r>
              <a:rPr lang="en-GB" altLang="ja-JP" b="1" dirty="0">
                <a:latin typeface="Courier New"/>
                <a:cs typeface="Courier New"/>
              </a:rPr>
              <a:t>this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”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for attributes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The use of this is not mandatory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can be useful in methods to disambiguate object attributes from local variables</a:t>
            </a:r>
            <a:endParaRPr lang="en-GB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class Car{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color</a:t>
            </a:r>
            <a:r>
              <a:rPr lang="en-GB" sz="2800" b="1" dirty="0">
                <a:latin typeface="Courier New" charset="0"/>
                <a:cs typeface="Lucida Sans Unicode" charset="0"/>
              </a:rPr>
              <a:t>;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...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void paint (String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color</a:t>
            </a:r>
            <a:r>
              <a:rPr lang="en-GB" sz="2800" b="1" dirty="0">
                <a:latin typeface="Courier New" charset="0"/>
                <a:cs typeface="Lucida Sans Unicode" charset="0"/>
              </a:rPr>
              <a:t>) {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  </a:t>
            </a:r>
            <a:r>
              <a:rPr lang="en-GB" sz="2800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this.color</a:t>
            </a:r>
            <a:r>
              <a:rPr lang="en-GB" sz="28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sz="2800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28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;</a:t>
            </a:r>
            <a:r>
              <a:rPr lang="en-GB" sz="28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  <a:t/>
            </a:r>
            <a:br>
              <a:rPr lang="en-GB" sz="2800" b="1" dirty="0">
                <a:solidFill>
                  <a:srgbClr val="FF9900"/>
                </a:solidFill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683568" y="1844824"/>
            <a:ext cx="8136904" cy="6480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728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6BED1D0-E6CD-AE45-8FA1-7733F6A2815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48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972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Chaining dotted </a:t>
            </a:r>
            <a:r>
              <a:rPr lang="en-GB" dirty="0">
                <a:latin typeface="Lucida Sans Unicode" charset="0"/>
                <a:cs typeface="Lucida Sans Unicode" charset="0"/>
              </a:rPr>
              <a:t>notations</a:t>
            </a:r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000" dirty="0">
                <a:latin typeface="Lucida Sans Unicode" charset="0"/>
                <a:cs typeface="Lucida Sans Unicode" charset="0"/>
              </a:rPr>
              <a:t>Dotted notations can be combined</a:t>
            </a:r>
          </a:p>
          <a:p>
            <a:pPr algn="ctr"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000" b="1" dirty="0" err="1">
                <a:latin typeface="Courier New" charset="0"/>
                <a:cs typeface="Lucida Sans Unicode" charset="0"/>
              </a:rPr>
              <a:t>System</a:t>
            </a:r>
            <a:r>
              <a:rPr lang="en-GB" sz="30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3000" b="1" dirty="0" err="1">
                <a:latin typeface="Courier New" charset="0"/>
                <a:cs typeface="Lucida Sans Unicode" charset="0"/>
              </a:rPr>
              <a:t>out</a:t>
            </a:r>
            <a:r>
              <a:rPr lang="en-GB" sz="30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3000" b="1" dirty="0" err="1">
                <a:latin typeface="Courier New" charset="0"/>
                <a:cs typeface="Lucida Sans Unicode" charset="0"/>
              </a:rPr>
              <a:t>println</a:t>
            </a:r>
            <a:r>
              <a:rPr lang="en-GB" sz="30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30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3000" b="1" dirty="0">
                <a:latin typeface="Courier New" charset="0"/>
                <a:cs typeface="Lucida Sans Unicode" charset="0"/>
              </a:rPr>
              <a:t>Hello world!</a:t>
            </a:r>
            <a:r>
              <a:rPr lang="ja-JP" altLang="en-GB" sz="30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3000" b="1" dirty="0">
                <a:latin typeface="Courier New" charset="0"/>
                <a:cs typeface="Lucida Sans Unicode" charset="0"/>
              </a:rPr>
              <a:t>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ea typeface="Lucida Sans Unicode" charset="0"/>
                <a:cs typeface="Lucida Sans Unicode" charset="0"/>
              </a:rPr>
              <a:t>System</a:t>
            </a:r>
            <a:r>
              <a:rPr lang="en-GB" sz="2600" dirty="0">
                <a:latin typeface="Lucida Sans Unicode" charset="0"/>
                <a:ea typeface="Lucida Sans Unicode" charset="0"/>
                <a:cs typeface="Lucida Sans Unicode" charset="0"/>
              </a:rPr>
              <a:t> is a Class in package </a:t>
            </a:r>
            <a:r>
              <a:rPr lang="en-GB" sz="2600" dirty="0" err="1">
                <a:latin typeface="Lucida Sans Unicode" charset="0"/>
                <a:ea typeface="Lucida Sans Unicode" charset="0"/>
                <a:cs typeface="Lucida Sans Unicode" charset="0"/>
              </a:rPr>
              <a:t>java.lang</a:t>
            </a:r>
            <a:endParaRPr lang="en-GB" sz="26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ea typeface="Lucida Sans Unicode" charset="0"/>
                <a:cs typeface="Lucida Sans Unicode" charset="0"/>
              </a:rPr>
              <a:t>out</a:t>
            </a:r>
            <a:r>
              <a:rPr lang="en-GB" sz="2600" dirty="0">
                <a:latin typeface="Lucida Sans Unicode" charset="0"/>
                <a:ea typeface="Lucida Sans Unicode" charset="0"/>
                <a:cs typeface="Lucida Sans Unicode" charset="0"/>
              </a:rPr>
              <a:t> is a (static) attribute of System referencing an object of type </a:t>
            </a:r>
            <a:r>
              <a:rPr lang="en-GB" sz="2600" b="1" dirty="0" err="1">
                <a:latin typeface="Courier New" charset="0"/>
                <a:ea typeface="Lucida Sans Unicode" charset="0"/>
                <a:cs typeface="Lucida Sans Unicode" charset="0"/>
              </a:rPr>
              <a:t>PrintStream</a:t>
            </a:r>
            <a:r>
              <a:rPr lang="en-GB" sz="2600" dirty="0">
                <a:latin typeface="Lucida Sans Unicode" charset="0"/>
                <a:ea typeface="Lucida Sans Unicode" charset="0"/>
                <a:cs typeface="Lucida Sans Unicode" charset="0"/>
              </a:rPr>
              <a:t> (representing the standard output)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ea typeface="Lucida Sans Unicode" charset="0"/>
                <a:cs typeface="Lucida Sans Unicode" charset="0"/>
              </a:rPr>
              <a:t>println</a:t>
            </a:r>
            <a:r>
              <a:rPr lang="en-GB" sz="26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  <a:r>
              <a:rPr lang="en-GB" sz="2600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600" dirty="0">
                <a:latin typeface="Lucida Sans Unicode" charset="0"/>
                <a:ea typeface="Lucida Sans Unicode" charset="0"/>
                <a:cs typeface="Lucida Sans Unicode" charset="0"/>
              </a:rPr>
              <a:t>is a method of </a:t>
            </a:r>
            <a:r>
              <a:rPr lang="en-GB" sz="2600" b="1" dirty="0" err="1">
                <a:latin typeface="Courier New" charset="0"/>
                <a:ea typeface="Lucida Sans Unicode" charset="0"/>
                <a:cs typeface="Lucida Sans Unicode" charset="0"/>
              </a:rPr>
              <a:t>PrintStream</a:t>
            </a:r>
            <a:r>
              <a:rPr lang="en-GB" sz="2600" dirty="0">
                <a:latin typeface="Lucida Sans Unicode" charset="0"/>
                <a:ea typeface="Lucida Sans Unicode" charset="0"/>
                <a:cs typeface="Lucida Sans Unicode" charset="0"/>
              </a:rPr>
              <a:t> which prints a text line followed by a new-line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611560" y="1268760"/>
            <a:ext cx="7344816" cy="4824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Chaining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public class Counter </a:t>
            </a:r>
            <a:r>
              <a:rPr lang="en-US" sz="2400" b="1" dirty="0" smtClean="0">
                <a:latin typeface="Courier New"/>
                <a:cs typeface="Courier New"/>
              </a:rPr>
              <a:t>{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err="1"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value</a:t>
            </a:r>
            <a:r>
              <a:rPr lang="en-US" sz="2400" b="1" dirty="0" smtClean="0">
                <a:latin typeface="Courier New"/>
                <a:cs typeface="Courier New"/>
              </a:rPr>
              <a:t>;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public Counter reset(){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smtClean="0">
                <a:latin typeface="Courier New"/>
                <a:cs typeface="Courier New"/>
              </a:rPr>
              <a:t>value=0; return </a:t>
            </a:r>
            <a:r>
              <a:rPr lang="en-US" sz="2400" b="1" dirty="0">
                <a:latin typeface="Courier New"/>
                <a:cs typeface="Courier New"/>
              </a:rPr>
              <a:t>this;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}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public Counter increment(</a:t>
            </a:r>
            <a:r>
              <a:rPr lang="en-US" sz="2400" b="1" dirty="0" err="1"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by){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>
                <a:latin typeface="Courier New"/>
                <a:cs typeface="Courier New"/>
              </a:rPr>
              <a:t>this.value</a:t>
            </a:r>
            <a:r>
              <a:rPr lang="en-US" sz="2400" b="1" dirty="0">
                <a:latin typeface="Courier New"/>
                <a:cs typeface="Courier New"/>
              </a:rPr>
              <a:t>+=by</a:t>
            </a:r>
            <a:r>
              <a:rPr lang="en-US" sz="2400" b="1" dirty="0" smtClean="0">
                <a:latin typeface="Courier New"/>
                <a:cs typeface="Courier New"/>
              </a:rPr>
              <a:t>; return </a:t>
            </a:r>
            <a:r>
              <a:rPr lang="en-US" sz="2400" b="1" dirty="0">
                <a:latin typeface="Courier New"/>
                <a:cs typeface="Courier New"/>
              </a:rPr>
              <a:t>this;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public Counter </a:t>
            </a:r>
            <a:r>
              <a:rPr lang="en-US" sz="2400" b="1" dirty="0" smtClean="0">
                <a:latin typeface="Courier New"/>
                <a:cs typeface="Courier New"/>
              </a:rPr>
              <a:t>print()</a:t>
            </a:r>
            <a:r>
              <a:rPr lang="en-US" sz="2400" b="1" dirty="0">
                <a:latin typeface="Courier New"/>
                <a:cs typeface="Courier New"/>
              </a:rPr>
              <a:t>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 smtClean="0">
                <a:latin typeface="Courier New"/>
                <a:cs typeface="Courier New"/>
              </a:rPr>
              <a:t>System.out.println</a:t>
            </a:r>
            <a:r>
              <a:rPr lang="en-US" sz="2400" b="1" dirty="0" smtClean="0">
                <a:latin typeface="Courier New"/>
                <a:cs typeface="Courier New"/>
              </a:rPr>
              <a:t>(value);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return this;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 New"/>
                <a:cs typeface="Courier New"/>
              </a:rPr>
              <a:t>	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  <a:endParaRPr lang="en-US" sz="2400" b="1" dirty="0">
              <a:latin typeface="Courier New"/>
              <a:cs typeface="Courier New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491880" y="5373216"/>
            <a:ext cx="5400600" cy="12961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Counter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cnt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new Counter();</a:t>
            </a:r>
          </a:p>
          <a:p>
            <a:pPr>
              <a:lnSpc>
                <a:spcPct val="90000"/>
              </a:lnSpc>
            </a:pP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cnt.reset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).print()</a:t>
            </a:r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  .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increment(10)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.print()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 .decrement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(7);</a:t>
            </a:r>
            <a:endParaRPr lang="en-US" b="1" dirty="0" smtClean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51624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57330E4-9259-2345-B644-8C275FBEC8B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993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Operations on references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Only the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comparison operators 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==</a:t>
            </a:r>
            <a:r>
              <a:rPr lang="en-GB" sz="2800" dirty="0">
                <a:latin typeface="Lucida Sans Unicode" charset="0"/>
                <a:cs typeface="Lucida Sans Unicode" charset="0"/>
              </a:rPr>
              <a:t> and 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!=</a:t>
            </a:r>
            <a:r>
              <a:rPr lang="en-GB" sz="2800" dirty="0">
                <a:latin typeface="Lucida Sans Unicode" charset="0"/>
                <a:cs typeface="Lucida Sans Unicode" charset="0"/>
              </a:rPr>
              <a:t> are defined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Note well: the equality condition is evaluated on the values of the references and NOT on the objects themselves! 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The relational operators tells whether the references points to the same object in memory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Dotted notation is applicable to object references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There is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NO</a:t>
            </a:r>
            <a:r>
              <a:rPr lang="en-GB" sz="2800" dirty="0">
                <a:latin typeface="Lucida Sans Unicode" charset="0"/>
                <a:cs typeface="Lucida Sans Unicode" charset="0"/>
              </a:rPr>
              <a:t> pointer arithmetic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Scope and encapsulation</a:t>
            </a:r>
          </a:p>
        </p:txBody>
      </p:sp>
      <p:sp>
        <p:nvSpPr>
          <p:cNvPr id="132098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D72A39D-AFC3-EF48-A659-501063C8491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414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Laundry machine, design1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commands: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time, temperature, amount of soap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Different values depending if you wash cotton or wool, ….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Laundry machine, design2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commands: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key C for cotton, W for wool, Key D for knitted robes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7E1B0D6-AA78-4D44-BEF0-9AD9D04066C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61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(cont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d)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Washing machine, design3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command: 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Wash!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insert clothes, and the washing machine automatically select the correct program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Hence, there are different solutions with different level of granularity / abstraction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DE360D0-0CA1-D04B-8348-B00F0D5FE1B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824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Motivation</a:t>
            </a:r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Modularity = cut-down inter-components interaction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Info hiding = identifying and delegating responsibilities to components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components =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classes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interaction = read/write attributes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interaction = calling a method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Heuristics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Attributes invisible outside the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class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Visible methods are the ones that can be invoked from outside the c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lass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6C3AF2C-4D94-C842-851B-5E333DCC092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402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Scope and Syntax</a:t>
            </a: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Visibility modifiers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Applicable to members of a class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rgbClr val="FF6600"/>
                </a:solidFill>
                <a:latin typeface="Courier New" charset="0"/>
                <a:cs typeface="Courier New" charset="0"/>
              </a:rPr>
              <a:t>private</a:t>
            </a:r>
            <a:endParaRPr lang="en-GB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Member is visible and accessible from instances of the same class only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rgbClr val="FF6600"/>
                </a:solidFill>
                <a:latin typeface="Courier New" charset="0"/>
                <a:cs typeface="Courier New" charset="0"/>
              </a:rPr>
              <a:t>public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Member is visible and accessible from everywhere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32BD1B6-B74A-524E-A81C-40C2310A5BF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3122" name="Rectangle 1"/>
          <p:cNvSpPr>
            <a:spLocks noChangeArrowheads="1"/>
          </p:cNvSpPr>
          <p:nvPr/>
        </p:nvSpPr>
        <p:spPr bwMode="auto">
          <a:xfrm>
            <a:off x="309563" y="1143000"/>
            <a:ext cx="3902397" cy="1349896"/>
          </a:xfrm>
          <a:prstGeom prst="rect">
            <a:avLst/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0" tIns="46800" rIns="90000" bIns="46800"/>
          <a:lstStyle/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Car {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public String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color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2339" name="Rectangle 2"/>
          <p:cNvSpPr>
            <a:spLocks noChangeArrowheads="1"/>
          </p:cNvSpPr>
          <p:nvPr/>
        </p:nvSpPr>
        <p:spPr bwMode="auto">
          <a:xfrm>
            <a:off x="1619672" y="3200400"/>
            <a:ext cx="5760640" cy="2028800"/>
          </a:xfrm>
          <a:prstGeom prst="rect">
            <a:avLst/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0" tIns="46800" rIns="90000" bIns="46800"/>
          <a:lstStyle/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Car {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private String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color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public void paint(String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color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)</a:t>
            </a: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  {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this.color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=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color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;}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}</a:t>
            </a: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2340" name="AutoShape 3"/>
          <p:cNvSpPr>
            <a:spLocks noChangeArrowheads="1"/>
          </p:cNvSpPr>
          <p:nvPr/>
        </p:nvSpPr>
        <p:spPr bwMode="auto">
          <a:xfrm flipV="1">
            <a:off x="467544" y="2852936"/>
            <a:ext cx="952500" cy="160684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00 h 21600"/>
              <a:gd name="T14" fmla="*/ 18201 w 21600"/>
              <a:gd name="T15" fmla="*/ 92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00" y="0"/>
                </a:lnTo>
                <a:lnTo>
                  <a:pt x="15100" y="2900"/>
                </a:lnTo>
                <a:lnTo>
                  <a:pt x="12427" y="2900"/>
                </a:lnTo>
                <a:cubicBezTo>
                  <a:pt x="5564" y="2900"/>
                  <a:pt x="0" y="7045"/>
                  <a:pt x="0" y="12158"/>
                </a:cubicBezTo>
                <a:lnTo>
                  <a:pt x="0" y="21600"/>
                </a:lnTo>
                <a:lnTo>
                  <a:pt x="6499" y="21600"/>
                </a:lnTo>
                <a:lnTo>
                  <a:pt x="6499" y="12158"/>
                </a:lnTo>
                <a:cubicBezTo>
                  <a:pt x="6499" y="10556"/>
                  <a:pt x="9153" y="9258"/>
                  <a:pt x="12427" y="9258"/>
                </a:cubicBezTo>
                <a:lnTo>
                  <a:pt x="15100" y="9258"/>
                </a:lnTo>
                <a:lnTo>
                  <a:pt x="15100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CC99"/>
          </a:solidFill>
          <a:ln w="18360">
            <a:solidFill>
              <a:srgbClr val="FF66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2341" name="Text Box 4"/>
          <p:cNvSpPr txBox="1">
            <a:spLocks noChangeArrowheads="1"/>
          </p:cNvSpPr>
          <p:nvPr/>
        </p:nvSpPr>
        <p:spPr bwMode="auto">
          <a:xfrm>
            <a:off x="323528" y="4509120"/>
            <a:ext cx="960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buFont typeface="Arial" charset="0"/>
              <a:buNone/>
            </a:pPr>
            <a:r>
              <a:rPr lang="en-GB" dirty="0">
                <a:solidFill>
                  <a:srgbClr val="000000"/>
                </a:solidFill>
                <a:latin typeface="Arial" charset="0"/>
              </a:rPr>
              <a:t>better</a:t>
            </a:r>
          </a:p>
        </p:txBody>
      </p:sp>
      <p:sp>
        <p:nvSpPr>
          <p:cNvPr id="142342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Info hiding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067944" y="1700808"/>
            <a:ext cx="4104456" cy="936104"/>
          </a:xfrm>
          <a:prstGeom prst="rect">
            <a:avLst/>
          </a:prstGeom>
          <a:solidFill>
            <a:srgbClr val="E6E0EC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indent="3175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Car a = new Car();</a:t>
            </a:r>
          </a:p>
          <a:p>
            <a:pPr marL="0" lvl="1" indent="3175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/>
            </a:pPr>
            <a:r>
              <a:rPr lang="en-GB" sz="2200" b="1" dirty="0" err="1" smtClean="0">
                <a:solidFill>
                  <a:srgbClr val="000000"/>
                </a:solidFill>
                <a:latin typeface="Courier New" charset="0"/>
              </a:rPr>
              <a:t>a.color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=</a:t>
            </a:r>
            <a:r>
              <a:rPr lang="it-IT" altLang="ja-JP" sz="2200" b="1" dirty="0" smtClean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white</a:t>
            </a:r>
            <a:r>
              <a:rPr lang="it-IT" altLang="ja-JP" sz="2200" b="1" dirty="0" smtClean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; </a:t>
            </a:r>
            <a:r>
              <a:rPr lang="en-GB" altLang="ja-JP" sz="2200" b="1" dirty="0" smtClean="0">
                <a:solidFill>
                  <a:schemeClr val="accent3">
                    <a:lumMod val="50000"/>
                  </a:schemeClr>
                </a:solidFill>
                <a:latin typeface="Courier New" charset="0"/>
              </a:rPr>
              <a:t>/</a:t>
            </a:r>
            <a:r>
              <a:rPr lang="en-GB" altLang="ja-JP" sz="2200" b="1" dirty="0">
                <a:solidFill>
                  <a:schemeClr val="accent3">
                    <a:lumMod val="50000"/>
                  </a:schemeClr>
                </a:solidFill>
                <a:latin typeface="Courier New" charset="0"/>
              </a:rPr>
              <a:t>/ ok</a:t>
            </a:r>
            <a:endParaRPr lang="en-GB" sz="2200" b="1" dirty="0">
              <a:solidFill>
                <a:schemeClr val="accent3">
                  <a:lumMod val="50000"/>
                </a:schemeClr>
              </a:solidFill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34408" y="5013176"/>
            <a:ext cx="4968552" cy="1224136"/>
          </a:xfrm>
          <a:prstGeom prst="rect">
            <a:avLst/>
          </a:prstGeom>
          <a:solidFill>
            <a:srgbClr val="E6E0EC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Car a = new Car();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a.color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= </a:t>
            </a:r>
            <a:r>
              <a:rPr lang="it-IT" altLang="ja-JP" sz="2200" b="1" dirty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white</a:t>
            </a:r>
            <a:r>
              <a:rPr lang="it-IT" altLang="ja-JP" sz="2200" b="1" dirty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;  </a:t>
            </a:r>
            <a:r>
              <a:rPr lang="en-GB" altLang="ja-JP" sz="2200" b="1" dirty="0">
                <a:solidFill>
                  <a:srgbClr val="FF0000"/>
                </a:solidFill>
                <a:latin typeface="Courier New" charset="0"/>
              </a:rPr>
              <a:t>// error</a:t>
            </a:r>
          </a:p>
          <a:p>
            <a:pPr marL="0" lvl="1" eaLnBrk="1" hangingPunct="1">
              <a:lnSpc>
                <a:spcPct val="90000"/>
              </a:lnSpc>
              <a:spcBef>
                <a:spcPts val="550"/>
              </a:spcBef>
              <a:buSzPct val="80000"/>
              <a:buFont typeface="Symbol" charset="0"/>
              <a:buNone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a.paint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it-IT" altLang="ja-JP" sz="2200" b="1" dirty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green</a:t>
            </a:r>
            <a:r>
              <a:rPr lang="it-IT" altLang="ja-JP" sz="2200" b="1" dirty="0">
                <a:solidFill>
                  <a:srgbClr val="000000"/>
                </a:solidFill>
                <a:latin typeface="Courier New" charset="0"/>
              </a:rPr>
              <a:t>"</a:t>
            </a:r>
            <a:r>
              <a:rPr lang="en-GB" altLang="ja-JP" sz="2200" b="1" dirty="0" smtClean="0">
                <a:solidFill>
                  <a:srgbClr val="000000"/>
                </a:solidFill>
                <a:latin typeface="Courier New" charset="0"/>
              </a:rPr>
              <a:t>)</a:t>
            </a:r>
            <a:r>
              <a:rPr lang="en-GB" altLang="ja-JP" sz="2200" b="1" dirty="0">
                <a:solidFill>
                  <a:srgbClr val="000000"/>
                </a:solidFill>
                <a:latin typeface="Courier New" charset="0"/>
              </a:rPr>
              <a:t>;   </a:t>
            </a:r>
            <a:r>
              <a:rPr lang="en-GB" altLang="ja-JP" sz="2200" b="1" dirty="0">
                <a:solidFill>
                  <a:srgbClr val="4F6228"/>
                </a:solidFill>
                <a:latin typeface="Courier New" charset="0"/>
              </a:rPr>
              <a:t>// ok</a:t>
            </a:r>
            <a:endParaRPr lang="en-GB" sz="2200" b="1" dirty="0">
              <a:solidFill>
                <a:srgbClr val="4F6228"/>
              </a:solidFill>
              <a:latin typeface="Courier New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57D3775-3057-BD4F-8A20-3905F1B2C83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443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Info hiding</a:t>
            </a:r>
          </a:p>
        </p:txBody>
      </p:sp>
      <p:sp>
        <p:nvSpPr>
          <p:cNvPr id="144387" name="Text Box 2"/>
          <p:cNvSpPr txBox="1">
            <a:spLocks noChangeArrowheads="1"/>
          </p:cNvSpPr>
          <p:nvPr/>
        </p:nvSpPr>
        <p:spPr bwMode="auto">
          <a:xfrm>
            <a:off x="371475" y="1404938"/>
            <a:ext cx="5137150" cy="19685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375"/>
              </a:spcBef>
              <a:buFont typeface="Courier New" charset="0"/>
              <a:buNone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Car{</a:t>
            </a:r>
          </a:p>
          <a:p>
            <a:pPr>
              <a:lnSpc>
                <a:spcPct val="100000"/>
              </a:lnSpc>
              <a:spcBef>
                <a:spcPts val="1375"/>
              </a:spcBef>
              <a:buClr>
                <a:srgbClr val="FF0000"/>
              </a:buClr>
              <a:buFont typeface="Courier New" charset="0"/>
              <a:buNone/>
            </a:pPr>
            <a:r>
              <a:rPr lang="en-GB" sz="2200" b="1" dirty="0">
                <a:solidFill>
                  <a:srgbClr val="FF0000"/>
                </a:solidFill>
                <a:latin typeface="Courier New" charset="0"/>
              </a:rPr>
              <a:t>     </a:t>
            </a:r>
            <a:r>
              <a:rPr lang="en-GB" sz="2200" b="1" dirty="0">
                <a:solidFill>
                  <a:srgbClr val="FF6600"/>
                </a:solidFill>
                <a:latin typeface="Courier New" charset="0"/>
              </a:rPr>
              <a:t>private String </a:t>
            </a:r>
            <a:r>
              <a:rPr lang="en-GB" sz="2200" b="1" dirty="0" err="1">
                <a:solidFill>
                  <a:srgbClr val="FF6600"/>
                </a:solidFill>
                <a:latin typeface="Courier New" charset="0"/>
              </a:rPr>
              <a:t>color</a:t>
            </a:r>
            <a:r>
              <a:rPr lang="en-GB" sz="2200" b="1" dirty="0">
                <a:solidFill>
                  <a:srgbClr val="FF6600"/>
                </a:solidFill>
                <a:latin typeface="Courier New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1375"/>
              </a:spcBef>
              <a:buFont typeface="Courier New" charset="0"/>
              <a:buNone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   public void paint();</a:t>
            </a:r>
          </a:p>
          <a:p>
            <a:pPr>
              <a:lnSpc>
                <a:spcPct val="100000"/>
              </a:lnSpc>
              <a:spcBef>
                <a:spcPts val="1375"/>
              </a:spcBef>
              <a:buFont typeface="Courier New" charset="0"/>
              <a:buNone/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44388" name="Oval 3"/>
          <p:cNvSpPr>
            <a:spLocks noChangeArrowheads="1"/>
          </p:cNvSpPr>
          <p:nvPr/>
        </p:nvSpPr>
        <p:spPr bwMode="auto">
          <a:xfrm>
            <a:off x="4711700" y="2019300"/>
            <a:ext cx="381000" cy="203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44389" name="Oval 4"/>
          <p:cNvSpPr>
            <a:spLocks noChangeArrowheads="1"/>
          </p:cNvSpPr>
          <p:nvPr/>
        </p:nvSpPr>
        <p:spPr bwMode="auto">
          <a:xfrm>
            <a:off x="4445000" y="2527300"/>
            <a:ext cx="381000" cy="203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40295" name="Text Box 5"/>
          <p:cNvSpPr txBox="1">
            <a:spLocks noChangeArrowheads="1"/>
          </p:cNvSpPr>
          <p:nvPr/>
        </p:nvSpPr>
        <p:spPr bwMode="auto">
          <a:xfrm>
            <a:off x="2624138" y="3563938"/>
            <a:ext cx="3573462" cy="2478087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br">
              <a:srgbClr val="000000">
                <a:alpha val="43000"/>
              </a:srgbClr>
            </a:outerShdw>
          </a:effec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31725" indent="-37474525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2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44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1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288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>
              <a:lnSpc>
                <a:spcPct val="100000"/>
              </a:lnSpc>
              <a:spcBef>
                <a:spcPts val="1375"/>
              </a:spcBef>
              <a:buFont typeface="Courier New" charset="0"/>
              <a:buNone/>
              <a:defRPr/>
            </a:pP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class B {</a:t>
            </a:r>
          </a:p>
          <a:p>
            <a:pPr>
              <a:lnSpc>
                <a:spcPct val="100000"/>
              </a:lnSpc>
              <a:spcBef>
                <a:spcPts val="1375"/>
              </a:spcBef>
              <a:buClr>
                <a:srgbClr val="0000FF"/>
              </a:buClr>
              <a:buFont typeface="Courier New" charset="0"/>
              <a:buNone/>
              <a:defRPr/>
            </a:pPr>
            <a:r>
              <a:rPr lang="en-GB" sz="2200" b="1" dirty="0" smtClean="0">
                <a:solidFill>
                  <a:srgbClr val="0000FF"/>
                </a:solidFill>
                <a:latin typeface="Courier New" charset="0"/>
              </a:rPr>
              <a:t>  </a:t>
            </a:r>
            <a:r>
              <a:rPr lang="en-GB" sz="2200" b="1" dirty="0" smtClean="0">
                <a:solidFill>
                  <a:srgbClr val="FF6600"/>
                </a:solidFill>
                <a:latin typeface="Courier New" charset="0"/>
              </a:rPr>
              <a:t>public void f1(){</a:t>
            </a:r>
          </a:p>
          <a:p>
            <a:pPr>
              <a:lnSpc>
                <a:spcPct val="100000"/>
              </a:lnSpc>
              <a:spcBef>
                <a:spcPts val="1375"/>
              </a:spcBef>
              <a:buClr>
                <a:srgbClr val="0000FF"/>
              </a:buClr>
              <a:buFont typeface="Courier New" charset="0"/>
              <a:buNone/>
              <a:defRPr/>
            </a:pPr>
            <a:r>
              <a:rPr lang="en-GB" sz="2200" b="1" dirty="0" smtClean="0">
                <a:solidFill>
                  <a:srgbClr val="FF6600"/>
                </a:solidFill>
                <a:latin typeface="Courier New" charset="0"/>
              </a:rPr>
              <a:t>    ...</a:t>
            </a:r>
          </a:p>
          <a:p>
            <a:pPr>
              <a:lnSpc>
                <a:spcPct val="100000"/>
              </a:lnSpc>
              <a:spcBef>
                <a:spcPts val="1375"/>
              </a:spcBef>
              <a:buClr>
                <a:srgbClr val="0000FF"/>
              </a:buClr>
              <a:buFont typeface="Courier New" charset="0"/>
              <a:buNone/>
              <a:defRPr/>
            </a:pPr>
            <a:r>
              <a:rPr lang="en-GB" sz="2200" b="1" dirty="0" smtClean="0">
                <a:solidFill>
                  <a:srgbClr val="FF6600"/>
                </a:solidFill>
                <a:latin typeface="Courier New" charset="0"/>
              </a:rPr>
              <a:t>  };</a:t>
            </a:r>
          </a:p>
          <a:p>
            <a:pPr>
              <a:lnSpc>
                <a:spcPct val="100000"/>
              </a:lnSpc>
              <a:spcBef>
                <a:spcPts val="1375"/>
              </a:spcBef>
              <a:buFont typeface="Courier New" charset="0"/>
              <a:buNone/>
              <a:defRPr/>
            </a:pP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cxnSp>
        <p:nvCxnSpPr>
          <p:cNvPr id="144391" name="AutoShape 6"/>
          <p:cNvCxnSpPr>
            <a:cxnSpLocks noChangeShapeType="1"/>
            <a:stCxn id="144393" idx="6"/>
            <a:endCxn id="144389" idx="6"/>
          </p:cNvCxnSpPr>
          <p:nvPr/>
        </p:nvCxnSpPr>
        <p:spPr bwMode="auto">
          <a:xfrm flipV="1">
            <a:off x="3962400" y="2628900"/>
            <a:ext cx="863600" cy="2349500"/>
          </a:xfrm>
          <a:prstGeom prst="curvedConnector3">
            <a:avLst>
              <a:gd name="adj1" fmla="val 302242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92" name="Oval 7"/>
          <p:cNvSpPr>
            <a:spLocks noChangeArrowheads="1"/>
          </p:cNvSpPr>
          <p:nvPr/>
        </p:nvSpPr>
        <p:spPr bwMode="auto">
          <a:xfrm>
            <a:off x="3784600" y="4686300"/>
            <a:ext cx="381000" cy="203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44393" name="Oval 8"/>
          <p:cNvSpPr>
            <a:spLocks noChangeArrowheads="1"/>
          </p:cNvSpPr>
          <p:nvPr/>
        </p:nvSpPr>
        <p:spPr bwMode="auto">
          <a:xfrm>
            <a:off x="3581400" y="4876800"/>
            <a:ext cx="381000" cy="203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144394" name="AutoShape 9"/>
          <p:cNvCxnSpPr>
            <a:cxnSpLocks noChangeShapeType="1"/>
            <a:stCxn id="144393" idx="5"/>
            <a:endCxn id="144388" idx="6"/>
          </p:cNvCxnSpPr>
          <p:nvPr/>
        </p:nvCxnSpPr>
        <p:spPr bwMode="auto">
          <a:xfrm rot="5400000" flipH="1" flipV="1">
            <a:off x="3035300" y="2992438"/>
            <a:ext cx="2928938" cy="1185862"/>
          </a:xfrm>
          <a:prstGeom prst="curvedConnector4">
            <a:avLst>
              <a:gd name="adj1" fmla="val -14043"/>
              <a:gd name="adj2" fmla="val 305233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95" name="Text Box 10"/>
          <p:cNvSpPr txBox="1">
            <a:spLocks noChangeArrowheads="1"/>
          </p:cNvSpPr>
          <p:nvPr/>
        </p:nvSpPr>
        <p:spPr bwMode="auto">
          <a:xfrm>
            <a:off x="6314281" y="2996952"/>
            <a:ext cx="561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 dirty="0">
                <a:solidFill>
                  <a:srgbClr val="000000"/>
                </a:solidFill>
                <a:latin typeface="Arial" charset="0"/>
              </a:rPr>
              <a:t>yes</a:t>
            </a:r>
          </a:p>
        </p:txBody>
      </p:sp>
      <p:sp>
        <p:nvSpPr>
          <p:cNvPr id="144396" name="Text Box 11"/>
          <p:cNvSpPr txBox="1">
            <a:spLocks noChangeArrowheads="1"/>
          </p:cNvSpPr>
          <p:nvPr/>
        </p:nvSpPr>
        <p:spPr bwMode="auto">
          <a:xfrm>
            <a:off x="5866389" y="1916832"/>
            <a:ext cx="463886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AC11001-5D6B-C242-88D8-69C425A2B00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464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Access</a:t>
            </a:r>
          </a:p>
        </p:txBody>
      </p:sp>
      <p:grpSp>
        <p:nvGrpSpPr>
          <p:cNvPr id="146435" name="Group 2"/>
          <p:cNvGrpSpPr>
            <a:grpSpLocks/>
          </p:cNvGrpSpPr>
          <p:nvPr/>
        </p:nvGrpSpPr>
        <p:grpSpPr bwMode="auto">
          <a:xfrm>
            <a:off x="685800" y="1295400"/>
            <a:ext cx="8154988" cy="4725988"/>
            <a:chOff x="432" y="816"/>
            <a:chExt cx="5137" cy="2977"/>
          </a:xfrm>
        </p:grpSpPr>
        <p:sp>
          <p:nvSpPr>
            <p:cNvPr id="146436" name="Rectangle 3"/>
            <p:cNvSpPr>
              <a:spLocks noChangeArrowheads="1"/>
            </p:cNvSpPr>
            <p:nvPr/>
          </p:nvSpPr>
          <p:spPr bwMode="auto">
            <a:xfrm>
              <a:off x="3856" y="2800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 sz="2800">
                <a:solidFill>
                  <a:srgbClr val="000000"/>
                </a:solidFill>
                <a:latin typeface="Tahoma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>
                  <a:solidFill>
                    <a:srgbClr val="4F6228"/>
                  </a:solidFill>
                  <a:latin typeface="Tahoma" charset="0"/>
                </a:rPr>
                <a:t>yes</a:t>
              </a:r>
            </a:p>
          </p:txBody>
        </p:sp>
        <p:sp>
          <p:nvSpPr>
            <p:cNvPr id="146437" name="Rectangle 4"/>
            <p:cNvSpPr>
              <a:spLocks noChangeArrowheads="1"/>
            </p:cNvSpPr>
            <p:nvPr/>
          </p:nvSpPr>
          <p:spPr bwMode="auto">
            <a:xfrm>
              <a:off x="2144" y="2800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 sz="2800">
                <a:solidFill>
                  <a:srgbClr val="000000"/>
                </a:solidFill>
                <a:latin typeface="Tahoma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>
                  <a:solidFill>
                    <a:srgbClr val="4F6228"/>
                  </a:solidFill>
                  <a:latin typeface="Tahoma" charset="0"/>
                </a:rPr>
                <a:t>yes</a:t>
              </a:r>
            </a:p>
          </p:txBody>
        </p:sp>
        <p:sp>
          <p:nvSpPr>
            <p:cNvPr id="146438" name="Rectangle 5"/>
            <p:cNvSpPr>
              <a:spLocks noChangeArrowheads="1"/>
            </p:cNvSpPr>
            <p:nvPr/>
          </p:nvSpPr>
          <p:spPr bwMode="auto">
            <a:xfrm>
              <a:off x="432" y="2800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 sz="2800">
                <a:solidFill>
                  <a:srgbClr val="000000"/>
                </a:solidFill>
                <a:latin typeface="Lucida Sans Unicode" charset="0"/>
                <a:cs typeface="Times New Roman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>
                  <a:solidFill>
                    <a:srgbClr val="000000"/>
                  </a:solidFill>
                  <a:latin typeface="Lucida Sans Unicode" charset="0"/>
                  <a:cs typeface="Times New Roman" charset="0"/>
                </a:rPr>
                <a:t>Public</a:t>
              </a:r>
            </a:p>
          </p:txBody>
        </p:sp>
        <p:sp>
          <p:nvSpPr>
            <p:cNvPr id="146439" name="Rectangle 6"/>
            <p:cNvSpPr>
              <a:spLocks noChangeArrowheads="1"/>
            </p:cNvSpPr>
            <p:nvPr/>
          </p:nvSpPr>
          <p:spPr bwMode="auto">
            <a:xfrm>
              <a:off x="3856" y="1808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GB" sz="2800" dirty="0">
                <a:solidFill>
                  <a:srgbClr val="000000"/>
                </a:solidFill>
                <a:latin typeface="Tahoma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 dirty="0">
                  <a:solidFill>
                    <a:srgbClr val="FF0000"/>
                  </a:solidFill>
                  <a:latin typeface="Tahoma" charset="0"/>
                </a:rPr>
                <a:t>no</a:t>
              </a:r>
            </a:p>
          </p:txBody>
        </p:sp>
        <p:sp>
          <p:nvSpPr>
            <p:cNvPr id="146440" name="Rectangle 7"/>
            <p:cNvSpPr>
              <a:spLocks noChangeArrowheads="1"/>
            </p:cNvSpPr>
            <p:nvPr/>
          </p:nvSpPr>
          <p:spPr bwMode="auto">
            <a:xfrm>
              <a:off x="2144" y="1808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 dirty="0">
                  <a:solidFill>
                    <a:srgbClr val="4F6228"/>
                  </a:solidFill>
                  <a:latin typeface="Tahoma" charset="0"/>
                </a:rPr>
                <a:t>yes</a:t>
              </a:r>
            </a:p>
          </p:txBody>
        </p:sp>
        <p:sp>
          <p:nvSpPr>
            <p:cNvPr id="146441" name="Rectangle 8"/>
            <p:cNvSpPr>
              <a:spLocks noChangeArrowheads="1"/>
            </p:cNvSpPr>
            <p:nvPr/>
          </p:nvSpPr>
          <p:spPr bwMode="auto">
            <a:xfrm>
              <a:off x="432" y="1808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>
                  <a:solidFill>
                    <a:srgbClr val="000000"/>
                  </a:solidFill>
                  <a:latin typeface="Tahoma" charset="0"/>
                  <a:cs typeface="Times New Roman" charset="0"/>
                </a:rPr>
                <a:t>Private (attribute/ method)</a:t>
              </a:r>
              <a:r>
                <a:rPr lang="en-GB" sz="2800">
                  <a:solidFill>
                    <a:srgbClr val="000000"/>
                  </a:solidFill>
                  <a:latin typeface="Tahoma" charset="0"/>
                </a:rPr>
                <a:t> </a:t>
              </a:r>
            </a:p>
          </p:txBody>
        </p:sp>
        <p:sp>
          <p:nvSpPr>
            <p:cNvPr id="146442" name="Rectangle 9"/>
            <p:cNvSpPr>
              <a:spLocks noChangeArrowheads="1"/>
            </p:cNvSpPr>
            <p:nvPr/>
          </p:nvSpPr>
          <p:spPr bwMode="auto">
            <a:xfrm>
              <a:off x="3856" y="816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 dirty="0">
                  <a:solidFill>
                    <a:srgbClr val="000000"/>
                  </a:solidFill>
                  <a:latin typeface="Tahoma" charset="0"/>
                </a:rPr>
                <a:t>Method of another class</a:t>
              </a:r>
              <a:r>
                <a:rPr lang="en-GB" sz="2800" dirty="0">
                  <a:solidFill>
                    <a:srgbClr val="000000"/>
                  </a:solidFill>
                  <a:latin typeface="Lucida Sans Unicode" charset="0"/>
                  <a:cs typeface="Times New Roman" charset="0"/>
                </a:rPr>
                <a:t> </a:t>
              </a:r>
            </a:p>
          </p:txBody>
        </p:sp>
        <p:sp>
          <p:nvSpPr>
            <p:cNvPr id="146443" name="Rectangle 10"/>
            <p:cNvSpPr>
              <a:spLocks noChangeArrowheads="1"/>
            </p:cNvSpPr>
            <p:nvPr/>
          </p:nvSpPr>
          <p:spPr bwMode="auto">
            <a:xfrm>
              <a:off x="2144" y="816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 dirty="0">
                  <a:solidFill>
                    <a:srgbClr val="000000"/>
                  </a:solidFill>
                  <a:latin typeface="Tahoma" charset="0"/>
                </a:rPr>
                <a:t>Method in the same class </a:t>
              </a:r>
            </a:p>
          </p:txBody>
        </p:sp>
        <p:sp>
          <p:nvSpPr>
            <p:cNvPr id="146444" name="Rectangle 11"/>
            <p:cNvSpPr>
              <a:spLocks noChangeArrowheads="1"/>
            </p:cNvSpPr>
            <p:nvPr/>
          </p:nvSpPr>
          <p:spPr bwMode="auto">
            <a:xfrm>
              <a:off x="432" y="816"/>
              <a:ext cx="1712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eaLnBrk="1" hangingPunct="1">
                <a:lnSpc>
                  <a:spcPct val="100000"/>
                </a:lnSpc>
                <a:spcBef>
                  <a:spcPts val="7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800">
                  <a:solidFill>
                    <a:srgbClr val="000000"/>
                  </a:solidFill>
                  <a:latin typeface="Lucida Sans Unicode" charset="0"/>
                  <a:cs typeface="Times New Roman" charset="0"/>
                </a:rPr>
                <a:t> </a:t>
              </a:r>
            </a:p>
          </p:txBody>
        </p:sp>
        <p:sp>
          <p:nvSpPr>
            <p:cNvPr id="146445" name="Line 12"/>
            <p:cNvSpPr>
              <a:spLocks noChangeShapeType="1"/>
            </p:cNvSpPr>
            <p:nvPr/>
          </p:nvSpPr>
          <p:spPr bwMode="auto">
            <a:xfrm>
              <a:off x="432" y="816"/>
              <a:ext cx="513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6" name="Line 13"/>
            <p:cNvSpPr>
              <a:spLocks noChangeShapeType="1"/>
            </p:cNvSpPr>
            <p:nvPr/>
          </p:nvSpPr>
          <p:spPr bwMode="auto">
            <a:xfrm>
              <a:off x="432" y="1808"/>
              <a:ext cx="513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7" name="Line 14"/>
            <p:cNvSpPr>
              <a:spLocks noChangeShapeType="1"/>
            </p:cNvSpPr>
            <p:nvPr/>
          </p:nvSpPr>
          <p:spPr bwMode="auto">
            <a:xfrm>
              <a:off x="432" y="2800"/>
              <a:ext cx="513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8" name="Line 15"/>
            <p:cNvSpPr>
              <a:spLocks noChangeShapeType="1"/>
            </p:cNvSpPr>
            <p:nvPr/>
          </p:nvSpPr>
          <p:spPr bwMode="auto">
            <a:xfrm>
              <a:off x="432" y="3792"/>
              <a:ext cx="513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9" name="Line 16"/>
            <p:cNvSpPr>
              <a:spLocks noChangeShapeType="1"/>
            </p:cNvSpPr>
            <p:nvPr/>
          </p:nvSpPr>
          <p:spPr bwMode="auto">
            <a:xfrm>
              <a:off x="432" y="816"/>
              <a:ext cx="1" cy="297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50" name="Line 17"/>
            <p:cNvSpPr>
              <a:spLocks noChangeShapeType="1"/>
            </p:cNvSpPr>
            <p:nvPr/>
          </p:nvSpPr>
          <p:spPr bwMode="auto">
            <a:xfrm>
              <a:off x="2144" y="816"/>
              <a:ext cx="1" cy="2976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51" name="Line 18"/>
            <p:cNvSpPr>
              <a:spLocks noChangeShapeType="1"/>
            </p:cNvSpPr>
            <p:nvPr/>
          </p:nvSpPr>
          <p:spPr bwMode="auto">
            <a:xfrm>
              <a:off x="3856" y="816"/>
              <a:ext cx="1" cy="2976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52" name="Line 19"/>
            <p:cNvSpPr>
              <a:spLocks noChangeShapeType="1"/>
            </p:cNvSpPr>
            <p:nvPr/>
          </p:nvSpPr>
          <p:spPr bwMode="auto">
            <a:xfrm>
              <a:off x="5568" y="816"/>
              <a:ext cx="1" cy="297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043608" y="3861048"/>
            <a:ext cx="7488832" cy="23042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848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0550128-9446-3347-B485-B534E72442A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59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48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Getters and setters</a:t>
            </a:r>
          </a:p>
        </p:txBody>
      </p:sp>
      <p:sp>
        <p:nvSpPr>
          <p:cNvPr id="148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Methods used to read/write a private attribute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Allow to better control in a single point each write access to a private field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public String </a:t>
            </a:r>
            <a:r>
              <a:rPr lang="en-GB" sz="2400" b="1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get</a:t>
            </a: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Color() 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    return color;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public void </a:t>
            </a:r>
            <a:r>
              <a:rPr lang="en-GB" sz="2400" b="1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set</a:t>
            </a: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Color(String newColor) 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    color = newColor;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611560" y="4077072"/>
            <a:ext cx="5616624" cy="22322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39552" y="1196752"/>
            <a:ext cx="5760640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052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0848D60-9C1D-F045-A908-94B7166CFBD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05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without getter/setter</a:t>
            </a: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86568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class Student {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String first;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String last;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id;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public Student(…){…} 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class Exam {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grade;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FF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Student student;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public Exam(…){…}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23528" y="1340768"/>
            <a:ext cx="8640960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257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0E56E9D-F94D-A646-9054-8068372042F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25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without getter/setter</a:t>
            </a: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88925" y="1295400"/>
            <a:ext cx="8736013" cy="508592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class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StudentExample</a:t>
            </a:r>
            <a:r>
              <a:rPr lang="en-GB" sz="2400" b="1" dirty="0">
                <a:latin typeface="Courier New" charset="0"/>
                <a:cs typeface="Lucida Sans Unicode" charset="0"/>
              </a:rPr>
              <a:t> {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	public static void main(String[]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>
                <a:solidFill>
                  <a:schemeClr val="accent3"/>
                </a:solidFill>
                <a:latin typeface="Courier New" charset="0"/>
                <a:cs typeface="Lucida Sans Unicode" charset="0"/>
              </a:rPr>
              <a:t>// defines a student and her exams</a:t>
            </a:r>
            <a:br>
              <a:rPr lang="en-GB" sz="2400" b="1" dirty="0">
                <a:solidFill>
                  <a:schemeClr val="accent3"/>
                </a:solidFill>
                <a:latin typeface="Courier New" charset="0"/>
                <a:cs typeface="Lucida Sans Unicode" charset="0"/>
              </a:rPr>
            </a:br>
            <a:r>
              <a:rPr lang="en-GB" sz="2400" b="1" dirty="0">
                <a:solidFill>
                  <a:schemeClr val="accent3"/>
                </a:solidFill>
                <a:latin typeface="Courier New" charset="0"/>
                <a:cs typeface="Lucida Sans Unicode" charset="0"/>
              </a:rPr>
              <a:t>  // lists all student</a:t>
            </a:r>
            <a:r>
              <a:rPr lang="ja-JP" altLang="en-GB" sz="2400" b="1" dirty="0">
                <a:solidFill>
                  <a:schemeClr val="accent3"/>
                </a:solidFill>
                <a:latin typeface="Courier New" charset="0"/>
                <a:cs typeface="Lucida Sans Unicode" charset="0"/>
              </a:rPr>
              <a:t>’</a:t>
            </a:r>
            <a:r>
              <a:rPr lang="en-GB" altLang="ja-JP" sz="2400" b="1" dirty="0">
                <a:solidFill>
                  <a:schemeClr val="accent3"/>
                </a:solidFill>
                <a:latin typeface="Courier New" charset="0"/>
                <a:cs typeface="Lucida Sans Unicode" charset="0"/>
              </a:rPr>
              <a:t>s exams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    Student s=new Student(</a:t>
            </a:r>
            <a:r>
              <a:rPr lang="ja-JP" altLang="en-GB" sz="22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200" b="1" dirty="0">
                <a:latin typeface="Courier New" charset="0"/>
                <a:cs typeface="Lucida Sans Unicode" charset="0"/>
              </a:rPr>
              <a:t>Alice",</a:t>
            </a:r>
            <a:r>
              <a:rPr lang="ja-JP" altLang="en-GB" sz="22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200" b="1" dirty="0">
                <a:latin typeface="Courier New" charset="0"/>
                <a:cs typeface="Lucida Sans Unicode" charset="0"/>
              </a:rPr>
              <a:t>Green",1234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    Exam e = new Exam(30);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0000FF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e.student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= s;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solidFill>
                  <a:srgbClr val="0000FF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  <a:t>// print vote</a:t>
            </a:r>
            <a:b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e.grade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  <a:t>// print student</a:t>
            </a:r>
            <a:b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e.student.last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);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23528" y="1340768"/>
            <a:ext cx="8640960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462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AF86F77-C5B0-EC46-B106-822C049C4E7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46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with getter/setter</a:t>
            </a:r>
          </a:p>
        </p:txBody>
      </p:sp>
      <p:sp>
        <p:nvSpPr>
          <p:cNvPr id="154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38138" y="1295400"/>
            <a:ext cx="8501062" cy="47577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class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StudentExample</a:t>
            </a:r>
            <a:r>
              <a:rPr lang="en-GB" sz="2400" b="1" dirty="0">
                <a:latin typeface="Courier New" charset="0"/>
                <a:cs typeface="Lucida Sans Unicode" charset="0"/>
              </a:rPr>
              <a:t> {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public static void main(String[]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Student s = new Student(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Alice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Green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											 1234);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Exam e = new Exam(30);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e.setStudent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(s);</a:t>
            </a: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  <a:t>// prints its values and asks students to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solidFill>
                  <a:srgbClr val="9BBB59"/>
                </a:solidFill>
                <a:latin typeface="Courier New" charset="0"/>
                <a:cs typeface="Lucida Sans Unicode" charset="0"/>
              </a:rPr>
              <a:t>    // print their data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e.print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();</a:t>
            </a: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23528" y="1268760"/>
            <a:ext cx="8640960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667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D4E212D-1531-3040-BEAD-9AE1B60AEE3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66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with getter/setter</a:t>
            </a:r>
          </a:p>
        </p:txBody>
      </p:sp>
      <p:sp>
        <p:nvSpPr>
          <p:cNvPr id="148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49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public class Student {</a:t>
            </a:r>
          </a:p>
          <a:p>
            <a:pPr eaLnBrk="1" hangingPunct="1">
              <a:lnSpc>
                <a:spcPct val="100000"/>
              </a:lnSpc>
              <a:spcBef>
                <a:spcPts val="22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9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</a:t>
            </a:r>
            <a:r>
              <a:rPr lang="en-GB" sz="2400" b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private</a:t>
            </a:r>
            <a:r>
              <a:rPr lang="en-GB" sz="2400" b="1">
                <a:latin typeface="Courier New" charset="0"/>
                <a:cs typeface="Lucida Sans Unicode" charset="0"/>
              </a:rPr>
              <a:t> String first;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</a:t>
            </a: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</a:t>
            </a:r>
            <a:r>
              <a:rPr lang="en-GB" sz="2400" b="1">
                <a:latin typeface="Courier New" charset="0"/>
                <a:cs typeface="Lucida Sans Unicode" charset="0"/>
              </a:rPr>
              <a:t> String last;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</a:t>
            </a: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</a:t>
            </a:r>
            <a:r>
              <a:rPr lang="en-GB" sz="2400" b="1">
                <a:latin typeface="Courier New" charset="0"/>
                <a:cs typeface="Lucida Sans Unicode" charset="0"/>
              </a:rPr>
              <a:t> int id;</a:t>
            </a:r>
          </a:p>
          <a:p>
            <a:pPr eaLnBrk="1" hangingPunct="1">
              <a:lnSpc>
                <a:spcPct val="10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</a:t>
            </a: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public </a:t>
            </a:r>
            <a:r>
              <a:rPr lang="en-GB" sz="2400" b="1">
                <a:latin typeface="Courier New" charset="0"/>
                <a:cs typeface="Lucida Sans Unicode" charset="0"/>
              </a:rPr>
              <a:t>String </a:t>
            </a: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toString</a:t>
            </a:r>
            <a:r>
              <a:rPr lang="en-GB" sz="2400" b="1">
                <a:latin typeface="Courier New" charset="0"/>
                <a:cs typeface="Lucida Sans Unicode" charset="0"/>
              </a:rPr>
              <a:t>() {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	return first + " " +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            last  + " " +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            id;		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23528" y="1268760"/>
            <a:ext cx="8640960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872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4AEDCC1-153C-C548-A734-33AF98D2320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87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with getter/setter</a:t>
            </a:r>
          </a:p>
        </p:txBody>
      </p:sp>
      <p:sp>
        <p:nvSpPr>
          <p:cNvPr id="1587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public class Exam {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   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</a:t>
            </a:r>
            <a:r>
              <a:rPr lang="en-GB" sz="2300" b="1">
                <a:latin typeface="Courier New" charset="0"/>
                <a:cs typeface="Lucida Sans Unicode" charset="0"/>
              </a:rPr>
              <a:t> int grade;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   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</a:t>
            </a:r>
            <a:r>
              <a:rPr lang="en-GB" sz="2300" b="1">
                <a:latin typeface="Courier New" charset="0"/>
                <a:cs typeface="Lucida Sans Unicode" charset="0"/>
              </a:rPr>
              <a:t> Student student;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	 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public </a:t>
            </a:r>
            <a:r>
              <a:rPr lang="en-GB" sz="2300" b="1">
                <a:latin typeface="Courier New" charset="0"/>
                <a:cs typeface="Lucida Sans Unicode" charset="0"/>
              </a:rPr>
              <a:t>void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300" b="1">
                <a:latin typeface="Courier New" charset="0"/>
                <a:cs typeface="Lucida Sans Unicode" charset="0"/>
              </a:rPr>
              <a:t>() {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		 System.out.println(</a:t>
            </a:r>
            <a:r>
              <a:rPr lang="ja-JP" altLang="en-GB" sz="2300" b="1">
                <a:latin typeface="Courier New" charset="0"/>
                <a:cs typeface="Lucida Sans Unicode" charset="0"/>
              </a:rPr>
              <a:t>“</a:t>
            </a:r>
            <a:r>
              <a:rPr lang="en-GB" altLang="ja-JP" sz="2300" b="1">
                <a:latin typeface="Courier New" charset="0"/>
                <a:cs typeface="Lucida Sans Unicode" charset="0"/>
              </a:rPr>
              <a:t>Student </a:t>
            </a:r>
            <a:r>
              <a:rPr lang="ja-JP" altLang="en-GB" sz="2300" b="1">
                <a:latin typeface="Courier New" charset="0"/>
                <a:cs typeface="Lucida Sans Unicode" charset="0"/>
              </a:rPr>
              <a:t>”</a:t>
            </a:r>
            <a:r>
              <a:rPr lang="en-GB" altLang="ja-JP" sz="2300" b="1">
                <a:latin typeface="Courier New" charset="0"/>
                <a:cs typeface="Lucida Sans Unicode" charset="0"/>
              </a:rPr>
              <a:t> + 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        student.toString() + </a:t>
            </a:r>
            <a:r>
              <a:rPr lang="ja-JP" altLang="en-GB" sz="2300" b="1">
                <a:latin typeface="Courier New" charset="0"/>
                <a:cs typeface="Lucida Sans Unicode" charset="0"/>
              </a:rPr>
              <a:t>“</a:t>
            </a:r>
            <a:r>
              <a:rPr lang="en-GB" altLang="ja-JP" sz="2300" b="1">
                <a:latin typeface="Courier New" charset="0"/>
                <a:cs typeface="Lucida Sans Unicode" charset="0"/>
              </a:rPr>
              <a:t>got </a:t>
            </a:r>
            <a:r>
              <a:rPr lang="ja-JP" altLang="en-GB" sz="2300" b="1">
                <a:latin typeface="Courier New" charset="0"/>
                <a:cs typeface="Lucida Sans Unicode" charset="0"/>
              </a:rPr>
              <a:t>”</a:t>
            </a:r>
            <a:r>
              <a:rPr lang="en-GB" altLang="ja-JP" sz="2300" b="1">
                <a:latin typeface="Courier New" charset="0"/>
                <a:cs typeface="Lucida Sans Unicode" charset="0"/>
              </a:rPr>
              <a:t> + grade);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	  }</a:t>
            </a:r>
          </a:p>
          <a:p>
            <a:pPr eaLnBrk="1" hangingPunct="1">
              <a:lnSpc>
                <a:spcPct val="90000"/>
              </a:lnSpc>
              <a:spcBef>
                <a:spcPts val="2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	 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public </a:t>
            </a:r>
            <a:r>
              <a:rPr lang="en-GB" sz="2300" b="1">
                <a:latin typeface="Courier New" charset="0"/>
                <a:cs typeface="Lucida Sans Unicode" charset="0"/>
              </a:rPr>
              <a:t>void </a:t>
            </a:r>
            <a:r>
              <a:rPr lang="en-GB" sz="23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setStudent</a:t>
            </a:r>
            <a:r>
              <a:rPr lang="en-GB" sz="2300" b="1">
                <a:latin typeface="Courier New" charset="0"/>
                <a:cs typeface="Lucida Sans Unicode" charset="0"/>
              </a:rPr>
              <a:t>(Student s) {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		 this.student =s;	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ts val="575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300" b="1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Getters &amp; setters vs. public fields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Getter</a:t>
            </a:r>
          </a:p>
          <a:p>
            <a:pPr lvl="1"/>
            <a:r>
              <a:rPr lang="en-US" dirty="0" smtClean="0"/>
              <a:t>Allow changing the internal representation without affecting</a:t>
            </a:r>
          </a:p>
          <a:p>
            <a:pPr lvl="2"/>
            <a:r>
              <a:rPr lang="en-US" dirty="0" smtClean="0"/>
              <a:t>E.g. </a:t>
            </a:r>
            <a:r>
              <a:rPr lang="en-US" dirty="0"/>
              <a:t>c</a:t>
            </a:r>
            <a:r>
              <a:rPr lang="en-US" dirty="0" smtClean="0"/>
              <a:t>an perform type conversion</a:t>
            </a:r>
          </a:p>
          <a:p>
            <a:r>
              <a:rPr lang="en-US" dirty="0" smtClean="0"/>
              <a:t>Setter</a:t>
            </a:r>
          </a:p>
          <a:p>
            <a:pPr lvl="1"/>
            <a:r>
              <a:rPr lang="en-US" dirty="0" smtClean="0"/>
              <a:t>Allow performing checks before modifying the attribute</a:t>
            </a:r>
          </a:p>
          <a:p>
            <a:pPr lvl="2"/>
            <a:r>
              <a:rPr lang="en-US" dirty="0" smtClean="0"/>
              <a:t>E.g. Validity of values, authorization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5FE5AAF-9944-CB4F-8EFB-C30711195D8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28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Packages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281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Class is a better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mechanism of </a:t>
            </a:r>
            <a:r>
              <a:rPr lang="en-GB" dirty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modularization </a:t>
            </a:r>
            <a:r>
              <a:rPr lang="en-GB" dirty="0">
                <a:latin typeface="Lucida Sans Unicode" charset="0"/>
                <a:cs typeface="Lucida Sans Unicode" charset="0"/>
              </a:rPr>
              <a:t>than a procedure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But it is still small, when compared to the size of an application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For the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purpose of code organization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and structuring </a:t>
            </a:r>
            <a:r>
              <a:rPr lang="en-GB" dirty="0">
                <a:latin typeface="Lucida Sans Unicode" charset="0"/>
                <a:cs typeface="Lucida Sans Unicode" charset="0"/>
              </a:rPr>
              <a:t>Java provides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package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feature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10FBA74-A213-734B-9092-1CD2F311589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48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Package</a:t>
            </a:r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A package is a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logic set</a:t>
            </a:r>
            <a:r>
              <a:rPr lang="en-GB" dirty="0">
                <a:latin typeface="Lucida Sans Unicode" charset="0"/>
                <a:cs typeface="Lucida Sans Unicode" charset="0"/>
              </a:rPr>
              <a:t> of class definitions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These classes consist in several files, all stored in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same folder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Each package defines a new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scope</a:t>
            </a:r>
            <a:r>
              <a:rPr lang="en-GB" dirty="0">
                <a:latin typeface="Lucida Sans Unicode" charset="0"/>
                <a:cs typeface="Lucida Sans Unicode" charset="0"/>
              </a:rPr>
              <a:t> (i.e., it puts bounds to visibility of names)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It is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therefore possible to use </a:t>
            </a:r>
            <a:r>
              <a:rPr lang="en-GB" altLang="ja-JP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same class names in different package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without name-conflicts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82D5FE1-D1B8-2648-8FF3-2FCCFA74B36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69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Package name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 package is identified by a name with a hierarchic structure (</a:t>
            </a:r>
            <a:r>
              <a:rPr lang="en-GB" i="1">
                <a:latin typeface="Lucida Sans Unicode" charset="0"/>
                <a:cs typeface="Lucida Sans Unicode" charset="0"/>
              </a:rPr>
              <a:t>fully qualified name</a:t>
            </a:r>
            <a:r>
              <a:rPr lang="en-GB">
                <a:latin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E.g. </a:t>
            </a:r>
            <a:r>
              <a:rPr lang="en-GB" b="1">
                <a:latin typeface="Lucida Sans Unicode" charset="0"/>
                <a:ea typeface="Lucida Sans Unicode" charset="0"/>
                <a:cs typeface="Lucida Sans Unicode" charset="0"/>
              </a:rPr>
              <a:t>java.lang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(String, System, …)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Conventions to create unique names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Internet name in reverse order</a:t>
            </a:r>
          </a:p>
          <a:p>
            <a:pPr lvl="1" eaLnBrk="1" hangingPunct="1">
              <a:lnSpc>
                <a:spcPct val="100000"/>
              </a:lnSpc>
              <a:buClr>
                <a:srgbClr val="FF66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it.polito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.myPackage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FE78138-7FD7-9945-AA08-7686555DD94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69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89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Examples</a:t>
            </a:r>
          </a:p>
        </p:txBody>
      </p:sp>
      <p:sp>
        <p:nvSpPr>
          <p:cNvPr id="16896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cs typeface="Courier New"/>
              </a:rPr>
              <a:t>java.awt</a:t>
            </a:r>
            <a:endParaRPr lang="en-GB" b="1" dirty="0"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ea typeface="Lucida Sans Unicode" charset="0"/>
                <a:cs typeface="Courier New"/>
              </a:rPr>
              <a:t>Window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ea typeface="Lucida Sans Unicode" charset="0"/>
                <a:cs typeface="Courier New"/>
              </a:rPr>
              <a:t>Button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ea typeface="Lucida Sans Unicode" charset="0"/>
                <a:cs typeface="Courier New"/>
              </a:rPr>
              <a:t>Menu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cs typeface="Courier New"/>
              </a:rPr>
              <a:t>java.awt.event</a:t>
            </a:r>
            <a:r>
              <a:rPr lang="en-GB" dirty="0">
                <a:latin typeface="Lucida Sans Unicode" charset="0"/>
                <a:cs typeface="Lucida Sans Unicode" charset="0"/>
              </a:rPr>
              <a:t> (sub-package)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ea typeface="Lucida Sans Unicode" charset="0"/>
                <a:cs typeface="Courier New"/>
              </a:rPr>
              <a:t>MouseEvent</a:t>
            </a:r>
            <a:endParaRPr lang="en-GB" b="1" dirty="0">
              <a:latin typeface="Courier New"/>
              <a:ea typeface="Lucida Sans Unicode" charset="0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ea typeface="Lucida Sans Unicode" charset="0"/>
                <a:cs typeface="Courier New"/>
              </a:rPr>
              <a:t>KeyEvent</a:t>
            </a:r>
            <a:endParaRPr lang="en-GB" b="1" dirty="0">
              <a:latin typeface="Courier New"/>
              <a:ea typeface="Lucida Sans Unicode" charset="0"/>
              <a:cs typeface="Courier New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A424D46-7209-3749-A7B8-16B4271F5DA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710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Creation and usage</a:t>
            </a:r>
          </a:p>
        </p:txBody>
      </p:sp>
      <p:sp>
        <p:nvSpPr>
          <p:cNvPr id="1710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>
                <a:latin typeface="Lucida Sans Unicode" charset="0"/>
                <a:cs typeface="Lucida Sans Unicode" charset="0"/>
              </a:rPr>
              <a:t>Declaration: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Package statement at the beginning of each class file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package packageName;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>
                <a:latin typeface="Lucida Sans Unicode" charset="0"/>
                <a:cs typeface="Lucida Sans Unicode" charset="0"/>
              </a:rPr>
              <a:t>Usage: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Import statement at the beginning of class file (where needed)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import packageName.className;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import java.awt.*;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161796" name="AutoShape 3"/>
          <p:cNvSpPr>
            <a:spLocks noChangeArrowheads="1"/>
          </p:cNvSpPr>
          <p:nvPr/>
        </p:nvSpPr>
        <p:spPr bwMode="auto">
          <a:xfrm>
            <a:off x="5178425" y="5516563"/>
            <a:ext cx="2130425" cy="838200"/>
          </a:xfrm>
          <a:prstGeom prst="wedgeRoundRectCallout">
            <a:avLst>
              <a:gd name="adj1" fmla="val -91685"/>
              <a:gd name="adj2" fmla="val -35356"/>
              <a:gd name="adj3" fmla="val 16667"/>
            </a:avLst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ctr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600">
                <a:solidFill>
                  <a:srgbClr val="000000"/>
                </a:solidFill>
                <a:latin typeface="Lucida Sans Unicode" charset="0"/>
              </a:rPr>
              <a:t>Import all classes but not the sub packages</a:t>
            </a:r>
          </a:p>
        </p:txBody>
      </p:sp>
      <p:sp>
        <p:nvSpPr>
          <p:cNvPr id="161797" name="AutoShape 4"/>
          <p:cNvSpPr>
            <a:spLocks noChangeArrowheads="1"/>
          </p:cNvSpPr>
          <p:nvPr/>
        </p:nvSpPr>
        <p:spPr bwMode="auto">
          <a:xfrm>
            <a:off x="6804025" y="4483100"/>
            <a:ext cx="2339975" cy="817563"/>
          </a:xfrm>
          <a:prstGeom prst="wedgeRoundRectCallout">
            <a:avLst>
              <a:gd name="adj1" fmla="val -87478"/>
              <a:gd name="adj2" fmla="val -5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ctr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1600">
                <a:solidFill>
                  <a:srgbClr val="000000"/>
                </a:solidFill>
                <a:latin typeface="Lucida Sans Unicode" charset="0"/>
              </a:rPr>
              <a:t>Import single class</a:t>
            </a:r>
          </a:p>
          <a:p>
            <a:pPr algn="ctr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1600">
                <a:solidFill>
                  <a:srgbClr val="000000"/>
                </a:solidFill>
                <a:latin typeface="Lucida Sans Unicode" charset="0"/>
              </a:rPr>
              <a:t>(class name is in scope)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7DB3A96-6DDF-5042-A83A-B443248C496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7305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Access to a class in a package</a:t>
            </a:r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Referring to a method/class of a package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i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=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myPackage.Console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.readInt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If two packages define a class with the same name, they cannot be both imported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If you need both classes you have to use one of them with its fully-qualified name: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import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java.sql.Date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Date d1; //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java.sql.Date</a:t>
            </a:r>
            <a:endParaRPr lang="en-GB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java.util.Date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d2 = new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java.util.Date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Default package</a:t>
            </a:r>
          </a:p>
        </p:txBody>
      </p:sp>
      <p:sp>
        <p:nvSpPr>
          <p:cNvPr id="175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When no package is specified, the class belongs to the default package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default package has no name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Classes in the default package cannot be accessed by classes residing in other packages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Usage of default package is a bad practice and is discouraged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5641FB5-0A02-0847-84AD-2F19F9628CD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7715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Package and scope</a:t>
            </a:r>
          </a:p>
        </p:txBody>
      </p:sp>
      <p:sp>
        <p:nvSpPr>
          <p:cNvPr id="17715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Scope rules also apply to packages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The </a:t>
            </a:r>
            <a:r>
              <a:rPr lang="ja-JP" altLang="en-GB" sz="2800">
                <a:latin typeface="Lucida Sans Unicode" charset="0"/>
                <a:cs typeface="Lucida Sans Unicode" charset="0"/>
              </a:rPr>
              <a:t>“</a:t>
            </a:r>
            <a:r>
              <a:rPr lang="en-GB" altLang="ja-JP" sz="2800">
                <a:latin typeface="Lucida Sans Unicode" charset="0"/>
                <a:cs typeface="Lucida Sans Unicode" charset="0"/>
              </a:rPr>
              <a:t>interface</a:t>
            </a:r>
            <a:r>
              <a:rPr lang="ja-JP" altLang="en-GB" sz="2800">
                <a:latin typeface="Lucida Sans Unicode" charset="0"/>
                <a:cs typeface="Lucida Sans Unicode" charset="0"/>
              </a:rPr>
              <a:t>”</a:t>
            </a:r>
            <a:r>
              <a:rPr lang="en-GB" altLang="ja-JP" sz="2800">
                <a:latin typeface="Lucida Sans Unicode" charset="0"/>
                <a:cs typeface="Lucida Sans Unicode" charset="0"/>
              </a:rPr>
              <a:t> of a package is the set of </a:t>
            </a:r>
            <a:r>
              <a:rPr lang="en-GB" altLang="ja-JP" sz="280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public classes</a:t>
            </a:r>
            <a:r>
              <a:rPr lang="en-GB" altLang="ja-JP" sz="2800">
                <a:latin typeface="Lucida Sans Unicode" charset="0"/>
                <a:cs typeface="Lucida Sans Unicode" charset="0"/>
              </a:rPr>
              <a:t> contained in the package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Hints 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Consider a package as an entity of modularization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Minimize the number of classes, attributes, methods visible outside the package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2E1CA96-311B-5542-B75C-DAC908EEC0E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79202" name="Rectangle 1"/>
          <p:cNvSpPr>
            <a:spLocks noChangeArrowheads="1"/>
          </p:cNvSpPr>
          <p:nvPr/>
        </p:nvSpPr>
        <p:spPr bwMode="auto">
          <a:xfrm>
            <a:off x="314325" y="1784350"/>
            <a:ext cx="8469313" cy="36274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Package visibility</a:t>
            </a:r>
          </a:p>
        </p:txBody>
      </p:sp>
      <p:sp>
        <p:nvSpPr>
          <p:cNvPr id="179204" name="Text Box 3"/>
          <p:cNvSpPr txBox="1">
            <a:spLocks noChangeArrowheads="1"/>
          </p:cNvSpPr>
          <p:nvPr/>
        </p:nvSpPr>
        <p:spPr bwMode="auto">
          <a:xfrm>
            <a:off x="5283200" y="2827338"/>
            <a:ext cx="3124200" cy="210502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B {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  public int a3;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  private int a4;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79205" name="Text Box 4"/>
          <p:cNvSpPr txBox="1">
            <a:spLocks noChangeArrowheads="1"/>
          </p:cNvSpPr>
          <p:nvPr/>
        </p:nvSpPr>
        <p:spPr bwMode="auto">
          <a:xfrm>
            <a:off x="706438" y="2443163"/>
            <a:ext cx="3406775" cy="22637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A {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int a1;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private int a2;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void f1(){}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79206" name="Line 5"/>
          <p:cNvSpPr>
            <a:spLocks noChangeShapeType="1"/>
          </p:cNvSpPr>
          <p:nvPr/>
        </p:nvSpPr>
        <p:spPr bwMode="auto">
          <a:xfrm flipV="1">
            <a:off x="4008438" y="3506788"/>
            <a:ext cx="1951037" cy="46355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207" name="Line 6"/>
          <p:cNvSpPr>
            <a:spLocks noChangeShapeType="1"/>
          </p:cNvSpPr>
          <p:nvPr/>
        </p:nvSpPr>
        <p:spPr bwMode="auto">
          <a:xfrm flipV="1">
            <a:off x="4027488" y="3968750"/>
            <a:ext cx="1960562" cy="12541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208" name="Text Box 7"/>
          <p:cNvSpPr txBox="1">
            <a:spLocks noChangeArrowheads="1"/>
          </p:cNvSpPr>
          <p:nvPr/>
        </p:nvSpPr>
        <p:spPr bwMode="auto">
          <a:xfrm>
            <a:off x="4365625" y="40528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no</a:t>
            </a:r>
          </a:p>
        </p:txBody>
      </p:sp>
      <p:sp>
        <p:nvSpPr>
          <p:cNvPr id="179209" name="Text Box 8"/>
          <p:cNvSpPr txBox="1">
            <a:spLocks noChangeArrowheads="1"/>
          </p:cNvSpPr>
          <p:nvPr/>
        </p:nvSpPr>
        <p:spPr bwMode="auto">
          <a:xfrm>
            <a:off x="4264025" y="3405188"/>
            <a:ext cx="561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yes</a:t>
            </a:r>
          </a:p>
        </p:txBody>
      </p:sp>
      <p:sp>
        <p:nvSpPr>
          <p:cNvPr id="179210" name="Text Box 9"/>
          <p:cNvSpPr txBox="1">
            <a:spLocks noChangeArrowheads="1"/>
          </p:cNvSpPr>
          <p:nvPr/>
        </p:nvSpPr>
        <p:spPr bwMode="auto">
          <a:xfrm>
            <a:off x="379413" y="1838325"/>
            <a:ext cx="1409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Package 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ular Callout 1"/>
          <p:cNvSpPr/>
          <p:nvPr/>
        </p:nvSpPr>
        <p:spPr bwMode="auto">
          <a:xfrm>
            <a:off x="6084888" y="2924175"/>
            <a:ext cx="2879725" cy="504825"/>
          </a:xfrm>
          <a:prstGeom prst="wedgeRoundRectCallout">
            <a:avLst>
              <a:gd name="adj1" fmla="val -187839"/>
              <a:gd name="adj2" fmla="val 4218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0000"/>
              </a:lnSpc>
              <a:buFont typeface="Times New Roman" pitchFamily="16" charset="0"/>
              <a:buNone/>
              <a:defRPr/>
            </a:pP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Package visibility</a:t>
            </a:r>
          </a:p>
        </p:txBody>
      </p:sp>
      <p:sp>
        <p:nvSpPr>
          <p:cNvPr id="181250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4128F7E-1A48-1848-A312-152B7E91873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8125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Visibility w/ multiple packages</a:t>
            </a:r>
          </a:p>
        </p:txBody>
      </p:sp>
      <p:sp>
        <p:nvSpPr>
          <p:cNvPr id="18125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rgbClr val="FF6600"/>
                </a:solidFill>
                <a:latin typeface="Courier New" charset="0"/>
                <a:cs typeface="Courier New" charset="0"/>
              </a:rPr>
              <a:t>public</a:t>
            </a:r>
            <a:r>
              <a:rPr lang="en-GB" b="1">
                <a:latin typeface="Courier New" charset="0"/>
                <a:cs typeface="Courier New" charset="0"/>
              </a:rPr>
              <a:t> class A { }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Class and public members of A are visible from outside the package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cs typeface="Courier New" charset="0"/>
              </a:rPr>
              <a:t>   class B { }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Class and any members of B are not visible from outside the package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rgbClr val="FF6600"/>
                </a:solidFill>
                <a:latin typeface="Courier New" charset="0"/>
                <a:cs typeface="Courier New" charset="0"/>
              </a:rPr>
              <a:t>private</a:t>
            </a:r>
            <a:r>
              <a:rPr lang="en-GB" b="1">
                <a:latin typeface="Courier New" charset="0"/>
                <a:cs typeface="Courier New" charset="0"/>
              </a:rPr>
              <a:t> class A { }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Illegal: why?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635896" y="5661248"/>
            <a:ext cx="5328717" cy="791940"/>
          </a:xfrm>
          <a:prstGeom prst="wedgeRoundRectCallout">
            <a:avLst>
              <a:gd name="adj1" fmla="val -50875"/>
              <a:gd name="adj2" fmla="val -10483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lnSpc>
                <a:spcPct val="90000"/>
              </a:lnSpc>
              <a:buFont typeface="Times New Roman" pitchFamily="16" charset="0"/>
              <a:buNone/>
              <a:defRPr/>
            </a:pP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The class and its members would be visible to </a:t>
            </a:r>
            <a:r>
              <a:rPr lang="en-US" dirty="0" smtClean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themselves </a:t>
            </a: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only</a:t>
            </a:r>
          </a:p>
        </p:txBody>
      </p: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042988" y="2924175"/>
            <a:ext cx="865187" cy="433388"/>
            <a:chOff x="1043608" y="2924944"/>
            <a:chExt cx="864096" cy="432048"/>
          </a:xfrm>
        </p:grpSpPr>
        <p:cxnSp>
          <p:nvCxnSpPr>
            <p:cNvPr id="181255" name="Straight Connector 3"/>
            <p:cNvCxnSpPr>
              <a:cxnSpLocks noChangeShapeType="1"/>
            </p:cNvCxnSpPr>
            <p:nvPr/>
          </p:nvCxnSpPr>
          <p:spPr bwMode="auto">
            <a:xfrm>
              <a:off x="1115616" y="3356992"/>
              <a:ext cx="720080" cy="0"/>
            </a:xfrm>
            <a:prstGeom prst="line">
              <a:avLst/>
            </a:prstGeom>
            <a:noFill/>
            <a:ln w="9525">
              <a:solidFill>
                <a:srgbClr val="E46C0A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" name="Rectangle 4"/>
            <p:cNvSpPr/>
            <p:nvPr/>
          </p:nvSpPr>
          <p:spPr bwMode="auto">
            <a:xfrm>
              <a:off x="1114955" y="2997743"/>
              <a:ext cx="721402" cy="359249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0000"/>
                </a:lnSpc>
                <a:buFont typeface="Times New Roman" pitchFamily="16" charset="0"/>
                <a:buNone/>
                <a:defRPr/>
              </a:pPr>
              <a:endParaRPr lang="en-US" dirty="0">
                <a:solidFill>
                  <a:schemeClr val="tx1"/>
                </a:solidFill>
                <a:latin typeface="+mn-lt"/>
                <a:cs typeface="Lucida Sans Unicode" pitchFamily="32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 flipH="1" flipV="1">
              <a:off x="1043608" y="3068960"/>
              <a:ext cx="71347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 flipH="1" flipV="1">
              <a:off x="1043608" y="2924944"/>
              <a:ext cx="71347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H="1">
              <a:off x="1836357" y="2924944"/>
              <a:ext cx="71347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 flipH="1">
              <a:off x="1619143" y="2924944"/>
              <a:ext cx="72933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>
              <a:off x="1259236" y="2924944"/>
              <a:ext cx="72933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1476448" y="2924944"/>
              <a:ext cx="0" cy="72799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1043608" y="3212976"/>
              <a:ext cx="71347" cy="0"/>
            </a:xfrm>
            <a:prstGeom prst="line">
              <a:avLst/>
            </a:prstGeom>
            <a:solidFill>
              <a:srgbClr val="00B8FF"/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DEC764E-B177-BE48-A0C7-04EF1320B0C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8329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Multiple packages</a:t>
            </a:r>
          </a:p>
        </p:txBody>
      </p:sp>
      <p:sp>
        <p:nvSpPr>
          <p:cNvPr id="183299" name="Rectangle 2"/>
          <p:cNvSpPr>
            <a:spLocks noChangeArrowheads="1"/>
          </p:cNvSpPr>
          <p:nvPr/>
        </p:nvSpPr>
        <p:spPr bwMode="auto">
          <a:xfrm>
            <a:off x="2844800" y="4378325"/>
            <a:ext cx="4125913" cy="1784350"/>
          </a:xfrm>
          <a:prstGeom prst="rect">
            <a:avLst/>
          </a:prstGeom>
          <a:solidFill>
            <a:srgbClr val="FCD5B5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74084" name="Text Box 3"/>
          <p:cNvSpPr txBox="1">
            <a:spLocks noChangeArrowheads="1"/>
          </p:cNvSpPr>
          <p:nvPr/>
        </p:nvSpPr>
        <p:spPr bwMode="auto">
          <a:xfrm>
            <a:off x="3325813" y="4918075"/>
            <a:ext cx="3443287" cy="10191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  <a:defRPr/>
            </a:pPr>
            <a:r>
              <a:rPr lang="en-GB" sz="2000" b="1" smtClean="0">
                <a:solidFill>
                  <a:srgbClr val="000000"/>
                </a:solidFill>
                <a:latin typeface="Courier New" charset="0"/>
              </a:rPr>
              <a:t>class C {</a:t>
            </a:r>
            <a:br>
              <a:rPr lang="en-GB" sz="2000" b="1" smtClean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smtClean="0">
                <a:solidFill>
                  <a:srgbClr val="000000"/>
                </a:solidFill>
                <a:latin typeface="Courier New" charset="0"/>
              </a:rPr>
              <a:t>   public void f2(){}</a:t>
            </a:r>
            <a:br>
              <a:rPr lang="en-GB" sz="2000" b="1" smtClean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smtClean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83301" name="Text Box 4"/>
          <p:cNvSpPr txBox="1">
            <a:spLocks noChangeArrowheads="1"/>
          </p:cNvSpPr>
          <p:nvPr/>
        </p:nvSpPr>
        <p:spPr bwMode="auto">
          <a:xfrm>
            <a:off x="2894013" y="4438650"/>
            <a:ext cx="1438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Package Q</a:t>
            </a:r>
          </a:p>
        </p:txBody>
      </p:sp>
      <p:sp>
        <p:nvSpPr>
          <p:cNvPr id="174086" name="Rectangle 5"/>
          <p:cNvSpPr>
            <a:spLocks noChangeArrowheads="1"/>
          </p:cNvSpPr>
          <p:nvPr/>
        </p:nvSpPr>
        <p:spPr bwMode="auto">
          <a:xfrm>
            <a:off x="944563" y="1141413"/>
            <a:ext cx="7432675" cy="27511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183303" name="Line 6"/>
          <p:cNvSpPr>
            <a:spLocks noChangeShapeType="1"/>
          </p:cNvSpPr>
          <p:nvPr/>
        </p:nvSpPr>
        <p:spPr bwMode="auto">
          <a:xfrm flipH="1" flipV="1">
            <a:off x="4106863" y="3470275"/>
            <a:ext cx="835025" cy="139223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04" name="Line 7"/>
          <p:cNvSpPr>
            <a:spLocks noChangeShapeType="1"/>
          </p:cNvSpPr>
          <p:nvPr/>
        </p:nvSpPr>
        <p:spPr bwMode="auto">
          <a:xfrm flipV="1">
            <a:off x="5481638" y="3155950"/>
            <a:ext cx="1208087" cy="17160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05" name="Text Box 8"/>
          <p:cNvSpPr txBox="1">
            <a:spLocks noChangeArrowheads="1"/>
          </p:cNvSpPr>
          <p:nvPr/>
        </p:nvSpPr>
        <p:spPr bwMode="auto">
          <a:xfrm>
            <a:off x="4003675" y="3935413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sz="1800" b="1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183306" name="Text Box 9"/>
          <p:cNvSpPr txBox="1">
            <a:spLocks noChangeArrowheads="1"/>
          </p:cNvSpPr>
          <p:nvPr/>
        </p:nvSpPr>
        <p:spPr bwMode="auto">
          <a:xfrm>
            <a:off x="1000125" y="1189038"/>
            <a:ext cx="1409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Package P</a:t>
            </a:r>
          </a:p>
        </p:txBody>
      </p:sp>
      <p:sp>
        <p:nvSpPr>
          <p:cNvPr id="183307" name="Text Box 10"/>
          <p:cNvSpPr txBox="1">
            <a:spLocks noChangeArrowheads="1"/>
          </p:cNvSpPr>
          <p:nvPr/>
        </p:nvSpPr>
        <p:spPr bwMode="auto">
          <a:xfrm>
            <a:off x="6129338" y="3975100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sz="1800" b="1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183308" name="Text Box 11"/>
          <p:cNvSpPr txBox="1">
            <a:spLocks noChangeArrowheads="1"/>
          </p:cNvSpPr>
          <p:nvPr/>
        </p:nvSpPr>
        <p:spPr bwMode="auto">
          <a:xfrm>
            <a:off x="5003800" y="1785938"/>
            <a:ext cx="3124200" cy="13239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B 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int a3;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private int a4;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83309" name="Text Box 12"/>
          <p:cNvSpPr txBox="1">
            <a:spLocks noChangeArrowheads="1"/>
          </p:cNvSpPr>
          <p:nvPr/>
        </p:nvSpPr>
        <p:spPr bwMode="auto">
          <a:xfrm>
            <a:off x="1338263" y="1800225"/>
            <a:ext cx="3443287" cy="16287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A 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int a1;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private int a2;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void f1(){}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Segnaposto numero diapositiva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E31D1C3-CCBF-A242-BFC8-92DA8FE40A7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85346" name="Rectangle 1"/>
          <p:cNvSpPr>
            <a:spLocks noChangeArrowheads="1"/>
          </p:cNvSpPr>
          <p:nvPr/>
        </p:nvSpPr>
        <p:spPr bwMode="auto">
          <a:xfrm>
            <a:off x="2844800" y="4378325"/>
            <a:ext cx="4125913" cy="1784350"/>
          </a:xfrm>
          <a:prstGeom prst="rect">
            <a:avLst/>
          </a:prstGeom>
          <a:solidFill>
            <a:srgbClr val="FCD5B5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1853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Multiple packages</a:t>
            </a:r>
          </a:p>
        </p:txBody>
      </p:sp>
      <p:sp>
        <p:nvSpPr>
          <p:cNvPr id="185348" name="Text Box 3"/>
          <p:cNvSpPr txBox="1">
            <a:spLocks noChangeArrowheads="1"/>
          </p:cNvSpPr>
          <p:nvPr/>
        </p:nvSpPr>
        <p:spPr bwMode="auto">
          <a:xfrm>
            <a:off x="2894013" y="4438650"/>
            <a:ext cx="1438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Package Q</a:t>
            </a:r>
          </a:p>
        </p:txBody>
      </p:sp>
      <p:sp>
        <p:nvSpPr>
          <p:cNvPr id="176133" name="Rectangle 4"/>
          <p:cNvSpPr>
            <a:spLocks noChangeArrowheads="1"/>
          </p:cNvSpPr>
          <p:nvPr/>
        </p:nvSpPr>
        <p:spPr bwMode="auto">
          <a:xfrm>
            <a:off x="944563" y="1141413"/>
            <a:ext cx="7432675" cy="27511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t-IT">
              <a:cs typeface="Lucida Sans Unicode" charset="0"/>
            </a:endParaRPr>
          </a:p>
        </p:txBody>
      </p:sp>
      <p:sp>
        <p:nvSpPr>
          <p:cNvPr id="185350" name="Text Box 5"/>
          <p:cNvSpPr txBox="1">
            <a:spLocks noChangeArrowheads="1"/>
          </p:cNvSpPr>
          <p:nvPr/>
        </p:nvSpPr>
        <p:spPr bwMode="auto">
          <a:xfrm>
            <a:off x="5003800" y="1785938"/>
            <a:ext cx="3124200" cy="13239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B 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int a3;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private int a4;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85351" name="Text Box 6"/>
          <p:cNvSpPr txBox="1">
            <a:spLocks noChangeArrowheads="1"/>
          </p:cNvSpPr>
          <p:nvPr/>
        </p:nvSpPr>
        <p:spPr bwMode="auto">
          <a:xfrm>
            <a:off x="1338263" y="1800225"/>
            <a:ext cx="3443287" cy="16287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Clr>
                <a:srgbClr val="FF0000"/>
              </a:buClr>
              <a:buFont typeface="Courier New" charset="0"/>
              <a:buNone/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public 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class A {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public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a1;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private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a2;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public void f1(){}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85352" name="Line 7"/>
          <p:cNvSpPr>
            <a:spLocks noChangeShapeType="1"/>
          </p:cNvSpPr>
          <p:nvPr/>
        </p:nvSpPr>
        <p:spPr bwMode="auto">
          <a:xfrm flipH="1" flipV="1">
            <a:off x="4106863" y="3470275"/>
            <a:ext cx="835025" cy="139223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3" name="Line 8"/>
          <p:cNvSpPr>
            <a:spLocks noChangeShapeType="1"/>
          </p:cNvSpPr>
          <p:nvPr/>
        </p:nvSpPr>
        <p:spPr bwMode="auto">
          <a:xfrm flipV="1">
            <a:off x="5481638" y="3155950"/>
            <a:ext cx="1208087" cy="17160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4" name="Text Box 9"/>
          <p:cNvSpPr txBox="1">
            <a:spLocks noChangeArrowheads="1"/>
          </p:cNvSpPr>
          <p:nvPr/>
        </p:nvSpPr>
        <p:spPr bwMode="auto">
          <a:xfrm>
            <a:off x="3942418" y="3935413"/>
            <a:ext cx="579716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sz="1800" b="1" dirty="0">
                <a:solidFill>
                  <a:srgbClr val="FF6600"/>
                </a:solidFill>
                <a:latin typeface="Arial" charset="0"/>
              </a:rPr>
              <a:t>yes</a:t>
            </a:r>
          </a:p>
        </p:txBody>
      </p:sp>
      <p:sp>
        <p:nvSpPr>
          <p:cNvPr id="185355" name="Text Box 10"/>
          <p:cNvSpPr txBox="1">
            <a:spLocks noChangeArrowheads="1"/>
          </p:cNvSpPr>
          <p:nvPr/>
        </p:nvSpPr>
        <p:spPr bwMode="auto">
          <a:xfrm>
            <a:off x="1000125" y="1189038"/>
            <a:ext cx="1409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Package P</a:t>
            </a:r>
          </a:p>
        </p:txBody>
      </p:sp>
      <p:sp>
        <p:nvSpPr>
          <p:cNvPr id="185356" name="Text Box 11"/>
          <p:cNvSpPr txBox="1">
            <a:spLocks noChangeArrowheads="1"/>
          </p:cNvSpPr>
          <p:nvPr/>
        </p:nvSpPr>
        <p:spPr bwMode="auto">
          <a:xfrm>
            <a:off x="6129338" y="3975100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no</a:t>
            </a:r>
          </a:p>
        </p:txBody>
      </p:sp>
      <p:sp>
        <p:nvSpPr>
          <p:cNvPr id="185357" name="Text Box 12"/>
          <p:cNvSpPr txBox="1">
            <a:spLocks noChangeArrowheads="1"/>
          </p:cNvSpPr>
          <p:nvPr/>
        </p:nvSpPr>
        <p:spPr bwMode="auto">
          <a:xfrm>
            <a:off x="3325813" y="4918075"/>
            <a:ext cx="3443287" cy="1019175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ts val="1250"/>
              </a:spcBef>
              <a:buFont typeface="Courier New" charset="0"/>
              <a:buNone/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C 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 public void f2(){}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65E0EA9-85B1-AD46-BC84-0C9526EA3C1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873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Access rules</a:t>
            </a:r>
          </a:p>
        </p:txBody>
      </p:sp>
      <p:grpSp>
        <p:nvGrpSpPr>
          <p:cNvPr id="187395" name="Group 2"/>
          <p:cNvGrpSpPr>
            <a:grpSpLocks/>
          </p:cNvGrpSpPr>
          <p:nvPr/>
        </p:nvGrpSpPr>
        <p:grpSpPr bwMode="auto">
          <a:xfrm>
            <a:off x="330200" y="1295400"/>
            <a:ext cx="8509000" cy="4573588"/>
            <a:chOff x="208" y="816"/>
            <a:chExt cx="5360" cy="2881"/>
          </a:xfrm>
        </p:grpSpPr>
        <p:sp>
          <p:nvSpPr>
            <p:cNvPr id="178180" name="Rectangle 3"/>
            <p:cNvSpPr>
              <a:spLocks noChangeArrowheads="1"/>
            </p:cNvSpPr>
            <p:nvPr/>
          </p:nvSpPr>
          <p:spPr bwMode="auto">
            <a:xfrm>
              <a:off x="4228" y="3064"/>
              <a:ext cx="1340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78181" name="Rectangle 4"/>
            <p:cNvSpPr>
              <a:spLocks noChangeArrowheads="1"/>
            </p:cNvSpPr>
            <p:nvPr/>
          </p:nvSpPr>
          <p:spPr bwMode="auto">
            <a:xfrm>
              <a:off x="2888" y="3064"/>
              <a:ext cx="1340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78182" name="Rectangle 5"/>
            <p:cNvSpPr>
              <a:spLocks noChangeArrowheads="1"/>
            </p:cNvSpPr>
            <p:nvPr/>
          </p:nvSpPr>
          <p:spPr bwMode="auto">
            <a:xfrm>
              <a:off x="1672" y="3064"/>
              <a:ext cx="1216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87399" name="Rectangle 6"/>
            <p:cNvSpPr>
              <a:spLocks noChangeArrowheads="1"/>
            </p:cNvSpPr>
            <p:nvPr/>
          </p:nvSpPr>
          <p:spPr bwMode="auto">
            <a:xfrm>
              <a:off x="208" y="3064"/>
              <a:ext cx="1464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Public member in public class</a:t>
              </a:r>
              <a:r>
                <a:rPr lang="en-GB" sz="2000">
                  <a:solidFill>
                    <a:srgbClr val="000000"/>
                  </a:solidFill>
                  <a:latin typeface="Lucida Sans Unicode" charset="0"/>
                </a:rPr>
                <a:t> </a:t>
              </a:r>
            </a:p>
          </p:txBody>
        </p:sp>
        <p:sp>
          <p:nvSpPr>
            <p:cNvPr id="187400" name="Rectangle 7"/>
            <p:cNvSpPr>
              <a:spLocks noChangeArrowheads="1"/>
            </p:cNvSpPr>
            <p:nvPr/>
          </p:nvSpPr>
          <p:spPr bwMode="auto">
            <a:xfrm>
              <a:off x="4228" y="2431"/>
              <a:ext cx="1340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b="1">
                  <a:solidFill>
                    <a:srgbClr val="FF0000"/>
                  </a:solidFill>
                  <a:latin typeface="Lucida Sans Unicode" charset="0"/>
                </a:rPr>
                <a:t>No</a:t>
              </a:r>
            </a:p>
          </p:txBody>
        </p:sp>
        <p:sp>
          <p:nvSpPr>
            <p:cNvPr id="178185" name="Rectangle 8"/>
            <p:cNvSpPr>
              <a:spLocks noChangeArrowheads="1"/>
            </p:cNvSpPr>
            <p:nvPr/>
          </p:nvSpPr>
          <p:spPr bwMode="auto">
            <a:xfrm>
              <a:off x="2888" y="2431"/>
              <a:ext cx="1340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78186" name="Rectangle 9"/>
            <p:cNvSpPr>
              <a:spLocks noChangeArrowheads="1"/>
            </p:cNvSpPr>
            <p:nvPr/>
          </p:nvSpPr>
          <p:spPr bwMode="auto">
            <a:xfrm>
              <a:off x="1672" y="2431"/>
              <a:ext cx="1216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87403" name="Rectangle 10"/>
            <p:cNvSpPr>
              <a:spLocks noChangeArrowheads="1"/>
            </p:cNvSpPr>
            <p:nvPr/>
          </p:nvSpPr>
          <p:spPr bwMode="auto">
            <a:xfrm>
              <a:off x="208" y="2431"/>
              <a:ext cx="1464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Public member in package class</a:t>
              </a:r>
              <a:r>
                <a:rPr lang="en-GB" sz="2000">
                  <a:solidFill>
                    <a:srgbClr val="000000"/>
                  </a:solidFill>
                  <a:latin typeface="Lucida Sans Unicode" charset="0"/>
                </a:rPr>
                <a:t> </a:t>
              </a:r>
            </a:p>
          </p:txBody>
        </p:sp>
        <p:sp>
          <p:nvSpPr>
            <p:cNvPr id="187404" name="Rectangle 11"/>
            <p:cNvSpPr>
              <a:spLocks noChangeArrowheads="1"/>
            </p:cNvSpPr>
            <p:nvPr/>
          </p:nvSpPr>
          <p:spPr bwMode="auto">
            <a:xfrm>
              <a:off x="4228" y="1952"/>
              <a:ext cx="13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b="1">
                  <a:solidFill>
                    <a:srgbClr val="FF0000"/>
                  </a:solidFill>
                  <a:latin typeface="Lucida Sans Unicode" charset="0"/>
                </a:rPr>
                <a:t>No</a:t>
              </a:r>
            </a:p>
          </p:txBody>
        </p:sp>
        <p:sp>
          <p:nvSpPr>
            <p:cNvPr id="178189" name="Rectangle 12"/>
            <p:cNvSpPr>
              <a:spLocks noChangeArrowheads="1"/>
            </p:cNvSpPr>
            <p:nvPr/>
          </p:nvSpPr>
          <p:spPr bwMode="auto">
            <a:xfrm>
              <a:off x="2888" y="1952"/>
              <a:ext cx="13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78190" name="Rectangle 13"/>
            <p:cNvSpPr>
              <a:spLocks noChangeArrowheads="1"/>
            </p:cNvSpPr>
            <p:nvPr/>
          </p:nvSpPr>
          <p:spPr bwMode="auto">
            <a:xfrm>
              <a:off x="1672" y="1952"/>
              <a:ext cx="1216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87407" name="Rectangle 14"/>
            <p:cNvSpPr>
              <a:spLocks noChangeArrowheads="1"/>
            </p:cNvSpPr>
            <p:nvPr/>
          </p:nvSpPr>
          <p:spPr bwMode="auto">
            <a:xfrm>
              <a:off x="208" y="1952"/>
              <a:ext cx="1464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Package member</a:t>
              </a:r>
              <a:r>
                <a:rPr lang="en-GB" sz="2000">
                  <a:solidFill>
                    <a:srgbClr val="000000"/>
                  </a:solidFill>
                  <a:latin typeface="Lucida Sans Unicode" charset="0"/>
                </a:rPr>
                <a:t> </a:t>
              </a:r>
            </a:p>
          </p:txBody>
        </p:sp>
        <p:sp>
          <p:nvSpPr>
            <p:cNvPr id="187408" name="Rectangle 15"/>
            <p:cNvSpPr>
              <a:spLocks noChangeArrowheads="1"/>
            </p:cNvSpPr>
            <p:nvPr/>
          </p:nvSpPr>
          <p:spPr bwMode="auto">
            <a:xfrm>
              <a:off x="4228" y="1480"/>
              <a:ext cx="1340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b="1">
                  <a:solidFill>
                    <a:srgbClr val="FF0000"/>
                  </a:solidFill>
                  <a:latin typeface="Lucida Sans Unicode" charset="0"/>
                </a:rPr>
                <a:t>No</a:t>
              </a:r>
            </a:p>
          </p:txBody>
        </p:sp>
        <p:sp>
          <p:nvSpPr>
            <p:cNvPr id="187409" name="Rectangle 16"/>
            <p:cNvSpPr>
              <a:spLocks noChangeArrowheads="1"/>
            </p:cNvSpPr>
            <p:nvPr/>
          </p:nvSpPr>
          <p:spPr bwMode="auto">
            <a:xfrm>
              <a:off x="2888" y="1480"/>
              <a:ext cx="1340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b="1">
                  <a:solidFill>
                    <a:srgbClr val="FF0000"/>
                  </a:solidFill>
                  <a:latin typeface="Lucida Sans Unicode" charset="0"/>
                </a:rPr>
                <a:t>No</a:t>
              </a:r>
            </a:p>
          </p:txBody>
        </p:sp>
        <p:sp>
          <p:nvSpPr>
            <p:cNvPr id="178194" name="Rectangle 17"/>
            <p:cNvSpPr>
              <a:spLocks noChangeArrowheads="1"/>
            </p:cNvSpPr>
            <p:nvPr/>
          </p:nvSpPr>
          <p:spPr bwMode="auto">
            <a:xfrm>
              <a:off x="1672" y="1480"/>
              <a:ext cx="1216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b="1" dirty="0">
                  <a:solidFill>
                    <a:schemeClr val="accent3">
                      <a:lumMod val="50000"/>
                    </a:schemeClr>
                  </a:solidFill>
                  <a:latin typeface="Lucida Sans Unicode" charset="0"/>
                </a:rPr>
                <a:t>Yes</a:t>
              </a:r>
            </a:p>
          </p:txBody>
        </p:sp>
        <p:sp>
          <p:nvSpPr>
            <p:cNvPr id="187411" name="Rectangle 18"/>
            <p:cNvSpPr>
              <a:spLocks noChangeArrowheads="1"/>
            </p:cNvSpPr>
            <p:nvPr/>
          </p:nvSpPr>
          <p:spPr bwMode="auto">
            <a:xfrm>
              <a:off x="208" y="1480"/>
              <a:ext cx="1464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Private member</a:t>
              </a:r>
            </a:p>
          </p:txBody>
        </p:sp>
        <p:sp>
          <p:nvSpPr>
            <p:cNvPr id="187412" name="Rectangle 19"/>
            <p:cNvSpPr>
              <a:spLocks noChangeArrowheads="1"/>
            </p:cNvSpPr>
            <p:nvPr/>
          </p:nvSpPr>
          <p:spPr bwMode="auto">
            <a:xfrm>
              <a:off x="4228" y="816"/>
              <a:ext cx="1340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Method of other class in other package</a:t>
              </a:r>
            </a:p>
          </p:txBody>
        </p:sp>
        <p:sp>
          <p:nvSpPr>
            <p:cNvPr id="187413" name="Rectangle 20"/>
            <p:cNvSpPr>
              <a:spLocks noChangeArrowheads="1"/>
            </p:cNvSpPr>
            <p:nvPr/>
          </p:nvSpPr>
          <p:spPr bwMode="auto">
            <a:xfrm>
              <a:off x="2888" y="816"/>
              <a:ext cx="1340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Method of other class in the same package</a:t>
              </a:r>
              <a:r>
                <a:rPr lang="en-GB" sz="2000">
                  <a:solidFill>
                    <a:srgbClr val="000000"/>
                  </a:solidFill>
                  <a:latin typeface="Lucida Sans Unicode" charset="0"/>
                </a:rPr>
                <a:t> </a:t>
              </a:r>
            </a:p>
          </p:txBody>
        </p:sp>
        <p:sp>
          <p:nvSpPr>
            <p:cNvPr id="187414" name="Rectangle 21"/>
            <p:cNvSpPr>
              <a:spLocks noChangeArrowheads="1"/>
            </p:cNvSpPr>
            <p:nvPr/>
          </p:nvSpPr>
          <p:spPr bwMode="auto">
            <a:xfrm>
              <a:off x="1672" y="816"/>
              <a:ext cx="1216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Font typeface="Wingdings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2000">
                  <a:solidFill>
                    <a:srgbClr val="000000"/>
                  </a:solidFill>
                  <a:latin typeface="Tahoma" charset="0"/>
                </a:rPr>
                <a:t>Method of the same class</a:t>
              </a:r>
              <a:r>
                <a:rPr lang="en-GB" sz="2000">
                  <a:solidFill>
                    <a:srgbClr val="000000"/>
                  </a:solidFill>
                  <a:latin typeface="Lucida Sans Unicode" charset="0"/>
                </a:rPr>
                <a:t> </a:t>
              </a:r>
            </a:p>
          </p:txBody>
        </p:sp>
        <p:sp>
          <p:nvSpPr>
            <p:cNvPr id="187415" name="Rectangle 22"/>
            <p:cNvSpPr>
              <a:spLocks noChangeArrowheads="1"/>
            </p:cNvSpPr>
            <p:nvPr/>
          </p:nvSpPr>
          <p:spPr bwMode="auto">
            <a:xfrm>
              <a:off x="208" y="816"/>
              <a:ext cx="1464" cy="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7416" name="Line 23"/>
            <p:cNvSpPr>
              <a:spLocks noChangeShapeType="1"/>
            </p:cNvSpPr>
            <p:nvPr/>
          </p:nvSpPr>
          <p:spPr bwMode="auto">
            <a:xfrm>
              <a:off x="208" y="816"/>
              <a:ext cx="536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17" name="Line 24"/>
            <p:cNvSpPr>
              <a:spLocks noChangeShapeType="1"/>
            </p:cNvSpPr>
            <p:nvPr/>
          </p:nvSpPr>
          <p:spPr bwMode="auto">
            <a:xfrm>
              <a:off x="208" y="1480"/>
              <a:ext cx="536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18" name="Line 25"/>
            <p:cNvSpPr>
              <a:spLocks noChangeShapeType="1"/>
            </p:cNvSpPr>
            <p:nvPr/>
          </p:nvSpPr>
          <p:spPr bwMode="auto">
            <a:xfrm>
              <a:off x="208" y="1952"/>
              <a:ext cx="536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19" name="Line 26"/>
            <p:cNvSpPr>
              <a:spLocks noChangeShapeType="1"/>
            </p:cNvSpPr>
            <p:nvPr/>
          </p:nvSpPr>
          <p:spPr bwMode="auto">
            <a:xfrm>
              <a:off x="208" y="2431"/>
              <a:ext cx="536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0" name="Line 27"/>
            <p:cNvSpPr>
              <a:spLocks noChangeShapeType="1"/>
            </p:cNvSpPr>
            <p:nvPr/>
          </p:nvSpPr>
          <p:spPr bwMode="auto">
            <a:xfrm>
              <a:off x="208" y="3064"/>
              <a:ext cx="536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1" name="Line 28"/>
            <p:cNvSpPr>
              <a:spLocks noChangeShapeType="1"/>
            </p:cNvSpPr>
            <p:nvPr/>
          </p:nvSpPr>
          <p:spPr bwMode="auto">
            <a:xfrm>
              <a:off x="208" y="3697"/>
              <a:ext cx="536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2" name="Line 29"/>
            <p:cNvSpPr>
              <a:spLocks noChangeShapeType="1"/>
            </p:cNvSpPr>
            <p:nvPr/>
          </p:nvSpPr>
          <p:spPr bwMode="auto">
            <a:xfrm>
              <a:off x="208" y="816"/>
              <a:ext cx="1" cy="288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3" name="Line 30"/>
            <p:cNvSpPr>
              <a:spLocks noChangeShapeType="1"/>
            </p:cNvSpPr>
            <p:nvPr/>
          </p:nvSpPr>
          <p:spPr bwMode="auto">
            <a:xfrm>
              <a:off x="1672" y="816"/>
              <a:ext cx="1" cy="288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4" name="Line 31"/>
            <p:cNvSpPr>
              <a:spLocks noChangeShapeType="1"/>
            </p:cNvSpPr>
            <p:nvPr/>
          </p:nvSpPr>
          <p:spPr bwMode="auto">
            <a:xfrm>
              <a:off x="2888" y="816"/>
              <a:ext cx="1" cy="288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5" name="Line 32"/>
            <p:cNvSpPr>
              <a:spLocks noChangeShapeType="1"/>
            </p:cNvSpPr>
            <p:nvPr/>
          </p:nvSpPr>
          <p:spPr bwMode="auto">
            <a:xfrm>
              <a:off x="4228" y="816"/>
              <a:ext cx="1" cy="288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426" name="Line 33"/>
            <p:cNvSpPr>
              <a:spLocks noChangeShapeType="1"/>
            </p:cNvSpPr>
            <p:nvPr/>
          </p:nvSpPr>
          <p:spPr bwMode="auto">
            <a:xfrm>
              <a:off x="5568" y="816"/>
              <a:ext cx="1" cy="288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Strings</a:t>
            </a:r>
          </a:p>
        </p:txBody>
      </p:sp>
      <p:sp>
        <p:nvSpPr>
          <p:cNvPr id="101378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55C8CE6-9890-0246-84DF-C4424B5744A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034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</a:t>
            </a:r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No primitive type to represent string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 literal is a quoted text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char s[] = </a:t>
            </a:r>
            <a:r>
              <a:rPr lang="ja-JP" altLang="en-GB" b="1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b="1">
                <a:latin typeface="Courier New" charset="0"/>
                <a:ea typeface="Lucida Sans Unicode" charset="0"/>
                <a:cs typeface="Lucida Sans Unicode" charset="0"/>
              </a:rPr>
              <a:t>literal</a:t>
            </a:r>
            <a:r>
              <a:rPr lang="ja-JP" altLang="en-GB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endParaRPr lang="en-GB" altLang="ja-JP" b="1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Equivalence between string and char arrays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Java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char[] != String</a:t>
            </a:r>
          </a:p>
          <a:p>
            <a:pPr lvl="1" eaLnBrk="1" hangingPunct="1">
              <a:lnSpc>
                <a:spcPct val="90000"/>
              </a:lnSpc>
              <a:buClr>
                <a:srgbClr val="FF66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String class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in java.lang library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214FA94-D679-B449-9F53-BCC533D2E5D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054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 and StringBuffer</a:t>
            </a: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5438" y="1295400"/>
            <a:ext cx="8818562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class </a:t>
            </a:r>
            <a:r>
              <a:rPr lang="en-GB" b="1" dirty="0">
                <a:latin typeface="Courier New"/>
                <a:cs typeface="Courier New"/>
              </a:rPr>
              <a:t>String</a:t>
            </a:r>
            <a:r>
              <a:rPr lang="en-GB" dirty="0">
                <a:latin typeface="Lucida Sans Unicode" charset="0"/>
                <a:cs typeface="Lucida Sans Unicode" charset="0"/>
              </a:rPr>
              <a:t> (</a:t>
            </a:r>
            <a:r>
              <a:rPr lang="en-GB" b="1" dirty="0" err="1">
                <a:latin typeface="Courier New"/>
                <a:cs typeface="Courier New"/>
              </a:rPr>
              <a:t>java.lang</a:t>
            </a:r>
            <a:r>
              <a:rPr lang="en-GB" dirty="0">
                <a:latin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buClr>
                <a:srgbClr val="FF66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Not modifiable / Immutable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class </a:t>
            </a:r>
            <a:r>
              <a:rPr lang="en-GB" b="1" dirty="0" err="1">
                <a:latin typeface="Courier New"/>
                <a:cs typeface="Courier New"/>
              </a:rPr>
              <a:t>StringBuffer</a:t>
            </a:r>
            <a:r>
              <a:rPr lang="en-GB" dirty="0">
                <a:latin typeface="Lucida Sans Unicode" charset="0"/>
                <a:cs typeface="Lucida Sans Unicode" charset="0"/>
              </a:rPr>
              <a:t> (</a:t>
            </a:r>
            <a:r>
              <a:rPr lang="en-GB" b="1" dirty="0" err="1">
                <a:latin typeface="Courier New"/>
                <a:cs typeface="Courier New"/>
              </a:rPr>
              <a:t>java.lang</a:t>
            </a:r>
            <a:r>
              <a:rPr lang="en-GB" dirty="0">
                <a:latin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buClr>
                <a:srgbClr val="FF66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Modifiable / Mutable</a:t>
            </a:r>
          </a:p>
          <a:p>
            <a:pPr lvl="1" eaLnBrk="1" hangingPunct="1">
              <a:lnSpc>
                <a:spcPct val="100000"/>
              </a:lnSpc>
              <a:buClr>
                <a:srgbClr val="FF6600"/>
              </a:buClr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solidFill>
                <a:srgbClr val="FF6600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String s = new String(</a:t>
            </a:r>
            <a:r>
              <a:rPr lang="ja-JP" altLang="en-GB" sz="26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600" b="1" dirty="0">
                <a:latin typeface="Courier New" charset="0"/>
                <a:cs typeface="Lucida Sans Unicode" charset="0"/>
              </a:rPr>
              <a:t>literal</a:t>
            </a:r>
            <a:r>
              <a:rPr lang="ja-JP" altLang="en-GB" sz="26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600" b="1" dirty="0" smtClean="0">
                <a:latin typeface="Courier New" charset="0"/>
                <a:cs typeface="Lucida Sans Unicode" charset="0"/>
              </a:rPr>
              <a:t>);</a:t>
            </a:r>
            <a:endParaRPr lang="en-GB" altLang="ja-JP" sz="26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StringBuffer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sb</a:t>
            </a:r>
            <a:r>
              <a:rPr lang="en-GB" sz="2600" b="1" dirty="0">
                <a:latin typeface="Courier New" charset="0"/>
                <a:cs typeface="Lucida Sans Unicode" charset="0"/>
              </a:rPr>
              <a:t>=new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StringBuffer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6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600" b="1" dirty="0" smtClean="0">
                <a:latin typeface="Courier New" charset="0"/>
                <a:cs typeface="Lucida Sans Unicode" charset="0"/>
              </a:rPr>
              <a:t>lit</a:t>
            </a:r>
            <a:r>
              <a:rPr lang="ja-JP" altLang="en-GB" sz="2600" b="1" dirty="0" smtClean="0">
                <a:latin typeface="Courier New" charset="0"/>
                <a:cs typeface="Lucida Sans Unicode" charset="0"/>
              </a:rPr>
              <a:t>”</a:t>
            </a:r>
            <a:r>
              <a:rPr lang="en-GB" altLang="ja-JP" sz="2600" b="1" dirty="0" smtClean="0">
                <a:latin typeface="Courier New" charset="0"/>
                <a:cs typeface="Lucida Sans Unicode" charset="0"/>
              </a:rPr>
              <a:t>);</a:t>
            </a:r>
            <a:endParaRPr lang="en-GB" sz="26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99310B0-2DA4-B14F-AA2E-99019415722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075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Operator +</a:t>
            </a: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used to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concatenate</a:t>
            </a:r>
            <a:r>
              <a:rPr lang="en-GB" dirty="0">
                <a:latin typeface="Lucida Sans Unicode" charset="0"/>
                <a:cs typeface="Lucida Sans Unicode" charset="0"/>
              </a:rPr>
              <a:t> 2 strings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it-IT" altLang="ja-JP" sz="2400" b="1" dirty="0" smtClean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it-IT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This string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+ 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is made by two 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strings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endParaRPr lang="en-GB" altLang="ja-JP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Works also with other types (automatically converted to string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)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 smtClean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System.out.println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pi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= 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+ 3.14);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System.out.println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x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= </a:t>
            </a:r>
            <a:r>
              <a:rPr lang="it-IT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+ x);</a:t>
            </a:r>
            <a:endParaRPr lang="en-GB" sz="2400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611560" y="3284984"/>
            <a:ext cx="6480720" cy="2808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956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C605BE5-5A30-BC4A-83EA-FF6A53C21CE3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095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</a:t>
            </a: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length()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returns string length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b="1" dirty="0">
                <a:latin typeface="Courier New" charset="0"/>
                <a:cs typeface="Lucida Sans Unicode" charset="0"/>
              </a:rPr>
              <a:t> equals(String s)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compares the values of 2 strings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String s1, s2;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s1 = new String(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First string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s2 = new String(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First string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000" b="1" dirty="0">
                <a:latin typeface="Courier New" charset="0"/>
                <a:cs typeface="Lucida Sans Unicode" charset="0"/>
              </a:rPr>
              <a:t>(s1);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0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Length of s1 = </a:t>
            </a:r>
            <a:r>
              <a:rPr lang="ja-JP" altLang="en-GB" sz="20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000" b="1" dirty="0">
                <a:latin typeface="Courier New" charset="0"/>
                <a:cs typeface="Lucida Sans Unicode" charset="0"/>
              </a:rPr>
              <a:t> +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s1.length());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if (s1.equals(s2))  // true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cs typeface="Lucida Sans Unicode" charset="0"/>
              </a:rPr>
              <a:t>if (s1 == s2) // false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4EF63F9-6271-DD45-B6DE-15084FEEE7F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16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</a:t>
            </a: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8625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String  valueOf(int)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Converts int in a String – available for all primitive types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String toUpperCase()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String toLowerCase()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String subString(int startIndex)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int indexOf(String str)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Returns the index of the first occurrence of </a:t>
            </a:r>
            <a:r>
              <a:rPr lang="en-GB" sz="2400" i="1">
                <a:latin typeface="Lucida Sans Unicode" charset="0"/>
                <a:ea typeface="Lucida Sans Unicode" charset="0"/>
                <a:cs typeface="Lucida Sans Unicode" charset="0"/>
              </a:rPr>
              <a:t>str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String concat(String str)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>
                <a:latin typeface="Courier New" charset="0"/>
                <a:cs typeface="Lucida Sans Unicode" charset="0"/>
              </a:rPr>
              <a:t>int compareTo(String str)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FD5B6C2-3A93-8343-8C84-7C4855A02AD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36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</a:t>
            </a:r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85750" y="1020763"/>
            <a:ext cx="8572500" cy="50053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 charset="0"/>
                <a:cs typeface="Lucida Sans Unicode" charset="0"/>
              </a:rPr>
              <a:t>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subString</a:t>
            </a:r>
            <a:r>
              <a:rPr lang="en-GB" sz="2800" b="1" dirty="0">
                <a:latin typeface="Courier New" charset="0"/>
                <a:cs typeface="Lucida Sans Unicode" charset="0"/>
              </a:rPr>
              <a:t>(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startIndex</a:t>
            </a:r>
            <a:r>
              <a:rPr lang="en-GB" sz="2800" b="1" dirty="0">
                <a:latin typeface="Courier New" charset="0"/>
                <a:cs typeface="Lucida Sans Unicode" charset="0"/>
              </a:rPr>
              <a:t>)</a:t>
            </a:r>
          </a:p>
          <a:p>
            <a:pPr marL="457200" lvl="1" indent="0"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String s = 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Human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; </a:t>
            </a:r>
          </a:p>
          <a:p>
            <a:pPr marL="457200" lvl="1" indent="0"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s.subString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(2)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  <a:sym typeface="Wingdings"/>
              </a:rPr>
              <a:t>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man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endParaRPr lang="en-GB" altLang="ja-JP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 charset="0"/>
                <a:cs typeface="Lucida Sans Unicode" charset="0"/>
              </a:rPr>
              <a:t>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subString</a:t>
            </a:r>
            <a:r>
              <a:rPr lang="en-GB" sz="2800" b="1" dirty="0">
                <a:latin typeface="Courier New" charset="0"/>
                <a:cs typeface="Lucida Sans Unicode" charset="0"/>
              </a:rPr>
              <a:t>(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start,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end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)</a:t>
            </a:r>
            <a:endParaRPr lang="en-GB" sz="2800" b="1" dirty="0">
              <a:latin typeface="Courier New" charset="0"/>
              <a:cs typeface="Lucida Sans Unicode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Char </a:t>
            </a:r>
            <a:r>
              <a:rPr lang="ja-JP" alt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‘</a:t>
            </a:r>
            <a:r>
              <a:rPr lang="en-GB" altLang="ja-JP" sz="2400" dirty="0">
                <a:latin typeface="Lucida Sans Unicode" charset="0"/>
                <a:ea typeface="Lucida Sans Unicode" charset="0"/>
                <a:cs typeface="Lucida Sans Unicode" charset="0"/>
              </a:rPr>
              <a:t>start</a:t>
            </a:r>
            <a:r>
              <a:rPr lang="ja-JP" alt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dirty="0">
                <a:latin typeface="Lucida Sans Unicode" charset="0"/>
                <a:ea typeface="Lucida Sans Unicode" charset="0"/>
                <a:cs typeface="Lucida Sans Unicode" charset="0"/>
              </a:rPr>
              <a:t> included, </a:t>
            </a:r>
            <a:r>
              <a:rPr lang="ja-JP" alt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‘</a:t>
            </a:r>
            <a:r>
              <a:rPr lang="en-GB" altLang="ja-JP" sz="2400" dirty="0">
                <a:latin typeface="Lucida Sans Unicode" charset="0"/>
                <a:ea typeface="Lucida Sans Unicode" charset="0"/>
                <a:cs typeface="Lucida Sans Unicode" charset="0"/>
              </a:rPr>
              <a:t>end</a:t>
            </a:r>
            <a:r>
              <a:rPr lang="ja-JP" alt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 dirty="0">
                <a:latin typeface="Lucida Sans Unicode" charset="0"/>
                <a:ea typeface="Lucida Sans Unicode" charset="0"/>
                <a:cs typeface="Lucida Sans Unicode" charset="0"/>
              </a:rPr>
              <a:t> excluded</a:t>
            </a:r>
          </a:p>
          <a:p>
            <a:pPr marL="457200" lvl="1" indent="0"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String s = 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Greatest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; </a:t>
            </a:r>
          </a:p>
          <a:p>
            <a:pPr marL="457200" lvl="1" indent="0"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s.subString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(0,5)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  <a:sym typeface="Wingdings"/>
              </a:rPr>
              <a:t></a:t>
            </a:r>
            <a:r>
              <a:rPr lang="ja-JP" alt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ea typeface="Lucida Sans Unicode" charset="0"/>
                <a:cs typeface="Lucida Sans Unicode" charset="0"/>
              </a:rPr>
              <a:t>Great</a:t>
            </a:r>
            <a:r>
              <a:rPr lang="ja-JP" alt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endParaRPr lang="en-GB" altLang="ja-JP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indexOf</a:t>
            </a:r>
            <a:r>
              <a:rPr lang="en-GB" sz="2800" b="1" dirty="0">
                <a:latin typeface="Courier New" charset="0"/>
                <a:cs typeface="Lucida Sans Unicode" charset="0"/>
              </a:rPr>
              <a:t>(String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str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)</a:t>
            </a:r>
            <a:endParaRPr lang="en-GB" sz="2800" b="1" dirty="0">
              <a:latin typeface="Courier New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Returns the index of the first occurrence of </a:t>
            </a:r>
            <a:r>
              <a:rPr lang="en-GB" sz="2400" i="1" dirty="0" err="1">
                <a:latin typeface="Lucida Sans Unicode" charset="0"/>
                <a:ea typeface="Lucida Sans Unicode" charset="0"/>
                <a:cs typeface="Lucida Sans Unicode" charset="0"/>
              </a:rPr>
              <a:t>str</a:t>
            </a:r>
            <a:endParaRPr lang="en-GB" sz="2400" i="1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lastIndexOf</a:t>
            </a:r>
            <a:r>
              <a:rPr lang="en-GB" sz="2800" b="1" dirty="0">
                <a:latin typeface="Courier New" charset="0"/>
                <a:cs typeface="Lucida Sans Unicode" charset="0"/>
              </a:rPr>
              <a:t>(String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str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)</a:t>
            </a:r>
            <a:endParaRPr lang="en-GB" sz="2800" b="1" dirty="0">
              <a:latin typeface="Courier New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The same as before but search starts from the end</a:t>
            </a:r>
            <a:endParaRPr lang="en-GB" sz="2400" i="1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EB2F443-F7E1-1245-8F9D-B68BCAADF38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86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57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StringBuffer</a:t>
            </a: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cs typeface="Courier New"/>
              </a:rPr>
              <a:t>a</a:t>
            </a:r>
            <a:r>
              <a:rPr lang="en-GB" b="1" dirty="0" smtClean="0">
                <a:latin typeface="Courier New"/>
                <a:cs typeface="Courier New"/>
              </a:rPr>
              <a:t>ppend(String </a:t>
            </a:r>
            <a:r>
              <a:rPr lang="en-GB" b="1" dirty="0" err="1" smtClean="0">
                <a:latin typeface="Courier New"/>
                <a:cs typeface="Courier New"/>
              </a:rPr>
              <a:t>str</a:t>
            </a:r>
            <a:r>
              <a:rPr lang="en-GB" b="1" dirty="0" smtClean="0">
                <a:latin typeface="Courier New"/>
                <a:cs typeface="Courier New"/>
              </a:rPr>
              <a:t>)</a:t>
            </a:r>
            <a:endParaRPr lang="en-GB" b="1" dirty="0"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Inserts </a:t>
            </a:r>
            <a:r>
              <a:rPr lang="en-GB" sz="2400" b="1" dirty="0" err="1">
                <a:latin typeface="Courier New"/>
                <a:ea typeface="Lucida Sans Unicode" charset="0"/>
                <a:cs typeface="Courier New"/>
              </a:rPr>
              <a:t>str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at the end of string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insert(</a:t>
            </a:r>
            <a:r>
              <a:rPr lang="en-GB" b="1" dirty="0" err="1" smtClean="0">
                <a:latin typeface="Courier New"/>
                <a:cs typeface="Courier New"/>
              </a:rPr>
              <a:t>int</a:t>
            </a:r>
            <a:r>
              <a:rPr lang="en-GB" b="1" dirty="0" smtClean="0">
                <a:latin typeface="Courier New"/>
                <a:cs typeface="Courier New"/>
              </a:rPr>
              <a:t> offset, String </a:t>
            </a:r>
            <a:r>
              <a:rPr lang="en-GB" b="1" dirty="0" err="1" smtClean="0">
                <a:latin typeface="Courier New"/>
                <a:cs typeface="Courier New"/>
              </a:rPr>
              <a:t>str</a:t>
            </a:r>
            <a:r>
              <a:rPr lang="en-GB" b="1" dirty="0" smtClean="0">
                <a:latin typeface="Courier New"/>
                <a:cs typeface="Courier New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Inserts </a:t>
            </a:r>
            <a:r>
              <a:rPr lang="en-GB" sz="2400" b="1" dirty="0" err="1" smtClean="0">
                <a:latin typeface="Courier New"/>
                <a:ea typeface="Lucida Sans Unicode" charset="0"/>
                <a:cs typeface="Courier New"/>
              </a:rPr>
              <a:t>str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starting from </a:t>
            </a:r>
            <a:r>
              <a:rPr lang="en-GB" sz="2400" b="1" dirty="0" smtClean="0">
                <a:latin typeface="Courier New"/>
                <a:ea typeface="Lucida Sans Unicode" charset="0"/>
                <a:cs typeface="Courier New"/>
              </a:rPr>
              <a:t>offset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position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cs typeface="Courier New"/>
              </a:rPr>
              <a:t>d</a:t>
            </a:r>
            <a:r>
              <a:rPr lang="en-GB" b="1" dirty="0" smtClean="0">
                <a:latin typeface="Courier New"/>
                <a:cs typeface="Courier New"/>
              </a:rPr>
              <a:t>elete(</a:t>
            </a:r>
            <a:r>
              <a:rPr lang="en-GB" b="1" dirty="0" err="1" smtClean="0">
                <a:latin typeface="Courier New"/>
                <a:cs typeface="Courier New"/>
              </a:rPr>
              <a:t>int</a:t>
            </a:r>
            <a:r>
              <a:rPr lang="en-GB" b="1" dirty="0" smtClean="0">
                <a:latin typeface="Courier New"/>
                <a:cs typeface="Courier New"/>
              </a:rPr>
              <a:t> start, </a:t>
            </a:r>
            <a:r>
              <a:rPr lang="en-GB" b="1" dirty="0" err="1" smtClean="0">
                <a:latin typeface="Courier New"/>
                <a:cs typeface="Courier New"/>
              </a:rPr>
              <a:t>int</a:t>
            </a:r>
            <a:r>
              <a:rPr lang="en-GB" b="1" dirty="0" smtClean="0">
                <a:latin typeface="Courier New"/>
                <a:cs typeface="Courier New"/>
              </a:rPr>
              <a:t> </a:t>
            </a:r>
            <a:r>
              <a:rPr lang="en-GB" b="1" dirty="0">
                <a:latin typeface="Courier New"/>
                <a:cs typeface="Courier New"/>
              </a:rPr>
              <a:t>end)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Deletes character from </a:t>
            </a:r>
            <a:r>
              <a:rPr lang="en-GB" sz="2400" b="1" dirty="0" smtClean="0">
                <a:latin typeface="Courier New"/>
                <a:ea typeface="Lucida Sans Unicode" charset="0"/>
                <a:cs typeface="Courier New"/>
              </a:rPr>
              <a:t>start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to </a:t>
            </a:r>
            <a:r>
              <a:rPr lang="en-GB" sz="2400" b="1" dirty="0" smtClean="0">
                <a:latin typeface="Courier New"/>
                <a:ea typeface="Lucida Sans Unicode" charset="0"/>
                <a:cs typeface="Courier New"/>
              </a:rPr>
              <a:t>end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(excluded)</a:t>
            </a:r>
            <a:endParaRPr lang="en-GB" b="1" dirty="0">
              <a:latin typeface="Courier New"/>
              <a:cs typeface="Courier New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cs typeface="Courier New"/>
              </a:rPr>
              <a:t>r</a:t>
            </a:r>
            <a:r>
              <a:rPr lang="en-GB" b="1" dirty="0" smtClean="0">
                <a:latin typeface="Courier New"/>
                <a:cs typeface="Courier New"/>
              </a:rPr>
              <a:t>everse</a:t>
            </a:r>
            <a:r>
              <a:rPr lang="en-GB" b="1" dirty="0">
                <a:latin typeface="Courier New"/>
                <a:cs typeface="Courier New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Reverses the sequence of characters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b="1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marL="457200" lvl="1" indent="0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smtClean="0">
                <a:latin typeface="Lucida Sans Unicode" charset="0"/>
                <a:ea typeface="Lucida Sans Unicode" charset="0"/>
                <a:cs typeface="Lucida Sans Unicode" charset="0"/>
              </a:rPr>
              <a:t>They all return a </a:t>
            </a:r>
            <a:r>
              <a:rPr lang="en-GB" sz="2400" b="1" dirty="0" err="1" smtClean="0">
                <a:latin typeface="Courier New"/>
                <a:ea typeface="Lucida Sans Unicode" charset="0"/>
                <a:cs typeface="Courier New"/>
              </a:rPr>
              <a:t>StringBuffer</a:t>
            </a:r>
            <a:r>
              <a:rPr lang="en-GB" sz="2400" b="1" dirty="0" smtClean="0">
                <a:latin typeface="Lucida Sans Unicode" charset="0"/>
                <a:ea typeface="Lucida Sans Unicode" charset="0"/>
                <a:cs typeface="Lucida Sans Unicode" charset="0"/>
              </a:rPr>
              <a:t> enabling chaining</a:t>
            </a:r>
            <a:endParaRPr lang="en-GB" b="1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 that assigns a unique code to every character in any </a:t>
            </a:r>
            <a:r>
              <a:rPr lang="en-US" dirty="0" smtClean="0"/>
              <a:t>language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Core </a:t>
            </a:r>
            <a:r>
              <a:rPr lang="en-US" dirty="0">
                <a:solidFill>
                  <a:srgbClr val="FF6600"/>
                </a:solidFill>
              </a:rPr>
              <a:t>specification</a:t>
            </a:r>
            <a:r>
              <a:rPr lang="en-US" dirty="0"/>
              <a:t> gives the general principles</a:t>
            </a:r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Code </a:t>
            </a:r>
            <a:r>
              <a:rPr lang="en-US" dirty="0">
                <a:solidFill>
                  <a:srgbClr val="FF6600"/>
                </a:solidFill>
              </a:rPr>
              <a:t>charts</a:t>
            </a:r>
            <a:r>
              <a:rPr lang="en-US" dirty="0"/>
              <a:t> show representative glyphs for all the Unicode characters. </a:t>
            </a:r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Annexes</a:t>
            </a:r>
            <a:r>
              <a:rPr lang="en-US" dirty="0" smtClean="0"/>
              <a:t> </a:t>
            </a:r>
            <a:r>
              <a:rPr lang="en-US" dirty="0"/>
              <a:t>supply detailed normative </a:t>
            </a:r>
            <a:r>
              <a:rPr lang="en-US" dirty="0" smtClean="0"/>
              <a:t>information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Character </a:t>
            </a:r>
            <a:r>
              <a:rPr lang="en-US" dirty="0">
                <a:solidFill>
                  <a:srgbClr val="FF6600"/>
                </a:solidFill>
              </a:rPr>
              <a:t>Database</a:t>
            </a:r>
            <a:r>
              <a:rPr lang="en-US" dirty="0"/>
              <a:t> normative and informative data for implementers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1960" y="6165304"/>
            <a:ext cx="4813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0000"/>
                </a:solidFill>
                <a:latin typeface="+mn-lt"/>
                <a:hlinkClick r:id="rId2"/>
              </a:rPr>
              <a:t>http</a:t>
            </a:r>
            <a:r>
              <a:rPr lang="en-US" sz="1800" dirty="0">
                <a:solidFill>
                  <a:srgbClr val="000000"/>
                </a:solidFill>
                <a:latin typeface="+mn-lt"/>
                <a:hlinkClick r:id="rId2"/>
              </a:rPr>
              <a:t>://www.unicode.org/versions/latest/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68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Characters and Glyphs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6600"/>
                </a:solidFill>
              </a:rPr>
              <a:t>Character</a:t>
            </a:r>
            <a:r>
              <a:rPr lang="en-US" dirty="0" smtClean="0"/>
              <a:t>: the abstract concept</a:t>
            </a:r>
          </a:p>
          <a:p>
            <a:pPr lvl="1"/>
            <a:r>
              <a:rPr lang="en-US" dirty="0" smtClean="0"/>
              <a:t>e.g. </a:t>
            </a:r>
            <a:r>
              <a:rPr lang="en-US" b="1" dirty="0" smtClean="0">
                <a:latin typeface="Courier New"/>
                <a:cs typeface="Courier New"/>
              </a:rPr>
              <a:t>LATIN SMALL LETTER I</a:t>
            </a:r>
          </a:p>
          <a:p>
            <a:r>
              <a:rPr lang="en-US" dirty="0" smtClean="0">
                <a:solidFill>
                  <a:srgbClr val="FF6600"/>
                </a:solidFill>
              </a:rPr>
              <a:t>Glyph</a:t>
            </a:r>
            <a:r>
              <a:rPr lang="en-US" dirty="0" smtClean="0"/>
              <a:t>: the graphical representation of a character</a:t>
            </a:r>
          </a:p>
          <a:p>
            <a:pPr lvl="1"/>
            <a:r>
              <a:rPr lang="en-US" dirty="0" smtClean="0"/>
              <a:t>e.g. </a:t>
            </a:r>
            <a:r>
              <a:rPr lang="en-US" sz="7200" dirty="0" err="1" smtClean="0"/>
              <a:t>i</a:t>
            </a:r>
            <a:r>
              <a:rPr lang="en-US" sz="7200" dirty="0" smtClean="0"/>
              <a:t> </a:t>
            </a:r>
            <a:r>
              <a:rPr lang="en-US" sz="7200" i="1" dirty="0" err="1" smtClean="0"/>
              <a:t>i</a:t>
            </a:r>
            <a:r>
              <a:rPr lang="en-US" sz="7200" dirty="0" smtClean="0"/>
              <a:t> </a:t>
            </a:r>
            <a:r>
              <a:rPr lang="en-US" sz="7200" b="1" dirty="0" err="1" smtClean="0">
                <a:latin typeface="Courier New"/>
                <a:cs typeface="Courier New"/>
              </a:rPr>
              <a:t>i</a:t>
            </a:r>
            <a:r>
              <a:rPr lang="en-US" sz="7200" dirty="0" smtClean="0"/>
              <a:t> </a:t>
            </a:r>
            <a:r>
              <a:rPr lang="en-US" sz="7200" dirty="0" err="1" smtClean="0">
                <a:latin typeface="Cambria"/>
                <a:cs typeface="Cambria"/>
              </a:rPr>
              <a:t>i</a:t>
            </a:r>
            <a:r>
              <a:rPr lang="en-US" sz="7200" dirty="0">
                <a:latin typeface="Cambria"/>
                <a:cs typeface="Cambria"/>
              </a:rPr>
              <a:t> </a:t>
            </a:r>
            <a:r>
              <a:rPr lang="en-US" sz="7200" b="1" dirty="0" err="1" smtClean="0">
                <a:latin typeface="Cambria"/>
                <a:cs typeface="Cambria"/>
              </a:rPr>
              <a:t>i</a:t>
            </a:r>
            <a:endParaRPr lang="en-US" b="1" dirty="0">
              <a:latin typeface="Cambria"/>
              <a:cs typeface="Cambria"/>
            </a:endParaRPr>
          </a:p>
          <a:p>
            <a:r>
              <a:rPr lang="en-US" dirty="0" smtClean="0">
                <a:solidFill>
                  <a:srgbClr val="FF6600"/>
                </a:solidFill>
              </a:rPr>
              <a:t>Font</a:t>
            </a:r>
            <a:r>
              <a:rPr lang="en-US" dirty="0" smtClean="0"/>
              <a:t>: a collection of glyphs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2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 </a:t>
            </a:r>
            <a:r>
              <a:rPr lang="en-US" dirty="0" err="1" smtClean="0"/>
              <a:t>Codepoint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Codepoint</a:t>
            </a:r>
            <a:r>
              <a:rPr lang="en-US" dirty="0"/>
              <a:t>: the numeric representation of a </a:t>
            </a:r>
            <a:r>
              <a:rPr lang="en-US" dirty="0" smtClean="0"/>
              <a:t>character</a:t>
            </a:r>
          </a:p>
          <a:p>
            <a:pPr lvl="1"/>
            <a:r>
              <a:rPr lang="en-US" dirty="0" smtClean="0"/>
              <a:t>Included </a:t>
            </a:r>
            <a:r>
              <a:rPr lang="en-US" dirty="0"/>
              <a:t>in the range </a:t>
            </a:r>
            <a:r>
              <a:rPr lang="en-US" dirty="0" smtClean="0"/>
              <a:t>0 to 10FFFF</a:t>
            </a:r>
            <a:r>
              <a:rPr lang="en-US" baseline="-25000" dirty="0" smtClean="0"/>
              <a:t>16</a:t>
            </a:r>
            <a:r>
              <a:rPr lang="en-US" dirty="0" smtClean="0"/>
              <a:t> (23 </a:t>
            </a:r>
            <a:r>
              <a:rPr lang="en-US" dirty="0"/>
              <a:t>bits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Represented with </a:t>
            </a:r>
            <a:r>
              <a:rPr lang="en-US" b="1" dirty="0">
                <a:latin typeface="Courier New"/>
                <a:cs typeface="Courier New"/>
              </a:rPr>
              <a:t>U+</a:t>
            </a:r>
            <a:r>
              <a:rPr lang="en-US" dirty="0"/>
              <a:t> followed by the hexadecimal </a:t>
            </a:r>
            <a:r>
              <a:rPr lang="en-US" dirty="0" smtClean="0"/>
              <a:t>code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 </a:t>
            </a:r>
            <a:r>
              <a:rPr lang="en-US" b="1" dirty="0">
                <a:latin typeface="Courier New"/>
                <a:cs typeface="Courier New"/>
              </a:rPr>
              <a:t>U+0069</a:t>
            </a:r>
            <a:r>
              <a:rPr lang="en-US" dirty="0"/>
              <a:t> for '</a:t>
            </a:r>
            <a:r>
              <a:rPr lang="en-US" dirty="0" err="1"/>
              <a:t>i</a:t>
            </a:r>
            <a:r>
              <a:rPr lang="en-US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44332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Mapping from a byte sequence to a code point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>
                <a:solidFill>
                  <a:srgbClr val="FF6600"/>
                </a:solidFill>
              </a:rPr>
              <a:t>UTF</a:t>
            </a:r>
            <a:r>
              <a:rPr lang="en-US" dirty="0">
                <a:solidFill>
                  <a:srgbClr val="FF6600"/>
                </a:solidFill>
              </a:rPr>
              <a:t>-32 </a:t>
            </a:r>
            <a:r>
              <a:rPr lang="en-US" dirty="0"/>
              <a:t>fixed width, high memory occupation (4 bytes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>
                <a:solidFill>
                  <a:srgbClr val="FF6600"/>
                </a:solidFill>
              </a:rPr>
              <a:t>UTF</a:t>
            </a:r>
            <a:r>
              <a:rPr lang="en-US" dirty="0">
                <a:solidFill>
                  <a:srgbClr val="FF6600"/>
                </a:solidFill>
              </a:rPr>
              <a:t>-16 </a:t>
            </a:r>
            <a:r>
              <a:rPr lang="en-US" dirty="0"/>
              <a:t>variable width, </a:t>
            </a:r>
            <a:r>
              <a:rPr lang="en-US" dirty="0" smtClean="0"/>
              <a:t>represents</a:t>
            </a:r>
            <a:endParaRPr lang="en-US" dirty="0"/>
          </a:p>
          <a:p>
            <a:pPr lvl="1"/>
            <a:r>
              <a:rPr lang="en-US" dirty="0" err="1" smtClean="0"/>
              <a:t>codepoints</a:t>
            </a:r>
            <a:r>
              <a:rPr lang="en-US" dirty="0" smtClean="0"/>
              <a:t> </a:t>
            </a:r>
            <a:r>
              <a:rPr lang="en-US" dirty="0"/>
              <a:t>from `U+0` to `U</a:t>
            </a:r>
            <a:r>
              <a:rPr lang="en-US" dirty="0" smtClean="0"/>
              <a:t>+d7ff</a:t>
            </a:r>
            <a:r>
              <a:rPr lang="en-US" dirty="0"/>
              <a:t>` on  16 bits (2 bytes)</a:t>
            </a:r>
          </a:p>
          <a:p>
            <a:pPr lvl="1"/>
            <a:r>
              <a:rPr lang="en-US" dirty="0" err="1" smtClean="0"/>
              <a:t>codepoints</a:t>
            </a:r>
            <a:r>
              <a:rPr lang="en-US" dirty="0" smtClean="0"/>
              <a:t> </a:t>
            </a:r>
            <a:r>
              <a:rPr lang="en-US" dirty="0"/>
              <a:t>from `U+10000` to `U+10ffff` on  32 bits (4 bytes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UTF-8</a:t>
            </a:r>
            <a:r>
              <a:rPr lang="en-US" dirty="0"/>
              <a:t> variable width,</a:t>
            </a:r>
          </a:p>
          <a:p>
            <a:pPr lvl="1"/>
            <a:r>
              <a:rPr lang="en-US" dirty="0" err="1"/>
              <a:t>codepoints</a:t>
            </a:r>
            <a:r>
              <a:rPr lang="en-US" dirty="0"/>
              <a:t> `U+00` to `U+7f` are mapped directly to bytes,</a:t>
            </a:r>
          </a:p>
          <a:p>
            <a:pPr lvl="2"/>
            <a:r>
              <a:rPr lang="en-US" dirty="0"/>
              <a:t>i.e. </a:t>
            </a:r>
            <a:r>
              <a:rPr lang="en-US" dirty="0" smtClean="0"/>
              <a:t>ASCII transparent</a:t>
            </a:r>
            <a:endParaRPr lang="en-US" dirty="0"/>
          </a:p>
          <a:p>
            <a:pPr lvl="1"/>
            <a:r>
              <a:rPr lang="en-US" dirty="0"/>
              <a:t>most non-</a:t>
            </a:r>
            <a:r>
              <a:rPr lang="en-US" dirty="0" err="1"/>
              <a:t>ideographyc</a:t>
            </a:r>
            <a:r>
              <a:rPr lang="en-US" dirty="0"/>
              <a:t> </a:t>
            </a:r>
            <a:r>
              <a:rPr lang="en-US" dirty="0" err="1"/>
              <a:t>codepoints</a:t>
            </a:r>
            <a:r>
              <a:rPr lang="en-US" dirty="0"/>
              <a:t> are represented </a:t>
            </a:r>
            <a:r>
              <a:rPr lang="en-US" dirty="0" smtClean="0"/>
              <a:t>on 2 </a:t>
            </a:r>
            <a:r>
              <a:rPr lang="en-US" dirty="0"/>
              <a:t>bytes</a:t>
            </a:r>
          </a:p>
          <a:p>
            <a:pPr lvl="2"/>
            <a:r>
              <a:rPr lang="en-US" dirty="0"/>
              <a:t>e.g. `U+00C8` represents character ‘</a:t>
            </a:r>
            <a:r>
              <a:rPr lang="en-US" dirty="0" err="1" smtClean="0"/>
              <a:t>è</a:t>
            </a:r>
            <a:r>
              <a:rPr lang="en-US" dirty="0" smtClean="0"/>
              <a:t>’ </a:t>
            </a:r>
            <a:r>
              <a:rPr lang="en-US" dirty="0"/>
              <a:t>and is mapped to two bytes: `0xC3` `0xA8`.</a:t>
            </a:r>
          </a:p>
          <a:p>
            <a:endParaRPr lang="en-US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644008" y="5373216"/>
            <a:ext cx="4176464" cy="1008112"/>
          </a:xfrm>
          <a:prstGeom prst="wedgeRoundRectCallout">
            <a:avLst>
              <a:gd name="adj1" fmla="val 4035"/>
              <a:gd name="adj2" fmla="val -8422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The IS0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-8859-1 encoding 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interprets them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as </a:t>
            </a:r>
            <a:r>
              <a:rPr lang="mr-IN" i="1" dirty="0" smtClean="0">
                <a:solidFill>
                  <a:schemeClr val="tx1"/>
                </a:solidFill>
                <a:latin typeface="+mn-lt"/>
              </a:rPr>
              <a:t>Ã¨</a:t>
            </a:r>
            <a:r>
              <a:rPr lang="it-IT" i="1" dirty="0" smtClean="0">
                <a:solidFill>
                  <a:schemeClr val="tx1"/>
                </a:solidFill>
                <a:latin typeface="+mn-lt"/>
              </a:rPr>
              <a:t> 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767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>
                <a:latin typeface="Lucida Sans Unicode" charset="0"/>
              </a:rPr>
              <a:t>Wrapper </a:t>
            </a:r>
            <a:r>
              <a:rPr lang="en-GB" dirty="0" smtClean="0">
                <a:latin typeface="Lucida Sans Unicode" charset="0"/>
              </a:rPr>
              <a:t>classes</a:t>
            </a:r>
            <a:endParaRPr lang="en-GB" dirty="0">
              <a:latin typeface="Lucida Sans Unicode" charset="0"/>
            </a:endParaRPr>
          </a:p>
        </p:txBody>
      </p:sp>
      <p:sp>
        <p:nvSpPr>
          <p:cNvPr id="11776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EFA53ED-6626-D44E-91C9-6D5A96C9A66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98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Motivation</a:t>
            </a:r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 an ideal OO world, there are only classes and objects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For the sake of efficiency, Java use primitive types (int, float, etc.)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Wrapper classes</a:t>
            </a:r>
            <a:r>
              <a:rPr lang="en-GB">
                <a:latin typeface="Lucida Sans Unicode" charset="0"/>
                <a:cs typeface="Lucida Sans Unicode" charset="0"/>
              </a:rPr>
              <a:t> are object versions of the primitive types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They define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conversion operations</a:t>
            </a:r>
            <a:r>
              <a:rPr lang="en-GB">
                <a:latin typeface="Lucida Sans Unicode" charset="0"/>
                <a:cs typeface="Lucida Sans Unicode" charset="0"/>
              </a:rPr>
              <a:t> between different types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91F15E-5A5F-9B4A-B8EF-F698F0902E1C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185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Wrapper Classes</a:t>
            </a: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Defined in </a:t>
            </a:r>
            <a:r>
              <a:rPr lang="en-GB" dirty="0" err="1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java.lang</a:t>
            </a:r>
            <a:r>
              <a:rPr lang="en-GB" dirty="0">
                <a:latin typeface="Lucida Sans Unicode" charset="0"/>
                <a:cs typeface="Lucida Sans Unicode" charset="0"/>
              </a:rPr>
              <a:t> package  </a:t>
            </a:r>
          </a:p>
        </p:txBody>
      </p:sp>
      <p:sp>
        <p:nvSpPr>
          <p:cNvPr id="121860" name="Rectangle 3"/>
          <p:cNvSpPr>
            <a:spLocks noChangeArrowheads="1"/>
          </p:cNvSpPr>
          <p:nvPr/>
        </p:nvSpPr>
        <p:spPr bwMode="auto">
          <a:xfrm>
            <a:off x="1366838" y="1985963"/>
            <a:ext cx="71437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marL="327025" indent="-327025" eaLnBrk="1" hangingPunct="1">
              <a:lnSpc>
                <a:spcPct val="90000"/>
              </a:lnSpc>
              <a:spcBef>
                <a:spcPts val="800"/>
              </a:spcBef>
              <a:buClr>
                <a:srgbClr val="FF6600"/>
              </a:buClr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3200" b="1" dirty="0">
                <a:solidFill>
                  <a:schemeClr val="tx1"/>
                </a:solidFill>
                <a:latin typeface="Lucida Sans Unicode" charset="0"/>
              </a:rPr>
              <a:t>Primitive type  	  Wrapper Class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dirty="0">
                <a:solidFill>
                  <a:srgbClr val="000000"/>
                </a:solidFill>
                <a:latin typeface="Courier New" charset="0"/>
              </a:rPr>
              <a:t>	</a:t>
            </a:r>
            <a:r>
              <a:rPr lang="en-GB" sz="2800" b="1" dirty="0" err="1">
                <a:solidFill>
                  <a:srgbClr val="000000"/>
                </a:solidFill>
                <a:latin typeface="Courier New" charset="0"/>
              </a:rPr>
              <a:t>boolean</a:t>
            </a:r>
            <a:r>
              <a:rPr lang="en-GB" sz="2800" dirty="0">
                <a:solidFill>
                  <a:srgbClr val="000000"/>
                </a:solidFill>
                <a:latin typeface="Courier New" charset="0"/>
              </a:rPr>
              <a:t>			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Boolean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char				Character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byte				Byte	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short   		   	Short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</a:t>
            </a:r>
            <a:r>
              <a:rPr lang="en-GB" sz="28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			Integer	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long				Long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float				Float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double				Double</a:t>
            </a:r>
          </a:p>
          <a:p>
            <a:pPr marL="327025" indent="-327025" eaLnBrk="1" hangingPunct="1">
              <a:lnSpc>
                <a:spcPct val="90000"/>
              </a:lnSpc>
              <a:buFont typeface="Wingdings" charset="0"/>
              <a:buNone/>
              <a:tabLst>
                <a:tab pos="327025" algn="l"/>
                <a:tab pos="882650" algn="l"/>
                <a:tab pos="1797050" algn="l"/>
                <a:tab pos="2711450" algn="l"/>
                <a:tab pos="3625850" algn="l"/>
                <a:tab pos="4540250" algn="l"/>
                <a:tab pos="5454650" algn="l"/>
                <a:tab pos="6369050" algn="l"/>
                <a:tab pos="7283450" algn="l"/>
                <a:tab pos="8197850" algn="l"/>
                <a:tab pos="9112250" algn="l"/>
                <a:tab pos="10026650" algn="l"/>
                <a:tab pos="10029825" algn="l"/>
                <a:tab pos="10487025" algn="l"/>
                <a:tab pos="10490200" algn="l"/>
                <a:tab pos="10493375" algn="l"/>
                <a:tab pos="10496550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	void				Void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1403648" y="2492896"/>
            <a:ext cx="2880320" cy="0"/>
          </a:xfrm>
          <a:prstGeom prst="line">
            <a:avLst/>
          </a:prstGeom>
          <a:solidFill>
            <a:srgbClr val="00B8FF"/>
          </a:solidFill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5292080" y="2492896"/>
            <a:ext cx="2880320" cy="0"/>
          </a:xfrm>
          <a:prstGeom prst="line">
            <a:avLst/>
          </a:prstGeom>
          <a:solidFill>
            <a:srgbClr val="00B8FF"/>
          </a:solidFill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6ACF75F-0A65-414C-A4A2-DC89EB03A40D}" type="slidenum">
              <a:rPr lang="it-IT" sz="1200">
                <a:solidFill>
                  <a:srgbClr val="000000"/>
                </a:solidFill>
                <a:latin typeface="Lucida Sans Unicode" charset="0"/>
              </a:rPr>
              <a:pPr/>
              <a:t>95</a:t>
            </a:fld>
            <a:endParaRPr lang="it-IT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Conversions</a:t>
            </a: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2987675" y="1700213"/>
            <a:ext cx="2016373" cy="338554"/>
          </a:xfrm>
          <a:prstGeom prst="rect">
            <a:avLst/>
          </a:prstGeom>
          <a:solidFill>
            <a:srgbClr val="FDEADA"/>
          </a:solidFill>
          <a:ln w="12700">
            <a:solidFill>
              <a:srgbClr val="E46C0A"/>
            </a:solidFill>
            <a:miter lim="800000"/>
            <a:headEnd type="none" w="sm" len="sm"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ourier New" charset="0"/>
                <a:cs typeface="Courier New" charset="0"/>
              </a:rPr>
              <a:t>Integer wi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1039813" y="3814763"/>
            <a:ext cx="1314450" cy="338554"/>
          </a:xfrm>
          <a:prstGeom prst="rect">
            <a:avLst/>
          </a:prstGeom>
          <a:solidFill>
            <a:srgbClr val="FDEADA"/>
          </a:solidFill>
          <a:ln w="12700">
            <a:solidFill>
              <a:srgbClr val="E46C0A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b="1">
                <a:solidFill>
                  <a:schemeClr val="tx1"/>
                </a:solidFill>
                <a:latin typeface="Courier New" charset="0"/>
                <a:cs typeface="Courier New" charset="0"/>
              </a:rPr>
              <a:t>i</a:t>
            </a:r>
            <a:r>
              <a:rPr lang="en-US" b="1">
                <a:solidFill>
                  <a:schemeClr val="tx1"/>
                </a:solidFill>
                <a:latin typeface="Courier New" charset="0"/>
                <a:cs typeface="Courier New" charset="0"/>
              </a:rPr>
              <a:t>nt i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5148064" y="3814763"/>
            <a:ext cx="1656183" cy="338554"/>
          </a:xfrm>
          <a:prstGeom prst="rect">
            <a:avLst/>
          </a:prstGeom>
          <a:solidFill>
            <a:srgbClr val="FDEADA"/>
          </a:solidFill>
          <a:ln w="12700">
            <a:solidFill>
              <a:srgbClr val="E46C0A"/>
            </a:solidFill>
            <a:miter lim="800000"/>
            <a:headEnd type="none" w="sm" len="sm"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ourier New" charset="0"/>
                <a:cs typeface="Courier New" charset="0"/>
              </a:rPr>
              <a:t>String s</a:t>
            </a: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4284663" y="2708275"/>
            <a:ext cx="17081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.</a:t>
            </a:r>
            <a:r>
              <a:rPr lang="en-US" sz="1800" b="1" dirty="0" err="1">
                <a:solidFill>
                  <a:srgbClr val="FF6600"/>
                </a:solidFill>
                <a:latin typeface="Courier New" charset="0"/>
                <a:cs typeface="Courier New" charset="0"/>
              </a:rPr>
              <a:t>toString</a:t>
            </a:r>
            <a:r>
              <a:rPr lang="en-US" sz="18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()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6200775" y="2574925"/>
            <a:ext cx="267652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Integer.valueOf(s)</a:t>
            </a:r>
          </a:p>
          <a:p>
            <a:pPr>
              <a:lnSpc>
                <a:spcPct val="90000"/>
              </a:lnSpc>
            </a:pPr>
            <a:r>
              <a:rPr lang="en-US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new Integer(s)</a:t>
            </a:r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2555875" y="4735513"/>
            <a:ext cx="28162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b="1">
                <a:solidFill>
                  <a:srgbClr val="FF6600"/>
                </a:solidFill>
                <a:latin typeface="Courier New" charset="0"/>
                <a:cs typeface="Courier New" charset="0"/>
              </a:rPr>
              <a:t>Integer.parseInt(</a:t>
            </a:r>
            <a:r>
              <a:rPr lang="it-IT" altLang="ja-JP" sz="1800" b="1">
                <a:solidFill>
                  <a:srgbClr val="FF6600"/>
                </a:solidFill>
                <a:latin typeface="Courier New" charset="0"/>
                <a:cs typeface="Courier New" charset="0"/>
              </a:rPr>
              <a:t>s</a:t>
            </a:r>
            <a:r>
              <a:rPr lang="en-US" altLang="ja-JP" sz="1800" b="1">
                <a:solidFill>
                  <a:srgbClr val="FF6600"/>
                </a:solidFill>
                <a:latin typeface="Courier New" charset="0"/>
                <a:cs typeface="Courier New" charset="0"/>
              </a:rPr>
              <a:t>)</a:t>
            </a:r>
            <a:endParaRPr lang="en-US" sz="1800" b="1">
              <a:solidFill>
                <a:srgbClr val="FF6600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1836738" y="2711450"/>
            <a:ext cx="21224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b="1">
                <a:solidFill>
                  <a:srgbClr val="FF6600"/>
                </a:solidFill>
                <a:latin typeface="Courier New" charset="0"/>
                <a:cs typeface="Courier New" charset="0"/>
              </a:rPr>
              <a:t>new Integer(i)</a:t>
            </a:r>
          </a:p>
        </p:txBody>
      </p:sp>
      <p:sp>
        <p:nvSpPr>
          <p:cNvPr id="123914" name="Text Box 10"/>
          <p:cNvSpPr txBox="1">
            <a:spLocks noChangeArrowheads="1"/>
          </p:cNvSpPr>
          <p:nvPr/>
        </p:nvSpPr>
        <p:spPr bwMode="auto">
          <a:xfrm>
            <a:off x="611188" y="1412875"/>
            <a:ext cx="19859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wi.intValue()</a:t>
            </a:r>
          </a:p>
        </p:txBody>
      </p:sp>
      <p:cxnSp>
        <p:nvCxnSpPr>
          <p:cNvPr id="123915" name="AutoShape 11"/>
          <p:cNvCxnSpPr>
            <a:cxnSpLocks noChangeShapeType="1"/>
            <a:stCxn id="123928" idx="2"/>
            <a:endCxn id="123925" idx="2"/>
          </p:cNvCxnSpPr>
          <p:nvPr/>
        </p:nvCxnSpPr>
        <p:spPr bwMode="auto">
          <a:xfrm rot="16200000" flipV="1">
            <a:off x="3833813" y="2009775"/>
            <a:ext cx="19050" cy="4460875"/>
          </a:xfrm>
          <a:prstGeom prst="bentConnector3">
            <a:avLst>
              <a:gd name="adj1" fmla="val -5666667"/>
            </a:avLst>
          </a:prstGeom>
          <a:noFill/>
          <a:ln w="28575">
            <a:solidFill>
              <a:schemeClr val="accent4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916" name="AutoShape 12"/>
          <p:cNvCxnSpPr>
            <a:cxnSpLocks noChangeShapeType="1"/>
            <a:stCxn id="123907" idx="1"/>
            <a:endCxn id="123922" idx="0"/>
          </p:cNvCxnSpPr>
          <p:nvPr/>
        </p:nvCxnSpPr>
        <p:spPr bwMode="auto">
          <a:xfrm rot="10800000" flipV="1">
            <a:off x="1624807" y="1869490"/>
            <a:ext cx="1362868" cy="1889710"/>
          </a:xfrm>
          <a:prstGeom prst="bentConnector2">
            <a:avLst/>
          </a:prstGeom>
          <a:noFill/>
          <a:ln w="28575">
            <a:solidFill>
              <a:schemeClr val="accent4"/>
            </a:solidFill>
            <a:miter lim="800000"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917" name="AutoShape 13"/>
          <p:cNvCxnSpPr>
            <a:cxnSpLocks noChangeShapeType="1"/>
            <a:stCxn id="123907" idx="3"/>
            <a:endCxn id="123930" idx="0"/>
          </p:cNvCxnSpPr>
          <p:nvPr/>
        </p:nvCxnSpPr>
        <p:spPr bwMode="auto">
          <a:xfrm>
            <a:off x="5004048" y="1869490"/>
            <a:ext cx="1062584" cy="1911935"/>
          </a:xfrm>
          <a:prstGeom prst="bentConnector2">
            <a:avLst/>
          </a:prstGeom>
          <a:noFill/>
          <a:ln w="28575">
            <a:solidFill>
              <a:schemeClr val="accent4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918" name="Rectangle 14"/>
          <p:cNvSpPr>
            <a:spLocks noChangeArrowheads="1"/>
          </p:cNvSpPr>
          <p:nvPr/>
        </p:nvSpPr>
        <p:spPr bwMode="auto">
          <a:xfrm>
            <a:off x="3324225" y="2024063"/>
            <a:ext cx="84138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19" name="Rectangle 15"/>
          <p:cNvSpPr>
            <a:spLocks noChangeArrowheads="1"/>
          </p:cNvSpPr>
          <p:nvPr/>
        </p:nvSpPr>
        <p:spPr bwMode="auto">
          <a:xfrm>
            <a:off x="4097338" y="2036763"/>
            <a:ext cx="84137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0" name="Rectangle 16"/>
          <p:cNvSpPr>
            <a:spLocks noChangeArrowheads="1"/>
          </p:cNvSpPr>
          <p:nvPr/>
        </p:nvSpPr>
        <p:spPr bwMode="auto">
          <a:xfrm>
            <a:off x="3059113" y="1744663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1" name="Rectangle 17"/>
          <p:cNvSpPr>
            <a:spLocks noChangeArrowheads="1"/>
          </p:cNvSpPr>
          <p:nvPr/>
        </p:nvSpPr>
        <p:spPr bwMode="auto">
          <a:xfrm>
            <a:off x="3059113" y="1897063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2" name="Rectangle 18"/>
          <p:cNvSpPr>
            <a:spLocks noChangeArrowheads="1"/>
          </p:cNvSpPr>
          <p:nvPr/>
        </p:nvSpPr>
        <p:spPr bwMode="auto">
          <a:xfrm>
            <a:off x="1582738" y="3759200"/>
            <a:ext cx="84137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3" name="Rectangle 19"/>
          <p:cNvSpPr>
            <a:spLocks noChangeArrowheads="1"/>
          </p:cNvSpPr>
          <p:nvPr/>
        </p:nvSpPr>
        <p:spPr bwMode="auto">
          <a:xfrm>
            <a:off x="1724025" y="3765550"/>
            <a:ext cx="84138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5" name="Rectangle 21"/>
          <p:cNvSpPr>
            <a:spLocks noChangeArrowheads="1"/>
          </p:cNvSpPr>
          <p:nvPr/>
        </p:nvSpPr>
        <p:spPr bwMode="auto">
          <a:xfrm>
            <a:off x="1570038" y="4141788"/>
            <a:ext cx="84137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6" name="Rectangle 22"/>
          <p:cNvSpPr>
            <a:spLocks noChangeArrowheads="1"/>
          </p:cNvSpPr>
          <p:nvPr/>
        </p:nvSpPr>
        <p:spPr bwMode="auto">
          <a:xfrm>
            <a:off x="1711325" y="4148138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7" name="Rectangle 23"/>
          <p:cNvSpPr>
            <a:spLocks noChangeArrowheads="1"/>
          </p:cNvSpPr>
          <p:nvPr/>
        </p:nvSpPr>
        <p:spPr bwMode="auto">
          <a:xfrm>
            <a:off x="5891213" y="4154488"/>
            <a:ext cx="84137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8" name="Rectangle 24"/>
          <p:cNvSpPr>
            <a:spLocks noChangeArrowheads="1"/>
          </p:cNvSpPr>
          <p:nvPr/>
        </p:nvSpPr>
        <p:spPr bwMode="auto">
          <a:xfrm>
            <a:off x="6032500" y="4160838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29" name="Rectangle 25"/>
          <p:cNvSpPr>
            <a:spLocks noChangeArrowheads="1"/>
          </p:cNvSpPr>
          <p:nvPr/>
        </p:nvSpPr>
        <p:spPr bwMode="auto">
          <a:xfrm>
            <a:off x="5884863" y="3775075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30" name="Rectangle 26"/>
          <p:cNvSpPr>
            <a:spLocks noChangeArrowheads="1"/>
          </p:cNvSpPr>
          <p:nvPr/>
        </p:nvSpPr>
        <p:spPr bwMode="auto">
          <a:xfrm>
            <a:off x="6024563" y="3781425"/>
            <a:ext cx="84137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31" name="Rectangle 27"/>
          <p:cNvSpPr>
            <a:spLocks noChangeArrowheads="1"/>
          </p:cNvSpPr>
          <p:nvPr/>
        </p:nvSpPr>
        <p:spPr bwMode="auto">
          <a:xfrm>
            <a:off x="4427538" y="1744663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sp>
        <p:nvSpPr>
          <p:cNvPr id="123932" name="Rectangle 28"/>
          <p:cNvSpPr>
            <a:spLocks noChangeArrowheads="1"/>
          </p:cNvSpPr>
          <p:nvPr/>
        </p:nvSpPr>
        <p:spPr bwMode="auto">
          <a:xfrm>
            <a:off x="4392613" y="1916113"/>
            <a:ext cx="8255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latin typeface="Courier New" charset="0"/>
              <a:cs typeface="Courier New" charset="0"/>
            </a:endParaRPr>
          </a:p>
        </p:txBody>
      </p:sp>
      <p:cxnSp>
        <p:nvCxnSpPr>
          <p:cNvPr id="123933" name="AutoShape 29"/>
          <p:cNvCxnSpPr>
            <a:cxnSpLocks noChangeShapeType="1"/>
            <a:stCxn id="123929" idx="0"/>
          </p:cNvCxnSpPr>
          <p:nvPr/>
        </p:nvCxnSpPr>
        <p:spPr bwMode="auto">
          <a:xfrm rot="16200000" flipV="1">
            <a:off x="4571977" y="2420914"/>
            <a:ext cx="1786235" cy="922088"/>
          </a:xfrm>
          <a:prstGeom prst="bentConnector3">
            <a:avLst>
              <a:gd name="adj1" fmla="val 98077"/>
            </a:avLst>
          </a:prstGeom>
          <a:noFill/>
          <a:ln w="28575">
            <a:solidFill>
              <a:schemeClr val="accent6">
                <a:lumMod val="75000"/>
              </a:schemeClr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934" name="AutoShape 30"/>
          <p:cNvCxnSpPr>
            <a:cxnSpLocks noChangeShapeType="1"/>
            <a:stCxn id="123926" idx="2"/>
            <a:endCxn id="123927" idx="2"/>
          </p:cNvCxnSpPr>
          <p:nvPr/>
        </p:nvCxnSpPr>
        <p:spPr bwMode="auto">
          <a:xfrm rot="16200000" flipH="1">
            <a:off x="3840163" y="2149475"/>
            <a:ext cx="6350" cy="4181475"/>
          </a:xfrm>
          <a:prstGeom prst="bentConnector3">
            <a:avLst>
              <a:gd name="adj1" fmla="val 13649995"/>
            </a:avLst>
          </a:prstGeom>
          <a:noFill/>
          <a:ln w="28575">
            <a:solidFill>
              <a:schemeClr val="accent6">
                <a:lumMod val="75000"/>
              </a:schemeClr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935" name="Text Box 31"/>
          <p:cNvSpPr txBox="1">
            <a:spLocks noChangeArrowheads="1"/>
          </p:cNvSpPr>
          <p:nvPr/>
        </p:nvSpPr>
        <p:spPr bwMode="auto">
          <a:xfrm>
            <a:off x="2763838" y="5362575"/>
            <a:ext cx="2538412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GB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String</a:t>
            </a:r>
            <a:r>
              <a:rPr lang="en-US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.valueOf(</a:t>
            </a:r>
            <a:r>
              <a:rPr lang="en-GB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i</a:t>
            </a:r>
            <a:r>
              <a:rPr lang="en-US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800" b="1">
                <a:solidFill>
                  <a:schemeClr val="accent4">
                    <a:lumMod val="75000"/>
                  </a:schemeClr>
                </a:solidFill>
                <a:latin typeface="Courier New" charset="0"/>
                <a:cs typeface="Courier New" charset="0"/>
              </a:rPr>
              <a:t>+</a:t>
            </a:r>
            <a:endParaRPr lang="en-US" sz="1800" b="1">
              <a:solidFill>
                <a:schemeClr val="accent4">
                  <a:lumMod val="75000"/>
                </a:schemeClr>
              </a:solidFill>
              <a:latin typeface="Courier New" charset="0"/>
              <a:cs typeface="Courier New" charset="0"/>
            </a:endParaRPr>
          </a:p>
        </p:txBody>
      </p:sp>
      <p:cxnSp>
        <p:nvCxnSpPr>
          <p:cNvPr id="15" name="Elbow Connector 14"/>
          <p:cNvCxnSpPr/>
          <p:nvPr/>
        </p:nvCxnSpPr>
        <p:spPr bwMode="auto">
          <a:xfrm rot="5400000" flipH="1" flipV="1">
            <a:off x="1511660" y="2312876"/>
            <a:ext cx="1800202" cy="1152130"/>
          </a:xfrm>
          <a:prstGeom prst="bentConnector3">
            <a:avLst>
              <a:gd name="adj1" fmla="val 100391"/>
            </a:avLst>
          </a:prstGeom>
          <a:noFill/>
          <a:ln w="28575">
            <a:solidFill>
              <a:schemeClr val="accent6">
                <a:lumMod val="75000"/>
              </a:schemeClr>
            </a:solidFill>
            <a:miter lim="800000"/>
            <a:headEnd type="none" w="med" len="med"/>
            <a:tailEnd type="triangle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395536" y="1268760"/>
            <a:ext cx="7848872" cy="3240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595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D62CC8-3C46-B24B-A4C8-D66B2D85CB9D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595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95400"/>
            <a:ext cx="8763000" cy="4727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Courier New" charset="0"/>
              </a:rPr>
              <a:t>Integer </a:t>
            </a:r>
            <a:r>
              <a:rPr lang="en-GB" sz="2800" b="1" dirty="0" err="1">
                <a:latin typeface="Courier New" charset="0"/>
                <a:cs typeface="Courier New" charset="0"/>
              </a:rPr>
              <a:t>obj</a:t>
            </a:r>
            <a:r>
              <a:rPr lang="en-GB" sz="2800" b="1" dirty="0">
                <a:latin typeface="Courier New" charset="0"/>
                <a:cs typeface="Courier New" charset="0"/>
              </a:rPr>
              <a:t> = new Integer(88);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Courier New" charset="0"/>
              </a:rPr>
              <a:t>String s = </a:t>
            </a:r>
            <a:r>
              <a:rPr lang="en-GB" sz="2800" b="1" dirty="0" err="1">
                <a:latin typeface="Courier New" charset="0"/>
                <a:cs typeface="Courier New" charset="0"/>
              </a:rPr>
              <a:t>obj.toString</a:t>
            </a:r>
            <a:r>
              <a:rPr lang="en-GB" sz="2800" b="1" dirty="0">
                <a:latin typeface="Courier New" charset="0"/>
                <a:cs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</a:t>
            </a:r>
            <a:r>
              <a:rPr lang="en-GB" sz="2800" b="1" dirty="0" err="1">
                <a:latin typeface="Courier New" charset="0"/>
                <a:cs typeface="Courier New" charset="0"/>
              </a:rPr>
              <a:t>i</a:t>
            </a:r>
            <a:r>
              <a:rPr lang="en-GB" sz="2800" b="1" dirty="0">
                <a:latin typeface="Courier New" charset="0"/>
                <a:cs typeface="Courier New" charset="0"/>
              </a:rPr>
              <a:t> = </a:t>
            </a:r>
            <a:r>
              <a:rPr lang="en-GB" sz="2800" b="1" dirty="0" err="1">
                <a:latin typeface="Courier New" charset="0"/>
                <a:cs typeface="Courier New" charset="0"/>
              </a:rPr>
              <a:t>obj.intValue</a:t>
            </a:r>
            <a:r>
              <a:rPr lang="en-GB" sz="2800" b="1" dirty="0">
                <a:latin typeface="Courier New" charset="0"/>
                <a:cs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j = </a:t>
            </a:r>
            <a:r>
              <a:rPr lang="en-GB" sz="2800" b="1" dirty="0" err="1">
                <a:latin typeface="Courier New" charset="0"/>
                <a:cs typeface="Courier New" charset="0"/>
              </a:rPr>
              <a:t>Integer.parseInt</a:t>
            </a:r>
            <a:r>
              <a:rPr lang="en-GB" sz="2800" b="1" dirty="0" smtClean="0">
                <a:latin typeface="Courier New" charset="0"/>
                <a:cs typeface="Courier New" charset="0"/>
              </a:rPr>
              <a:t>(</a:t>
            </a:r>
            <a:r>
              <a:rPr lang="it-IT" sz="2800" b="1" dirty="0" smtClean="0">
                <a:latin typeface="Courier New" charset="0"/>
                <a:cs typeface="Courier New" charset="0"/>
              </a:rPr>
              <a:t>"</a:t>
            </a:r>
            <a:r>
              <a:rPr lang="en-GB" altLang="ja-JP" sz="2800" b="1" dirty="0" smtClean="0">
                <a:latin typeface="Courier New" charset="0"/>
                <a:cs typeface="Courier New" charset="0"/>
              </a:rPr>
              <a:t>99</a:t>
            </a:r>
            <a:r>
              <a:rPr lang="it-IT" sz="2800" b="1" dirty="0">
                <a:latin typeface="Courier New" charset="0"/>
                <a:cs typeface="Courier New" charset="0"/>
              </a:rPr>
              <a:t>"</a:t>
            </a:r>
            <a:r>
              <a:rPr lang="en-GB" altLang="ja-JP" sz="2800" b="1" dirty="0" smtClean="0">
                <a:latin typeface="Courier New" charset="0"/>
                <a:cs typeface="Courier New" charset="0"/>
              </a:rPr>
              <a:t>)</a:t>
            </a:r>
            <a:r>
              <a:rPr lang="en-GB" altLang="ja-JP" sz="2800" b="1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k=(new Integer(99)).</a:t>
            </a:r>
            <a:r>
              <a:rPr lang="en-GB" sz="2800" b="1" dirty="0" err="1">
                <a:latin typeface="Courier New" charset="0"/>
                <a:cs typeface="Courier New" charset="0"/>
              </a:rPr>
              <a:t>intValue</a:t>
            </a:r>
            <a:r>
              <a:rPr lang="en-GB" sz="2800" b="1" dirty="0">
                <a:latin typeface="Courier New" charset="0"/>
                <a:cs typeface="Courier New" charset="0"/>
              </a:rPr>
              <a:t>();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b="1" dirty="0" smtClean="0">
                <a:latin typeface="Courier New"/>
                <a:cs typeface="Courier New"/>
              </a:rPr>
              <a:t>Scanner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Scanner can be initialized with a string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Scanner</a:t>
            </a:r>
            <a:r>
              <a:rPr lang="en-US" b="1" dirty="0" smtClean="0">
                <a:latin typeface="Courier New"/>
                <a:cs typeface="Courier New"/>
              </a:rPr>
              <a:t> s = new Scanner("123");</a:t>
            </a:r>
          </a:p>
          <a:p>
            <a:r>
              <a:rPr lang="en-US" dirty="0" smtClean="0"/>
              <a:t>then values can be parsed</a:t>
            </a:r>
          </a:p>
          <a:p>
            <a:pPr marL="0" indent="0">
              <a:buNone/>
            </a:pP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i</a:t>
            </a:r>
            <a:r>
              <a:rPr lang="en-US" b="1" dirty="0">
                <a:latin typeface="Courier New"/>
                <a:cs typeface="Courier New"/>
              </a:rPr>
              <a:t> = </a:t>
            </a:r>
            <a:r>
              <a:rPr lang="en-US" b="1" dirty="0" err="1">
                <a:latin typeface="Courier New"/>
                <a:cs typeface="Courier New"/>
              </a:rPr>
              <a:t>s.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nextInt</a:t>
            </a:r>
            <a:r>
              <a:rPr lang="en-US" b="1" dirty="0">
                <a:latin typeface="Courier New"/>
                <a:cs typeface="Courier New"/>
              </a:rPr>
              <a:t>();</a:t>
            </a:r>
          </a:p>
          <a:p>
            <a:r>
              <a:rPr lang="en-US" dirty="0" smtClean="0"/>
              <a:t>In addition a scanner is able to parse several numbers in the same string</a:t>
            </a:r>
          </a:p>
        </p:txBody>
      </p:sp>
    </p:spTree>
    <p:extLst>
      <p:ext uri="{BB962C8B-B14F-4D97-AF65-F5344CB8AC3E}">
        <p14:creationId xmlns:p14="http://schemas.microsoft.com/office/powerpoint/2010/main" val="806142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331640" y="2852936"/>
            <a:ext cx="7488832" cy="33843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8002" name="Rectangle 1"/>
          <p:cNvSpPr>
            <a:spLocks noGrp="1" noChangeArrowheads="1"/>
          </p:cNvSpPr>
          <p:nvPr>
            <p:ph type="title"/>
          </p:nvPr>
        </p:nvSpPr>
        <p:spPr>
          <a:xfrm>
            <a:off x="351407" y="-563563"/>
            <a:ext cx="8901113" cy="1538288"/>
          </a:xfrm>
        </p:spPr>
        <p:txBody>
          <a:bodyPr lIns="0" tIns="0" rIns="0" bIns="0" anchor="b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>
                <a:latin typeface="Lucida Sans Unicode" charset="0"/>
                <a:cs typeface="Lucida Sans Unicode" charset="0"/>
              </a:rPr>
              <a:t>Autoboxing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21187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smtClean="0">
                <a:latin typeface="Lucida Sans Unicode" charset="0"/>
              </a:rPr>
              <a:t>Since </a:t>
            </a:r>
            <a:r>
              <a:rPr lang="en-GB" dirty="0" smtClean="0">
                <a:solidFill>
                  <a:srgbClr val="FF6633"/>
                </a:solidFill>
                <a:latin typeface="Lucida Sans Unicode" charset="0"/>
              </a:rPr>
              <a:t>Java </a:t>
            </a:r>
            <a:r>
              <a:rPr lang="en-GB" dirty="0">
                <a:solidFill>
                  <a:srgbClr val="FF6633"/>
                </a:solidFill>
                <a:latin typeface="Lucida Sans Unicode" charset="0"/>
              </a:rPr>
              <a:t>5</a:t>
            </a:r>
            <a:r>
              <a:rPr lang="en-GB" dirty="0">
                <a:latin typeface="Lucida Sans Unicode" charset="0"/>
              </a:rPr>
              <a:t> an automatic conversion between primitive types and wrapper classes (</a:t>
            </a:r>
            <a:r>
              <a:rPr lang="en-GB" i="1" dirty="0" err="1">
                <a:latin typeface="Lucida Sans Unicode" charset="0"/>
              </a:rPr>
              <a:t>autoboxing</a:t>
            </a:r>
            <a:r>
              <a:rPr lang="en-GB" dirty="0">
                <a:latin typeface="Lucida Sans Unicode" charset="0"/>
              </a:rPr>
              <a:t>) is performed.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dirty="0">
                <a:latin typeface="Lucida Console" charset="0"/>
              </a:rPr>
              <a:t>    </a:t>
            </a:r>
            <a:r>
              <a:rPr lang="en-GB" sz="2800" b="1" dirty="0">
                <a:latin typeface="Courier New"/>
                <a:cs typeface="Courier New"/>
              </a:rPr>
              <a:t>Integer </a:t>
            </a:r>
            <a:r>
              <a:rPr lang="en-GB" sz="2800" b="1" dirty="0" err="1">
                <a:latin typeface="Courier New"/>
                <a:cs typeface="Courier New"/>
              </a:rPr>
              <a:t>i</a:t>
            </a:r>
            <a:r>
              <a:rPr lang="en-GB" sz="2800" b="1" dirty="0">
                <a:latin typeface="Courier New"/>
                <a:cs typeface="Courier New"/>
              </a:rPr>
              <a:t>= new Integer(2); </a:t>
            </a:r>
            <a:r>
              <a:rPr lang="en-GB" sz="2800" b="1" dirty="0" err="1">
                <a:latin typeface="Courier New"/>
                <a:cs typeface="Courier New"/>
              </a:rPr>
              <a:t>int</a:t>
            </a:r>
            <a:r>
              <a:rPr lang="en-GB" sz="2800" b="1" dirty="0">
                <a:latin typeface="Courier New"/>
                <a:cs typeface="Courier New"/>
              </a:rPr>
              <a:t> j;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j = </a:t>
            </a:r>
            <a:r>
              <a:rPr lang="en-GB" sz="2800" b="1" dirty="0" err="1">
                <a:latin typeface="Courier New"/>
                <a:cs typeface="Courier New"/>
              </a:rPr>
              <a:t>i</a:t>
            </a:r>
            <a:r>
              <a:rPr lang="en-GB" sz="2800" b="1" dirty="0">
                <a:latin typeface="Courier New"/>
                <a:cs typeface="Courier New"/>
              </a:rPr>
              <a:t> + 5;	 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  </a:t>
            </a:r>
            <a:r>
              <a:rPr lang="en-GB" sz="2800" b="1" dirty="0">
                <a:solidFill>
                  <a:schemeClr val="accent3">
                    <a:lumMod val="75000"/>
                  </a:schemeClr>
                </a:solidFill>
                <a:latin typeface="Courier New"/>
                <a:cs typeface="Courier New"/>
              </a:rPr>
              <a:t>//instead of: 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j = </a:t>
            </a:r>
            <a:r>
              <a:rPr lang="en-GB" sz="2800" b="1" dirty="0" err="1">
                <a:latin typeface="Courier New"/>
                <a:cs typeface="Courier New"/>
              </a:rPr>
              <a:t>i</a:t>
            </a:r>
            <a:r>
              <a:rPr lang="en-GB" sz="2800" b="1" dirty="0" err="1">
                <a:solidFill>
                  <a:srgbClr val="FF6633"/>
                </a:solidFill>
                <a:latin typeface="Courier New"/>
                <a:cs typeface="Courier New"/>
              </a:rPr>
              <a:t>.intValue</a:t>
            </a:r>
            <a:r>
              <a:rPr lang="en-GB" sz="2800" b="1" dirty="0">
                <a:solidFill>
                  <a:srgbClr val="FF6633"/>
                </a:solidFill>
                <a:latin typeface="Courier New"/>
                <a:cs typeface="Courier New"/>
              </a:rPr>
              <a:t>()</a:t>
            </a:r>
            <a:r>
              <a:rPr lang="en-GB" sz="2800" b="1" dirty="0">
                <a:latin typeface="Courier New"/>
                <a:cs typeface="Courier New"/>
              </a:rPr>
              <a:t>+5;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</a:t>
            </a:r>
            <a:r>
              <a:rPr lang="en-GB" sz="2800" b="1" dirty="0" err="1">
                <a:latin typeface="Courier New"/>
                <a:cs typeface="Courier New"/>
              </a:rPr>
              <a:t>i</a:t>
            </a:r>
            <a:r>
              <a:rPr lang="en-GB" sz="2800" b="1" dirty="0">
                <a:latin typeface="Courier New"/>
                <a:cs typeface="Courier New"/>
              </a:rPr>
              <a:t> = j + 2;  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   </a:t>
            </a:r>
            <a:r>
              <a:rPr lang="en-GB" sz="2800" b="1" dirty="0">
                <a:solidFill>
                  <a:schemeClr val="accent3">
                    <a:lumMod val="75000"/>
                  </a:schemeClr>
                </a:solidFill>
                <a:latin typeface="Courier New"/>
                <a:cs typeface="Courier New"/>
              </a:rPr>
              <a:t>//instead of:</a:t>
            </a:r>
          </a:p>
          <a:p>
            <a:pPr eaLnBrk="1" hangingPunct="1">
              <a:lnSpc>
                <a:spcPct val="83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    </a:t>
            </a:r>
            <a:r>
              <a:rPr lang="en-GB" sz="2800" b="1" dirty="0" err="1">
                <a:latin typeface="Courier New"/>
                <a:cs typeface="Courier New"/>
              </a:rPr>
              <a:t>i</a:t>
            </a:r>
            <a:r>
              <a:rPr lang="en-GB" sz="2800" b="1" dirty="0">
                <a:latin typeface="Courier New"/>
                <a:cs typeface="Courier New"/>
              </a:rPr>
              <a:t> = new </a:t>
            </a:r>
            <a:r>
              <a:rPr lang="en-GB" sz="2800" b="1" dirty="0">
                <a:solidFill>
                  <a:srgbClr val="FF6633"/>
                </a:solidFill>
                <a:latin typeface="Courier New"/>
                <a:cs typeface="Courier New"/>
              </a:rPr>
              <a:t>Integer(</a:t>
            </a:r>
            <a:r>
              <a:rPr lang="en-GB" sz="2800" b="1" dirty="0">
                <a:latin typeface="Courier New"/>
                <a:cs typeface="Courier New"/>
              </a:rPr>
              <a:t>j+2</a:t>
            </a:r>
            <a:r>
              <a:rPr lang="en-GB" sz="2800" b="1" dirty="0">
                <a:solidFill>
                  <a:srgbClr val="FF6633"/>
                </a:solidFill>
                <a:latin typeface="Courier New"/>
                <a:cs typeface="Courier New"/>
              </a:rPr>
              <a:t>)</a:t>
            </a:r>
            <a:r>
              <a:rPr lang="en-GB" sz="2800" b="1" dirty="0">
                <a:latin typeface="Courier New"/>
                <a:cs typeface="Courier New"/>
              </a:rPr>
              <a:t>;</a:t>
            </a:r>
          </a:p>
          <a:p>
            <a:pPr eaLnBrk="1" hangingPunct="1">
              <a:lnSpc>
                <a:spcPct val="10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>
              <a:latin typeface="Lucida Console" charset="0"/>
            </a:endParaRPr>
          </a:p>
        </p:txBody>
      </p:sp>
      <p:sp>
        <p:nvSpPr>
          <p:cNvPr id="128001" name="Segnaposto numero diapositiva 4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64C4A9-3E0F-2548-B7D5-12C479AD59B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Character</a:t>
            </a:r>
          </a:p>
        </p:txBody>
      </p:sp>
      <p:sp>
        <p:nvSpPr>
          <p:cNvPr id="13005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Utility methods on the kind of char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isLetter(), isDigit(), isSpaceChar()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Utility methods for conversions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toUpper(), toLower()</a:t>
            </a:r>
          </a:p>
        </p:txBody>
      </p:sp>
      <p:sp>
        <p:nvSpPr>
          <p:cNvPr id="130049" name="Segnaposto numero diapositiva 4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4AC52F1-D2B7-6041-9522-1AE2425A57C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99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dirty="0" err="1" smtClean="0">
                <a:latin typeface="Lucida Sans Unicode" charset="0"/>
              </a:rPr>
              <a:t>ArrayS</a:t>
            </a:r>
            <a:r>
              <a:rPr lang="en-GB" dirty="0" smtClean="0">
                <a:latin typeface="Lucida Sans Unicode" charset="0"/>
              </a:rPr>
              <a:t> </a:t>
            </a:r>
            <a:endParaRPr lang="en-GB" dirty="0">
              <a:latin typeface="Lucida Sans Unicode" charset="0"/>
            </a:endParaRPr>
          </a:p>
        </p:txBody>
      </p:sp>
      <p:sp>
        <p:nvSpPr>
          <p:cNvPr id="18944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D86EE58-73E5-D24E-8301-7443E1E4ECC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914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</a:t>
            </a:r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An array is an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ordered sequence</a:t>
            </a:r>
            <a:r>
              <a:rPr lang="en-GB">
                <a:latin typeface="Lucida Sans Unicode" charset="0"/>
                <a:cs typeface="Lucida Sans Unicode" charset="0"/>
              </a:rPr>
              <a:t> of variables of the same type which are accessed through an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index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Can contain both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primitive types</a:t>
            </a:r>
            <a:r>
              <a:rPr lang="en-GB">
                <a:latin typeface="Lucida Sans Unicode" charset="0"/>
                <a:cs typeface="Lucida Sans Unicode" charset="0"/>
              </a:rPr>
              <a:t> or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object references</a:t>
            </a:r>
            <a:r>
              <a:rPr lang="en-GB">
                <a:latin typeface="Lucida Sans Unicode" charset="0"/>
                <a:cs typeface="Lucida Sans Unicode" charset="0"/>
              </a:rPr>
              <a:t> (but no object values)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dimension</a:t>
            </a:r>
            <a:r>
              <a:rPr lang="en-GB">
                <a:latin typeface="Lucida Sans Unicode" charset="0"/>
                <a:cs typeface="Lucida Sans Unicode" charset="0"/>
              </a:rPr>
              <a:t> can be defined at run-time, during object creation (cannot change afterwards)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780E10A-4F6B-B645-97F0-CB3CA8B9921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935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 declaration</a:t>
            </a:r>
          </a:p>
        </p:txBody>
      </p:sp>
      <p:sp>
        <p:nvSpPr>
          <p:cNvPr id="1935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An array reference can be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declared</a:t>
            </a:r>
            <a:r>
              <a:rPr lang="en-GB">
                <a:latin typeface="Lucida Sans Unicode" charset="0"/>
                <a:cs typeface="Lucida Sans Unicode" charset="0"/>
              </a:rPr>
              <a:t> with one of these equivalent syntaxes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 Java an array is an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Object </a:t>
            </a:r>
            <a:r>
              <a:rPr lang="en-GB">
                <a:latin typeface="Lucida Sans Unicode" charset="0"/>
                <a:cs typeface="Lucida Sans Unicode" charset="0"/>
              </a:rPr>
              <a:t>and it is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stored in the heap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 declaration allocates memory space for a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reference</a:t>
            </a:r>
            <a:r>
              <a:rPr lang="en-GB">
                <a:latin typeface="Lucida Sans Unicode" charset="0"/>
                <a:cs typeface="Lucida Sans Unicode" charset="0"/>
              </a:rPr>
              <a:t>, whose default value is null</a:t>
            </a:r>
          </a:p>
        </p:txBody>
      </p:sp>
      <p:sp>
        <p:nvSpPr>
          <p:cNvPr id="184324" name="Rectangle 3"/>
          <p:cNvSpPr>
            <a:spLocks noChangeArrowheads="1"/>
          </p:cNvSpPr>
          <p:nvPr/>
        </p:nvSpPr>
        <p:spPr bwMode="auto">
          <a:xfrm>
            <a:off x="5364088" y="5788496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/>
          <a:lstStyle/>
          <a:p>
            <a:pPr algn="ctr">
              <a:lnSpc>
                <a:spcPct val="93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3541" name="Text Box 4"/>
          <p:cNvSpPr txBox="1">
            <a:spLocks noChangeArrowheads="1"/>
          </p:cNvSpPr>
          <p:nvPr/>
        </p:nvSpPr>
        <p:spPr bwMode="auto">
          <a:xfrm>
            <a:off x="5052349" y="5648325"/>
            <a:ext cx="36645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a</a:t>
            </a:r>
          </a:p>
        </p:txBody>
      </p:sp>
      <p:sp>
        <p:nvSpPr>
          <p:cNvPr id="184326" name="Rectangle 5"/>
          <p:cNvSpPr>
            <a:spLocks noChangeArrowheads="1"/>
          </p:cNvSpPr>
          <p:nvPr/>
        </p:nvSpPr>
        <p:spPr bwMode="auto">
          <a:xfrm>
            <a:off x="3155950" y="2406650"/>
            <a:ext cx="1920106" cy="8783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lIns="90000" tIns="45000" rIns="90000" bIns="45000"/>
          <a:lstStyle/>
          <a:p>
            <a:pPr eaLnBrk="1" hangingPunct="1">
              <a:lnSpc>
                <a:spcPct val="89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8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</a:rPr>
              <a:t>[] 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a;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8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 a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</a:rPr>
              <a:t>[]</a:t>
            </a:r>
            <a:r>
              <a:rPr lang="en-GB" sz="2800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8554080-8BBC-9C44-901E-17AA571B8FB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955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 creation</a:t>
            </a:r>
          </a:p>
        </p:txBody>
      </p:sp>
      <p:sp>
        <p:nvSpPr>
          <p:cNvPr id="1955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12763" y="1176338"/>
            <a:ext cx="8250237" cy="49307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9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600">
                <a:latin typeface="Lucida Sans Unicode" charset="0"/>
                <a:cs typeface="Lucida Sans Unicode" charset="0"/>
              </a:rPr>
              <a:t>Using the </a:t>
            </a:r>
            <a:r>
              <a:rPr lang="en-GB" sz="360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new</a:t>
            </a:r>
            <a:r>
              <a:rPr lang="en-GB" sz="3600" b="1">
                <a:latin typeface="Lucida Sans Unicode" charset="0"/>
                <a:cs typeface="Lucida Sans Unicode" charset="0"/>
              </a:rPr>
              <a:t> </a:t>
            </a:r>
            <a:r>
              <a:rPr lang="en-GB" sz="3600">
                <a:latin typeface="Lucida Sans Unicode" charset="0"/>
                <a:cs typeface="Lucida Sans Unicode" charset="0"/>
              </a:rPr>
              <a:t>operator…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9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600">
                <a:latin typeface="Lucida Sans Unicode" charset="0"/>
                <a:cs typeface="Lucida Sans Unicode" charset="0"/>
              </a:rPr>
              <a:t>…or using </a:t>
            </a:r>
            <a:r>
              <a:rPr lang="en-GB" sz="360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static initialization</a:t>
            </a:r>
            <a:r>
              <a:rPr lang="en-GB" sz="3600">
                <a:latin typeface="Lucida Sans Unicode" charset="0"/>
                <a:cs typeface="Lucida Sans Unicode" charset="0"/>
              </a:rPr>
              <a:t>, filling the array with values</a:t>
            </a:r>
          </a:p>
        </p:txBody>
      </p:sp>
      <p:sp>
        <p:nvSpPr>
          <p:cNvPr id="186372" name="Rectangle 3"/>
          <p:cNvSpPr>
            <a:spLocks noChangeArrowheads="1"/>
          </p:cNvSpPr>
          <p:nvPr/>
        </p:nvSpPr>
        <p:spPr bwMode="auto">
          <a:xfrm>
            <a:off x="1312863" y="2022475"/>
            <a:ext cx="7262812" cy="1181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round/>
            <a:headEnd/>
            <a:tailEnd/>
          </a:ln>
        </p:spPr>
        <p:txBody>
          <a:bodyPr wrap="none" lIns="90000" tIns="45000" rIns="90000" bIns="45000"/>
          <a:lstStyle/>
          <a:p>
            <a:pPr eaLnBrk="1" hangingPunct="1">
              <a:lnSpc>
                <a:spcPct val="89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int[] a;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a = new int[10];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String[] s = new String[5];</a:t>
            </a:r>
          </a:p>
        </p:txBody>
      </p:sp>
      <p:sp>
        <p:nvSpPr>
          <p:cNvPr id="186373" name="Rectangle 4"/>
          <p:cNvSpPr>
            <a:spLocks noChangeArrowheads="1"/>
          </p:cNvSpPr>
          <p:nvPr/>
        </p:nvSpPr>
        <p:spPr bwMode="auto">
          <a:xfrm>
            <a:off x="1354138" y="4722813"/>
            <a:ext cx="7056437" cy="10588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round/>
            <a:headEnd/>
            <a:tailEnd/>
          </a:ln>
        </p:spPr>
        <p:txBody>
          <a:bodyPr wrap="none" lIns="90000" tIns="45000" rIns="90000" bIns="45000"/>
          <a:lstStyle/>
          <a:p>
            <a:pPr eaLnBrk="1" hangingPunct="1">
              <a:lnSpc>
                <a:spcPct val="89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int[] primes = {2,3,5,7,11,13};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Person[] p = { new Person(</a:t>
            </a:r>
            <a:r>
              <a:rPr lang="ja-JP" altLang="en-GB" b="1">
                <a:solidFill>
                  <a:srgbClr val="000000"/>
                </a:solidFill>
                <a:latin typeface="Courier New" charset="0"/>
              </a:rPr>
              <a:t>“</a:t>
            </a:r>
            <a:r>
              <a:rPr lang="en-GB" altLang="ja-JP" b="1">
                <a:solidFill>
                  <a:srgbClr val="000000"/>
                </a:solidFill>
                <a:latin typeface="Courier New" charset="0"/>
              </a:rPr>
              <a:t>John</a:t>
            </a:r>
            <a:r>
              <a:rPr lang="ja-JP" altLang="en-GB" b="1">
                <a:solidFill>
                  <a:srgbClr val="000000"/>
                </a:solidFill>
                <a:latin typeface="Courier New" charset="0"/>
              </a:rPr>
              <a:t>”</a:t>
            </a:r>
            <a:r>
              <a:rPr lang="en-GB" altLang="ja-JP" b="1">
                <a:solidFill>
                  <a:srgbClr val="000000"/>
                </a:solidFill>
                <a:latin typeface="Courier New" charset="0"/>
              </a:rPr>
              <a:t>),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		     new Person(</a:t>
            </a:r>
            <a:r>
              <a:rPr lang="ja-JP" altLang="en-GB" b="1">
                <a:solidFill>
                  <a:srgbClr val="000000"/>
                </a:solidFill>
                <a:latin typeface="Courier New" charset="0"/>
              </a:rPr>
              <a:t>“</a:t>
            </a:r>
            <a:r>
              <a:rPr lang="en-GB" altLang="ja-JP" b="1">
                <a:solidFill>
                  <a:srgbClr val="000000"/>
                </a:solidFill>
                <a:latin typeface="Courier New" charset="0"/>
              </a:rPr>
              <a:t>Susan</a:t>
            </a:r>
            <a:r>
              <a:rPr lang="ja-JP" altLang="en-GB" b="1">
                <a:solidFill>
                  <a:srgbClr val="000000"/>
                </a:solidFill>
                <a:latin typeface="Courier New" charset="0"/>
              </a:rPr>
              <a:t>”</a:t>
            </a:r>
            <a:r>
              <a:rPr lang="en-GB" altLang="ja-JP" b="1">
                <a:solidFill>
                  <a:srgbClr val="000000"/>
                </a:solidFill>
                <a:latin typeface="Courier New" charset="0"/>
              </a:rPr>
              <a:t>) };</a:t>
            </a:r>
            <a:endParaRPr lang="en-GB" b="1">
              <a:solidFill>
                <a:srgbClr val="000000"/>
              </a:solidFill>
              <a:latin typeface="Courier New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2308E28-6D6D-E641-BA51-F6941D794D9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976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- primitive types </a:t>
            </a:r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44550" y="1600200"/>
            <a:ext cx="5414963" cy="4649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[] a;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a = new </a:t>
            </a:r>
            <a:r>
              <a:rPr lang="en-GB" sz="28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[6];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[] primes = {2,3,5,7,11,13};</a:t>
            </a:r>
          </a:p>
        </p:txBody>
      </p:sp>
      <p:sp>
        <p:nvSpPr>
          <p:cNvPr id="197636" name="Rectangle 3"/>
          <p:cNvSpPr>
            <a:spLocks noChangeArrowheads="1"/>
          </p:cNvSpPr>
          <p:nvPr/>
        </p:nvSpPr>
        <p:spPr bwMode="auto">
          <a:xfrm>
            <a:off x="5345113" y="1752600"/>
            <a:ext cx="657225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7637" name="Text Box 4"/>
          <p:cNvSpPr txBox="1">
            <a:spLocks noChangeArrowheads="1"/>
          </p:cNvSpPr>
          <p:nvPr/>
        </p:nvSpPr>
        <p:spPr bwMode="auto">
          <a:xfrm>
            <a:off x="5283200" y="142875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a</a:t>
            </a:r>
          </a:p>
        </p:txBody>
      </p:sp>
      <p:sp>
        <p:nvSpPr>
          <p:cNvPr id="197638" name="Rectangle 5"/>
          <p:cNvSpPr>
            <a:spLocks noChangeArrowheads="1"/>
          </p:cNvSpPr>
          <p:nvPr/>
        </p:nvSpPr>
        <p:spPr bwMode="auto">
          <a:xfrm>
            <a:off x="6259513" y="1676400"/>
            <a:ext cx="2322512" cy="10668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7639" name="Text Box 6"/>
          <p:cNvSpPr txBox="1">
            <a:spLocks noChangeArrowheads="1"/>
          </p:cNvSpPr>
          <p:nvPr/>
        </p:nvSpPr>
        <p:spPr bwMode="auto">
          <a:xfrm>
            <a:off x="6573838" y="1371600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7640" name="Rectangle 7"/>
          <p:cNvSpPr>
            <a:spLocks noChangeArrowheads="1"/>
          </p:cNvSpPr>
          <p:nvPr/>
        </p:nvSpPr>
        <p:spPr bwMode="auto">
          <a:xfrm>
            <a:off x="5416550" y="3352800"/>
            <a:ext cx="561975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7641" name="Rectangle 8"/>
          <p:cNvSpPr>
            <a:spLocks noChangeArrowheads="1"/>
          </p:cNvSpPr>
          <p:nvPr/>
        </p:nvSpPr>
        <p:spPr bwMode="auto">
          <a:xfrm>
            <a:off x="6330950" y="3276600"/>
            <a:ext cx="2179638" cy="11430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7642" name="Text Box 9"/>
          <p:cNvSpPr txBox="1">
            <a:spLocks noChangeArrowheads="1"/>
          </p:cNvSpPr>
          <p:nvPr/>
        </p:nvSpPr>
        <p:spPr bwMode="auto">
          <a:xfrm>
            <a:off x="5405438" y="30480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a</a:t>
            </a:r>
          </a:p>
        </p:txBody>
      </p:sp>
      <p:sp>
        <p:nvSpPr>
          <p:cNvPr id="197643" name="Text Box 10"/>
          <p:cNvSpPr txBox="1">
            <a:spLocks noChangeArrowheads="1"/>
          </p:cNvSpPr>
          <p:nvPr/>
        </p:nvSpPr>
        <p:spPr bwMode="auto">
          <a:xfrm>
            <a:off x="6586538" y="2971800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7644" name="Line 11"/>
          <p:cNvSpPr>
            <a:spLocks noChangeShapeType="1"/>
          </p:cNvSpPr>
          <p:nvPr/>
        </p:nvSpPr>
        <p:spPr bwMode="auto">
          <a:xfrm>
            <a:off x="5838825" y="3429000"/>
            <a:ext cx="984250" cy="1588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429" name="Rectangle 12"/>
          <p:cNvSpPr>
            <a:spLocks noChangeArrowheads="1"/>
          </p:cNvSpPr>
          <p:nvPr/>
        </p:nvSpPr>
        <p:spPr bwMode="auto">
          <a:xfrm>
            <a:off x="6823075" y="41910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88430" name="Rectangle 13"/>
          <p:cNvSpPr>
            <a:spLocks noChangeArrowheads="1"/>
          </p:cNvSpPr>
          <p:nvPr/>
        </p:nvSpPr>
        <p:spPr bwMode="auto">
          <a:xfrm>
            <a:off x="6823075" y="40386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88431" name="Rectangle 14"/>
          <p:cNvSpPr>
            <a:spLocks noChangeArrowheads="1"/>
          </p:cNvSpPr>
          <p:nvPr/>
        </p:nvSpPr>
        <p:spPr bwMode="auto">
          <a:xfrm>
            <a:off x="6823075" y="38862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88432" name="Rectangle 15"/>
          <p:cNvSpPr>
            <a:spLocks noChangeArrowheads="1"/>
          </p:cNvSpPr>
          <p:nvPr/>
        </p:nvSpPr>
        <p:spPr bwMode="auto">
          <a:xfrm>
            <a:off x="6823075" y="37338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88433" name="Rectangle 16"/>
          <p:cNvSpPr>
            <a:spLocks noChangeArrowheads="1"/>
          </p:cNvSpPr>
          <p:nvPr/>
        </p:nvSpPr>
        <p:spPr bwMode="auto">
          <a:xfrm>
            <a:off x="6823075" y="35814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88434" name="Rectangle 17"/>
          <p:cNvSpPr>
            <a:spLocks noChangeArrowheads="1"/>
          </p:cNvSpPr>
          <p:nvPr/>
        </p:nvSpPr>
        <p:spPr bwMode="auto">
          <a:xfrm>
            <a:off x="6823075" y="34290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197651" name="Rectangle 18"/>
          <p:cNvSpPr>
            <a:spLocks noChangeArrowheads="1"/>
          </p:cNvSpPr>
          <p:nvPr/>
        </p:nvSpPr>
        <p:spPr bwMode="auto">
          <a:xfrm>
            <a:off x="5416550" y="5181600"/>
            <a:ext cx="561975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7652" name="Rectangle 19"/>
          <p:cNvSpPr>
            <a:spLocks noChangeArrowheads="1"/>
          </p:cNvSpPr>
          <p:nvPr/>
        </p:nvSpPr>
        <p:spPr bwMode="auto">
          <a:xfrm>
            <a:off x="6330950" y="5105400"/>
            <a:ext cx="2179638" cy="11430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7653" name="Text Box 20"/>
          <p:cNvSpPr txBox="1">
            <a:spLocks noChangeArrowheads="1"/>
          </p:cNvSpPr>
          <p:nvPr/>
        </p:nvSpPr>
        <p:spPr bwMode="auto">
          <a:xfrm>
            <a:off x="5173663" y="487680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primes</a:t>
            </a:r>
          </a:p>
        </p:txBody>
      </p:sp>
      <p:sp>
        <p:nvSpPr>
          <p:cNvPr id="197654" name="Text Box 21"/>
          <p:cNvSpPr txBox="1">
            <a:spLocks noChangeArrowheads="1"/>
          </p:cNvSpPr>
          <p:nvPr/>
        </p:nvSpPr>
        <p:spPr bwMode="auto">
          <a:xfrm>
            <a:off x="6586538" y="4800600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7655" name="Line 22"/>
          <p:cNvSpPr>
            <a:spLocks noChangeShapeType="1"/>
          </p:cNvSpPr>
          <p:nvPr/>
        </p:nvSpPr>
        <p:spPr bwMode="auto">
          <a:xfrm>
            <a:off x="5838825" y="5257800"/>
            <a:ext cx="984250" cy="1588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6" name="Rectangle 23"/>
          <p:cNvSpPr>
            <a:spLocks noChangeArrowheads="1"/>
          </p:cNvSpPr>
          <p:nvPr/>
        </p:nvSpPr>
        <p:spPr bwMode="auto">
          <a:xfrm>
            <a:off x="6823075" y="60198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13</a:t>
            </a:r>
          </a:p>
        </p:txBody>
      </p:sp>
      <p:sp>
        <p:nvSpPr>
          <p:cNvPr id="197657" name="Rectangle 24"/>
          <p:cNvSpPr>
            <a:spLocks noChangeArrowheads="1"/>
          </p:cNvSpPr>
          <p:nvPr/>
        </p:nvSpPr>
        <p:spPr bwMode="auto">
          <a:xfrm>
            <a:off x="6823075" y="58674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11</a:t>
            </a:r>
          </a:p>
        </p:txBody>
      </p:sp>
      <p:sp>
        <p:nvSpPr>
          <p:cNvPr id="197658" name="Rectangle 25"/>
          <p:cNvSpPr>
            <a:spLocks noChangeArrowheads="1"/>
          </p:cNvSpPr>
          <p:nvPr/>
        </p:nvSpPr>
        <p:spPr bwMode="auto">
          <a:xfrm>
            <a:off x="6823075" y="57150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97659" name="Rectangle 26"/>
          <p:cNvSpPr>
            <a:spLocks noChangeArrowheads="1"/>
          </p:cNvSpPr>
          <p:nvPr/>
        </p:nvSpPr>
        <p:spPr bwMode="auto">
          <a:xfrm>
            <a:off x="6823075" y="55626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197660" name="Rectangle 27"/>
          <p:cNvSpPr>
            <a:spLocks noChangeArrowheads="1"/>
          </p:cNvSpPr>
          <p:nvPr/>
        </p:nvSpPr>
        <p:spPr bwMode="auto">
          <a:xfrm>
            <a:off x="6823075" y="54102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197661" name="Rectangle 28"/>
          <p:cNvSpPr>
            <a:spLocks noChangeArrowheads="1"/>
          </p:cNvSpPr>
          <p:nvPr/>
        </p:nvSpPr>
        <p:spPr bwMode="auto">
          <a:xfrm>
            <a:off x="6823075" y="5257800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43CA8D3-11EB-844D-878A-E62525F23EE3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996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- object references </a:t>
            </a:r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11163" y="1471613"/>
            <a:ext cx="541655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String[] s = new String[6];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s[1] = new String(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“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abcd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”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Person[] p =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{new Person(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“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John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”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) 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 new Person(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“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Susan</a:t>
            </a:r>
            <a:r>
              <a:rPr lang="ja-JP" altLang="en-GB" sz="2800" b="1">
                <a:latin typeface="Courier New" charset="0"/>
                <a:cs typeface="Lucida Sans Unicode" charset="0"/>
              </a:rPr>
              <a:t>”</a:t>
            </a:r>
            <a:r>
              <a:rPr lang="en-GB" altLang="ja-JP" sz="2800" b="1">
                <a:latin typeface="Courier New" charset="0"/>
                <a:cs typeface="Lucida Sans Unicode" charset="0"/>
              </a:rPr>
              <a:t>)};</a:t>
            </a:r>
            <a:endParaRPr lang="en-GB" sz="2800" b="1">
              <a:latin typeface="Courier New" charset="0"/>
              <a:cs typeface="Lucida Sans Unicode" charset="0"/>
            </a:endParaRPr>
          </a:p>
        </p:txBody>
      </p:sp>
      <p:sp>
        <p:nvSpPr>
          <p:cNvPr id="199684" name="Rectangle 3"/>
          <p:cNvSpPr>
            <a:spLocks noChangeArrowheads="1"/>
          </p:cNvSpPr>
          <p:nvPr/>
        </p:nvSpPr>
        <p:spPr bwMode="auto">
          <a:xfrm>
            <a:off x="5345113" y="1676400"/>
            <a:ext cx="563562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0469" name="Rectangle 4"/>
          <p:cNvSpPr>
            <a:spLocks noChangeArrowheads="1"/>
          </p:cNvSpPr>
          <p:nvPr/>
        </p:nvSpPr>
        <p:spPr bwMode="auto">
          <a:xfrm>
            <a:off x="6259513" y="1600200"/>
            <a:ext cx="2181225" cy="1143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99686" name="Text Box 5"/>
          <p:cNvSpPr txBox="1">
            <a:spLocks noChangeArrowheads="1"/>
          </p:cNvSpPr>
          <p:nvPr/>
        </p:nvSpPr>
        <p:spPr bwMode="auto">
          <a:xfrm>
            <a:off x="5335588" y="13716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s</a:t>
            </a:r>
          </a:p>
        </p:txBody>
      </p:sp>
      <p:sp>
        <p:nvSpPr>
          <p:cNvPr id="199687" name="Text Box 6"/>
          <p:cNvSpPr txBox="1">
            <a:spLocks noChangeArrowheads="1"/>
          </p:cNvSpPr>
          <p:nvPr/>
        </p:nvSpPr>
        <p:spPr bwMode="auto">
          <a:xfrm>
            <a:off x="6516688" y="1295400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9688" name="Line 7"/>
          <p:cNvSpPr>
            <a:spLocks noChangeShapeType="1"/>
          </p:cNvSpPr>
          <p:nvPr/>
        </p:nvSpPr>
        <p:spPr bwMode="auto">
          <a:xfrm>
            <a:off x="5767388" y="1752600"/>
            <a:ext cx="985837" cy="1588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689" name="Rectangle 8"/>
          <p:cNvSpPr>
            <a:spLocks noChangeArrowheads="1"/>
          </p:cNvSpPr>
          <p:nvPr/>
        </p:nvSpPr>
        <p:spPr bwMode="auto">
          <a:xfrm>
            <a:off x="6753225" y="25146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0" name="Rectangle 9"/>
          <p:cNvSpPr>
            <a:spLocks noChangeArrowheads="1"/>
          </p:cNvSpPr>
          <p:nvPr/>
        </p:nvSpPr>
        <p:spPr bwMode="auto">
          <a:xfrm>
            <a:off x="6753225" y="23622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1" name="Rectangle 10"/>
          <p:cNvSpPr>
            <a:spLocks noChangeArrowheads="1"/>
          </p:cNvSpPr>
          <p:nvPr/>
        </p:nvSpPr>
        <p:spPr bwMode="auto">
          <a:xfrm>
            <a:off x="6753225" y="22098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2" name="Rectangle 11"/>
          <p:cNvSpPr>
            <a:spLocks noChangeArrowheads="1"/>
          </p:cNvSpPr>
          <p:nvPr/>
        </p:nvSpPr>
        <p:spPr bwMode="auto">
          <a:xfrm>
            <a:off x="6753225" y="20574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3" name="Rectangle 12"/>
          <p:cNvSpPr>
            <a:spLocks noChangeArrowheads="1"/>
          </p:cNvSpPr>
          <p:nvPr/>
        </p:nvSpPr>
        <p:spPr bwMode="auto">
          <a:xfrm>
            <a:off x="6753225" y="19050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4" name="Rectangle 13"/>
          <p:cNvSpPr>
            <a:spLocks noChangeArrowheads="1"/>
          </p:cNvSpPr>
          <p:nvPr/>
        </p:nvSpPr>
        <p:spPr bwMode="auto">
          <a:xfrm>
            <a:off x="6753225" y="17526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695" name="Rectangle 14"/>
          <p:cNvSpPr>
            <a:spLocks noChangeArrowheads="1"/>
          </p:cNvSpPr>
          <p:nvPr/>
        </p:nvSpPr>
        <p:spPr bwMode="auto">
          <a:xfrm>
            <a:off x="5395913" y="5237163"/>
            <a:ext cx="561975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0480" name="Rectangle 15"/>
          <p:cNvSpPr>
            <a:spLocks noChangeArrowheads="1"/>
          </p:cNvSpPr>
          <p:nvPr/>
        </p:nvSpPr>
        <p:spPr bwMode="auto">
          <a:xfrm>
            <a:off x="6310313" y="5160963"/>
            <a:ext cx="2179637" cy="990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99697" name="Text Box 16"/>
          <p:cNvSpPr txBox="1">
            <a:spLocks noChangeArrowheads="1"/>
          </p:cNvSpPr>
          <p:nvPr/>
        </p:nvSpPr>
        <p:spPr bwMode="auto">
          <a:xfrm>
            <a:off x="5384800" y="493236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p</a:t>
            </a:r>
          </a:p>
        </p:txBody>
      </p:sp>
      <p:sp>
        <p:nvSpPr>
          <p:cNvPr id="199698" name="Text Box 17"/>
          <p:cNvSpPr txBox="1">
            <a:spLocks noChangeArrowheads="1"/>
          </p:cNvSpPr>
          <p:nvPr/>
        </p:nvSpPr>
        <p:spPr bwMode="auto">
          <a:xfrm>
            <a:off x="6565900" y="4856163"/>
            <a:ext cx="714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9699" name="Line 18"/>
          <p:cNvSpPr>
            <a:spLocks noChangeShapeType="1"/>
          </p:cNvSpPr>
          <p:nvPr/>
        </p:nvSpPr>
        <p:spPr bwMode="auto">
          <a:xfrm>
            <a:off x="5818188" y="5313363"/>
            <a:ext cx="984250" cy="1587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00" name="Rectangle 19"/>
          <p:cNvSpPr>
            <a:spLocks noChangeArrowheads="1"/>
          </p:cNvSpPr>
          <p:nvPr/>
        </p:nvSpPr>
        <p:spPr bwMode="auto">
          <a:xfrm>
            <a:off x="6802438" y="5465763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9701" name="Rectangle 20"/>
          <p:cNvSpPr>
            <a:spLocks noChangeArrowheads="1"/>
          </p:cNvSpPr>
          <p:nvPr/>
        </p:nvSpPr>
        <p:spPr bwMode="auto">
          <a:xfrm>
            <a:off x="6802438" y="5313363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9702" name="Rectangle 21"/>
          <p:cNvSpPr>
            <a:spLocks noChangeArrowheads="1"/>
          </p:cNvSpPr>
          <p:nvPr/>
        </p:nvSpPr>
        <p:spPr bwMode="auto">
          <a:xfrm>
            <a:off x="7575550" y="5313363"/>
            <a:ext cx="492125" cy="4572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00"/>
                </a:solidFill>
                <a:latin typeface="Arial" charset="0"/>
              </a:rPr>
              <a:t>John</a:t>
            </a:r>
          </a:p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703" name="Rectangle 22"/>
          <p:cNvSpPr>
            <a:spLocks noChangeArrowheads="1"/>
          </p:cNvSpPr>
          <p:nvPr/>
        </p:nvSpPr>
        <p:spPr bwMode="auto">
          <a:xfrm>
            <a:off x="7858125" y="5541963"/>
            <a:ext cx="492125" cy="4572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>
                <a:solidFill>
                  <a:srgbClr val="000000"/>
                </a:solidFill>
                <a:latin typeface="Arial" charset="0"/>
              </a:rPr>
              <a:t>Susan</a:t>
            </a:r>
          </a:p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704" name="Line 23"/>
          <p:cNvSpPr>
            <a:spLocks noChangeShapeType="1"/>
          </p:cNvSpPr>
          <p:nvPr/>
        </p:nvSpPr>
        <p:spPr bwMode="auto">
          <a:xfrm>
            <a:off x="7153275" y="5389563"/>
            <a:ext cx="422275" cy="1587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05" name="Line 24"/>
          <p:cNvSpPr>
            <a:spLocks noChangeShapeType="1"/>
          </p:cNvSpPr>
          <p:nvPr/>
        </p:nvSpPr>
        <p:spPr bwMode="auto">
          <a:xfrm>
            <a:off x="7153275" y="5541963"/>
            <a:ext cx="704850" cy="76200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06" name="Rectangle 25"/>
          <p:cNvSpPr>
            <a:spLocks noChangeArrowheads="1"/>
          </p:cNvSpPr>
          <p:nvPr/>
        </p:nvSpPr>
        <p:spPr bwMode="auto">
          <a:xfrm>
            <a:off x="5345113" y="3276600"/>
            <a:ext cx="563562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0491" name="Rectangle 26"/>
          <p:cNvSpPr>
            <a:spLocks noChangeArrowheads="1"/>
          </p:cNvSpPr>
          <p:nvPr/>
        </p:nvSpPr>
        <p:spPr bwMode="auto">
          <a:xfrm>
            <a:off x="6259513" y="3200400"/>
            <a:ext cx="2181225" cy="1143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99708" name="Text Box 27"/>
          <p:cNvSpPr txBox="1">
            <a:spLocks noChangeArrowheads="1"/>
          </p:cNvSpPr>
          <p:nvPr/>
        </p:nvSpPr>
        <p:spPr bwMode="auto">
          <a:xfrm>
            <a:off x="5335588" y="29718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s</a:t>
            </a:r>
          </a:p>
        </p:txBody>
      </p:sp>
      <p:sp>
        <p:nvSpPr>
          <p:cNvPr id="199709" name="Text Box 28"/>
          <p:cNvSpPr txBox="1">
            <a:spLocks noChangeArrowheads="1"/>
          </p:cNvSpPr>
          <p:nvPr/>
        </p:nvSpPr>
        <p:spPr bwMode="auto">
          <a:xfrm>
            <a:off x="6516688" y="2895600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199710" name="Line 29"/>
          <p:cNvSpPr>
            <a:spLocks noChangeShapeType="1"/>
          </p:cNvSpPr>
          <p:nvPr/>
        </p:nvSpPr>
        <p:spPr bwMode="auto">
          <a:xfrm>
            <a:off x="5767388" y="3352800"/>
            <a:ext cx="985837" cy="1588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11" name="Rectangle 30"/>
          <p:cNvSpPr>
            <a:spLocks noChangeArrowheads="1"/>
          </p:cNvSpPr>
          <p:nvPr/>
        </p:nvSpPr>
        <p:spPr bwMode="auto">
          <a:xfrm>
            <a:off x="6753225" y="41148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712" name="Rectangle 31"/>
          <p:cNvSpPr>
            <a:spLocks noChangeArrowheads="1"/>
          </p:cNvSpPr>
          <p:nvPr/>
        </p:nvSpPr>
        <p:spPr bwMode="auto">
          <a:xfrm>
            <a:off x="6753225" y="39624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713" name="Rectangle 32"/>
          <p:cNvSpPr>
            <a:spLocks noChangeArrowheads="1"/>
          </p:cNvSpPr>
          <p:nvPr/>
        </p:nvSpPr>
        <p:spPr bwMode="auto">
          <a:xfrm>
            <a:off x="6753225" y="38100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714" name="Rectangle 33"/>
          <p:cNvSpPr>
            <a:spLocks noChangeArrowheads="1"/>
          </p:cNvSpPr>
          <p:nvPr/>
        </p:nvSpPr>
        <p:spPr bwMode="auto">
          <a:xfrm>
            <a:off x="6753225" y="36576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715" name="Rectangle 34"/>
          <p:cNvSpPr>
            <a:spLocks noChangeArrowheads="1"/>
          </p:cNvSpPr>
          <p:nvPr/>
        </p:nvSpPr>
        <p:spPr bwMode="auto">
          <a:xfrm>
            <a:off x="6753225" y="35052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99716" name="Rectangle 35"/>
          <p:cNvSpPr>
            <a:spLocks noChangeArrowheads="1"/>
          </p:cNvSpPr>
          <p:nvPr/>
        </p:nvSpPr>
        <p:spPr bwMode="auto">
          <a:xfrm>
            <a:off x="6753225" y="3352800"/>
            <a:ext cx="420688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199717" name="Rectangle 36"/>
          <p:cNvSpPr>
            <a:spLocks noChangeArrowheads="1"/>
          </p:cNvSpPr>
          <p:nvPr/>
        </p:nvSpPr>
        <p:spPr bwMode="auto">
          <a:xfrm>
            <a:off x="7526338" y="3505200"/>
            <a:ext cx="633412" cy="304800"/>
          </a:xfrm>
          <a:prstGeom prst="rect">
            <a:avLst/>
          </a:prstGeom>
          <a:solidFill>
            <a:srgbClr val="FCD5B5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ja-JP" altLang="en-GB" sz="1400" b="1">
                <a:solidFill>
                  <a:srgbClr val="000000"/>
                </a:solidFill>
                <a:latin typeface="Arial" charset="0"/>
              </a:rPr>
              <a:t>“</a:t>
            </a:r>
            <a:r>
              <a:rPr lang="en-GB" altLang="ja-JP" sz="1400" b="1">
                <a:solidFill>
                  <a:srgbClr val="000000"/>
                </a:solidFill>
                <a:latin typeface="Arial" charset="0"/>
              </a:rPr>
              <a:t>abcd</a:t>
            </a:r>
            <a:r>
              <a:rPr lang="ja-JP" altLang="en-GB" sz="1400" b="1">
                <a:solidFill>
                  <a:srgbClr val="000000"/>
                </a:solidFill>
                <a:latin typeface="Arial" charset="0"/>
              </a:rPr>
              <a:t>”</a:t>
            </a:r>
            <a:endParaRPr lang="en-GB" sz="1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718" name="Line 37"/>
          <p:cNvSpPr>
            <a:spLocks noChangeShapeType="1"/>
          </p:cNvSpPr>
          <p:nvPr/>
        </p:nvSpPr>
        <p:spPr bwMode="auto">
          <a:xfrm>
            <a:off x="7104063" y="3581400"/>
            <a:ext cx="422275" cy="1588"/>
          </a:xfrm>
          <a:prstGeom prst="line">
            <a:avLst/>
          </a:prstGeom>
          <a:noFill/>
          <a:ln w="19080">
            <a:solidFill>
              <a:srgbClr val="E46C0A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33C4E08-E413-BA4A-A17F-9A859DE5340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17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Operations on arrays </a:t>
            </a:r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Elements are selected with brackets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[ ]</a:t>
            </a:r>
            <a:r>
              <a:rPr lang="en-GB">
                <a:latin typeface="Lucida Sans Unicode" charset="0"/>
                <a:cs typeface="Lucida Sans Unicode" charset="0"/>
              </a:rPr>
              <a:t> (C-like)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But Java makes </a:t>
            </a:r>
            <a:r>
              <a:rPr lang="en-GB" b="1">
                <a:latin typeface="Lucida Sans Unicode" charset="0"/>
                <a:ea typeface="Lucida Sans Unicode" charset="0"/>
                <a:cs typeface="Lucida Sans Unicode" charset="0"/>
              </a:rPr>
              <a:t>bounds checking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Array length (number of elements) is given by attribute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length</a:t>
            </a:r>
          </a:p>
        </p:txBody>
      </p:sp>
      <p:sp>
        <p:nvSpPr>
          <p:cNvPr id="201732" name="Rectangle 3"/>
          <p:cNvSpPr>
            <a:spLocks noChangeArrowheads="1"/>
          </p:cNvSpPr>
          <p:nvPr/>
        </p:nvSpPr>
        <p:spPr bwMode="auto">
          <a:xfrm>
            <a:off x="1544638" y="4871814"/>
            <a:ext cx="6223000" cy="933450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 anchor="ctr"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 (int i=0; i &lt; a.length; i++)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a[i] = i;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1B2B705-3F71-DD44-A2F0-A17F58F3A41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37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Operations on arrays </a:t>
            </a:r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An array reference is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not</a:t>
            </a:r>
            <a:r>
              <a:rPr lang="en-GB">
                <a:latin typeface="Lucida Sans Unicode" charset="0"/>
                <a:cs typeface="Lucida Sans Unicode" charset="0"/>
              </a:rPr>
              <a:t> a pointer to the first element of the array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It is a pointer to the array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object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Arithmetic on pointers does not exist in Java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EC5DCA9-DB98-6341-9AD7-B740DBB0420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58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79388"/>
            <a:ext cx="8913813" cy="860425"/>
          </a:xfrm>
        </p:spPr>
        <p:txBody>
          <a:bodyPr lIns="0" tIns="0" rIns="0" bIns="0" anchor="ctr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For each</a:t>
            </a:r>
          </a:p>
        </p:txBody>
      </p:sp>
      <p:sp>
        <p:nvSpPr>
          <p:cNvPr id="2058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0225" cy="4727575"/>
          </a:xfrm>
        </p:spPr>
        <p:txBody>
          <a:bodyPr lIns="0" tIns="0" rIns="0" bIns="0"/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New loop construct: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  </a:t>
            </a:r>
            <a:r>
              <a:rPr lang="en-GB" sz="28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for( </a:t>
            </a:r>
            <a:r>
              <a:rPr lang="en-GB" sz="2800" b="1" i="1">
                <a:latin typeface="Courier New" charset="0"/>
                <a:cs typeface="Lucida Sans Unicode" charset="0"/>
              </a:rPr>
              <a:t>Type</a:t>
            </a:r>
            <a:r>
              <a:rPr lang="en-GB" sz="2800" b="1">
                <a:latin typeface="Courier New" charset="0"/>
                <a:cs typeface="Lucida Sans Unicode" charset="0"/>
              </a:rPr>
              <a:t> </a:t>
            </a:r>
            <a:r>
              <a:rPr lang="en-GB" sz="2800" b="1" i="1">
                <a:latin typeface="Courier New" charset="0"/>
                <a:cs typeface="Lucida Sans Unicode" charset="0"/>
              </a:rPr>
              <a:t>var </a:t>
            </a:r>
            <a:r>
              <a:rPr lang="en-GB" sz="2800" b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:</a:t>
            </a:r>
            <a:r>
              <a:rPr lang="en-GB" sz="2800" b="1">
                <a:latin typeface="Courier New" charset="0"/>
                <a:cs typeface="Lucida Sans Unicode" charset="0"/>
              </a:rPr>
              <a:t> </a:t>
            </a:r>
            <a:r>
              <a:rPr lang="en-GB" sz="2800" b="1" i="1">
                <a:latin typeface="Courier New" charset="0"/>
                <a:cs typeface="Lucida Sans Unicode" charset="0"/>
              </a:rPr>
              <a:t>set_expression</a:t>
            </a:r>
            <a:r>
              <a:rPr lang="en-GB" sz="2800" b="1">
                <a:latin typeface="Courier New" charset="0"/>
                <a:cs typeface="Lucida Sans Unicode" charset="0"/>
              </a:rPr>
              <a:t> </a:t>
            </a:r>
            <a:r>
              <a:rPr lang="en-GB" sz="28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)</a:t>
            </a:r>
          </a:p>
          <a:p>
            <a:pPr lvl="1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Very compact notation</a:t>
            </a:r>
          </a:p>
          <a:p>
            <a:pPr lvl="1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>
                <a:latin typeface="Lucida Sans Unicode" charset="0"/>
                <a:ea typeface="Lucida Sans Unicode" charset="0"/>
                <a:cs typeface="Lucida Sans Unicode" charset="0"/>
              </a:rPr>
              <a:t>set_expression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can be</a:t>
            </a:r>
          </a:p>
          <a:p>
            <a:pPr lvl="2" eaLnBrk="1" hangingPunct="1">
              <a:lnSpc>
                <a:spcPct val="10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either an array</a:t>
            </a:r>
          </a:p>
          <a:p>
            <a:pPr lvl="2" eaLnBrk="1" hangingPunct="1">
              <a:lnSpc>
                <a:spcPct val="10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 class implementing 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Iterable</a:t>
            </a:r>
          </a:p>
          <a:p>
            <a:pPr lvl="1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The compiler can generate automatically the loop with correct indexes</a:t>
            </a:r>
          </a:p>
          <a:p>
            <a:pPr lvl="2" eaLnBrk="1" hangingPunct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Less error prone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971600" y="3789040"/>
            <a:ext cx="7200800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971600" y="1844824"/>
            <a:ext cx="5904656" cy="151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787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4FD65D-2B66-994F-A4F9-6B70D7276F4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109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78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79388"/>
            <a:ext cx="8913813" cy="860425"/>
          </a:xfrm>
        </p:spPr>
        <p:txBody>
          <a:bodyPr lIns="0" tIns="0" rIns="0" bIns="0" anchor="ctr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For each - example</a:t>
            </a:r>
          </a:p>
        </p:txBody>
      </p:sp>
      <p:sp>
        <p:nvSpPr>
          <p:cNvPr id="2078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0225" cy="4940300"/>
          </a:xfrm>
        </p:spPr>
        <p:txBody>
          <a:bodyPr lIns="0" tIns="0" rIns="0" bIns="0"/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Example: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for</a:t>
            </a:r>
            <a:r>
              <a:rPr lang="en-GB" sz="2800" b="1" dirty="0">
                <a:latin typeface="Courier New" charset="0"/>
                <a:cs typeface="Lucida Sans Unicode" charset="0"/>
              </a:rPr>
              <a:t>(String </a:t>
            </a:r>
            <a:r>
              <a:rPr lang="en-GB" sz="2800" b="1" dirty="0" err="1" smtClean="0">
                <a:latin typeface="Courier New" charset="0"/>
                <a:cs typeface="Lucida Sans Unicode" charset="0"/>
              </a:rPr>
              <a:t>arg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: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800" b="1" dirty="0">
                <a:latin typeface="Courier New" charset="0"/>
                <a:cs typeface="Lucida Sans Unicode" charset="0"/>
              </a:rPr>
              <a:t>){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  //...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}</a:t>
            </a:r>
          </a:p>
          <a:p>
            <a:pPr lvl="1" eaLnBrk="1" hangingPunct="1">
              <a:lnSpc>
                <a:spcPct val="9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is equivalent to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for(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800" b="1" dirty="0">
                <a:latin typeface="Courier New" charset="0"/>
                <a:cs typeface="Lucida Sans Unicode" charset="0"/>
              </a:rPr>
              <a:t>=0;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800" b="1" dirty="0">
                <a:latin typeface="Courier New" charset="0"/>
                <a:cs typeface="Lucida Sans Unicode" charset="0"/>
              </a:rPr>
              <a:t>&lt;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args.length</a:t>
            </a:r>
            <a:r>
              <a:rPr lang="en-GB" sz="2800" b="1" dirty="0">
                <a:latin typeface="Courier New" charset="0"/>
                <a:cs typeface="Lucida Sans Unicode" charset="0"/>
              </a:rPr>
              <a:t>;++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800" b="1" dirty="0">
                <a:latin typeface="Courier New" charset="0"/>
                <a:cs typeface="Lucida Sans Unicode" charset="0"/>
              </a:rPr>
              <a:t>){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		  String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arg</a:t>
            </a:r>
            <a:r>
              <a:rPr lang="en-GB" sz="2800" b="1" dirty="0">
                <a:latin typeface="Courier New" charset="0"/>
                <a:cs typeface="Lucida Sans Unicode" charset="0"/>
              </a:rPr>
              <a:t>=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800" b="1" dirty="0">
                <a:latin typeface="Courier New" charset="0"/>
                <a:cs typeface="Lucida Sans Unicode" charset="0"/>
              </a:rPr>
              <a:t>[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i</a:t>
            </a:r>
            <a:r>
              <a:rPr lang="en-GB" sz="2800" b="1" dirty="0">
                <a:latin typeface="Courier New" charset="0"/>
                <a:cs typeface="Lucida Sans Unicode" charset="0"/>
              </a:rPr>
              <a:t>];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  //...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  }</a:t>
            </a:r>
          </a:p>
          <a:p>
            <a:pPr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A5F2D1A-BE04-9349-8761-58BC6818815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099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Homework</a:t>
            </a:r>
          </a:p>
        </p:txBody>
      </p:sp>
      <p:sp>
        <p:nvSpPr>
          <p:cNvPr id="2099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Create an object representing an ordered list of integer numbers (at most 100)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print()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prints current list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add(int) and add(int[])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Adds the new number(s) to the list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D229D60-8741-EE43-8294-C41348B1D2D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119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Multidimensional array</a:t>
            </a:r>
          </a:p>
        </p:txBody>
      </p:sp>
      <p:sp>
        <p:nvSpPr>
          <p:cNvPr id="21197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Implemented as array of arrays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Person[][] table = new Person[2][3];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table[0][2] = new Person(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“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Mary</a:t>
            </a:r>
            <a:r>
              <a:rPr lang="ja-JP" altLang="en-GB" sz="2400" b="1">
                <a:latin typeface="Courier New" charset="0"/>
                <a:ea typeface="Lucida Sans Unicode" charset="0"/>
                <a:cs typeface="Lucida Sans Unicode" charset="0"/>
              </a:rPr>
              <a:t>”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);</a:t>
            </a:r>
            <a:endParaRPr lang="en-GB" sz="2400" b="1"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202756" name="Rectangle 3"/>
          <p:cNvSpPr>
            <a:spLocks noChangeArrowheads="1"/>
          </p:cNvSpPr>
          <p:nvPr/>
        </p:nvSpPr>
        <p:spPr bwMode="auto">
          <a:xfrm>
            <a:off x="2281238" y="4448175"/>
            <a:ext cx="561975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11973" name="Rectangle 4"/>
          <p:cNvSpPr>
            <a:spLocks noChangeArrowheads="1"/>
          </p:cNvSpPr>
          <p:nvPr/>
        </p:nvSpPr>
        <p:spPr bwMode="auto">
          <a:xfrm>
            <a:off x="3195638" y="4371975"/>
            <a:ext cx="3375025" cy="1143000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11974" name="Line 5"/>
          <p:cNvSpPr>
            <a:spLocks noChangeShapeType="1"/>
          </p:cNvSpPr>
          <p:nvPr/>
        </p:nvSpPr>
        <p:spPr bwMode="auto">
          <a:xfrm>
            <a:off x="2703513" y="4524375"/>
            <a:ext cx="9842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59" name="Rectangle 6"/>
          <p:cNvSpPr>
            <a:spLocks noChangeArrowheads="1"/>
          </p:cNvSpPr>
          <p:nvPr/>
        </p:nvSpPr>
        <p:spPr bwMode="auto">
          <a:xfrm>
            <a:off x="3687763" y="46767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02760" name="Rectangle 7"/>
          <p:cNvSpPr>
            <a:spLocks noChangeArrowheads="1"/>
          </p:cNvSpPr>
          <p:nvPr/>
        </p:nvSpPr>
        <p:spPr bwMode="auto">
          <a:xfrm>
            <a:off x="3687763" y="45243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11977" name="Line 8"/>
          <p:cNvSpPr>
            <a:spLocks noChangeShapeType="1"/>
          </p:cNvSpPr>
          <p:nvPr/>
        </p:nvSpPr>
        <p:spPr bwMode="auto">
          <a:xfrm>
            <a:off x="3968750" y="4752975"/>
            <a:ext cx="492125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978" name="Text Box 9"/>
          <p:cNvSpPr txBox="1">
            <a:spLocks noChangeArrowheads="1"/>
          </p:cNvSpPr>
          <p:nvPr/>
        </p:nvSpPr>
        <p:spPr bwMode="auto">
          <a:xfrm>
            <a:off x="2141538" y="4160838"/>
            <a:ext cx="790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600" b="1">
                <a:solidFill>
                  <a:srgbClr val="000000"/>
                </a:solidFill>
                <a:latin typeface="Courier New" charset="0"/>
              </a:rPr>
              <a:t>table</a:t>
            </a:r>
          </a:p>
        </p:txBody>
      </p:sp>
      <p:sp>
        <p:nvSpPr>
          <p:cNvPr id="202763" name="Rectangle 10"/>
          <p:cNvSpPr>
            <a:spLocks noChangeArrowheads="1"/>
          </p:cNvSpPr>
          <p:nvPr/>
        </p:nvSpPr>
        <p:spPr bwMode="auto">
          <a:xfrm>
            <a:off x="4953000" y="48291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02764" name="Rectangle 11"/>
          <p:cNvSpPr>
            <a:spLocks noChangeArrowheads="1"/>
          </p:cNvSpPr>
          <p:nvPr/>
        </p:nvSpPr>
        <p:spPr bwMode="auto">
          <a:xfrm>
            <a:off x="4953000" y="46767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2765" name="Rectangle 12"/>
          <p:cNvSpPr>
            <a:spLocks noChangeArrowheads="1"/>
          </p:cNvSpPr>
          <p:nvPr/>
        </p:nvSpPr>
        <p:spPr bwMode="auto">
          <a:xfrm>
            <a:off x="4953000" y="45243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2766" name="Rectangle 13"/>
          <p:cNvSpPr>
            <a:spLocks noChangeArrowheads="1"/>
          </p:cNvSpPr>
          <p:nvPr/>
        </p:nvSpPr>
        <p:spPr bwMode="auto">
          <a:xfrm>
            <a:off x="4460875" y="50577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2767" name="Rectangle 14"/>
          <p:cNvSpPr>
            <a:spLocks noChangeArrowheads="1"/>
          </p:cNvSpPr>
          <p:nvPr/>
        </p:nvSpPr>
        <p:spPr bwMode="auto">
          <a:xfrm>
            <a:off x="4460875" y="49053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2768" name="Rectangle 15"/>
          <p:cNvSpPr>
            <a:spLocks noChangeArrowheads="1"/>
          </p:cNvSpPr>
          <p:nvPr/>
        </p:nvSpPr>
        <p:spPr bwMode="auto">
          <a:xfrm>
            <a:off x="4460875" y="4752975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11985" name="Line 16"/>
          <p:cNvSpPr>
            <a:spLocks noChangeShapeType="1"/>
          </p:cNvSpPr>
          <p:nvPr/>
        </p:nvSpPr>
        <p:spPr bwMode="auto">
          <a:xfrm>
            <a:off x="3968750" y="4600575"/>
            <a:ext cx="9842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70" name="Rectangle 17"/>
          <p:cNvSpPr>
            <a:spLocks noChangeArrowheads="1"/>
          </p:cNvSpPr>
          <p:nvPr/>
        </p:nvSpPr>
        <p:spPr bwMode="auto">
          <a:xfrm>
            <a:off x="5656263" y="4829175"/>
            <a:ext cx="633412" cy="304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ja-JP" altLang="en-GB" sz="1400" b="1">
                <a:solidFill>
                  <a:srgbClr val="000000"/>
                </a:solidFill>
                <a:latin typeface="Arial" charset="0"/>
              </a:rPr>
              <a:t>“</a:t>
            </a:r>
            <a:r>
              <a:rPr lang="en-GB" altLang="ja-JP" sz="1400" b="1">
                <a:solidFill>
                  <a:srgbClr val="000000"/>
                </a:solidFill>
                <a:latin typeface="Arial" charset="0"/>
              </a:rPr>
              <a:t>Mary</a:t>
            </a:r>
            <a:r>
              <a:rPr lang="ja-JP" altLang="en-GB" sz="1400" b="1">
                <a:solidFill>
                  <a:srgbClr val="000000"/>
                </a:solidFill>
                <a:latin typeface="Arial" charset="0"/>
              </a:rPr>
              <a:t>”</a:t>
            </a:r>
            <a:endParaRPr lang="en-GB" sz="1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1987" name="Line 18"/>
          <p:cNvSpPr>
            <a:spLocks noChangeShapeType="1"/>
          </p:cNvSpPr>
          <p:nvPr/>
        </p:nvSpPr>
        <p:spPr bwMode="auto">
          <a:xfrm>
            <a:off x="5233988" y="4905375"/>
            <a:ext cx="422275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988" name="Text Box 19"/>
          <p:cNvSpPr txBox="1">
            <a:spLocks noChangeArrowheads="1"/>
          </p:cNvSpPr>
          <p:nvPr/>
        </p:nvSpPr>
        <p:spPr bwMode="auto">
          <a:xfrm>
            <a:off x="3124200" y="4067175"/>
            <a:ext cx="714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211989" name="Line 20"/>
          <p:cNvSpPr>
            <a:spLocks noChangeShapeType="1"/>
          </p:cNvSpPr>
          <p:nvPr/>
        </p:nvSpPr>
        <p:spPr bwMode="auto">
          <a:xfrm flipH="1">
            <a:off x="2546350" y="4629150"/>
            <a:ext cx="1144588" cy="581025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990" name="Text Box 21"/>
          <p:cNvSpPr txBox="1">
            <a:spLocks noChangeArrowheads="1"/>
          </p:cNvSpPr>
          <p:nvPr/>
        </p:nvSpPr>
        <p:spPr bwMode="auto">
          <a:xfrm>
            <a:off x="1712913" y="5114925"/>
            <a:ext cx="1277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table[0]</a:t>
            </a:r>
          </a:p>
        </p:txBody>
      </p:sp>
      <p:sp>
        <p:nvSpPr>
          <p:cNvPr id="211991" name="Line 22"/>
          <p:cNvSpPr>
            <a:spLocks noChangeShapeType="1"/>
          </p:cNvSpPr>
          <p:nvPr/>
        </p:nvSpPr>
        <p:spPr bwMode="auto">
          <a:xfrm flipH="1">
            <a:off x="5349875" y="4237038"/>
            <a:ext cx="1123950" cy="674687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992" name="Text Box 23"/>
          <p:cNvSpPr txBox="1">
            <a:spLocks noChangeArrowheads="1"/>
          </p:cNvSpPr>
          <p:nvPr/>
        </p:nvSpPr>
        <p:spPr bwMode="auto">
          <a:xfrm>
            <a:off x="6300788" y="3990975"/>
            <a:ext cx="169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800" b="1">
                <a:solidFill>
                  <a:srgbClr val="000000"/>
                </a:solidFill>
                <a:latin typeface="Courier New" charset="0"/>
              </a:rPr>
              <a:t>table[0][2]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7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9021B0A-73BA-7F4F-8A1C-302566397E5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140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Rows and columns</a:t>
            </a:r>
          </a:p>
        </p:txBody>
      </p:sp>
      <p:sp>
        <p:nvSpPr>
          <p:cNvPr id="21401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As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rows</a:t>
            </a:r>
            <a:r>
              <a:rPr lang="en-GB">
                <a:latin typeface="Lucida Sans Unicode" charset="0"/>
                <a:cs typeface="Lucida Sans Unicode" charset="0"/>
              </a:rPr>
              <a:t> are </a:t>
            </a:r>
            <a:r>
              <a:rPr lang="en-GB" u="sng">
                <a:latin typeface="Lucida Sans Unicode" charset="0"/>
                <a:cs typeface="Lucida Sans Unicode" charset="0"/>
              </a:rPr>
              <a:t>not</a:t>
            </a:r>
            <a:r>
              <a:rPr lang="en-GB">
                <a:latin typeface="Lucida Sans Unicode" charset="0"/>
                <a:cs typeface="Lucida Sans Unicode" charset="0"/>
              </a:rPr>
              <a:t> stored in adjacent positions in memory they can be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easily exchanged</a:t>
            </a:r>
          </a:p>
        </p:txBody>
      </p:sp>
      <p:sp>
        <p:nvSpPr>
          <p:cNvPr id="204804" name="Rectangle 3"/>
          <p:cNvSpPr>
            <a:spLocks noChangeArrowheads="1"/>
          </p:cNvSpPr>
          <p:nvPr/>
        </p:nvSpPr>
        <p:spPr bwMode="auto">
          <a:xfrm>
            <a:off x="847725" y="3543300"/>
            <a:ext cx="7540625" cy="1971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 anchor="ctr"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double[][] balance = new double[5][6];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double[] temp = balance[i];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balance[i] = balance[j];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balance[j] = temp;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77996D-5973-4940-939F-CCE3E645F74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160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Rows with different length</a:t>
            </a:r>
          </a:p>
        </p:txBody>
      </p:sp>
      <p:sp>
        <p:nvSpPr>
          <p:cNvPr id="2160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22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3600">
                <a:latin typeface="Lucida Sans Unicode" charset="0"/>
                <a:cs typeface="Lucida Sans Unicode" charset="0"/>
              </a:rPr>
              <a:t>A matrix (bidimensional array) is indeed an array of arrays</a:t>
            </a:r>
            <a:endParaRPr lang="en-US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latin typeface="Courier New" charset="0"/>
                <a:ea typeface="ＭＳ Ｐゴシック" charset="0"/>
                <a:cs typeface="ＭＳ Ｐゴシック" charset="0"/>
              </a:rPr>
              <a:t>int[][] triangle = new int[3][] </a:t>
            </a: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2400" b="1">
              <a:latin typeface="Courier New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latin typeface="Courier New" charset="0"/>
                <a:ea typeface="ＭＳ Ｐゴシック" charset="0"/>
                <a:cs typeface="ＭＳ Ｐゴシック" charset="0"/>
              </a:rPr>
              <a:t>for (int i=0; i&lt; triangle.length; i++)</a:t>
            </a: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>
                <a:latin typeface="Courier New" charset="0"/>
                <a:ea typeface="ＭＳ Ｐゴシック" charset="0"/>
                <a:cs typeface="ＭＳ Ｐゴシック" charset="0"/>
              </a:rPr>
              <a:t>    triangle[i] = new int[i+1];</a:t>
            </a:r>
          </a:p>
          <a:p>
            <a:pPr lvl="1" eaLnBrk="1" hangingPunct="1">
              <a:lnSpc>
                <a:spcPct val="100000"/>
              </a:lnSpc>
              <a:spcBef>
                <a:spcPts val="225"/>
              </a:spcBef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206852" name="Rectangle 3"/>
          <p:cNvSpPr>
            <a:spLocks noChangeArrowheads="1"/>
          </p:cNvSpPr>
          <p:nvPr/>
        </p:nvSpPr>
        <p:spPr bwMode="auto">
          <a:xfrm>
            <a:off x="4348163" y="3276600"/>
            <a:ext cx="563562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06853" name="Rectangle 4"/>
          <p:cNvSpPr>
            <a:spLocks noChangeArrowheads="1"/>
          </p:cNvSpPr>
          <p:nvPr/>
        </p:nvSpPr>
        <p:spPr bwMode="auto">
          <a:xfrm>
            <a:off x="5262563" y="3200400"/>
            <a:ext cx="3376612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16070" name="Line 5"/>
          <p:cNvSpPr>
            <a:spLocks noChangeShapeType="1"/>
          </p:cNvSpPr>
          <p:nvPr/>
        </p:nvSpPr>
        <p:spPr bwMode="auto">
          <a:xfrm>
            <a:off x="4770438" y="3352800"/>
            <a:ext cx="9842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71" name="Text Box 6"/>
          <p:cNvSpPr txBox="1">
            <a:spLocks noChangeArrowheads="1"/>
          </p:cNvSpPr>
          <p:nvPr/>
        </p:nvSpPr>
        <p:spPr bwMode="auto">
          <a:xfrm>
            <a:off x="4029075" y="2989263"/>
            <a:ext cx="1157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600" b="1">
                <a:solidFill>
                  <a:srgbClr val="000000"/>
                </a:solidFill>
                <a:latin typeface="Courier New" charset="0"/>
              </a:rPr>
              <a:t>triangle</a:t>
            </a:r>
          </a:p>
        </p:txBody>
      </p:sp>
      <p:sp>
        <p:nvSpPr>
          <p:cNvPr id="206856" name="Rectangle 7"/>
          <p:cNvSpPr>
            <a:spLocks noChangeArrowheads="1"/>
          </p:cNvSpPr>
          <p:nvPr/>
        </p:nvSpPr>
        <p:spPr bwMode="auto">
          <a:xfrm>
            <a:off x="5754688" y="36576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6857" name="Rectangle 8"/>
          <p:cNvSpPr>
            <a:spLocks noChangeArrowheads="1"/>
          </p:cNvSpPr>
          <p:nvPr/>
        </p:nvSpPr>
        <p:spPr bwMode="auto">
          <a:xfrm>
            <a:off x="5754688" y="35052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06858" name="Rectangle 9"/>
          <p:cNvSpPr>
            <a:spLocks noChangeArrowheads="1"/>
          </p:cNvSpPr>
          <p:nvPr/>
        </p:nvSpPr>
        <p:spPr bwMode="auto">
          <a:xfrm>
            <a:off x="5754688" y="3352800"/>
            <a:ext cx="422275" cy="15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null</a:t>
            </a:r>
          </a:p>
        </p:txBody>
      </p:sp>
      <p:sp>
        <p:nvSpPr>
          <p:cNvPr id="216075" name="Text Box 10"/>
          <p:cNvSpPr txBox="1">
            <a:spLocks noChangeArrowheads="1"/>
          </p:cNvSpPr>
          <p:nvPr/>
        </p:nvSpPr>
        <p:spPr bwMode="auto">
          <a:xfrm>
            <a:off x="7775575" y="3671888"/>
            <a:ext cx="714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buFont typeface="Arial" charset="0"/>
              <a:buNone/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heap</a:t>
            </a:r>
          </a:p>
        </p:txBody>
      </p:sp>
      <p:sp>
        <p:nvSpPr>
          <p:cNvPr id="216076" name="Rectangle 11"/>
          <p:cNvSpPr>
            <a:spLocks noChangeArrowheads="1"/>
          </p:cNvSpPr>
          <p:nvPr/>
        </p:nvSpPr>
        <p:spPr bwMode="auto">
          <a:xfrm>
            <a:off x="4313238" y="5356225"/>
            <a:ext cx="563562" cy="228600"/>
          </a:xfrm>
          <a:prstGeom prst="rect">
            <a:avLst/>
          </a:prstGeom>
          <a:solidFill>
            <a:srgbClr val="FCD5B5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6861" name="Rectangle 12"/>
          <p:cNvSpPr>
            <a:spLocks noChangeArrowheads="1"/>
          </p:cNvSpPr>
          <p:nvPr/>
        </p:nvSpPr>
        <p:spPr bwMode="auto">
          <a:xfrm>
            <a:off x="5227638" y="5280025"/>
            <a:ext cx="3376612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216078" name="Line 13"/>
          <p:cNvSpPr>
            <a:spLocks noChangeShapeType="1"/>
          </p:cNvSpPr>
          <p:nvPr/>
        </p:nvSpPr>
        <p:spPr bwMode="auto">
          <a:xfrm>
            <a:off x="4735513" y="5432425"/>
            <a:ext cx="9842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79" name="Text Box 14"/>
          <p:cNvSpPr txBox="1">
            <a:spLocks noChangeArrowheads="1"/>
          </p:cNvSpPr>
          <p:nvPr/>
        </p:nvSpPr>
        <p:spPr bwMode="auto">
          <a:xfrm>
            <a:off x="3992563" y="5051425"/>
            <a:ext cx="1157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Courier New" charset="0"/>
              <a:buNone/>
            </a:pPr>
            <a:r>
              <a:rPr lang="en-GB" sz="1600" b="1">
                <a:solidFill>
                  <a:srgbClr val="000000"/>
                </a:solidFill>
                <a:latin typeface="Courier New" charset="0"/>
              </a:rPr>
              <a:t>triangle</a:t>
            </a:r>
          </a:p>
        </p:txBody>
      </p:sp>
      <p:sp>
        <p:nvSpPr>
          <p:cNvPr id="216080" name="Rectangle 15"/>
          <p:cNvSpPr>
            <a:spLocks noChangeArrowheads="1"/>
          </p:cNvSpPr>
          <p:nvPr/>
        </p:nvSpPr>
        <p:spPr bwMode="auto">
          <a:xfrm>
            <a:off x="5719763" y="57372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16081" name="Rectangle 16"/>
          <p:cNvSpPr>
            <a:spLocks noChangeArrowheads="1"/>
          </p:cNvSpPr>
          <p:nvPr/>
        </p:nvSpPr>
        <p:spPr bwMode="auto">
          <a:xfrm>
            <a:off x="5719763" y="55848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16082" name="Rectangle 17"/>
          <p:cNvSpPr>
            <a:spLocks noChangeArrowheads="1"/>
          </p:cNvSpPr>
          <p:nvPr/>
        </p:nvSpPr>
        <p:spPr bwMode="auto">
          <a:xfrm>
            <a:off x="5719763" y="54324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16083" name="Rectangle 18"/>
          <p:cNvSpPr>
            <a:spLocks noChangeArrowheads="1"/>
          </p:cNvSpPr>
          <p:nvPr/>
        </p:nvSpPr>
        <p:spPr bwMode="auto">
          <a:xfrm>
            <a:off x="7267575" y="54324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4" name="Rectangle 19"/>
          <p:cNvSpPr>
            <a:spLocks noChangeArrowheads="1"/>
          </p:cNvSpPr>
          <p:nvPr/>
        </p:nvSpPr>
        <p:spPr bwMode="auto">
          <a:xfrm>
            <a:off x="6916738" y="56610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5" name="Rectangle 20"/>
          <p:cNvSpPr>
            <a:spLocks noChangeArrowheads="1"/>
          </p:cNvSpPr>
          <p:nvPr/>
        </p:nvSpPr>
        <p:spPr bwMode="auto">
          <a:xfrm>
            <a:off x="6916738" y="58134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6" name="Rectangle 21"/>
          <p:cNvSpPr>
            <a:spLocks noChangeArrowheads="1"/>
          </p:cNvSpPr>
          <p:nvPr/>
        </p:nvSpPr>
        <p:spPr bwMode="auto">
          <a:xfrm>
            <a:off x="6353175" y="58134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7" name="Rectangle 22"/>
          <p:cNvSpPr>
            <a:spLocks noChangeArrowheads="1"/>
          </p:cNvSpPr>
          <p:nvPr/>
        </p:nvSpPr>
        <p:spPr bwMode="auto">
          <a:xfrm>
            <a:off x="6353175" y="59658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8" name="Rectangle 23"/>
          <p:cNvSpPr>
            <a:spLocks noChangeArrowheads="1"/>
          </p:cNvSpPr>
          <p:nvPr/>
        </p:nvSpPr>
        <p:spPr bwMode="auto">
          <a:xfrm>
            <a:off x="6353175" y="6118225"/>
            <a:ext cx="422275" cy="152400"/>
          </a:xfrm>
          <a:prstGeom prst="rect">
            <a:avLst/>
          </a:prstGeom>
          <a:solidFill>
            <a:srgbClr val="FCD5B5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="1">
                <a:solidFill>
                  <a:srgbClr val="000000"/>
                </a:solidFill>
                <a:latin typeface="Arial" charset="0"/>
              </a:rPr>
              <a:t>0</a:t>
            </a:r>
          </a:p>
        </p:txBody>
      </p:sp>
      <p:sp>
        <p:nvSpPr>
          <p:cNvPr id="216089" name="Line 24"/>
          <p:cNvSpPr>
            <a:spLocks noChangeShapeType="1"/>
          </p:cNvSpPr>
          <p:nvPr/>
        </p:nvSpPr>
        <p:spPr bwMode="auto">
          <a:xfrm>
            <a:off x="6072188" y="5508625"/>
            <a:ext cx="1195387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90" name="Line 25"/>
          <p:cNvSpPr>
            <a:spLocks noChangeShapeType="1"/>
          </p:cNvSpPr>
          <p:nvPr/>
        </p:nvSpPr>
        <p:spPr bwMode="auto">
          <a:xfrm>
            <a:off x="6072188" y="5661025"/>
            <a:ext cx="8445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91" name="Line 26"/>
          <p:cNvSpPr>
            <a:spLocks noChangeShapeType="1"/>
          </p:cNvSpPr>
          <p:nvPr/>
        </p:nvSpPr>
        <p:spPr bwMode="auto">
          <a:xfrm>
            <a:off x="6072188" y="5813425"/>
            <a:ext cx="280987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E222B81-89FF-7443-8D47-29FCEFD92EE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18114" name="Rectangle 1"/>
          <p:cNvSpPr>
            <a:spLocks noChangeArrowheads="1"/>
          </p:cNvSpPr>
          <p:nvPr/>
        </p:nvSpPr>
        <p:spPr bwMode="auto">
          <a:xfrm>
            <a:off x="2336800" y="3810000"/>
            <a:ext cx="533400" cy="9779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18115" name="Rectangle 2"/>
          <p:cNvSpPr>
            <a:spLocks noChangeArrowheads="1"/>
          </p:cNvSpPr>
          <p:nvPr/>
        </p:nvSpPr>
        <p:spPr bwMode="auto">
          <a:xfrm>
            <a:off x="1651000" y="3810000"/>
            <a:ext cx="1219200" cy="5080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1811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Tartaglia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s triangle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218117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322388"/>
            <a:ext cx="8178800" cy="4618037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Write an application printing out the following Tartaglia</a:t>
            </a:r>
            <a:r>
              <a:rPr lang="ja-JP" altLang="en-GB" sz="2800">
                <a:latin typeface="Lucida Sans Unicode" charset="0"/>
                <a:cs typeface="Lucida Sans Unicode" charset="0"/>
              </a:rPr>
              <a:t>’</a:t>
            </a:r>
            <a:r>
              <a:rPr lang="en-GB" altLang="ja-JP" sz="2800">
                <a:latin typeface="Lucida Sans Unicode" charset="0"/>
                <a:cs typeface="Lucida Sans Unicode" charset="0"/>
              </a:rPr>
              <a:t>s triangle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1  2  1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1  3  3  1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1  4  6  4  1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1  5 10 10  5  1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Courier New" charset="0"/>
                <a:cs typeface="Lucida Sans Unicode" charset="0"/>
              </a:rPr>
              <a:t>1  6 15 20 15  6  1</a:t>
            </a:r>
          </a:p>
        </p:txBody>
      </p:sp>
      <p:sp>
        <p:nvSpPr>
          <p:cNvPr id="218118" name="Text Box 5"/>
          <p:cNvSpPr txBox="1">
            <a:spLocks noChangeArrowheads="1"/>
          </p:cNvSpPr>
          <p:nvPr/>
        </p:nvSpPr>
        <p:spPr bwMode="auto">
          <a:xfrm>
            <a:off x="3683000" y="3671888"/>
            <a:ext cx="1384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lnSpc>
                <a:spcPct val="100000"/>
              </a:lnSpc>
              <a:buFont typeface="Arial" charset="0"/>
              <a:buNone/>
            </a:pPr>
            <a:r>
              <a:rPr lang="en-GB">
                <a:solidFill>
                  <a:srgbClr val="000000"/>
                </a:solidFill>
                <a:latin typeface="Arial" charset="0"/>
              </a:rPr>
              <a:t>4 = 3 + 1</a:t>
            </a:r>
          </a:p>
        </p:txBody>
      </p:sp>
      <p:sp>
        <p:nvSpPr>
          <p:cNvPr id="218119" name="Line 6"/>
          <p:cNvSpPr>
            <a:spLocks noChangeShapeType="1"/>
          </p:cNvSpPr>
          <p:nvPr/>
        </p:nvSpPr>
        <p:spPr bwMode="auto">
          <a:xfrm flipV="1">
            <a:off x="2743200" y="4022725"/>
            <a:ext cx="914400" cy="52705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7317653-4173-C649-A574-49E3E7B212A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20162" name="Oval 1"/>
          <p:cNvSpPr>
            <a:spLocks noChangeArrowheads="1"/>
          </p:cNvSpPr>
          <p:nvPr/>
        </p:nvSpPr>
        <p:spPr bwMode="auto">
          <a:xfrm>
            <a:off x="5004048" y="2996952"/>
            <a:ext cx="1154361" cy="433387"/>
          </a:xfrm>
          <a:prstGeom prst="ellipse">
            <a:avLst/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201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77800"/>
            <a:ext cx="8912225" cy="860425"/>
          </a:xfrm>
        </p:spPr>
        <p:txBody>
          <a:bodyPr lIns="0" tIns="0" rIns="0" bIns="0" anchor="ctr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Variable arguments</a:t>
            </a:r>
          </a:p>
        </p:txBody>
      </p:sp>
      <p:sp>
        <p:nvSpPr>
          <p:cNvPr id="2201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48638" cy="4727575"/>
          </a:xfrm>
        </p:spPr>
        <p:txBody>
          <a:bodyPr lIns="0" tIns="0" rIns="0" bIns="0"/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possible to pass a variable number of arguments to a method using the </a:t>
            </a:r>
            <a:r>
              <a:rPr lang="en-GB" dirty="0" err="1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varargs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notation</a:t>
            </a:r>
          </a:p>
          <a:p>
            <a:pPr algn="ctr" eaLnBrk="1" hangingPunct="1">
              <a:lnSpc>
                <a:spcPct val="104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b="1" dirty="0" smtClean="0">
                <a:latin typeface="Courier New" charset="0"/>
                <a:cs typeface="Lucida Sans Unicode" charset="0"/>
              </a:rPr>
              <a:t>method( type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.. </a:t>
            </a:r>
            <a:r>
              <a:rPr lang="en-GB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b="1" dirty="0">
                <a:latin typeface="Courier New" charset="0"/>
                <a:cs typeface="Lucida Sans Unicode" charset="0"/>
              </a:rPr>
              <a:t> )</a:t>
            </a:r>
          </a:p>
          <a:p>
            <a:pPr eaLnBrk="1" hangingPunct="1">
              <a:lnSpc>
                <a:spcPct val="104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The compiler assembles an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array </a:t>
            </a:r>
            <a:r>
              <a:rPr lang="en-GB" dirty="0">
                <a:latin typeface="Lucida Sans Unicode" charset="0"/>
                <a:cs typeface="Lucida Sans Unicode" charset="0"/>
              </a:rPr>
              <a:t>that can be used to scan the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actual arguments</a:t>
            </a:r>
          </a:p>
          <a:p>
            <a:pPr lvl="1" eaLnBrk="1" hangingPunct="1">
              <a:lnSpc>
                <a:spcPct val="104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Type can be primitive or class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9552" y="1268760"/>
            <a:ext cx="7776864" cy="4680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22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992A3-D410-8248-A531-2E8A9766DE3D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222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77800"/>
            <a:ext cx="8912225" cy="860425"/>
          </a:xfrm>
        </p:spPr>
        <p:txBody>
          <a:bodyPr lIns="0" tIns="0" rIns="0" bIns="0" anchor="ctr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Variable arguments- example</a:t>
            </a:r>
          </a:p>
        </p:txBody>
      </p:sp>
      <p:sp>
        <p:nvSpPr>
          <p:cNvPr id="2222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48638" cy="4727575"/>
          </a:xfrm>
        </p:spPr>
        <p:txBody>
          <a:bodyPr lIns="0" tIns="0" rIns="0" bIns="0">
            <a:normAutofit/>
          </a:bodyPr>
          <a:lstStyle/>
          <a:p>
            <a:pPr marL="0" indent="0" eaLnBrk="1" hangingPunct="1">
              <a:lnSpc>
                <a:spcPct val="89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static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min(int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values){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res = </a:t>
            </a:r>
            <a:r>
              <a:rPr lang="en-US" sz="2400" b="1" dirty="0" err="1">
                <a:latin typeface="Courier New"/>
                <a:cs typeface="Courier New"/>
              </a:rPr>
              <a:t>Integer.MAX_VALUE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		for(</a:t>
            </a:r>
            <a:r>
              <a:rPr lang="en-US" sz="2400" b="1" dirty="0" err="1"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v : values){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			if(v &lt; res</a:t>
            </a:r>
            <a:r>
              <a:rPr lang="en-US" sz="2400" b="1" dirty="0" smtClean="0">
                <a:latin typeface="Courier New"/>
                <a:cs typeface="Courier New"/>
              </a:rPr>
              <a:t>) res</a:t>
            </a:r>
            <a:r>
              <a:rPr lang="en-US" sz="2400" b="1" dirty="0">
                <a:latin typeface="Courier New"/>
                <a:cs typeface="Courier New"/>
              </a:rPr>
              <a:t>=v;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		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/>
                <a:cs typeface="Courier New"/>
              </a:rPr>
              <a:t>		return res;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static void main(String[]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)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{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m = min(9,3,5,7,2,8);</a:t>
            </a:r>
            <a:r>
              <a:rPr lang="en-GB" sz="2400" b="1" dirty="0">
                <a:latin typeface="Courier New" charset="0"/>
                <a:cs typeface="Lucida Sans Unicode" charset="0"/>
              </a:rPr>
              <a:t/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it-IT" sz="24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it-IT" sz="2400" b="1" dirty="0" smtClean="0">
                <a:latin typeface="Courier New" charset="0"/>
                <a:cs typeface="Lucida Sans Unicode" charset="0"/>
              </a:rPr>
              <a:t>("</a:t>
            </a:r>
            <a:r>
              <a:rPr lang="it-IT" sz="2400" b="1" dirty="0" err="1" smtClean="0">
                <a:latin typeface="Courier New" charset="0"/>
                <a:cs typeface="Lucida Sans Unicode" charset="0"/>
              </a:rPr>
              <a:t>min</a:t>
            </a:r>
            <a:r>
              <a:rPr lang="it-IT" sz="2400" b="1" dirty="0" smtClean="0">
                <a:latin typeface="Courier New" charset="0"/>
                <a:cs typeface="Lucida Sans Unicode" charset="0"/>
              </a:rPr>
              <a:t>=” + m);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altLang="ja-JP" sz="2400" b="1" dirty="0" smtClean="0"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2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Static attributes and methods</a:t>
            </a:r>
          </a:p>
        </p:txBody>
      </p:sp>
      <p:sp>
        <p:nvSpPr>
          <p:cNvPr id="224258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C4A6A56-1231-0947-BC1A-0229897D532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2630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Class variables</a:t>
            </a:r>
          </a:p>
        </p:txBody>
      </p:sp>
      <p:sp>
        <p:nvSpPr>
          <p:cNvPr id="22630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31115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Represent properties which are common to all instances of 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a class</a:t>
            </a: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They exist even when no object has been instantiated yet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They are defined with the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static</a:t>
            </a:r>
            <a:r>
              <a:rPr lang="en-GB" sz="2800" dirty="0">
                <a:latin typeface="Lucida Sans Unicode" charset="0"/>
                <a:cs typeface="Lucida Sans Unicode" charset="0"/>
              </a:rPr>
              <a:t> modifier</a:t>
            </a:r>
          </a:p>
        </p:txBody>
      </p:sp>
      <p:sp>
        <p:nvSpPr>
          <p:cNvPr id="226308" name="Rectangle 3"/>
          <p:cNvSpPr>
            <a:spLocks noChangeArrowheads="1"/>
          </p:cNvSpPr>
          <p:nvPr/>
        </p:nvSpPr>
        <p:spPr bwMode="auto">
          <a:xfrm>
            <a:off x="1763688" y="4005064"/>
            <a:ext cx="6205538" cy="22098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Car { 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static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countBuiltCars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public Car(){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countBuiltCars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++;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3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C11B565-75B5-AC45-8C4F-A91DD3D6915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119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31426" name="Rectangle 1"/>
          <p:cNvSpPr>
            <a:spLocks noChangeArrowheads="1"/>
          </p:cNvSpPr>
          <p:nvPr/>
        </p:nvSpPr>
        <p:spPr bwMode="auto">
          <a:xfrm>
            <a:off x="304800" y="3352800"/>
            <a:ext cx="8099425" cy="167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public class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HelloWorld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public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static 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void main (String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args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[])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System.out.println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(“Hello World!”);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2283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Static methods</a:t>
            </a:r>
          </a:p>
        </p:txBody>
      </p:sp>
      <p:sp>
        <p:nvSpPr>
          <p:cNvPr id="2283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225425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b="1" dirty="0">
                <a:latin typeface="Lucida Sans Unicode" charset="0"/>
                <a:cs typeface="Lucida Sans Unicode" charset="0"/>
              </a:rPr>
              <a:t>Static methods are not related to any instance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b="1" dirty="0">
                <a:latin typeface="Lucida Sans Unicode" charset="0"/>
                <a:cs typeface="Lucida Sans Unicode" charset="0"/>
              </a:rPr>
              <a:t>They are defined with the 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static </a:t>
            </a:r>
            <a:r>
              <a:rPr lang="en-US" sz="2800" b="1" dirty="0">
                <a:latin typeface="Lucida Sans Unicode" charset="0"/>
                <a:cs typeface="Lucida Sans Unicode" charset="0"/>
              </a:rPr>
              <a:t>modifier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b="1" dirty="0">
                <a:latin typeface="Lucida Sans Unicode" charset="0"/>
                <a:cs typeface="Lucida Sans Unicode" charset="0"/>
              </a:rPr>
              <a:t>Used to implement functions</a:t>
            </a:r>
            <a:endParaRPr lang="en-US" sz="28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28357" name="Rectangle 4"/>
          <p:cNvSpPr>
            <a:spLocks noChangeArrowheads="1"/>
          </p:cNvSpPr>
          <p:nvPr/>
        </p:nvSpPr>
        <p:spPr bwMode="auto">
          <a:xfrm>
            <a:off x="1295400" y="4724400"/>
            <a:ext cx="7731125" cy="17526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b="1">
                <a:solidFill>
                  <a:srgbClr val="000000"/>
                </a:solidFill>
                <a:latin typeface="Courier New" charset="0"/>
              </a:rPr>
              <a:t>p</a:t>
            </a:r>
            <a:r>
              <a:rPr lang="en-GB" b="1">
                <a:solidFill>
                  <a:srgbClr val="000000"/>
                </a:solidFill>
                <a:latin typeface="Courier New" charset="0"/>
              </a:rPr>
              <a:t>ublic class Utility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public </a:t>
            </a:r>
            <a:r>
              <a:rPr lang="en-GB" b="1">
                <a:solidFill>
                  <a:srgbClr val="FF6600"/>
                </a:solidFill>
                <a:latin typeface="Courier New" charset="0"/>
              </a:rPr>
              <a:t>static </a:t>
            </a:r>
            <a:r>
              <a:rPr lang="en-GB" b="1">
                <a:solidFill>
                  <a:srgbClr val="000000"/>
                </a:solidFill>
                <a:latin typeface="Courier New" charset="0"/>
              </a:rPr>
              <a:t>int inverse(double n){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    return </a:t>
            </a:r>
            <a:r>
              <a:rPr lang="en-US" b="1">
                <a:solidFill>
                  <a:srgbClr val="000000"/>
                </a:solidFill>
                <a:latin typeface="Courier New" charset="0"/>
              </a:rPr>
              <a:t>1 / n;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b="1">
                <a:solidFill>
                  <a:srgbClr val="0000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b="1">
                <a:solidFill>
                  <a:srgbClr val="000000"/>
                </a:solidFill>
                <a:latin typeface="Courier New" charset="0"/>
              </a:rPr>
              <a:t>}</a:t>
            </a:r>
            <a:endParaRPr lang="en-GB" b="1">
              <a:solidFill>
                <a:srgbClr val="000000"/>
              </a:solidFill>
              <a:latin typeface="Courier New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Static members access</a:t>
            </a:r>
          </a:p>
        </p:txBody>
      </p:sp>
      <p:sp>
        <p:nvSpPr>
          <p:cNvPr id="23347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Lucida Sans Unicode" charset="0"/>
              </a:rPr>
              <a:t>The name of the class is used to access the member: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sz="2400" b="1" dirty="0" err="1">
                <a:latin typeface="Courier New" charset="0"/>
                <a:ea typeface="Lucida Sans Unicode" charset="0"/>
                <a:cs typeface="Lucida Sans Unicode" charset="0"/>
              </a:rPr>
              <a:t>Car.countCountBuiltCars</a:t>
            </a:r>
            <a:endParaRPr lang="en-US" sz="2400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marL="457200" lvl="1" indent="0">
              <a:buFont typeface="Symbol" charset="0"/>
              <a:buNone/>
              <a:defRPr/>
            </a:pPr>
            <a:r>
              <a:rPr lang="en-US" sz="2400" b="1" dirty="0" err="1">
                <a:latin typeface="Courier New" charset="0"/>
                <a:ea typeface="Lucida Sans Unicode" charset="0"/>
                <a:cs typeface="Lucida Sans Unicode" charset="0"/>
              </a:rPr>
              <a:t>Utility.inverse</a:t>
            </a:r>
            <a:r>
              <a:rPr lang="en-US" sz="2400" b="1" dirty="0">
                <a:latin typeface="Courier New" charset="0"/>
                <a:ea typeface="Lucida Sans Unicode" charset="0"/>
                <a:cs typeface="Lucida Sans Unicode" charset="0"/>
              </a:rPr>
              <a:t>(10);</a:t>
            </a:r>
          </a:p>
          <a:p>
            <a:pPr>
              <a:defRPr/>
            </a:pPr>
            <a:r>
              <a:rPr lang="en-US" dirty="0">
                <a:latin typeface="Lucida Sans Unicode" charset="0"/>
              </a:rPr>
              <a:t>It is possible to import all static items: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import static </a:t>
            </a:r>
            <a:r>
              <a:rPr lang="en-US" sz="2400" b="1" dirty="0" err="1">
                <a:latin typeface="Courier New" charset="0"/>
                <a:ea typeface="Lucida Sans Unicode" charset="0"/>
                <a:cs typeface="Lucida Sans Unicode" charset="0"/>
              </a:rPr>
              <a:t>package.Utility</a:t>
            </a:r>
            <a:r>
              <a:rPr lang="en-US" sz="2400" b="1" dirty="0">
                <a:latin typeface="Courier New" charset="0"/>
                <a:ea typeface="Lucida Sans Unicode" charset="0"/>
                <a:cs typeface="Lucida Sans Unicode" charset="0"/>
              </a:rPr>
              <a:t>.*</a:t>
            </a:r>
            <a:r>
              <a:rPr lang="en-US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;</a:t>
            </a:r>
            <a:endParaRPr lang="en-US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>
              <a:defRPr/>
            </a:pP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Then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all static members are accessible without specifying the class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name</a:t>
            </a:r>
          </a:p>
          <a:p>
            <a:pPr lvl="2">
              <a:defRPr/>
            </a:pPr>
            <a:r>
              <a:rPr lang="en-US" dirty="0" smtClean="0">
                <a:ea typeface="Lucida Sans Unicode" pitchFamily="-1" charset="0"/>
              </a:rPr>
              <a:t>Note: Impossible </a:t>
            </a:r>
            <a:r>
              <a:rPr lang="en-US" dirty="0">
                <a:ea typeface="Lucida Sans Unicode" pitchFamily="-1" charset="0"/>
              </a:rPr>
              <a:t>if class in default </a:t>
            </a:r>
            <a:r>
              <a:rPr lang="en-US" dirty="0" smtClean="0">
                <a:ea typeface="Lucida Sans Unicode" pitchFamily="-1" charset="0"/>
              </a:rPr>
              <a:t>package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>
              <a:defRPr/>
            </a:pP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several utility functions and objects e.g.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static long </a:t>
            </a:r>
            <a:r>
              <a:rPr lang="en-US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currentTimeMillis</a:t>
            </a:r>
            <a:r>
              <a:rPr lang="en-US" b="1" dirty="0" smtClean="0">
                <a:latin typeface="Courier New"/>
                <a:cs typeface="Courier New"/>
              </a:rPr>
              <a:t>()</a:t>
            </a:r>
          </a:p>
          <a:p>
            <a:pPr lvl="2"/>
            <a:r>
              <a:rPr lang="en-US" dirty="0" smtClean="0"/>
              <a:t>Current system time in milliseconds</a:t>
            </a:r>
          </a:p>
          <a:p>
            <a:pPr lvl="1"/>
            <a:r>
              <a:rPr lang="en-US" b="1" dirty="0">
                <a:latin typeface="Courier New"/>
                <a:cs typeface="Courier New"/>
              </a:rPr>
              <a:t>s</a:t>
            </a:r>
            <a:r>
              <a:rPr lang="en-US" b="1" dirty="0" smtClean="0">
                <a:latin typeface="Courier New"/>
                <a:cs typeface="Courier New"/>
              </a:rPr>
              <a:t>tatic void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exit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code)</a:t>
            </a:r>
          </a:p>
          <a:p>
            <a:pPr lvl="2"/>
            <a:r>
              <a:rPr lang="en-US" dirty="0" smtClean="0"/>
              <a:t>Terminates the execution of the JVM</a:t>
            </a:r>
          </a:p>
          <a:p>
            <a:pPr lvl="1"/>
            <a:r>
              <a:rPr lang="en-US" b="1" dirty="0">
                <a:latin typeface="Courier New"/>
                <a:cs typeface="Courier New"/>
              </a:rPr>
              <a:t>static final </a:t>
            </a:r>
            <a:r>
              <a:rPr lang="en-US" b="1" dirty="0" err="1">
                <a:latin typeface="Courier New"/>
                <a:cs typeface="Courier New"/>
              </a:rPr>
              <a:t>PrintStream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out</a:t>
            </a:r>
          </a:p>
          <a:p>
            <a:pPr lvl="2"/>
            <a:r>
              <a:rPr lang="en-US" dirty="0" smtClean="0"/>
              <a:t>Standard output stream</a:t>
            </a:r>
          </a:p>
        </p:txBody>
      </p:sp>
    </p:spTree>
    <p:extLst>
      <p:ext uri="{BB962C8B-B14F-4D97-AF65-F5344CB8AC3E}">
        <p14:creationId xmlns:p14="http://schemas.microsoft.com/office/powerpoint/2010/main" val="9977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043608" y="3140968"/>
            <a:ext cx="5976664" cy="2808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36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Final Attributes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smtClean="0"/>
              <a:t>When attribute is declared </a:t>
            </a:r>
            <a:r>
              <a:rPr lang="en-US" sz="3500" b="1" dirty="0">
                <a:solidFill>
                  <a:srgbClr val="FF6600"/>
                </a:solidFill>
                <a:latin typeface="Courier New"/>
                <a:ea typeface="Lucida Sans Unicode" charset="-52"/>
                <a:cs typeface="Courier New"/>
              </a:rPr>
              <a:t>final</a:t>
            </a:r>
            <a:r>
              <a:rPr lang="en-US" dirty="0" smtClean="0"/>
              <a:t>:</a:t>
            </a:r>
          </a:p>
          <a:p>
            <a:pPr lvl="1">
              <a:defRPr/>
            </a:pPr>
            <a:r>
              <a:rPr lang="en-US" dirty="0" smtClean="0"/>
              <a:t>cannot be changed after object construction</a:t>
            </a:r>
          </a:p>
          <a:p>
            <a:pPr lvl="1">
              <a:defRPr/>
            </a:pPr>
            <a:r>
              <a:rPr lang="en-US" dirty="0" smtClean="0"/>
              <a:t>can be initialized inline or by the constructor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endParaRPr lang="en-US" b="1" dirty="0" smtClean="0">
              <a:latin typeface="Courier New"/>
              <a:cs typeface="Courier New"/>
            </a:endParaRP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class Student {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final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years=3;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final</a:t>
            </a:r>
            <a:r>
              <a:rPr lang="en-US" b="1" dirty="0" smtClean="0">
                <a:latin typeface="Courier New"/>
                <a:cs typeface="Courier New"/>
              </a:rPr>
              <a:t> String id;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public Student(String id){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</a:t>
            </a:r>
            <a:r>
              <a:rPr lang="en-US" b="1" dirty="0" err="1" smtClean="0">
                <a:latin typeface="Courier New"/>
                <a:cs typeface="Courier New"/>
              </a:rPr>
              <a:t>this.id</a:t>
            </a:r>
            <a:r>
              <a:rPr lang="en-US" b="1" dirty="0" smtClean="0">
                <a:latin typeface="Courier New"/>
                <a:cs typeface="Courier New"/>
              </a:rPr>
              <a:t> = id;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}</a:t>
            </a:r>
          </a:p>
          <a:p>
            <a:pPr marL="457200" lvl="1" indent="0">
              <a:spcBef>
                <a:spcPts val="100"/>
              </a:spcBef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variables /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 parameters cannot be changed</a:t>
            </a:r>
          </a:p>
          <a:p>
            <a:pPr lvl="1"/>
            <a:r>
              <a:rPr lang="en-US" dirty="0" smtClean="0"/>
              <a:t>Non final parameters are treated as local variables (initialized by the caller)</a:t>
            </a:r>
          </a:p>
          <a:p>
            <a:r>
              <a:rPr lang="en-US" dirty="0" smtClean="0"/>
              <a:t>Final variables</a:t>
            </a:r>
          </a:p>
          <a:p>
            <a:pPr lvl="1"/>
            <a:r>
              <a:rPr lang="en-US" dirty="0" smtClean="0"/>
              <a:t>Cannot be modified after initialization</a:t>
            </a:r>
          </a:p>
          <a:p>
            <a:pPr lvl="1"/>
            <a:r>
              <a:rPr lang="en-US" dirty="0" smtClean="0"/>
              <a:t>Initialization can occur at declaration or later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8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115616" y="2924944"/>
            <a:ext cx="7416824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3756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9B5ECB2-FDB1-3B4A-B193-9038D6A75A7D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124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375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Constants	</a:t>
            </a:r>
          </a:p>
        </p:txBody>
      </p:sp>
      <p:sp>
        <p:nvSpPr>
          <p:cNvPr id="23757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Use </a:t>
            </a:r>
            <a:r>
              <a:rPr lang="en-GB" b="1" dirty="0" smtClean="0">
                <a:solidFill>
                  <a:srgbClr val="FF6600"/>
                </a:solidFill>
                <a:latin typeface="Courier New"/>
                <a:cs typeface="Courier New"/>
              </a:rPr>
              <a:t>final </a:t>
            </a:r>
            <a:r>
              <a:rPr lang="en-GB" b="1" dirty="0">
                <a:solidFill>
                  <a:srgbClr val="FF6600"/>
                </a:solidFill>
                <a:latin typeface="Courier New"/>
                <a:cs typeface="Courier New"/>
              </a:rPr>
              <a:t>static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modifiers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smtClean="0">
                <a:latin typeface="Courier New"/>
                <a:ea typeface="Lucida Sans Unicode" charset="0"/>
                <a:cs typeface="Courier New"/>
              </a:rPr>
              <a:t>final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  <a:sym typeface="Wingdings"/>
              </a:rPr>
              <a:t>implies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not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modifiable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ea typeface="Lucida Sans Unicode" charset="0"/>
                <a:cs typeface="Courier New"/>
              </a:rPr>
              <a:t>static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 implies non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redundant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final static float PI = 3.14;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…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PI = 16.0;      </a:t>
            </a:r>
            <a:r>
              <a:rPr lang="en-GB" sz="2400" b="1" dirty="0">
                <a:solidFill>
                  <a:schemeClr val="accent3"/>
                </a:solidFill>
                <a:latin typeface="Courier New" charset="0"/>
                <a:ea typeface="Lucida Sans Unicode" charset="0"/>
                <a:cs typeface="Lucida Sans Unicode" charset="0"/>
              </a:rPr>
              <a:t>// ERROR, no changes</a:t>
            </a:r>
          </a:p>
          <a:p>
            <a:pPr lvl="1" eaLnBrk="1" hangingPunct="1">
              <a:lnSpc>
                <a:spcPct val="100000"/>
              </a:lnSpc>
              <a:buFont typeface="Symbol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final static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SIZE; </a:t>
            </a:r>
            <a:r>
              <a:rPr lang="en-GB" sz="2400" b="1" dirty="0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// missing </a:t>
            </a:r>
            <a:r>
              <a:rPr lang="en-GB" sz="2400" b="1" dirty="0" err="1">
                <a:solidFill>
                  <a:srgbClr val="9BBB59"/>
                </a:solidFill>
                <a:latin typeface="Courier New" charset="0"/>
                <a:ea typeface="Lucida Sans Unicode" charset="0"/>
                <a:cs typeface="Lucida Sans Unicode" charset="0"/>
              </a:rPr>
              <a:t>init</a:t>
            </a:r>
            <a:endParaRPr lang="en-GB" sz="2400" dirty="0">
              <a:solidFill>
                <a:srgbClr val="9BBB59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All uppercase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(coding conventions)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043608" y="3068960"/>
            <a:ext cx="6552728" cy="2088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0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Static initialization block</a:t>
            </a:r>
          </a:p>
        </p:txBody>
      </p:sp>
      <p:sp>
        <p:nvSpPr>
          <p:cNvPr id="2703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Block of code preceded by </a:t>
            </a:r>
            <a:r>
              <a:rPr lang="en-US" b="1" dirty="0">
                <a:latin typeface="Courier New" charset="0"/>
                <a:cs typeface="Courier New" charset="0"/>
              </a:rPr>
              <a:t>static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Executed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at class loading time</a:t>
            </a:r>
          </a:p>
          <a:p>
            <a:endParaRPr lang="en-US" dirty="0" smtClean="0">
              <a:latin typeface="Lucida Sans Unicode" charset="0"/>
              <a:cs typeface="Lucida Sans Unicode" charset="0"/>
            </a:endParaRPr>
          </a:p>
          <a:p>
            <a:pPr marL="400050" lvl="1" indent="0">
              <a:buFont typeface="Symbol" charset="0"/>
              <a:buNone/>
            </a:pPr>
            <a:r>
              <a:rPr lang="en-US" sz="2400" b="1" dirty="0" smtClean="0">
                <a:latin typeface="Courier New" charset="0"/>
                <a:ea typeface="Lucida Sans Unicode" charset="0"/>
                <a:cs typeface="Courier New" charset="0"/>
              </a:rPr>
              <a:t>public final static double 2PI;</a:t>
            </a:r>
          </a:p>
          <a:p>
            <a:pPr marL="400050" lvl="1" indent="0">
              <a:buFont typeface="Symbol" charset="0"/>
              <a:buNone/>
            </a:pPr>
            <a:r>
              <a:rPr lang="en-US" sz="2400" b="1" dirty="0" smtClean="0">
                <a:solidFill>
                  <a:srgbClr val="FF6600"/>
                </a:solidFill>
                <a:latin typeface="Courier New" charset="0"/>
                <a:ea typeface="Lucida Sans Unicode" charset="0"/>
                <a:cs typeface="Courier New" charset="0"/>
              </a:rPr>
              <a:t>static</a:t>
            </a:r>
            <a:r>
              <a:rPr lang="en-US" sz="2400" b="1" dirty="0" smtClean="0">
                <a:latin typeface="Courier New" charset="0"/>
                <a:ea typeface="Lucida Sans Unicode" charset="0"/>
                <a:cs typeface="Courier New" charset="0"/>
              </a:rPr>
              <a:t> </a:t>
            </a:r>
            <a:r>
              <a:rPr lang="en-US" sz="2400" b="1" dirty="0">
                <a:latin typeface="Courier New" charset="0"/>
                <a:ea typeface="Lucida Sans Unicode" charset="0"/>
                <a:cs typeface="Courier New" charset="0"/>
              </a:rPr>
              <a:t>{</a:t>
            </a:r>
          </a:p>
          <a:p>
            <a:pPr marL="400050" lvl="1" indent="0">
              <a:buFont typeface="Symbol" charset="0"/>
              <a:buNone/>
            </a:pPr>
            <a:r>
              <a:rPr lang="en-US" sz="2400" b="1" dirty="0">
                <a:latin typeface="Courier New" charset="0"/>
                <a:ea typeface="Lucida Sans Unicode" charset="0"/>
                <a:cs typeface="Courier New" charset="0"/>
              </a:rPr>
              <a:t>  2PI = </a:t>
            </a:r>
            <a:r>
              <a:rPr lang="en-US" sz="2400" b="1" dirty="0" err="1">
                <a:latin typeface="Courier New" charset="0"/>
                <a:ea typeface="Lucida Sans Unicode" charset="0"/>
                <a:cs typeface="Courier New" charset="0"/>
              </a:rPr>
              <a:t>Math.acos</a:t>
            </a:r>
            <a:r>
              <a:rPr lang="en-US" sz="2400" b="1" dirty="0">
                <a:latin typeface="Courier New" charset="0"/>
                <a:ea typeface="Lucida Sans Unicode" charset="0"/>
                <a:cs typeface="Courier New" charset="0"/>
              </a:rPr>
              <a:t>(-1);</a:t>
            </a:r>
          </a:p>
          <a:p>
            <a:pPr marL="400050" lvl="1" indent="0">
              <a:buFont typeface="Symbol" charset="0"/>
              <a:buNone/>
            </a:pPr>
            <a:r>
              <a:rPr lang="en-US" sz="2400" b="1" dirty="0">
                <a:latin typeface="Courier New" charset="0"/>
                <a:ea typeface="Lucida Sans Unicode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1043608" y="1916832"/>
            <a:ext cx="7488832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Global directory (a)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Manages a global name directory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c</a:t>
            </a:r>
            <a:r>
              <a:rPr lang="en-US" sz="2400" b="1" dirty="0" smtClean="0">
                <a:latin typeface="Courier New"/>
                <a:cs typeface="Courier New"/>
              </a:rPr>
              <a:t>lass Directory {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public final static Directory root;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static {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  root = new Directory();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}</a:t>
            </a:r>
          </a:p>
          <a:p>
            <a:pPr marL="457200" lvl="1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// …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}</a:t>
            </a:r>
            <a:endParaRPr lang="en-US" sz="2400" b="1" dirty="0" smtClean="0">
              <a:latin typeface="Courier New"/>
              <a:cs typeface="Courier New"/>
            </a:endParaRPr>
          </a:p>
          <a:p>
            <a:pPr lvl="1"/>
            <a:endParaRPr lang="en-US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283968" y="4797152"/>
            <a:ext cx="3816424" cy="1152128"/>
          </a:xfrm>
          <a:prstGeom prst="wedgeRoundRectCallout">
            <a:avLst>
              <a:gd name="adj1" fmla="val -56636"/>
              <a:gd name="adj2" fmla="val -13814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dirty="0" smtClean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What if not always useful and expensive creation?</a:t>
            </a:r>
          </a:p>
        </p:txBody>
      </p:sp>
    </p:spTree>
    <p:extLst>
      <p:ext uri="{BB962C8B-B14F-4D97-AF65-F5344CB8AC3E}">
        <p14:creationId xmlns:p14="http://schemas.microsoft.com/office/powerpoint/2010/main" val="347252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1043608" y="1772816"/>
            <a:ext cx="7704856" cy="4032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Global </a:t>
            </a:r>
            <a:r>
              <a:rPr lang="en-US" dirty="0" smtClean="0"/>
              <a:t>directory (b)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Manages a global directory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c</a:t>
            </a:r>
            <a:r>
              <a:rPr lang="en-US" sz="2600" b="1" dirty="0" smtClean="0">
                <a:latin typeface="Courier New"/>
                <a:cs typeface="Courier New"/>
              </a:rPr>
              <a:t>lass Directory {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private static Directory root;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public static Directory </a:t>
            </a:r>
            <a:r>
              <a:rPr lang="en-US" sz="2600" b="1" dirty="0" err="1" smtClean="0">
                <a:latin typeface="Courier New"/>
                <a:cs typeface="Courier New"/>
              </a:rPr>
              <a:t>getInstance</a:t>
            </a:r>
            <a:r>
              <a:rPr lang="en-US" sz="2600" b="1" dirty="0" smtClean="0">
                <a:latin typeface="Courier New"/>
                <a:cs typeface="Courier New"/>
              </a:rPr>
              <a:t>(){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if(root==null){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  root = new Directory();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}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return root;</a:t>
            </a:r>
          </a:p>
          <a:p>
            <a:pPr marL="457200" lvl="1" indent="0">
              <a:buNone/>
            </a:pPr>
            <a:r>
              <a:rPr lang="en-US" sz="2600" b="1" dirty="0" smtClean="0">
                <a:latin typeface="Courier New"/>
                <a:cs typeface="Courier New"/>
              </a:rPr>
              <a:t>  }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// …</a:t>
            </a:r>
          </a:p>
          <a:p>
            <a:pPr marL="457200" lvl="1" indent="0">
              <a:buNone/>
            </a:pPr>
            <a:r>
              <a:rPr lang="en-US" sz="2600" b="1" dirty="0">
                <a:latin typeface="Courier New"/>
                <a:cs typeface="Courier New"/>
              </a:rPr>
              <a:t>}</a:t>
            </a:r>
            <a:endParaRPr lang="en-US" sz="2600" b="1" dirty="0" smtClean="0">
              <a:latin typeface="Courier New"/>
              <a:cs typeface="Courier New"/>
            </a:endParaRPr>
          </a:p>
          <a:p>
            <a:pPr lvl="1"/>
            <a:endParaRPr lang="en-US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004048" y="4869160"/>
            <a:ext cx="3528392" cy="864096"/>
          </a:xfrm>
          <a:prstGeom prst="wedgeRoundRectCallout">
            <a:avLst>
              <a:gd name="adj1" fmla="val -77598"/>
              <a:gd name="adj2" fmla="val -180095"/>
              <a:gd name="adj3" fmla="val 16667"/>
            </a:avLst>
          </a:prstGeom>
          <a:solidFill>
            <a:srgbClr val="E6E0EC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dirty="0" smtClean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Created on-demand at first usage</a:t>
            </a:r>
          </a:p>
        </p:txBody>
      </p:sp>
    </p:spTree>
    <p:extLst>
      <p:ext uri="{BB962C8B-B14F-4D97-AF65-F5344CB8AC3E}">
        <p14:creationId xmlns:p14="http://schemas.microsoft.com/office/powerpoint/2010/main" val="36664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203103"/>
            <a:ext cx="890111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Singleton Pattern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3210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Context: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class represents a concept that requires a single instance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Problem: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Clients could use this class in an inappropriate way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 eaLnBrk="1" hangingPunct="1"/>
            <a:r>
              <a:rPr lang="en-GB" sz="1200">
                <a:solidFill>
                  <a:srgbClr val="000000"/>
                </a:solidFill>
                <a:latin typeface="Lucida Sans Unicode" charset="0"/>
              </a:rPr>
              <a:t>Marco Torchiano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idx="11"/>
          </p:nvPr>
        </p:nvSpPr>
        <p:spPr>
          <a:prstGeom prst="rect">
            <a:avLst/>
          </a:prstGeom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 eaLnBrk="1" hangingPunct="1"/>
            <a:fld id="{DC997DE8-C0AA-8B49-A337-9249BFD889D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128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703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14" descr="Singleton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066800"/>
            <a:ext cx="3481387" cy="1885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9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203103"/>
            <a:ext cx="890111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Singleton Pattern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idx="11"/>
          </p:nvPr>
        </p:nvSpPr>
        <p:spPr>
          <a:prstGeom prst="rect">
            <a:avLst/>
          </a:prstGeom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Lucida Sans Unicode" charset="0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9pPr>
          </a:lstStyle>
          <a:p>
            <a:pPr eaLnBrk="1" hangingPunct="1"/>
            <a:fld id="{6C83EFF1-D534-7B4E-A6D9-40E936E55EE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129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827584" y="3212976"/>
            <a:ext cx="7488832" cy="3168352"/>
          </a:xfrm>
          <a:prstGeom prst="wedgeRoundRectCallout">
            <a:avLst>
              <a:gd name="adj1" fmla="val -41524"/>
              <a:gd name="adj2" fmla="val -7087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private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Singleton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() { }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private static Singleton instance;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public static Singleton 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cs typeface="Courier New" charset="0"/>
              </a:rPr>
              <a:t>getInstance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(){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if(instance==null) 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		instance = new Singleton();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  return instance;</a:t>
            </a:r>
          </a:p>
          <a:p>
            <a:pPr marL="341313" indent="-341313">
              <a:lnSpc>
                <a:spcPct val="90000"/>
              </a:lnSpc>
              <a:spcBef>
                <a:spcPts val="600"/>
              </a:spcBef>
              <a:buFont typeface="Letter Gothic MT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572000" y="1196752"/>
            <a:ext cx="2664296" cy="504056"/>
          </a:xfrm>
          <a:prstGeom prst="wedgeRoundRectCallout">
            <a:avLst>
              <a:gd name="adj1" fmla="val -80288"/>
              <a:gd name="adj2" fmla="val -355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dirty="0" smtClean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Singleton class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076056" y="2060848"/>
            <a:ext cx="2376264" cy="864096"/>
          </a:xfrm>
          <a:prstGeom prst="wedgeRoundRectCallout">
            <a:avLst>
              <a:gd name="adj1" fmla="val -109741"/>
              <a:gd name="adj2" fmla="val -4219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Times New Roman" pitchFamily="16" charset="0"/>
              <a:buNone/>
            </a:pP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Instantiation static method</a:t>
            </a:r>
          </a:p>
        </p:txBody>
      </p:sp>
    </p:spTree>
    <p:extLst>
      <p:ext uri="{BB962C8B-B14F-4D97-AF65-F5344CB8AC3E}">
        <p14:creationId xmlns:p14="http://schemas.microsoft.com/office/powerpoint/2010/main" val="9932805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Lucida Sans Unicode" charset="0"/>
                <a:cs typeface="Lucida Sans Unicode" charset="0"/>
              </a:rPr>
              <a:t>Enum</a:t>
            </a:r>
          </a:p>
        </p:txBody>
      </p:sp>
      <p:sp>
        <p:nvSpPr>
          <p:cNvPr id="23654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/>
              <a:t>Defines an enumerative type</a:t>
            </a:r>
          </a:p>
          <a:p>
            <a:pPr marL="400050" lvl="1" indent="0">
              <a:buFont typeface="Wingdings" charset="0"/>
              <a:buNone/>
              <a:defRPr/>
            </a:pPr>
            <a:r>
              <a:rPr lang="en-GB" sz="2600" b="1" dirty="0" smtClean="0">
                <a:latin typeface="Courier New"/>
                <a:cs typeface="Courier New"/>
              </a:rPr>
              <a:t>public </a:t>
            </a:r>
            <a:r>
              <a:rPr lang="en-GB" sz="26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enum</a:t>
            </a:r>
            <a:r>
              <a:rPr lang="en-GB" sz="2600" b="1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lang="en-GB" sz="2600" b="1" dirty="0" smtClean="0">
                <a:latin typeface="Courier New"/>
                <a:cs typeface="Courier New"/>
              </a:rPr>
              <a:t>Suits {</a:t>
            </a:r>
          </a:p>
          <a:p>
            <a:pPr marL="400050" lvl="1" indent="0">
              <a:buFont typeface="Wingdings" charset="0"/>
              <a:buNone/>
              <a:defRPr/>
            </a:pPr>
            <a:r>
              <a:rPr lang="en-GB" sz="2600" b="1" dirty="0" smtClean="0">
                <a:latin typeface="Courier New"/>
                <a:cs typeface="Courier New"/>
              </a:rPr>
              <a:t>  SPADES, HEARTS, DIAMONDS, CLUBS</a:t>
            </a:r>
          </a:p>
          <a:p>
            <a:pPr marL="400050" lvl="1" indent="0">
              <a:buFont typeface="Wingdings" charset="0"/>
              <a:buNone/>
              <a:defRPr/>
            </a:pPr>
            <a:r>
              <a:rPr lang="en-GB" sz="2600" b="1" dirty="0" smtClean="0">
                <a:latin typeface="Courier New"/>
                <a:cs typeface="Courier New"/>
              </a:rPr>
              <a:t>}</a:t>
            </a:r>
          </a:p>
          <a:p>
            <a:pPr>
              <a:defRPr/>
            </a:pPr>
            <a:r>
              <a:rPr lang="en-GB" dirty="0" smtClean="0"/>
              <a:t>Variables of </a:t>
            </a:r>
            <a:r>
              <a:rPr lang="en-GB" dirty="0" err="1" smtClean="0"/>
              <a:t>enum</a:t>
            </a:r>
            <a:r>
              <a:rPr lang="en-GB" dirty="0" smtClean="0"/>
              <a:t> types can assume only one of the enumerated values</a:t>
            </a:r>
          </a:p>
          <a:p>
            <a:pPr marL="0" indent="0">
              <a:buFont typeface="Wingdings" charset="0"/>
              <a:buNone/>
              <a:defRPr/>
            </a:pPr>
            <a:r>
              <a:rPr lang="en-GB" sz="2600" b="1" dirty="0" smtClean="0">
                <a:latin typeface="Courier New"/>
                <a:cs typeface="Courier New"/>
              </a:rPr>
              <a:t>	Suits </a:t>
            </a:r>
            <a:r>
              <a:rPr lang="en-GB" sz="2600" b="1" dirty="0">
                <a:latin typeface="Courier New"/>
                <a:cs typeface="Courier New"/>
              </a:rPr>
              <a:t>card = </a:t>
            </a:r>
            <a:r>
              <a:rPr lang="en-GB" sz="2600" b="1" dirty="0" err="1">
                <a:latin typeface="Courier New"/>
                <a:cs typeface="Courier New"/>
              </a:rPr>
              <a:t>Suits.HEARTS</a:t>
            </a:r>
            <a:r>
              <a:rPr lang="en-GB" sz="2600" b="1" dirty="0">
                <a:latin typeface="Courier New"/>
                <a:cs typeface="Courier New"/>
              </a:rPr>
              <a:t>;</a:t>
            </a:r>
          </a:p>
          <a:p>
            <a:pPr lvl="1">
              <a:defRPr/>
            </a:pPr>
            <a:r>
              <a:rPr lang="en-GB" dirty="0" smtClean="0"/>
              <a:t>They allow much stricter static checking compared to integer constants (e.g. in C)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23245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F4F0EDC-B6C7-B940-85F6-4734F60B4CA6}" type="slidenum">
              <a:rPr lang="en-GB"/>
              <a:pPr/>
              <a:t>130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683568" y="2348880"/>
            <a:ext cx="7992888" cy="3672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34497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Enum</a:t>
            </a:r>
          </a:p>
        </p:txBody>
      </p:sp>
      <p:sp>
        <p:nvSpPr>
          <p:cNvPr id="234498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2800" dirty="0">
                <a:latin typeface="Lucida Sans Unicode" charset="0"/>
                <a:cs typeface="Lucida Sans Unicode" charset="0"/>
              </a:rPr>
              <a:t>Enum </a:t>
            </a:r>
            <a:r>
              <a:rPr lang="it-IT" sz="2800" dirty="0" smtClean="0">
                <a:latin typeface="Lucida Sans Unicode" charset="0"/>
                <a:cs typeface="Lucida Sans Unicode" charset="0"/>
              </a:rPr>
              <a:t>is similar to a class that automatically instantiates the values</a:t>
            </a:r>
            <a:endParaRPr lang="it-IT" sz="2800" dirty="0">
              <a:latin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endParaRPr lang="it-IT" sz="2200" b="1" dirty="0" smtClean="0">
              <a:latin typeface="Courier New" charset="0"/>
              <a:cs typeface="Courier New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 err="1" smtClean="0">
                <a:latin typeface="Courier New" charset="0"/>
                <a:cs typeface="Courier New" charset="0"/>
              </a:rPr>
              <a:t>class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en-US" sz="2200" b="1" dirty="0">
                <a:latin typeface="Courier New" charset="0"/>
                <a:cs typeface="Courier New" charset="0"/>
              </a:rPr>
              <a:t>{</a:t>
            </a:r>
            <a:endParaRPr lang="it-IT" sz="2200" b="1" dirty="0">
              <a:latin typeface="Courier New" charset="0"/>
              <a:cs typeface="Courier New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   public </a:t>
            </a:r>
            <a:r>
              <a:rPr lang="it-IT" sz="2200" b="1" dirty="0" err="1">
                <a:latin typeface="Courier New" charset="0"/>
                <a:cs typeface="Courier New" charset="0"/>
              </a:rPr>
              <a:t>static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final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HEARTS= 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/>
            </a:r>
            <a:br>
              <a:rPr lang="it-IT" sz="2200" b="1" dirty="0" smtClean="0">
                <a:latin typeface="Courier New" charset="0"/>
                <a:cs typeface="Courier New" charset="0"/>
              </a:rPr>
            </a:br>
            <a:r>
              <a:rPr lang="it-IT" sz="2200" b="1" dirty="0" smtClean="0">
                <a:latin typeface="Courier New" charset="0"/>
                <a:cs typeface="Courier New" charset="0"/>
              </a:rPr>
              <a:t>								new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(“</a:t>
            </a:r>
            <a:r>
              <a:rPr lang="en-US" altLang="ja-JP" sz="2200" b="1" dirty="0">
                <a:latin typeface="Courier New" charset="0"/>
                <a:cs typeface="Courier New" charset="0"/>
              </a:rPr>
              <a:t>HEARTS</a:t>
            </a:r>
            <a:r>
              <a:rPr lang="it-IT" sz="2200" b="1" dirty="0">
                <a:latin typeface="Courier New" charset="0"/>
                <a:cs typeface="Courier New" charset="0"/>
              </a:rPr>
              <a:t>”</a:t>
            </a:r>
            <a:r>
              <a:rPr lang="it-IT" altLang="ja-JP" sz="2200" b="1" dirty="0">
                <a:latin typeface="Courier New" charset="0"/>
                <a:cs typeface="Courier New" charset="0"/>
              </a:rPr>
              <a:t>,0);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   public </a:t>
            </a:r>
            <a:r>
              <a:rPr lang="it-IT" sz="2200" b="1" dirty="0" err="1">
                <a:latin typeface="Courier New" charset="0"/>
                <a:cs typeface="Courier New" charset="0"/>
              </a:rPr>
              <a:t>static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final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DIAMONDS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>=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	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>								new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(“</a:t>
            </a:r>
            <a:r>
              <a:rPr lang="en-US" altLang="ja-JP" sz="2200" b="1" dirty="0">
                <a:latin typeface="Courier New" charset="0"/>
                <a:cs typeface="Courier New" charset="0"/>
              </a:rPr>
              <a:t>DIAMONDS</a:t>
            </a:r>
            <a:r>
              <a:rPr lang="it-IT" sz="2200" b="1" dirty="0">
                <a:latin typeface="Courier New" charset="0"/>
                <a:cs typeface="Courier New" charset="0"/>
              </a:rPr>
              <a:t>”</a:t>
            </a:r>
            <a:r>
              <a:rPr lang="it-IT" altLang="ja-JP" sz="2200" b="1" dirty="0">
                <a:latin typeface="Courier New" charset="0"/>
                <a:cs typeface="Courier New" charset="0"/>
              </a:rPr>
              <a:t>,1);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   public </a:t>
            </a:r>
            <a:r>
              <a:rPr lang="it-IT" sz="2200" b="1" dirty="0" err="1">
                <a:latin typeface="Courier New" charset="0"/>
                <a:cs typeface="Courier New" charset="0"/>
              </a:rPr>
              <a:t>static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final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CLUBS= </a:t>
            </a:r>
            <a:endParaRPr lang="it-IT" sz="2200" b="1" dirty="0" smtClean="0">
              <a:latin typeface="Courier New" charset="0"/>
              <a:cs typeface="Courier New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	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>								new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(“</a:t>
            </a:r>
            <a:r>
              <a:rPr lang="en-US" altLang="ja-JP" sz="2200" b="1" dirty="0">
                <a:latin typeface="Courier New" charset="0"/>
                <a:cs typeface="Courier New" charset="0"/>
              </a:rPr>
              <a:t>CLUBS</a:t>
            </a:r>
            <a:r>
              <a:rPr lang="it-IT" sz="2200" b="1" dirty="0">
                <a:latin typeface="Courier New" charset="0"/>
                <a:cs typeface="Courier New" charset="0"/>
              </a:rPr>
              <a:t>”</a:t>
            </a:r>
            <a:r>
              <a:rPr lang="it-IT" altLang="ja-JP" sz="2200" b="1" dirty="0">
                <a:latin typeface="Courier New" charset="0"/>
                <a:cs typeface="Courier New" charset="0"/>
              </a:rPr>
              <a:t>, 2);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   public </a:t>
            </a:r>
            <a:r>
              <a:rPr lang="it-IT" sz="2200" b="1" dirty="0" err="1">
                <a:latin typeface="Courier New" charset="0"/>
                <a:cs typeface="Courier New" charset="0"/>
              </a:rPr>
              <a:t>static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final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SPADES= </a:t>
            </a:r>
            <a:endParaRPr lang="it-IT" sz="2200" b="1" dirty="0" smtClean="0">
              <a:latin typeface="Courier New" charset="0"/>
              <a:cs typeface="Courier New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	</a:t>
            </a:r>
            <a:r>
              <a:rPr lang="it-IT" sz="2200" b="1" dirty="0" smtClean="0">
                <a:latin typeface="Courier New" charset="0"/>
                <a:cs typeface="Courier New" charset="0"/>
              </a:rPr>
              <a:t>								new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(“</a:t>
            </a:r>
            <a:r>
              <a:rPr lang="en-US" altLang="ja-JP" sz="2200" b="1" dirty="0">
                <a:latin typeface="Courier New" charset="0"/>
                <a:cs typeface="Courier New" charset="0"/>
              </a:rPr>
              <a:t>SPADES</a:t>
            </a:r>
            <a:r>
              <a:rPr lang="it-IT" sz="2200" b="1" dirty="0">
                <a:latin typeface="Courier New" charset="0"/>
                <a:cs typeface="Courier New" charset="0"/>
              </a:rPr>
              <a:t>”</a:t>
            </a:r>
            <a:r>
              <a:rPr lang="it-IT" altLang="ja-JP" sz="2200" b="1" dirty="0">
                <a:latin typeface="Courier New" charset="0"/>
                <a:cs typeface="Courier New" charset="0"/>
              </a:rPr>
              <a:t>, 3);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it-IT" sz="2200" b="1" dirty="0">
                <a:latin typeface="Courier New" charset="0"/>
                <a:cs typeface="Courier New" charset="0"/>
              </a:rPr>
              <a:t>   private </a:t>
            </a:r>
            <a:r>
              <a:rPr lang="it-IT" sz="2200" b="1" dirty="0" err="1">
                <a:latin typeface="Courier New" charset="0"/>
                <a:cs typeface="Courier New" charset="0"/>
              </a:rPr>
              <a:t>Suits</a:t>
            </a:r>
            <a:r>
              <a:rPr lang="it-IT" sz="2200" b="1" dirty="0">
                <a:latin typeface="Courier New" charset="0"/>
                <a:cs typeface="Courier New" charset="0"/>
              </a:rPr>
              <a:t> (</a:t>
            </a:r>
            <a:r>
              <a:rPr lang="it-IT" sz="2200" b="1" dirty="0" err="1">
                <a:latin typeface="Courier New" charset="0"/>
                <a:cs typeface="Courier New" charset="0"/>
              </a:rPr>
              <a:t>String</a:t>
            </a:r>
            <a:r>
              <a:rPr lang="it-IT" sz="2200" b="1" dirty="0">
                <a:latin typeface="Courier New" charset="0"/>
                <a:cs typeface="Courier New" charset="0"/>
              </a:rPr>
              <a:t> </a:t>
            </a:r>
            <a:r>
              <a:rPr lang="it-IT" sz="2200" b="1" dirty="0" err="1">
                <a:latin typeface="Courier New" charset="0"/>
                <a:cs typeface="Courier New" charset="0"/>
              </a:rPr>
              <a:t>enumName</a:t>
            </a:r>
            <a:r>
              <a:rPr lang="it-IT" sz="2200" b="1" dirty="0">
                <a:latin typeface="Courier New" charset="0"/>
                <a:cs typeface="Courier New" charset="0"/>
              </a:rPr>
              <a:t>, </a:t>
            </a:r>
            <a:r>
              <a:rPr lang="it-IT" sz="2200" b="1" dirty="0" err="1">
                <a:latin typeface="Courier New" charset="0"/>
                <a:cs typeface="Courier New" charset="0"/>
              </a:rPr>
              <a:t>int</a:t>
            </a:r>
            <a:r>
              <a:rPr lang="it-IT" sz="2200" b="1" dirty="0">
                <a:latin typeface="Courier New" charset="0"/>
                <a:cs typeface="Courier New" charset="0"/>
              </a:rPr>
              <a:t>  </a:t>
            </a:r>
            <a:r>
              <a:rPr lang="it-IT" sz="2200" b="1" dirty="0" err="1">
                <a:latin typeface="Courier New" charset="0"/>
                <a:cs typeface="Courier New" charset="0"/>
              </a:rPr>
              <a:t>index</a:t>
            </a:r>
            <a:r>
              <a:rPr lang="it-IT" sz="2200" b="1" dirty="0">
                <a:latin typeface="Courier New" charset="0"/>
                <a:cs typeface="Courier New" charset="0"/>
              </a:rPr>
              <a:t>) </a:t>
            </a:r>
            <a:r>
              <a:rPr lang="en-US" sz="2200" b="1" dirty="0">
                <a:latin typeface="Courier New" charset="0"/>
                <a:cs typeface="Courier New" charset="0"/>
              </a:rPr>
              <a:t>{…}  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charset="0"/>
              <a:buNone/>
            </a:pPr>
            <a:r>
              <a:rPr lang="en-US" sz="2200" b="1" dirty="0">
                <a:latin typeface="Courier New" charset="0"/>
                <a:cs typeface="Courier New" charset="0"/>
              </a:rPr>
              <a:t> }</a:t>
            </a:r>
          </a:p>
          <a:p>
            <a:endParaRPr lang="it-IT" sz="2800" dirty="0">
              <a:latin typeface="Lucida Sans Unicode" charset="0"/>
              <a:cs typeface="Lucida Sans Unicode" charset="0"/>
            </a:endParaRPr>
          </a:p>
          <a:p>
            <a:endParaRPr lang="it-IT" sz="28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34499" name="Segnaposto numero diapositiva 3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73CD9D2-6B21-6844-828E-C6A6620EF168}" type="slidenum">
              <a:rPr lang="it-IT" sz="1200">
                <a:solidFill>
                  <a:srgbClr val="000000"/>
                </a:solidFill>
                <a:latin typeface="Lucida Sans Unicode" charset="0"/>
              </a:rPr>
              <a:pPr/>
              <a:t>131</a:t>
            </a:fld>
            <a:endParaRPr lang="it-IT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7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>
                <a:latin typeface="Lucida Sans Unicode" charset="0"/>
              </a:rPr>
              <a:t>Memory management</a:t>
            </a:r>
          </a:p>
        </p:txBody>
      </p:sp>
      <p:sp>
        <p:nvSpPr>
          <p:cNvPr id="239618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5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458920C-E408-6F40-991D-6094D72B210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133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416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Memory types</a:t>
            </a:r>
          </a:p>
        </p:txBody>
      </p:sp>
      <p:sp>
        <p:nvSpPr>
          <p:cNvPr id="2416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5438" y="1295400"/>
            <a:ext cx="8637587" cy="4940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Depending on the kind of elements they include: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Static memory 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elements living for all the execution of a program (class definitions, static variables)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Heap (dynamic memory)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elements created at run-time (with </a:t>
            </a:r>
            <a:r>
              <a:rPr lang="ja-JP" altLang="en-GB">
                <a:latin typeface="Lucida Sans Unicode" charset="0"/>
                <a:ea typeface="Lucida Sans Unicode" charset="0"/>
                <a:cs typeface="Lucida Sans Unicode" charset="0"/>
              </a:rPr>
              <a:t>‘</a:t>
            </a:r>
            <a:r>
              <a:rPr lang="en-GB" altLang="ja-JP">
                <a:latin typeface="Lucida Sans Unicode" charset="0"/>
                <a:ea typeface="Lucida Sans Unicode" charset="0"/>
                <a:cs typeface="Lucida Sans Unicode" charset="0"/>
              </a:rPr>
              <a:t>new</a:t>
            </a:r>
            <a:r>
              <a:rPr lang="ja-JP" altLang="en-GB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Stack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elements created in a code block (local variables and method parameters)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71463"/>
            <a:ext cx="8610600" cy="676275"/>
          </a:xfrm>
        </p:spPr>
        <p:txBody>
          <a:bodyPr lIns="0" tIns="0" rIns="0" bIns="0">
            <a:spAutoFit/>
          </a:bodyPr>
          <a:lstStyle/>
          <a:p>
            <a:pPr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Memory types</a:t>
            </a:r>
          </a:p>
        </p:txBody>
      </p:sp>
      <p:grpSp>
        <p:nvGrpSpPr>
          <p:cNvPr id="243714" name="Group 2"/>
          <p:cNvGrpSpPr>
            <a:grpSpLocks/>
          </p:cNvGrpSpPr>
          <p:nvPr/>
        </p:nvGrpSpPr>
        <p:grpSpPr bwMode="auto">
          <a:xfrm>
            <a:off x="1422400" y="1892300"/>
            <a:ext cx="6996113" cy="4146550"/>
            <a:chOff x="896" y="1192"/>
            <a:chExt cx="4407" cy="2612"/>
          </a:xfrm>
        </p:grpSpPr>
        <p:sp>
          <p:nvSpPr>
            <p:cNvPr id="243716" name="AutoShape 3"/>
            <p:cNvSpPr>
              <a:spLocks noChangeArrowheads="1"/>
            </p:cNvSpPr>
            <p:nvPr/>
          </p:nvSpPr>
          <p:spPr bwMode="auto">
            <a:xfrm>
              <a:off x="3100" y="1192"/>
              <a:ext cx="2205" cy="2613"/>
            </a:xfrm>
            <a:prstGeom prst="roundRect">
              <a:avLst>
                <a:gd name="adj" fmla="val 4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101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 Sans Unicode" charset="0"/>
                </a:rPr>
                <a:t>dynamic</a:t>
              </a:r>
            </a:p>
            <a:p>
              <a:pPr algn="ctr">
                <a:lnSpc>
                  <a:spcPct val="101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 Sans Unicode" charset="0"/>
                </a:rPr>
                <a:t>(heap)</a:t>
              </a:r>
            </a:p>
          </p:txBody>
        </p:sp>
        <p:sp>
          <p:nvSpPr>
            <p:cNvPr id="243717" name="AutoShape 4"/>
            <p:cNvSpPr>
              <a:spLocks noChangeArrowheads="1"/>
            </p:cNvSpPr>
            <p:nvPr/>
          </p:nvSpPr>
          <p:spPr bwMode="auto">
            <a:xfrm>
              <a:off x="896" y="1192"/>
              <a:ext cx="2204" cy="1079"/>
            </a:xfrm>
            <a:prstGeom prst="roundRect">
              <a:avLst>
                <a:gd name="adj" fmla="val 79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>
                <a:lnSpc>
                  <a:spcPct val="101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 Sans Unicode" charset="0"/>
                </a:rPr>
                <a:t>static</a:t>
              </a:r>
            </a:p>
          </p:txBody>
        </p:sp>
        <p:sp>
          <p:nvSpPr>
            <p:cNvPr id="243718" name="AutoShape 5"/>
            <p:cNvSpPr>
              <a:spLocks noChangeArrowheads="1"/>
            </p:cNvSpPr>
            <p:nvPr/>
          </p:nvSpPr>
          <p:spPr bwMode="auto">
            <a:xfrm>
              <a:off x="896" y="2271"/>
              <a:ext cx="2204" cy="1534"/>
            </a:xfrm>
            <a:prstGeom prst="roundRect">
              <a:avLst>
                <a:gd name="adj" fmla="val 51"/>
              </a:avLst>
            </a:prstGeom>
            <a:solidFill>
              <a:srgbClr val="FFCC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5000" rIns="90000" bIns="45000" anchor="ctr" anchorCtr="1"/>
            <a:lstStyle/>
            <a:p>
              <a:pPr algn="ctr">
                <a:lnSpc>
                  <a:spcPct val="101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 Sans Unicode" charset="0"/>
                </a:rPr>
                <a:t>local</a:t>
              </a:r>
            </a:p>
            <a:p>
              <a:pPr algn="ctr">
                <a:lnSpc>
                  <a:spcPct val="101000"/>
                </a:lnSpc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 Sans Unicode" charset="0"/>
                </a:rPr>
                <a:t>(stack)</a:t>
              </a:r>
            </a:p>
          </p:txBody>
        </p:sp>
      </p:grpSp>
      <p:sp>
        <p:nvSpPr>
          <p:cNvPr id="243715" name="Text Box 6"/>
          <p:cNvSpPr txBox="1">
            <a:spLocks noChangeArrowheads="1"/>
          </p:cNvSpPr>
          <p:nvPr/>
        </p:nvSpPr>
        <p:spPr bwMode="auto">
          <a:xfrm>
            <a:off x="687388" y="1217613"/>
            <a:ext cx="6471691" cy="4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</a:pP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Memoria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est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omnis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divisa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 in </a:t>
            </a: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partes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Lucida Sans Unicode" charset="0"/>
              </a:rPr>
              <a:t>tres</a:t>
            </a:r>
            <a:r>
              <a:rPr lang="en-GB" i="1" dirty="0">
                <a:solidFill>
                  <a:srgbClr val="000000"/>
                </a:solidFill>
                <a:latin typeface="Lucida Sans Unicode" charset="0"/>
              </a:rPr>
              <a:t>...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57175"/>
            <a:ext cx="8609013" cy="693738"/>
          </a:xfrm>
        </p:spPr>
        <p:txBody>
          <a:bodyPr lIns="0" tIns="0" rIns="0" bIns="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grpSp>
        <p:nvGrpSpPr>
          <p:cNvPr id="245762" name="Group 2"/>
          <p:cNvGrpSpPr>
            <a:grpSpLocks/>
          </p:cNvGrpSpPr>
          <p:nvPr/>
        </p:nvGrpSpPr>
        <p:grpSpPr bwMode="auto">
          <a:xfrm>
            <a:off x="4510088" y="1989138"/>
            <a:ext cx="4400550" cy="2881312"/>
            <a:chOff x="2841" y="1253"/>
            <a:chExt cx="2772" cy="1815"/>
          </a:xfrm>
        </p:grpSpPr>
        <p:sp>
          <p:nvSpPr>
            <p:cNvPr id="245780" name="AutoShape 3"/>
            <p:cNvSpPr>
              <a:spLocks noChangeArrowheads="1"/>
            </p:cNvSpPr>
            <p:nvPr/>
          </p:nvSpPr>
          <p:spPr bwMode="auto">
            <a:xfrm>
              <a:off x="4226" y="1253"/>
              <a:ext cx="1387" cy="1816"/>
            </a:xfrm>
            <a:prstGeom prst="roundRect">
              <a:avLst>
                <a:gd name="adj" fmla="val 4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1" name="AutoShape 4"/>
            <p:cNvSpPr>
              <a:spLocks noChangeArrowheads="1"/>
            </p:cNvSpPr>
            <p:nvPr/>
          </p:nvSpPr>
          <p:spPr bwMode="auto">
            <a:xfrm>
              <a:off x="2841" y="1253"/>
              <a:ext cx="1386" cy="749"/>
            </a:xfrm>
            <a:prstGeom prst="roundRect">
              <a:avLst>
                <a:gd name="adj" fmla="val 79"/>
              </a:avLst>
            </a:prstGeom>
            <a:solidFill>
              <a:srgbClr val="C3D69B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2" name="AutoShape 5"/>
            <p:cNvSpPr>
              <a:spLocks noChangeArrowheads="1"/>
            </p:cNvSpPr>
            <p:nvPr/>
          </p:nvSpPr>
          <p:spPr bwMode="auto">
            <a:xfrm>
              <a:off x="2841" y="2003"/>
              <a:ext cx="1386" cy="1066"/>
            </a:xfrm>
            <a:prstGeom prst="roundRect">
              <a:avLst>
                <a:gd name="adj" fmla="val 51"/>
              </a:avLst>
            </a:prstGeom>
            <a:solidFill>
              <a:srgbClr val="FFCC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66713" y="2503488"/>
            <a:ext cx="5238750" cy="1263650"/>
            <a:chOff x="231" y="1577"/>
            <a:chExt cx="3300" cy="796"/>
          </a:xfrm>
        </p:grpSpPr>
        <p:sp>
          <p:nvSpPr>
            <p:cNvPr id="245776" name="Text Box 7"/>
            <p:cNvSpPr txBox="1">
              <a:spLocks noChangeArrowheads="1"/>
            </p:cNvSpPr>
            <p:nvPr/>
          </p:nvSpPr>
          <p:spPr bwMode="auto">
            <a:xfrm>
              <a:off x="231" y="1577"/>
              <a:ext cx="115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lnSpc>
                  <a:spcPct val="89000"/>
                </a:lnSpc>
              </a:pPr>
              <a:r>
                <a:rPr lang="en-GB" b="1">
                  <a:solidFill>
                    <a:srgbClr val="000000"/>
                  </a:solidFill>
                  <a:latin typeface="Courier New" charset="0"/>
                </a:rPr>
                <a:t>String s;</a:t>
              </a:r>
            </a:p>
          </p:txBody>
        </p:sp>
        <p:grpSp>
          <p:nvGrpSpPr>
            <p:cNvPr id="245777" name="Group 8"/>
            <p:cNvGrpSpPr>
              <a:grpSpLocks/>
            </p:cNvGrpSpPr>
            <p:nvPr/>
          </p:nvGrpSpPr>
          <p:grpSpPr bwMode="auto">
            <a:xfrm>
              <a:off x="2860" y="2089"/>
              <a:ext cx="671" cy="284"/>
              <a:chOff x="2860" y="2089"/>
              <a:chExt cx="671" cy="284"/>
            </a:xfrm>
          </p:grpSpPr>
          <p:sp>
            <p:nvSpPr>
              <p:cNvPr id="245778" name="Text Box 9"/>
              <p:cNvSpPr txBox="1">
                <a:spLocks noChangeArrowheads="1"/>
              </p:cNvSpPr>
              <p:nvPr/>
            </p:nvSpPr>
            <p:spPr bwMode="auto">
              <a:xfrm>
                <a:off x="2860" y="2089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5000" rIns="90000" bIns="4500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6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6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6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6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96000"/>
                  </a:lnSpc>
                </a:pPr>
                <a:r>
                  <a:rPr lang="en-GB">
                    <a:solidFill>
                      <a:srgbClr val="000000"/>
                    </a:solidFill>
                    <a:latin typeface="Lucida Sans Unicode" charset="0"/>
                  </a:rPr>
                  <a:t>s</a:t>
                </a:r>
              </a:p>
            </p:txBody>
          </p:sp>
          <p:sp>
            <p:nvSpPr>
              <p:cNvPr id="6154" name="AutoShape 10"/>
              <p:cNvSpPr>
                <a:spLocks noChangeArrowheads="1"/>
              </p:cNvSpPr>
              <p:nvPr/>
            </p:nvSpPr>
            <p:spPr bwMode="auto">
              <a:xfrm>
                <a:off x="3120" y="2160"/>
                <a:ext cx="411" cy="213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Times New Roman" pitchFamily="-1" charset="0"/>
                  <a:buNone/>
                  <a:defRPr/>
                </a:pPr>
                <a:endParaRPr lang="en-US">
                  <a:latin typeface="Times New Roman" pitchFamily="-1" charset="0"/>
                  <a:ea typeface="Lucida Sans Unicode" pitchFamily="-1" charset="0"/>
                  <a:cs typeface="Lucida Sans Unicode" pitchFamily="-1" charset="0"/>
                </a:endParaRPr>
              </a:p>
            </p:txBody>
          </p:sp>
        </p:grpSp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396875" y="2816225"/>
            <a:ext cx="8412163" cy="1465263"/>
            <a:chOff x="250" y="1774"/>
            <a:chExt cx="5299" cy="923"/>
          </a:xfrm>
        </p:grpSpPr>
        <p:sp>
          <p:nvSpPr>
            <p:cNvPr id="245771" name="Text Box 12"/>
            <p:cNvSpPr txBox="1">
              <a:spLocks noChangeArrowheads="1"/>
            </p:cNvSpPr>
            <p:nvPr/>
          </p:nvSpPr>
          <p:spPr bwMode="auto">
            <a:xfrm>
              <a:off x="250" y="2074"/>
              <a:ext cx="244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lnSpc>
                  <a:spcPct val="89000"/>
                </a:lnSpc>
              </a:pPr>
              <a:r>
                <a:rPr lang="en-GB" b="1" dirty="0">
                  <a:solidFill>
                    <a:srgbClr val="000000"/>
                  </a:solidFill>
                  <a:latin typeface="Courier New" charset="0"/>
                </a:rPr>
                <a:t>s=new String</a:t>
              </a:r>
              <a:r>
                <a:rPr lang="en-GB" b="1" dirty="0" smtClean="0">
                  <a:solidFill>
                    <a:srgbClr val="000000"/>
                  </a:solidFill>
                  <a:latin typeface="Courier New" charset="0"/>
                </a:rPr>
                <a:t>(</a:t>
              </a:r>
              <a:r>
                <a:rPr lang="it-IT" altLang="ja-JP" b="1" dirty="0" smtClean="0">
                  <a:solidFill>
                    <a:srgbClr val="000000"/>
                  </a:solidFill>
                  <a:latin typeface="Courier New" charset="0"/>
                </a:rPr>
                <a:t>"</a:t>
              </a:r>
              <a:r>
                <a:rPr lang="en-GB" altLang="ja-JP" b="1" dirty="0" err="1" smtClean="0">
                  <a:solidFill>
                    <a:srgbClr val="000000"/>
                  </a:solidFill>
                  <a:latin typeface="Courier New" charset="0"/>
                </a:rPr>
                <a:t>abc</a:t>
              </a:r>
              <a:r>
                <a:rPr lang="it-IT" altLang="ja-JP" b="1" dirty="0">
                  <a:solidFill>
                    <a:srgbClr val="000000"/>
                  </a:solidFill>
                  <a:latin typeface="Courier New" charset="0"/>
                </a:rPr>
                <a:t>"</a:t>
              </a:r>
              <a:r>
                <a:rPr lang="en-GB" altLang="ja-JP" b="1" dirty="0" smtClean="0">
                  <a:solidFill>
                    <a:srgbClr val="000000"/>
                  </a:solidFill>
                  <a:latin typeface="Courier New" charset="0"/>
                </a:rPr>
                <a:t>)</a:t>
              </a:r>
              <a:r>
                <a:rPr lang="en-GB" altLang="ja-JP" b="1" dirty="0">
                  <a:solidFill>
                    <a:srgbClr val="000000"/>
                  </a:solidFill>
                  <a:latin typeface="Courier New" charset="0"/>
                </a:rPr>
                <a:t>;</a:t>
              </a:r>
              <a:endParaRPr lang="en-GB" b="1" dirty="0">
                <a:solidFill>
                  <a:srgbClr val="000000"/>
                </a:solidFill>
                <a:latin typeface="Courier New" charset="0"/>
              </a:endParaRPr>
            </a:p>
          </p:txBody>
        </p:sp>
        <p:grpSp>
          <p:nvGrpSpPr>
            <p:cNvPr id="245772" name="Group 13"/>
            <p:cNvGrpSpPr>
              <a:grpSpLocks/>
            </p:cNvGrpSpPr>
            <p:nvPr/>
          </p:nvGrpSpPr>
          <p:grpSpPr bwMode="auto">
            <a:xfrm>
              <a:off x="4634" y="1774"/>
              <a:ext cx="915" cy="923"/>
              <a:chOff x="4634" y="1774"/>
              <a:chExt cx="915" cy="923"/>
            </a:xfrm>
          </p:grpSpPr>
          <p:sp>
            <p:nvSpPr>
              <p:cNvPr id="245774" name="AutoShape 14"/>
              <p:cNvSpPr>
                <a:spLocks noChangeArrowheads="1"/>
              </p:cNvSpPr>
              <p:nvPr/>
            </p:nvSpPr>
            <p:spPr bwMode="auto">
              <a:xfrm>
                <a:off x="4634" y="1774"/>
                <a:ext cx="916" cy="924"/>
              </a:xfrm>
              <a:prstGeom prst="roundRect">
                <a:avLst>
                  <a:gd name="adj" fmla="val 106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90000" tIns="45000" rIns="90000" bIns="45000" anchor="t" anchorCtr="1"/>
              <a:lstStyle/>
              <a:p>
                <a:pPr>
                  <a:spcBef>
                    <a:spcPts val="60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600" dirty="0" smtClean="0">
                  <a:solidFill>
                    <a:srgbClr val="000000"/>
                  </a:solidFill>
                  <a:latin typeface="+mn-lt"/>
                </a:endParaRPr>
              </a:p>
              <a:p>
                <a:pPr>
                  <a:spcBef>
                    <a:spcPts val="60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GB" dirty="0" smtClean="0">
                    <a:solidFill>
                      <a:srgbClr val="000000"/>
                    </a:solidFill>
                    <a:latin typeface="+mn-lt"/>
                  </a:rPr>
                  <a:t>:</a:t>
                </a:r>
                <a:r>
                  <a:rPr lang="en-GB" dirty="0">
                    <a:solidFill>
                      <a:srgbClr val="000000"/>
                    </a:solidFill>
                    <a:latin typeface="+mn-lt"/>
                  </a:rPr>
                  <a:t>String</a:t>
                </a:r>
              </a:p>
              <a:p>
                <a: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dirty="0">
                  <a:solidFill>
                    <a:srgbClr val="000000"/>
                  </a:solidFill>
                  <a:latin typeface="+mn-lt"/>
                </a:endParaRPr>
              </a:p>
              <a:p>
                <a: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it-IT" altLang="ja-JP" dirty="0">
                  <a:solidFill>
                    <a:srgbClr val="000000"/>
                  </a:solidFill>
                  <a:latin typeface="+mn-lt"/>
                </a:endParaRPr>
              </a:p>
              <a:p>
                <a: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ja-JP" altLang="en-GB" dirty="0">
                    <a:solidFill>
                      <a:srgbClr val="000000"/>
                    </a:solidFill>
                    <a:latin typeface="+mn-lt"/>
                  </a:rPr>
                  <a:t>“</a:t>
                </a:r>
                <a:r>
                  <a:rPr lang="en-GB" altLang="ja-JP" dirty="0" err="1">
                    <a:solidFill>
                      <a:srgbClr val="000000"/>
                    </a:solidFill>
                    <a:latin typeface="+mn-lt"/>
                  </a:rPr>
                  <a:t>abc</a:t>
                </a:r>
                <a:r>
                  <a:rPr lang="ja-JP" altLang="en-GB" dirty="0">
                    <a:solidFill>
                      <a:srgbClr val="000000"/>
                    </a:solidFill>
                    <a:latin typeface="+mn-lt"/>
                  </a:rPr>
                  <a:t>”</a:t>
                </a:r>
                <a:endParaRPr lang="en-GB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245775" name="Line 15"/>
              <p:cNvSpPr>
                <a:spLocks noChangeShapeType="1"/>
              </p:cNvSpPr>
              <p:nvPr/>
            </p:nvSpPr>
            <p:spPr bwMode="auto">
              <a:xfrm>
                <a:off x="4642" y="2074"/>
                <a:ext cx="90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773" name="Line 16"/>
            <p:cNvSpPr>
              <a:spLocks noChangeShapeType="1"/>
            </p:cNvSpPr>
            <p:nvPr/>
          </p:nvSpPr>
          <p:spPr bwMode="auto">
            <a:xfrm>
              <a:off x="3363" y="2287"/>
              <a:ext cx="129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765" name="Text Box 17"/>
          <p:cNvSpPr txBox="1">
            <a:spLocks noChangeArrowheads="1"/>
          </p:cNvSpPr>
          <p:nvPr/>
        </p:nvSpPr>
        <p:spPr bwMode="auto">
          <a:xfrm>
            <a:off x="133350" y="1793875"/>
            <a:ext cx="3290888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9000"/>
              </a:lnSpc>
            </a:pP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static String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ss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.. main(){</a:t>
            </a: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85000"/>
              </a:lnSpc>
            </a:pP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245766" name="Text Box 18"/>
          <p:cNvSpPr txBox="1">
            <a:spLocks noChangeArrowheads="1"/>
          </p:cNvSpPr>
          <p:nvPr/>
        </p:nvSpPr>
        <p:spPr bwMode="auto">
          <a:xfrm>
            <a:off x="4738688" y="2382838"/>
            <a:ext cx="48577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</a:pPr>
            <a:r>
              <a:rPr lang="en-GB">
                <a:solidFill>
                  <a:srgbClr val="000000"/>
                </a:solidFill>
                <a:latin typeface="Lucida Sans Unicode" charset="0"/>
              </a:rPr>
              <a:t>ss</a:t>
            </a:r>
          </a:p>
        </p:txBody>
      </p:sp>
      <p:sp>
        <p:nvSpPr>
          <p:cNvPr id="245767" name="AutoShape 19"/>
          <p:cNvSpPr>
            <a:spLocks noChangeArrowheads="1"/>
          </p:cNvSpPr>
          <p:nvPr/>
        </p:nvSpPr>
        <p:spPr bwMode="auto">
          <a:xfrm>
            <a:off x="5281613" y="2479675"/>
            <a:ext cx="760412" cy="398463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411163" y="2662238"/>
            <a:ext cx="6943725" cy="1692275"/>
            <a:chOff x="259" y="1677"/>
            <a:chExt cx="4374" cy="1066"/>
          </a:xfrm>
        </p:grpSpPr>
        <p:sp>
          <p:nvSpPr>
            <p:cNvPr id="245769" name="Text Box 21"/>
            <p:cNvSpPr txBox="1">
              <a:spLocks noChangeArrowheads="1"/>
            </p:cNvSpPr>
            <p:nvPr/>
          </p:nvSpPr>
          <p:spPr bwMode="auto">
            <a:xfrm>
              <a:off x="259" y="2482"/>
              <a:ext cx="92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lnSpc>
                  <a:spcPct val="89000"/>
                </a:lnSpc>
              </a:pPr>
              <a:r>
                <a:rPr lang="en-GB" b="1">
                  <a:solidFill>
                    <a:srgbClr val="000000"/>
                  </a:solidFill>
                  <a:latin typeface="Courier New" charset="0"/>
                </a:rPr>
                <a:t>ss = s;</a:t>
              </a:r>
            </a:p>
          </p:txBody>
        </p:sp>
        <p:sp>
          <p:nvSpPr>
            <p:cNvPr id="245770" name="Line 22"/>
            <p:cNvSpPr>
              <a:spLocks noChangeShapeType="1"/>
            </p:cNvSpPr>
            <p:nvPr/>
          </p:nvSpPr>
          <p:spPr bwMode="auto">
            <a:xfrm>
              <a:off x="3608" y="1677"/>
              <a:ext cx="1025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A4FF935-081D-954F-AE04-C4547EC4BE4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136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478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98438"/>
            <a:ext cx="8610600" cy="793750"/>
          </a:xfrm>
        </p:spPr>
        <p:txBody>
          <a:bodyPr lIns="90360" tIns="44280" rIns="90360" bIns="44280" anchor="ctr"/>
          <a:lstStyle/>
          <a:p>
            <a:pPr eaLnBrk="1" hangingPunct="1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Types of variables</a:t>
            </a:r>
          </a:p>
        </p:txBody>
      </p:sp>
      <p:sp>
        <p:nvSpPr>
          <p:cNvPr id="2478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35179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Instance variables</a:t>
            </a:r>
            <a:endParaRPr lang="en-GB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Stored within objects (in the heap)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A.k.a. fields or attributes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Local Variables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Stored in the Stack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Static Variables</a:t>
            </a:r>
            <a:r>
              <a:rPr lang="en-GB">
                <a:latin typeface="Lucida Sans Unicode" charset="0"/>
                <a:cs typeface="Lucida Sans Unicode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Stored in static memory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pooling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Class String maintains a private static pool of distinct strings</a:t>
            </a:r>
          </a:p>
          <a:p>
            <a:r>
              <a:rPr lang="en-US" dirty="0" smtClean="0"/>
              <a:t>String </a:t>
            </a:r>
            <a:r>
              <a:rPr lang="en-US" b="1" dirty="0" smtClean="0">
                <a:latin typeface="Courier New"/>
                <a:cs typeface="Courier New"/>
              </a:rPr>
              <a:t>intern()</a:t>
            </a:r>
          </a:p>
          <a:p>
            <a:pPr lvl="1"/>
            <a:r>
              <a:rPr lang="en-US" dirty="0" smtClean="0"/>
              <a:t>Checks if any string in the pool </a:t>
            </a:r>
            <a:r>
              <a:rPr lang="en-US" i="1" dirty="0" smtClean="0"/>
              <a:t>equals()</a:t>
            </a:r>
          </a:p>
          <a:p>
            <a:pPr lvl="1"/>
            <a:r>
              <a:rPr lang="en-US" dirty="0" smtClean="0"/>
              <a:t>If not adds the string to the pool</a:t>
            </a:r>
          </a:p>
          <a:p>
            <a:pPr lvl="1"/>
            <a:r>
              <a:rPr lang="en-US" dirty="0" smtClean="0"/>
              <a:t>Returns the string in the pool	</a:t>
            </a:r>
          </a:p>
          <a:p>
            <a:r>
              <a:rPr lang="en-US" dirty="0" smtClean="0"/>
              <a:t>For each string literal the compiler generates code similar to</a:t>
            </a:r>
          </a:p>
          <a:p>
            <a:pPr marL="0" indent="0">
              <a:buNone/>
            </a:pPr>
            <a:r>
              <a:rPr lang="en-US" sz="2500" b="1" dirty="0" smtClean="0">
                <a:latin typeface="Courier New"/>
                <a:cs typeface="Courier New"/>
              </a:rPr>
              <a:t>static literal = (new String("</a:t>
            </a:r>
            <a:r>
              <a:rPr lang="is-IS" sz="2500" b="1" dirty="0" smtClean="0">
                <a:latin typeface="Courier New"/>
                <a:cs typeface="Courier New"/>
              </a:rPr>
              <a:t>…</a:t>
            </a:r>
            <a:r>
              <a:rPr lang="en-US" sz="2500" b="1" dirty="0">
                <a:latin typeface="Courier New"/>
                <a:cs typeface="Courier New"/>
              </a:rPr>
              <a:t>"</a:t>
            </a:r>
            <a:r>
              <a:rPr lang="is-IS" sz="2500" b="1" dirty="0" smtClean="0">
                <a:latin typeface="Courier New"/>
                <a:cs typeface="Courier New"/>
              </a:rPr>
              <a:t>)</a:t>
            </a:r>
            <a:r>
              <a:rPr lang="en-US" sz="2500" b="1" dirty="0" smtClean="0">
                <a:latin typeface="Courier New"/>
                <a:cs typeface="Courier New"/>
              </a:rPr>
              <a:t>).intern();</a:t>
            </a:r>
            <a:endParaRPr lang="en-US" sz="25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6531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1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926C73E-3352-9E4A-AC15-3FFE3A9CAD1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138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5600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610600" cy="9921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Garbage collector</a:t>
            </a:r>
          </a:p>
        </p:txBody>
      </p:sp>
      <p:sp>
        <p:nvSpPr>
          <p:cNvPr id="2590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53400" cy="4727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>
                <a:latin typeface="Lucida Sans Unicode" charset="0"/>
                <a:cs typeface="Lucida Sans Unicode" charset="0"/>
              </a:rPr>
              <a:t>Component of the JVM that cleans the heap memory from </a:t>
            </a:r>
            <a:r>
              <a:rPr lang="ja-JP" altLang="en-GB">
                <a:latin typeface="Lucida Sans Unicode" charset="0"/>
                <a:cs typeface="Lucida Sans Unicode" charset="0"/>
              </a:rPr>
              <a:t>‘</a:t>
            </a:r>
            <a:r>
              <a:rPr lang="en-GB" altLang="ja-JP" i="1">
                <a:latin typeface="Lucida Sans Unicode" charset="0"/>
                <a:cs typeface="Lucida Sans Unicode" charset="0"/>
              </a:rPr>
              <a:t>dead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 objects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>
                <a:latin typeface="Lucida Sans Unicode" charset="0"/>
                <a:cs typeface="Lucida Sans Unicode" charset="0"/>
              </a:rPr>
              <a:t>Periodically it analyzes references and objects in memory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>
                <a:latin typeface="Lucida Sans Unicode" charset="0"/>
                <a:cs typeface="Lucida Sans Unicode" charset="0"/>
              </a:rPr>
              <a:t>...and then it releases the memory for objects with no active references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>
                <a:latin typeface="Lucida Sans Unicode" charset="0"/>
                <a:cs typeface="Lucida Sans Unicode" charset="0"/>
              </a:rPr>
              <a:t>No predefined timing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>
                <a:latin typeface="Courier New" charset="0"/>
                <a:ea typeface="Lucida Sans Unicode" charset="0"/>
                <a:cs typeface="Courier New" charset="0"/>
              </a:rPr>
              <a:t>System.gc()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can be used to </a:t>
            </a:r>
            <a:r>
              <a:rPr lang="en-GB" i="1">
                <a:latin typeface="Lucida Sans Unicode" charset="0"/>
                <a:ea typeface="Lucida Sans Unicode" charset="0"/>
                <a:cs typeface="Lucida Sans Unicode" charset="0"/>
              </a:rPr>
              <a:t>suggest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GC to run as soon as possible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Object destruction</a:t>
            </a:r>
          </a:p>
        </p:txBody>
      </p:sp>
      <p:sp>
        <p:nvSpPr>
          <p:cNvPr id="25805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’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s not made explicitly but it is made by the JVM garbage collector when releasing the object’s memory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ja-JP" dirty="0">
                <a:latin typeface="Lucida Sans Unicode" charset="0"/>
                <a:ea typeface="Lucida Sans Unicode" charset="0"/>
                <a:cs typeface="Lucida Sans Unicode" charset="0"/>
              </a:rPr>
              <a:t>Method </a:t>
            </a:r>
            <a:r>
              <a:rPr lang="en-GB" altLang="ja-JP" b="1" dirty="0">
                <a:latin typeface="Courier New"/>
                <a:ea typeface="Lucida Sans Unicode" charset="0"/>
                <a:cs typeface="Courier New"/>
              </a:rPr>
              <a:t>finalize()</a:t>
            </a:r>
            <a:r>
              <a:rPr lang="en-GB" altLang="ja-JP" dirty="0">
                <a:latin typeface="Lucida Sans Unicode" charset="0"/>
                <a:ea typeface="Lucida Sans Unicode" charset="0"/>
                <a:cs typeface="Lucida Sans Unicode" charset="0"/>
              </a:rPr>
              <a:t> is invoked upon release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ja-JP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Warning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: there is no guarantee an object will be ever explicitly released</a:t>
            </a:r>
          </a:p>
        </p:txBody>
      </p:sp>
      <p:sp>
        <p:nvSpPr>
          <p:cNvPr id="258049" name="Segnaposto numero diapositiva 4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8164BDF-5C7E-C74A-BE07-1886D98375D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139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>
                <a:latin typeface="Lucida Sans Unicode" charset="0"/>
                <a:cs typeface="Lucida Sans Unicode" charset="0"/>
              </a:rPr>
              <a:t>Finalization and garbage collection</a:t>
            </a:r>
          </a:p>
        </p:txBody>
      </p:sp>
      <p:sp>
        <p:nvSpPr>
          <p:cNvPr id="5" name="Folded Corner 4"/>
          <p:cNvSpPr/>
          <p:nvPr/>
        </p:nvSpPr>
        <p:spPr bwMode="auto">
          <a:xfrm>
            <a:off x="611188" y="1125538"/>
            <a:ext cx="7200900" cy="1943100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class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Item {		</a:t>
            </a:r>
          </a:p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 public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void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finalize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("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Finalizing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”); </a:t>
            </a:r>
          </a:p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 }</a:t>
            </a:r>
          </a:p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Folded Corner 5"/>
          <p:cNvSpPr/>
          <p:nvPr/>
        </p:nvSpPr>
        <p:spPr bwMode="auto">
          <a:xfrm>
            <a:off x="755650" y="3573463"/>
            <a:ext cx="7993063" cy="201612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public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static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void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main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String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it-IT" b="1" dirty="0" err="1">
                <a:solidFill>
                  <a:schemeClr val="tx1"/>
                </a:solidFill>
                <a:latin typeface="Courier New"/>
                <a:cs typeface="Courier New"/>
              </a:rPr>
              <a:t>args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[]){</a:t>
            </a:r>
          </a:p>
          <a:p>
            <a:pPr>
              <a:lnSpc>
                <a:spcPct val="100000"/>
              </a:lnSpc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 Item i = new Item();</a:t>
            </a:r>
          </a:p>
          <a:p>
            <a:pPr>
              <a:lnSpc>
                <a:spcPct val="100000"/>
              </a:lnSpc>
              <a:defRPr/>
            </a:pPr>
            <a:r>
              <a:rPr lang="ro-RO" b="1" dirty="0">
                <a:solidFill>
                  <a:schemeClr val="tx1"/>
                </a:solidFill>
                <a:latin typeface="Courier New"/>
                <a:cs typeface="Courier New"/>
              </a:rPr>
              <a:t>  i = null;</a:t>
            </a:r>
          </a:p>
          <a:p>
            <a:pPr>
              <a:lnSpc>
                <a:spcPct val="100000"/>
              </a:lnSpc>
              <a:defRPr/>
            </a:pPr>
            <a:r>
              <a:rPr lang="ro-RO" b="1" dirty="0">
                <a:solidFill>
                  <a:schemeClr val="tx1"/>
                </a:solidFill>
                <a:latin typeface="Courier New"/>
                <a:cs typeface="Courier New"/>
              </a:rPr>
              <a:t>  System.gc(); // </a:t>
            </a:r>
            <a:r>
              <a:rPr lang="ro-RO" b="1" dirty="0">
                <a:solidFill>
                  <a:srgbClr val="FF6600"/>
                </a:solidFill>
                <a:latin typeface="+mn-lt"/>
                <a:cs typeface="Courier New"/>
              </a:rPr>
              <a:t>probably will finalize object</a:t>
            </a:r>
          </a:p>
          <a:p>
            <a:pPr>
              <a:lnSpc>
                <a:spcPct val="100000"/>
              </a:lnSpc>
              <a:defRPr/>
            </a:pPr>
            <a:r>
              <a:rPr lang="ro-RO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  <a:endParaRPr lang="it-IT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Nested classes</a:t>
            </a:r>
            <a:endParaRPr lang="en-US" dirty="0"/>
          </a:p>
        </p:txBody>
      </p:sp>
      <p:sp>
        <p:nvSpPr>
          <p:cNvPr id="271362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class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Static nested class</a:t>
            </a:r>
          </a:p>
          <a:p>
            <a:pPr lvl="1"/>
            <a:r>
              <a:rPr lang="en-US" dirty="0" smtClean="0"/>
              <a:t>Within the container name space</a:t>
            </a:r>
          </a:p>
          <a:p>
            <a:r>
              <a:rPr lang="en-US" dirty="0" smtClean="0"/>
              <a:t>Inner class</a:t>
            </a:r>
          </a:p>
          <a:p>
            <a:pPr lvl="1"/>
            <a:r>
              <a:rPr lang="en-US" dirty="0" smtClean="0"/>
              <a:t>As above + contains a link to the creator container object</a:t>
            </a:r>
          </a:p>
          <a:p>
            <a:r>
              <a:rPr lang="en-US" dirty="0" smtClean="0"/>
              <a:t>Local inner class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a</a:t>
            </a:r>
            <a:r>
              <a:rPr lang="en-US" dirty="0" smtClean="0"/>
              <a:t>bove + may access (final) local variables</a:t>
            </a:r>
          </a:p>
          <a:p>
            <a:r>
              <a:rPr lang="en-US" dirty="0" smtClean="0">
                <a:solidFill>
                  <a:srgbClr val="FF6600"/>
                </a:solidFill>
              </a:rPr>
              <a:t>Anonymous inner class</a:t>
            </a:r>
          </a:p>
          <a:p>
            <a:pPr lvl="1"/>
            <a:r>
              <a:rPr lang="en-US" dirty="0" smtClean="0"/>
              <a:t>As above + no explicit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2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115616" y="1844824"/>
            <a:ext cx="5256584" cy="23042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1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(Static) Nested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 smtClean="0"/>
              <a:t>A class declared inside another class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package </a:t>
            </a:r>
            <a:r>
              <a:rPr lang="en-US" b="1" dirty="0" err="1" smtClean="0">
                <a:latin typeface="Courier New"/>
                <a:cs typeface="Courier New"/>
              </a:rPr>
              <a:t>pkg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class Outer {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static</a:t>
            </a:r>
            <a:r>
              <a:rPr lang="en-US" b="1" dirty="0" smtClean="0">
                <a:latin typeface="Courier New"/>
                <a:cs typeface="Courier New"/>
              </a:rPr>
              <a:t> class Nested {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}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</a:p>
          <a:p>
            <a:pPr>
              <a:defRPr/>
            </a:pPr>
            <a:r>
              <a:rPr lang="en-US" dirty="0" smtClean="0"/>
              <a:t>Similar to regular classes</a:t>
            </a:r>
          </a:p>
          <a:p>
            <a:pPr lvl="1">
              <a:defRPr/>
            </a:pPr>
            <a:r>
              <a:rPr lang="en-US" dirty="0" smtClean="0"/>
              <a:t>Subject to usual member visibility rules</a:t>
            </a:r>
          </a:p>
          <a:p>
            <a:pPr lvl="1">
              <a:defRPr/>
            </a:pPr>
            <a:r>
              <a:rPr lang="en-US" dirty="0" smtClean="0"/>
              <a:t>Fully qualified name includes the outer class:</a:t>
            </a:r>
          </a:p>
          <a:p>
            <a:pPr lvl="2">
              <a:defRPr/>
            </a:pPr>
            <a:r>
              <a:rPr lang="en-US" b="1" dirty="0" err="1" smtClean="0">
                <a:latin typeface="Courier New"/>
                <a:cs typeface="Courier New"/>
              </a:rPr>
              <a:t>pkg.Outer.Inner</a:t>
            </a:r>
            <a:endParaRPr lang="en-US" b="1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(Static) Nested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class -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nested classes can be used to hide classes that are used only within another class</a:t>
            </a:r>
          </a:p>
          <a:p>
            <a:pPr lvl="1"/>
            <a:r>
              <a:rPr lang="en-US" dirty="0" smtClean="0"/>
              <a:t>Reduce namespace pollution</a:t>
            </a:r>
          </a:p>
          <a:p>
            <a:pPr lvl="1"/>
            <a:r>
              <a:rPr lang="en-US" dirty="0" smtClean="0"/>
              <a:t>Encapsulate internal details</a:t>
            </a:r>
          </a:p>
          <a:p>
            <a:pPr lvl="1"/>
            <a:r>
              <a:rPr lang="en-US" dirty="0" smtClean="0"/>
              <a:t>Nested class lies within the scope of the outer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569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611560" y="1340768"/>
            <a:ext cx="7488832" cy="4680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(Static) Nested class -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 smtClean="0">
                <a:latin typeface="Courier New"/>
                <a:cs typeface="Courier New"/>
              </a:rPr>
              <a:t>public class </a:t>
            </a:r>
            <a:r>
              <a:rPr lang="en-US" sz="2600" b="1" dirty="0" err="1" smtClean="0">
                <a:latin typeface="Courier New"/>
                <a:cs typeface="Courier New"/>
              </a:rPr>
              <a:t>StackOfInt</a:t>
            </a:r>
            <a:r>
              <a:rPr lang="en-US" sz="2600" b="1" dirty="0" smtClean="0">
                <a:latin typeface="Courier New"/>
                <a:cs typeface="Courier New"/>
              </a:rPr>
              <a:t>{</a:t>
            </a:r>
          </a:p>
          <a:p>
            <a:pPr marL="0" indent="0">
              <a:buNone/>
            </a:pPr>
            <a:r>
              <a:rPr lang="en-US" sz="2600" b="1" dirty="0" smtClean="0">
                <a:latin typeface="Courier New"/>
                <a:cs typeface="Courier New"/>
              </a:rPr>
              <a:t>  private static class Element {</a:t>
            </a:r>
          </a:p>
          <a:p>
            <a:pPr marL="0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</a:t>
            </a:r>
            <a:r>
              <a:rPr lang="en-US" sz="2600" b="1" dirty="0" err="1" smtClean="0">
                <a:latin typeface="Courier New"/>
                <a:cs typeface="Courier New"/>
              </a:rPr>
              <a:t>int</a:t>
            </a:r>
            <a:r>
              <a:rPr lang="en-US" sz="2600" b="1" dirty="0" smtClean="0">
                <a:latin typeface="Courier New"/>
                <a:cs typeface="Courier New"/>
              </a:rPr>
              <a:t> value;</a:t>
            </a:r>
          </a:p>
          <a:p>
            <a:pPr marL="0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  Element next;</a:t>
            </a:r>
          </a:p>
          <a:p>
            <a:pPr marL="0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}</a:t>
            </a:r>
          </a:p>
          <a:p>
            <a:pPr marL="0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private Element head</a:t>
            </a:r>
          </a:p>
          <a:p>
            <a:pPr marL="0" indent="0">
              <a:buNone/>
            </a:pP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b="1" dirty="0" smtClean="0">
                <a:latin typeface="Courier New"/>
                <a:cs typeface="Courier New"/>
              </a:rPr>
              <a:t> public void push(</a:t>
            </a:r>
            <a:r>
              <a:rPr lang="en-US" sz="2600" b="1" dirty="0" err="1" smtClean="0">
                <a:latin typeface="Courier New"/>
                <a:cs typeface="Courier New"/>
              </a:rPr>
              <a:t>int</a:t>
            </a:r>
            <a:r>
              <a:rPr lang="en-US" sz="2600" b="1" dirty="0" smtClean="0">
                <a:latin typeface="Courier New"/>
                <a:cs typeface="Courier New"/>
              </a:rPr>
              <a:t> v){ </a:t>
            </a:r>
            <a:r>
              <a:rPr lang="mr-IN" sz="2600" b="1" dirty="0" smtClean="0">
                <a:latin typeface="Courier New"/>
                <a:cs typeface="Courier New"/>
              </a:rPr>
              <a:t>…</a:t>
            </a:r>
            <a:r>
              <a:rPr lang="it-IT" sz="2600" b="1" dirty="0" smtClean="0">
                <a:latin typeface="Courier New"/>
                <a:cs typeface="Courier New"/>
              </a:rPr>
              <a:t> }</a:t>
            </a:r>
          </a:p>
          <a:p>
            <a:pPr marL="0" indent="0">
              <a:buNone/>
            </a:pPr>
            <a:r>
              <a:rPr lang="it-IT" sz="2600" b="1" dirty="0">
                <a:latin typeface="Courier New"/>
                <a:cs typeface="Courier New"/>
              </a:rPr>
              <a:t> </a:t>
            </a:r>
            <a:r>
              <a:rPr lang="it-IT" sz="2600" b="1" dirty="0" smtClean="0">
                <a:latin typeface="Courier New"/>
                <a:cs typeface="Courier New"/>
              </a:rPr>
              <a:t> public </a:t>
            </a:r>
            <a:r>
              <a:rPr lang="it-IT" sz="2600" b="1" dirty="0" err="1" smtClean="0">
                <a:latin typeface="Courier New"/>
                <a:cs typeface="Courier New"/>
              </a:rPr>
              <a:t>int</a:t>
            </a:r>
            <a:r>
              <a:rPr lang="it-IT" sz="2600" b="1" dirty="0" smtClean="0">
                <a:latin typeface="Courier New"/>
                <a:cs typeface="Courier New"/>
              </a:rPr>
              <a:t> </a:t>
            </a:r>
            <a:r>
              <a:rPr lang="it-IT" sz="2600" b="1" dirty="0" err="1" smtClean="0">
                <a:latin typeface="Courier New"/>
                <a:cs typeface="Courier New"/>
              </a:rPr>
              <a:t>void</a:t>
            </a:r>
            <a:r>
              <a:rPr lang="it-IT" sz="2600" b="1" dirty="0" smtClean="0">
                <a:latin typeface="Courier New"/>
                <a:cs typeface="Courier New"/>
              </a:rPr>
              <a:t> pop(){ </a:t>
            </a:r>
            <a:r>
              <a:rPr lang="mr-IN" sz="2600" b="1" dirty="0" smtClean="0">
                <a:latin typeface="Courier New"/>
                <a:cs typeface="Courier New"/>
              </a:rPr>
              <a:t>…</a:t>
            </a:r>
            <a:r>
              <a:rPr lang="it-IT" sz="2600" b="1" dirty="0" smtClean="0">
                <a:latin typeface="Courier New"/>
                <a:cs typeface="Courier New"/>
              </a:rPr>
              <a:t> }</a:t>
            </a:r>
          </a:p>
          <a:p>
            <a:pPr marL="0" indent="0">
              <a:buNone/>
            </a:pPr>
            <a:r>
              <a:rPr lang="it-IT" sz="2600" b="1" dirty="0">
                <a:latin typeface="Courier New"/>
                <a:cs typeface="Courier New"/>
              </a:rPr>
              <a:t>}</a:t>
            </a:r>
            <a:endParaRPr lang="en-US" sz="26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4105698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043608" y="1340768"/>
            <a:ext cx="3168352" cy="2088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2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package </a:t>
            </a:r>
            <a:r>
              <a:rPr lang="en-US" b="1" dirty="0" err="1" smtClean="0">
                <a:latin typeface="Courier New"/>
                <a:cs typeface="Courier New"/>
              </a:rPr>
              <a:t>pkg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class Outer {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class Inner{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}</a:t>
            </a:r>
          </a:p>
          <a:p>
            <a:pPr marL="457200" lvl="1" indent="0">
              <a:buFont typeface="Symbol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Any </a:t>
            </a:r>
            <a:r>
              <a:rPr lang="en-US" dirty="0"/>
              <a:t>inner class </a:t>
            </a:r>
            <a:r>
              <a:rPr lang="en-US" dirty="0" smtClean="0"/>
              <a:t>instance is </a:t>
            </a:r>
            <a:r>
              <a:rPr lang="en-US" dirty="0"/>
              <a:t>associated with </a:t>
            </a:r>
            <a:r>
              <a:rPr lang="en-US" dirty="0" smtClean="0"/>
              <a:t>the </a:t>
            </a:r>
            <a:r>
              <a:rPr lang="en-US" dirty="0"/>
              <a:t>instance of its enclosing </a:t>
            </a:r>
            <a:r>
              <a:rPr lang="en-US" dirty="0" smtClean="0"/>
              <a:t>class that instantiated it</a:t>
            </a:r>
          </a:p>
          <a:p>
            <a:pPr lvl="1">
              <a:defRPr/>
            </a:pPr>
            <a:r>
              <a:rPr lang="en-US" dirty="0" smtClean="0"/>
              <a:t>Cannot be instantiated from a static method</a:t>
            </a:r>
            <a:endParaRPr lang="en-US" dirty="0"/>
          </a:p>
          <a:p>
            <a:pPr>
              <a:defRPr/>
            </a:pPr>
            <a:r>
              <a:rPr lang="en-US" dirty="0" smtClean="0"/>
              <a:t>Has </a:t>
            </a:r>
            <a:r>
              <a:rPr lang="en-US" dirty="0"/>
              <a:t>direct access to that </a:t>
            </a:r>
            <a:r>
              <a:rPr lang="en-US" dirty="0" smtClean="0"/>
              <a:t>enclosing object methods </a:t>
            </a:r>
            <a:r>
              <a:rPr lang="en-US" dirty="0"/>
              <a:t>and </a:t>
            </a:r>
            <a:r>
              <a:rPr lang="en-US" dirty="0" smtClean="0"/>
              <a:t>fields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16016" y="1340768"/>
            <a:ext cx="3875831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000" dirty="0">
                <a:solidFill>
                  <a:schemeClr val="tx1"/>
                </a:solidFill>
                <a:latin typeface="+mn-lt"/>
              </a:rPr>
              <a:t>A.k.a. non-static nested </a:t>
            </a:r>
            <a:r>
              <a:rPr lang="en-US" sz="2000" dirty="0" smtClean="0">
                <a:solidFill>
                  <a:schemeClr val="tx1"/>
                </a:solidFill>
                <a:latin typeface="+mn-lt"/>
              </a:rPr>
              <a:t>class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611560" y="1340768"/>
            <a:ext cx="7920880" cy="44644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2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Inner Class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en-US" sz="2000" b="1" dirty="0">
                <a:latin typeface="Courier New"/>
                <a:cs typeface="Courier New"/>
              </a:rPr>
              <a:t>public class </a:t>
            </a:r>
            <a:r>
              <a:rPr lang="en-US" sz="2000" b="1" dirty="0" smtClean="0">
                <a:latin typeface="Courier New"/>
                <a:cs typeface="Courier New"/>
              </a:rPr>
              <a:t>Counter {</a:t>
            </a:r>
            <a:endParaRPr lang="en-US" sz="20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</a:t>
            </a:r>
            <a:r>
              <a:rPr lang="fr-FR" sz="2000" b="1" dirty="0" err="1">
                <a:latin typeface="Courier New"/>
                <a:cs typeface="Courier New"/>
              </a:rPr>
              <a:t>int</a:t>
            </a:r>
            <a:r>
              <a:rPr lang="fr-FR" sz="2000" b="1" dirty="0">
                <a:latin typeface="Courier New"/>
                <a:cs typeface="Courier New"/>
              </a:rPr>
              <a:t> i</a:t>
            </a:r>
            <a:r>
              <a:rPr lang="fr-FR" sz="2000" b="1" dirty="0" smtClean="0">
                <a:latin typeface="Courier New"/>
                <a:cs typeface="Courier New"/>
              </a:rPr>
              <a:t>;</a:t>
            </a:r>
            <a:r>
              <a:rPr lang="fr-FR" sz="2000" b="1" dirty="0">
                <a:latin typeface="Courier New"/>
                <a:cs typeface="Courier New"/>
              </a:rPr>
              <a:t>	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</a:t>
            </a:r>
            <a:r>
              <a:rPr lang="fr-FR" sz="2000" b="1" dirty="0" smtClean="0">
                <a:latin typeface="Courier New"/>
                <a:cs typeface="Courier New"/>
              </a:rPr>
              <a:t>public class </a:t>
            </a:r>
            <a:r>
              <a:rPr lang="fr-FR" sz="2000" b="1" dirty="0" err="1" smtClean="0">
                <a:latin typeface="Courier New"/>
                <a:cs typeface="Courier New"/>
              </a:rPr>
              <a:t>Incrementer</a:t>
            </a:r>
            <a:r>
              <a:rPr lang="fr-FR" sz="2000" b="1" dirty="0" smtClean="0">
                <a:latin typeface="Courier New"/>
                <a:cs typeface="Courier New"/>
              </a:rPr>
              <a:t> {</a:t>
            </a:r>
            <a:endParaRPr lang="fr-FR" sz="20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	</a:t>
            </a:r>
            <a:r>
              <a:rPr lang="fr-FR" sz="2000" b="1" dirty="0" err="1" smtClean="0">
                <a:latin typeface="Courier New"/>
                <a:cs typeface="Courier New"/>
              </a:rPr>
              <a:t>private</a:t>
            </a:r>
            <a:r>
              <a:rPr lang="fr-FR" sz="2000" b="1" dirty="0" smtClean="0">
                <a:latin typeface="Courier New"/>
                <a:cs typeface="Courier New"/>
              </a:rPr>
              <a:t> </a:t>
            </a:r>
            <a:r>
              <a:rPr lang="fr-FR" sz="2000" b="1" dirty="0" err="1" smtClean="0">
                <a:latin typeface="Courier New"/>
                <a:cs typeface="Courier New"/>
              </a:rPr>
              <a:t>int</a:t>
            </a:r>
            <a:r>
              <a:rPr lang="fr-FR" sz="2000" b="1" dirty="0" smtClean="0">
                <a:latin typeface="Courier New"/>
                <a:cs typeface="Courier New"/>
              </a:rPr>
              <a:t> </a:t>
            </a:r>
            <a:r>
              <a:rPr lang="fr-FR" sz="2000" b="1" dirty="0" err="1">
                <a:latin typeface="Courier New"/>
                <a:cs typeface="Courier New"/>
              </a:rPr>
              <a:t>step</a:t>
            </a:r>
            <a:r>
              <a:rPr lang="fr-FR" sz="2000" b="1" dirty="0">
                <a:latin typeface="Courier New"/>
                <a:cs typeface="Courier New"/>
              </a:rPr>
              <a:t>=1;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	</a:t>
            </a:r>
            <a:r>
              <a:rPr lang="fr-FR" sz="2000" b="1" dirty="0" smtClean="0">
                <a:latin typeface="Courier New"/>
                <a:cs typeface="Courier New"/>
              </a:rPr>
              <a:t>public </a:t>
            </a:r>
            <a:r>
              <a:rPr lang="fr-FR" sz="2000" b="1" dirty="0" err="1" smtClean="0">
                <a:latin typeface="Courier New"/>
                <a:cs typeface="Courier New"/>
              </a:rPr>
              <a:t>void</a:t>
            </a:r>
            <a:r>
              <a:rPr lang="fr-FR" sz="2000" b="1" dirty="0" smtClean="0">
                <a:latin typeface="Courier New"/>
                <a:cs typeface="Courier New"/>
              </a:rPr>
              <a:t> </a:t>
            </a:r>
            <a:r>
              <a:rPr lang="fr-FR" sz="2000" b="1" dirty="0" err="1">
                <a:latin typeface="Courier New"/>
                <a:cs typeface="Courier New"/>
              </a:rPr>
              <a:t>increment</a:t>
            </a:r>
            <a:r>
              <a:rPr lang="fr-FR" sz="2000" b="1" dirty="0">
                <a:latin typeface="Courier New"/>
                <a:cs typeface="Courier New"/>
              </a:rPr>
              <a:t>()</a:t>
            </a:r>
            <a:r>
              <a:rPr lang="fr-FR" sz="2000" b="1" dirty="0" smtClean="0">
                <a:latin typeface="Courier New"/>
                <a:cs typeface="Courier New"/>
              </a:rPr>
              <a:t>{ i</a:t>
            </a:r>
            <a:r>
              <a:rPr lang="fr-FR" sz="2000" b="1" dirty="0">
                <a:latin typeface="Courier New"/>
                <a:cs typeface="Courier New"/>
              </a:rPr>
              <a:t>+=</a:t>
            </a:r>
            <a:r>
              <a:rPr lang="fr-FR" sz="2000" b="1" dirty="0" err="1">
                <a:latin typeface="Courier New"/>
                <a:cs typeface="Courier New"/>
              </a:rPr>
              <a:t>step</a:t>
            </a:r>
            <a:r>
              <a:rPr lang="fr-FR" sz="2000" b="1" dirty="0" smtClean="0">
                <a:latin typeface="Courier New"/>
                <a:cs typeface="Courier New"/>
              </a:rPr>
              <a:t>; }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</a:t>
            </a:r>
            <a:r>
              <a:rPr lang="fr-FR" sz="2000" b="1" dirty="0" smtClean="0">
                <a:latin typeface="Courier New"/>
                <a:cs typeface="Courier New"/>
              </a:rPr>
              <a:t>	</a:t>
            </a:r>
            <a:r>
              <a:rPr lang="fr-FR" sz="2000" b="1" dirty="0" err="1" smtClean="0">
                <a:latin typeface="Courier New"/>
                <a:cs typeface="Courier New"/>
              </a:rPr>
              <a:t>Incrementer</a:t>
            </a:r>
            <a:r>
              <a:rPr lang="fr-FR" sz="2000" b="1" dirty="0" smtClean="0">
                <a:latin typeface="Courier New"/>
                <a:cs typeface="Courier New"/>
              </a:rPr>
              <a:t>(</a:t>
            </a:r>
            <a:r>
              <a:rPr lang="fr-FR" sz="2000" b="1" dirty="0" err="1" smtClean="0">
                <a:latin typeface="Courier New"/>
                <a:cs typeface="Courier New"/>
              </a:rPr>
              <a:t>int</a:t>
            </a:r>
            <a:r>
              <a:rPr lang="fr-FR" sz="2000" b="1" dirty="0" smtClean="0">
                <a:latin typeface="Courier New"/>
                <a:cs typeface="Courier New"/>
              </a:rPr>
              <a:t> </a:t>
            </a:r>
            <a:r>
              <a:rPr lang="fr-FR" sz="2000" b="1" dirty="0" err="1" smtClean="0">
                <a:latin typeface="Courier New"/>
                <a:cs typeface="Courier New"/>
              </a:rPr>
              <a:t>step</a:t>
            </a:r>
            <a:r>
              <a:rPr lang="fr-FR" sz="2000" b="1" dirty="0" smtClean="0">
                <a:latin typeface="Courier New"/>
                <a:cs typeface="Courier New"/>
              </a:rPr>
              <a:t>){ </a:t>
            </a:r>
            <a:r>
              <a:rPr lang="fr-FR" sz="2000" b="1" dirty="0" err="1" smtClean="0">
                <a:latin typeface="Courier New"/>
                <a:cs typeface="Courier New"/>
              </a:rPr>
              <a:t>this.step</a:t>
            </a:r>
            <a:r>
              <a:rPr lang="fr-FR" sz="2000" b="1" dirty="0" smtClean="0">
                <a:latin typeface="Courier New"/>
                <a:cs typeface="Courier New"/>
              </a:rPr>
              <a:t>=</a:t>
            </a:r>
            <a:r>
              <a:rPr lang="fr-FR" sz="2000" b="1" dirty="0" err="1" smtClean="0">
                <a:latin typeface="Courier New"/>
                <a:cs typeface="Courier New"/>
              </a:rPr>
              <a:t>step</a:t>
            </a:r>
            <a:r>
              <a:rPr lang="fr-FR" sz="2000" b="1" dirty="0" smtClean="0">
                <a:latin typeface="Courier New"/>
                <a:cs typeface="Courier New"/>
              </a:rPr>
              <a:t>; }</a:t>
            </a:r>
            <a:endParaRPr lang="fr-FR" sz="20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r-FR" sz="2000" b="1" dirty="0">
                <a:latin typeface="Courier New"/>
                <a:cs typeface="Courier New"/>
              </a:rPr>
              <a:t>	</a:t>
            </a:r>
            <a:r>
              <a:rPr lang="fr-FR" sz="2000" b="1" dirty="0" smtClean="0">
                <a:latin typeface="Courier New"/>
                <a:cs typeface="Courier New"/>
              </a:rPr>
              <a:t>}</a:t>
            </a:r>
            <a:endParaRPr lang="fr-FR" sz="20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>
                <a:latin typeface="Courier New"/>
                <a:cs typeface="Courier New"/>
              </a:rPr>
              <a:t>	</a:t>
            </a:r>
            <a:r>
              <a:rPr lang="fi-FI" sz="2000" b="1" dirty="0" err="1" smtClean="0">
                <a:latin typeface="Courier New"/>
                <a:cs typeface="Courier New"/>
              </a:rPr>
              <a:t>public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void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buildIncrementer(int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step</a:t>
            </a:r>
            <a:r>
              <a:rPr lang="fi-FI" sz="2000" b="1" dirty="0" smtClean="0">
                <a:latin typeface="Courier New"/>
                <a:cs typeface="Courier New"/>
              </a:rPr>
              <a:t>)</a:t>
            </a:r>
            <a:r>
              <a:rPr lang="fi-FI" sz="2000" b="1" dirty="0">
                <a:latin typeface="Courier New"/>
                <a:cs typeface="Courier New"/>
              </a:rPr>
              <a:t>{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None/>
              <a:defRPr/>
            </a:pPr>
            <a:r>
              <a:rPr lang="fi-FI" sz="2000" b="1" dirty="0">
                <a:latin typeface="Courier New"/>
                <a:cs typeface="Courier New"/>
              </a:rPr>
              <a:t>		</a:t>
            </a:r>
            <a:r>
              <a:rPr lang="fi-FI" sz="2000" b="1" dirty="0" err="1" smtClean="0">
                <a:latin typeface="Courier New"/>
                <a:cs typeface="Courier New"/>
              </a:rPr>
              <a:t>return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>
                <a:latin typeface="Courier New"/>
                <a:cs typeface="Courier New"/>
              </a:rPr>
              <a:t>new </a:t>
            </a:r>
            <a:r>
              <a:rPr lang="fr-FR" sz="2000" b="1" dirty="0" err="1" smtClean="0">
                <a:latin typeface="Courier New"/>
                <a:cs typeface="Courier New"/>
              </a:rPr>
              <a:t>Incrementer</a:t>
            </a:r>
            <a:r>
              <a:rPr lang="fi-FI" sz="2000" b="1" dirty="0" smtClean="0">
                <a:latin typeface="Courier New"/>
                <a:cs typeface="Courier New"/>
              </a:rPr>
              <a:t>(</a:t>
            </a:r>
            <a:r>
              <a:rPr lang="fi-FI" sz="2000" b="1" dirty="0" err="1" smtClean="0">
                <a:latin typeface="Courier New"/>
                <a:cs typeface="Courier New"/>
              </a:rPr>
              <a:t>step</a:t>
            </a:r>
            <a:r>
              <a:rPr lang="fi-FI" sz="2000" b="1" dirty="0" smtClean="0">
                <a:latin typeface="Courier New"/>
                <a:cs typeface="Courier New"/>
              </a:rPr>
              <a:t>)</a:t>
            </a:r>
            <a:r>
              <a:rPr lang="fi-FI" sz="2000" b="1" dirty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>
                <a:latin typeface="Courier New"/>
                <a:cs typeface="Courier New"/>
              </a:rPr>
              <a:t>	</a:t>
            </a:r>
            <a:r>
              <a:rPr lang="fi-FI" sz="2000" b="1" dirty="0" smtClean="0">
                <a:latin typeface="Courier New"/>
                <a:cs typeface="Courier New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>
                <a:latin typeface="Courier New"/>
                <a:cs typeface="Courier New"/>
              </a:rPr>
              <a:t> 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public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int</a:t>
            </a:r>
            <a:r>
              <a:rPr lang="fi-FI" sz="2000" b="1" dirty="0" smtClean="0">
                <a:latin typeface="Courier New"/>
                <a:cs typeface="Courier New"/>
              </a:rPr>
              <a:t> </a:t>
            </a:r>
            <a:r>
              <a:rPr lang="fi-FI" sz="2000" b="1" dirty="0" err="1" smtClean="0">
                <a:latin typeface="Courier New"/>
                <a:cs typeface="Courier New"/>
              </a:rPr>
              <a:t>getValue</a:t>
            </a:r>
            <a:r>
              <a:rPr lang="fi-FI" sz="2000" b="1" dirty="0" smtClean="0">
                <a:latin typeface="Courier New"/>
                <a:cs typeface="Courier New"/>
              </a:rPr>
              <a:t>(){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 smtClean="0">
                <a:latin typeface="Courier New"/>
                <a:cs typeface="Courier New"/>
              </a:rPr>
              <a:t>    </a:t>
            </a:r>
            <a:r>
              <a:rPr lang="fi-FI" sz="2000" b="1" dirty="0" err="1" smtClean="0">
                <a:latin typeface="Courier New"/>
                <a:cs typeface="Courier New"/>
              </a:rPr>
              <a:t>return</a:t>
            </a:r>
            <a:r>
              <a:rPr lang="fi-FI" sz="2000" b="1" dirty="0" smtClean="0">
                <a:latin typeface="Courier New"/>
                <a:cs typeface="Courier New"/>
              </a:rPr>
              <a:t> i;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 smtClean="0">
                <a:latin typeface="Courier New"/>
                <a:cs typeface="Courier New"/>
              </a:rPr>
              <a:t>  }</a:t>
            </a:r>
            <a:endParaRPr lang="fi-FI" sz="2000" b="1" dirty="0">
              <a:latin typeface="Courier New"/>
              <a:cs typeface="Courier New"/>
            </a:endParaRP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r>
              <a:rPr lang="fi-FI" sz="2000" b="1" dirty="0">
                <a:latin typeface="Courier New"/>
                <a:cs typeface="Courier New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200"/>
              </a:spcBef>
              <a:buFont typeface="Wingdings" charset="0"/>
              <a:buNone/>
              <a:defRPr/>
            </a:pP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292081" y="3789040"/>
            <a:ext cx="3851920" cy="864096"/>
          </a:xfrm>
          <a:prstGeom prst="wedgeRoundRectCallout">
            <a:avLst>
              <a:gd name="adj1" fmla="val -79008"/>
              <a:gd name="adj2" fmla="val -52136"/>
              <a:gd name="adj3" fmla="val 16667"/>
            </a:avLst>
          </a:prstGeom>
          <a:solidFill>
            <a:srgbClr val="E6E0EC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0000"/>
              </a:lnSpc>
              <a:buFont typeface="Times New Roman" pitchFamily="16" charset="0"/>
              <a:buNone/>
              <a:defRPr/>
            </a:pPr>
            <a:r>
              <a:rPr lang="en-US" dirty="0" smtClean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inner </a:t>
            </a: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instance is linked to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this</a:t>
            </a:r>
            <a:r>
              <a:rPr lang="en-US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 outer object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907704" y="4869160"/>
            <a:ext cx="6984776" cy="18722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Counter c = new Counter()</a:t>
            </a:r>
          </a:p>
          <a:p>
            <a:pPr>
              <a:lnSpc>
                <a:spcPct val="90000"/>
              </a:lnSpc>
            </a:pP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Incrementer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byOne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 = </a:t>
            </a: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c.buildIncrementer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(1);</a:t>
            </a:r>
          </a:p>
          <a:p>
            <a:pPr>
              <a:lnSpc>
                <a:spcPct val="90000"/>
              </a:lnSpc>
            </a:pP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Incrementer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byFour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=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cs typeface="Courier New"/>
              </a:rPr>
              <a:t>c.buildIncrementer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(4);</a:t>
            </a:r>
          </a:p>
          <a:p>
            <a:pPr>
              <a:lnSpc>
                <a:spcPct val="90000"/>
              </a:lnSpc>
            </a:pP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byOne.increment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byFour.increment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c.getValue</a:t>
            </a:r>
            <a:r>
              <a:rPr lang="en-US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(); </a:t>
            </a:r>
            <a:r>
              <a:rPr lang="en-US" sz="2000" b="1" dirty="0" smtClean="0">
                <a:solidFill>
                  <a:schemeClr val="accent3"/>
                </a:solidFill>
                <a:latin typeface="Courier New"/>
                <a:cs typeface="Courier New"/>
              </a:rPr>
              <a:t>// -&gt; 5</a:t>
            </a:r>
            <a:endParaRPr lang="en-US" sz="2000" b="1" dirty="0">
              <a:solidFill>
                <a:schemeClr val="accent3"/>
              </a:solidFill>
              <a:latin typeface="Courier New"/>
              <a:cs typeface="Courier New"/>
            </a:endParaRPr>
          </a:p>
          <a:p>
            <a:pPr>
              <a:lnSpc>
                <a:spcPct val="90000"/>
              </a:lnSpc>
            </a:pPr>
            <a:endParaRPr lang="en-US" sz="2000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115616" y="1844824"/>
            <a:ext cx="6480720" cy="30243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31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Local Inner Class</a:t>
            </a:r>
          </a:p>
        </p:txBody>
      </p:sp>
      <p:sp>
        <p:nvSpPr>
          <p:cNvPr id="275458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137525" cy="5085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Declared inside a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method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public void m(){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dirty="0">
                <a:latin typeface="Courier New"/>
                <a:cs typeface="Courier New"/>
              </a:rPr>
              <a:t> j=1;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class X 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	</a:t>
            </a: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dirty="0">
                <a:latin typeface="Courier New"/>
                <a:cs typeface="Courier New"/>
              </a:rPr>
              <a:t> plus(){ return </a:t>
            </a:r>
            <a:r>
              <a:rPr lang="fr-FR" sz="2400" b="1" dirty="0" smtClean="0">
                <a:latin typeface="Courier New"/>
                <a:cs typeface="Courier New"/>
              </a:rPr>
              <a:t>j + 1</a:t>
            </a:r>
            <a:r>
              <a:rPr lang="fr-FR" sz="2400" b="1" dirty="0">
                <a:latin typeface="Courier New"/>
                <a:cs typeface="Courier New"/>
              </a:rPr>
              <a:t>; 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X x = new X();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>
                <a:latin typeface="Courier New"/>
                <a:cs typeface="Courier New"/>
              </a:rPr>
              <a:t>System.out.println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x.plus</a:t>
            </a:r>
            <a:r>
              <a:rPr lang="en-US" sz="2400" b="1" dirty="0">
                <a:latin typeface="Courier New"/>
                <a:cs typeface="Courier New"/>
              </a:rPr>
              <a:t>());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}</a:t>
            </a:r>
          </a:p>
          <a:p>
            <a:pPr lvl="1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References to local variables are allowed </a:t>
            </a:r>
          </a:p>
          <a:p>
            <a:pPr lvl="2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Replaced with “current” value</a:t>
            </a:r>
          </a:p>
          <a:p>
            <a:pPr lvl="2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Set of such local variables is called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closure</a:t>
            </a:r>
            <a:endParaRPr lang="en-US" dirty="0" smtClean="0">
              <a:latin typeface="Lucida Sans Unicode" charset="0"/>
              <a:cs typeface="Lucida Sans Unicode" charset="0"/>
            </a:endParaRPr>
          </a:p>
        </p:txBody>
      </p:sp>
      <p:sp>
        <p:nvSpPr>
          <p:cNvPr id="4" name="Arc 3"/>
          <p:cNvSpPr/>
          <p:nvPr/>
        </p:nvSpPr>
        <p:spPr bwMode="auto">
          <a:xfrm>
            <a:off x="755650" y="2276872"/>
            <a:ext cx="4895850" cy="1223962"/>
          </a:xfrm>
          <a:prstGeom prst="arc">
            <a:avLst>
              <a:gd name="adj1" fmla="val 16200000"/>
              <a:gd name="adj2" fmla="val 21468147"/>
            </a:avLst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Times New Roman" pitchFamily="16" charset="0"/>
              <a:cs typeface="Lucida Sans Unicode" pitchFamily="32" charset="0"/>
            </a:endParaRPr>
          </a:p>
        </p:txBody>
      </p: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 flipH="1">
            <a:off x="5580807" y="2781002"/>
            <a:ext cx="287337" cy="431800"/>
          </a:xfrm>
          <a:prstGeom prst="line">
            <a:avLst/>
          </a:prstGeom>
          <a:noFill/>
          <a:ln w="28575">
            <a:solidFill>
              <a:srgbClr val="E46C0A"/>
            </a:solidFill>
            <a:round/>
            <a:headEnd/>
            <a:tailEnd/>
          </a:ln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24525" y="2420888"/>
            <a:ext cx="3683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115616" y="1844824"/>
            <a:ext cx="6480720" cy="30243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41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Local Inner Class</a:t>
            </a:r>
          </a:p>
        </p:txBody>
      </p:sp>
      <p:sp>
        <p:nvSpPr>
          <p:cNvPr id="27545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Declared inside a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method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public void m(){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dirty="0">
                <a:latin typeface="Courier New"/>
                <a:cs typeface="Courier New"/>
              </a:rPr>
              <a:t> j=1;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class X 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	</a:t>
            </a: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dirty="0">
                <a:latin typeface="Courier New"/>
                <a:cs typeface="Courier New"/>
              </a:rPr>
              <a:t> plus(){ return </a:t>
            </a:r>
            <a:r>
              <a:rPr lang="fr-FR" sz="2400" b="1" dirty="0" smtClean="0">
                <a:latin typeface="Courier New"/>
                <a:cs typeface="Courier New"/>
              </a:rPr>
              <a:t>j + 1</a:t>
            </a:r>
            <a:r>
              <a:rPr lang="fr-FR" sz="2400" b="1" dirty="0">
                <a:latin typeface="Courier New"/>
                <a:cs typeface="Courier New"/>
              </a:rPr>
              <a:t>; 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  <a:r>
              <a:rPr lang="fr-FR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j++;</a:t>
            </a:r>
            <a:endParaRPr lang="fr-FR" sz="2400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X x = new X();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>
                <a:latin typeface="Courier New"/>
                <a:cs typeface="Courier New"/>
              </a:rPr>
              <a:t>System.out.println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x.plus</a:t>
            </a:r>
            <a:r>
              <a:rPr lang="en-US" sz="2400" b="1" dirty="0">
                <a:latin typeface="Courier New"/>
                <a:cs typeface="Courier New"/>
              </a:rPr>
              <a:t>());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}</a:t>
            </a:r>
          </a:p>
          <a:p>
            <a:pPr lvl="1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Local variable cannot be changed after being referred to by an inner class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755650" y="2276872"/>
            <a:ext cx="4895850" cy="1223962"/>
          </a:xfrm>
          <a:prstGeom prst="arc">
            <a:avLst>
              <a:gd name="adj1" fmla="val 16200000"/>
              <a:gd name="adj2" fmla="val 21468147"/>
            </a:avLst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Times New Roman" pitchFamily="16" charset="0"/>
              <a:cs typeface="Lucida Sans Unicode" pitchFamily="32" charset="0"/>
            </a:endParaRPr>
          </a:p>
        </p:txBody>
      </p:sp>
      <p:cxnSp>
        <p:nvCxnSpPr>
          <p:cNvPr id="264196" name="Straight Connector 8"/>
          <p:cNvCxnSpPr>
            <a:cxnSpLocks noChangeShapeType="1"/>
          </p:cNvCxnSpPr>
          <p:nvPr/>
        </p:nvCxnSpPr>
        <p:spPr bwMode="auto">
          <a:xfrm flipH="1">
            <a:off x="5580063" y="2780928"/>
            <a:ext cx="287337" cy="431800"/>
          </a:xfrm>
          <a:prstGeom prst="line">
            <a:avLst/>
          </a:prstGeom>
          <a:noFill/>
          <a:ln w="28575">
            <a:solidFill>
              <a:srgbClr val="E46C0A"/>
            </a:solidFill>
            <a:round/>
            <a:headEnd/>
            <a:tailEnd/>
          </a:ln>
        </p:spPr>
      </p:cxnSp>
      <p:sp>
        <p:nvSpPr>
          <p:cNvPr id="264197" name="TextBox 10"/>
          <p:cNvSpPr txBox="1">
            <a:spLocks noChangeArrowheads="1"/>
          </p:cNvSpPr>
          <p:nvPr/>
        </p:nvSpPr>
        <p:spPr bwMode="auto">
          <a:xfrm>
            <a:off x="5724525" y="2420938"/>
            <a:ext cx="3683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b="1">
                <a:solidFill>
                  <a:srgbClr val="FF6600"/>
                </a:solidFill>
                <a:latin typeface="Courier New" charset="0"/>
                <a:cs typeface="Courier New" charset="0"/>
              </a:rPr>
              <a:t>1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6335689" y="3212976"/>
            <a:ext cx="2808311" cy="792088"/>
          </a:xfrm>
          <a:prstGeom prst="wedgeRoundRectCallout">
            <a:avLst>
              <a:gd name="adj1" fmla="val -57590"/>
              <a:gd name="adj2" fmla="val 73671"/>
              <a:gd name="adj3" fmla="val 16667"/>
            </a:avLst>
          </a:prstGeom>
          <a:solidFill>
            <a:srgbClr val="E6E0EC"/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90000"/>
              </a:lnSpc>
              <a:buFont typeface="Times New Roman" pitchFamily="16" charset="0"/>
              <a:buNone/>
              <a:defRPr/>
            </a:pPr>
            <a:r>
              <a:rPr lang="en-US" sz="2200" dirty="0">
                <a:solidFill>
                  <a:schemeClr val="tx1"/>
                </a:solidFill>
                <a:latin typeface="+mn-lt"/>
                <a:cs typeface="Lucida Sans Unicode" pitchFamily="32" charset="0"/>
              </a:rPr>
              <a:t>What result should we expect?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115616" y="1844824"/>
            <a:ext cx="6480720" cy="30243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52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Local Inner Class</a:t>
            </a:r>
          </a:p>
        </p:txBody>
      </p:sp>
      <p:sp>
        <p:nvSpPr>
          <p:cNvPr id="275458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137525" cy="50139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Declared inside a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method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public void m(){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  <a:r>
              <a:rPr lang="fr-FR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final</a:t>
            </a:r>
            <a:r>
              <a:rPr lang="fr-FR" sz="2400" b="1" dirty="0" smtClean="0">
                <a:latin typeface="Courier New"/>
                <a:cs typeface="Courier New"/>
              </a:rPr>
              <a:t> </a:t>
            </a:r>
            <a:r>
              <a:rPr lang="fr-FR" sz="2400" b="1" dirty="0" err="1" smtClean="0">
                <a:latin typeface="Courier New"/>
                <a:cs typeface="Courier New"/>
              </a:rPr>
              <a:t>int</a:t>
            </a:r>
            <a:r>
              <a:rPr lang="fr-FR" sz="2400" b="1" dirty="0" smtClean="0">
                <a:latin typeface="Courier New"/>
                <a:cs typeface="Courier New"/>
              </a:rPr>
              <a:t> </a:t>
            </a:r>
            <a:r>
              <a:rPr lang="fr-FR" sz="2400" b="1" dirty="0">
                <a:latin typeface="Courier New"/>
                <a:cs typeface="Courier New"/>
              </a:rPr>
              <a:t>j=1;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class X 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	</a:t>
            </a:r>
            <a:r>
              <a:rPr lang="fr-FR" sz="2400" b="1" dirty="0" err="1">
                <a:latin typeface="Courier New"/>
                <a:cs typeface="Courier New"/>
              </a:rPr>
              <a:t>int</a:t>
            </a:r>
            <a:r>
              <a:rPr lang="fr-FR" sz="2400" b="1" dirty="0">
                <a:latin typeface="Courier New"/>
                <a:cs typeface="Courier New"/>
              </a:rPr>
              <a:t> plus(){ return </a:t>
            </a:r>
            <a:r>
              <a:rPr lang="fr-FR" sz="2400" b="1" dirty="0" smtClean="0">
                <a:latin typeface="Courier New"/>
                <a:cs typeface="Courier New"/>
              </a:rPr>
              <a:t>j + 1</a:t>
            </a:r>
            <a:r>
              <a:rPr lang="fr-FR" sz="2400" b="1" dirty="0">
                <a:latin typeface="Courier New"/>
                <a:cs typeface="Courier New"/>
              </a:rPr>
              <a:t>; 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fr-FR" sz="2400" b="1" dirty="0">
                <a:latin typeface="Courier New"/>
                <a:cs typeface="Courier New"/>
              </a:rPr>
              <a:t>		</a:t>
            </a:r>
            <a:r>
              <a:rPr lang="fr-FR" sz="2400" b="1" dirty="0" smtClean="0">
                <a:latin typeface="Courier New"/>
                <a:cs typeface="Courier New"/>
              </a:rPr>
              <a:t>j++;</a:t>
            </a:r>
            <a:endParaRPr lang="fr-FR" sz="2400" b="1" dirty="0">
              <a:latin typeface="Courier New"/>
              <a:cs typeface="Courier New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X x = new X();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	</a:t>
            </a:r>
            <a:r>
              <a:rPr lang="en-US" sz="2400" b="1" dirty="0" err="1">
                <a:latin typeface="Courier New"/>
                <a:cs typeface="Courier New"/>
              </a:rPr>
              <a:t>System.out.println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x.plus</a:t>
            </a:r>
            <a:r>
              <a:rPr lang="en-US" sz="2400" b="1" dirty="0">
                <a:latin typeface="Courier New"/>
                <a:cs typeface="Courier New"/>
              </a:rPr>
              <a:t>());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	}</a:t>
            </a:r>
          </a:p>
          <a:p>
            <a:pPr lvl="1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Local variables used in local inner classes should be declared final</a:t>
            </a:r>
          </a:p>
          <a:p>
            <a:pPr lvl="2">
              <a:defRPr/>
            </a:pPr>
            <a:r>
              <a:rPr lang="en-US" dirty="0" smtClean="0">
                <a:latin typeface="Lucida Sans Unicode" charset="0"/>
                <a:cs typeface="Lucida Sans Unicode" charset="0"/>
              </a:rPr>
              <a:t>Or be effectively final</a:t>
            </a:r>
          </a:p>
        </p:txBody>
      </p:sp>
      <p:cxnSp>
        <p:nvCxnSpPr>
          <p:cNvPr id="265219" name="Straight Connector 2"/>
          <p:cNvCxnSpPr>
            <a:cxnSpLocks noChangeShapeType="1"/>
          </p:cNvCxnSpPr>
          <p:nvPr/>
        </p:nvCxnSpPr>
        <p:spPr bwMode="auto">
          <a:xfrm flipV="1">
            <a:off x="1476375" y="3572123"/>
            <a:ext cx="1008063" cy="288925"/>
          </a:xfrm>
          <a:prstGeom prst="line">
            <a:avLst/>
          </a:prstGeom>
          <a:noFill/>
          <a:ln w="28575">
            <a:solidFill>
              <a:srgbClr val="E46C0A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Anonymous Inner Class</a:t>
            </a:r>
          </a:p>
        </p:txBody>
      </p:sp>
      <p:sp>
        <p:nvSpPr>
          <p:cNvPr id="266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Local class without a name</a:t>
            </a:r>
          </a:p>
          <a:p>
            <a:r>
              <a:rPr lang="en-US" dirty="0">
                <a:latin typeface="Lucida Sans Unicode" charset="0"/>
                <a:cs typeface="Lucida Sans Unicode" charset="0"/>
              </a:rPr>
              <a:t>Only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possible with inheritance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Implement an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interface, or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Extend a class</a:t>
            </a:r>
          </a:p>
          <a:p>
            <a:pPr lvl="1"/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r>
              <a:rPr lang="en-US" dirty="0">
                <a:latin typeface="Lucida Sans Unicode" charset="0"/>
                <a:cs typeface="Lucida Sans Unicode" charset="0"/>
              </a:rPr>
              <a:t>See: 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Wrap-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up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6726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>
                <a:latin typeface="Lucida Sans Unicode" charset="0"/>
                <a:cs typeface="Lucida Sans Unicode" charset="0"/>
              </a:rPr>
              <a:t>Java syntax 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is very </a:t>
            </a:r>
            <a:r>
              <a:rPr lang="en-US" sz="2800" dirty="0">
                <a:latin typeface="Lucida Sans Unicode" charset="0"/>
                <a:cs typeface="Lucida Sans Unicode" charset="0"/>
              </a:rPr>
              <a:t>similar to that of C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>
                <a:latin typeface="Lucida Sans Unicode" charset="0"/>
                <a:cs typeface="Lucida Sans Unicode" charset="0"/>
              </a:rPr>
              <a:t>New primitive type: </a:t>
            </a:r>
            <a:r>
              <a:rPr lang="en-US" sz="2800" b="1" dirty="0" err="1">
                <a:latin typeface="Courier New"/>
                <a:cs typeface="Courier New"/>
              </a:rPr>
              <a:t>boolean</a:t>
            </a:r>
            <a:endParaRPr lang="en-US" sz="2800" b="1" dirty="0">
              <a:latin typeface="Courier New"/>
              <a:cs typeface="Courier New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>
                <a:latin typeface="Lucida Sans Unicode" charset="0"/>
                <a:cs typeface="Lucida Sans Unicode" charset="0"/>
              </a:rPr>
              <a:t>Objects are accessed through references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>
                <a:latin typeface="Lucida Sans Unicode" charset="0"/>
                <a:ea typeface="Lucida Sans Unicode" charset="0"/>
                <a:cs typeface="Lucida Sans Unicode" charset="0"/>
              </a:rPr>
              <a:t>References are disguised pointers!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 smtClean="0">
                <a:latin typeface="Lucida Sans Unicode" charset="0"/>
                <a:cs typeface="Lucida Sans Unicode" charset="0"/>
              </a:rPr>
              <a:t>Reference definition and object creation are separate operations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 smtClean="0">
                <a:latin typeface="Lucida Sans Unicode" charset="0"/>
                <a:cs typeface="Lucida Sans Unicode" charset="0"/>
              </a:rPr>
              <a:t>Different </a:t>
            </a:r>
            <a:r>
              <a:rPr lang="en-US" sz="2800" dirty="0">
                <a:latin typeface="Lucida Sans Unicode" charset="0"/>
                <a:cs typeface="Lucida Sans Unicode" charset="0"/>
              </a:rPr>
              <a:t>scopes and visibility levels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>
                <a:latin typeface="Lucida Sans Unicode" charset="0"/>
                <a:cs typeface="Lucida Sans Unicode" charset="0"/>
              </a:rPr>
              <a:t>Arrays are objects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dirty="0">
                <a:latin typeface="Lucida Sans Unicode" charset="0"/>
                <a:cs typeface="Lucida Sans Unicode" charset="0"/>
              </a:rPr>
              <a:t>Wrapper types encapsulate primitive types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67265" name="Segnaposto numero diapositiva 5"/>
          <p:cNvSpPr>
            <a:spLocks noGrp="1"/>
          </p:cNvSpPr>
          <p:nvPr>
            <p:ph type="sldNum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A496D6E-6404-614C-8B8D-B4C69B5BFBF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152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20000"/>
            <a:lumOff val="80000"/>
          </a:schemeClr>
        </a:solidFill>
        <a:ln w="9525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>
          <a:lnSpc>
            <a:spcPct val="90000"/>
          </a:lnSpc>
          <a:defRPr sz="2000" dirty="0">
            <a:solidFill>
              <a:schemeClr val="tx1"/>
            </a:solidFill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6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pitchFamily="32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6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6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pitchFamily="32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17245</TotalTime>
  <Words>5893</Words>
  <Application>Microsoft Office PowerPoint</Application>
  <PresentationFormat>On-screen Show (4:3)</PresentationFormat>
  <Paragraphs>1559</Paragraphs>
  <Slides>152</Slides>
  <Notes>123</Notes>
  <HiddenSlides>9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152</vt:i4>
      </vt:variant>
    </vt:vector>
  </HeadingPairs>
  <TitlesOfParts>
    <vt:vector size="154" baseType="lpstr">
      <vt:lpstr>Tema di Office</vt:lpstr>
      <vt:lpstr>1_Tema di Office</vt:lpstr>
      <vt:lpstr>Java Basic Features</vt:lpstr>
      <vt:lpstr>Licensing Note</vt:lpstr>
      <vt:lpstr>Learning objectives</vt:lpstr>
      <vt:lpstr>Comments</vt:lpstr>
      <vt:lpstr>Code blocks and Scope</vt:lpstr>
      <vt:lpstr>Control statements</vt:lpstr>
      <vt:lpstr>Switch statements with strings</vt:lpstr>
      <vt:lpstr>Boolean</vt:lpstr>
      <vt:lpstr>Passing parameters</vt:lpstr>
      <vt:lpstr>Elements in a OO program</vt:lpstr>
      <vt:lpstr>Classes and primitive types </vt:lpstr>
      <vt:lpstr>Primitive type   </vt:lpstr>
      <vt:lpstr>Class</vt:lpstr>
      <vt:lpstr>Primitive types</vt:lpstr>
      <vt:lpstr>Primitive types</vt:lpstr>
      <vt:lpstr>Literals</vt:lpstr>
      <vt:lpstr>Operators (integer and f.p.)</vt:lpstr>
      <vt:lpstr>Logical operators</vt:lpstr>
      <vt:lpstr>Classes and Objects</vt:lpstr>
      <vt:lpstr>Class</vt:lpstr>
      <vt:lpstr>Class - definition</vt:lpstr>
      <vt:lpstr>Methods</vt:lpstr>
      <vt:lpstr>Overloading</vt:lpstr>
      <vt:lpstr>Overloading</vt:lpstr>
      <vt:lpstr>Overloading</vt:lpstr>
      <vt:lpstr>Objects</vt:lpstr>
      <vt:lpstr>Objects</vt:lpstr>
      <vt:lpstr>Objects and references</vt:lpstr>
      <vt:lpstr>Objects and references</vt:lpstr>
      <vt:lpstr>Objects and references</vt:lpstr>
      <vt:lpstr>Objects and references</vt:lpstr>
      <vt:lpstr>Objects and references</vt:lpstr>
      <vt:lpstr>Objects and references</vt:lpstr>
      <vt:lpstr>Objects Creation</vt:lpstr>
      <vt:lpstr>The keyword new</vt:lpstr>
      <vt:lpstr>Heap</vt:lpstr>
      <vt:lpstr>Constructor (1)</vt:lpstr>
      <vt:lpstr>Constructor (2)</vt:lpstr>
      <vt:lpstr>Constructors with overloading</vt:lpstr>
      <vt:lpstr>Destruction of objects</vt:lpstr>
      <vt:lpstr>Current object – a.k.a this</vt:lpstr>
      <vt:lpstr>Method invocation</vt:lpstr>
      <vt:lpstr>Note</vt:lpstr>
      <vt:lpstr>Note (cont’d)</vt:lpstr>
      <vt:lpstr>Access to attributes</vt:lpstr>
      <vt:lpstr>Access to attributes </vt:lpstr>
      <vt:lpstr>Using “this” for attributes</vt:lpstr>
      <vt:lpstr>Chaining dotted notations</vt:lpstr>
      <vt:lpstr>Method Chaining</vt:lpstr>
      <vt:lpstr>Operations on references</vt:lpstr>
      <vt:lpstr>Scope and encapsulation</vt:lpstr>
      <vt:lpstr>Example</vt:lpstr>
      <vt:lpstr>Example (cont’d)</vt:lpstr>
      <vt:lpstr>Motivation</vt:lpstr>
      <vt:lpstr>Scope and Syntax</vt:lpstr>
      <vt:lpstr>Info hiding</vt:lpstr>
      <vt:lpstr>Info hiding</vt:lpstr>
      <vt:lpstr>Access</vt:lpstr>
      <vt:lpstr>Getters and setters</vt:lpstr>
      <vt:lpstr>Example without getter/setter</vt:lpstr>
      <vt:lpstr>Example without getter/setter</vt:lpstr>
      <vt:lpstr>Example with getter/setter</vt:lpstr>
      <vt:lpstr>Example with getter/setter</vt:lpstr>
      <vt:lpstr>Example with getter/setter</vt:lpstr>
      <vt:lpstr>Getters &amp; setters vs. public fields</vt:lpstr>
      <vt:lpstr>Packages</vt:lpstr>
      <vt:lpstr>Package</vt:lpstr>
      <vt:lpstr>Package name</vt:lpstr>
      <vt:lpstr>Examples</vt:lpstr>
      <vt:lpstr>Creation and usage</vt:lpstr>
      <vt:lpstr>Access to a class in a package</vt:lpstr>
      <vt:lpstr>Default package</vt:lpstr>
      <vt:lpstr>Package and scope</vt:lpstr>
      <vt:lpstr>Package visibility</vt:lpstr>
      <vt:lpstr>Visibility w/ multiple packages</vt:lpstr>
      <vt:lpstr>Multiple packages</vt:lpstr>
      <vt:lpstr>Multiple packages</vt:lpstr>
      <vt:lpstr>Access rules</vt:lpstr>
      <vt:lpstr>Strings</vt:lpstr>
      <vt:lpstr>String</vt:lpstr>
      <vt:lpstr>String and StringBuffer</vt:lpstr>
      <vt:lpstr>Operator +</vt:lpstr>
      <vt:lpstr>String</vt:lpstr>
      <vt:lpstr>String</vt:lpstr>
      <vt:lpstr>String</vt:lpstr>
      <vt:lpstr>StringBuffer</vt:lpstr>
      <vt:lpstr>Unicode</vt:lpstr>
      <vt:lpstr>Characters and Glyphs</vt:lpstr>
      <vt:lpstr>Unicode Codepoint</vt:lpstr>
      <vt:lpstr>Unicode Encoding</vt:lpstr>
      <vt:lpstr>Unicode Encoding</vt:lpstr>
      <vt:lpstr>Wrapper classes</vt:lpstr>
      <vt:lpstr>Motivation</vt:lpstr>
      <vt:lpstr>Wrapper Classes</vt:lpstr>
      <vt:lpstr>Conversions</vt:lpstr>
      <vt:lpstr>Example</vt:lpstr>
      <vt:lpstr>Using Scanner</vt:lpstr>
      <vt:lpstr>Autoboxing</vt:lpstr>
      <vt:lpstr>Character</vt:lpstr>
      <vt:lpstr>ArrayS </vt:lpstr>
      <vt:lpstr>Array</vt:lpstr>
      <vt:lpstr>Array declaration</vt:lpstr>
      <vt:lpstr>Array creation</vt:lpstr>
      <vt:lpstr>Example - primitive types </vt:lpstr>
      <vt:lpstr>Example - object references </vt:lpstr>
      <vt:lpstr>Operations on arrays </vt:lpstr>
      <vt:lpstr>Operations on arrays </vt:lpstr>
      <vt:lpstr>For each</vt:lpstr>
      <vt:lpstr>For each - example</vt:lpstr>
      <vt:lpstr>Homework</vt:lpstr>
      <vt:lpstr>Multidimensional array</vt:lpstr>
      <vt:lpstr>Rows and columns</vt:lpstr>
      <vt:lpstr>Rows with different length</vt:lpstr>
      <vt:lpstr>Tartaglia’s triangle</vt:lpstr>
      <vt:lpstr>Variable arguments</vt:lpstr>
      <vt:lpstr>Variable arguments- example</vt:lpstr>
      <vt:lpstr>Static attributes and methods</vt:lpstr>
      <vt:lpstr>Class variables</vt:lpstr>
      <vt:lpstr>Static methods</vt:lpstr>
      <vt:lpstr>Static members access</vt:lpstr>
      <vt:lpstr>System class</vt:lpstr>
      <vt:lpstr>Final Attributes</vt:lpstr>
      <vt:lpstr>Final variables / parameters</vt:lpstr>
      <vt:lpstr>Constants </vt:lpstr>
      <vt:lpstr>Static initialization block</vt:lpstr>
      <vt:lpstr>Example: Global directory (a)</vt:lpstr>
      <vt:lpstr>Example: Global directory (b)</vt:lpstr>
      <vt:lpstr>Singleton Pattern</vt:lpstr>
      <vt:lpstr>Singleton Pattern</vt:lpstr>
      <vt:lpstr>Enum</vt:lpstr>
      <vt:lpstr>Enum</vt:lpstr>
      <vt:lpstr>Memory management</vt:lpstr>
      <vt:lpstr>Memory types</vt:lpstr>
      <vt:lpstr>Memory types</vt:lpstr>
      <vt:lpstr>Example</vt:lpstr>
      <vt:lpstr>Types of variables</vt:lpstr>
      <vt:lpstr>String pooling</vt:lpstr>
      <vt:lpstr>Garbage collector</vt:lpstr>
      <vt:lpstr>Object destruction</vt:lpstr>
      <vt:lpstr>Finalization and garbage collection</vt:lpstr>
      <vt:lpstr>Nested classes</vt:lpstr>
      <vt:lpstr>Nested class types</vt:lpstr>
      <vt:lpstr>(Static) Nested class</vt:lpstr>
      <vt:lpstr>(Static) Nested class - Usage</vt:lpstr>
      <vt:lpstr>(Static) Nested class - Example</vt:lpstr>
      <vt:lpstr>Inner Class</vt:lpstr>
      <vt:lpstr>Inner Class (example)</vt:lpstr>
      <vt:lpstr>Local Inner Class</vt:lpstr>
      <vt:lpstr>Local Inner Class</vt:lpstr>
      <vt:lpstr>Local Inner Class</vt:lpstr>
      <vt:lpstr>Anonymous Inner Class</vt:lpstr>
      <vt:lpstr>Wrap-up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(basic concepts)‏</dc:title>
  <cp:lastModifiedBy>mmz</cp:lastModifiedBy>
  <cp:revision>213</cp:revision>
  <cp:lastPrinted>2017-03-15T07:12:44Z</cp:lastPrinted>
  <dcterms:created xsi:type="dcterms:W3CDTF">2009-05-06T07:18:43Z</dcterms:created>
  <dcterms:modified xsi:type="dcterms:W3CDTF">2020-02-29T07:49:12Z</dcterms:modified>
</cp:coreProperties>
</file>