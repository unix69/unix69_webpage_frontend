
<file path=[Content_Types].xml><?xml version="1.0" encoding="utf-8"?>
<Types xmlns="http://schemas.openxmlformats.org/package/2006/content-types">
  <Default Extension="xml" ContentType="application/xml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49" r:id="rId2"/>
  </p:sldMasterIdLst>
  <p:notesMasterIdLst>
    <p:notesMasterId r:id="rId150"/>
  </p:notesMasterIdLst>
  <p:sldIdLst>
    <p:sldId id="256" r:id="rId3"/>
    <p:sldId id="361" r:id="rId4"/>
    <p:sldId id="316" r:id="rId5"/>
    <p:sldId id="317" r:id="rId6"/>
    <p:sldId id="318" r:id="rId7"/>
    <p:sldId id="323" r:id="rId8"/>
    <p:sldId id="324" r:id="rId9"/>
    <p:sldId id="319" r:id="rId10"/>
    <p:sldId id="435" r:id="rId11"/>
    <p:sldId id="326" r:id="rId12"/>
    <p:sldId id="259" r:id="rId13"/>
    <p:sldId id="260" r:id="rId14"/>
    <p:sldId id="320" r:id="rId15"/>
    <p:sldId id="455" r:id="rId16"/>
    <p:sldId id="436" r:id="rId17"/>
    <p:sldId id="337" r:id="rId18"/>
    <p:sldId id="282" r:id="rId19"/>
    <p:sldId id="283" r:id="rId20"/>
    <p:sldId id="287" r:id="rId21"/>
    <p:sldId id="284" r:id="rId22"/>
    <p:sldId id="350" r:id="rId23"/>
    <p:sldId id="288" r:id="rId24"/>
    <p:sldId id="352" r:id="rId25"/>
    <p:sldId id="351" r:id="rId26"/>
    <p:sldId id="290" r:id="rId27"/>
    <p:sldId id="353" r:id="rId28"/>
    <p:sldId id="354" r:id="rId29"/>
    <p:sldId id="296" r:id="rId30"/>
    <p:sldId id="331" r:id="rId31"/>
    <p:sldId id="329" r:id="rId32"/>
    <p:sldId id="411" r:id="rId33"/>
    <p:sldId id="407" r:id="rId34"/>
    <p:sldId id="330" r:id="rId35"/>
    <p:sldId id="362" r:id="rId36"/>
    <p:sldId id="395" r:id="rId37"/>
    <p:sldId id="408" r:id="rId38"/>
    <p:sldId id="406" r:id="rId39"/>
    <p:sldId id="437" r:id="rId40"/>
    <p:sldId id="438" r:id="rId41"/>
    <p:sldId id="265" r:id="rId42"/>
    <p:sldId id="267" r:id="rId43"/>
    <p:sldId id="442" r:id="rId44"/>
    <p:sldId id="261" r:id="rId45"/>
    <p:sldId id="262" r:id="rId46"/>
    <p:sldId id="263" r:id="rId47"/>
    <p:sldId id="332" r:id="rId48"/>
    <p:sldId id="268" r:id="rId49"/>
    <p:sldId id="269" r:id="rId50"/>
    <p:sldId id="270" r:id="rId51"/>
    <p:sldId id="271" r:id="rId52"/>
    <p:sldId id="272" r:id="rId53"/>
    <p:sldId id="273" r:id="rId54"/>
    <p:sldId id="274" r:id="rId55"/>
    <p:sldId id="275" r:id="rId56"/>
    <p:sldId id="333" r:id="rId57"/>
    <p:sldId id="276" r:id="rId58"/>
    <p:sldId id="403" r:id="rId59"/>
    <p:sldId id="277" r:id="rId60"/>
    <p:sldId id="278" r:id="rId61"/>
    <p:sldId id="334" r:id="rId62"/>
    <p:sldId id="342" r:id="rId63"/>
    <p:sldId id="345" r:id="rId64"/>
    <p:sldId id="297" r:id="rId65"/>
    <p:sldId id="397" r:id="rId66"/>
    <p:sldId id="280" r:id="rId67"/>
    <p:sldId id="343" r:id="rId68"/>
    <p:sldId id="398" r:id="rId69"/>
    <p:sldId id="400" r:id="rId70"/>
    <p:sldId id="402" r:id="rId71"/>
    <p:sldId id="399" r:id="rId72"/>
    <p:sldId id="281" r:id="rId73"/>
    <p:sldId id="405" r:id="rId74"/>
    <p:sldId id="301" r:id="rId75"/>
    <p:sldId id="302" r:id="rId76"/>
    <p:sldId id="449" r:id="rId77"/>
    <p:sldId id="450" r:id="rId78"/>
    <p:sldId id="451" r:id="rId79"/>
    <p:sldId id="452" r:id="rId80"/>
    <p:sldId id="303" r:id="rId81"/>
    <p:sldId id="304" r:id="rId82"/>
    <p:sldId id="453" r:id="rId83"/>
    <p:sldId id="454" r:id="rId84"/>
    <p:sldId id="355" r:id="rId85"/>
    <p:sldId id="360" r:id="rId86"/>
    <p:sldId id="359" r:id="rId87"/>
    <p:sldId id="357" r:id="rId88"/>
    <p:sldId id="358" r:id="rId89"/>
    <p:sldId id="305" r:id="rId90"/>
    <p:sldId id="306" r:id="rId91"/>
    <p:sldId id="443" r:id="rId92"/>
    <p:sldId id="310" r:id="rId93"/>
    <p:sldId id="311" r:id="rId94"/>
    <p:sldId id="456" r:id="rId95"/>
    <p:sldId id="460" r:id="rId96"/>
    <p:sldId id="341" r:id="rId97"/>
    <p:sldId id="344" r:id="rId98"/>
    <p:sldId id="439" r:id="rId99"/>
    <p:sldId id="371" r:id="rId100"/>
    <p:sldId id="313" r:id="rId101"/>
    <p:sldId id="372" r:id="rId102"/>
    <p:sldId id="441" r:id="rId103"/>
    <p:sldId id="385" r:id="rId104"/>
    <p:sldId id="386" r:id="rId105"/>
    <p:sldId id="458" r:id="rId106"/>
    <p:sldId id="459" r:id="rId107"/>
    <p:sldId id="387" r:id="rId108"/>
    <p:sldId id="388" r:id="rId109"/>
    <p:sldId id="445" r:id="rId110"/>
    <p:sldId id="365" r:id="rId111"/>
    <p:sldId id="370" r:id="rId112"/>
    <p:sldId id="366" r:id="rId113"/>
    <p:sldId id="444" r:id="rId114"/>
    <p:sldId id="367" r:id="rId115"/>
    <p:sldId id="390" r:id="rId116"/>
    <p:sldId id="392" r:id="rId117"/>
    <p:sldId id="368" r:id="rId118"/>
    <p:sldId id="369" r:id="rId119"/>
    <p:sldId id="393" r:id="rId120"/>
    <p:sldId id="426" r:id="rId121"/>
    <p:sldId id="431" r:id="rId122"/>
    <p:sldId id="432" r:id="rId123"/>
    <p:sldId id="434" r:id="rId124"/>
    <p:sldId id="433" r:id="rId125"/>
    <p:sldId id="427" r:id="rId126"/>
    <p:sldId id="446" r:id="rId127"/>
    <p:sldId id="429" r:id="rId128"/>
    <p:sldId id="335" r:id="rId129"/>
    <p:sldId id="363" r:id="rId130"/>
    <p:sldId id="364" r:id="rId131"/>
    <p:sldId id="448" r:id="rId132"/>
    <p:sldId id="404" r:id="rId133"/>
    <p:sldId id="373" r:id="rId134"/>
    <p:sldId id="424" r:id="rId135"/>
    <p:sldId id="375" r:id="rId136"/>
    <p:sldId id="457" r:id="rId137"/>
    <p:sldId id="374" r:id="rId138"/>
    <p:sldId id="378" r:id="rId139"/>
    <p:sldId id="410" r:id="rId140"/>
    <p:sldId id="394" r:id="rId141"/>
    <p:sldId id="377" r:id="rId142"/>
    <p:sldId id="379" r:id="rId143"/>
    <p:sldId id="380" r:id="rId144"/>
    <p:sldId id="412" r:id="rId145"/>
    <p:sldId id="413" r:id="rId146"/>
    <p:sldId id="414" r:id="rId147"/>
    <p:sldId id="340" r:id="rId148"/>
    <p:sldId id="339" r:id="rId149"/>
  </p:sldIdLst>
  <p:sldSz cx="9144000" cy="6858000" type="screen4x3"/>
  <p:notesSz cx="7315200" cy="9601200"/>
  <p:defaultTextStyle>
    <a:defPPr>
      <a:defRPr lang="en-GB"/>
    </a:defPPr>
    <a:lvl1pPr algn="l" defTabSz="457200" rtl="0" fontAlgn="base">
      <a:lnSpc>
        <a:spcPct val="103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charset="0"/>
      <a:defRPr sz="2400" kern="1200">
        <a:solidFill>
          <a:schemeClr val="bg1"/>
        </a:solidFill>
        <a:latin typeface="Lucida Sans Unicode" charset="0"/>
        <a:ea typeface="ＭＳ Ｐゴシック" charset="0"/>
        <a:cs typeface="ＭＳ Ｐゴシック" charset="0"/>
      </a:defRPr>
    </a:lvl1pPr>
    <a:lvl2pPr marL="457200" algn="l" defTabSz="457200" rtl="0" fontAlgn="base">
      <a:lnSpc>
        <a:spcPct val="103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charset="0"/>
      <a:defRPr sz="2400" kern="1200">
        <a:solidFill>
          <a:schemeClr val="bg1"/>
        </a:solidFill>
        <a:latin typeface="Lucida Sans Unicode" charset="0"/>
        <a:ea typeface="ＭＳ Ｐゴシック" charset="0"/>
        <a:cs typeface="ＭＳ Ｐゴシック" charset="0"/>
      </a:defRPr>
    </a:lvl2pPr>
    <a:lvl3pPr marL="914400" algn="l" defTabSz="457200" rtl="0" fontAlgn="base">
      <a:lnSpc>
        <a:spcPct val="103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charset="0"/>
      <a:defRPr sz="2400" kern="1200">
        <a:solidFill>
          <a:schemeClr val="bg1"/>
        </a:solidFill>
        <a:latin typeface="Lucida Sans Unicode" charset="0"/>
        <a:ea typeface="ＭＳ Ｐゴシック" charset="0"/>
        <a:cs typeface="ＭＳ Ｐゴシック" charset="0"/>
      </a:defRPr>
    </a:lvl3pPr>
    <a:lvl4pPr marL="1371600" algn="l" defTabSz="457200" rtl="0" fontAlgn="base">
      <a:lnSpc>
        <a:spcPct val="103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charset="0"/>
      <a:defRPr sz="2400" kern="1200">
        <a:solidFill>
          <a:schemeClr val="bg1"/>
        </a:solidFill>
        <a:latin typeface="Lucida Sans Unicode" charset="0"/>
        <a:ea typeface="ＭＳ Ｐゴシック" charset="0"/>
        <a:cs typeface="ＭＳ Ｐゴシック" charset="0"/>
      </a:defRPr>
    </a:lvl4pPr>
    <a:lvl5pPr marL="1828800" algn="l" defTabSz="457200" rtl="0" fontAlgn="base">
      <a:lnSpc>
        <a:spcPct val="103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charset="0"/>
      <a:defRPr sz="2400" kern="1200">
        <a:solidFill>
          <a:schemeClr val="bg1"/>
        </a:solidFill>
        <a:latin typeface="Lucida Sans Unicode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bg1"/>
        </a:solidFill>
        <a:latin typeface="Lucida Sans Unicode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bg1"/>
        </a:solidFill>
        <a:latin typeface="Lucida Sans Unicode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bg1"/>
        </a:solidFill>
        <a:latin typeface="Lucida Sans Unicode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bg1"/>
        </a:solidFill>
        <a:latin typeface="Lucida Sans Unicode" charset="0"/>
        <a:ea typeface="ＭＳ Ｐゴシック" charset="0"/>
        <a:cs typeface="ＭＳ Ｐゴシック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hiddenSlides="1"/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0" d="100"/>
          <a:sy n="80" d="100"/>
        </p:scale>
        <p:origin x="-1408" y="-1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-784" y="-8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3" d="100"/>
        <a:sy n="63" d="100"/>
      </p:scale>
      <p:origin x="0" y="5840"/>
    </p:cViewPr>
  </p:sorterViewPr>
  <p:notesViewPr>
    <p:cSldViewPr>
      <p:cViewPr varScale="1">
        <p:scale>
          <a:sx n="98" d="100"/>
          <a:sy n="98" d="100"/>
        </p:scale>
        <p:origin x="-2544" y="-10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60" Type="http://schemas.openxmlformats.org/officeDocument/2006/relationships/slide" Target="slides/slide58.xml"/><Relationship Id="rId61" Type="http://schemas.openxmlformats.org/officeDocument/2006/relationships/slide" Target="slides/slide59.xml"/><Relationship Id="rId62" Type="http://schemas.openxmlformats.org/officeDocument/2006/relationships/slide" Target="slides/slide60.xml"/><Relationship Id="rId63" Type="http://schemas.openxmlformats.org/officeDocument/2006/relationships/slide" Target="slides/slide61.xml"/><Relationship Id="rId64" Type="http://schemas.openxmlformats.org/officeDocument/2006/relationships/slide" Target="slides/slide62.xml"/><Relationship Id="rId65" Type="http://schemas.openxmlformats.org/officeDocument/2006/relationships/slide" Target="slides/slide63.xml"/><Relationship Id="rId66" Type="http://schemas.openxmlformats.org/officeDocument/2006/relationships/slide" Target="slides/slide64.xml"/><Relationship Id="rId67" Type="http://schemas.openxmlformats.org/officeDocument/2006/relationships/slide" Target="slides/slide65.xml"/><Relationship Id="rId68" Type="http://schemas.openxmlformats.org/officeDocument/2006/relationships/slide" Target="slides/slide66.xml"/><Relationship Id="rId69" Type="http://schemas.openxmlformats.org/officeDocument/2006/relationships/slide" Target="slides/slide67.xml"/><Relationship Id="rId120" Type="http://schemas.openxmlformats.org/officeDocument/2006/relationships/slide" Target="slides/slide118.xml"/><Relationship Id="rId121" Type="http://schemas.openxmlformats.org/officeDocument/2006/relationships/slide" Target="slides/slide119.xml"/><Relationship Id="rId122" Type="http://schemas.openxmlformats.org/officeDocument/2006/relationships/slide" Target="slides/slide120.xml"/><Relationship Id="rId123" Type="http://schemas.openxmlformats.org/officeDocument/2006/relationships/slide" Target="slides/slide121.xml"/><Relationship Id="rId124" Type="http://schemas.openxmlformats.org/officeDocument/2006/relationships/slide" Target="slides/slide122.xml"/><Relationship Id="rId125" Type="http://schemas.openxmlformats.org/officeDocument/2006/relationships/slide" Target="slides/slide123.xml"/><Relationship Id="rId126" Type="http://schemas.openxmlformats.org/officeDocument/2006/relationships/slide" Target="slides/slide124.xml"/><Relationship Id="rId127" Type="http://schemas.openxmlformats.org/officeDocument/2006/relationships/slide" Target="slides/slide125.xml"/><Relationship Id="rId128" Type="http://schemas.openxmlformats.org/officeDocument/2006/relationships/slide" Target="slides/slide126.xml"/><Relationship Id="rId129" Type="http://schemas.openxmlformats.org/officeDocument/2006/relationships/slide" Target="slides/slide12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90" Type="http://schemas.openxmlformats.org/officeDocument/2006/relationships/slide" Target="slides/slide88.xml"/><Relationship Id="rId91" Type="http://schemas.openxmlformats.org/officeDocument/2006/relationships/slide" Target="slides/slide89.xml"/><Relationship Id="rId92" Type="http://schemas.openxmlformats.org/officeDocument/2006/relationships/slide" Target="slides/slide90.xml"/><Relationship Id="rId93" Type="http://schemas.openxmlformats.org/officeDocument/2006/relationships/slide" Target="slides/slide91.xml"/><Relationship Id="rId94" Type="http://schemas.openxmlformats.org/officeDocument/2006/relationships/slide" Target="slides/slide92.xml"/><Relationship Id="rId95" Type="http://schemas.openxmlformats.org/officeDocument/2006/relationships/slide" Target="slides/slide93.xml"/><Relationship Id="rId96" Type="http://schemas.openxmlformats.org/officeDocument/2006/relationships/slide" Target="slides/slide94.xml"/><Relationship Id="rId101" Type="http://schemas.openxmlformats.org/officeDocument/2006/relationships/slide" Target="slides/slide99.xml"/><Relationship Id="rId102" Type="http://schemas.openxmlformats.org/officeDocument/2006/relationships/slide" Target="slides/slide100.xml"/><Relationship Id="rId103" Type="http://schemas.openxmlformats.org/officeDocument/2006/relationships/slide" Target="slides/slide101.xml"/><Relationship Id="rId104" Type="http://schemas.openxmlformats.org/officeDocument/2006/relationships/slide" Target="slides/slide102.xml"/><Relationship Id="rId105" Type="http://schemas.openxmlformats.org/officeDocument/2006/relationships/slide" Target="slides/slide103.xml"/><Relationship Id="rId106" Type="http://schemas.openxmlformats.org/officeDocument/2006/relationships/slide" Target="slides/slide104.xml"/><Relationship Id="rId107" Type="http://schemas.openxmlformats.org/officeDocument/2006/relationships/slide" Target="slides/slide105.xml"/><Relationship Id="rId108" Type="http://schemas.openxmlformats.org/officeDocument/2006/relationships/slide" Target="slides/slide106.xml"/><Relationship Id="rId109" Type="http://schemas.openxmlformats.org/officeDocument/2006/relationships/slide" Target="slides/slide107.xml"/><Relationship Id="rId97" Type="http://schemas.openxmlformats.org/officeDocument/2006/relationships/slide" Target="slides/slide95.xml"/><Relationship Id="rId98" Type="http://schemas.openxmlformats.org/officeDocument/2006/relationships/slide" Target="slides/slide96.xml"/><Relationship Id="rId99" Type="http://schemas.openxmlformats.org/officeDocument/2006/relationships/slide" Target="slides/slide97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100" Type="http://schemas.openxmlformats.org/officeDocument/2006/relationships/slide" Target="slides/slide98.xml"/><Relationship Id="rId150" Type="http://schemas.openxmlformats.org/officeDocument/2006/relationships/notesMaster" Target="notesMasters/notesMaster1.xml"/><Relationship Id="rId151" Type="http://schemas.openxmlformats.org/officeDocument/2006/relationships/printerSettings" Target="printerSettings/printerSettings1.bin"/><Relationship Id="rId152" Type="http://schemas.openxmlformats.org/officeDocument/2006/relationships/presProps" Target="presProps.xml"/><Relationship Id="rId153" Type="http://schemas.openxmlformats.org/officeDocument/2006/relationships/viewProps" Target="viewProps.xml"/><Relationship Id="rId154" Type="http://schemas.openxmlformats.org/officeDocument/2006/relationships/theme" Target="theme/theme1.xml"/><Relationship Id="rId155" Type="http://schemas.openxmlformats.org/officeDocument/2006/relationships/tableStyles" Target="tableStyles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70" Type="http://schemas.openxmlformats.org/officeDocument/2006/relationships/slide" Target="slides/slide68.xml"/><Relationship Id="rId71" Type="http://schemas.openxmlformats.org/officeDocument/2006/relationships/slide" Target="slides/slide69.xml"/><Relationship Id="rId72" Type="http://schemas.openxmlformats.org/officeDocument/2006/relationships/slide" Target="slides/slide70.xml"/><Relationship Id="rId73" Type="http://schemas.openxmlformats.org/officeDocument/2006/relationships/slide" Target="slides/slide71.xml"/><Relationship Id="rId74" Type="http://schemas.openxmlformats.org/officeDocument/2006/relationships/slide" Target="slides/slide72.xml"/><Relationship Id="rId75" Type="http://schemas.openxmlformats.org/officeDocument/2006/relationships/slide" Target="slides/slide73.xml"/><Relationship Id="rId76" Type="http://schemas.openxmlformats.org/officeDocument/2006/relationships/slide" Target="slides/slide74.xml"/><Relationship Id="rId77" Type="http://schemas.openxmlformats.org/officeDocument/2006/relationships/slide" Target="slides/slide75.xml"/><Relationship Id="rId78" Type="http://schemas.openxmlformats.org/officeDocument/2006/relationships/slide" Target="slides/slide76.xml"/><Relationship Id="rId79" Type="http://schemas.openxmlformats.org/officeDocument/2006/relationships/slide" Target="slides/slide77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130" Type="http://schemas.openxmlformats.org/officeDocument/2006/relationships/slide" Target="slides/slide128.xml"/><Relationship Id="rId131" Type="http://schemas.openxmlformats.org/officeDocument/2006/relationships/slide" Target="slides/slide129.xml"/><Relationship Id="rId132" Type="http://schemas.openxmlformats.org/officeDocument/2006/relationships/slide" Target="slides/slide130.xml"/><Relationship Id="rId133" Type="http://schemas.openxmlformats.org/officeDocument/2006/relationships/slide" Target="slides/slide131.xml"/><Relationship Id="rId134" Type="http://schemas.openxmlformats.org/officeDocument/2006/relationships/slide" Target="slides/slide132.xml"/><Relationship Id="rId135" Type="http://schemas.openxmlformats.org/officeDocument/2006/relationships/slide" Target="slides/slide133.xml"/><Relationship Id="rId136" Type="http://schemas.openxmlformats.org/officeDocument/2006/relationships/slide" Target="slides/slide134.xml"/><Relationship Id="rId137" Type="http://schemas.openxmlformats.org/officeDocument/2006/relationships/slide" Target="slides/slide135.xml"/><Relationship Id="rId138" Type="http://schemas.openxmlformats.org/officeDocument/2006/relationships/slide" Target="slides/slide136.xml"/><Relationship Id="rId139" Type="http://schemas.openxmlformats.org/officeDocument/2006/relationships/slide" Target="slides/slide137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slide" Target="slides/slide52.xml"/><Relationship Id="rId55" Type="http://schemas.openxmlformats.org/officeDocument/2006/relationships/slide" Target="slides/slide53.xml"/><Relationship Id="rId56" Type="http://schemas.openxmlformats.org/officeDocument/2006/relationships/slide" Target="slides/slide54.xml"/><Relationship Id="rId57" Type="http://schemas.openxmlformats.org/officeDocument/2006/relationships/slide" Target="slides/slide55.xml"/><Relationship Id="rId58" Type="http://schemas.openxmlformats.org/officeDocument/2006/relationships/slide" Target="slides/slide56.xml"/><Relationship Id="rId59" Type="http://schemas.openxmlformats.org/officeDocument/2006/relationships/slide" Target="slides/slide57.xml"/><Relationship Id="rId110" Type="http://schemas.openxmlformats.org/officeDocument/2006/relationships/slide" Target="slides/slide108.xml"/><Relationship Id="rId111" Type="http://schemas.openxmlformats.org/officeDocument/2006/relationships/slide" Target="slides/slide109.xml"/><Relationship Id="rId112" Type="http://schemas.openxmlformats.org/officeDocument/2006/relationships/slide" Target="slides/slide110.xml"/><Relationship Id="rId113" Type="http://schemas.openxmlformats.org/officeDocument/2006/relationships/slide" Target="slides/slide111.xml"/><Relationship Id="rId114" Type="http://schemas.openxmlformats.org/officeDocument/2006/relationships/slide" Target="slides/slide112.xml"/><Relationship Id="rId115" Type="http://schemas.openxmlformats.org/officeDocument/2006/relationships/slide" Target="slides/slide113.xml"/><Relationship Id="rId116" Type="http://schemas.openxmlformats.org/officeDocument/2006/relationships/slide" Target="slides/slide114.xml"/><Relationship Id="rId117" Type="http://schemas.openxmlformats.org/officeDocument/2006/relationships/slide" Target="slides/slide115.xml"/><Relationship Id="rId118" Type="http://schemas.openxmlformats.org/officeDocument/2006/relationships/slide" Target="slides/slide116.xml"/><Relationship Id="rId119" Type="http://schemas.openxmlformats.org/officeDocument/2006/relationships/slide" Target="slides/slide11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80" Type="http://schemas.openxmlformats.org/officeDocument/2006/relationships/slide" Target="slides/slide78.xml"/><Relationship Id="rId81" Type="http://schemas.openxmlformats.org/officeDocument/2006/relationships/slide" Target="slides/slide79.xml"/><Relationship Id="rId82" Type="http://schemas.openxmlformats.org/officeDocument/2006/relationships/slide" Target="slides/slide80.xml"/><Relationship Id="rId83" Type="http://schemas.openxmlformats.org/officeDocument/2006/relationships/slide" Target="slides/slide81.xml"/><Relationship Id="rId84" Type="http://schemas.openxmlformats.org/officeDocument/2006/relationships/slide" Target="slides/slide82.xml"/><Relationship Id="rId85" Type="http://schemas.openxmlformats.org/officeDocument/2006/relationships/slide" Target="slides/slide83.xml"/><Relationship Id="rId86" Type="http://schemas.openxmlformats.org/officeDocument/2006/relationships/slide" Target="slides/slide84.xml"/><Relationship Id="rId87" Type="http://schemas.openxmlformats.org/officeDocument/2006/relationships/slide" Target="slides/slide85.xml"/><Relationship Id="rId88" Type="http://schemas.openxmlformats.org/officeDocument/2006/relationships/slide" Target="slides/slide86.xml"/><Relationship Id="rId89" Type="http://schemas.openxmlformats.org/officeDocument/2006/relationships/slide" Target="slides/slide87.xml"/><Relationship Id="rId140" Type="http://schemas.openxmlformats.org/officeDocument/2006/relationships/slide" Target="slides/slide138.xml"/><Relationship Id="rId141" Type="http://schemas.openxmlformats.org/officeDocument/2006/relationships/slide" Target="slides/slide139.xml"/><Relationship Id="rId142" Type="http://schemas.openxmlformats.org/officeDocument/2006/relationships/slide" Target="slides/slide140.xml"/><Relationship Id="rId143" Type="http://schemas.openxmlformats.org/officeDocument/2006/relationships/slide" Target="slides/slide141.xml"/><Relationship Id="rId144" Type="http://schemas.openxmlformats.org/officeDocument/2006/relationships/slide" Target="slides/slide142.xml"/><Relationship Id="rId145" Type="http://schemas.openxmlformats.org/officeDocument/2006/relationships/slide" Target="slides/slide143.xml"/><Relationship Id="rId146" Type="http://schemas.openxmlformats.org/officeDocument/2006/relationships/slide" Target="slides/slide144.xml"/><Relationship Id="rId147" Type="http://schemas.openxmlformats.org/officeDocument/2006/relationships/slide" Target="slides/slide145.xml"/><Relationship Id="rId148" Type="http://schemas.openxmlformats.org/officeDocument/2006/relationships/slide" Target="slides/slide146.xml"/><Relationship Id="rId149" Type="http://schemas.openxmlformats.org/officeDocument/2006/relationships/slide" Target="slides/slide14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AutoShape 1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36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it-IT">
              <a:cs typeface="Lucida Sans Unicode" charset="0"/>
            </a:endParaRPr>
          </a:p>
        </p:txBody>
      </p:sp>
      <p:sp>
        <p:nvSpPr>
          <p:cNvPr id="27651" name="AutoShape 2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it-IT">
              <a:cs typeface="Lucida Sans Unicode" charset="0"/>
            </a:endParaRPr>
          </a:p>
        </p:txBody>
      </p:sp>
      <p:sp>
        <p:nvSpPr>
          <p:cNvPr id="27652" name="AutoShape 3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it-IT">
              <a:cs typeface="Lucida Sans Unicode" charset="0"/>
            </a:endParaRPr>
          </a:p>
        </p:txBody>
      </p:sp>
      <p:sp>
        <p:nvSpPr>
          <p:cNvPr id="27653" name="Rectangle 4"/>
          <p:cNvSpPr>
            <a:spLocks noChangeArrowheads="1"/>
          </p:cNvSpPr>
          <p:nvPr/>
        </p:nvSpPr>
        <p:spPr bwMode="auto">
          <a:xfrm>
            <a:off x="3170238" y="9124950"/>
            <a:ext cx="858837" cy="417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7480" tIns="44280" rIns="87480" bIns="44280">
            <a:spAutoFit/>
          </a:bodyPr>
          <a:lstStyle/>
          <a:p>
            <a:pPr algn="ctr">
              <a:lnSpc>
                <a:spcPct val="90000"/>
              </a:lnSpc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200">
                <a:solidFill>
                  <a:srgbClr val="000000"/>
                </a:solidFill>
                <a:latin typeface="Arial" charset="0"/>
              </a:rPr>
              <a:t>Pag. </a:t>
            </a:r>
            <a:fld id="{058A80C9-0E81-C04E-8823-4E123908B4AE}" type="slidenum">
              <a:rPr lang="en-GB" sz="1200">
                <a:solidFill>
                  <a:srgbClr val="000000"/>
                </a:solidFill>
                <a:latin typeface="Arial" charset="0"/>
              </a:rPr>
              <a:pPr algn="ctr">
                <a:lnSpc>
                  <a:spcPct val="90000"/>
                </a:lnSpc>
                <a:buFont typeface="Arial" charset="0"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t>‹#›</a:t>
            </a:fld>
            <a:endParaRPr lang="en-GB" sz="1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7654" name="Rectangle 5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423988" y="846138"/>
            <a:ext cx="4462462" cy="3349625"/>
          </a:xfrm>
          <a:prstGeom prst="rect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3078" name="Rectangle 6"/>
          <p:cNvSpPr>
            <a:spLocks noGrp="1" noChangeArrowheads="1"/>
          </p:cNvSpPr>
          <p:nvPr>
            <p:ph type="body"/>
          </p:nvPr>
        </p:nvSpPr>
        <p:spPr bwMode="auto">
          <a:xfrm>
            <a:off x="974725" y="4562475"/>
            <a:ext cx="5360988" cy="40386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360" tIns="44280" rIns="90360" bIns="44280" numCol="1" anchor="t" anchorCtr="0" compatLnSpc="1">
            <a:prstTxWarp prst="textNoShape">
              <a:avLst/>
            </a:prstTxWarp>
          </a:bodyPr>
          <a:lstStyle/>
          <a:p>
            <a:pPr lvl="0"/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9058028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charset="0"/>
      <a:defRPr sz="1200" kern="1200">
        <a:solidFill>
          <a:srgbClr val="000000"/>
        </a:solidFill>
        <a:latin typeface="Times New Roman" pitchFamily="18" charset="0"/>
        <a:ea typeface="ＭＳ Ｐゴシック" pitchFamily="-107" charset="-128"/>
        <a:cs typeface="ＭＳ Ｐゴシック" pitchFamily="-107" charset="-128"/>
      </a:defRPr>
    </a:lvl1pPr>
    <a:lvl2pPr marL="742950" indent="-28575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charset="0"/>
      <a:defRPr sz="1200" kern="1200">
        <a:solidFill>
          <a:srgbClr val="000000"/>
        </a:solidFill>
        <a:latin typeface="Times New Roman" pitchFamily="18" charset="0"/>
        <a:ea typeface="ＭＳ Ｐゴシック" charset="-128"/>
        <a:cs typeface="+mn-cs"/>
      </a:defRPr>
    </a:lvl2pPr>
    <a:lvl3pPr marL="11430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charset="0"/>
      <a:defRPr sz="1200" kern="1200">
        <a:solidFill>
          <a:srgbClr val="000000"/>
        </a:solidFill>
        <a:latin typeface="Times New Roman" pitchFamily="18" charset="0"/>
        <a:ea typeface="ＭＳ Ｐゴシック" charset="-128"/>
        <a:cs typeface="+mn-cs"/>
      </a:defRPr>
    </a:lvl3pPr>
    <a:lvl4pPr marL="16002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charset="0"/>
      <a:defRPr sz="1200" kern="1200">
        <a:solidFill>
          <a:srgbClr val="000000"/>
        </a:solidFill>
        <a:latin typeface="Times New Roman" pitchFamily="18" charset="0"/>
        <a:ea typeface="ＭＳ Ｐゴシック" charset="-128"/>
        <a:cs typeface="+mn-cs"/>
      </a:defRPr>
    </a:lvl4pPr>
    <a:lvl5pPr marL="20574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charset="0"/>
      <a:defRPr sz="1200" kern="1200">
        <a:solidFill>
          <a:srgbClr val="000000"/>
        </a:solidFill>
        <a:latin typeface="Times New Roman" pitchFamily="18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3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4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4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4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4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4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4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5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5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5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5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5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5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5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5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5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6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6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6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6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6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6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6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6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6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6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7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7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7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7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7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7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7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7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7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7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8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1025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29699" name="Rectangle 1026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62575" cy="40417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11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0" tIns="45710" rIns="91420" bIns="45710"/>
          <a:lstStyle>
            <a:lvl1pPr defTabSz="955675">
              <a:tabLst>
                <a:tab pos="720725" algn="l"/>
                <a:tab pos="1444625" algn="l"/>
                <a:tab pos="2168525" algn="l"/>
                <a:tab pos="2892425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955675">
              <a:tabLst>
                <a:tab pos="720725" algn="l"/>
                <a:tab pos="1444625" algn="l"/>
                <a:tab pos="2168525" algn="l"/>
                <a:tab pos="2892425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955675">
              <a:tabLst>
                <a:tab pos="720725" algn="l"/>
                <a:tab pos="1444625" algn="l"/>
                <a:tab pos="2168525" algn="l"/>
                <a:tab pos="2892425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955675">
              <a:tabLst>
                <a:tab pos="720725" algn="l"/>
                <a:tab pos="1444625" algn="l"/>
                <a:tab pos="2168525" algn="l"/>
                <a:tab pos="2892425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955675">
              <a:tabLst>
                <a:tab pos="720725" algn="l"/>
                <a:tab pos="1444625" algn="l"/>
                <a:tab pos="2168525" algn="l"/>
                <a:tab pos="2892425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955675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0725" algn="l"/>
                <a:tab pos="1444625" algn="l"/>
                <a:tab pos="2168525" algn="l"/>
                <a:tab pos="2892425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955675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0725" algn="l"/>
                <a:tab pos="1444625" algn="l"/>
                <a:tab pos="2168525" algn="l"/>
                <a:tab pos="2892425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955675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0725" algn="l"/>
                <a:tab pos="1444625" algn="l"/>
                <a:tab pos="2168525" algn="l"/>
                <a:tab pos="2892425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955675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0725" algn="l"/>
                <a:tab pos="1444625" algn="l"/>
                <a:tab pos="2168525" algn="l"/>
                <a:tab pos="2892425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C7020F7A-D1D9-6744-B3BA-694639E1A141}" type="slidenum">
              <a:rPr lang="en-GB" sz="1200">
                <a:solidFill>
                  <a:srgbClr val="000000"/>
                </a:solidFill>
              </a:rPr>
              <a:pPr/>
              <a:t>2</a:t>
            </a:fld>
            <a:endParaRPr lang="en-GB" sz="1200">
              <a:solidFill>
                <a:srgbClr val="000000"/>
              </a:solidFill>
            </a:endParaRPr>
          </a:p>
        </p:txBody>
      </p:sp>
      <p:sp>
        <p:nvSpPr>
          <p:cNvPr id="273411" name="Text Box 1"/>
          <p:cNvSpPr txBox="1">
            <a:spLocks noChangeArrowheads="1"/>
          </p:cNvSpPr>
          <p:nvPr/>
        </p:nvSpPr>
        <p:spPr bwMode="auto">
          <a:xfrm>
            <a:off x="982663" y="720725"/>
            <a:ext cx="5349875" cy="3602038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1420" tIns="45710" rIns="91420" bIns="45710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endParaRPr lang="en-US" sz="2500"/>
          </a:p>
        </p:txBody>
      </p:sp>
      <p:sp>
        <p:nvSpPr>
          <p:cNvPr id="273412" name="Text Box 2"/>
          <p:cNvSpPr>
            <a:spLocks noGrp="1" noChangeArrowheads="1"/>
          </p:cNvSpPr>
          <p:nvPr>
            <p:ph type="body"/>
          </p:nvPr>
        </p:nvSpPr>
        <p:spPr>
          <a:xfrm>
            <a:off x="731838" y="4562475"/>
            <a:ext cx="5845175" cy="44069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422400" y="846138"/>
            <a:ext cx="4465638" cy="3349625"/>
          </a:xfrm>
          <a:ln/>
        </p:spPr>
      </p:sp>
      <p:sp>
        <p:nvSpPr>
          <p:cNvPr id="337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422400" y="846138"/>
            <a:ext cx="4465638" cy="3349625"/>
          </a:xfrm>
          <a:ln/>
        </p:spPr>
      </p:sp>
      <p:sp>
        <p:nvSpPr>
          <p:cNvPr id="3584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422400" y="846138"/>
            <a:ext cx="4465638" cy="3349625"/>
          </a:xfrm>
          <a:ln/>
        </p:spPr>
      </p:sp>
      <p:sp>
        <p:nvSpPr>
          <p:cNvPr id="3789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422400" y="846138"/>
            <a:ext cx="4465638" cy="3349625"/>
          </a:xfrm>
          <a:ln/>
        </p:spPr>
      </p:sp>
      <p:sp>
        <p:nvSpPr>
          <p:cNvPr id="399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422400" y="846138"/>
            <a:ext cx="4465638" cy="3349625"/>
          </a:xfrm>
          <a:ln/>
        </p:spPr>
      </p:sp>
      <p:sp>
        <p:nvSpPr>
          <p:cNvPr id="4198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422400" y="846138"/>
            <a:ext cx="4465638" cy="3349625"/>
          </a:xfrm>
          <a:ln/>
        </p:spPr>
      </p:sp>
      <p:sp>
        <p:nvSpPr>
          <p:cNvPr id="4403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422400" y="846138"/>
            <a:ext cx="4465638" cy="3349625"/>
          </a:xfrm>
          <a:ln/>
        </p:spPr>
      </p:sp>
      <p:sp>
        <p:nvSpPr>
          <p:cNvPr id="4403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Segnaposto immagine diapositiva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422400" y="846138"/>
            <a:ext cx="4465638" cy="3349625"/>
          </a:xfrm>
          <a:ln/>
        </p:spPr>
      </p:sp>
      <p:sp>
        <p:nvSpPr>
          <p:cNvPr id="52226" name="Segnaposto note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54275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62575" cy="40417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56323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62575" cy="40417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422400" y="846138"/>
            <a:ext cx="4465638" cy="3349625"/>
          </a:xfrm>
          <a:ln/>
        </p:spPr>
      </p:sp>
      <p:sp>
        <p:nvSpPr>
          <p:cNvPr id="5017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1"/>
          <p:cNvSpPr txBox="1">
            <a:spLocks noChangeArrowheads="1"/>
          </p:cNvSpPr>
          <p:nvPr/>
        </p:nvSpPr>
        <p:spPr bwMode="auto">
          <a:xfrm>
            <a:off x="1260475" y="722313"/>
            <a:ext cx="4795838" cy="359886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en-US" sz="2400">
              <a:solidFill>
                <a:schemeClr val="bg1"/>
              </a:solidFill>
              <a:latin typeface="Times New Roman" charset="0"/>
              <a:cs typeface="Lucida Sans Unicode" charset="0"/>
            </a:endParaRPr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body"/>
          </p:nvPr>
        </p:nvSpPr>
        <p:spPr>
          <a:xfrm>
            <a:off x="973138" y="4560888"/>
            <a:ext cx="5365750" cy="43211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422400" y="846138"/>
            <a:ext cx="4465638" cy="3349625"/>
          </a:xfrm>
          <a:ln/>
        </p:spPr>
      </p:sp>
      <p:sp>
        <p:nvSpPr>
          <p:cNvPr id="9318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116739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62575" cy="40417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118787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62575" cy="40417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120835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62575" cy="40417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122883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62575" cy="40417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125955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62575" cy="40417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130051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62575" cy="40417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4962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134147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62575" cy="40417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Segnaposto immagine diapositiva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422400" y="846138"/>
            <a:ext cx="4465638" cy="3349625"/>
          </a:xfrm>
          <a:ln/>
        </p:spPr>
      </p:sp>
      <p:sp>
        <p:nvSpPr>
          <p:cNvPr id="95234" name="Segnaposto note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97283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62575" cy="40417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97283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62575" cy="40417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97283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62575" cy="40417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99331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62575" cy="40417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54275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62575" cy="40417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4962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66563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62575" cy="40417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70659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62575" cy="40417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58371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62575" cy="40417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60419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62575" cy="40417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62467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62575" cy="40417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Segnaposto immagine diapositiva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422400" y="846138"/>
            <a:ext cx="4465638" cy="3349625"/>
          </a:xfrm>
          <a:ln/>
        </p:spPr>
      </p:sp>
      <p:sp>
        <p:nvSpPr>
          <p:cNvPr id="64514" name="Segnaposto note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72707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62575" cy="40417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4962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74755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62575" cy="40417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76803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62575" cy="40417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78851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62575" cy="40417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80899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62575" cy="40417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82947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62575" cy="40417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84995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62575" cy="40417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87043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62575" cy="40417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89091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62575" cy="40417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91139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62575" cy="40417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101379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62575" cy="40417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r>
              <a:rPr lang="it-IT" dirty="0" err="1" smtClean="0">
                <a:latin typeface="Times New Roman" charset="0"/>
                <a:ea typeface="ＭＳ Ｐゴシック" charset="0"/>
                <a:cs typeface="ＭＳ Ｐゴシック" charset="0"/>
              </a:rPr>
              <a:t>Not</a:t>
            </a:r>
            <a:r>
              <a:rPr lang="it-IT" dirty="0" smtClean="0">
                <a:latin typeface="Times New Roman" charset="0"/>
                <a:ea typeface="ＭＳ Ｐゴシック" charset="0"/>
                <a:cs typeface="ＭＳ Ｐゴシック" charset="0"/>
              </a:rPr>
              <a:t> an </a:t>
            </a:r>
            <a:r>
              <a:rPr lang="it-IT" dirty="0" err="1" smtClean="0">
                <a:latin typeface="Times New Roman" charset="0"/>
                <a:ea typeface="ＭＳ Ｐゴシック" charset="0"/>
                <a:cs typeface="ＭＳ Ｐゴシック" charset="0"/>
              </a:rPr>
              <a:t>antinomy</a:t>
            </a:r>
            <a:r>
              <a:rPr lang="it-IT" dirty="0" smtClean="0">
                <a:latin typeface="Times New Roman" charset="0"/>
                <a:ea typeface="ＭＳ Ｐゴシック" charset="0"/>
                <a:cs typeface="ＭＳ Ｐゴシック" charset="0"/>
              </a:rPr>
              <a:t>: in</a:t>
            </a:r>
            <a:r>
              <a:rPr lang="it-IT" baseline="0" dirty="0" smtClean="0">
                <a:latin typeface="Times New Roman" charset="0"/>
                <a:ea typeface="ＭＳ Ｐゴシック" charset="0"/>
                <a:cs typeface="ＭＳ Ｐゴシック" charset="0"/>
              </a:rPr>
              <a:t> Java </a:t>
            </a:r>
            <a:r>
              <a:rPr lang="it-IT" baseline="0" dirty="0" err="1" smtClean="0">
                <a:latin typeface="Times New Roman" charset="0"/>
                <a:ea typeface="ＭＳ Ｐゴシック" charset="0"/>
                <a:cs typeface="ＭＳ Ｐゴシック" charset="0"/>
              </a:rPr>
              <a:t>there</a:t>
            </a:r>
            <a:r>
              <a:rPr lang="it-IT" baseline="0" dirty="0" smtClean="0">
                <a:latin typeface="Times New Roman" charset="0"/>
                <a:ea typeface="ＭＳ Ｐゴシック" charset="0"/>
                <a:cs typeface="ＭＳ Ｐゴシック" charset="0"/>
              </a:rPr>
              <a:t> </a:t>
            </a:r>
            <a:r>
              <a:rPr lang="it-IT" baseline="0" dirty="0" err="1" smtClean="0">
                <a:latin typeface="Times New Roman" charset="0"/>
                <a:ea typeface="ＭＳ Ｐゴシック" charset="0"/>
                <a:cs typeface="ＭＳ Ｐゴシック" charset="0"/>
              </a:rPr>
              <a:t>is</a:t>
            </a:r>
            <a:r>
              <a:rPr lang="it-IT" baseline="0" dirty="0" smtClean="0">
                <a:latin typeface="Times New Roman" charset="0"/>
                <a:ea typeface="ＭＳ Ｐゴシック" charset="0"/>
                <a:cs typeface="ＭＳ Ｐゴシック" charset="0"/>
              </a:rPr>
              <a:t> a </a:t>
            </a:r>
            <a:r>
              <a:rPr lang="it-IT" baseline="0" dirty="0" err="1" smtClean="0">
                <a:latin typeface="Times New Roman" charset="0"/>
                <a:ea typeface="ＭＳ Ｐゴシック" charset="0"/>
                <a:cs typeface="ＭＳ Ｐゴシック" charset="0"/>
              </a:rPr>
              <a:t>class</a:t>
            </a:r>
            <a:r>
              <a:rPr lang="it-IT" baseline="0" dirty="0" smtClean="0">
                <a:latin typeface="Times New Roman" charset="0"/>
                <a:ea typeface="ＭＳ Ｐゴシック" charset="0"/>
                <a:cs typeface="ＭＳ Ｐゴシック" charset="0"/>
              </a:rPr>
              <a:t> </a:t>
            </a:r>
            <a:r>
              <a:rPr lang="it-IT" baseline="0" dirty="0" err="1" smtClean="0">
                <a:latin typeface="Times New Roman" charset="0"/>
                <a:ea typeface="ＭＳ Ｐゴシック" charset="0"/>
                <a:cs typeface="ＭＳ Ｐゴシック" charset="0"/>
              </a:rPr>
              <a:t>called</a:t>
            </a:r>
            <a:r>
              <a:rPr lang="it-IT" baseline="0" dirty="0" smtClean="0">
                <a:latin typeface="Times New Roman" charset="0"/>
                <a:ea typeface="ＭＳ Ｐゴシック" charset="0"/>
                <a:cs typeface="ＭＳ Ｐゴシック" charset="0"/>
              </a:rPr>
              <a:t> “Object”</a:t>
            </a:r>
            <a:endParaRPr lang="it-IT" dirty="0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103427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62575" cy="40417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422400" y="846138"/>
            <a:ext cx="4465638" cy="3349625"/>
          </a:xfrm>
          <a:ln/>
        </p:spPr>
      </p:sp>
      <p:sp>
        <p:nvSpPr>
          <p:cNvPr id="10547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422400" y="846138"/>
            <a:ext cx="4465638" cy="3349625"/>
          </a:xfrm>
          <a:ln/>
        </p:spPr>
      </p:sp>
      <p:sp>
        <p:nvSpPr>
          <p:cNvPr id="10752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136195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62575" cy="40417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109571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62575" cy="40417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111619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62575" cy="40417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113667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62575" cy="40417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2462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it-IT"/>
          </a:p>
        </p:txBody>
      </p:sp>
      <p:sp>
        <p:nvSpPr>
          <p:cNvPr id="223235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4063"/>
            <a:ext cx="5351463" cy="404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138243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62575" cy="40417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140291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62575" cy="40417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142339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62575" cy="40417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144387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62575" cy="40417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144387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62575" cy="40417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142339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62575" cy="40417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144387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62575" cy="40417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/>
          </p:nvPr>
        </p:nvSpPr>
        <p:spPr>
          <a:xfrm>
            <a:off x="4143319" y="9119630"/>
            <a:ext cx="3170291" cy="47998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559" tIns="45779" rIns="91559" bIns="45779"/>
          <a:lstStyle>
            <a:lvl1pPr eaLnBrk="0" hangingPunct="0">
              <a:tabLst>
                <a:tab pos="724841" algn="l"/>
                <a:tab pos="1449682" algn="l"/>
                <a:tab pos="2174523" algn="l"/>
                <a:tab pos="2899364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3916" indent="-286121" eaLnBrk="0" hangingPunct="0">
              <a:tabLst>
                <a:tab pos="724841" algn="l"/>
                <a:tab pos="1449682" algn="l"/>
                <a:tab pos="2174523" algn="l"/>
                <a:tab pos="2899364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4486" indent="-228897" eaLnBrk="0" hangingPunct="0">
              <a:tabLst>
                <a:tab pos="724841" algn="l"/>
                <a:tab pos="1449682" algn="l"/>
                <a:tab pos="2174523" algn="l"/>
                <a:tab pos="2899364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2280" indent="-228897" eaLnBrk="0" hangingPunct="0">
              <a:tabLst>
                <a:tab pos="724841" algn="l"/>
                <a:tab pos="1449682" algn="l"/>
                <a:tab pos="2174523" algn="l"/>
                <a:tab pos="2899364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60075" indent="-228897" eaLnBrk="0" hangingPunct="0">
              <a:tabLst>
                <a:tab pos="724841" algn="l"/>
                <a:tab pos="1449682" algn="l"/>
                <a:tab pos="2174523" algn="l"/>
                <a:tab pos="2899364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7869" indent="-228897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4841" algn="l"/>
                <a:tab pos="1449682" algn="l"/>
                <a:tab pos="2174523" algn="l"/>
                <a:tab pos="2899364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5663" indent="-228897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4841" algn="l"/>
                <a:tab pos="1449682" algn="l"/>
                <a:tab pos="2174523" algn="l"/>
                <a:tab pos="2899364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33458" indent="-228897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4841" algn="l"/>
                <a:tab pos="1449682" algn="l"/>
                <a:tab pos="2174523" algn="l"/>
                <a:tab pos="2899364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91252" indent="-228897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4841" algn="l"/>
                <a:tab pos="1449682" algn="l"/>
                <a:tab pos="2174523" algn="l"/>
                <a:tab pos="2899364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D050C55C-B518-C64D-B333-8EE0DDDE6A07}" type="slidenum">
              <a:rPr lang="en-GB" sz="1300">
                <a:solidFill>
                  <a:srgbClr val="000000"/>
                </a:solidFill>
              </a:rPr>
              <a:pPr eaLnBrk="1" hangingPunct="1"/>
              <a:t>81</a:t>
            </a:fld>
            <a:endParaRPr lang="en-GB" sz="1300">
              <a:solidFill>
                <a:srgbClr val="000000"/>
              </a:solidFill>
            </a:endParaRPr>
          </a:p>
        </p:txBody>
      </p:sp>
      <p:sp>
        <p:nvSpPr>
          <p:cNvPr id="106499" name="Text Box 1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257300" y="720725"/>
            <a:ext cx="4799013" cy="3598863"/>
          </a:xfrm>
          <a:ln/>
        </p:spPr>
      </p:sp>
      <p:sp>
        <p:nvSpPr>
          <p:cNvPr id="106500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974619" y="4559816"/>
            <a:ext cx="5364374" cy="43214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/>
          </p:nvPr>
        </p:nvSpPr>
        <p:spPr>
          <a:xfrm>
            <a:off x="4143319" y="9119630"/>
            <a:ext cx="3170291" cy="47998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559" tIns="45779" rIns="91559" bIns="45779"/>
          <a:lstStyle>
            <a:lvl1pPr eaLnBrk="0" hangingPunct="0">
              <a:tabLst>
                <a:tab pos="724841" algn="l"/>
                <a:tab pos="1449682" algn="l"/>
                <a:tab pos="2174523" algn="l"/>
                <a:tab pos="2899364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3916" indent="-286121" eaLnBrk="0" hangingPunct="0">
              <a:tabLst>
                <a:tab pos="724841" algn="l"/>
                <a:tab pos="1449682" algn="l"/>
                <a:tab pos="2174523" algn="l"/>
                <a:tab pos="2899364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4486" indent="-228897" eaLnBrk="0" hangingPunct="0">
              <a:tabLst>
                <a:tab pos="724841" algn="l"/>
                <a:tab pos="1449682" algn="l"/>
                <a:tab pos="2174523" algn="l"/>
                <a:tab pos="2899364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2280" indent="-228897" eaLnBrk="0" hangingPunct="0">
              <a:tabLst>
                <a:tab pos="724841" algn="l"/>
                <a:tab pos="1449682" algn="l"/>
                <a:tab pos="2174523" algn="l"/>
                <a:tab pos="2899364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60075" indent="-228897" eaLnBrk="0" hangingPunct="0">
              <a:tabLst>
                <a:tab pos="724841" algn="l"/>
                <a:tab pos="1449682" algn="l"/>
                <a:tab pos="2174523" algn="l"/>
                <a:tab pos="2899364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7869" indent="-228897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4841" algn="l"/>
                <a:tab pos="1449682" algn="l"/>
                <a:tab pos="2174523" algn="l"/>
                <a:tab pos="2899364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5663" indent="-228897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4841" algn="l"/>
                <a:tab pos="1449682" algn="l"/>
                <a:tab pos="2174523" algn="l"/>
                <a:tab pos="2899364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33458" indent="-228897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4841" algn="l"/>
                <a:tab pos="1449682" algn="l"/>
                <a:tab pos="2174523" algn="l"/>
                <a:tab pos="2899364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91252" indent="-228897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4841" algn="l"/>
                <a:tab pos="1449682" algn="l"/>
                <a:tab pos="2174523" algn="l"/>
                <a:tab pos="2899364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C71DD433-DE47-6B48-835A-79F356597493}" type="slidenum">
              <a:rPr lang="en-GB" sz="1300">
                <a:solidFill>
                  <a:srgbClr val="000000"/>
                </a:solidFill>
              </a:rPr>
              <a:pPr eaLnBrk="1" hangingPunct="1"/>
              <a:t>82</a:t>
            </a:fld>
            <a:endParaRPr lang="en-GB" sz="1300">
              <a:solidFill>
                <a:srgbClr val="000000"/>
              </a:solidFill>
            </a:endParaRPr>
          </a:p>
        </p:txBody>
      </p:sp>
      <p:sp>
        <p:nvSpPr>
          <p:cNvPr id="108547" name="Text Box 1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257300" y="720725"/>
            <a:ext cx="4799013" cy="3598863"/>
          </a:xfrm>
          <a:ln/>
        </p:spPr>
      </p:sp>
      <p:sp>
        <p:nvSpPr>
          <p:cNvPr id="108548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974619" y="4559816"/>
            <a:ext cx="5364374" cy="43214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559" tIns="45779" rIns="91559" bIns="45779"/>
          <a:lstStyle>
            <a:lvl1pPr eaLnBrk="0" hangingPunct="0">
              <a:tabLst>
                <a:tab pos="723900" algn="l"/>
                <a:tab pos="1449388" algn="l"/>
                <a:tab pos="2173288" algn="l"/>
                <a:tab pos="2898775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723900" algn="l"/>
                <a:tab pos="1449388" algn="l"/>
                <a:tab pos="2173288" algn="l"/>
                <a:tab pos="2898775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tabLst>
                <a:tab pos="723900" algn="l"/>
                <a:tab pos="1449388" algn="l"/>
                <a:tab pos="2173288" algn="l"/>
                <a:tab pos="2898775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tabLst>
                <a:tab pos="723900" algn="l"/>
                <a:tab pos="1449388" algn="l"/>
                <a:tab pos="2173288" algn="l"/>
                <a:tab pos="2898775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tabLst>
                <a:tab pos="723900" algn="l"/>
                <a:tab pos="1449388" algn="l"/>
                <a:tab pos="2173288" algn="l"/>
                <a:tab pos="2898775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9388" algn="l"/>
                <a:tab pos="2173288" algn="l"/>
                <a:tab pos="2898775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9388" algn="l"/>
                <a:tab pos="2173288" algn="l"/>
                <a:tab pos="2898775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9388" algn="l"/>
                <a:tab pos="2173288" algn="l"/>
                <a:tab pos="2898775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9388" algn="l"/>
                <a:tab pos="2173288" algn="l"/>
                <a:tab pos="2898775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3A833435-F44B-0B44-8C90-80AFA3EC9F93}" type="slidenum">
              <a:rPr lang="en-GB" sz="1300">
                <a:solidFill>
                  <a:srgbClr val="000000"/>
                </a:solidFill>
                <a:latin typeface="Times New Roman" charset="0"/>
              </a:rPr>
              <a:pPr eaLnBrk="1" hangingPunct="1"/>
              <a:t>85</a:t>
            </a:fld>
            <a:endParaRPr lang="en-GB" sz="130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50531" name="Text Box 1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257300" y="720725"/>
            <a:ext cx="4799013" cy="3598863"/>
          </a:xfrm>
          <a:ln/>
        </p:spPr>
      </p:sp>
      <p:sp>
        <p:nvSpPr>
          <p:cNvPr id="150532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4163" cy="43211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en-US">
              <a:latin typeface="Times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559" tIns="45779" rIns="91559" bIns="45779"/>
          <a:lstStyle>
            <a:lvl1pPr eaLnBrk="0" hangingPunct="0">
              <a:tabLst>
                <a:tab pos="723900" algn="l"/>
                <a:tab pos="1449388" algn="l"/>
                <a:tab pos="2173288" algn="l"/>
                <a:tab pos="2898775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723900" algn="l"/>
                <a:tab pos="1449388" algn="l"/>
                <a:tab pos="2173288" algn="l"/>
                <a:tab pos="2898775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tabLst>
                <a:tab pos="723900" algn="l"/>
                <a:tab pos="1449388" algn="l"/>
                <a:tab pos="2173288" algn="l"/>
                <a:tab pos="2898775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tabLst>
                <a:tab pos="723900" algn="l"/>
                <a:tab pos="1449388" algn="l"/>
                <a:tab pos="2173288" algn="l"/>
                <a:tab pos="2898775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tabLst>
                <a:tab pos="723900" algn="l"/>
                <a:tab pos="1449388" algn="l"/>
                <a:tab pos="2173288" algn="l"/>
                <a:tab pos="2898775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9388" algn="l"/>
                <a:tab pos="2173288" algn="l"/>
                <a:tab pos="2898775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9388" algn="l"/>
                <a:tab pos="2173288" algn="l"/>
                <a:tab pos="2898775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9388" algn="l"/>
                <a:tab pos="2173288" algn="l"/>
                <a:tab pos="2898775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9388" algn="l"/>
                <a:tab pos="2173288" algn="l"/>
                <a:tab pos="2898775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41813A3C-E6FC-DB44-B818-A8983958F59D}" type="slidenum">
              <a:rPr lang="en-GB" sz="1300">
                <a:solidFill>
                  <a:srgbClr val="000000"/>
                </a:solidFill>
                <a:latin typeface="Times New Roman" charset="0"/>
              </a:rPr>
              <a:pPr eaLnBrk="1" hangingPunct="1"/>
              <a:t>86</a:t>
            </a:fld>
            <a:endParaRPr lang="en-GB" sz="130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46435" name="Text Box 1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257300" y="720725"/>
            <a:ext cx="4799013" cy="3598863"/>
          </a:xfrm>
          <a:ln/>
        </p:spPr>
      </p:sp>
      <p:sp>
        <p:nvSpPr>
          <p:cNvPr id="146436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4163" cy="43211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559" tIns="45779" rIns="91559" bIns="45779"/>
          <a:lstStyle>
            <a:lvl1pPr eaLnBrk="0" hangingPunct="0">
              <a:tabLst>
                <a:tab pos="723900" algn="l"/>
                <a:tab pos="1449388" algn="l"/>
                <a:tab pos="2173288" algn="l"/>
                <a:tab pos="2898775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723900" algn="l"/>
                <a:tab pos="1449388" algn="l"/>
                <a:tab pos="2173288" algn="l"/>
                <a:tab pos="2898775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tabLst>
                <a:tab pos="723900" algn="l"/>
                <a:tab pos="1449388" algn="l"/>
                <a:tab pos="2173288" algn="l"/>
                <a:tab pos="2898775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tabLst>
                <a:tab pos="723900" algn="l"/>
                <a:tab pos="1449388" algn="l"/>
                <a:tab pos="2173288" algn="l"/>
                <a:tab pos="2898775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tabLst>
                <a:tab pos="723900" algn="l"/>
                <a:tab pos="1449388" algn="l"/>
                <a:tab pos="2173288" algn="l"/>
                <a:tab pos="2898775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9388" algn="l"/>
                <a:tab pos="2173288" algn="l"/>
                <a:tab pos="2898775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9388" algn="l"/>
                <a:tab pos="2173288" algn="l"/>
                <a:tab pos="2898775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9388" algn="l"/>
                <a:tab pos="2173288" algn="l"/>
                <a:tab pos="2898775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9388" algn="l"/>
                <a:tab pos="2173288" algn="l"/>
                <a:tab pos="2898775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390721FC-A541-3142-8F0C-BB452CA39F29}" type="slidenum">
              <a:rPr lang="en-GB" sz="1300">
                <a:solidFill>
                  <a:srgbClr val="000000"/>
                </a:solidFill>
                <a:latin typeface="Times New Roman" charset="0"/>
              </a:rPr>
              <a:pPr eaLnBrk="1" hangingPunct="1"/>
              <a:t>87</a:t>
            </a:fld>
            <a:endParaRPr lang="en-GB" sz="130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48483" name="Text Box 1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257300" y="720725"/>
            <a:ext cx="4799013" cy="3598863"/>
          </a:xfrm>
          <a:ln/>
        </p:spPr>
      </p:sp>
      <p:sp>
        <p:nvSpPr>
          <p:cNvPr id="148484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4163" cy="43211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152579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62575" cy="40417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154627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62575" cy="40417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166915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62575" cy="40417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168963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62575" cy="40417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3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422400" y="846138"/>
            <a:ext cx="4465638" cy="3349625"/>
          </a:xfrm>
          <a:ln/>
        </p:spPr>
      </p:sp>
      <p:sp>
        <p:nvSpPr>
          <p:cNvPr id="15667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1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422400" y="846138"/>
            <a:ext cx="4465638" cy="3349625"/>
          </a:xfrm>
          <a:ln/>
        </p:spPr>
      </p:sp>
      <p:sp>
        <p:nvSpPr>
          <p:cNvPr id="15872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173059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62575" cy="40417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Text Box 1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173059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62575" cy="40417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7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22400" y="846138"/>
            <a:ext cx="4465638" cy="3349625"/>
          </a:xfrm>
          <a:ln/>
        </p:spPr>
      </p:sp>
      <p:sp>
        <p:nvSpPr>
          <p:cNvPr id="126978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latin typeface="Times" charset="0"/>
              </a:rPr>
              <a:t>Command,  Observer,  Mediator, Chain of responsibility</a:t>
            </a:r>
          </a:p>
        </p:txBody>
      </p:sp>
      <p:sp>
        <p:nvSpPr>
          <p:cNvPr id="126979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4143319" y="9119630"/>
            <a:ext cx="3170291" cy="47998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559" tIns="45779" rIns="91559" bIns="45779"/>
          <a:lstStyle>
            <a:lvl1pPr eaLnBrk="0" hangingPunct="0">
              <a:tabLst>
                <a:tab pos="724841" algn="l"/>
                <a:tab pos="1449682" algn="l"/>
                <a:tab pos="2174523" algn="l"/>
                <a:tab pos="2899364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3916" indent="-286121" eaLnBrk="0" hangingPunct="0">
              <a:tabLst>
                <a:tab pos="724841" algn="l"/>
                <a:tab pos="1449682" algn="l"/>
                <a:tab pos="2174523" algn="l"/>
                <a:tab pos="2899364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4486" indent="-228897" eaLnBrk="0" hangingPunct="0">
              <a:tabLst>
                <a:tab pos="724841" algn="l"/>
                <a:tab pos="1449682" algn="l"/>
                <a:tab pos="2174523" algn="l"/>
                <a:tab pos="2899364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2280" indent="-228897" eaLnBrk="0" hangingPunct="0">
              <a:tabLst>
                <a:tab pos="724841" algn="l"/>
                <a:tab pos="1449682" algn="l"/>
                <a:tab pos="2174523" algn="l"/>
                <a:tab pos="2899364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60075" indent="-228897" eaLnBrk="0" hangingPunct="0">
              <a:tabLst>
                <a:tab pos="724841" algn="l"/>
                <a:tab pos="1449682" algn="l"/>
                <a:tab pos="2174523" algn="l"/>
                <a:tab pos="2899364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7869" indent="-228897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4841" algn="l"/>
                <a:tab pos="1449682" algn="l"/>
                <a:tab pos="2174523" algn="l"/>
                <a:tab pos="2899364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5663" indent="-228897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4841" algn="l"/>
                <a:tab pos="1449682" algn="l"/>
                <a:tab pos="2174523" algn="l"/>
                <a:tab pos="2899364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33458" indent="-228897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4841" algn="l"/>
                <a:tab pos="1449682" algn="l"/>
                <a:tab pos="2174523" algn="l"/>
                <a:tab pos="2899364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91252" indent="-228897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4841" algn="l"/>
                <a:tab pos="1449682" algn="l"/>
                <a:tab pos="2174523" algn="l"/>
                <a:tab pos="2899364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509DC01D-965E-7641-BCD6-65350F6764F4}" type="slidenum">
              <a:rPr lang="it-IT" sz="1300">
                <a:solidFill>
                  <a:srgbClr val="000000"/>
                </a:solidFill>
              </a:rPr>
              <a:pPr eaLnBrk="1" hangingPunct="1"/>
              <a:t>119</a:t>
            </a:fld>
            <a:endParaRPr lang="it-IT" sz="130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>
            <a:spLocks noGrp="1" noChangeArrowheads="1"/>
          </p:cNvSpPr>
          <p:nvPr>
            <p:ph type="sldNum" sz="quarter"/>
          </p:nvPr>
        </p:nvSpPr>
        <p:spPr>
          <a:xfrm>
            <a:off x="4143319" y="9119630"/>
            <a:ext cx="3170291" cy="47998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559" tIns="45779" rIns="91559" bIns="45779"/>
          <a:lstStyle>
            <a:lvl1pPr eaLnBrk="0" hangingPunct="0">
              <a:tabLst>
                <a:tab pos="724841" algn="l"/>
                <a:tab pos="1449682" algn="l"/>
                <a:tab pos="2174523" algn="l"/>
                <a:tab pos="2899364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3916" indent="-286121" eaLnBrk="0" hangingPunct="0">
              <a:tabLst>
                <a:tab pos="724841" algn="l"/>
                <a:tab pos="1449682" algn="l"/>
                <a:tab pos="2174523" algn="l"/>
                <a:tab pos="2899364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4486" indent="-228897" eaLnBrk="0" hangingPunct="0">
              <a:tabLst>
                <a:tab pos="724841" algn="l"/>
                <a:tab pos="1449682" algn="l"/>
                <a:tab pos="2174523" algn="l"/>
                <a:tab pos="2899364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2280" indent="-228897" eaLnBrk="0" hangingPunct="0">
              <a:tabLst>
                <a:tab pos="724841" algn="l"/>
                <a:tab pos="1449682" algn="l"/>
                <a:tab pos="2174523" algn="l"/>
                <a:tab pos="2899364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60075" indent="-228897" eaLnBrk="0" hangingPunct="0">
              <a:tabLst>
                <a:tab pos="724841" algn="l"/>
                <a:tab pos="1449682" algn="l"/>
                <a:tab pos="2174523" algn="l"/>
                <a:tab pos="2899364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7869" indent="-228897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4841" algn="l"/>
                <a:tab pos="1449682" algn="l"/>
                <a:tab pos="2174523" algn="l"/>
                <a:tab pos="2899364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5663" indent="-228897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4841" algn="l"/>
                <a:tab pos="1449682" algn="l"/>
                <a:tab pos="2174523" algn="l"/>
                <a:tab pos="2899364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33458" indent="-228897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4841" algn="l"/>
                <a:tab pos="1449682" algn="l"/>
                <a:tab pos="2174523" algn="l"/>
                <a:tab pos="2899364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91252" indent="-228897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4841" algn="l"/>
                <a:tab pos="1449682" algn="l"/>
                <a:tab pos="2174523" algn="l"/>
                <a:tab pos="2899364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DDCC6FBA-8E94-794D-B950-B946994F393D}" type="slidenum">
              <a:rPr lang="en-GB" sz="1300">
                <a:solidFill>
                  <a:srgbClr val="000000"/>
                </a:solidFill>
              </a:rPr>
              <a:pPr eaLnBrk="1" hangingPunct="1"/>
              <a:t>124</a:t>
            </a:fld>
            <a:endParaRPr lang="en-GB" sz="1300">
              <a:solidFill>
                <a:srgbClr val="000000"/>
              </a:solidFill>
            </a:endParaRPr>
          </a:p>
        </p:txBody>
      </p:sp>
      <p:sp>
        <p:nvSpPr>
          <p:cNvPr id="129027" name="Text Box 1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257300" y="720725"/>
            <a:ext cx="4799013" cy="3598863"/>
          </a:xfrm>
          <a:ln/>
        </p:spPr>
      </p:sp>
      <p:sp>
        <p:nvSpPr>
          <p:cNvPr id="129028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974619" y="4559816"/>
            <a:ext cx="5364374" cy="43214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22400" y="846138"/>
            <a:ext cx="4465638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811604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09" name="Segnaposto immagine diapositiva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422400" y="846138"/>
            <a:ext cx="4465638" cy="3349625"/>
          </a:xfrm>
          <a:ln/>
        </p:spPr>
      </p:sp>
      <p:sp>
        <p:nvSpPr>
          <p:cNvPr id="171010" name="Segnaposto note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1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422400" y="846138"/>
            <a:ext cx="4465638" cy="3349625"/>
          </a:xfrm>
          <a:ln/>
        </p:spPr>
      </p:sp>
      <p:sp>
        <p:nvSpPr>
          <p:cNvPr id="15872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1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422400" y="846138"/>
            <a:ext cx="4465638" cy="3349625"/>
          </a:xfrm>
          <a:ln/>
        </p:spPr>
      </p:sp>
      <p:sp>
        <p:nvSpPr>
          <p:cNvPr id="17920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49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422400" y="846138"/>
            <a:ext cx="4465638" cy="3349625"/>
          </a:xfrm>
          <a:ln/>
        </p:spPr>
      </p:sp>
      <p:sp>
        <p:nvSpPr>
          <p:cNvPr id="18125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8A9796-4EFE-6146-A404-7DC02F67F26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4384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85C5A0-8D7B-5849-947E-AB023F1B777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4882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73CEBE-8DC5-DA4D-BC2E-F9FE38BAA29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1682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09600" y="1295400"/>
            <a:ext cx="4035425" cy="47990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797425" y="1295400"/>
            <a:ext cx="4037013" cy="47990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9868E1-6351-FB44-B07A-18EFFB8C07D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5371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2A213D-D546-7740-AA7A-531D207F057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4215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32DAD1-BA5E-3146-AA83-3BB4B4545DB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0296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EECDCA-E187-6548-97CD-9C2C95A610E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3723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770D21-C8DF-6C4A-82E0-A6DE24213F9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8998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 smtClean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D87811-A03D-814C-B3A3-1F64855DC0B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3552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FC0ABA-C0D9-9444-9730-93DC640D1C8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5018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83375" y="-122238"/>
            <a:ext cx="2151063" cy="6216651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228600" y="-122238"/>
            <a:ext cx="6302375" cy="6216651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E59ACD-9A28-044A-8CD8-8BFBBA35190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47791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olo e tabe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914400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abella 2"/>
          <p:cNvSpPr>
            <a:spLocks noGrp="1"/>
          </p:cNvSpPr>
          <p:nvPr>
            <p:ph type="tbl" idx="1"/>
          </p:nvPr>
        </p:nvSpPr>
        <p:spPr>
          <a:xfrm>
            <a:off x="609600" y="1295400"/>
            <a:ext cx="8229600" cy="4800600"/>
          </a:xfrm>
        </p:spPr>
        <p:txBody>
          <a:bodyPr>
            <a:normAutofit/>
          </a:bodyPr>
          <a:lstStyle/>
          <a:p>
            <a:pPr lvl="0"/>
            <a:endParaRPr lang="it-IT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4C7123-1C9C-5A40-8E8A-7D936423BFBB}" type="slidenum">
              <a:rPr lang="it-IT"/>
              <a:pPr>
                <a:defRPr/>
              </a:pPr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296891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9F16D8-608F-9540-97B7-36772C47D9D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39548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7BCF99-75C4-B743-8C4A-0B0CC66267D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81356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C5EB63-8891-0146-9B89-3E4AF11EA89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10075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4963"/>
            <a:ext cx="4035425" cy="4524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5025" y="1604963"/>
            <a:ext cx="4037013" cy="4524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6680C5-B87E-024D-808E-C89B3E90BF9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83909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C52EBF-D9F0-2C44-9E31-BE7ADF87F69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84501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04926F-D8E8-884B-B4B1-2055AB4AF1F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61172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284CAB-0FF9-5D40-827F-5E354D83216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76023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C3ED48-D51B-E64F-8B36-4A68F7FF69C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23458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 smtClean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7F58FB-1593-354F-BFD6-46AFB05116C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91630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E43D61-CFFD-854E-A838-8925EC75595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01451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6225" y="533400"/>
            <a:ext cx="2055813" cy="5595938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533400"/>
            <a:ext cx="6016625" cy="5595938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329442-3C9E-3243-AD21-5F11B49A869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33705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7767638" cy="2890838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8F319D-9E24-E943-8A93-104C6A169E1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8604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theme" Target="../theme/theme2.xml"/><Relationship Id="rId14" Type="http://schemas.openxmlformats.org/officeDocument/2006/relationships/image" Target="../media/image2.png"/><Relationship Id="rId15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-122238"/>
            <a:ext cx="8605838" cy="14605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295400"/>
            <a:ext cx="8224838" cy="479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685800" y="6248400"/>
            <a:ext cx="1900238" cy="4524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buFont typeface="Times New Roman" charset="0"/>
              <a:buNone/>
              <a:defRPr sz="1400">
                <a:solidFill>
                  <a:srgbClr val="000000"/>
                </a:solidFill>
                <a:latin typeface="Times New Roman" charset="0"/>
                <a:ea typeface="Lucida Sans Unicode" charset="0"/>
                <a:cs typeface="Lucida Sans Unicode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ftr"/>
          </p:nvPr>
        </p:nvSpPr>
        <p:spPr bwMode="auto">
          <a:xfrm>
            <a:off x="3124200" y="6553200"/>
            <a:ext cx="2890838" cy="2778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ctr">
              <a:lnSpc>
                <a:spcPct val="100000"/>
              </a:lnSpc>
              <a:buFont typeface="Lucida Sans Unicode" charset="0"/>
              <a:buNone/>
              <a:defRPr sz="1200">
                <a:solidFill>
                  <a:srgbClr val="000000"/>
                </a:solidFill>
                <a:latin typeface="Lucida Sans Unicode" charset="0"/>
                <a:ea typeface="Lucida Sans Unicode" charset="0"/>
                <a:cs typeface="Lucida Sans Unicode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7543800" y="6553200"/>
            <a:ext cx="1366838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Font typeface="Lucida Sans Unicode" charset="0"/>
              <a:buNone/>
              <a:defRPr sz="1200">
                <a:solidFill>
                  <a:srgbClr val="000000"/>
                </a:solidFill>
                <a:cs typeface="Lucida Sans Unicode" charset="0"/>
              </a:defRPr>
            </a:lvl1pPr>
          </a:lstStyle>
          <a:p>
            <a:pPr>
              <a:defRPr/>
            </a:pPr>
            <a:fld id="{15370BCA-C2CC-2543-BAF8-548C8C6074D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1031" name="Line 6"/>
          <p:cNvSpPr>
            <a:spLocks noChangeShapeType="1"/>
          </p:cNvSpPr>
          <p:nvPr/>
        </p:nvSpPr>
        <p:spPr bwMode="auto">
          <a:xfrm flipH="1">
            <a:off x="300038" y="990600"/>
            <a:ext cx="8848725" cy="1588"/>
          </a:xfrm>
          <a:prstGeom prst="line">
            <a:avLst/>
          </a:prstGeom>
          <a:noFill/>
          <a:ln w="38160">
            <a:solidFill>
              <a:srgbClr val="FF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2" name="Line 7"/>
          <p:cNvSpPr>
            <a:spLocks noChangeShapeType="1"/>
          </p:cNvSpPr>
          <p:nvPr/>
        </p:nvSpPr>
        <p:spPr bwMode="auto">
          <a:xfrm flipH="1">
            <a:off x="681038" y="6477000"/>
            <a:ext cx="8467725" cy="1588"/>
          </a:xfrm>
          <a:prstGeom prst="line">
            <a:avLst/>
          </a:prstGeom>
          <a:noFill/>
          <a:ln w="38160">
            <a:solidFill>
              <a:srgbClr val="FF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0" name="Picture 8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6521450"/>
            <a:ext cx="15113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00" r:id="rId1"/>
    <p:sldLayoutId id="2147484101" r:id="rId2"/>
    <p:sldLayoutId id="2147484102" r:id="rId3"/>
    <p:sldLayoutId id="2147484103" r:id="rId4"/>
    <p:sldLayoutId id="2147484104" r:id="rId5"/>
    <p:sldLayoutId id="2147484105" r:id="rId6"/>
    <p:sldLayoutId id="2147484106" r:id="rId7"/>
    <p:sldLayoutId id="2147484107" r:id="rId8"/>
    <p:sldLayoutId id="2147484108" r:id="rId9"/>
    <p:sldLayoutId id="2147484109" r:id="rId10"/>
    <p:sldLayoutId id="2147484110" r:id="rId11"/>
    <p:sldLayoutId id="2147484123" r:id="rId12"/>
  </p:sldLayoutIdLst>
  <p:txStyles>
    <p:titleStyle>
      <a:lvl1pPr algn="l" defTabSz="457200" rtl="0" eaLnBrk="0" fontAlgn="base" hangingPunct="0">
        <a:lnSpc>
          <a:spcPct val="10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Lucida Sans Unicode" charset="0"/>
        <a:defRPr sz="4400">
          <a:solidFill>
            <a:srgbClr val="000000"/>
          </a:solidFill>
          <a:latin typeface="+mj-lt"/>
          <a:ea typeface="ＭＳ Ｐゴシック" charset="0"/>
          <a:cs typeface="+mj-cs"/>
        </a:defRPr>
      </a:lvl1pPr>
      <a:lvl2pPr algn="l" defTabSz="457200" rtl="0" eaLnBrk="0" fontAlgn="base" hangingPunct="0">
        <a:lnSpc>
          <a:spcPct val="10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Lucida Sans Unicode" charset="0"/>
        <a:defRPr sz="4400">
          <a:solidFill>
            <a:srgbClr val="000000"/>
          </a:solidFill>
          <a:latin typeface="Lucida Sans Unicode" pitchFamily="34" charset="0"/>
          <a:ea typeface="ＭＳ Ｐゴシック" charset="0"/>
          <a:cs typeface="Lucida Sans Unicode" pitchFamily="34" charset="0"/>
        </a:defRPr>
      </a:lvl2pPr>
      <a:lvl3pPr algn="l" defTabSz="457200" rtl="0" eaLnBrk="0" fontAlgn="base" hangingPunct="0">
        <a:lnSpc>
          <a:spcPct val="10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Lucida Sans Unicode" charset="0"/>
        <a:defRPr sz="4400">
          <a:solidFill>
            <a:srgbClr val="000000"/>
          </a:solidFill>
          <a:latin typeface="Lucida Sans Unicode" pitchFamily="34" charset="0"/>
          <a:ea typeface="ＭＳ Ｐゴシック" charset="0"/>
          <a:cs typeface="Lucida Sans Unicode" pitchFamily="34" charset="0"/>
        </a:defRPr>
      </a:lvl3pPr>
      <a:lvl4pPr algn="l" defTabSz="457200" rtl="0" eaLnBrk="0" fontAlgn="base" hangingPunct="0">
        <a:lnSpc>
          <a:spcPct val="10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Lucida Sans Unicode" charset="0"/>
        <a:defRPr sz="4400">
          <a:solidFill>
            <a:srgbClr val="000000"/>
          </a:solidFill>
          <a:latin typeface="Lucida Sans Unicode" pitchFamily="34" charset="0"/>
          <a:ea typeface="ＭＳ Ｐゴシック" charset="0"/>
          <a:cs typeface="Lucida Sans Unicode" pitchFamily="34" charset="0"/>
        </a:defRPr>
      </a:lvl4pPr>
      <a:lvl5pPr algn="l" defTabSz="457200" rtl="0" eaLnBrk="0" fontAlgn="base" hangingPunct="0">
        <a:lnSpc>
          <a:spcPct val="10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Lucida Sans Unicode" charset="0"/>
        <a:defRPr sz="4400">
          <a:solidFill>
            <a:srgbClr val="000000"/>
          </a:solidFill>
          <a:latin typeface="Lucida Sans Unicode" pitchFamily="34" charset="0"/>
          <a:ea typeface="ＭＳ Ｐゴシック" charset="0"/>
          <a:cs typeface="Lucida Sans Unicode" pitchFamily="34" charset="0"/>
        </a:defRPr>
      </a:lvl5pPr>
      <a:lvl6pPr marL="457200" algn="l" defTabSz="457200" rtl="0" fontAlgn="base">
        <a:lnSpc>
          <a:spcPct val="10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Lucida Sans Unicode" pitchFamily="34" charset="0"/>
        <a:defRPr sz="4400">
          <a:solidFill>
            <a:srgbClr val="000000"/>
          </a:solidFill>
          <a:latin typeface="Lucida Sans Unicode" pitchFamily="34" charset="0"/>
          <a:cs typeface="Lucida Sans Unicode" pitchFamily="34" charset="0"/>
        </a:defRPr>
      </a:lvl6pPr>
      <a:lvl7pPr marL="914400" algn="l" defTabSz="457200" rtl="0" fontAlgn="base">
        <a:lnSpc>
          <a:spcPct val="10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Lucida Sans Unicode" pitchFamily="34" charset="0"/>
        <a:defRPr sz="4400">
          <a:solidFill>
            <a:srgbClr val="000000"/>
          </a:solidFill>
          <a:latin typeface="Lucida Sans Unicode" pitchFamily="34" charset="0"/>
          <a:cs typeface="Lucida Sans Unicode" pitchFamily="34" charset="0"/>
        </a:defRPr>
      </a:lvl7pPr>
      <a:lvl8pPr marL="1371600" algn="l" defTabSz="457200" rtl="0" fontAlgn="base">
        <a:lnSpc>
          <a:spcPct val="10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Lucida Sans Unicode" pitchFamily="34" charset="0"/>
        <a:defRPr sz="4400">
          <a:solidFill>
            <a:srgbClr val="000000"/>
          </a:solidFill>
          <a:latin typeface="Lucida Sans Unicode" pitchFamily="34" charset="0"/>
          <a:cs typeface="Lucida Sans Unicode" pitchFamily="34" charset="0"/>
        </a:defRPr>
      </a:lvl8pPr>
      <a:lvl9pPr marL="1828800" algn="l" defTabSz="457200" rtl="0" fontAlgn="base">
        <a:lnSpc>
          <a:spcPct val="10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Lucida Sans Unicode" pitchFamily="34" charset="0"/>
        <a:defRPr sz="4400">
          <a:solidFill>
            <a:srgbClr val="000000"/>
          </a:solidFill>
          <a:latin typeface="Lucida Sans Unicode" pitchFamily="34" charset="0"/>
          <a:cs typeface="Lucida Sans Unicode" pitchFamily="34" charset="0"/>
        </a:defRPr>
      </a:lvl9pPr>
    </p:titleStyle>
    <p:bodyStyle>
      <a:lvl1pPr marL="338138" indent="-338138" algn="l" defTabSz="457200" rtl="0" eaLnBrk="0" fontAlgn="base" hangingPunct="0">
        <a:lnSpc>
          <a:spcPct val="103000"/>
        </a:lnSpc>
        <a:spcBef>
          <a:spcPts val="800"/>
        </a:spcBef>
        <a:spcAft>
          <a:spcPts val="200"/>
        </a:spcAft>
        <a:buClr>
          <a:srgbClr val="000000"/>
        </a:buClr>
        <a:buSzPct val="100000"/>
        <a:buFont typeface="Wingdings" charset="0"/>
        <a:buChar char=""/>
        <a:defRPr sz="3200">
          <a:solidFill>
            <a:srgbClr val="000000"/>
          </a:solidFill>
          <a:latin typeface="+mn-lt"/>
          <a:ea typeface="ＭＳ Ｐゴシック" charset="0"/>
          <a:cs typeface="+mn-cs"/>
        </a:defRPr>
      </a:lvl1pPr>
      <a:lvl2pPr marL="738188" indent="-280988" algn="l" defTabSz="457200" rtl="0" eaLnBrk="0" fontAlgn="base" hangingPunct="0">
        <a:lnSpc>
          <a:spcPct val="103000"/>
        </a:lnSpc>
        <a:spcBef>
          <a:spcPts val="700"/>
        </a:spcBef>
        <a:spcAft>
          <a:spcPct val="0"/>
        </a:spcAft>
        <a:buClr>
          <a:srgbClr val="000000"/>
        </a:buClr>
        <a:buSzPct val="100000"/>
        <a:buFont typeface="Wingdings" charset="0"/>
        <a:buChar char=""/>
        <a:defRPr sz="2800">
          <a:solidFill>
            <a:srgbClr val="000000"/>
          </a:solidFill>
          <a:latin typeface="+mn-lt"/>
          <a:ea typeface="Lucida Sans Unicode" charset="-52"/>
          <a:cs typeface="+mn-cs"/>
        </a:defRPr>
      </a:lvl2pPr>
      <a:lvl3pPr marL="1143000" indent="-228600" algn="l" defTabSz="457200" rtl="0" eaLnBrk="0" fontAlgn="base" hangingPunct="0">
        <a:lnSpc>
          <a:spcPct val="103000"/>
        </a:lnSpc>
        <a:spcBef>
          <a:spcPts val="600"/>
        </a:spcBef>
        <a:spcAft>
          <a:spcPct val="0"/>
        </a:spcAft>
        <a:buClr>
          <a:srgbClr val="000000"/>
        </a:buClr>
        <a:buSzPct val="100000"/>
        <a:buFont typeface="Lucida Sans Unicode" charset="0"/>
        <a:buChar char="–"/>
        <a:defRPr sz="2400">
          <a:solidFill>
            <a:srgbClr val="000000"/>
          </a:solidFill>
          <a:latin typeface="+mn-lt"/>
          <a:ea typeface="Lucida Sans Unicode" charset="-52"/>
          <a:cs typeface="+mn-cs"/>
        </a:defRPr>
      </a:lvl3pPr>
      <a:lvl4pPr marL="1600200" indent="-228600" algn="l" defTabSz="457200" rtl="0" eaLnBrk="0" fontAlgn="base" hangingPunct="0">
        <a:lnSpc>
          <a:spcPct val="103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Lucida Sans Unicode" charset="0"/>
        <a:buChar char="–"/>
        <a:defRPr sz="2000">
          <a:solidFill>
            <a:srgbClr val="000000"/>
          </a:solidFill>
          <a:latin typeface="+mn-lt"/>
          <a:ea typeface="Lucida Sans Unicode" charset="-52"/>
          <a:cs typeface="+mn-cs"/>
        </a:defRPr>
      </a:lvl4pPr>
      <a:lvl5pPr marL="2057400" indent="-228600" algn="l" defTabSz="457200" rtl="0" eaLnBrk="0" fontAlgn="base" hangingPunct="0">
        <a:lnSpc>
          <a:spcPct val="103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Lucida Sans Unicode" charset="0"/>
        <a:buChar char="–"/>
        <a:defRPr sz="2000">
          <a:solidFill>
            <a:srgbClr val="000000"/>
          </a:solidFill>
          <a:latin typeface="+mn-lt"/>
          <a:ea typeface="Lucida Sans Unicode" charset="-52"/>
          <a:cs typeface="+mn-cs"/>
        </a:defRPr>
      </a:lvl5pPr>
      <a:lvl6pPr marL="2514600" indent="-228600" algn="l" defTabSz="457200" rtl="0" fontAlgn="base">
        <a:lnSpc>
          <a:spcPct val="103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Lucida Sans Unicode" pitchFamily="34" charset="0"/>
        <a:buChar char="–"/>
        <a:defRPr sz="2000">
          <a:solidFill>
            <a:srgbClr val="000000"/>
          </a:solidFill>
          <a:latin typeface="+mn-lt"/>
          <a:cs typeface="+mn-cs"/>
        </a:defRPr>
      </a:lvl6pPr>
      <a:lvl7pPr marL="2971800" indent="-228600" algn="l" defTabSz="457200" rtl="0" fontAlgn="base">
        <a:lnSpc>
          <a:spcPct val="103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Lucida Sans Unicode" pitchFamily="34" charset="0"/>
        <a:buChar char="–"/>
        <a:defRPr sz="2000">
          <a:solidFill>
            <a:srgbClr val="000000"/>
          </a:solidFill>
          <a:latin typeface="+mn-lt"/>
          <a:cs typeface="+mn-cs"/>
        </a:defRPr>
      </a:lvl7pPr>
      <a:lvl8pPr marL="3429000" indent="-228600" algn="l" defTabSz="457200" rtl="0" fontAlgn="base">
        <a:lnSpc>
          <a:spcPct val="103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Lucida Sans Unicode" pitchFamily="34" charset="0"/>
        <a:buChar char="–"/>
        <a:defRPr sz="2000">
          <a:solidFill>
            <a:srgbClr val="000000"/>
          </a:solidFill>
          <a:latin typeface="+mn-lt"/>
          <a:cs typeface="+mn-cs"/>
        </a:defRPr>
      </a:lvl8pPr>
      <a:lvl9pPr marL="3886200" indent="-228600" algn="l" defTabSz="457200" rtl="0" fontAlgn="base">
        <a:lnSpc>
          <a:spcPct val="103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Lucida Sans Unicode" pitchFamily="34" charset="0"/>
        <a:buChar char="–"/>
        <a:defRPr sz="2000">
          <a:solidFill>
            <a:srgbClr val="000000"/>
          </a:solidFill>
          <a:latin typeface="+mn-lt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533400"/>
            <a:ext cx="7767638" cy="289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2" name="Rectangle 2"/>
          <p:cNvSpPr>
            <a:spLocks noGrp="1" noChangeArrowheads="1"/>
          </p:cNvSpPr>
          <p:nvPr>
            <p:ph type="dt"/>
          </p:nvPr>
        </p:nvSpPr>
        <p:spPr bwMode="auto">
          <a:xfrm>
            <a:off x="685800" y="6248400"/>
            <a:ext cx="1900238" cy="4524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buSzPct val="45000"/>
              <a:buFont typeface="StarSymbol" charset="0"/>
              <a:buNone/>
              <a:defRPr sz="1400">
                <a:solidFill>
                  <a:srgbClr val="000000"/>
                </a:solidFill>
                <a:latin typeface="Times New Roman" charset="0"/>
                <a:ea typeface="Lucida Sans Unicode" charset="0"/>
                <a:cs typeface="Lucida Sans Unicode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ftr"/>
          </p:nvPr>
        </p:nvSpPr>
        <p:spPr bwMode="auto">
          <a:xfrm>
            <a:off x="3124200" y="6248400"/>
            <a:ext cx="2890838" cy="4524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ctr">
              <a:lnSpc>
                <a:spcPct val="100000"/>
              </a:lnSpc>
              <a:buSzPct val="45000"/>
              <a:buFont typeface="StarSymbol" charset="0"/>
              <a:buNone/>
              <a:defRPr sz="1400">
                <a:solidFill>
                  <a:srgbClr val="000000"/>
                </a:solidFill>
                <a:latin typeface="Times New Roman" charset="0"/>
                <a:ea typeface="Lucida Sans Unicode" charset="0"/>
                <a:cs typeface="Lucida Sans Unicode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248400"/>
            <a:ext cx="1900238" cy="4524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SzPct val="45000"/>
              <a:buFont typeface="StarSymbol" charset="0"/>
              <a:buNone/>
              <a:defRPr sz="1400">
                <a:solidFill>
                  <a:srgbClr val="000000"/>
                </a:solidFill>
                <a:latin typeface="Times New Roman" charset="0"/>
                <a:cs typeface="Lucida Sans Unicode" charset="0"/>
              </a:defRPr>
            </a:lvl1pPr>
          </a:lstStyle>
          <a:p>
            <a:pPr>
              <a:defRPr/>
            </a:pPr>
            <a:fld id="{2355107E-D87D-3747-9E12-AB5EA9DB6AB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pic>
        <p:nvPicPr>
          <p:cNvPr id="14342" name="Picture 5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175" y="5715000"/>
            <a:ext cx="869950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14343" name="Picture 6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5868988"/>
            <a:ext cx="27432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14344" name="Line 7"/>
          <p:cNvSpPr>
            <a:spLocks noChangeShapeType="1"/>
          </p:cNvSpPr>
          <p:nvPr/>
        </p:nvSpPr>
        <p:spPr bwMode="auto">
          <a:xfrm>
            <a:off x="685800" y="3429000"/>
            <a:ext cx="7772400" cy="1588"/>
          </a:xfrm>
          <a:prstGeom prst="line">
            <a:avLst/>
          </a:prstGeom>
          <a:noFill/>
          <a:ln w="38160">
            <a:solidFill>
              <a:srgbClr val="FF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5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4963"/>
            <a:ext cx="8224838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11" r:id="rId1"/>
    <p:sldLayoutId id="2147484112" r:id="rId2"/>
    <p:sldLayoutId id="2147484113" r:id="rId3"/>
    <p:sldLayoutId id="2147484114" r:id="rId4"/>
    <p:sldLayoutId id="2147484115" r:id="rId5"/>
    <p:sldLayoutId id="2147484116" r:id="rId6"/>
    <p:sldLayoutId id="2147484117" r:id="rId7"/>
    <p:sldLayoutId id="2147484118" r:id="rId8"/>
    <p:sldLayoutId id="2147484119" r:id="rId9"/>
    <p:sldLayoutId id="2147484120" r:id="rId10"/>
    <p:sldLayoutId id="2147484121" r:id="rId11"/>
    <p:sldLayoutId id="2147484122" r:id="rId12"/>
  </p:sldLayoutIdLst>
  <p:txStyles>
    <p:titleStyle>
      <a:lvl1pPr algn="l" defTabSz="457200" rtl="0" eaLnBrk="0" fontAlgn="base" hangingPunct="0">
        <a:lnSpc>
          <a:spcPct val="10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Lucida Sans Unicode" charset="0"/>
        <a:defRPr sz="4400">
          <a:solidFill>
            <a:srgbClr val="000000"/>
          </a:solidFill>
          <a:latin typeface="+mj-lt"/>
          <a:ea typeface="ＭＳ Ｐゴシック" charset="0"/>
          <a:cs typeface="+mj-cs"/>
        </a:defRPr>
      </a:lvl1pPr>
      <a:lvl2pPr algn="l" defTabSz="457200" rtl="0" eaLnBrk="0" fontAlgn="base" hangingPunct="0">
        <a:lnSpc>
          <a:spcPct val="10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Lucida Sans Unicode" charset="0"/>
        <a:defRPr sz="4400">
          <a:solidFill>
            <a:srgbClr val="000000"/>
          </a:solidFill>
          <a:latin typeface="Lucida Sans Unicode" pitchFamily="34" charset="0"/>
          <a:ea typeface="ＭＳ Ｐゴシック" charset="0"/>
          <a:cs typeface="Lucida Sans Unicode" pitchFamily="34" charset="0"/>
        </a:defRPr>
      </a:lvl2pPr>
      <a:lvl3pPr algn="l" defTabSz="457200" rtl="0" eaLnBrk="0" fontAlgn="base" hangingPunct="0">
        <a:lnSpc>
          <a:spcPct val="10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Lucida Sans Unicode" charset="0"/>
        <a:defRPr sz="4400">
          <a:solidFill>
            <a:srgbClr val="000000"/>
          </a:solidFill>
          <a:latin typeface="Lucida Sans Unicode" pitchFamily="34" charset="0"/>
          <a:ea typeface="ＭＳ Ｐゴシック" charset="0"/>
          <a:cs typeface="Lucida Sans Unicode" pitchFamily="34" charset="0"/>
        </a:defRPr>
      </a:lvl3pPr>
      <a:lvl4pPr algn="l" defTabSz="457200" rtl="0" eaLnBrk="0" fontAlgn="base" hangingPunct="0">
        <a:lnSpc>
          <a:spcPct val="10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Lucida Sans Unicode" charset="0"/>
        <a:defRPr sz="4400">
          <a:solidFill>
            <a:srgbClr val="000000"/>
          </a:solidFill>
          <a:latin typeface="Lucida Sans Unicode" pitchFamily="34" charset="0"/>
          <a:ea typeface="ＭＳ Ｐゴシック" charset="0"/>
          <a:cs typeface="Lucida Sans Unicode" pitchFamily="34" charset="0"/>
        </a:defRPr>
      </a:lvl4pPr>
      <a:lvl5pPr algn="l" defTabSz="457200" rtl="0" eaLnBrk="0" fontAlgn="base" hangingPunct="0">
        <a:lnSpc>
          <a:spcPct val="10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Lucida Sans Unicode" charset="0"/>
        <a:defRPr sz="4400">
          <a:solidFill>
            <a:srgbClr val="000000"/>
          </a:solidFill>
          <a:latin typeface="Lucida Sans Unicode" pitchFamily="34" charset="0"/>
          <a:ea typeface="ＭＳ Ｐゴシック" charset="0"/>
          <a:cs typeface="Lucida Sans Unicode" pitchFamily="34" charset="0"/>
        </a:defRPr>
      </a:lvl5pPr>
      <a:lvl6pPr marL="457200" algn="l" defTabSz="457200" rtl="0" fontAlgn="base">
        <a:lnSpc>
          <a:spcPct val="10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Lucida Sans Unicode" pitchFamily="34" charset="0"/>
        <a:defRPr sz="4400">
          <a:solidFill>
            <a:srgbClr val="000000"/>
          </a:solidFill>
          <a:latin typeface="Lucida Sans Unicode" pitchFamily="34" charset="0"/>
          <a:cs typeface="Lucida Sans Unicode" pitchFamily="34" charset="0"/>
        </a:defRPr>
      </a:lvl6pPr>
      <a:lvl7pPr marL="914400" algn="l" defTabSz="457200" rtl="0" fontAlgn="base">
        <a:lnSpc>
          <a:spcPct val="10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Lucida Sans Unicode" pitchFamily="34" charset="0"/>
        <a:defRPr sz="4400">
          <a:solidFill>
            <a:srgbClr val="000000"/>
          </a:solidFill>
          <a:latin typeface="Lucida Sans Unicode" pitchFamily="34" charset="0"/>
          <a:cs typeface="Lucida Sans Unicode" pitchFamily="34" charset="0"/>
        </a:defRPr>
      </a:lvl7pPr>
      <a:lvl8pPr marL="1371600" algn="l" defTabSz="457200" rtl="0" fontAlgn="base">
        <a:lnSpc>
          <a:spcPct val="10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Lucida Sans Unicode" pitchFamily="34" charset="0"/>
        <a:defRPr sz="4400">
          <a:solidFill>
            <a:srgbClr val="000000"/>
          </a:solidFill>
          <a:latin typeface="Lucida Sans Unicode" pitchFamily="34" charset="0"/>
          <a:cs typeface="Lucida Sans Unicode" pitchFamily="34" charset="0"/>
        </a:defRPr>
      </a:lvl8pPr>
      <a:lvl9pPr marL="1828800" algn="l" defTabSz="457200" rtl="0" fontAlgn="base">
        <a:lnSpc>
          <a:spcPct val="10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Lucida Sans Unicode" pitchFamily="34" charset="0"/>
        <a:defRPr sz="4400">
          <a:solidFill>
            <a:srgbClr val="000000"/>
          </a:solidFill>
          <a:latin typeface="Lucida Sans Unicode" pitchFamily="34" charset="0"/>
          <a:cs typeface="Lucida Sans Unicode" pitchFamily="34" charset="0"/>
        </a:defRPr>
      </a:lvl9pPr>
    </p:titleStyle>
    <p:bodyStyle>
      <a:lvl1pPr marL="338138" indent="-338138" algn="l" defTabSz="457200" rtl="0" eaLnBrk="0" fontAlgn="base" hangingPunct="0">
        <a:lnSpc>
          <a:spcPct val="103000"/>
        </a:lnSpc>
        <a:spcBef>
          <a:spcPts val="800"/>
        </a:spcBef>
        <a:spcAft>
          <a:spcPts val="200"/>
        </a:spcAft>
        <a:buClr>
          <a:srgbClr val="000000"/>
        </a:buClr>
        <a:buSzPct val="100000"/>
        <a:buFont typeface="Wingdings" charset="0"/>
        <a:buChar char=""/>
        <a:defRPr sz="3200">
          <a:solidFill>
            <a:srgbClr val="000000"/>
          </a:solidFill>
          <a:latin typeface="+mn-lt"/>
          <a:ea typeface="ＭＳ Ｐゴシック" charset="0"/>
          <a:cs typeface="+mn-cs"/>
        </a:defRPr>
      </a:lvl1pPr>
      <a:lvl2pPr marL="738188" indent="-280988" algn="l" defTabSz="457200" rtl="0" eaLnBrk="0" fontAlgn="base" hangingPunct="0">
        <a:lnSpc>
          <a:spcPct val="103000"/>
        </a:lnSpc>
        <a:spcBef>
          <a:spcPts val="700"/>
        </a:spcBef>
        <a:spcAft>
          <a:spcPct val="0"/>
        </a:spcAft>
        <a:buClr>
          <a:srgbClr val="000000"/>
        </a:buClr>
        <a:buSzPct val="100000"/>
        <a:buFont typeface="Wingdings" charset="0"/>
        <a:buChar char=""/>
        <a:defRPr sz="2800">
          <a:solidFill>
            <a:srgbClr val="000000"/>
          </a:solidFill>
          <a:latin typeface="+mn-lt"/>
          <a:ea typeface="Lucida Sans Unicode" charset="-52"/>
          <a:cs typeface="+mn-cs"/>
        </a:defRPr>
      </a:lvl2pPr>
      <a:lvl3pPr marL="1143000" indent="-228600" algn="l" defTabSz="457200" rtl="0" eaLnBrk="0" fontAlgn="base" hangingPunct="0">
        <a:lnSpc>
          <a:spcPct val="103000"/>
        </a:lnSpc>
        <a:spcBef>
          <a:spcPts val="600"/>
        </a:spcBef>
        <a:spcAft>
          <a:spcPct val="0"/>
        </a:spcAft>
        <a:buClr>
          <a:srgbClr val="000000"/>
        </a:buClr>
        <a:buSzPct val="100000"/>
        <a:buFont typeface="Lucida Sans Unicode" charset="0"/>
        <a:buChar char="–"/>
        <a:defRPr sz="2400">
          <a:solidFill>
            <a:srgbClr val="000000"/>
          </a:solidFill>
          <a:latin typeface="+mn-lt"/>
          <a:ea typeface="Lucida Sans Unicode" charset="-52"/>
          <a:cs typeface="+mn-cs"/>
        </a:defRPr>
      </a:lvl3pPr>
      <a:lvl4pPr marL="1600200" indent="-228600" algn="l" defTabSz="457200" rtl="0" eaLnBrk="0" fontAlgn="base" hangingPunct="0">
        <a:lnSpc>
          <a:spcPct val="103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Lucida Sans Unicode" charset="0"/>
        <a:buChar char="–"/>
        <a:defRPr sz="2000">
          <a:solidFill>
            <a:srgbClr val="000000"/>
          </a:solidFill>
          <a:latin typeface="+mn-lt"/>
          <a:ea typeface="Lucida Sans Unicode" charset="-52"/>
          <a:cs typeface="+mn-cs"/>
        </a:defRPr>
      </a:lvl4pPr>
      <a:lvl5pPr marL="2057400" indent="-228600" algn="l" defTabSz="457200" rtl="0" eaLnBrk="0" fontAlgn="base" hangingPunct="0">
        <a:lnSpc>
          <a:spcPct val="103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Lucida Sans Unicode" charset="0"/>
        <a:buChar char="–"/>
        <a:defRPr sz="2000">
          <a:solidFill>
            <a:srgbClr val="000000"/>
          </a:solidFill>
          <a:latin typeface="+mn-lt"/>
          <a:ea typeface="Lucida Sans Unicode" charset="-52"/>
          <a:cs typeface="+mn-cs"/>
        </a:defRPr>
      </a:lvl5pPr>
      <a:lvl6pPr marL="2514600" indent="-228600" algn="l" defTabSz="457200" rtl="0" fontAlgn="base">
        <a:lnSpc>
          <a:spcPct val="103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Lucida Sans Unicode" pitchFamily="34" charset="0"/>
        <a:buChar char="–"/>
        <a:defRPr sz="2000">
          <a:solidFill>
            <a:srgbClr val="000000"/>
          </a:solidFill>
          <a:latin typeface="+mn-lt"/>
          <a:cs typeface="+mn-cs"/>
        </a:defRPr>
      </a:lvl6pPr>
      <a:lvl7pPr marL="2971800" indent="-228600" algn="l" defTabSz="457200" rtl="0" fontAlgn="base">
        <a:lnSpc>
          <a:spcPct val="103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Lucida Sans Unicode" pitchFamily="34" charset="0"/>
        <a:buChar char="–"/>
        <a:defRPr sz="2000">
          <a:solidFill>
            <a:srgbClr val="000000"/>
          </a:solidFill>
          <a:latin typeface="+mn-lt"/>
          <a:cs typeface="+mn-cs"/>
        </a:defRPr>
      </a:lvl7pPr>
      <a:lvl8pPr marL="3429000" indent="-228600" algn="l" defTabSz="457200" rtl="0" fontAlgn="base">
        <a:lnSpc>
          <a:spcPct val="103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Lucida Sans Unicode" pitchFamily="34" charset="0"/>
        <a:buChar char="–"/>
        <a:defRPr sz="2000">
          <a:solidFill>
            <a:srgbClr val="000000"/>
          </a:solidFill>
          <a:latin typeface="+mn-lt"/>
          <a:cs typeface="+mn-cs"/>
        </a:defRPr>
      </a:lvl8pPr>
      <a:lvl9pPr marL="3886200" indent="-228600" algn="l" defTabSz="457200" rtl="0" fontAlgn="base">
        <a:lnSpc>
          <a:spcPct val="103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Lucida Sans Unicode" pitchFamily="34" charset="0"/>
        <a:buChar char="–"/>
        <a:defRPr sz="2000">
          <a:solidFill>
            <a:srgbClr val="000000"/>
          </a:solidFill>
          <a:latin typeface="+mn-lt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hyperlink" Target="http://softeng.polito.it/courses/02JEY" TargetMode="External"/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nd/4.0/" TargetMode="External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e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e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e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emf"/><Relationship Id="rId3" Type="http://schemas.openxmlformats.org/officeDocument/2006/relationships/image" Target="../media/image16.emf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emf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0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png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8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emf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0.emf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1.emf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22.emf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3.emf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4.emf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emf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1"/>
          <p:cNvSpPr>
            <a:spLocks noGrp="1" noChangeArrowheads="1"/>
          </p:cNvSpPr>
          <p:nvPr>
            <p:ph type="title"/>
          </p:nvPr>
        </p:nvSpPr>
        <p:spPr>
          <a:xfrm>
            <a:off x="609600" y="533400"/>
            <a:ext cx="7772400" cy="2895600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>
                <a:latin typeface="Lucida Sans Unicode" charset="0"/>
                <a:cs typeface="Lucida Sans Unicode" charset="0"/>
              </a:rPr>
              <a:t>Inheritance</a:t>
            </a:r>
          </a:p>
        </p:txBody>
      </p:sp>
      <p:sp>
        <p:nvSpPr>
          <p:cNvPr id="28675" name="Text Box 3"/>
          <p:cNvSpPr txBox="1">
            <a:spLocks noChangeArrowheads="1"/>
          </p:cNvSpPr>
          <p:nvPr/>
        </p:nvSpPr>
        <p:spPr bwMode="auto">
          <a:xfrm>
            <a:off x="7399503" y="5765749"/>
            <a:ext cx="1053015" cy="255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5000" rIns="90000" bIns="45000">
            <a:spAutoFit/>
          </a:bodyPr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algn="r" eaLnBrk="1" hangingPunct="1">
              <a:lnSpc>
                <a:spcPct val="87000"/>
              </a:lnSpc>
            </a:pPr>
            <a:r>
              <a:rPr lang="en-GB" sz="1200">
                <a:solidFill>
                  <a:srgbClr val="000000"/>
                </a:solidFill>
                <a:latin typeface="Tahoma" charset="0"/>
              </a:rPr>
              <a:t>Version </a:t>
            </a:r>
            <a:r>
              <a:rPr lang="en-GB" sz="1200" smtClean="0">
                <a:solidFill>
                  <a:srgbClr val="000000"/>
                </a:solidFill>
                <a:latin typeface="Tahoma" charset="0"/>
              </a:rPr>
              <a:t>4.7.2 </a:t>
            </a:r>
            <a:endParaRPr lang="en-GB" sz="1200" dirty="0">
              <a:solidFill>
                <a:srgbClr val="000000"/>
              </a:solidFill>
              <a:latin typeface="Tahoma" charset="0"/>
            </a:endParaRPr>
          </a:p>
        </p:txBody>
      </p:sp>
      <p:sp>
        <p:nvSpPr>
          <p:cNvPr id="28676" name="Text Box 3"/>
          <p:cNvSpPr txBox="1">
            <a:spLocks noChangeArrowheads="1"/>
          </p:cNvSpPr>
          <p:nvPr/>
        </p:nvSpPr>
        <p:spPr bwMode="auto">
          <a:xfrm>
            <a:off x="5603875" y="5984875"/>
            <a:ext cx="2901950" cy="25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r>
              <a:rPr lang="en-GB" sz="1000" dirty="0">
                <a:solidFill>
                  <a:srgbClr val="000000"/>
                </a:solidFill>
              </a:rPr>
              <a:t>© Maurizio </a:t>
            </a:r>
            <a:r>
              <a:rPr lang="en-GB" sz="1000" dirty="0" err="1">
                <a:solidFill>
                  <a:srgbClr val="000000"/>
                </a:solidFill>
              </a:rPr>
              <a:t>Morisio</a:t>
            </a:r>
            <a:r>
              <a:rPr lang="en-GB" sz="1000" dirty="0">
                <a:solidFill>
                  <a:srgbClr val="000000"/>
                </a:solidFill>
              </a:rPr>
              <a:t>, Marco Torchiano, </a:t>
            </a:r>
            <a:r>
              <a:rPr lang="en-GB" sz="1000" dirty="0" smtClean="0">
                <a:solidFill>
                  <a:srgbClr val="000000"/>
                </a:solidFill>
              </a:rPr>
              <a:t>2017</a:t>
            </a:r>
            <a:endParaRPr lang="en-GB" sz="1000" dirty="0">
              <a:solidFill>
                <a:srgbClr val="000000"/>
              </a:solidFill>
            </a:endParaRPr>
          </a:p>
        </p:txBody>
      </p:sp>
      <p:pic>
        <p:nvPicPr>
          <p:cNvPr id="2867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9925" y="6310313"/>
            <a:ext cx="358775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28678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3163" y="6308725"/>
            <a:ext cx="360362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28679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9575" y="6308725"/>
            <a:ext cx="358775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28680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5963" y="6297613"/>
            <a:ext cx="10541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2057400" y="3789040"/>
            <a:ext cx="6400800" cy="199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marL="338138" indent="-338138" algn="l" defTabSz="457200" rtl="0" eaLnBrk="0" fontAlgn="base" hangingPunct="0">
              <a:lnSpc>
                <a:spcPct val="103000"/>
              </a:lnSpc>
              <a:spcBef>
                <a:spcPts val="800"/>
              </a:spcBef>
              <a:spcAft>
                <a:spcPts val="200"/>
              </a:spcAft>
              <a:buClr>
                <a:srgbClr val="000000"/>
              </a:buClr>
              <a:buSzPct val="100000"/>
              <a:buFont typeface="Wingdings" charset="0"/>
              <a:buChar char=""/>
              <a:defRPr sz="3200">
                <a:solidFill>
                  <a:srgbClr val="000000"/>
                </a:solidFill>
                <a:latin typeface="+mn-lt"/>
                <a:ea typeface="ＭＳ Ｐゴシック" charset="0"/>
                <a:cs typeface="+mn-cs"/>
              </a:defRPr>
            </a:lvl1pPr>
            <a:lvl2pPr marL="738188" indent="-280988" algn="l" defTabSz="457200" rtl="0" eaLnBrk="0" fontAlgn="base" hangingPunct="0">
              <a:lnSpc>
                <a:spcPct val="103000"/>
              </a:lnSpc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charset="0"/>
              <a:buChar char=""/>
              <a:defRPr sz="2800">
                <a:solidFill>
                  <a:srgbClr val="000000"/>
                </a:solidFill>
                <a:latin typeface="+mn-lt"/>
                <a:ea typeface="Lucida Sans Unicode" charset="-52"/>
                <a:cs typeface="+mn-cs"/>
              </a:defRPr>
            </a:lvl2pPr>
            <a:lvl3pPr marL="1143000" indent="-228600" algn="l" defTabSz="457200" rtl="0" eaLnBrk="0" fontAlgn="base" hangingPunct="0">
              <a:lnSpc>
                <a:spcPct val="103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Lucida Sans Unicode" charset="0"/>
              <a:buChar char="–"/>
              <a:defRPr sz="2400">
                <a:solidFill>
                  <a:srgbClr val="000000"/>
                </a:solidFill>
                <a:latin typeface="+mn-lt"/>
                <a:ea typeface="Lucida Sans Unicode" charset="-52"/>
                <a:cs typeface="+mn-cs"/>
              </a:defRPr>
            </a:lvl3pPr>
            <a:lvl4pPr marL="1600200" indent="-228600" algn="l" defTabSz="457200" rtl="0" eaLnBrk="0" fontAlgn="base" hangingPunct="0">
              <a:lnSpc>
                <a:spcPct val="10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Lucida Sans Unicode" charset="0"/>
              <a:buChar char="–"/>
              <a:defRPr sz="2000">
                <a:solidFill>
                  <a:srgbClr val="000000"/>
                </a:solidFill>
                <a:latin typeface="+mn-lt"/>
                <a:ea typeface="Lucida Sans Unicode" charset="-52"/>
                <a:cs typeface="+mn-cs"/>
              </a:defRPr>
            </a:lvl4pPr>
            <a:lvl5pPr marL="2057400" indent="-228600" algn="l" defTabSz="457200" rtl="0" eaLnBrk="0" fontAlgn="base" hangingPunct="0">
              <a:lnSpc>
                <a:spcPct val="10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Lucida Sans Unicode" charset="0"/>
              <a:buChar char="–"/>
              <a:defRPr sz="2000">
                <a:solidFill>
                  <a:srgbClr val="000000"/>
                </a:solidFill>
                <a:latin typeface="+mn-lt"/>
                <a:ea typeface="Lucida Sans Unicode" charset="-52"/>
                <a:cs typeface="+mn-cs"/>
              </a:defRPr>
            </a:lvl5pPr>
            <a:lvl6pPr marL="2514600" indent="-228600" algn="l" defTabSz="457200" rtl="0" fontAlgn="base">
              <a:lnSpc>
                <a:spcPct val="10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Lucida Sans Unicode" pitchFamily="34" charset="0"/>
              <a:buChar char="–"/>
              <a:defRPr sz="2000">
                <a:solidFill>
                  <a:srgbClr val="000000"/>
                </a:solidFill>
                <a:latin typeface="+mn-lt"/>
                <a:cs typeface="+mn-cs"/>
              </a:defRPr>
            </a:lvl6pPr>
            <a:lvl7pPr marL="2971800" indent="-228600" algn="l" defTabSz="457200" rtl="0" fontAlgn="base">
              <a:lnSpc>
                <a:spcPct val="10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Lucida Sans Unicode" pitchFamily="34" charset="0"/>
              <a:buChar char="–"/>
              <a:defRPr sz="2000">
                <a:solidFill>
                  <a:srgbClr val="000000"/>
                </a:solidFill>
                <a:latin typeface="+mn-lt"/>
                <a:cs typeface="+mn-cs"/>
              </a:defRPr>
            </a:lvl7pPr>
            <a:lvl8pPr marL="3429000" indent="-228600" algn="l" defTabSz="457200" rtl="0" fontAlgn="base">
              <a:lnSpc>
                <a:spcPct val="10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Lucida Sans Unicode" pitchFamily="34" charset="0"/>
              <a:buChar char="–"/>
              <a:defRPr sz="2000">
                <a:solidFill>
                  <a:srgbClr val="000000"/>
                </a:solidFill>
                <a:latin typeface="+mn-lt"/>
                <a:cs typeface="+mn-cs"/>
              </a:defRPr>
            </a:lvl8pPr>
            <a:lvl9pPr marL="3886200" indent="-228600" algn="l" defTabSz="457200" rtl="0" fontAlgn="base">
              <a:lnSpc>
                <a:spcPct val="10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Lucida Sans Unicode" pitchFamily="34" charset="0"/>
              <a:buChar char="–"/>
              <a:defRPr sz="2000">
                <a:solidFill>
                  <a:srgbClr val="000000"/>
                </a:solidFill>
                <a:latin typeface="+mn-lt"/>
                <a:cs typeface="+mn-cs"/>
              </a:defRPr>
            </a:lvl9pPr>
          </a:lstStyle>
          <a:p>
            <a:pPr marL="0" indent="0" algn="r" eaLnBrk="1" hangingPunct="1">
              <a:buFont typeface="Wingdings" charset="0"/>
              <a:buNone/>
            </a:pPr>
            <a:r>
              <a:rPr lang="it-IT" dirty="0" smtClean="0">
                <a:latin typeface="Lucida Sans Unicode" charset="0"/>
              </a:rPr>
              <a:t>Object </a:t>
            </a:r>
            <a:r>
              <a:rPr lang="it-IT" dirty="0" err="1" smtClean="0">
                <a:latin typeface="Lucida Sans Unicode" charset="0"/>
              </a:rPr>
              <a:t>Oriented</a:t>
            </a:r>
            <a:r>
              <a:rPr lang="it-IT" dirty="0" smtClean="0">
                <a:latin typeface="Lucida Sans Unicode" charset="0"/>
              </a:rPr>
              <a:t> Programming</a:t>
            </a:r>
          </a:p>
          <a:p>
            <a:pPr marL="0" indent="0" algn="r" eaLnBrk="1" hangingPunct="1">
              <a:buFont typeface="Wingdings" charset="0"/>
              <a:buNone/>
            </a:pPr>
            <a:endParaRPr lang="it-IT" dirty="0" smtClean="0">
              <a:latin typeface="Lucida Sans Unicode" charset="0"/>
            </a:endParaRPr>
          </a:p>
          <a:p>
            <a:pPr marL="0" indent="0" algn="r" eaLnBrk="1" hangingPunct="1">
              <a:buFont typeface="Wingdings" charset="0"/>
              <a:buNone/>
            </a:pPr>
            <a:r>
              <a:rPr lang="it-IT" sz="2000" b="1" dirty="0" smtClean="0">
                <a:solidFill>
                  <a:schemeClr val="tx1"/>
                </a:solidFill>
                <a:latin typeface="Courier New"/>
                <a:cs typeface="Courier New"/>
              </a:rPr>
              <a:t>http://</a:t>
            </a:r>
            <a:r>
              <a:rPr lang="it-IT" sz="2000" b="1" dirty="0" err="1" smtClean="0">
                <a:solidFill>
                  <a:schemeClr val="tx1"/>
                </a:solidFill>
                <a:latin typeface="Courier New"/>
                <a:cs typeface="Courier New"/>
              </a:rPr>
              <a:t>softeng.polito.it</a:t>
            </a:r>
            <a:r>
              <a:rPr lang="it-IT" sz="2000" b="1" dirty="0" smtClean="0">
                <a:solidFill>
                  <a:schemeClr val="tx1"/>
                </a:solidFill>
                <a:latin typeface="Courier New"/>
                <a:cs typeface="Courier New"/>
              </a:rPr>
              <a:t>/</a:t>
            </a:r>
            <a:r>
              <a:rPr lang="it-IT" sz="2000" b="1" dirty="0" err="1" smtClean="0">
                <a:solidFill>
                  <a:schemeClr val="tx1"/>
                </a:solidFill>
                <a:latin typeface="Courier New"/>
                <a:cs typeface="Courier New"/>
              </a:rPr>
              <a:t>courses</a:t>
            </a:r>
            <a:r>
              <a:rPr lang="it-IT" sz="2000" b="1" dirty="0" smtClean="0">
                <a:solidFill>
                  <a:schemeClr val="tx1"/>
                </a:solidFill>
                <a:latin typeface="Courier New"/>
                <a:cs typeface="Courier New"/>
              </a:rPr>
              <a:t>/02JEY  </a:t>
            </a:r>
          </a:p>
          <a:p>
            <a:pPr marL="0" indent="0" algn="r" eaLnBrk="1" hangingPunct="1">
              <a:buFont typeface="Wingdings" charset="0"/>
              <a:buNone/>
            </a:pPr>
            <a:endParaRPr lang="it-IT" dirty="0">
              <a:latin typeface="Lucida Sans Unicode" charset="0"/>
              <a:cs typeface="Lucida Sans Unicode" charset="0"/>
            </a:endParaRPr>
          </a:p>
        </p:txBody>
      </p:sp>
      <p:sp>
        <p:nvSpPr>
          <p:cNvPr id="11" name="Rounded Rectangle 10">
            <a:hlinkClick r:id="rId7"/>
          </p:cNvPr>
          <p:cNvSpPr/>
          <p:nvPr/>
        </p:nvSpPr>
        <p:spPr bwMode="auto">
          <a:xfrm>
            <a:off x="2627784" y="5013176"/>
            <a:ext cx="5904656" cy="288032"/>
          </a:xfrm>
          <a:prstGeom prst="roundRect">
            <a:avLst/>
          </a:prstGeom>
          <a:noFill/>
          <a:ln w="9525" cap="flat" cmpd="sng" algn="ctr">
            <a:solidFill>
              <a:schemeClr val="accent6">
                <a:lumMod val="75000"/>
              </a:schemeClr>
            </a:solidFill>
            <a:prstDash val="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200" rtl="0" eaLnBrk="1" fontAlgn="base" latinLnBrk="0" hangingPunct="1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Times New Roman" pitchFamily="18" charset="0"/>
              <a:cs typeface="Lucida Sans Unicode" pitchFamily="34" charset="0"/>
            </a:endParaRP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3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543800" y="6553200"/>
            <a:ext cx="136525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2945" tIns="41473" rIns="82945" bIns="41473"/>
          <a:lstStyle>
            <a:lvl1pPr defTabSz="412750">
              <a:tabLst>
                <a:tab pos="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1625" algn="l"/>
                <a:tab pos="4570413" algn="l"/>
                <a:tab pos="5026025" algn="l"/>
                <a:tab pos="5484813" algn="l"/>
                <a:tab pos="5940425" algn="l"/>
                <a:tab pos="6399213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412750">
              <a:tabLst>
                <a:tab pos="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1625" algn="l"/>
                <a:tab pos="4570413" algn="l"/>
                <a:tab pos="5026025" algn="l"/>
                <a:tab pos="5484813" algn="l"/>
                <a:tab pos="5940425" algn="l"/>
                <a:tab pos="6399213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412750">
              <a:tabLst>
                <a:tab pos="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1625" algn="l"/>
                <a:tab pos="4570413" algn="l"/>
                <a:tab pos="5026025" algn="l"/>
                <a:tab pos="5484813" algn="l"/>
                <a:tab pos="5940425" algn="l"/>
                <a:tab pos="6399213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412750">
              <a:tabLst>
                <a:tab pos="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1625" algn="l"/>
                <a:tab pos="4570413" algn="l"/>
                <a:tab pos="5026025" algn="l"/>
                <a:tab pos="5484813" algn="l"/>
                <a:tab pos="5940425" algn="l"/>
                <a:tab pos="6399213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412750">
              <a:tabLst>
                <a:tab pos="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1625" algn="l"/>
                <a:tab pos="4570413" algn="l"/>
                <a:tab pos="5026025" algn="l"/>
                <a:tab pos="5484813" algn="l"/>
                <a:tab pos="5940425" algn="l"/>
                <a:tab pos="6399213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41275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1625" algn="l"/>
                <a:tab pos="4570413" algn="l"/>
                <a:tab pos="5026025" algn="l"/>
                <a:tab pos="5484813" algn="l"/>
                <a:tab pos="5940425" algn="l"/>
                <a:tab pos="6399213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41275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1625" algn="l"/>
                <a:tab pos="4570413" algn="l"/>
                <a:tab pos="5026025" algn="l"/>
                <a:tab pos="5484813" algn="l"/>
                <a:tab pos="5940425" algn="l"/>
                <a:tab pos="6399213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41275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1625" algn="l"/>
                <a:tab pos="4570413" algn="l"/>
                <a:tab pos="5026025" algn="l"/>
                <a:tab pos="5484813" algn="l"/>
                <a:tab pos="5940425" algn="l"/>
                <a:tab pos="6399213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41275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1625" algn="l"/>
                <a:tab pos="4570413" algn="l"/>
                <a:tab pos="5026025" algn="l"/>
                <a:tab pos="5484813" algn="l"/>
                <a:tab pos="5940425" algn="l"/>
                <a:tab pos="6399213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CD11AE6E-B0C7-244A-9485-90198FEC3575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 eaLnBrk="1" hangingPunct="1"/>
              <a:t>2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269314" name="Rectangle 1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tabLst>
                <a:tab pos="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1625" algn="l"/>
                <a:tab pos="4570413" algn="l"/>
                <a:tab pos="5026025" algn="l"/>
                <a:tab pos="5484813" algn="l"/>
                <a:tab pos="5940425" algn="l"/>
                <a:tab pos="6399213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cs typeface="ＭＳ Ｐゴシック" charset="0"/>
              </a:rPr>
              <a:t>Licensing Note</a:t>
            </a:r>
          </a:p>
        </p:txBody>
      </p:sp>
      <p:sp>
        <p:nvSpPr>
          <p:cNvPr id="166915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1052513"/>
            <a:ext cx="8229600" cy="5805487"/>
          </a:xfrm>
          <a:solidFill>
            <a:srgbClr val="FFFFFF"/>
          </a:solidFill>
        </p:spPr>
        <p:txBody>
          <a:bodyPr>
            <a:normAutofit/>
          </a:bodyPr>
          <a:lstStyle/>
          <a:p>
            <a:pPr marL="0" indent="0" defTabSz="414683" eaLnBrk="1" hangingPunct="1">
              <a:lnSpc>
                <a:spcPct val="80000"/>
              </a:lnSpc>
              <a:spcBef>
                <a:spcPts val="450"/>
              </a:spcBef>
              <a:spcAft>
                <a:spcPts val="113"/>
              </a:spcAft>
              <a:buFont typeface="Wingdings" charset="0"/>
              <a:buNone/>
              <a:tabLst>
                <a:tab pos="455518" algn="l"/>
                <a:tab pos="912624" algn="l"/>
                <a:tab pos="1369729" algn="l"/>
                <a:tab pos="1826835" algn="l"/>
                <a:tab pos="2283939" algn="l"/>
                <a:tab pos="2741045" algn="l"/>
                <a:tab pos="3198151" algn="l"/>
                <a:tab pos="3655255" algn="l"/>
                <a:tab pos="4112361" algn="l"/>
                <a:tab pos="4569465" algn="l"/>
                <a:tab pos="5026571" algn="l"/>
                <a:tab pos="5483675" algn="l"/>
                <a:tab pos="5940781" algn="l"/>
                <a:tab pos="6397886" algn="l"/>
                <a:tab pos="6854991" algn="l"/>
                <a:tab pos="7312097" algn="l"/>
                <a:tab pos="7769202" algn="l"/>
                <a:tab pos="8226307" algn="l"/>
                <a:tab pos="8683412" algn="l"/>
                <a:tab pos="9140517" algn="l"/>
              </a:tabLst>
              <a:defRPr/>
            </a:pPr>
            <a:r>
              <a:rPr lang="en-GB" sz="1800" b="1" dirty="0"/>
              <a:t>This work is licensed under the Creative Commons Attribution-</a:t>
            </a:r>
            <a:r>
              <a:rPr lang="en-GB" sz="1800" b="1" dirty="0" err="1"/>
              <a:t>NonCommercial</a:t>
            </a:r>
            <a:r>
              <a:rPr lang="en-GB" sz="1800" b="1" dirty="0"/>
              <a:t>-</a:t>
            </a:r>
            <a:r>
              <a:rPr lang="en-GB" sz="1800" b="1" dirty="0" err="1"/>
              <a:t>NoDerivatives</a:t>
            </a:r>
            <a:r>
              <a:rPr lang="en-GB" sz="1800" b="1" dirty="0"/>
              <a:t> 4.0 International License. </a:t>
            </a:r>
            <a:endParaRPr lang="en-GB" sz="1800" b="1" dirty="0" smtClean="0"/>
          </a:p>
          <a:p>
            <a:pPr marL="0" indent="0" defTabSz="414683" eaLnBrk="1" hangingPunct="1">
              <a:lnSpc>
                <a:spcPct val="80000"/>
              </a:lnSpc>
              <a:spcBef>
                <a:spcPts val="450"/>
              </a:spcBef>
              <a:spcAft>
                <a:spcPts val="113"/>
              </a:spcAft>
              <a:buFont typeface="Wingdings" charset="0"/>
              <a:buNone/>
              <a:tabLst>
                <a:tab pos="455518" algn="l"/>
                <a:tab pos="912624" algn="l"/>
                <a:tab pos="1369729" algn="l"/>
                <a:tab pos="1826835" algn="l"/>
                <a:tab pos="2283939" algn="l"/>
                <a:tab pos="2741045" algn="l"/>
                <a:tab pos="3198151" algn="l"/>
                <a:tab pos="3655255" algn="l"/>
                <a:tab pos="4112361" algn="l"/>
                <a:tab pos="4569465" algn="l"/>
                <a:tab pos="5026571" algn="l"/>
                <a:tab pos="5483675" algn="l"/>
                <a:tab pos="5940781" algn="l"/>
                <a:tab pos="6397886" algn="l"/>
                <a:tab pos="6854991" algn="l"/>
                <a:tab pos="7312097" algn="l"/>
                <a:tab pos="7769202" algn="l"/>
                <a:tab pos="8226307" algn="l"/>
                <a:tab pos="8683412" algn="l"/>
                <a:tab pos="9140517" algn="l"/>
              </a:tabLst>
              <a:defRPr/>
            </a:pPr>
            <a:r>
              <a:rPr lang="en-GB" sz="1800" b="1" dirty="0" smtClean="0"/>
              <a:t>To </a:t>
            </a:r>
            <a:r>
              <a:rPr lang="en-GB" sz="1800" b="1" dirty="0"/>
              <a:t>view a copy of this license, visit </a:t>
            </a:r>
            <a:r>
              <a:rPr lang="en-GB" sz="1800" b="1" dirty="0">
                <a:hlinkClick r:id="rId3"/>
              </a:rPr>
              <a:t>http://creativecommons.org/licenses/by-nc-nd/4.0/</a:t>
            </a:r>
            <a:r>
              <a:rPr lang="en-GB" sz="1800" b="1" dirty="0" smtClean="0"/>
              <a:t>.</a:t>
            </a:r>
          </a:p>
          <a:p>
            <a:pPr marL="0" indent="0" defTabSz="414683" eaLnBrk="1" hangingPunct="1">
              <a:lnSpc>
                <a:spcPct val="80000"/>
              </a:lnSpc>
              <a:spcBef>
                <a:spcPts val="450"/>
              </a:spcBef>
              <a:spcAft>
                <a:spcPts val="113"/>
              </a:spcAft>
              <a:buFont typeface="Wingdings" charset="0"/>
              <a:buNone/>
              <a:tabLst>
                <a:tab pos="455518" algn="l"/>
                <a:tab pos="912624" algn="l"/>
                <a:tab pos="1369729" algn="l"/>
                <a:tab pos="1826835" algn="l"/>
                <a:tab pos="2283939" algn="l"/>
                <a:tab pos="2741045" algn="l"/>
                <a:tab pos="3198151" algn="l"/>
                <a:tab pos="3655255" algn="l"/>
                <a:tab pos="4112361" algn="l"/>
                <a:tab pos="4569465" algn="l"/>
                <a:tab pos="5026571" algn="l"/>
                <a:tab pos="5483675" algn="l"/>
                <a:tab pos="5940781" algn="l"/>
                <a:tab pos="6397886" algn="l"/>
                <a:tab pos="6854991" algn="l"/>
                <a:tab pos="7312097" algn="l"/>
                <a:tab pos="7769202" algn="l"/>
                <a:tab pos="8226307" algn="l"/>
                <a:tab pos="8683412" algn="l"/>
                <a:tab pos="9140517" algn="l"/>
              </a:tabLst>
              <a:defRPr/>
            </a:pPr>
            <a:r>
              <a:rPr lang="en-GB" sz="1800" b="1" dirty="0" smtClean="0"/>
              <a:t>You </a:t>
            </a:r>
            <a:r>
              <a:rPr lang="en-GB" sz="1800" b="1" dirty="0"/>
              <a:t>are free:</a:t>
            </a:r>
            <a:r>
              <a:rPr lang="en-GB" sz="1800" dirty="0"/>
              <a:t>  to copy, distribute, display, and perform the work </a:t>
            </a:r>
          </a:p>
          <a:p>
            <a:pPr marL="295174" indent="-295174" defTabSz="414683" eaLnBrk="1" hangingPunct="1">
              <a:lnSpc>
                <a:spcPct val="80000"/>
              </a:lnSpc>
              <a:spcBef>
                <a:spcPts val="450"/>
              </a:spcBef>
              <a:spcAft>
                <a:spcPts val="113"/>
              </a:spcAft>
              <a:tabLst>
                <a:tab pos="455518" algn="l"/>
                <a:tab pos="912624" algn="l"/>
                <a:tab pos="1369729" algn="l"/>
                <a:tab pos="1826835" algn="l"/>
                <a:tab pos="2283939" algn="l"/>
                <a:tab pos="2741045" algn="l"/>
                <a:tab pos="3198151" algn="l"/>
                <a:tab pos="3655255" algn="l"/>
                <a:tab pos="4112361" algn="l"/>
                <a:tab pos="4569465" algn="l"/>
                <a:tab pos="5026571" algn="l"/>
                <a:tab pos="5483675" algn="l"/>
                <a:tab pos="5940781" algn="l"/>
                <a:tab pos="6397886" algn="l"/>
                <a:tab pos="6854991" algn="l"/>
                <a:tab pos="7312097" algn="l"/>
                <a:tab pos="7769202" algn="l"/>
                <a:tab pos="8226307" algn="l"/>
                <a:tab pos="8683412" algn="l"/>
                <a:tab pos="9140517" algn="l"/>
              </a:tabLst>
              <a:defRPr/>
            </a:pPr>
            <a:endParaRPr lang="en-GB" sz="1800" dirty="0"/>
          </a:p>
          <a:p>
            <a:pPr marL="334894" indent="-334894" defTabSz="414683" eaLnBrk="1" hangingPunct="1">
              <a:lnSpc>
                <a:spcPct val="80000"/>
              </a:lnSpc>
              <a:spcBef>
                <a:spcPts val="450"/>
              </a:spcBef>
              <a:spcAft>
                <a:spcPts val="113"/>
              </a:spcAft>
              <a:buFont typeface="Wingdings" charset="0"/>
              <a:buNone/>
              <a:tabLst>
                <a:tab pos="455518" algn="l"/>
                <a:tab pos="912624" algn="l"/>
                <a:tab pos="1369729" algn="l"/>
                <a:tab pos="1826835" algn="l"/>
                <a:tab pos="2283939" algn="l"/>
                <a:tab pos="2741045" algn="l"/>
                <a:tab pos="3198151" algn="l"/>
                <a:tab pos="3655255" algn="l"/>
                <a:tab pos="4112361" algn="l"/>
                <a:tab pos="4569465" algn="l"/>
                <a:tab pos="5026571" algn="l"/>
                <a:tab pos="5483675" algn="l"/>
                <a:tab pos="5940781" algn="l"/>
                <a:tab pos="6397886" algn="l"/>
                <a:tab pos="6854991" algn="l"/>
                <a:tab pos="7312097" algn="l"/>
                <a:tab pos="7769202" algn="l"/>
                <a:tab pos="8226307" algn="l"/>
                <a:tab pos="8683412" algn="l"/>
                <a:tab pos="9140517" algn="l"/>
              </a:tabLst>
              <a:defRPr/>
            </a:pPr>
            <a:r>
              <a:rPr lang="en-GB" sz="1800" b="1" dirty="0"/>
              <a:t>Under the following conditions:</a:t>
            </a:r>
            <a:r>
              <a:rPr lang="en-GB" sz="1800" dirty="0"/>
              <a:t> </a:t>
            </a:r>
          </a:p>
          <a:p>
            <a:pPr marL="334894" indent="-334894" defTabSz="414683" eaLnBrk="1" hangingPunct="1">
              <a:lnSpc>
                <a:spcPct val="80000"/>
              </a:lnSpc>
              <a:spcBef>
                <a:spcPts val="450"/>
              </a:spcBef>
              <a:spcAft>
                <a:spcPts val="113"/>
              </a:spcAft>
              <a:tabLst>
                <a:tab pos="455518" algn="l"/>
                <a:tab pos="912624" algn="l"/>
                <a:tab pos="1369729" algn="l"/>
                <a:tab pos="1826835" algn="l"/>
                <a:tab pos="2283939" algn="l"/>
                <a:tab pos="2741045" algn="l"/>
                <a:tab pos="3198151" algn="l"/>
                <a:tab pos="3655255" algn="l"/>
                <a:tab pos="4112361" algn="l"/>
                <a:tab pos="4569465" algn="l"/>
                <a:tab pos="5026571" algn="l"/>
                <a:tab pos="5483675" algn="l"/>
                <a:tab pos="5940781" algn="l"/>
                <a:tab pos="6397886" algn="l"/>
                <a:tab pos="6854991" algn="l"/>
                <a:tab pos="7312097" algn="l"/>
                <a:tab pos="7769202" algn="l"/>
                <a:tab pos="8226307" algn="l"/>
                <a:tab pos="8683412" algn="l"/>
                <a:tab pos="9140517" algn="l"/>
              </a:tabLst>
              <a:defRPr/>
            </a:pPr>
            <a:r>
              <a:rPr lang="en-GB" sz="1800" b="1" dirty="0"/>
              <a:t>Attribution</a:t>
            </a:r>
            <a:r>
              <a:rPr lang="en-GB" sz="1800" dirty="0"/>
              <a:t>. You must attribute the work in the manner specified by the author or licensor.</a:t>
            </a:r>
          </a:p>
          <a:p>
            <a:pPr marL="334894" indent="-334894" defTabSz="414683" eaLnBrk="1" hangingPunct="1">
              <a:lnSpc>
                <a:spcPct val="80000"/>
              </a:lnSpc>
              <a:spcBef>
                <a:spcPts val="300"/>
              </a:spcBef>
              <a:buFont typeface="Wingdings" charset="0"/>
              <a:buNone/>
              <a:tabLst>
                <a:tab pos="455518" algn="l"/>
                <a:tab pos="912624" algn="l"/>
                <a:tab pos="1369729" algn="l"/>
                <a:tab pos="1826835" algn="l"/>
                <a:tab pos="2283939" algn="l"/>
                <a:tab pos="2741045" algn="l"/>
                <a:tab pos="3198151" algn="l"/>
                <a:tab pos="3655255" algn="l"/>
                <a:tab pos="4112361" algn="l"/>
                <a:tab pos="4569465" algn="l"/>
                <a:tab pos="5026571" algn="l"/>
                <a:tab pos="5483675" algn="l"/>
                <a:tab pos="5940781" algn="l"/>
                <a:tab pos="6397886" algn="l"/>
                <a:tab pos="6854991" algn="l"/>
                <a:tab pos="7312097" algn="l"/>
                <a:tab pos="7769202" algn="l"/>
                <a:tab pos="8226307" algn="l"/>
                <a:tab pos="8683412" algn="l"/>
                <a:tab pos="9140517" algn="l"/>
              </a:tabLst>
              <a:defRPr/>
            </a:pPr>
            <a:endParaRPr lang="en-GB" sz="1200" dirty="0"/>
          </a:p>
          <a:p>
            <a:pPr marL="334894" indent="-334894" defTabSz="414683" eaLnBrk="1" hangingPunct="1">
              <a:lnSpc>
                <a:spcPct val="80000"/>
              </a:lnSpc>
              <a:spcBef>
                <a:spcPts val="450"/>
              </a:spcBef>
              <a:spcAft>
                <a:spcPts val="113"/>
              </a:spcAft>
              <a:tabLst>
                <a:tab pos="455518" algn="l"/>
                <a:tab pos="912624" algn="l"/>
                <a:tab pos="1369729" algn="l"/>
                <a:tab pos="1826835" algn="l"/>
                <a:tab pos="2283939" algn="l"/>
                <a:tab pos="2741045" algn="l"/>
                <a:tab pos="3198151" algn="l"/>
                <a:tab pos="3655255" algn="l"/>
                <a:tab pos="4112361" algn="l"/>
                <a:tab pos="4569465" algn="l"/>
                <a:tab pos="5026571" algn="l"/>
                <a:tab pos="5483675" algn="l"/>
                <a:tab pos="5940781" algn="l"/>
                <a:tab pos="6397886" algn="l"/>
                <a:tab pos="6854991" algn="l"/>
                <a:tab pos="7312097" algn="l"/>
                <a:tab pos="7769202" algn="l"/>
                <a:tab pos="8226307" algn="l"/>
                <a:tab pos="8683412" algn="l"/>
                <a:tab pos="9140517" algn="l"/>
              </a:tabLst>
              <a:defRPr/>
            </a:pPr>
            <a:r>
              <a:rPr lang="en-GB" sz="1800" b="1" dirty="0" smtClean="0"/>
              <a:t>Non-commercial</a:t>
            </a:r>
            <a:r>
              <a:rPr lang="en-GB" sz="1800" dirty="0"/>
              <a:t>. You may not use this work for commercial purposes.  </a:t>
            </a:r>
          </a:p>
          <a:p>
            <a:pPr marL="1451391" lvl="3" indent="-207341" defTabSz="414683" eaLnBrk="1" hangingPunct="1">
              <a:lnSpc>
                <a:spcPct val="80000"/>
              </a:lnSpc>
              <a:spcBef>
                <a:spcPts val="300"/>
              </a:spcBef>
              <a:tabLst>
                <a:tab pos="455518" algn="l"/>
                <a:tab pos="912624" algn="l"/>
                <a:tab pos="1369729" algn="l"/>
                <a:tab pos="1826835" algn="l"/>
                <a:tab pos="2283939" algn="l"/>
                <a:tab pos="2741045" algn="l"/>
                <a:tab pos="3198151" algn="l"/>
                <a:tab pos="3655255" algn="l"/>
                <a:tab pos="4112361" algn="l"/>
                <a:tab pos="4569465" algn="l"/>
                <a:tab pos="5026571" algn="l"/>
                <a:tab pos="5483675" algn="l"/>
                <a:tab pos="5940781" algn="l"/>
                <a:tab pos="6397886" algn="l"/>
                <a:tab pos="6854991" algn="l"/>
                <a:tab pos="7312097" algn="l"/>
                <a:tab pos="7769202" algn="l"/>
                <a:tab pos="8226307" algn="l"/>
                <a:tab pos="8683412" algn="l"/>
                <a:tab pos="9140517" algn="l"/>
              </a:tabLst>
              <a:defRPr/>
            </a:pPr>
            <a:endParaRPr lang="en-GB" sz="1200" dirty="0"/>
          </a:p>
          <a:p>
            <a:pPr marL="334894" indent="-334894" defTabSz="414683" eaLnBrk="1" hangingPunct="1">
              <a:lnSpc>
                <a:spcPct val="80000"/>
              </a:lnSpc>
              <a:spcBef>
                <a:spcPts val="450"/>
              </a:spcBef>
              <a:spcAft>
                <a:spcPts val="113"/>
              </a:spcAft>
              <a:tabLst>
                <a:tab pos="455518" algn="l"/>
                <a:tab pos="912624" algn="l"/>
                <a:tab pos="1369729" algn="l"/>
                <a:tab pos="1826835" algn="l"/>
                <a:tab pos="2283939" algn="l"/>
                <a:tab pos="2741045" algn="l"/>
                <a:tab pos="3198151" algn="l"/>
                <a:tab pos="3655255" algn="l"/>
                <a:tab pos="4112361" algn="l"/>
                <a:tab pos="4569465" algn="l"/>
                <a:tab pos="5026571" algn="l"/>
                <a:tab pos="5483675" algn="l"/>
                <a:tab pos="5940781" algn="l"/>
                <a:tab pos="6397886" algn="l"/>
                <a:tab pos="6854991" algn="l"/>
                <a:tab pos="7312097" algn="l"/>
                <a:tab pos="7769202" algn="l"/>
                <a:tab pos="8226307" algn="l"/>
                <a:tab pos="8683412" algn="l"/>
                <a:tab pos="9140517" algn="l"/>
              </a:tabLst>
              <a:defRPr/>
            </a:pPr>
            <a:r>
              <a:rPr lang="en-GB" sz="1800" b="1" dirty="0"/>
              <a:t>No Derivative Works</a:t>
            </a:r>
            <a:r>
              <a:rPr lang="en-GB" sz="1800" dirty="0"/>
              <a:t>. You may not alter, transform, or build upon this work. </a:t>
            </a:r>
          </a:p>
          <a:p>
            <a:pPr marL="334894" indent="-334894" defTabSz="414683" eaLnBrk="1" hangingPunct="1">
              <a:lnSpc>
                <a:spcPct val="80000"/>
              </a:lnSpc>
              <a:spcBef>
                <a:spcPts val="300"/>
              </a:spcBef>
              <a:buFont typeface="Wingdings" charset="0"/>
              <a:buNone/>
              <a:tabLst>
                <a:tab pos="455518" algn="l"/>
                <a:tab pos="912624" algn="l"/>
                <a:tab pos="1369729" algn="l"/>
                <a:tab pos="1826835" algn="l"/>
                <a:tab pos="2283939" algn="l"/>
                <a:tab pos="2741045" algn="l"/>
                <a:tab pos="3198151" algn="l"/>
                <a:tab pos="3655255" algn="l"/>
                <a:tab pos="4112361" algn="l"/>
                <a:tab pos="4569465" algn="l"/>
                <a:tab pos="5026571" algn="l"/>
                <a:tab pos="5483675" algn="l"/>
                <a:tab pos="5940781" algn="l"/>
                <a:tab pos="6397886" algn="l"/>
                <a:tab pos="6854991" algn="l"/>
                <a:tab pos="7312097" algn="l"/>
                <a:tab pos="7769202" algn="l"/>
                <a:tab pos="8226307" algn="l"/>
                <a:tab pos="8683412" algn="l"/>
                <a:tab pos="9140517" algn="l"/>
              </a:tabLst>
              <a:defRPr/>
            </a:pPr>
            <a:endParaRPr lang="en-GB" sz="1200" dirty="0"/>
          </a:p>
          <a:p>
            <a:pPr marL="334894" indent="-334894" defTabSz="414683" eaLnBrk="1" hangingPunct="1">
              <a:lnSpc>
                <a:spcPct val="80000"/>
              </a:lnSpc>
              <a:spcBef>
                <a:spcPts val="450"/>
              </a:spcBef>
              <a:spcAft>
                <a:spcPts val="113"/>
              </a:spcAft>
              <a:tabLst>
                <a:tab pos="455518" algn="l"/>
                <a:tab pos="912624" algn="l"/>
                <a:tab pos="1369729" algn="l"/>
                <a:tab pos="1826835" algn="l"/>
                <a:tab pos="2283939" algn="l"/>
                <a:tab pos="2741045" algn="l"/>
                <a:tab pos="3198151" algn="l"/>
                <a:tab pos="3655255" algn="l"/>
                <a:tab pos="4112361" algn="l"/>
                <a:tab pos="4569465" algn="l"/>
                <a:tab pos="5026571" algn="l"/>
                <a:tab pos="5483675" algn="l"/>
                <a:tab pos="5940781" algn="l"/>
                <a:tab pos="6397886" algn="l"/>
                <a:tab pos="6854991" algn="l"/>
                <a:tab pos="7312097" algn="l"/>
                <a:tab pos="7769202" algn="l"/>
                <a:tab pos="8226307" algn="l"/>
                <a:tab pos="8683412" algn="l"/>
                <a:tab pos="9140517" algn="l"/>
              </a:tabLst>
              <a:defRPr/>
            </a:pPr>
            <a:r>
              <a:rPr lang="en-GB" sz="1800" dirty="0"/>
              <a:t>For any reuse or distribution, you must make clear to others the license terms of this work. </a:t>
            </a:r>
          </a:p>
          <a:p>
            <a:pPr marL="334894" indent="-334894" defTabSz="414683" eaLnBrk="1" hangingPunct="1">
              <a:lnSpc>
                <a:spcPct val="80000"/>
              </a:lnSpc>
              <a:spcBef>
                <a:spcPts val="450"/>
              </a:spcBef>
              <a:spcAft>
                <a:spcPts val="113"/>
              </a:spcAft>
              <a:tabLst>
                <a:tab pos="455518" algn="l"/>
                <a:tab pos="912624" algn="l"/>
                <a:tab pos="1369729" algn="l"/>
                <a:tab pos="1826835" algn="l"/>
                <a:tab pos="2283939" algn="l"/>
                <a:tab pos="2741045" algn="l"/>
                <a:tab pos="3198151" algn="l"/>
                <a:tab pos="3655255" algn="l"/>
                <a:tab pos="4112361" algn="l"/>
                <a:tab pos="4569465" algn="l"/>
                <a:tab pos="5026571" algn="l"/>
                <a:tab pos="5483675" algn="l"/>
                <a:tab pos="5940781" algn="l"/>
                <a:tab pos="6397886" algn="l"/>
                <a:tab pos="6854991" algn="l"/>
                <a:tab pos="7312097" algn="l"/>
                <a:tab pos="7769202" algn="l"/>
                <a:tab pos="8226307" algn="l"/>
                <a:tab pos="8683412" algn="l"/>
                <a:tab pos="9140517" algn="l"/>
              </a:tabLst>
              <a:defRPr/>
            </a:pPr>
            <a:r>
              <a:rPr lang="en-GB" sz="1800" dirty="0"/>
              <a:t>Any of these conditions can be waived if you get permission from the copyright holder. </a:t>
            </a:r>
          </a:p>
          <a:p>
            <a:pPr marL="334894" indent="-334894" defTabSz="414683" eaLnBrk="1" hangingPunct="1">
              <a:lnSpc>
                <a:spcPct val="80000"/>
              </a:lnSpc>
              <a:spcBef>
                <a:spcPts val="450"/>
              </a:spcBef>
              <a:spcAft>
                <a:spcPts val="113"/>
              </a:spcAft>
              <a:buFont typeface="Wingdings" charset="0"/>
              <a:buNone/>
              <a:tabLst>
                <a:tab pos="455518" algn="l"/>
                <a:tab pos="912624" algn="l"/>
                <a:tab pos="1369729" algn="l"/>
                <a:tab pos="1826835" algn="l"/>
                <a:tab pos="2283939" algn="l"/>
                <a:tab pos="2741045" algn="l"/>
                <a:tab pos="3198151" algn="l"/>
                <a:tab pos="3655255" algn="l"/>
                <a:tab pos="4112361" algn="l"/>
                <a:tab pos="4569465" algn="l"/>
                <a:tab pos="5026571" algn="l"/>
                <a:tab pos="5483675" algn="l"/>
                <a:tab pos="5940781" algn="l"/>
                <a:tab pos="6397886" algn="l"/>
                <a:tab pos="6854991" algn="l"/>
                <a:tab pos="7312097" algn="l"/>
                <a:tab pos="7769202" algn="l"/>
                <a:tab pos="8226307" algn="l"/>
                <a:tab pos="8683412" algn="l"/>
                <a:tab pos="9140517" algn="l"/>
              </a:tabLst>
              <a:defRPr/>
            </a:pPr>
            <a:endParaRPr lang="en-GB" sz="1800" dirty="0"/>
          </a:p>
          <a:p>
            <a:pPr marL="334894" indent="-334894" defTabSz="414683" eaLnBrk="1" hangingPunct="1">
              <a:lnSpc>
                <a:spcPct val="80000"/>
              </a:lnSpc>
              <a:spcBef>
                <a:spcPts val="450"/>
              </a:spcBef>
              <a:spcAft>
                <a:spcPts val="113"/>
              </a:spcAft>
              <a:buFont typeface="Wingdings" charset="0"/>
              <a:buNone/>
              <a:tabLst>
                <a:tab pos="455518" algn="l"/>
                <a:tab pos="912624" algn="l"/>
                <a:tab pos="1369729" algn="l"/>
                <a:tab pos="1826835" algn="l"/>
                <a:tab pos="2283939" algn="l"/>
                <a:tab pos="2741045" algn="l"/>
                <a:tab pos="3198151" algn="l"/>
                <a:tab pos="3655255" algn="l"/>
                <a:tab pos="4112361" algn="l"/>
                <a:tab pos="4569465" algn="l"/>
                <a:tab pos="5026571" algn="l"/>
                <a:tab pos="5483675" algn="l"/>
                <a:tab pos="5940781" algn="l"/>
                <a:tab pos="6397886" algn="l"/>
                <a:tab pos="6854991" algn="l"/>
                <a:tab pos="7312097" algn="l"/>
                <a:tab pos="7769202" algn="l"/>
                <a:tab pos="8226307" algn="l"/>
                <a:tab pos="8683412" algn="l"/>
                <a:tab pos="9140517" algn="l"/>
              </a:tabLst>
              <a:defRPr/>
            </a:pPr>
            <a:r>
              <a:rPr lang="en-GB" sz="1800" b="1" dirty="0"/>
              <a:t>Your fair use and other rights are in no way affected by the above.</a:t>
            </a:r>
            <a:r>
              <a:rPr lang="en-GB" sz="1800" dirty="0"/>
              <a:t> </a:t>
            </a:r>
          </a:p>
          <a:p>
            <a:pPr marL="334894" indent="-334894" defTabSz="414683" eaLnBrk="1" hangingPunct="1">
              <a:lnSpc>
                <a:spcPct val="80000"/>
              </a:lnSpc>
              <a:spcBef>
                <a:spcPts val="450"/>
              </a:spcBef>
              <a:spcAft>
                <a:spcPts val="113"/>
              </a:spcAft>
              <a:buFont typeface="Wingdings" charset="0"/>
              <a:buNone/>
              <a:tabLst>
                <a:tab pos="455518" algn="l"/>
                <a:tab pos="912624" algn="l"/>
                <a:tab pos="1369729" algn="l"/>
                <a:tab pos="1826835" algn="l"/>
                <a:tab pos="2283939" algn="l"/>
                <a:tab pos="2741045" algn="l"/>
                <a:tab pos="3198151" algn="l"/>
                <a:tab pos="3655255" algn="l"/>
                <a:tab pos="4112361" algn="l"/>
                <a:tab pos="4569465" algn="l"/>
                <a:tab pos="5026571" algn="l"/>
                <a:tab pos="5483675" algn="l"/>
                <a:tab pos="5940781" algn="l"/>
                <a:tab pos="6397886" algn="l"/>
                <a:tab pos="6854991" algn="l"/>
                <a:tab pos="7312097" algn="l"/>
                <a:tab pos="7769202" algn="l"/>
                <a:tab pos="8226307" algn="l"/>
                <a:tab pos="8683412" algn="l"/>
                <a:tab pos="9140517" algn="l"/>
              </a:tabLst>
              <a:defRPr/>
            </a:pPr>
            <a:endParaRPr lang="en-GB" sz="1800" dirty="0"/>
          </a:p>
        </p:txBody>
      </p:sp>
      <p:sp>
        <p:nvSpPr>
          <p:cNvPr id="269316" name="Rectangle 4"/>
          <p:cNvSpPr>
            <a:spLocks noChangeArrowheads="1"/>
          </p:cNvSpPr>
          <p:nvPr/>
        </p:nvSpPr>
        <p:spPr bwMode="auto">
          <a:xfrm>
            <a:off x="434975" y="2925763"/>
            <a:ext cx="431800" cy="19431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420" tIns="45711" rIns="91420" bIns="45711" anchor="ctr"/>
          <a:lstStyle/>
          <a:p>
            <a:endParaRPr lang="en-US"/>
          </a:p>
        </p:txBody>
      </p:sp>
      <p:pic>
        <p:nvPicPr>
          <p:cNvPr id="269317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115888"/>
            <a:ext cx="3059113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9318" name="Pictur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2924175"/>
            <a:ext cx="504825" cy="50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9319" name="Picture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3644900"/>
            <a:ext cx="504825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9320" name="Picture 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4365625"/>
            <a:ext cx="504825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50610730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Inheritance</a:t>
            </a:r>
          </a:p>
        </p:txBody>
      </p:sp>
      <p:sp>
        <p:nvSpPr>
          <p:cNvPr id="327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95400"/>
            <a:ext cx="8153400" cy="4665663"/>
          </a:xfrm>
        </p:spPr>
        <p:txBody>
          <a:bodyPr/>
          <a:lstStyle/>
          <a:p>
            <a:pPr eaLnBrk="1" hangingPunct="1"/>
            <a:r>
              <a:rPr lang="en-GB" sz="2800">
                <a:latin typeface="Lucida Sans Unicode" charset="0"/>
                <a:cs typeface="Times New Roman" charset="0"/>
              </a:rPr>
              <a:t>A class can be a sub-type of another class</a:t>
            </a:r>
          </a:p>
          <a:p>
            <a:pPr eaLnBrk="1" hangingPunct="1"/>
            <a:r>
              <a:rPr lang="en-US" sz="2800">
                <a:latin typeface="Lucida Sans Unicode" charset="0"/>
                <a:cs typeface="Times New Roman" charset="0"/>
              </a:rPr>
              <a:t>The derived class contains </a:t>
            </a:r>
          </a:p>
          <a:p>
            <a:pPr lvl="1" eaLnBrk="1" hangingPunct="1"/>
            <a:r>
              <a:rPr lang="en-US" sz="2400">
                <a:latin typeface="Lucida Sans Unicode" charset="0"/>
                <a:ea typeface="Lucida Sans Unicode" charset="0"/>
                <a:cs typeface="Times New Roman" charset="0"/>
              </a:rPr>
              <a:t>all the members of the class it inherits from </a:t>
            </a:r>
          </a:p>
          <a:p>
            <a:pPr lvl="1" eaLnBrk="1" hangingPunct="1"/>
            <a:r>
              <a:rPr lang="en-US" sz="2400">
                <a:latin typeface="Lucida Sans Unicode" charset="0"/>
                <a:ea typeface="Lucida Sans Unicode" charset="0"/>
                <a:cs typeface="Times New Roman" charset="0"/>
              </a:rPr>
              <a:t>plus any member it defines explicitly </a:t>
            </a:r>
            <a:endParaRPr lang="en-US" sz="2400">
              <a:latin typeface="Lucida Sans Unicode" charset="0"/>
              <a:ea typeface="Lucida Sans Unicode" charset="0"/>
              <a:cs typeface="Lucida Sans Unicode" charset="0"/>
            </a:endParaRPr>
          </a:p>
          <a:p>
            <a:pPr eaLnBrk="1" hangingPunct="1"/>
            <a:r>
              <a:rPr lang="en-US" sz="2800">
                <a:latin typeface="Lucida Sans Unicode" charset="0"/>
                <a:cs typeface="Times New Roman" charset="0"/>
              </a:rPr>
              <a:t>The derived class can </a:t>
            </a:r>
            <a:r>
              <a:rPr lang="en-US" sz="2800">
                <a:solidFill>
                  <a:srgbClr val="FF6600"/>
                </a:solidFill>
                <a:latin typeface="Lucida Sans Unicode" charset="0"/>
                <a:cs typeface="Times New Roman" charset="0"/>
              </a:rPr>
              <a:t>override</a:t>
            </a:r>
            <a:r>
              <a:rPr lang="en-US" sz="2800">
                <a:latin typeface="Lucida Sans Unicode" charset="0"/>
                <a:cs typeface="Times New Roman" charset="0"/>
              </a:rPr>
              <a:t> the definition of existing methods by providing its own implementation </a:t>
            </a:r>
            <a:endParaRPr lang="en-US" sz="2800">
              <a:latin typeface="Lucida Sans Unicode" charset="0"/>
              <a:cs typeface="Lucida Sans Unicode" charset="0"/>
            </a:endParaRPr>
          </a:p>
          <a:p>
            <a:pPr eaLnBrk="1" hangingPunct="1"/>
            <a:r>
              <a:rPr lang="en-US" sz="2800">
                <a:latin typeface="Lucida Sans Unicode" charset="0"/>
                <a:cs typeface="Times New Roman" charset="0"/>
              </a:rPr>
              <a:t>The code of the derived class consists of the changes and additions to the base class 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ded Corner 1"/>
          <p:cNvSpPr/>
          <p:nvPr/>
        </p:nvSpPr>
        <p:spPr bwMode="auto">
          <a:xfrm>
            <a:off x="539750" y="1341438"/>
            <a:ext cx="7488238" cy="2016125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buFont typeface="Times New Roman" pitchFamily="18" charset="0"/>
              <a:buNone/>
              <a:defRPr/>
            </a:pPr>
            <a:endParaRPr lang="en-US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5" name="Folded Corner 4"/>
          <p:cNvSpPr/>
          <p:nvPr/>
        </p:nvSpPr>
        <p:spPr bwMode="auto">
          <a:xfrm>
            <a:off x="539750" y="3429000"/>
            <a:ext cx="6840538" cy="1512888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buFont typeface="Times New Roman" pitchFamily="18" charset="0"/>
              <a:buNone/>
              <a:defRPr/>
            </a:pPr>
            <a:endParaRPr lang="en-US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6" name="Folded Corner 5"/>
          <p:cNvSpPr/>
          <p:nvPr/>
        </p:nvSpPr>
        <p:spPr bwMode="auto">
          <a:xfrm>
            <a:off x="539750" y="5013325"/>
            <a:ext cx="7848600" cy="1079500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buFont typeface="Times New Roman" pitchFamily="18" charset="0"/>
              <a:buNone/>
              <a:defRPr/>
            </a:pPr>
            <a:endParaRPr lang="en-US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34820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>
                <a:latin typeface="Lucida Sans Unicode" charset="0"/>
                <a:cs typeface="Lucida Sans Unicode" charset="0"/>
              </a:rPr>
              <a:t>Addition</a:t>
            </a:r>
            <a:endParaRPr lang="en-US">
              <a:latin typeface="Lucida Sans Unicode" charset="0"/>
              <a:cs typeface="Lucida Sans Unicode" charset="0"/>
            </a:endParaRPr>
          </a:p>
        </p:txBody>
      </p:sp>
      <p:sp>
        <p:nvSpPr>
          <p:cNvPr id="34821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lnSpc>
                <a:spcPct val="90000"/>
              </a:lnSpc>
              <a:buFont typeface="Wingdings" charset="0"/>
              <a:buNone/>
            </a:pPr>
            <a:r>
              <a:rPr lang="en-GB" sz="2800" b="1" dirty="0">
                <a:latin typeface="Courier New" charset="0"/>
                <a:cs typeface="Courier New" charset="0"/>
              </a:rPr>
              <a:t>class Employee{</a:t>
            </a:r>
            <a:br>
              <a:rPr lang="en-GB" sz="2800" b="1" dirty="0">
                <a:latin typeface="Courier New" charset="0"/>
                <a:cs typeface="Courier New" charset="0"/>
              </a:rPr>
            </a:br>
            <a:r>
              <a:rPr lang="en-GB" sz="2800" b="1" dirty="0">
                <a:latin typeface="Courier New" charset="0"/>
                <a:cs typeface="Courier New" charset="0"/>
              </a:rPr>
              <a:t>	String name;</a:t>
            </a:r>
            <a:br>
              <a:rPr lang="en-GB" sz="2800" b="1" dirty="0">
                <a:latin typeface="Courier New" charset="0"/>
                <a:cs typeface="Courier New" charset="0"/>
              </a:rPr>
            </a:br>
            <a:r>
              <a:rPr lang="en-GB" sz="2800" b="1" dirty="0">
                <a:latin typeface="Courier New" charset="0"/>
                <a:cs typeface="Courier New" charset="0"/>
              </a:rPr>
              <a:t>	double wage;</a:t>
            </a:r>
            <a:br>
              <a:rPr lang="en-GB" sz="2800" b="1" dirty="0">
                <a:latin typeface="Courier New" charset="0"/>
                <a:cs typeface="Courier New" charset="0"/>
              </a:rPr>
            </a:br>
            <a:r>
              <a:rPr lang="en-GB" sz="2800" b="1" dirty="0">
                <a:latin typeface="Courier New" charset="0"/>
                <a:cs typeface="Courier New" charset="0"/>
              </a:rPr>
              <a:t>	void </a:t>
            </a:r>
            <a:r>
              <a:rPr lang="en-GB" sz="2800" b="1" dirty="0" err="1">
                <a:latin typeface="Courier New" charset="0"/>
                <a:cs typeface="Courier New" charset="0"/>
              </a:rPr>
              <a:t>incrementWage</a:t>
            </a:r>
            <a:r>
              <a:rPr lang="en-GB" sz="2800" b="1" dirty="0">
                <a:latin typeface="Courier New" charset="0"/>
                <a:cs typeface="Courier New" charset="0"/>
              </a:rPr>
              <a:t>(){…}</a:t>
            </a:r>
            <a:br>
              <a:rPr lang="en-GB" sz="2800" b="1" dirty="0">
                <a:latin typeface="Courier New" charset="0"/>
                <a:cs typeface="Courier New" charset="0"/>
              </a:rPr>
            </a:br>
            <a:r>
              <a:rPr lang="en-GB" sz="2800" b="1" dirty="0">
                <a:latin typeface="Courier New" charset="0"/>
                <a:cs typeface="Courier New" charset="0"/>
              </a:rPr>
              <a:t>}</a:t>
            </a:r>
          </a:p>
          <a:p>
            <a:pPr marL="0" indent="0" eaLnBrk="1" hangingPunct="1">
              <a:lnSpc>
                <a:spcPct val="90000"/>
              </a:lnSpc>
              <a:buFont typeface="Wingdings" charset="0"/>
              <a:buNone/>
            </a:pPr>
            <a:r>
              <a:rPr lang="en-GB" sz="2800" b="1" dirty="0">
                <a:latin typeface="Courier New" charset="0"/>
                <a:cs typeface="Courier New" charset="0"/>
              </a:rPr>
              <a:t>class Manager extends Employee{</a:t>
            </a:r>
            <a:br>
              <a:rPr lang="en-GB" sz="2800" b="1" dirty="0">
                <a:latin typeface="Courier New" charset="0"/>
                <a:cs typeface="Courier New" charset="0"/>
              </a:rPr>
            </a:br>
            <a:r>
              <a:rPr lang="en-GB" sz="2800" b="1" dirty="0">
                <a:latin typeface="Courier New" charset="0"/>
                <a:cs typeface="Courier New" charset="0"/>
              </a:rPr>
              <a:t>	String </a:t>
            </a:r>
            <a:r>
              <a:rPr lang="en-GB" sz="2800" b="1" dirty="0" err="1">
                <a:latin typeface="Courier New" charset="0"/>
                <a:cs typeface="Courier New" charset="0"/>
              </a:rPr>
              <a:t>managedUnit</a:t>
            </a:r>
            <a:r>
              <a:rPr lang="en-GB" sz="2800" b="1" dirty="0">
                <a:latin typeface="Courier New" charset="0"/>
                <a:cs typeface="Courier New" charset="0"/>
              </a:rPr>
              <a:t>;</a:t>
            </a:r>
            <a:br>
              <a:rPr lang="en-GB" sz="2800" b="1" dirty="0">
                <a:latin typeface="Courier New" charset="0"/>
                <a:cs typeface="Courier New" charset="0"/>
              </a:rPr>
            </a:br>
            <a:r>
              <a:rPr lang="en-GB" sz="2800" b="1" dirty="0">
                <a:latin typeface="Courier New" charset="0"/>
                <a:cs typeface="Courier New" charset="0"/>
              </a:rPr>
              <a:t>	void </a:t>
            </a:r>
            <a:r>
              <a:rPr lang="en-GB" sz="2800" b="1" dirty="0" err="1">
                <a:latin typeface="Courier New" charset="0"/>
                <a:cs typeface="Courier New" charset="0"/>
              </a:rPr>
              <a:t>changeUnit</a:t>
            </a:r>
            <a:r>
              <a:rPr lang="en-GB" sz="2800" b="1" dirty="0">
                <a:latin typeface="Courier New" charset="0"/>
                <a:cs typeface="Courier New" charset="0"/>
              </a:rPr>
              <a:t>(){…}</a:t>
            </a:r>
            <a:br>
              <a:rPr lang="en-GB" sz="2800" b="1" dirty="0">
                <a:latin typeface="Courier New" charset="0"/>
                <a:cs typeface="Courier New" charset="0"/>
              </a:rPr>
            </a:br>
            <a:r>
              <a:rPr lang="en-GB" sz="2800" b="1" dirty="0">
                <a:latin typeface="Courier New" charset="0"/>
                <a:cs typeface="Courier New" charset="0"/>
              </a:rPr>
              <a:t>}</a:t>
            </a:r>
          </a:p>
          <a:p>
            <a:pPr marL="0" indent="0" eaLnBrk="1" hangingPunct="1">
              <a:lnSpc>
                <a:spcPct val="90000"/>
              </a:lnSpc>
              <a:buFont typeface="Wingdings" charset="0"/>
              <a:buNone/>
            </a:pPr>
            <a:r>
              <a:rPr lang="en-GB" sz="2800" b="1" dirty="0">
                <a:latin typeface="Courier New" charset="0"/>
                <a:cs typeface="Courier New" charset="0"/>
              </a:rPr>
              <a:t>Manager m = new Manager();</a:t>
            </a:r>
            <a:br>
              <a:rPr lang="en-GB" sz="2800" b="1" dirty="0">
                <a:latin typeface="Courier New" charset="0"/>
                <a:cs typeface="Courier New" charset="0"/>
              </a:rPr>
            </a:br>
            <a:r>
              <a:rPr lang="en-GB" sz="2800" b="1" dirty="0" err="1">
                <a:latin typeface="Courier New" charset="0"/>
                <a:cs typeface="Courier New" charset="0"/>
              </a:rPr>
              <a:t>m.incrementWage</a:t>
            </a:r>
            <a:r>
              <a:rPr lang="en-GB" sz="2800" b="1" dirty="0">
                <a:latin typeface="Courier New" charset="0"/>
                <a:cs typeface="Courier New" charset="0"/>
              </a:rPr>
              <a:t>(); </a:t>
            </a:r>
            <a:r>
              <a:rPr lang="en-GB" sz="2800" b="1" dirty="0">
                <a:solidFill>
                  <a:srgbClr val="FF6600"/>
                </a:solidFill>
                <a:latin typeface="Courier New" charset="0"/>
                <a:cs typeface="Courier New" charset="0"/>
              </a:rPr>
              <a:t>// OK, inherited</a:t>
            </a:r>
            <a:endParaRPr lang="en-US" sz="2800" b="1" dirty="0">
              <a:solidFill>
                <a:srgbClr val="FF6600"/>
              </a:solidFill>
              <a:latin typeface="Courier New" charset="0"/>
              <a:cs typeface="Courier New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ded Corner 3"/>
          <p:cNvSpPr/>
          <p:nvPr/>
        </p:nvSpPr>
        <p:spPr bwMode="auto">
          <a:xfrm>
            <a:off x="539750" y="1341438"/>
            <a:ext cx="7488238" cy="2016125"/>
          </a:xfrm>
          <a:prstGeom prst="foldedCorner">
            <a:avLst/>
          </a:prstGeom>
          <a:solidFill>
            <a:srgbClr val="FDEADA"/>
          </a:solidFill>
          <a:ln w="9525" cap="flat" cmpd="sng" algn="ctr">
            <a:solidFill>
              <a:srgbClr val="E46C0A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buFont typeface="Times New Roman" pitchFamily="18" charset="0"/>
              <a:buNone/>
              <a:defRPr/>
            </a:pPr>
            <a:endParaRPr lang="en-US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5" name="Folded Corner 4"/>
          <p:cNvSpPr/>
          <p:nvPr/>
        </p:nvSpPr>
        <p:spPr bwMode="auto">
          <a:xfrm>
            <a:off x="539750" y="3716338"/>
            <a:ext cx="7993063" cy="1800225"/>
          </a:xfrm>
          <a:prstGeom prst="foldedCorner">
            <a:avLst/>
          </a:prstGeom>
          <a:solidFill>
            <a:srgbClr val="FDEADA"/>
          </a:solidFill>
          <a:ln w="9525" cap="flat" cmpd="sng" algn="ctr">
            <a:solidFill>
              <a:srgbClr val="E46C0A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buFont typeface="Times New Roman" pitchFamily="18" charset="0"/>
              <a:buNone/>
              <a:defRPr/>
            </a:pPr>
            <a:endParaRPr lang="en-US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dirty="0" smtClean="0">
                <a:latin typeface="Lucida Sans Unicode" charset="0"/>
                <a:cs typeface="Lucida Sans Unicode" charset="0"/>
              </a:rPr>
              <a:t>Override</a:t>
            </a:r>
            <a:endParaRPr lang="en-US" dirty="0">
              <a:latin typeface="Lucida Sans Unicode" charset="0"/>
              <a:cs typeface="Lucida Sans Unicode" charset="0"/>
            </a:endParaRPr>
          </a:p>
        </p:txBody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Font typeface="Wingdings" charset="0"/>
              <a:buNone/>
            </a:pPr>
            <a:r>
              <a:rPr lang="en-GB" sz="2800" b="1" dirty="0">
                <a:latin typeface="Courier New" charset="0"/>
                <a:cs typeface="Courier New" charset="0"/>
              </a:rPr>
              <a:t>class Vector{</a:t>
            </a:r>
            <a:br>
              <a:rPr lang="en-GB" sz="2800" b="1" dirty="0">
                <a:latin typeface="Courier New" charset="0"/>
                <a:cs typeface="Courier New" charset="0"/>
              </a:rPr>
            </a:br>
            <a:r>
              <a:rPr lang="en-GB" sz="2800" b="1" dirty="0">
                <a:latin typeface="Courier New" charset="0"/>
                <a:cs typeface="Courier New" charset="0"/>
              </a:rPr>
              <a:t>	</a:t>
            </a:r>
            <a:r>
              <a:rPr lang="en-GB" sz="2800" b="1" dirty="0" err="1">
                <a:latin typeface="Courier New" charset="0"/>
                <a:cs typeface="Courier New" charset="0"/>
              </a:rPr>
              <a:t>int</a:t>
            </a:r>
            <a:r>
              <a:rPr lang="en-GB" sz="2800" b="1" dirty="0">
                <a:latin typeface="Courier New" charset="0"/>
                <a:cs typeface="Courier New" charset="0"/>
              </a:rPr>
              <a:t> </a:t>
            </a:r>
            <a:r>
              <a:rPr lang="en-GB" sz="2800" b="1" dirty="0" err="1">
                <a:latin typeface="Courier New" charset="0"/>
                <a:cs typeface="Courier New" charset="0"/>
              </a:rPr>
              <a:t>vect</a:t>
            </a:r>
            <a:r>
              <a:rPr lang="en-GB" sz="2800" b="1" dirty="0">
                <a:latin typeface="Courier New" charset="0"/>
                <a:cs typeface="Courier New" charset="0"/>
              </a:rPr>
              <a:t>[];</a:t>
            </a:r>
            <a:br>
              <a:rPr lang="en-GB" sz="2800" b="1" dirty="0">
                <a:latin typeface="Courier New" charset="0"/>
                <a:cs typeface="Courier New" charset="0"/>
              </a:rPr>
            </a:br>
            <a:r>
              <a:rPr lang="en-GB" sz="2800" b="1" dirty="0">
                <a:latin typeface="Courier New" charset="0"/>
                <a:cs typeface="Courier New" charset="0"/>
              </a:rPr>
              <a:t>	void add(</a:t>
            </a:r>
            <a:r>
              <a:rPr lang="en-GB" sz="2800" b="1" dirty="0" err="1">
                <a:latin typeface="Courier New" charset="0"/>
                <a:cs typeface="Courier New" charset="0"/>
              </a:rPr>
              <a:t>int</a:t>
            </a:r>
            <a:r>
              <a:rPr lang="en-GB" sz="2800" b="1" dirty="0">
                <a:latin typeface="Courier New" charset="0"/>
                <a:cs typeface="Courier New" charset="0"/>
              </a:rPr>
              <a:t> x) {…}</a:t>
            </a:r>
            <a:br>
              <a:rPr lang="en-GB" sz="2800" b="1" dirty="0">
                <a:latin typeface="Courier New" charset="0"/>
                <a:cs typeface="Courier New" charset="0"/>
              </a:rPr>
            </a:br>
            <a:r>
              <a:rPr lang="en-GB" sz="2800" b="1" dirty="0">
                <a:latin typeface="Courier New" charset="0"/>
                <a:cs typeface="Courier New" charset="0"/>
              </a:rPr>
              <a:t>}</a:t>
            </a:r>
          </a:p>
          <a:p>
            <a:pPr marL="0" indent="0" eaLnBrk="1" hangingPunct="1">
              <a:buFont typeface="Wingdings" charset="0"/>
              <a:buNone/>
            </a:pPr>
            <a:endParaRPr lang="en-GB" sz="2800" b="1" dirty="0">
              <a:latin typeface="Courier New" charset="0"/>
              <a:cs typeface="Courier New" charset="0"/>
            </a:endParaRPr>
          </a:p>
          <a:p>
            <a:pPr marL="0" indent="0" eaLnBrk="1" hangingPunct="1">
              <a:buFont typeface="Wingdings" charset="0"/>
              <a:buNone/>
            </a:pPr>
            <a:r>
              <a:rPr lang="en-GB" sz="2800" b="1" dirty="0">
                <a:latin typeface="Courier New" charset="0"/>
                <a:cs typeface="Courier New" charset="0"/>
              </a:rPr>
              <a:t>class </a:t>
            </a:r>
            <a:r>
              <a:rPr lang="en-GB" sz="2800" b="1" dirty="0" err="1">
                <a:latin typeface="Courier New" charset="0"/>
                <a:cs typeface="Courier New" charset="0"/>
              </a:rPr>
              <a:t>OrderedVector</a:t>
            </a:r>
            <a:r>
              <a:rPr lang="en-GB" sz="2800" b="1" dirty="0">
                <a:latin typeface="Courier New" charset="0"/>
                <a:cs typeface="Courier New" charset="0"/>
              </a:rPr>
              <a:t> extends Vector{</a:t>
            </a:r>
            <a:br>
              <a:rPr lang="en-GB" sz="2800" b="1" dirty="0">
                <a:latin typeface="Courier New" charset="0"/>
                <a:cs typeface="Courier New" charset="0"/>
              </a:rPr>
            </a:br>
            <a:r>
              <a:rPr lang="en-GB" sz="2800" b="1" dirty="0">
                <a:latin typeface="Courier New" charset="0"/>
                <a:cs typeface="Courier New" charset="0"/>
              </a:rPr>
              <a:t>	void add(</a:t>
            </a:r>
            <a:r>
              <a:rPr lang="en-GB" sz="2800" b="1" dirty="0" err="1">
                <a:latin typeface="Courier New" charset="0"/>
                <a:cs typeface="Courier New" charset="0"/>
              </a:rPr>
              <a:t>int</a:t>
            </a:r>
            <a:r>
              <a:rPr lang="en-GB" sz="2800" b="1" dirty="0">
                <a:latin typeface="Courier New" charset="0"/>
                <a:cs typeface="Courier New" charset="0"/>
              </a:rPr>
              <a:t> x){…}</a:t>
            </a:r>
            <a:br>
              <a:rPr lang="en-GB" sz="2800" b="1" dirty="0">
                <a:latin typeface="Courier New" charset="0"/>
                <a:cs typeface="Courier New" charset="0"/>
              </a:rPr>
            </a:br>
            <a:r>
              <a:rPr lang="en-GB" sz="2800" b="1" dirty="0">
                <a:latin typeface="Courier New" charset="0"/>
                <a:cs typeface="Courier New" charset="0"/>
              </a:rPr>
              <a:t>}</a:t>
            </a:r>
            <a:endParaRPr lang="en-US" sz="2800" b="1" dirty="0">
              <a:latin typeface="Courier New" charset="0"/>
              <a:cs typeface="Courier New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 bwMode="auto">
          <a:xfrm>
            <a:off x="179512" y="3861048"/>
            <a:ext cx="8424936" cy="24482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lIns="90360" tIns="44280" rIns="90360" bIns="44280" rtlCol="0" anchor="ctr"/>
          <a:lstStyle/>
          <a:p>
            <a:pPr algn="ctr"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200" b="1" dirty="0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2" name="Rectangle 1"/>
          <p:cNvSpPr/>
          <p:nvPr/>
        </p:nvSpPr>
        <p:spPr bwMode="auto">
          <a:xfrm>
            <a:off x="179512" y="1196752"/>
            <a:ext cx="8424936" cy="24482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lIns="90360" tIns="44280" rIns="90360" bIns="44280" rtlCol="0" anchor="ctr"/>
          <a:lstStyle/>
          <a:p>
            <a:pPr algn="ctr"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200" b="1" dirty="0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38913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>
                <a:latin typeface="Lucida Sans Unicode" charset="0"/>
                <a:cs typeface="Lucida Sans Unicode" charset="0"/>
              </a:rPr>
              <a:t>Inheritance and polymorphism</a:t>
            </a:r>
            <a:endParaRPr lang="en-US">
              <a:latin typeface="Lucida Sans Unicode" charset="0"/>
              <a:cs typeface="Lucida Sans Unicode" charset="0"/>
            </a:endParaRPr>
          </a:p>
        </p:txBody>
      </p:sp>
      <p:sp>
        <p:nvSpPr>
          <p:cNvPr id="38914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214313" y="1143000"/>
            <a:ext cx="8553450" cy="5022304"/>
          </a:xfrm>
        </p:spPr>
        <p:txBody>
          <a:bodyPr>
            <a:noAutofit/>
          </a:bodyPr>
          <a:lstStyle/>
          <a:p>
            <a:pPr marL="0" indent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charset="0"/>
              <a:buNone/>
              <a:defRPr/>
            </a:pPr>
            <a:r>
              <a:rPr lang="en-GB" sz="2200" b="1" dirty="0">
                <a:latin typeface="Courier New" charset="0"/>
                <a:cs typeface="Lucida Sans Unicode" charset="0"/>
              </a:rPr>
              <a:t>class Employee{</a:t>
            </a:r>
          </a:p>
          <a:p>
            <a:pPr marL="0" indent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charset="0"/>
              <a:buNone/>
              <a:defRPr/>
            </a:pPr>
            <a:r>
              <a:rPr lang="en-GB" sz="2200" b="1" dirty="0">
                <a:latin typeface="Courier New" charset="0"/>
                <a:cs typeface="Lucida Sans Unicode" charset="0"/>
              </a:rPr>
              <a:t> private String name;</a:t>
            </a:r>
          </a:p>
          <a:p>
            <a:pPr marL="0" indent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charset="0"/>
              <a:buNone/>
              <a:defRPr/>
            </a:pPr>
            <a:r>
              <a:rPr lang="en-GB" sz="2200" b="1" dirty="0">
                <a:latin typeface="Courier New" charset="0"/>
                <a:cs typeface="Lucida Sans Unicode" charset="0"/>
              </a:rPr>
              <a:t> public void </a:t>
            </a:r>
            <a:r>
              <a:rPr lang="en-GB" sz="2200" b="1" dirty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print</a:t>
            </a:r>
            <a:r>
              <a:rPr lang="en-GB" sz="2200" b="1" dirty="0">
                <a:latin typeface="Courier New" charset="0"/>
                <a:cs typeface="Lucida Sans Unicode" charset="0"/>
              </a:rPr>
              <a:t>(){ </a:t>
            </a:r>
            <a:br>
              <a:rPr lang="en-GB" sz="2200" b="1" dirty="0">
                <a:latin typeface="Courier New" charset="0"/>
                <a:cs typeface="Lucida Sans Unicode" charset="0"/>
              </a:rPr>
            </a:br>
            <a:r>
              <a:rPr lang="en-GB" sz="2200" b="1" dirty="0" smtClean="0">
                <a:latin typeface="Courier New" charset="0"/>
                <a:cs typeface="Lucida Sans Unicode" charset="0"/>
              </a:rPr>
              <a:t>   </a:t>
            </a:r>
            <a:r>
              <a:rPr lang="en-GB" sz="2200" b="1" dirty="0" err="1" smtClean="0">
                <a:latin typeface="Courier New" charset="0"/>
                <a:cs typeface="Lucida Sans Unicode" charset="0"/>
              </a:rPr>
              <a:t>System.out.println</a:t>
            </a:r>
            <a:r>
              <a:rPr lang="en-GB" sz="2200" b="1" dirty="0" smtClean="0">
                <a:latin typeface="Courier New" charset="0"/>
                <a:cs typeface="Lucida Sans Unicode" charset="0"/>
              </a:rPr>
              <a:t>(</a:t>
            </a:r>
          </a:p>
          <a:p>
            <a:pPr marL="0" indent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charset="0"/>
              <a:buNone/>
              <a:defRPr/>
            </a:pPr>
            <a:r>
              <a:rPr lang="en-GB" sz="2200" b="1" dirty="0">
                <a:latin typeface="Courier New" charset="0"/>
                <a:cs typeface="Lucida Sans Unicode" charset="0"/>
              </a:rPr>
              <a:t>	</a:t>
            </a:r>
            <a:r>
              <a:rPr lang="en-GB" sz="2200" b="1" dirty="0" smtClean="0">
                <a:latin typeface="Courier New" charset="0"/>
                <a:cs typeface="Lucida Sans Unicode" charset="0"/>
              </a:rPr>
              <a:t>						name</a:t>
            </a:r>
            <a:r>
              <a:rPr lang="en-GB" sz="2200" b="1" dirty="0">
                <a:latin typeface="Courier New" charset="0"/>
                <a:cs typeface="Lucida Sans Unicode" charset="0"/>
              </a:rPr>
              <a:t>); </a:t>
            </a:r>
          </a:p>
          <a:p>
            <a:pPr marL="0" indent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charset="0"/>
              <a:buNone/>
              <a:defRPr/>
            </a:pPr>
            <a:r>
              <a:rPr lang="en-GB" sz="2200" b="1" dirty="0">
                <a:latin typeface="Courier New" charset="0"/>
                <a:cs typeface="Lucida Sans Unicode" charset="0"/>
              </a:rPr>
              <a:t> }</a:t>
            </a:r>
          </a:p>
          <a:p>
            <a:pPr marL="0" indent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charset="0"/>
              <a:buNone/>
              <a:defRPr/>
            </a:pPr>
            <a:r>
              <a:rPr lang="en-GB" sz="2200" b="1" dirty="0" smtClean="0">
                <a:latin typeface="Courier New" charset="0"/>
                <a:cs typeface="Lucida Sans Unicode" charset="0"/>
              </a:rPr>
              <a:t>}</a:t>
            </a:r>
          </a:p>
          <a:p>
            <a:pPr marL="0" indent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charset="0"/>
              <a:buNone/>
              <a:defRPr/>
            </a:pPr>
            <a:endParaRPr lang="en-GB" sz="2200" b="1" dirty="0">
              <a:latin typeface="Courier New" charset="0"/>
              <a:cs typeface="Lucida Sans Unicode" charset="0"/>
            </a:endParaRPr>
          </a:p>
          <a:p>
            <a:pPr marL="0" indent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charset="0"/>
              <a:buNone/>
              <a:defRPr/>
            </a:pPr>
            <a:r>
              <a:rPr lang="en-GB" sz="2200" b="1" dirty="0">
                <a:latin typeface="Courier New" charset="0"/>
                <a:cs typeface="Lucida Sans Unicode" charset="0"/>
              </a:rPr>
              <a:t>class Manager </a:t>
            </a:r>
            <a:r>
              <a:rPr lang="en-GB" sz="2200" b="1" dirty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extends</a:t>
            </a:r>
            <a:r>
              <a:rPr lang="en-GB" sz="2200" b="1" dirty="0">
                <a:latin typeface="Courier New" charset="0"/>
                <a:cs typeface="Lucida Sans Unicode" charset="0"/>
              </a:rPr>
              <a:t> Employee{</a:t>
            </a:r>
            <a:br>
              <a:rPr lang="en-GB" sz="2200" b="1" dirty="0">
                <a:latin typeface="Courier New" charset="0"/>
                <a:cs typeface="Lucida Sans Unicode" charset="0"/>
              </a:rPr>
            </a:br>
            <a:r>
              <a:rPr lang="en-GB" sz="2200" b="1" dirty="0" smtClean="0">
                <a:latin typeface="Courier New" charset="0"/>
                <a:cs typeface="Lucida Sans Unicode" charset="0"/>
              </a:rPr>
              <a:t>  private </a:t>
            </a:r>
            <a:r>
              <a:rPr lang="en-GB" sz="2200" b="1" dirty="0">
                <a:latin typeface="Courier New" charset="0"/>
                <a:cs typeface="Lucida Sans Unicode" charset="0"/>
              </a:rPr>
              <a:t>String </a:t>
            </a:r>
            <a:r>
              <a:rPr lang="en-GB" sz="2200" b="1" dirty="0" err="1">
                <a:latin typeface="Courier New" charset="0"/>
                <a:cs typeface="Lucida Sans Unicode" charset="0"/>
              </a:rPr>
              <a:t>managedUnit</a:t>
            </a:r>
            <a:r>
              <a:rPr lang="en-GB" sz="2200" b="1" dirty="0" smtClean="0">
                <a:latin typeface="Courier New" charset="0"/>
                <a:cs typeface="Lucida Sans Unicode" charset="0"/>
              </a:rPr>
              <a:t>;</a:t>
            </a:r>
          </a:p>
          <a:p>
            <a:pPr marL="0" indent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charset="0"/>
              <a:buNone/>
              <a:defRPr/>
            </a:pPr>
            <a:r>
              <a:rPr lang="en-GB" sz="2200" b="1" dirty="0">
                <a:latin typeface="Courier New" charset="0"/>
                <a:cs typeface="Lucida Sans Unicode" charset="0"/>
              </a:rPr>
              <a:t> </a:t>
            </a:r>
            <a:r>
              <a:rPr lang="en-GB" sz="2200" b="1" dirty="0" smtClean="0">
                <a:latin typeface="Courier New" charset="0"/>
                <a:cs typeface="Lucida Sans Unicode" charset="0"/>
              </a:rPr>
              <a:t>   public </a:t>
            </a:r>
            <a:r>
              <a:rPr lang="en-GB" sz="2200" b="1" dirty="0">
                <a:latin typeface="Courier New" charset="0"/>
                <a:cs typeface="Lucida Sans Unicode" charset="0"/>
              </a:rPr>
              <a:t>void </a:t>
            </a:r>
            <a:r>
              <a:rPr lang="en-GB" sz="2200" b="1" dirty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print</a:t>
            </a:r>
            <a:r>
              <a:rPr lang="en-GB" sz="2200" b="1" dirty="0">
                <a:latin typeface="Courier New" charset="0"/>
                <a:cs typeface="Lucida Sans Unicode" charset="0"/>
              </a:rPr>
              <a:t>(){ </a:t>
            </a:r>
            <a:r>
              <a:rPr lang="en-GB" sz="2200" b="1" dirty="0">
                <a:solidFill>
                  <a:schemeClr val="accent2"/>
                </a:solidFill>
                <a:latin typeface="Courier New" charset="0"/>
                <a:cs typeface="Lucida Sans Unicode" charset="0"/>
              </a:rPr>
              <a:t>//</a:t>
            </a:r>
            <a:r>
              <a:rPr lang="en-GB" sz="2200" b="1" dirty="0" smtClean="0">
                <a:solidFill>
                  <a:schemeClr val="accent2"/>
                </a:solidFill>
                <a:latin typeface="Courier New" charset="0"/>
                <a:cs typeface="Lucida Sans Unicode" charset="0"/>
              </a:rPr>
              <a:t>override</a:t>
            </a:r>
            <a:r>
              <a:rPr lang="en-GB" sz="2200" b="1" dirty="0">
                <a:latin typeface="Courier New" charset="0"/>
                <a:cs typeface="Lucida Sans Unicode" charset="0"/>
              </a:rPr>
              <a:t/>
            </a:r>
            <a:br>
              <a:rPr lang="en-GB" sz="2200" b="1" dirty="0">
                <a:latin typeface="Courier New" charset="0"/>
                <a:cs typeface="Lucida Sans Unicode" charset="0"/>
              </a:rPr>
            </a:br>
            <a:r>
              <a:rPr lang="en-GB" sz="2200" b="1" dirty="0">
                <a:latin typeface="Courier New" charset="0"/>
                <a:cs typeface="Lucida Sans Unicode" charset="0"/>
              </a:rPr>
              <a:t> </a:t>
            </a:r>
            <a:r>
              <a:rPr lang="en-GB" sz="2200" b="1" dirty="0" smtClean="0">
                <a:latin typeface="Courier New" charset="0"/>
                <a:cs typeface="Lucida Sans Unicode" charset="0"/>
              </a:rPr>
              <a:t>   </a:t>
            </a:r>
            <a:r>
              <a:rPr lang="en-GB" sz="2200" b="1" dirty="0" err="1">
                <a:latin typeface="Courier New" charset="0"/>
                <a:cs typeface="Lucida Sans Unicode" charset="0"/>
              </a:rPr>
              <a:t>System.out.println</a:t>
            </a:r>
            <a:r>
              <a:rPr lang="en-GB" sz="2200" b="1" dirty="0">
                <a:latin typeface="Courier New" charset="0"/>
                <a:cs typeface="Lucida Sans Unicode" charset="0"/>
              </a:rPr>
              <a:t>(name); //un-optimized!</a:t>
            </a:r>
            <a:br>
              <a:rPr lang="en-GB" sz="2200" b="1" dirty="0">
                <a:latin typeface="Courier New" charset="0"/>
                <a:cs typeface="Lucida Sans Unicode" charset="0"/>
              </a:rPr>
            </a:br>
            <a:r>
              <a:rPr lang="en-GB" sz="2200" b="1" dirty="0">
                <a:latin typeface="Courier New" charset="0"/>
                <a:cs typeface="Lucida Sans Unicode" charset="0"/>
              </a:rPr>
              <a:t>  </a:t>
            </a:r>
            <a:r>
              <a:rPr lang="en-GB" sz="2200" b="1" dirty="0" smtClean="0">
                <a:latin typeface="Courier New" charset="0"/>
                <a:cs typeface="Lucida Sans Unicode" charset="0"/>
              </a:rPr>
              <a:t>  </a:t>
            </a:r>
            <a:r>
              <a:rPr lang="en-GB" sz="2200" b="1" dirty="0" err="1" smtClean="0">
                <a:latin typeface="Courier New" charset="0"/>
                <a:cs typeface="Lucida Sans Unicode" charset="0"/>
              </a:rPr>
              <a:t>System.out.println</a:t>
            </a:r>
            <a:r>
              <a:rPr lang="en-GB" sz="2200" b="1" dirty="0">
                <a:latin typeface="Courier New" charset="0"/>
                <a:cs typeface="Lucida Sans Unicode" charset="0"/>
              </a:rPr>
              <a:t>(</a:t>
            </a:r>
            <a:r>
              <a:rPr lang="en-GB" sz="2200" b="1" dirty="0" err="1">
                <a:latin typeface="Courier New" charset="0"/>
                <a:cs typeface="Lucida Sans Unicode" charset="0"/>
              </a:rPr>
              <a:t>managedUnit</a:t>
            </a:r>
            <a:r>
              <a:rPr lang="en-GB" sz="2200" b="1" dirty="0">
                <a:latin typeface="Courier New" charset="0"/>
                <a:cs typeface="Lucida Sans Unicode" charset="0"/>
              </a:rPr>
              <a:t>);</a:t>
            </a:r>
            <a:br>
              <a:rPr lang="en-GB" sz="2200" b="1" dirty="0">
                <a:latin typeface="Courier New" charset="0"/>
                <a:cs typeface="Lucida Sans Unicode" charset="0"/>
              </a:rPr>
            </a:br>
            <a:r>
              <a:rPr lang="en-GB" sz="2200" b="1" dirty="0" smtClean="0">
                <a:latin typeface="Courier New" charset="0"/>
                <a:cs typeface="Lucida Sans Unicode" charset="0"/>
              </a:rPr>
              <a:t>  }</a:t>
            </a:r>
            <a:endParaRPr lang="en-GB" sz="2200" b="1" dirty="0">
              <a:latin typeface="Courier New" charset="0"/>
              <a:cs typeface="Lucida Sans Unicode" charset="0"/>
            </a:endParaRPr>
          </a:p>
          <a:p>
            <a:pPr marL="0" indent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charset="0"/>
              <a:buNone/>
              <a:defRPr/>
            </a:pPr>
            <a:r>
              <a:rPr lang="en-GB" sz="2200" b="1" dirty="0">
                <a:latin typeface="Courier New" charset="0"/>
                <a:cs typeface="Lucida Sans Unicode" charset="0"/>
              </a:rPr>
              <a:t>}</a:t>
            </a:r>
            <a:endParaRPr lang="en-US" sz="2200" b="1" dirty="0">
              <a:solidFill>
                <a:srgbClr val="FF6600"/>
              </a:solidFill>
              <a:latin typeface="Lucida Sans Unicode" charset="0"/>
              <a:cs typeface="Lucida Sans Unicode" charset="0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 bwMode="auto">
          <a:xfrm>
            <a:off x="4716016" y="1196752"/>
            <a:ext cx="4320480" cy="165618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accent4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342900" indent="-3429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>
              <a:spcBef>
                <a:spcPct val="20000"/>
              </a:spcBef>
              <a:spcAft>
                <a:spcPct val="5000"/>
              </a:spcAft>
            </a:pPr>
            <a:r>
              <a:rPr lang="en-GB" sz="2000" b="1" dirty="0">
                <a:solidFill>
                  <a:schemeClr val="tx1"/>
                </a:solidFill>
                <a:latin typeface="Courier New" charset="0"/>
              </a:rPr>
              <a:t>Employee </a:t>
            </a:r>
            <a:r>
              <a:rPr lang="en-GB" sz="2000" b="1" dirty="0" smtClean="0">
                <a:solidFill>
                  <a:schemeClr val="tx1"/>
                </a:solidFill>
                <a:latin typeface="Courier New" charset="0"/>
              </a:rPr>
              <a:t>e1=new </a:t>
            </a:r>
            <a:r>
              <a:rPr lang="en-GB" sz="2000" b="1" dirty="0">
                <a:solidFill>
                  <a:schemeClr val="tx1"/>
                </a:solidFill>
                <a:latin typeface="Courier New" charset="0"/>
              </a:rPr>
              <a:t>Employee();</a:t>
            </a:r>
          </a:p>
          <a:p>
            <a:pPr>
              <a:spcBef>
                <a:spcPct val="20000"/>
              </a:spcBef>
              <a:spcAft>
                <a:spcPct val="5000"/>
              </a:spcAft>
            </a:pPr>
            <a:r>
              <a:rPr lang="en-GB" sz="2000" b="1" dirty="0">
                <a:solidFill>
                  <a:schemeClr val="tx1"/>
                </a:solidFill>
                <a:latin typeface="Courier New" charset="0"/>
              </a:rPr>
              <a:t>Employee </a:t>
            </a:r>
            <a:r>
              <a:rPr lang="en-GB" sz="2000" b="1" dirty="0" smtClean="0">
                <a:solidFill>
                  <a:schemeClr val="tx1"/>
                </a:solidFill>
                <a:latin typeface="Courier New" charset="0"/>
              </a:rPr>
              <a:t>e2=new </a:t>
            </a:r>
            <a:r>
              <a:rPr lang="en-GB" sz="2000" b="1" dirty="0">
                <a:solidFill>
                  <a:schemeClr val="tx1"/>
                </a:solidFill>
                <a:latin typeface="Courier New" charset="0"/>
              </a:rPr>
              <a:t>Manager(); </a:t>
            </a:r>
          </a:p>
          <a:p>
            <a:pPr>
              <a:spcBef>
                <a:spcPct val="20000"/>
              </a:spcBef>
              <a:spcAft>
                <a:spcPct val="5000"/>
              </a:spcAft>
            </a:pPr>
            <a:r>
              <a:rPr lang="en-GB" sz="2000" b="1" dirty="0">
                <a:solidFill>
                  <a:schemeClr val="tx1"/>
                </a:solidFill>
                <a:latin typeface="Courier New" charset="0"/>
              </a:rPr>
              <a:t>e1.print(); // name</a:t>
            </a:r>
          </a:p>
          <a:p>
            <a:pPr>
              <a:spcBef>
                <a:spcPct val="20000"/>
              </a:spcBef>
              <a:spcAft>
                <a:spcPct val="5000"/>
              </a:spcAft>
            </a:pPr>
            <a:r>
              <a:rPr lang="en-GB" sz="2000" b="1" dirty="0">
                <a:solidFill>
                  <a:schemeClr val="tx1"/>
                </a:solidFill>
                <a:latin typeface="Courier New" charset="0"/>
              </a:rPr>
              <a:t>e2.print(); // </a:t>
            </a:r>
            <a:r>
              <a:rPr lang="en-GB" sz="2000" b="1" dirty="0">
                <a:solidFill>
                  <a:srgbClr val="FF6600"/>
                </a:solidFill>
                <a:latin typeface="Courier New" charset="0"/>
              </a:rPr>
              <a:t>name </a:t>
            </a:r>
            <a:r>
              <a:rPr lang="en-GB" sz="2000" b="1" dirty="0" smtClean="0">
                <a:solidFill>
                  <a:srgbClr val="FF6600"/>
                </a:solidFill>
                <a:latin typeface="Courier New" charset="0"/>
              </a:rPr>
              <a:t>+ unit</a:t>
            </a:r>
            <a:endParaRPr lang="en-US" sz="2000" b="1" dirty="0">
              <a:solidFill>
                <a:srgbClr val="FF6600"/>
              </a:solidFill>
              <a:latin typeface="Courier New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179512" y="1700808"/>
            <a:ext cx="8424936" cy="21602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lIns="90360" tIns="44280" rIns="90360" bIns="44280" rtlCol="0" anchor="ctr"/>
          <a:lstStyle/>
          <a:p>
            <a:pPr algn="ctr"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200" b="1" dirty="0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40961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>
                <a:latin typeface="Lucida Sans Unicode" charset="0"/>
                <a:cs typeface="Lucida Sans Unicode" charset="0"/>
              </a:rPr>
              <a:t>Inheritance and polymorphism</a:t>
            </a:r>
            <a:endParaRPr lang="en-US">
              <a:latin typeface="Lucida Sans Unicode" charset="0"/>
              <a:cs typeface="Lucida Sans Unicode" charset="0"/>
            </a:endParaRPr>
          </a:p>
        </p:txBody>
      </p:sp>
      <p:sp>
        <p:nvSpPr>
          <p:cNvPr id="40962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Font typeface="Wingdings" charset="0"/>
              <a:buNone/>
            </a:pPr>
            <a:endParaRPr lang="en-GB" sz="2400" b="1" dirty="0">
              <a:latin typeface="Courier New" charset="0"/>
              <a:cs typeface="Lucida Sans Unicode" charset="0"/>
            </a:endParaRPr>
          </a:p>
          <a:p>
            <a:pPr marL="0" indent="0" eaLnBrk="1" hangingPunct="1">
              <a:buFont typeface="Wingdings" charset="0"/>
              <a:buNone/>
            </a:pPr>
            <a:r>
              <a:rPr lang="en-GB" sz="2400" b="1" dirty="0">
                <a:latin typeface="Courier New" charset="0"/>
                <a:cs typeface="Lucida Sans Unicode" charset="0"/>
              </a:rPr>
              <a:t>Employee e1 = new Employee();</a:t>
            </a:r>
          </a:p>
          <a:p>
            <a:pPr marL="0" indent="0" eaLnBrk="1" hangingPunct="1">
              <a:buFont typeface="Wingdings" charset="0"/>
              <a:buNone/>
            </a:pPr>
            <a:r>
              <a:rPr lang="en-GB" sz="2400" b="1" dirty="0">
                <a:latin typeface="Courier New" charset="0"/>
                <a:cs typeface="Lucida Sans Unicode" charset="0"/>
              </a:rPr>
              <a:t>Employee e2 = new Manager(); //ok, </a:t>
            </a:r>
            <a:r>
              <a:rPr lang="en-GB" sz="2400" b="1" dirty="0" err="1">
                <a:latin typeface="Courier New" charset="0"/>
                <a:cs typeface="Lucida Sans Unicode" charset="0"/>
              </a:rPr>
              <a:t>is_a</a:t>
            </a:r>
            <a:endParaRPr lang="en-GB" sz="2400" b="1" dirty="0">
              <a:latin typeface="Courier New" charset="0"/>
              <a:cs typeface="Lucida Sans Unicode" charset="0"/>
            </a:endParaRPr>
          </a:p>
          <a:p>
            <a:pPr marL="0" indent="0" eaLnBrk="1" hangingPunct="1">
              <a:buFont typeface="Wingdings" charset="0"/>
              <a:buNone/>
            </a:pPr>
            <a:r>
              <a:rPr lang="en-GB" sz="2400" b="1" dirty="0">
                <a:latin typeface="Courier New" charset="0"/>
                <a:cs typeface="Lucida Sans Unicode" charset="0"/>
              </a:rPr>
              <a:t>e1.print(); </a:t>
            </a:r>
            <a:r>
              <a:rPr lang="en-GB" sz="2400" b="1" dirty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// name</a:t>
            </a:r>
          </a:p>
          <a:p>
            <a:pPr marL="0" indent="0" eaLnBrk="1" hangingPunct="1">
              <a:buFont typeface="Wingdings" charset="0"/>
              <a:buNone/>
            </a:pPr>
            <a:r>
              <a:rPr lang="en-GB" sz="2400" b="1" dirty="0">
                <a:latin typeface="Courier New" charset="0"/>
                <a:cs typeface="Lucida Sans Unicode" charset="0"/>
              </a:rPr>
              <a:t>e2.print(); </a:t>
            </a:r>
            <a:r>
              <a:rPr lang="en-GB" sz="2400" b="1" dirty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// name and unit</a:t>
            </a:r>
            <a:endParaRPr lang="en-US" sz="2400" b="1" dirty="0">
              <a:solidFill>
                <a:srgbClr val="FF6600"/>
              </a:solidFill>
              <a:latin typeface="Courier New" charset="0"/>
              <a:cs typeface="Lucida Sans Unicode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Lucida Sans Unicode" charset="0"/>
                <a:cs typeface="Lucida Sans Unicode" charset="0"/>
              </a:rPr>
              <a:t>Why </a:t>
            </a:r>
            <a:r>
              <a:rPr lang="en-GB" dirty="0" err="1" smtClean="0">
                <a:latin typeface="Lucida Sans Unicode" charset="0"/>
                <a:cs typeface="Lucida Sans Unicode" charset="0"/>
              </a:rPr>
              <a:t>i</a:t>
            </a:r>
            <a:r>
              <a:rPr lang="en-US" dirty="0" err="1" smtClean="0">
                <a:latin typeface="Lucida Sans Unicode" charset="0"/>
                <a:cs typeface="Lucida Sans Unicode" charset="0"/>
              </a:rPr>
              <a:t>nheritance</a:t>
            </a:r>
            <a:r>
              <a:rPr lang="en-US" dirty="0" smtClean="0">
                <a:latin typeface="Lucida Sans Unicode" charset="0"/>
                <a:cs typeface="Lucida Sans Unicode" charset="0"/>
              </a:rPr>
              <a:t> - Reuse</a:t>
            </a:r>
            <a:endParaRPr lang="en-US" dirty="0">
              <a:latin typeface="Lucida Sans Unicode" charset="0"/>
              <a:cs typeface="Lucida Sans Unicode" charset="0"/>
            </a:endParaRPr>
          </a:p>
        </p:txBody>
      </p:sp>
      <p:sp>
        <p:nvSpPr>
          <p:cNvPr id="4301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800" dirty="0">
                <a:latin typeface="Lucida Sans Unicode" charset="0"/>
                <a:cs typeface="Times New Roman" charset="0"/>
              </a:rPr>
              <a:t>Frequently, a class is </a:t>
            </a:r>
            <a:r>
              <a:rPr lang="en-US" sz="2800" dirty="0" smtClean="0">
                <a:latin typeface="Lucida Sans Unicode" charset="0"/>
                <a:cs typeface="Times New Roman" charset="0"/>
              </a:rPr>
              <a:t>merely </a:t>
            </a:r>
            <a:r>
              <a:rPr lang="en-US" sz="2800" dirty="0">
                <a:latin typeface="Lucida Sans Unicode" charset="0"/>
                <a:cs typeface="Times New Roman" charset="0"/>
              </a:rPr>
              <a:t>a modification of another </a:t>
            </a:r>
            <a:r>
              <a:rPr lang="en-US" sz="2800" dirty="0" smtClean="0">
                <a:latin typeface="Lucida Sans Unicode" charset="0"/>
                <a:cs typeface="Times New Roman" charset="0"/>
              </a:rPr>
              <a:t>class. Inheritance minimizes the repetition </a:t>
            </a:r>
            <a:r>
              <a:rPr lang="en-US" sz="2800" dirty="0">
                <a:latin typeface="Lucida Sans Unicode" charset="0"/>
                <a:cs typeface="Times New Roman" charset="0"/>
              </a:rPr>
              <a:t>of the same code</a:t>
            </a:r>
            <a:endParaRPr lang="en-GB" sz="2800" dirty="0">
              <a:latin typeface="Lucida Sans Unicode" charset="0"/>
              <a:cs typeface="Times New Roman" charset="0"/>
            </a:endParaRPr>
          </a:p>
          <a:p>
            <a:pPr eaLnBrk="1" hangingPunct="1"/>
            <a:r>
              <a:rPr lang="en-GB" sz="2800" dirty="0">
                <a:latin typeface="Lucida Sans Unicode" charset="0"/>
                <a:cs typeface="Times New Roman" charset="0"/>
              </a:rPr>
              <a:t>Localization of code</a:t>
            </a:r>
            <a:r>
              <a:rPr lang="en-US" sz="2800" dirty="0">
                <a:latin typeface="Lucida Sans Unicode" charset="0"/>
                <a:cs typeface="Times New Roman" charset="0"/>
              </a:rPr>
              <a:t> </a:t>
            </a:r>
            <a:endParaRPr lang="en-US" sz="2800" dirty="0">
              <a:latin typeface="Lucida Sans Unicode" charset="0"/>
              <a:cs typeface="Lucida Sans Unicode" charset="0"/>
            </a:endParaRPr>
          </a:p>
          <a:p>
            <a:pPr lvl="1" eaLnBrk="1" hangingPunct="1"/>
            <a:r>
              <a:rPr lang="en-US" sz="2400" dirty="0">
                <a:latin typeface="Lucida Sans Unicode" charset="0"/>
                <a:ea typeface="ＭＳ Ｐゴシック" charset="0"/>
                <a:cs typeface="ＭＳ Ｐゴシック" charset="0"/>
              </a:rPr>
              <a:t>Fixing a bug in the base class automatically fixes it in </a:t>
            </a:r>
            <a:r>
              <a:rPr lang="en-US" sz="2400" dirty="0" smtClean="0">
                <a:latin typeface="Lucida Sans Unicode" charset="0"/>
                <a:ea typeface="ＭＳ Ｐゴシック" charset="0"/>
                <a:cs typeface="ＭＳ Ｐゴシック" charset="0"/>
              </a:rPr>
              <a:t>all the </a:t>
            </a:r>
            <a:r>
              <a:rPr lang="en-US" sz="2400" dirty="0">
                <a:latin typeface="Lucida Sans Unicode" charset="0"/>
                <a:ea typeface="ＭＳ Ｐゴシック" charset="0"/>
                <a:cs typeface="ＭＳ Ｐゴシック" charset="0"/>
              </a:rPr>
              <a:t>subclasses </a:t>
            </a:r>
          </a:p>
          <a:p>
            <a:pPr lvl="1" eaLnBrk="1" hangingPunct="1"/>
            <a:r>
              <a:rPr lang="en-US" sz="2400" dirty="0">
                <a:latin typeface="Lucida Sans Unicode" charset="0"/>
                <a:ea typeface="ＭＳ Ｐゴシック" charset="0"/>
                <a:cs typeface="ＭＳ Ｐゴシック" charset="0"/>
              </a:rPr>
              <a:t>Adding </a:t>
            </a:r>
            <a:r>
              <a:rPr lang="en-US" sz="2400" dirty="0" smtClean="0">
                <a:latin typeface="Lucida Sans Unicode" charset="0"/>
                <a:ea typeface="ＭＳ Ｐゴシック" charset="0"/>
                <a:cs typeface="ＭＳ Ｐゴシック" charset="0"/>
              </a:rPr>
              <a:t>a new functionality </a:t>
            </a:r>
            <a:r>
              <a:rPr lang="en-US" sz="2400" dirty="0">
                <a:latin typeface="Lucida Sans Unicode" charset="0"/>
                <a:ea typeface="ＭＳ Ｐゴシック" charset="0"/>
                <a:cs typeface="ＭＳ Ｐゴシック" charset="0"/>
              </a:rPr>
              <a:t>in the base class automatically adds it in the </a:t>
            </a:r>
            <a:r>
              <a:rPr lang="en-US" sz="2400" dirty="0" smtClean="0">
                <a:latin typeface="Lucida Sans Unicode" charset="0"/>
                <a:ea typeface="ＭＳ Ｐゴシック" charset="0"/>
                <a:cs typeface="ＭＳ Ｐゴシック" charset="0"/>
              </a:rPr>
              <a:t>subclasses too</a:t>
            </a:r>
            <a:endParaRPr lang="en-GB" sz="2400" dirty="0">
              <a:latin typeface="Lucida Sans Unicode" charset="0"/>
              <a:ea typeface="ＭＳ Ｐゴシック" charset="0"/>
              <a:cs typeface="ＭＳ Ｐゴシック" charset="0"/>
            </a:endParaRPr>
          </a:p>
          <a:p>
            <a:pPr lvl="1" eaLnBrk="1" hangingPunct="1"/>
            <a:r>
              <a:rPr lang="en-GB" sz="2400" dirty="0" smtClean="0">
                <a:latin typeface="Lucida Sans Unicode" charset="0"/>
                <a:ea typeface="ＭＳ Ｐゴシック" charset="0"/>
                <a:cs typeface="ＭＳ Ｐゴシック" charset="0"/>
              </a:rPr>
              <a:t>L</a:t>
            </a:r>
            <a:r>
              <a:rPr lang="en-US" sz="2400" dirty="0" err="1" smtClean="0">
                <a:latin typeface="Lucida Sans Unicode" charset="0"/>
                <a:ea typeface="ＭＳ Ｐゴシック" charset="0"/>
                <a:cs typeface="ＭＳ Ｐゴシック" charset="0"/>
              </a:rPr>
              <a:t>ess</a:t>
            </a:r>
            <a:r>
              <a:rPr lang="en-US" sz="2400" dirty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400" dirty="0" smtClean="0">
                <a:latin typeface="Lucida Sans Unicode" charset="0"/>
                <a:ea typeface="ＭＳ Ｐゴシック" charset="0"/>
                <a:cs typeface="ＭＳ Ｐゴシック" charset="0"/>
              </a:rPr>
              <a:t>chance</a:t>
            </a:r>
            <a:r>
              <a:rPr lang="en-GB" sz="2400" dirty="0" smtClean="0">
                <a:latin typeface="Lucida Sans Unicode" charset="0"/>
                <a:ea typeface="ＭＳ Ｐゴシック" charset="0"/>
                <a:cs typeface="ＭＳ Ｐゴシック" charset="0"/>
              </a:rPr>
              <a:t>s</a:t>
            </a:r>
            <a:r>
              <a:rPr lang="en-US" sz="2400" dirty="0" smtClean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400" dirty="0">
                <a:latin typeface="Lucida Sans Unicode" charset="0"/>
                <a:ea typeface="ＭＳ Ｐゴシック" charset="0"/>
                <a:cs typeface="ＭＳ Ｐゴシック" charset="0"/>
              </a:rPr>
              <a:t>of different (and inconsistent) implementations of the same operation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</a:t>
            </a:r>
            <a:r>
              <a:rPr lang="en-GB" dirty="0" err="1" smtClean="0"/>
              <a:t>i</a:t>
            </a:r>
            <a:r>
              <a:rPr lang="en-US" dirty="0" err="1" smtClean="0"/>
              <a:t>nheritance</a:t>
            </a:r>
            <a:r>
              <a:rPr lang="en-US" dirty="0" smtClean="0"/>
              <a:t> - Flexibility</a:t>
            </a:r>
            <a:endParaRPr lang="en-US" dirty="0"/>
          </a:p>
        </p:txBody>
      </p:sp>
      <p:sp>
        <p:nvSpPr>
          <p:cNvPr id="4301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 smtClean="0"/>
              <a:t>Often</a:t>
            </a:r>
            <a:r>
              <a:rPr lang="it-IT" dirty="0" smtClean="0"/>
              <a:t> </a:t>
            </a:r>
            <a:r>
              <a:rPr lang="it-IT" dirty="0" err="1" smtClean="0"/>
              <a:t>we</a:t>
            </a:r>
            <a:r>
              <a:rPr lang="it-IT" dirty="0" smtClean="0"/>
              <a:t> </a:t>
            </a:r>
            <a:r>
              <a:rPr lang="it-IT" dirty="0" err="1" smtClean="0"/>
              <a:t>need</a:t>
            </a:r>
            <a:r>
              <a:rPr lang="it-IT" dirty="0" smtClean="0"/>
              <a:t> to </a:t>
            </a:r>
            <a:r>
              <a:rPr lang="it-IT" dirty="0" err="1" smtClean="0"/>
              <a:t>treat</a:t>
            </a:r>
            <a:r>
              <a:rPr lang="it-IT" dirty="0" smtClean="0"/>
              <a:t> </a:t>
            </a:r>
            <a:r>
              <a:rPr lang="it-IT" dirty="0" err="1"/>
              <a:t>different</a:t>
            </a:r>
            <a:r>
              <a:rPr lang="it-IT" dirty="0"/>
              <a:t> </a:t>
            </a:r>
            <a:r>
              <a:rPr lang="it-IT" dirty="0" err="1" smtClean="0"/>
              <a:t>objects</a:t>
            </a:r>
            <a:r>
              <a:rPr lang="it-IT" dirty="0" smtClean="0"/>
              <a:t> in a </a:t>
            </a:r>
            <a:r>
              <a:rPr lang="it-IT" dirty="0" err="1" smtClean="0"/>
              <a:t>similar</a:t>
            </a:r>
            <a:r>
              <a:rPr lang="it-IT" dirty="0" smtClean="0"/>
              <a:t> way </a:t>
            </a:r>
          </a:p>
          <a:p>
            <a:pPr lvl="1"/>
            <a:r>
              <a:rPr lang="it-IT" dirty="0" err="1" smtClean="0"/>
              <a:t>Polymorphism</a:t>
            </a:r>
            <a:r>
              <a:rPr lang="it-IT" dirty="0" smtClean="0"/>
              <a:t> </a:t>
            </a:r>
            <a:r>
              <a:rPr lang="it-IT" dirty="0" err="1" smtClean="0"/>
              <a:t>allows</a:t>
            </a:r>
            <a:r>
              <a:rPr lang="it-IT" dirty="0" smtClean="0"/>
              <a:t> </a:t>
            </a:r>
            <a:r>
              <a:rPr lang="it-IT" dirty="0" err="1" smtClean="0"/>
              <a:t>feeding</a:t>
            </a:r>
            <a:r>
              <a:rPr lang="it-IT" dirty="0" smtClean="0"/>
              <a:t> </a:t>
            </a:r>
            <a:r>
              <a:rPr lang="it-IT" dirty="0" err="1" smtClean="0"/>
              <a:t>algorithms</a:t>
            </a:r>
            <a:r>
              <a:rPr lang="it-IT" dirty="0" smtClean="0"/>
              <a:t> with </a:t>
            </a:r>
            <a:r>
              <a:rPr lang="it-IT" dirty="0" err="1" smtClean="0"/>
              <a:t>different</a:t>
            </a:r>
            <a:r>
              <a:rPr lang="it-IT" dirty="0" smtClean="0"/>
              <a:t> </a:t>
            </a:r>
            <a:r>
              <a:rPr lang="it-IT" dirty="0" err="1" smtClean="0"/>
              <a:t>objects</a:t>
            </a:r>
            <a:endParaRPr lang="it-IT" dirty="0" smtClean="0"/>
          </a:p>
          <a:p>
            <a:pPr lvl="1"/>
            <a:r>
              <a:rPr lang="en-GB" dirty="0" smtClean="0"/>
              <a:t>Dynamic binding allows </a:t>
            </a:r>
            <a:r>
              <a:rPr lang="en-GB" dirty="0" err="1" smtClean="0"/>
              <a:t>accomodating</a:t>
            </a:r>
            <a:r>
              <a:rPr lang="en-GB" dirty="0" smtClean="0"/>
              <a:t> different </a:t>
            </a:r>
            <a:r>
              <a:rPr lang="en-GB" dirty="0" err="1" smtClean="0"/>
              <a:t>behavior</a:t>
            </a:r>
            <a:r>
              <a:rPr lang="en-GB" dirty="0" smtClean="0"/>
              <a:t> behind the same interface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9445932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Segnaposto numero diapositiva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696286FC-BF18-F64E-873B-EEE5AC848E79}" type="slidenum">
              <a:rPr lang="it-IT" sz="1200">
                <a:solidFill>
                  <a:srgbClr val="000000"/>
                </a:solidFill>
              </a:rPr>
              <a:pPr eaLnBrk="1" hangingPunct="1"/>
              <a:t>10</a:t>
            </a:fld>
            <a:endParaRPr lang="it-IT" sz="1200">
              <a:solidFill>
                <a:srgbClr val="000000"/>
              </a:solidFill>
            </a:endParaRPr>
          </a:p>
        </p:txBody>
      </p:sp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Lucida Sans Unicode" charset="0"/>
                <a:cs typeface="Lucida Sans Unicode" charset="0"/>
              </a:rPr>
              <a:t>Inheritance in a few words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Lucida Sans Unicode" charset="0"/>
                <a:cs typeface="Lucida Sans Unicode" charset="0"/>
              </a:rPr>
              <a:t>Subclass</a:t>
            </a:r>
          </a:p>
          <a:p>
            <a:pPr lvl="1" eaLnBrk="1" hangingPunct="1"/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</a:rPr>
              <a:t>Inherits attributes and methods </a:t>
            </a:r>
            <a:r>
              <a:rPr lang="en-US" dirty="0" smtClean="0">
                <a:latin typeface="Lucida Sans Unicode" charset="0"/>
                <a:ea typeface="Lucida Sans Unicode" charset="0"/>
                <a:cs typeface="Lucida Sans Unicode" charset="0"/>
              </a:rPr>
              <a:t>defined in base classes</a:t>
            </a:r>
            <a:endParaRPr lang="en-US" dirty="0">
              <a:latin typeface="Lucida Sans Unicode" charset="0"/>
              <a:ea typeface="Lucida Sans Unicode" charset="0"/>
              <a:cs typeface="Lucida Sans Unicode" charset="0"/>
            </a:endParaRPr>
          </a:p>
          <a:p>
            <a:pPr lvl="1" eaLnBrk="1" hangingPunct="1"/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</a:rPr>
              <a:t>Can modify inherited attributes and methods (</a:t>
            </a:r>
            <a:r>
              <a:rPr lang="en-US" i="1" dirty="0">
                <a:latin typeface="Lucida Sans Unicode" charset="0"/>
                <a:ea typeface="Lucida Sans Unicode" charset="0"/>
                <a:cs typeface="Lucida Sans Unicode" charset="0"/>
              </a:rPr>
              <a:t>override</a:t>
            </a:r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</a:rPr>
              <a:t>)</a:t>
            </a:r>
          </a:p>
          <a:p>
            <a:pPr lvl="1" eaLnBrk="1" hangingPunct="1"/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</a:rPr>
              <a:t>Can add new attributes and methods 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Segnaposto numero diapositiva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060D8118-A12B-B942-B88F-9776219602BB}" type="slidenum">
              <a:rPr lang="en-GB" sz="1200">
                <a:solidFill>
                  <a:srgbClr val="000000"/>
                </a:solidFill>
              </a:rPr>
              <a:pPr eaLnBrk="1" hangingPunct="1"/>
              <a:t>11</a:t>
            </a:fld>
            <a:endParaRPr lang="en-GB" sz="1200">
              <a:solidFill>
                <a:srgbClr val="000000"/>
              </a:solidFill>
            </a:endParaRPr>
          </a:p>
        </p:txBody>
      </p:sp>
      <p:sp>
        <p:nvSpPr>
          <p:cNvPr id="53250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152400"/>
            <a:ext cx="8610600" cy="771525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Inheritance </a:t>
            </a:r>
            <a:r>
              <a:rPr lang="en-GB" dirty="0" smtClean="0">
                <a:latin typeface="Lucida Sans Unicode" charset="0"/>
                <a:cs typeface="Lucida Sans Unicode" charset="0"/>
              </a:rPr>
              <a:t>syntax: </a:t>
            </a:r>
            <a:r>
              <a:rPr lang="en-GB" b="1" dirty="0">
                <a:latin typeface="Courier New"/>
                <a:cs typeface="Courier New"/>
              </a:rPr>
              <a:t>extends</a:t>
            </a:r>
          </a:p>
        </p:txBody>
      </p:sp>
      <p:sp>
        <p:nvSpPr>
          <p:cNvPr id="53251" name="Rectangle 2"/>
          <p:cNvSpPr>
            <a:spLocks noChangeArrowheads="1"/>
          </p:cNvSpPr>
          <p:nvPr/>
        </p:nvSpPr>
        <p:spPr bwMode="auto">
          <a:xfrm>
            <a:off x="198438" y="1614488"/>
            <a:ext cx="1693862" cy="1849437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53252" name="Rectangle 3"/>
          <p:cNvSpPr>
            <a:spLocks noChangeArrowheads="1"/>
          </p:cNvSpPr>
          <p:nvPr/>
        </p:nvSpPr>
        <p:spPr bwMode="auto">
          <a:xfrm>
            <a:off x="865096" y="1693863"/>
            <a:ext cx="493897" cy="308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2160" tIns="46080" rIns="92160" bIns="46080">
            <a:spAutoFit/>
          </a:bodyPr>
          <a:lstStyle/>
          <a:p>
            <a:pPr algn="ctr">
              <a:lnSpc>
                <a:spcPct val="100000"/>
              </a:lnSpc>
              <a:buClr>
                <a:srgbClr val="FF0000"/>
              </a:buClr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400" b="1" dirty="0">
                <a:solidFill>
                  <a:srgbClr val="FF6600"/>
                </a:solidFill>
                <a:latin typeface="Arial" charset="0"/>
              </a:rPr>
              <a:t>Car</a:t>
            </a:r>
          </a:p>
        </p:txBody>
      </p:sp>
      <p:sp>
        <p:nvSpPr>
          <p:cNvPr id="53253" name="Line 4"/>
          <p:cNvSpPr>
            <a:spLocks noChangeShapeType="1"/>
          </p:cNvSpPr>
          <p:nvPr/>
        </p:nvSpPr>
        <p:spPr bwMode="auto">
          <a:xfrm>
            <a:off x="204788" y="2074863"/>
            <a:ext cx="1695450" cy="1587"/>
          </a:xfrm>
          <a:prstGeom prst="line">
            <a:avLst/>
          </a:prstGeom>
          <a:noFill/>
          <a:ln w="1908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54" name="Line 5"/>
          <p:cNvSpPr>
            <a:spLocks noChangeShapeType="1"/>
          </p:cNvSpPr>
          <p:nvPr/>
        </p:nvSpPr>
        <p:spPr bwMode="auto">
          <a:xfrm>
            <a:off x="198438" y="2930525"/>
            <a:ext cx="1695450" cy="1588"/>
          </a:xfrm>
          <a:prstGeom prst="line">
            <a:avLst/>
          </a:prstGeom>
          <a:noFill/>
          <a:ln w="1908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55" name="Rectangle 6"/>
          <p:cNvSpPr>
            <a:spLocks noChangeArrowheads="1"/>
          </p:cNvSpPr>
          <p:nvPr/>
        </p:nvSpPr>
        <p:spPr bwMode="auto">
          <a:xfrm>
            <a:off x="271463" y="2151063"/>
            <a:ext cx="1143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2160" tIns="46080" rIns="92160" bIns="46080">
            <a:spAutoFit/>
          </a:bodyPr>
          <a:lstStyle/>
          <a:p>
            <a:pPr>
              <a:lnSpc>
                <a:spcPct val="100000"/>
              </a:lnSpc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400">
                <a:solidFill>
                  <a:srgbClr val="000000"/>
                </a:solidFill>
                <a:latin typeface="Arial" charset="0"/>
              </a:rPr>
              <a:t>color</a:t>
            </a:r>
          </a:p>
          <a:p>
            <a:pPr>
              <a:lnSpc>
                <a:spcPct val="100000"/>
              </a:lnSpc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400">
                <a:solidFill>
                  <a:srgbClr val="000000"/>
                </a:solidFill>
                <a:latin typeface="Arial" charset="0"/>
              </a:rPr>
              <a:t>isOn</a:t>
            </a:r>
            <a:br>
              <a:rPr lang="en-GB" sz="1400">
                <a:solidFill>
                  <a:srgbClr val="000000"/>
                </a:solidFill>
                <a:latin typeface="Arial" charset="0"/>
              </a:rPr>
            </a:br>
            <a:r>
              <a:rPr lang="en-GB" sz="1400">
                <a:solidFill>
                  <a:srgbClr val="000000"/>
                </a:solidFill>
                <a:latin typeface="Arial" charset="0"/>
              </a:rPr>
              <a:t>licencePlate</a:t>
            </a:r>
          </a:p>
        </p:txBody>
      </p:sp>
      <p:sp>
        <p:nvSpPr>
          <p:cNvPr id="53256" name="Rectangle 7"/>
          <p:cNvSpPr>
            <a:spLocks noChangeArrowheads="1"/>
          </p:cNvSpPr>
          <p:nvPr/>
        </p:nvSpPr>
        <p:spPr bwMode="auto">
          <a:xfrm>
            <a:off x="282575" y="2927350"/>
            <a:ext cx="1001713" cy="5239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2160" tIns="46080" rIns="92160" bIns="46080">
            <a:spAutoFit/>
          </a:bodyPr>
          <a:lstStyle/>
          <a:p>
            <a:pPr>
              <a:lnSpc>
                <a:spcPct val="100000"/>
              </a:lnSpc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400" dirty="0" err="1" smtClean="0">
                <a:solidFill>
                  <a:srgbClr val="000000"/>
                </a:solidFill>
                <a:latin typeface="Arial" charset="0"/>
              </a:rPr>
              <a:t>turnOn</a:t>
            </a:r>
            <a:r>
              <a:rPr lang="en-GB" sz="1400" dirty="0" smtClean="0">
                <a:solidFill>
                  <a:srgbClr val="000000"/>
                </a:solidFill>
                <a:latin typeface="Arial" charset="0"/>
              </a:rPr>
              <a:t>()</a:t>
            </a:r>
            <a:endParaRPr lang="en-GB" sz="1400" dirty="0">
              <a:solidFill>
                <a:srgbClr val="000000"/>
              </a:solidFill>
              <a:latin typeface="Arial" charset="0"/>
            </a:endParaRPr>
          </a:p>
          <a:p>
            <a:pPr>
              <a:lnSpc>
                <a:spcPct val="100000"/>
              </a:lnSpc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400" dirty="0" smtClean="0">
                <a:solidFill>
                  <a:srgbClr val="000000"/>
                </a:solidFill>
                <a:latin typeface="Arial" charset="0"/>
              </a:rPr>
              <a:t>paint()</a:t>
            </a:r>
            <a:endParaRPr lang="en-GB" sz="140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53257" name="Rectangle 8"/>
          <p:cNvSpPr>
            <a:spLocks noChangeArrowheads="1"/>
          </p:cNvSpPr>
          <p:nvPr/>
        </p:nvSpPr>
        <p:spPr bwMode="auto">
          <a:xfrm>
            <a:off x="187325" y="4257675"/>
            <a:ext cx="1693863" cy="153035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53258" name="Rectangle 9"/>
          <p:cNvSpPr>
            <a:spLocks noChangeArrowheads="1"/>
          </p:cNvSpPr>
          <p:nvPr/>
        </p:nvSpPr>
        <p:spPr bwMode="auto">
          <a:xfrm>
            <a:off x="484170" y="4337050"/>
            <a:ext cx="1135098" cy="308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2160" tIns="46080" rIns="92160" bIns="46080">
            <a:spAutoFit/>
          </a:bodyPr>
          <a:lstStyle/>
          <a:p>
            <a:pPr algn="ctr">
              <a:lnSpc>
                <a:spcPct val="100000"/>
              </a:lnSpc>
              <a:buClr>
                <a:srgbClr val="FF0000"/>
              </a:buClr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400" b="1" dirty="0" err="1">
                <a:solidFill>
                  <a:srgbClr val="FF6600"/>
                </a:solidFill>
                <a:latin typeface="Arial" charset="0"/>
              </a:rPr>
              <a:t>ElectricCar</a:t>
            </a:r>
            <a:endParaRPr lang="en-GB" sz="1400" b="1" dirty="0">
              <a:solidFill>
                <a:srgbClr val="FF6600"/>
              </a:solidFill>
              <a:latin typeface="Arial" charset="0"/>
            </a:endParaRPr>
          </a:p>
        </p:txBody>
      </p:sp>
      <p:sp>
        <p:nvSpPr>
          <p:cNvPr id="53259" name="Line 10"/>
          <p:cNvSpPr>
            <a:spLocks noChangeShapeType="1"/>
          </p:cNvSpPr>
          <p:nvPr/>
        </p:nvSpPr>
        <p:spPr bwMode="auto">
          <a:xfrm>
            <a:off x="195263" y="4718050"/>
            <a:ext cx="1695450" cy="1588"/>
          </a:xfrm>
          <a:prstGeom prst="line">
            <a:avLst/>
          </a:prstGeom>
          <a:noFill/>
          <a:ln w="1908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60" name="Line 11"/>
          <p:cNvSpPr>
            <a:spLocks noChangeShapeType="1"/>
          </p:cNvSpPr>
          <p:nvPr/>
        </p:nvSpPr>
        <p:spPr bwMode="auto">
          <a:xfrm>
            <a:off x="192088" y="5175250"/>
            <a:ext cx="1695450" cy="1588"/>
          </a:xfrm>
          <a:prstGeom prst="line">
            <a:avLst/>
          </a:prstGeom>
          <a:noFill/>
          <a:ln w="1908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61" name="Rectangle 12"/>
          <p:cNvSpPr>
            <a:spLocks noChangeArrowheads="1"/>
          </p:cNvSpPr>
          <p:nvPr/>
        </p:nvSpPr>
        <p:spPr bwMode="auto">
          <a:xfrm>
            <a:off x="260350" y="4794250"/>
            <a:ext cx="1498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2160" tIns="46080" rIns="92160" bIns="46080">
            <a:spAutoFit/>
          </a:bodyPr>
          <a:lstStyle/>
          <a:p>
            <a:pPr>
              <a:lnSpc>
                <a:spcPct val="100000"/>
              </a:lnSpc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400">
                <a:solidFill>
                  <a:srgbClr val="000000"/>
                </a:solidFill>
                <a:latin typeface="Arial" charset="0"/>
              </a:rPr>
              <a:t>cellsAreCharged</a:t>
            </a:r>
          </a:p>
        </p:txBody>
      </p:sp>
      <p:sp>
        <p:nvSpPr>
          <p:cNvPr id="53262" name="Rectangle 13"/>
          <p:cNvSpPr>
            <a:spLocks noChangeArrowheads="1"/>
          </p:cNvSpPr>
          <p:nvPr/>
        </p:nvSpPr>
        <p:spPr bwMode="auto">
          <a:xfrm>
            <a:off x="260350" y="5251450"/>
            <a:ext cx="1014284" cy="5239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2160" tIns="46080" rIns="92160" bIns="46080">
            <a:spAutoFit/>
          </a:bodyPr>
          <a:lstStyle/>
          <a:p>
            <a:pPr>
              <a:lnSpc>
                <a:spcPct val="100000"/>
              </a:lnSpc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400" dirty="0" smtClean="0">
                <a:solidFill>
                  <a:srgbClr val="000000"/>
                </a:solidFill>
                <a:latin typeface="Arial" charset="0"/>
              </a:rPr>
              <a:t>recharge()</a:t>
            </a:r>
            <a:endParaRPr lang="en-GB" sz="1400" dirty="0">
              <a:solidFill>
                <a:srgbClr val="000000"/>
              </a:solidFill>
              <a:latin typeface="Arial" charset="0"/>
            </a:endParaRPr>
          </a:p>
          <a:p>
            <a:pPr>
              <a:lnSpc>
                <a:spcPct val="100000"/>
              </a:lnSpc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400" dirty="0" err="1" smtClean="0">
                <a:solidFill>
                  <a:srgbClr val="000000"/>
                </a:solidFill>
                <a:latin typeface="Arial" charset="0"/>
              </a:rPr>
              <a:t>turnOn</a:t>
            </a:r>
            <a:r>
              <a:rPr lang="en-GB" sz="1400" dirty="0" smtClean="0">
                <a:solidFill>
                  <a:srgbClr val="000000"/>
                </a:solidFill>
                <a:latin typeface="Arial" charset="0"/>
              </a:rPr>
              <a:t>()</a:t>
            </a:r>
            <a:endParaRPr lang="en-GB" sz="140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53263" name="AutoShape 14"/>
          <p:cNvSpPr>
            <a:spLocks noChangeArrowheads="1"/>
          </p:cNvSpPr>
          <p:nvPr/>
        </p:nvSpPr>
        <p:spPr bwMode="auto">
          <a:xfrm>
            <a:off x="917575" y="3489325"/>
            <a:ext cx="233363" cy="277813"/>
          </a:xfrm>
          <a:prstGeom prst="triangle">
            <a:avLst>
              <a:gd name="adj" fmla="val 50000"/>
            </a:avLst>
          </a:prstGeom>
          <a:noFill/>
          <a:ln w="19050" cmpd="sng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cxnSp>
        <p:nvCxnSpPr>
          <p:cNvPr id="53264" name="AutoShape 15"/>
          <p:cNvCxnSpPr>
            <a:cxnSpLocks noChangeShapeType="1"/>
            <a:stCxn id="53263" idx="2"/>
            <a:endCxn id="53257" idx="0"/>
          </p:cNvCxnSpPr>
          <p:nvPr/>
        </p:nvCxnSpPr>
        <p:spPr bwMode="auto">
          <a:xfrm>
            <a:off x="1033463" y="3767138"/>
            <a:ext cx="1587" cy="490537"/>
          </a:xfrm>
          <a:prstGeom prst="bentConnector3">
            <a:avLst>
              <a:gd name="adj1" fmla="val 50000"/>
            </a:avLst>
          </a:prstGeom>
          <a:noFill/>
          <a:ln w="19050" cmpd="sng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3265" name="Rectangle 16"/>
          <p:cNvSpPr>
            <a:spLocks noChangeArrowheads="1"/>
          </p:cNvSpPr>
          <p:nvPr/>
        </p:nvSpPr>
        <p:spPr bwMode="auto">
          <a:xfrm>
            <a:off x="1979712" y="1052736"/>
            <a:ext cx="4100513" cy="3689350"/>
          </a:xfrm>
          <a:prstGeom prst="rect">
            <a:avLst/>
          </a:prstGeom>
          <a:solidFill>
            <a:srgbClr val="FDEADA"/>
          </a:solidFill>
          <a:ln w="12600">
            <a:solidFill>
              <a:srgbClr val="E46C0A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360" tIns="44280" rIns="90360" bIns="44280"/>
          <a:lstStyle/>
          <a:p>
            <a:pPr>
              <a:lnSpc>
                <a:spcPct val="90000"/>
              </a:lnSpc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class </a:t>
            </a:r>
            <a:r>
              <a:rPr lang="en-GB" sz="1800" b="1" dirty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Car </a:t>
            </a:r>
            <a: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{</a:t>
            </a:r>
            <a:b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</a:br>
            <a:endParaRPr lang="en-GB" sz="1800" b="1" dirty="0">
              <a:solidFill>
                <a:srgbClr val="000000"/>
              </a:solidFill>
              <a:latin typeface="Courier New" charset="0"/>
              <a:cs typeface="Lucida Sans Unicode" charset="0"/>
            </a:endParaRPr>
          </a:p>
          <a:p>
            <a:pPr>
              <a:lnSpc>
                <a:spcPct val="90000"/>
              </a:lnSpc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 String </a:t>
            </a:r>
            <a:r>
              <a:rPr lang="en-GB" sz="1800" b="1" dirty="0" err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color</a:t>
            </a:r>
            <a: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;</a:t>
            </a:r>
            <a:b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</a:br>
            <a: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 </a:t>
            </a:r>
            <a:r>
              <a:rPr lang="en-GB" sz="1800" b="1" dirty="0" err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boolean</a:t>
            </a:r>
            <a: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</a:t>
            </a:r>
            <a:r>
              <a:rPr lang="en-GB" sz="1800" b="1" dirty="0" err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isOn</a:t>
            </a:r>
            <a: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;</a:t>
            </a:r>
            <a:b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</a:br>
            <a: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 String </a:t>
            </a:r>
            <a:r>
              <a:rPr lang="en-GB" sz="1800" b="1" dirty="0" err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licencePlate</a:t>
            </a:r>
            <a: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;</a:t>
            </a:r>
          </a:p>
          <a:p>
            <a:pPr>
              <a:lnSpc>
                <a:spcPct val="90000"/>
              </a:lnSpc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 </a:t>
            </a:r>
            <a:b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</a:br>
            <a: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 void paint(String </a:t>
            </a:r>
            <a:r>
              <a:rPr lang="en-GB" sz="1800" b="1" dirty="0" err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color</a:t>
            </a:r>
            <a: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) {</a:t>
            </a:r>
            <a:b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</a:br>
            <a: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   </a:t>
            </a:r>
            <a:r>
              <a:rPr lang="en-GB" sz="1800" b="1" dirty="0" err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this.color</a:t>
            </a:r>
            <a: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= </a:t>
            </a:r>
            <a:r>
              <a:rPr lang="en-GB" sz="1800" b="1" dirty="0" err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color</a:t>
            </a:r>
            <a: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;</a:t>
            </a:r>
            <a:b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</a:br>
            <a: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 }</a:t>
            </a:r>
            <a:b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</a:br>
            <a:endParaRPr lang="en-GB" sz="1800" b="1" dirty="0">
              <a:solidFill>
                <a:srgbClr val="000000"/>
              </a:solidFill>
              <a:latin typeface="Courier New" charset="0"/>
              <a:cs typeface="Lucida Sans Unicode" charset="0"/>
            </a:endParaRPr>
          </a:p>
          <a:p>
            <a:pPr>
              <a:lnSpc>
                <a:spcPct val="90000"/>
              </a:lnSpc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 void </a:t>
            </a:r>
            <a:r>
              <a:rPr lang="en-GB" sz="1800" b="1" dirty="0" err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turnOn</a:t>
            </a:r>
            <a: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() {</a:t>
            </a:r>
            <a:b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</a:br>
            <a: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   </a:t>
            </a:r>
            <a:r>
              <a:rPr lang="en-GB" sz="1800" b="1" dirty="0" err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isOn</a:t>
            </a:r>
            <a: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=true;</a:t>
            </a:r>
            <a:b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</a:br>
            <a: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 }</a:t>
            </a:r>
          </a:p>
          <a:p>
            <a:pPr>
              <a:lnSpc>
                <a:spcPct val="90000"/>
              </a:lnSpc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}</a:t>
            </a:r>
          </a:p>
        </p:txBody>
      </p:sp>
      <p:sp>
        <p:nvSpPr>
          <p:cNvPr id="53266" name="Rectangle 17"/>
          <p:cNvSpPr>
            <a:spLocks noChangeArrowheads="1"/>
          </p:cNvSpPr>
          <p:nvPr/>
        </p:nvSpPr>
        <p:spPr bwMode="auto">
          <a:xfrm>
            <a:off x="4644008" y="3335908"/>
            <a:ext cx="4325367" cy="3189436"/>
          </a:xfrm>
          <a:prstGeom prst="rect">
            <a:avLst/>
          </a:prstGeom>
          <a:solidFill>
            <a:srgbClr val="FDEADA"/>
          </a:solidFill>
          <a:ln w="12600">
            <a:solidFill>
              <a:srgbClr val="E46C0A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360" tIns="44280" rIns="90360" bIns="44280"/>
          <a:lstStyle/>
          <a:p>
            <a:pPr>
              <a:lnSpc>
                <a:spcPct val="90000"/>
              </a:lnSpc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class </a:t>
            </a:r>
            <a:r>
              <a:rPr lang="en-GB" sz="1800" b="1" dirty="0" err="1">
                <a:solidFill>
                  <a:srgbClr val="FF6600"/>
                </a:solidFill>
                <a:latin typeface="Courier New" charset="0"/>
                <a:cs typeface="Lucida Sans Unicode" charset="0"/>
              </a:rPr>
              <a:t>ElectricCar</a:t>
            </a:r>
            <a:r>
              <a:rPr lang="en-GB" sz="1800" b="1" dirty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 </a:t>
            </a:r>
            <a:r>
              <a:rPr lang="en-GB" sz="1800" b="1" i="1" dirty="0">
                <a:solidFill>
                  <a:srgbClr val="8064A2"/>
                </a:solidFill>
                <a:latin typeface="Courier New" charset="0"/>
                <a:cs typeface="Lucida Sans Unicode" charset="0"/>
              </a:rPr>
              <a:t>extends</a:t>
            </a:r>
            <a:r>
              <a:rPr lang="en-GB" sz="1800" b="1" dirty="0">
                <a:solidFill>
                  <a:srgbClr val="8064A2"/>
                </a:solidFill>
                <a:latin typeface="Courier New" charset="0"/>
                <a:cs typeface="Lucida Sans Unicode" charset="0"/>
              </a:rPr>
              <a:t> </a:t>
            </a:r>
            <a:r>
              <a:rPr lang="en-GB" sz="1800" b="1" dirty="0" smtClean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Car</a:t>
            </a:r>
            <a:r>
              <a:rPr lang="en-GB" sz="1800" b="1" dirty="0" smtClean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{</a:t>
            </a:r>
            <a:endParaRPr lang="en-GB" sz="1800" b="1" dirty="0">
              <a:solidFill>
                <a:srgbClr val="000000"/>
              </a:solidFill>
              <a:latin typeface="Courier New" charset="0"/>
              <a:cs typeface="Lucida Sans Unicode" charset="0"/>
            </a:endParaRPr>
          </a:p>
          <a:p>
            <a:pPr>
              <a:lnSpc>
                <a:spcPct val="90000"/>
              </a:lnSpc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sz="1800" b="1" dirty="0" smtClean="0">
              <a:solidFill>
                <a:srgbClr val="000000"/>
              </a:solidFill>
              <a:latin typeface="Courier New" charset="0"/>
              <a:cs typeface="Lucida Sans Unicode" charset="0"/>
            </a:endParaRPr>
          </a:p>
          <a:p>
            <a:pPr>
              <a:lnSpc>
                <a:spcPct val="90000"/>
              </a:lnSpc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800" b="1" dirty="0" smtClean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 </a:t>
            </a:r>
            <a:r>
              <a:rPr lang="en-GB" sz="1800" b="1" dirty="0" err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boolean</a:t>
            </a:r>
            <a: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</a:t>
            </a:r>
            <a:r>
              <a:rPr lang="en-GB" sz="1800" b="1" dirty="0" err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cellsAreCharged</a:t>
            </a:r>
            <a: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;</a:t>
            </a:r>
          </a:p>
          <a:p>
            <a:pPr>
              <a:lnSpc>
                <a:spcPct val="90000"/>
              </a:lnSpc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sz="800" b="1" dirty="0">
              <a:solidFill>
                <a:srgbClr val="000000"/>
              </a:solidFill>
              <a:latin typeface="Courier New" charset="0"/>
              <a:cs typeface="Lucida Sans Unicode" charset="0"/>
            </a:endParaRPr>
          </a:p>
          <a:p>
            <a:pPr>
              <a:lnSpc>
                <a:spcPct val="90000"/>
              </a:lnSpc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 void recharge() {</a:t>
            </a:r>
            <a:b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</a:br>
            <a: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   </a:t>
            </a:r>
            <a:r>
              <a:rPr lang="en-GB" sz="1800" b="1" dirty="0" err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cellsAreCharged</a:t>
            </a:r>
            <a: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= true;</a:t>
            </a:r>
            <a:b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</a:br>
            <a: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 }</a:t>
            </a:r>
            <a:b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</a:br>
            <a:endParaRPr lang="en-GB" sz="1800" b="1" dirty="0">
              <a:solidFill>
                <a:srgbClr val="000000"/>
              </a:solidFill>
              <a:latin typeface="Courier New" charset="0"/>
              <a:cs typeface="Lucida Sans Unicode" charset="0"/>
            </a:endParaRPr>
          </a:p>
          <a:p>
            <a:pPr>
              <a:lnSpc>
                <a:spcPct val="90000"/>
              </a:lnSpc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 void </a:t>
            </a:r>
            <a:r>
              <a:rPr lang="en-GB" sz="1800" b="1" dirty="0" err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turnOn</a:t>
            </a:r>
            <a: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() {</a:t>
            </a:r>
          </a:p>
          <a:p>
            <a:pPr>
              <a:lnSpc>
                <a:spcPct val="90000"/>
              </a:lnSpc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   if(</a:t>
            </a:r>
            <a:r>
              <a:rPr lang="en-GB" sz="1800" b="1" dirty="0" err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cellsAreCharged</a:t>
            </a:r>
            <a: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) </a:t>
            </a:r>
            <a:b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</a:br>
            <a: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     </a:t>
            </a:r>
            <a:r>
              <a:rPr lang="en-GB" sz="1800" b="1" dirty="0" err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isOn</a:t>
            </a:r>
            <a: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=true;</a:t>
            </a:r>
            <a:b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</a:br>
            <a: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 }</a:t>
            </a:r>
          </a:p>
          <a:p>
            <a:pPr>
              <a:lnSpc>
                <a:spcPct val="90000"/>
              </a:lnSpc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}</a:t>
            </a: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Segnaposto numero diapositiva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31889A80-31A1-CF49-8C43-5784987072CB}" type="slidenum">
              <a:rPr lang="en-GB" sz="1200">
                <a:solidFill>
                  <a:srgbClr val="000000"/>
                </a:solidFill>
              </a:rPr>
              <a:pPr eaLnBrk="1" hangingPunct="1"/>
              <a:t>12</a:t>
            </a:fld>
            <a:endParaRPr lang="en-GB" sz="1200">
              <a:solidFill>
                <a:srgbClr val="000000"/>
              </a:solidFill>
            </a:endParaRPr>
          </a:p>
        </p:txBody>
      </p:sp>
      <p:sp>
        <p:nvSpPr>
          <p:cNvPr id="55298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228600"/>
            <a:ext cx="8610600" cy="762000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ElectricCar</a:t>
            </a:r>
          </a:p>
        </p:txBody>
      </p:sp>
      <p:sp>
        <p:nvSpPr>
          <p:cNvPr id="55299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1295400"/>
            <a:ext cx="8229600" cy="4413250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Inherits </a:t>
            </a: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ea typeface="Lucida Sans Unicode" charset="0"/>
                <a:cs typeface="Lucida Sans Unicode" charset="0"/>
              </a:rPr>
              <a:t>attributes (color, isOn, licencePlate)</a:t>
            </a: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ea typeface="Lucida Sans Unicode" charset="0"/>
                <a:cs typeface="Lucida Sans Unicode" charset="0"/>
              </a:rPr>
              <a:t>methods (paint)</a:t>
            </a: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Modifies (overrides)</a:t>
            </a: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ea typeface="Lucida Sans Unicode" charset="0"/>
                <a:cs typeface="Lucida Sans Unicode" charset="0"/>
              </a:rPr>
              <a:t>turnOn()</a:t>
            </a: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Adds</a:t>
            </a: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ea typeface="Lucida Sans Unicode" charset="0"/>
                <a:cs typeface="Lucida Sans Unicode" charset="0"/>
              </a:rPr>
              <a:t>attributes (cellsAreCharged)</a:t>
            </a: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ea typeface="Lucida Sans Unicode" charset="0"/>
                <a:cs typeface="Lucida Sans Unicode" charset="0"/>
              </a:rPr>
              <a:t>Methods (recharge)</a:t>
            </a: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Lucida Sans Unicode" charset="0"/>
                <a:cs typeface="Lucida Sans Unicode" charset="0"/>
              </a:rPr>
              <a:t>Terminology</a:t>
            </a:r>
            <a:endParaRPr lang="en-US">
              <a:latin typeface="Lucida Sans Unicode" charset="0"/>
              <a:cs typeface="Lucida Sans Unicode" charset="0"/>
            </a:endParaRPr>
          </a:p>
        </p:txBody>
      </p:sp>
      <p:sp>
        <p:nvSpPr>
          <p:cNvPr id="4915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Lucida Sans Unicode" charset="0"/>
                <a:cs typeface="Lucida Sans Unicode" charset="0"/>
              </a:rPr>
              <a:t>Class one above</a:t>
            </a:r>
          </a:p>
          <a:p>
            <a:pPr lvl="1" eaLnBrk="1" hangingPunct="1"/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</a:rPr>
              <a:t>Parent class</a:t>
            </a:r>
          </a:p>
          <a:p>
            <a:pPr eaLnBrk="1" hangingPunct="1"/>
            <a:r>
              <a:rPr lang="en-US" dirty="0">
                <a:latin typeface="Lucida Sans Unicode" charset="0"/>
                <a:cs typeface="Lucida Sans Unicode" charset="0"/>
              </a:rPr>
              <a:t>Class one below</a:t>
            </a:r>
          </a:p>
          <a:p>
            <a:pPr lvl="1" eaLnBrk="1" hangingPunct="1"/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</a:rPr>
              <a:t>Child class</a:t>
            </a:r>
          </a:p>
          <a:p>
            <a:pPr eaLnBrk="1" hangingPunct="1"/>
            <a:r>
              <a:rPr lang="en-US" dirty="0">
                <a:latin typeface="Lucida Sans Unicode" charset="0"/>
                <a:cs typeface="Lucida Sans Unicode" charset="0"/>
              </a:rPr>
              <a:t>Class one or more above</a:t>
            </a:r>
          </a:p>
          <a:p>
            <a:pPr lvl="1" eaLnBrk="1" hangingPunct="1"/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</a:rPr>
              <a:t>Superclass, Ancestor class, Base class</a:t>
            </a:r>
          </a:p>
          <a:p>
            <a:pPr eaLnBrk="1" hangingPunct="1"/>
            <a:r>
              <a:rPr lang="en-US" dirty="0">
                <a:latin typeface="Lucida Sans Unicode" charset="0"/>
                <a:cs typeface="Lucida Sans Unicode" charset="0"/>
              </a:rPr>
              <a:t>Class one or more below</a:t>
            </a:r>
          </a:p>
          <a:p>
            <a:pPr lvl="1" eaLnBrk="1" hangingPunct="1"/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</a:rPr>
              <a:t>Subclass, Descendent class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auto">
          <a:xfrm>
            <a:off x="827584" y="2852936"/>
            <a:ext cx="5472608" cy="9361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lIns="90360" tIns="44280" rIns="90360" bIns="44280" rtlCol="0" anchor="ctr"/>
          <a:lstStyle/>
          <a:p>
            <a:pPr algn="ctr"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000" b="1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827584" y="3933056"/>
            <a:ext cx="5472608" cy="9361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lIns="90360" tIns="44280" rIns="90360" bIns="44280" rtlCol="0" anchor="ctr"/>
          <a:lstStyle/>
          <a:p>
            <a:pPr algn="ctr"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000" b="1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827584" y="5013176"/>
            <a:ext cx="5472608" cy="9361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lIns="90360" tIns="44280" rIns="90360" bIns="44280" rtlCol="0" anchor="ctr"/>
          <a:lstStyle/>
          <a:p>
            <a:pPr algn="ctr"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000" b="1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Multi-level inheritance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Inheritance can be applied at multiple stages</a:t>
            </a:r>
          </a:p>
          <a:p>
            <a:endParaRPr lang="en-US" dirty="0" smtClean="0"/>
          </a:p>
          <a:p>
            <a:pPr marL="457200" lvl="1" indent="0">
              <a:buNone/>
            </a:pPr>
            <a:r>
              <a:rPr lang="en-US" b="1" dirty="0" smtClean="0">
                <a:latin typeface="Courier New"/>
                <a:cs typeface="Courier New"/>
              </a:rPr>
              <a:t>class B </a:t>
            </a:r>
            <a:r>
              <a:rPr lang="en-US" b="1" dirty="0" smtClean="0">
                <a:solidFill>
                  <a:srgbClr val="FF6600"/>
                </a:solidFill>
                <a:latin typeface="Courier New"/>
                <a:cs typeface="Courier New"/>
              </a:rPr>
              <a:t>extends</a:t>
            </a:r>
            <a:r>
              <a:rPr lang="en-US" b="1" dirty="0" smtClean="0">
                <a:latin typeface="Courier New"/>
                <a:cs typeface="Courier New"/>
              </a:rPr>
              <a:t> A { </a:t>
            </a:r>
            <a:r>
              <a:rPr lang="mr-IN" b="1" dirty="0" smtClean="0">
                <a:latin typeface="Courier New"/>
                <a:cs typeface="Courier New"/>
              </a:rPr>
              <a:t>…</a:t>
            </a:r>
            <a:r>
              <a:rPr lang="it-IT" b="1" dirty="0" smtClean="0">
                <a:latin typeface="Courier New"/>
                <a:cs typeface="Courier New"/>
              </a:rPr>
              <a:t> }</a:t>
            </a:r>
            <a:endParaRPr lang="en-US" b="1" dirty="0" smtClean="0">
              <a:latin typeface="Courier New"/>
              <a:cs typeface="Courier New"/>
            </a:endParaRPr>
          </a:p>
          <a:p>
            <a:pPr marL="457200" lvl="1" indent="0">
              <a:buNone/>
            </a:pPr>
            <a:endParaRPr lang="en-US" b="1" dirty="0" smtClean="0">
              <a:latin typeface="Courier New"/>
              <a:cs typeface="Courier New"/>
            </a:endParaRPr>
          </a:p>
          <a:p>
            <a:pPr marL="457200" lvl="1" indent="0">
              <a:buNone/>
            </a:pPr>
            <a:r>
              <a:rPr lang="en-US" b="1" dirty="0" smtClean="0">
                <a:latin typeface="Courier New"/>
                <a:cs typeface="Courier New"/>
              </a:rPr>
              <a:t>class C </a:t>
            </a:r>
            <a:r>
              <a:rPr lang="en-US" b="1" dirty="0">
                <a:solidFill>
                  <a:srgbClr val="FF6600"/>
                </a:solidFill>
                <a:latin typeface="Courier New"/>
                <a:cs typeface="Courier New"/>
              </a:rPr>
              <a:t>extends</a:t>
            </a:r>
            <a:r>
              <a:rPr lang="en-US" b="1" dirty="0" smtClean="0">
                <a:latin typeface="Courier New"/>
                <a:cs typeface="Courier New"/>
              </a:rPr>
              <a:t> B { </a:t>
            </a:r>
            <a:r>
              <a:rPr lang="mr-IN" b="1" dirty="0" smtClean="0">
                <a:latin typeface="Courier New"/>
                <a:cs typeface="Courier New"/>
              </a:rPr>
              <a:t>…</a:t>
            </a:r>
            <a:r>
              <a:rPr lang="it-IT" b="1" dirty="0" smtClean="0">
                <a:latin typeface="Courier New"/>
                <a:cs typeface="Courier New"/>
              </a:rPr>
              <a:t> }</a:t>
            </a:r>
          </a:p>
          <a:p>
            <a:pPr marL="457200" lvl="1" indent="0">
              <a:buNone/>
            </a:pPr>
            <a:endParaRPr lang="it-IT" b="1" dirty="0" smtClean="0">
              <a:latin typeface="Courier New"/>
              <a:cs typeface="Courier New"/>
            </a:endParaRPr>
          </a:p>
          <a:p>
            <a:pPr marL="457200" lvl="1" indent="0">
              <a:buNone/>
            </a:pPr>
            <a:r>
              <a:rPr lang="it-IT" b="1" dirty="0" err="1" smtClean="0">
                <a:latin typeface="Courier New"/>
                <a:cs typeface="Courier New"/>
              </a:rPr>
              <a:t>class</a:t>
            </a:r>
            <a:r>
              <a:rPr lang="it-IT" b="1" dirty="0" smtClean="0">
                <a:latin typeface="Courier New"/>
                <a:cs typeface="Courier New"/>
              </a:rPr>
              <a:t> D </a:t>
            </a:r>
            <a:r>
              <a:rPr lang="it-IT" b="1" dirty="0" err="1">
                <a:solidFill>
                  <a:srgbClr val="FF6600"/>
                </a:solidFill>
                <a:latin typeface="Courier New"/>
                <a:cs typeface="Courier New"/>
              </a:rPr>
              <a:t>extends</a:t>
            </a:r>
            <a:r>
              <a:rPr lang="it-IT" b="1" dirty="0" smtClean="0">
                <a:latin typeface="Courier New"/>
                <a:cs typeface="Courier New"/>
              </a:rPr>
              <a:t> C { </a:t>
            </a:r>
            <a:r>
              <a:rPr lang="mr-IN" b="1" dirty="0" smtClean="0">
                <a:latin typeface="Courier New"/>
                <a:cs typeface="Courier New"/>
              </a:rPr>
              <a:t>…</a:t>
            </a:r>
            <a:r>
              <a:rPr lang="it-IT" b="1" dirty="0" smtClean="0">
                <a:latin typeface="Courier New"/>
                <a:cs typeface="Courier New"/>
              </a:rPr>
              <a:t> }</a:t>
            </a:r>
            <a:endParaRPr lang="en-US" b="1" dirty="0" smtClean="0">
              <a:latin typeface="Courier New"/>
              <a:cs typeface="Courier New"/>
            </a:endParaRPr>
          </a:p>
          <a:p>
            <a:pPr lvl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6832" y="2217273"/>
            <a:ext cx="2781672" cy="344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17702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pPr eaLnBrk="1" hangingPunct="1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 smtClean="0">
                <a:latin typeface="Lucida Sans Unicode" charset="0"/>
                <a:cs typeface="Lucida Sans Unicode" charset="0"/>
              </a:rPr>
              <a:t>Inheritance </a:t>
            </a:r>
            <a:r>
              <a:rPr lang="en-GB" dirty="0">
                <a:latin typeface="Lucida Sans Unicode" charset="0"/>
                <a:cs typeface="Lucida Sans Unicode" charset="0"/>
              </a:rPr>
              <a:t>tree</a:t>
            </a:r>
          </a:p>
        </p:txBody>
      </p:sp>
      <p:sp>
        <p:nvSpPr>
          <p:cNvPr id="51201" name="Segnaposto numero diapositiva 4"/>
          <p:cNvSpPr>
            <a:spLocks noGrp="1"/>
          </p:cNvSpPr>
          <p:nvPr>
            <p:ph type="sldNum" idx="12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C2CC04A7-BB63-034F-BE73-5F9C22BDC497}" type="slidenum">
              <a:rPr lang="en-GB" sz="1200">
                <a:solidFill>
                  <a:srgbClr val="000000"/>
                </a:solidFill>
                <a:cs typeface="Lucida Sans Unicode" charset="0"/>
              </a:rPr>
              <a:pPr eaLnBrk="1" hangingPunct="1"/>
              <a:t>15</a:t>
            </a:fld>
            <a:endParaRPr lang="en-GB" sz="1200">
              <a:solidFill>
                <a:srgbClr val="000000"/>
              </a:solidFill>
              <a:cs typeface="Lucida Sans Unicode" charset="0"/>
            </a:endParaRPr>
          </a:p>
        </p:txBody>
      </p:sp>
      <p:sp>
        <p:nvSpPr>
          <p:cNvPr id="51203" name="Line 2"/>
          <p:cNvSpPr>
            <a:spLocks noChangeShapeType="1"/>
          </p:cNvSpPr>
          <p:nvPr/>
        </p:nvSpPr>
        <p:spPr bwMode="auto">
          <a:xfrm flipV="1">
            <a:off x="1757238" y="5187950"/>
            <a:ext cx="1588" cy="311150"/>
          </a:xfrm>
          <a:prstGeom prst="line">
            <a:avLst/>
          </a:prstGeom>
          <a:noFill/>
          <a:ln w="28440">
            <a:solidFill>
              <a:srgbClr val="FF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04" name="Line 3"/>
          <p:cNvSpPr>
            <a:spLocks noChangeShapeType="1"/>
          </p:cNvSpPr>
          <p:nvPr/>
        </p:nvSpPr>
        <p:spPr bwMode="auto">
          <a:xfrm flipV="1">
            <a:off x="5383088" y="2054225"/>
            <a:ext cx="457200" cy="387350"/>
          </a:xfrm>
          <a:prstGeom prst="line">
            <a:avLst/>
          </a:prstGeom>
          <a:noFill/>
          <a:ln w="28440">
            <a:solidFill>
              <a:srgbClr val="FF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05" name="AutoShape 4"/>
          <p:cNvSpPr>
            <a:spLocks noChangeArrowheads="1"/>
          </p:cNvSpPr>
          <p:nvPr/>
        </p:nvSpPr>
        <p:spPr bwMode="auto">
          <a:xfrm rot="2460000">
            <a:off x="5767263" y="1905000"/>
            <a:ext cx="228600" cy="22860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28440">
            <a:solidFill>
              <a:srgbClr val="FF66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06" name="Line 5"/>
          <p:cNvSpPr>
            <a:spLocks noChangeShapeType="1"/>
          </p:cNvSpPr>
          <p:nvPr/>
        </p:nvSpPr>
        <p:spPr bwMode="auto">
          <a:xfrm flipH="1" flipV="1">
            <a:off x="7284913" y="2054225"/>
            <a:ext cx="387350" cy="311150"/>
          </a:xfrm>
          <a:prstGeom prst="line">
            <a:avLst/>
          </a:prstGeom>
          <a:noFill/>
          <a:ln w="28440">
            <a:solidFill>
              <a:srgbClr val="FF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07" name="AutoShape 6"/>
          <p:cNvSpPr>
            <a:spLocks noChangeArrowheads="1"/>
          </p:cNvSpPr>
          <p:nvPr/>
        </p:nvSpPr>
        <p:spPr bwMode="auto">
          <a:xfrm rot="19140000" flipH="1">
            <a:off x="7137276" y="1905000"/>
            <a:ext cx="228600" cy="22860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28440">
            <a:solidFill>
              <a:srgbClr val="FF66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08" name="Rectangle 7"/>
          <p:cNvSpPr>
            <a:spLocks noChangeArrowheads="1"/>
          </p:cNvSpPr>
          <p:nvPr/>
        </p:nvSpPr>
        <p:spPr bwMode="auto">
          <a:xfrm>
            <a:off x="4163888" y="2362200"/>
            <a:ext cx="1219200" cy="38100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800" b="1">
                <a:solidFill>
                  <a:srgbClr val="000000"/>
                </a:solidFill>
                <a:latin typeface="Arial" charset="0"/>
              </a:rPr>
              <a:t>Animal</a:t>
            </a:r>
          </a:p>
        </p:txBody>
      </p:sp>
      <p:sp>
        <p:nvSpPr>
          <p:cNvPr id="51209" name="Rectangle 8"/>
          <p:cNvSpPr>
            <a:spLocks noChangeArrowheads="1"/>
          </p:cNvSpPr>
          <p:nvPr/>
        </p:nvSpPr>
        <p:spPr bwMode="auto">
          <a:xfrm>
            <a:off x="4163888" y="2743200"/>
            <a:ext cx="1219200" cy="38100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10" name="Rectangle 9"/>
          <p:cNvSpPr>
            <a:spLocks noChangeArrowheads="1"/>
          </p:cNvSpPr>
          <p:nvPr/>
        </p:nvSpPr>
        <p:spPr bwMode="auto">
          <a:xfrm>
            <a:off x="1192088" y="4267200"/>
            <a:ext cx="1219200" cy="38100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800" b="1">
                <a:solidFill>
                  <a:srgbClr val="000000"/>
                </a:solidFill>
                <a:latin typeface="Arial" charset="0"/>
              </a:rPr>
              <a:t>salesman</a:t>
            </a:r>
          </a:p>
        </p:txBody>
      </p:sp>
      <p:sp>
        <p:nvSpPr>
          <p:cNvPr id="51211" name="Rectangle 10"/>
          <p:cNvSpPr>
            <a:spLocks noChangeArrowheads="1"/>
          </p:cNvSpPr>
          <p:nvPr/>
        </p:nvSpPr>
        <p:spPr bwMode="auto">
          <a:xfrm>
            <a:off x="1192088" y="4648200"/>
            <a:ext cx="1219200" cy="38100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12" name="Rectangle 11"/>
          <p:cNvSpPr>
            <a:spLocks noChangeArrowheads="1"/>
          </p:cNvSpPr>
          <p:nvPr/>
        </p:nvSpPr>
        <p:spPr bwMode="auto">
          <a:xfrm>
            <a:off x="5764088" y="1143000"/>
            <a:ext cx="1676400" cy="38100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800" b="1">
                <a:solidFill>
                  <a:srgbClr val="000000"/>
                </a:solidFill>
                <a:latin typeface="Arial" charset="0"/>
              </a:rPr>
              <a:t>Living species</a:t>
            </a:r>
          </a:p>
        </p:txBody>
      </p:sp>
      <p:sp>
        <p:nvSpPr>
          <p:cNvPr id="51213" name="Rectangle 12"/>
          <p:cNvSpPr>
            <a:spLocks noChangeArrowheads="1"/>
          </p:cNvSpPr>
          <p:nvPr/>
        </p:nvSpPr>
        <p:spPr bwMode="auto">
          <a:xfrm>
            <a:off x="5764088" y="1524000"/>
            <a:ext cx="1676400" cy="38100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14" name="Rectangle 13"/>
          <p:cNvSpPr>
            <a:spLocks noChangeArrowheads="1"/>
          </p:cNvSpPr>
          <p:nvPr/>
        </p:nvSpPr>
        <p:spPr bwMode="auto">
          <a:xfrm>
            <a:off x="7211888" y="2362200"/>
            <a:ext cx="1219200" cy="38100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800" b="1">
                <a:solidFill>
                  <a:srgbClr val="000000"/>
                </a:solidFill>
                <a:latin typeface="Arial" charset="0"/>
              </a:rPr>
              <a:t>vegetal</a:t>
            </a:r>
          </a:p>
        </p:txBody>
      </p:sp>
      <p:sp>
        <p:nvSpPr>
          <p:cNvPr id="51215" name="Rectangle 14"/>
          <p:cNvSpPr>
            <a:spLocks noChangeArrowheads="1"/>
          </p:cNvSpPr>
          <p:nvPr/>
        </p:nvSpPr>
        <p:spPr bwMode="auto">
          <a:xfrm>
            <a:off x="7211888" y="2743200"/>
            <a:ext cx="1219200" cy="38100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16" name="Rectangle 15"/>
          <p:cNvSpPr>
            <a:spLocks noChangeArrowheads="1"/>
          </p:cNvSpPr>
          <p:nvPr/>
        </p:nvSpPr>
        <p:spPr bwMode="auto">
          <a:xfrm>
            <a:off x="7745288" y="3657600"/>
            <a:ext cx="1219200" cy="38100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800" b="1">
                <a:solidFill>
                  <a:srgbClr val="000000"/>
                </a:solidFill>
                <a:latin typeface="Arial" charset="0"/>
              </a:rPr>
              <a:t>Flower</a:t>
            </a:r>
          </a:p>
        </p:txBody>
      </p:sp>
      <p:sp>
        <p:nvSpPr>
          <p:cNvPr id="51217" name="Rectangle 16"/>
          <p:cNvSpPr>
            <a:spLocks noChangeArrowheads="1"/>
          </p:cNvSpPr>
          <p:nvPr/>
        </p:nvSpPr>
        <p:spPr bwMode="auto">
          <a:xfrm>
            <a:off x="7745288" y="4038600"/>
            <a:ext cx="1219200" cy="38100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18" name="Rectangle 17"/>
          <p:cNvSpPr>
            <a:spLocks noChangeArrowheads="1"/>
          </p:cNvSpPr>
          <p:nvPr/>
        </p:nvSpPr>
        <p:spPr bwMode="auto">
          <a:xfrm>
            <a:off x="1877888" y="3200400"/>
            <a:ext cx="1676400" cy="38100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800" b="1">
                <a:solidFill>
                  <a:srgbClr val="000000"/>
                </a:solidFill>
                <a:latin typeface="Arial" charset="0"/>
              </a:rPr>
              <a:t>Human being</a:t>
            </a:r>
          </a:p>
        </p:txBody>
      </p:sp>
      <p:sp>
        <p:nvSpPr>
          <p:cNvPr id="51219" name="Rectangle 18"/>
          <p:cNvSpPr>
            <a:spLocks noChangeArrowheads="1"/>
          </p:cNvSpPr>
          <p:nvPr/>
        </p:nvSpPr>
        <p:spPr bwMode="auto">
          <a:xfrm>
            <a:off x="1877888" y="3581400"/>
            <a:ext cx="1676400" cy="38100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20" name="Rectangle 19"/>
          <p:cNvSpPr>
            <a:spLocks noChangeArrowheads="1"/>
          </p:cNvSpPr>
          <p:nvPr/>
        </p:nvSpPr>
        <p:spPr bwMode="auto">
          <a:xfrm>
            <a:off x="963488" y="5486400"/>
            <a:ext cx="1524000" cy="38100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800" b="1">
                <a:solidFill>
                  <a:srgbClr val="000000"/>
                </a:solidFill>
                <a:latin typeface="Arial" charset="0"/>
              </a:rPr>
              <a:t>Flower seller</a:t>
            </a:r>
          </a:p>
        </p:txBody>
      </p:sp>
      <p:sp>
        <p:nvSpPr>
          <p:cNvPr id="51221" name="Line 20"/>
          <p:cNvSpPr>
            <a:spLocks noChangeShapeType="1"/>
          </p:cNvSpPr>
          <p:nvPr/>
        </p:nvSpPr>
        <p:spPr bwMode="auto">
          <a:xfrm flipV="1">
            <a:off x="3554288" y="3121025"/>
            <a:ext cx="457200" cy="387350"/>
          </a:xfrm>
          <a:prstGeom prst="line">
            <a:avLst/>
          </a:prstGeom>
          <a:noFill/>
          <a:ln w="28440">
            <a:solidFill>
              <a:srgbClr val="FF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22" name="AutoShape 21"/>
          <p:cNvSpPr>
            <a:spLocks noChangeArrowheads="1"/>
          </p:cNvSpPr>
          <p:nvPr/>
        </p:nvSpPr>
        <p:spPr bwMode="auto">
          <a:xfrm rot="2460000">
            <a:off x="3938463" y="2971800"/>
            <a:ext cx="228600" cy="22860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28440">
            <a:solidFill>
              <a:srgbClr val="FF66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23" name="Line 22"/>
          <p:cNvSpPr>
            <a:spLocks noChangeShapeType="1"/>
          </p:cNvSpPr>
          <p:nvPr/>
        </p:nvSpPr>
        <p:spPr bwMode="auto">
          <a:xfrm flipV="1">
            <a:off x="2411288" y="4111625"/>
            <a:ext cx="457200" cy="387350"/>
          </a:xfrm>
          <a:prstGeom prst="line">
            <a:avLst/>
          </a:prstGeom>
          <a:noFill/>
          <a:ln w="28440">
            <a:solidFill>
              <a:srgbClr val="FF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24" name="AutoShape 23"/>
          <p:cNvSpPr>
            <a:spLocks noChangeArrowheads="1"/>
          </p:cNvSpPr>
          <p:nvPr/>
        </p:nvSpPr>
        <p:spPr bwMode="auto">
          <a:xfrm rot="2460000">
            <a:off x="2795463" y="3962400"/>
            <a:ext cx="228600" cy="22860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28440">
            <a:solidFill>
              <a:srgbClr val="FF66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25" name="Line 24"/>
          <p:cNvSpPr>
            <a:spLocks noChangeShapeType="1"/>
          </p:cNvSpPr>
          <p:nvPr/>
        </p:nvSpPr>
        <p:spPr bwMode="auto">
          <a:xfrm flipH="1" flipV="1">
            <a:off x="7894513" y="3273425"/>
            <a:ext cx="387350" cy="387350"/>
          </a:xfrm>
          <a:prstGeom prst="line">
            <a:avLst/>
          </a:prstGeom>
          <a:noFill/>
          <a:ln w="28440">
            <a:solidFill>
              <a:srgbClr val="FF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26" name="AutoShape 25"/>
          <p:cNvSpPr>
            <a:spLocks noChangeArrowheads="1"/>
          </p:cNvSpPr>
          <p:nvPr/>
        </p:nvSpPr>
        <p:spPr bwMode="auto">
          <a:xfrm rot="19140000" flipH="1">
            <a:off x="7746876" y="3122613"/>
            <a:ext cx="228600" cy="22860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28440">
            <a:solidFill>
              <a:srgbClr val="FF66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27" name="Rectangle 26"/>
          <p:cNvSpPr>
            <a:spLocks noChangeArrowheads="1"/>
          </p:cNvSpPr>
          <p:nvPr/>
        </p:nvSpPr>
        <p:spPr bwMode="auto">
          <a:xfrm>
            <a:off x="3706688" y="4343400"/>
            <a:ext cx="1219200" cy="38100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800" b="1">
                <a:solidFill>
                  <a:srgbClr val="000000"/>
                </a:solidFill>
                <a:latin typeface="Arial" charset="0"/>
              </a:rPr>
              <a:t>Customer</a:t>
            </a:r>
          </a:p>
        </p:txBody>
      </p:sp>
      <p:sp>
        <p:nvSpPr>
          <p:cNvPr id="51228" name="Rectangle 27"/>
          <p:cNvSpPr>
            <a:spLocks noChangeArrowheads="1"/>
          </p:cNvSpPr>
          <p:nvPr/>
        </p:nvSpPr>
        <p:spPr bwMode="auto">
          <a:xfrm>
            <a:off x="3706688" y="4724400"/>
            <a:ext cx="1219200" cy="38100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29" name="Line 28"/>
          <p:cNvSpPr>
            <a:spLocks noChangeShapeType="1"/>
          </p:cNvSpPr>
          <p:nvPr/>
        </p:nvSpPr>
        <p:spPr bwMode="auto">
          <a:xfrm flipH="1" flipV="1">
            <a:off x="3322513" y="4111625"/>
            <a:ext cx="387350" cy="387350"/>
          </a:xfrm>
          <a:prstGeom prst="line">
            <a:avLst/>
          </a:prstGeom>
          <a:noFill/>
          <a:ln w="28440">
            <a:solidFill>
              <a:srgbClr val="FF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30" name="AutoShape 29"/>
          <p:cNvSpPr>
            <a:spLocks noChangeArrowheads="1"/>
          </p:cNvSpPr>
          <p:nvPr/>
        </p:nvSpPr>
        <p:spPr bwMode="auto">
          <a:xfrm rot="19140000" flipH="1">
            <a:off x="3174876" y="3962400"/>
            <a:ext cx="228600" cy="22860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28440">
            <a:solidFill>
              <a:srgbClr val="FF66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31" name="AutoShape 30"/>
          <p:cNvSpPr>
            <a:spLocks noChangeArrowheads="1"/>
          </p:cNvSpPr>
          <p:nvPr/>
        </p:nvSpPr>
        <p:spPr bwMode="auto">
          <a:xfrm>
            <a:off x="1649288" y="5029200"/>
            <a:ext cx="228600" cy="22860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28440">
            <a:solidFill>
              <a:srgbClr val="FF66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4" name="Straight Arrow Connector 3"/>
          <p:cNvCxnSpPr/>
          <p:nvPr/>
        </p:nvCxnSpPr>
        <p:spPr bwMode="auto">
          <a:xfrm>
            <a:off x="829816" y="1196752"/>
            <a:ext cx="0" cy="4680520"/>
          </a:xfrm>
          <a:prstGeom prst="straightConnector1">
            <a:avLst/>
          </a:prstGeom>
          <a:solidFill>
            <a:srgbClr val="FF6633"/>
          </a:solidFill>
          <a:ln w="19050" cap="flat" cmpd="sng" algn="ctr">
            <a:solidFill>
              <a:srgbClr val="E46C0A"/>
            </a:solidFill>
            <a:prstDash val="solid"/>
            <a:round/>
            <a:headEnd type="arrow"/>
            <a:tailEnd type="arrow"/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179512" y="3356992"/>
            <a:ext cx="6128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6600"/>
                </a:solidFill>
              </a:rPr>
              <a:t>DIT</a:t>
            </a:r>
            <a:endParaRPr lang="en-US" dirty="0">
              <a:solidFill>
                <a:srgbClr val="FF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4633389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Lucida Sans Unicode" charset="0"/>
                <a:cs typeface="Lucida Sans Unicode" charset="0"/>
              </a:rPr>
              <a:t>Depth of Inheritance Tree</a:t>
            </a:r>
          </a:p>
        </p:txBody>
      </p:sp>
      <p:sp>
        <p:nvSpPr>
          <p:cNvPr id="92162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latin typeface="Lucida Sans Unicode" charset="0"/>
                <a:cs typeface="Times New Roman" charset="0"/>
              </a:rPr>
              <a:t>Too </a:t>
            </a:r>
            <a:r>
              <a:rPr lang="en-US" dirty="0">
                <a:latin typeface="Lucida Sans Unicode" charset="0"/>
                <a:cs typeface="Times New Roman" charset="0"/>
              </a:rPr>
              <a:t>deep inheritance trees </a:t>
            </a:r>
            <a:r>
              <a:rPr lang="en-US" dirty="0" smtClean="0">
                <a:latin typeface="Lucida Sans Unicode" charset="0"/>
                <a:cs typeface="Times New Roman" charset="0"/>
              </a:rPr>
              <a:t>reduces code understandability</a:t>
            </a:r>
          </a:p>
          <a:p>
            <a:pPr lvl="1"/>
            <a:r>
              <a:rPr lang="en-US" dirty="0" smtClean="0">
                <a:latin typeface="Lucida Sans Unicode" charset="0"/>
                <a:cs typeface="Times New Roman" charset="0"/>
              </a:rPr>
              <a:t>In order to figure out the structure and behavior of a class you need to look into each and every ancestor class</a:t>
            </a:r>
          </a:p>
          <a:p>
            <a:r>
              <a:rPr lang="en-US" dirty="0" smtClean="0">
                <a:latin typeface="Lucida Sans Unicode" charset="0"/>
                <a:ea typeface="ＭＳ Ｐゴシック" charset="0"/>
                <a:cs typeface="ＭＳ Ｐゴシック" charset="0"/>
              </a:rPr>
              <a:t>General rule is to keep DIT ≤ 5</a:t>
            </a:r>
          </a:p>
          <a:p>
            <a:pPr lvl="1"/>
            <a:r>
              <a:rPr lang="en-US" dirty="0" smtClean="0">
                <a:latin typeface="Lucida Sans Unicode" charset="0"/>
                <a:ea typeface="ＭＳ Ｐゴシック" charset="0"/>
                <a:cs typeface="ＭＳ Ｐゴシック" charset="0"/>
              </a:rPr>
              <a:t>Empirical </a:t>
            </a:r>
            <a:r>
              <a:rPr lang="en-US" dirty="0">
                <a:latin typeface="Lucida Sans Unicode" charset="0"/>
                <a:ea typeface="ＭＳ Ｐゴシック" charset="0"/>
                <a:cs typeface="ＭＳ Ｐゴシック" charset="0"/>
              </a:rPr>
              <a:t>limit </a:t>
            </a:r>
            <a:r>
              <a:rPr lang="en-US" dirty="0" smtClean="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endParaRPr lang="en-US" dirty="0">
              <a:latin typeface="Lucida Sans Unicode" charset="0"/>
              <a:ea typeface="Lucida Sans Unicode" charset="0"/>
              <a:cs typeface="Lucida Sans Unicode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3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>
                <a:latin typeface="Lucida Sans Unicode" charset="0"/>
                <a:cs typeface="Lucida Sans Unicode" charset="0"/>
              </a:rPr>
              <a:t>Casting</a:t>
            </a:r>
          </a:p>
        </p:txBody>
      </p:sp>
      <p:sp>
        <p:nvSpPr>
          <p:cNvPr id="115714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 lIns="90000" tIns="46800" rIns="90000" bIns="46800">
            <a:spAutoFit/>
          </a:bodyPr>
          <a:lstStyle/>
          <a:p>
            <a:pPr marL="0" indent="0" algn="r" eaLnBrk="1" hangingPunct="1">
              <a:lnSpc>
                <a:spcPct val="100000"/>
              </a:lnSpc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>
              <a:latin typeface="Lucida Sans Unicode" charset="0"/>
              <a:cs typeface="Lucida Sans Unicode" charset="0"/>
            </a:endParaRPr>
          </a:p>
          <a:p>
            <a:pPr marL="0" indent="0" algn="r" eaLnBrk="1" hangingPunct="1">
              <a:lnSpc>
                <a:spcPct val="100000"/>
              </a:lnSpc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>
              <a:latin typeface="Lucida Sans Unicode" charset="0"/>
              <a:cs typeface="Lucida Sans Unicode" charset="0"/>
            </a:endParaRP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auto">
          <a:xfrm>
            <a:off x="467544" y="2636912"/>
            <a:ext cx="7272808" cy="28083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lIns="90360" tIns="44280" rIns="90360" bIns="44280" rtlCol="0" anchor="ctr"/>
          <a:lstStyle/>
          <a:p>
            <a:pPr algn="ctr"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000" b="1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17762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Types</a:t>
            </a:r>
          </a:p>
        </p:txBody>
      </p:sp>
      <p:sp>
        <p:nvSpPr>
          <p:cNvPr id="117763" name="Rectangle 2"/>
          <p:cNvSpPr>
            <a:spLocks noGrp="1" noChangeArrowheads="1"/>
          </p:cNvSpPr>
          <p:nvPr>
            <p:ph idx="1"/>
          </p:nvPr>
        </p:nvSpPr>
        <p:spPr>
          <a:xfrm>
            <a:off x="609600" y="1295400"/>
            <a:ext cx="8224838" cy="3997634"/>
          </a:xfrm>
        </p:spPr>
        <p:txBody>
          <a:bodyPr>
            <a:spAutoFit/>
          </a:bodyPr>
          <a:lstStyle/>
          <a:p>
            <a:pPr eaLnBrk="1" hangingPunct="1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Java is a strictly typed language, i.e., each variable has a type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b="1" dirty="0">
              <a:latin typeface="Courier New" charset="0"/>
              <a:ea typeface="Lucida Sans Unicode" charset="0"/>
              <a:cs typeface="Lucida Sans Unicode" charset="0"/>
            </a:endParaRPr>
          </a:p>
          <a:p>
            <a:pPr marL="400050" lvl="1" indent="0" eaLnBrk="1" hangingPunct="1">
              <a:lnSpc>
                <a:spcPct val="90000"/>
              </a:lnSpc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 dirty="0">
                <a:latin typeface="Courier New" charset="0"/>
                <a:cs typeface="Lucida Sans Unicode" charset="0"/>
              </a:rPr>
              <a:t>float f; </a:t>
            </a:r>
            <a:br>
              <a:rPr lang="en-GB" b="1" dirty="0">
                <a:latin typeface="Courier New" charset="0"/>
                <a:cs typeface="Lucida Sans Unicode" charset="0"/>
              </a:rPr>
            </a:br>
            <a:r>
              <a:rPr lang="en-GB" b="1" dirty="0">
                <a:latin typeface="Courier New" charset="0"/>
                <a:cs typeface="Lucida Sans Unicode" charset="0"/>
              </a:rPr>
              <a:t>f = 4.7; 	</a:t>
            </a:r>
            <a:r>
              <a:rPr lang="en-GB" b="1" dirty="0">
                <a:solidFill>
                  <a:srgbClr val="8064A2"/>
                </a:solidFill>
                <a:latin typeface="Courier New" charset="0"/>
                <a:cs typeface="Lucida Sans Unicode" charset="0"/>
              </a:rPr>
              <a:t>// legal</a:t>
            </a:r>
            <a:r>
              <a:rPr lang="en-GB" b="1" dirty="0">
                <a:solidFill>
                  <a:srgbClr val="00AE00"/>
                </a:solidFill>
                <a:latin typeface="Courier New" charset="0"/>
                <a:cs typeface="Lucida Sans Unicode" charset="0"/>
              </a:rPr>
              <a:t/>
            </a:r>
            <a:br>
              <a:rPr lang="en-GB" b="1" dirty="0">
                <a:solidFill>
                  <a:srgbClr val="00AE00"/>
                </a:solidFill>
                <a:latin typeface="Courier New" charset="0"/>
                <a:cs typeface="Lucida Sans Unicode" charset="0"/>
              </a:rPr>
            </a:br>
            <a:r>
              <a:rPr lang="en-GB" b="1" dirty="0">
                <a:latin typeface="Courier New" charset="0"/>
                <a:cs typeface="Lucida Sans Unicode" charset="0"/>
              </a:rPr>
              <a:t>f = </a:t>
            </a:r>
            <a:r>
              <a:rPr lang="it-IT" altLang="ja-JP" b="1" dirty="0" smtClean="0">
                <a:latin typeface="Courier New" charset="0"/>
                <a:cs typeface="Lucida Sans Unicode" charset="0"/>
              </a:rPr>
              <a:t>"</a:t>
            </a:r>
            <a:r>
              <a:rPr lang="en-GB" altLang="ja-JP" b="1" dirty="0" smtClean="0">
                <a:latin typeface="Courier New" charset="0"/>
                <a:cs typeface="Lucida Sans Unicode" charset="0"/>
              </a:rPr>
              <a:t>string</a:t>
            </a:r>
            <a:r>
              <a:rPr lang="it-IT" altLang="ja-JP" b="1" dirty="0" smtClean="0">
                <a:latin typeface="Courier New" charset="0"/>
                <a:cs typeface="Lucida Sans Unicode" charset="0"/>
              </a:rPr>
              <a:t>"</a:t>
            </a:r>
            <a:r>
              <a:rPr lang="en-GB" altLang="ja-JP" b="1" dirty="0" smtClean="0">
                <a:latin typeface="Courier New" charset="0"/>
                <a:cs typeface="Lucida Sans Unicode" charset="0"/>
              </a:rPr>
              <a:t>;</a:t>
            </a:r>
            <a:r>
              <a:rPr lang="en-GB" altLang="ja-JP" b="1" dirty="0">
                <a:latin typeface="Courier New" charset="0"/>
                <a:cs typeface="Lucida Sans Unicode" charset="0"/>
              </a:rPr>
              <a:t>	</a:t>
            </a:r>
            <a:r>
              <a:rPr lang="en-GB" altLang="ja-JP" b="1" dirty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// illegal</a:t>
            </a:r>
          </a:p>
          <a:p>
            <a:pPr marL="400050" lvl="1" indent="0" eaLnBrk="1" hangingPunct="1">
              <a:lnSpc>
                <a:spcPct val="90000"/>
              </a:lnSpc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 dirty="0">
                <a:latin typeface="Courier New" charset="0"/>
                <a:cs typeface="Lucida Sans Unicode" charset="0"/>
              </a:rPr>
              <a:t>Car c; </a:t>
            </a:r>
            <a:br>
              <a:rPr lang="en-GB" b="1" dirty="0">
                <a:latin typeface="Courier New" charset="0"/>
                <a:cs typeface="Lucida Sans Unicode" charset="0"/>
              </a:rPr>
            </a:br>
            <a:r>
              <a:rPr lang="en-GB" b="1" dirty="0">
                <a:latin typeface="Courier New" charset="0"/>
                <a:cs typeface="Lucida Sans Unicode" charset="0"/>
              </a:rPr>
              <a:t>c = new Car(); 	</a:t>
            </a:r>
            <a:r>
              <a:rPr lang="en-GB" b="1" dirty="0">
                <a:solidFill>
                  <a:srgbClr val="8064A2"/>
                </a:solidFill>
                <a:latin typeface="Courier New" charset="0"/>
                <a:cs typeface="Lucida Sans Unicode" charset="0"/>
              </a:rPr>
              <a:t>// legal</a:t>
            </a:r>
            <a:r>
              <a:rPr lang="en-GB" b="1" dirty="0">
                <a:solidFill>
                  <a:srgbClr val="00AE00"/>
                </a:solidFill>
                <a:latin typeface="Courier New" charset="0"/>
                <a:cs typeface="Lucida Sans Unicode" charset="0"/>
              </a:rPr>
              <a:t/>
            </a:r>
            <a:br>
              <a:rPr lang="en-GB" b="1" dirty="0">
                <a:solidFill>
                  <a:srgbClr val="00AE00"/>
                </a:solidFill>
                <a:latin typeface="Courier New" charset="0"/>
                <a:cs typeface="Lucida Sans Unicode" charset="0"/>
              </a:rPr>
            </a:br>
            <a:r>
              <a:rPr lang="en-GB" b="1" dirty="0">
                <a:latin typeface="Courier New" charset="0"/>
                <a:cs typeface="Lucida Sans Unicode" charset="0"/>
              </a:rPr>
              <a:t>c = new String();	</a:t>
            </a:r>
            <a:r>
              <a:rPr lang="en-GB" b="1" dirty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// illegal</a:t>
            </a:r>
          </a:p>
        </p:txBody>
      </p:sp>
      <p:sp>
        <p:nvSpPr>
          <p:cNvPr id="117761" name="Segnaposto numero diapositiva 5"/>
          <p:cNvSpPr>
            <a:spLocks noGrp="1"/>
          </p:cNvSpPr>
          <p:nvPr>
            <p:ph type="sldNum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B07DC0A8-8E32-F046-A680-883C8D76D942}" type="slidenum">
              <a:rPr lang="en-GB" sz="1200">
                <a:solidFill>
                  <a:srgbClr val="000000"/>
                </a:solidFill>
              </a:rPr>
              <a:pPr eaLnBrk="1" hangingPunct="1"/>
              <a:t>18</a:t>
            </a:fld>
            <a:endParaRPr lang="en-GB" sz="12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auto">
          <a:xfrm>
            <a:off x="467544" y="2564904"/>
            <a:ext cx="6696744" cy="25922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lIns="90360" tIns="44280" rIns="90360" bIns="44280" rtlCol="0" anchor="ctr"/>
          <a:lstStyle/>
          <a:p>
            <a:pPr algn="ctr"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000" b="1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19810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Cast</a:t>
            </a:r>
          </a:p>
        </p:txBody>
      </p:sp>
      <p:sp>
        <p:nvSpPr>
          <p:cNvPr id="121860" name="Rectangle 2"/>
          <p:cNvSpPr>
            <a:spLocks noGrp="1" noChangeArrowheads="1"/>
          </p:cNvSpPr>
          <p:nvPr>
            <p:ph idx="1"/>
          </p:nvPr>
        </p:nvSpPr>
        <p:spPr>
          <a:xfrm>
            <a:off x="609600" y="1295400"/>
            <a:ext cx="8224838" cy="3676264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900"/>
              </a:spcBef>
              <a:spcAft>
                <a:spcPts val="225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3600" dirty="0">
                <a:latin typeface="Lucida Sans Unicode" charset="0"/>
                <a:cs typeface="Lucida Sans Unicode" charset="0"/>
              </a:rPr>
              <a:t>Type conversion </a:t>
            </a:r>
            <a:endParaRPr lang="en-GB" sz="3600" dirty="0" smtClean="0">
              <a:latin typeface="Lucida Sans Unicode" charset="0"/>
              <a:cs typeface="Lucida Sans Unicode" charset="0"/>
            </a:endParaRPr>
          </a:p>
          <a:p>
            <a:pPr lvl="1" eaLnBrk="1" hangingPunct="1">
              <a:lnSpc>
                <a:spcPct val="100000"/>
              </a:lnSpc>
              <a:spcBef>
                <a:spcPts val="900"/>
              </a:spcBef>
              <a:spcAft>
                <a:spcPts val="225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dirty="0" smtClean="0">
                <a:latin typeface="Lucida Sans Unicode" charset="0"/>
                <a:cs typeface="Lucida Sans Unicode" charset="0"/>
              </a:rPr>
              <a:t>explicit </a:t>
            </a:r>
            <a:r>
              <a:rPr lang="en-GB" dirty="0">
                <a:latin typeface="Lucida Sans Unicode" charset="0"/>
                <a:cs typeface="Lucida Sans Unicode" charset="0"/>
              </a:rPr>
              <a:t>or </a:t>
            </a:r>
            <a:r>
              <a:rPr lang="en-GB" dirty="0" smtClean="0">
                <a:latin typeface="Lucida Sans Unicode" charset="0"/>
                <a:cs typeface="Lucida Sans Unicode" charset="0"/>
              </a:rPr>
              <a:t>implicit</a:t>
            </a:r>
            <a:endParaRPr lang="en-GB" dirty="0">
              <a:latin typeface="Lucida Sans Unicode" charset="0"/>
              <a:ea typeface="Lucida Sans Unicode" charset="0"/>
              <a:cs typeface="Lucida Sans Unicode" charset="0"/>
            </a:endParaRPr>
          </a:p>
          <a:p>
            <a:pPr marL="400050" lvl="1" indent="0" eaLnBrk="1" hangingPunct="1">
              <a:lnSpc>
                <a:spcPct val="100000"/>
              </a:lnSpc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b="1" dirty="0" err="1">
                <a:latin typeface="Courier New" charset="0"/>
                <a:cs typeface="Lucida Sans Unicode" charset="0"/>
              </a:rPr>
              <a:t>int</a:t>
            </a:r>
            <a:r>
              <a:rPr lang="en-GB" b="1" dirty="0">
                <a:latin typeface="Courier New" charset="0"/>
                <a:cs typeface="Lucida Sans Unicode" charset="0"/>
              </a:rPr>
              <a:t> </a:t>
            </a:r>
            <a:r>
              <a:rPr lang="en-GB" b="1" dirty="0" err="1">
                <a:latin typeface="Courier New" charset="0"/>
                <a:cs typeface="Lucida Sans Unicode" charset="0"/>
              </a:rPr>
              <a:t>i</a:t>
            </a:r>
            <a:r>
              <a:rPr lang="en-GB" b="1" dirty="0">
                <a:latin typeface="Courier New" charset="0"/>
                <a:cs typeface="Lucida Sans Unicode" charset="0"/>
              </a:rPr>
              <a:t> = 44;</a:t>
            </a:r>
          </a:p>
          <a:p>
            <a:pPr marL="400050" lvl="1" indent="0" eaLnBrk="1" hangingPunct="1">
              <a:lnSpc>
                <a:spcPct val="100000"/>
              </a:lnSpc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b="1" dirty="0">
                <a:latin typeface="Courier New" charset="0"/>
                <a:cs typeface="Lucida Sans Unicode" charset="0"/>
              </a:rPr>
              <a:t>float f = </a:t>
            </a:r>
            <a:r>
              <a:rPr lang="en-GB" b="1" dirty="0" err="1">
                <a:latin typeface="Courier New" charset="0"/>
                <a:cs typeface="Lucida Sans Unicode" charset="0"/>
              </a:rPr>
              <a:t>i</a:t>
            </a:r>
            <a:r>
              <a:rPr lang="en-GB" b="1" dirty="0">
                <a:latin typeface="Courier New" charset="0"/>
                <a:cs typeface="Lucida Sans Unicode" charset="0"/>
              </a:rPr>
              <a:t>; </a:t>
            </a:r>
            <a:br>
              <a:rPr lang="en-GB" b="1" dirty="0">
                <a:latin typeface="Courier New" charset="0"/>
                <a:cs typeface="Lucida Sans Unicode" charset="0"/>
              </a:rPr>
            </a:br>
            <a:r>
              <a:rPr lang="en-GB" b="1" dirty="0">
                <a:solidFill>
                  <a:srgbClr val="77933C"/>
                </a:solidFill>
                <a:latin typeface="Courier New" charset="0"/>
                <a:cs typeface="Lucida Sans Unicode" charset="0"/>
              </a:rPr>
              <a:t>// </a:t>
            </a:r>
            <a:r>
              <a:rPr lang="en-GB" b="1" dirty="0">
                <a:solidFill>
                  <a:srgbClr val="FF6633"/>
                </a:solidFill>
                <a:latin typeface="Courier New" charset="0"/>
                <a:cs typeface="Lucida Sans Unicode" charset="0"/>
              </a:rPr>
              <a:t>implicit</a:t>
            </a:r>
            <a:r>
              <a:rPr lang="en-GB" b="1" dirty="0">
                <a:latin typeface="Courier New" charset="0"/>
                <a:cs typeface="Lucida Sans Unicode" charset="0"/>
              </a:rPr>
              <a:t> </a:t>
            </a:r>
            <a:r>
              <a:rPr lang="en-GB" b="1" dirty="0">
                <a:solidFill>
                  <a:schemeClr val="accent3">
                    <a:lumMod val="75000"/>
                  </a:schemeClr>
                </a:solidFill>
                <a:latin typeface="Courier New" charset="0"/>
                <a:cs typeface="Lucida Sans Unicode" charset="0"/>
              </a:rPr>
              <a:t>cast 2c -&gt; </a:t>
            </a:r>
            <a:r>
              <a:rPr lang="en-GB" b="1" dirty="0" err="1">
                <a:solidFill>
                  <a:schemeClr val="accent3">
                    <a:lumMod val="75000"/>
                  </a:schemeClr>
                </a:solidFill>
                <a:latin typeface="Courier New" charset="0"/>
                <a:cs typeface="Lucida Sans Unicode" charset="0"/>
              </a:rPr>
              <a:t>fp</a:t>
            </a:r>
            <a:endParaRPr lang="en-GB" b="1" dirty="0">
              <a:solidFill>
                <a:schemeClr val="accent3">
                  <a:lumMod val="75000"/>
                </a:schemeClr>
              </a:solidFill>
              <a:latin typeface="Courier New" charset="0"/>
              <a:cs typeface="Lucida Sans Unicode" charset="0"/>
            </a:endParaRPr>
          </a:p>
          <a:p>
            <a:pPr marL="400050" lvl="1" indent="0" eaLnBrk="1" hangingPunct="1">
              <a:lnSpc>
                <a:spcPct val="100000"/>
              </a:lnSpc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b="1" dirty="0">
                <a:latin typeface="Courier New" charset="0"/>
                <a:cs typeface="Lucida Sans Unicode" charset="0"/>
              </a:rPr>
              <a:t>f = (float) 44; </a:t>
            </a:r>
            <a:br>
              <a:rPr lang="en-GB" b="1" dirty="0">
                <a:latin typeface="Courier New" charset="0"/>
                <a:cs typeface="Lucida Sans Unicode" charset="0"/>
              </a:rPr>
            </a:br>
            <a:r>
              <a:rPr lang="en-GB" b="1" dirty="0">
                <a:solidFill>
                  <a:srgbClr val="77933C"/>
                </a:solidFill>
                <a:latin typeface="Courier New" charset="0"/>
                <a:cs typeface="Lucida Sans Unicode" charset="0"/>
              </a:rPr>
              <a:t>// </a:t>
            </a:r>
            <a:r>
              <a:rPr lang="en-GB" b="1" dirty="0">
                <a:solidFill>
                  <a:srgbClr val="FF6633"/>
                </a:solidFill>
                <a:latin typeface="Courier New" charset="0"/>
                <a:cs typeface="Lucida Sans Unicode" charset="0"/>
              </a:rPr>
              <a:t>explicit</a:t>
            </a:r>
            <a:r>
              <a:rPr lang="en-GB" b="1" dirty="0">
                <a:latin typeface="Courier New" charset="0"/>
                <a:cs typeface="Lucida Sans Unicode" charset="0"/>
              </a:rPr>
              <a:t> </a:t>
            </a:r>
            <a:r>
              <a:rPr lang="en-GB" b="1" dirty="0">
                <a:solidFill>
                  <a:srgbClr val="77933C"/>
                </a:solidFill>
                <a:latin typeface="Courier New" charset="0"/>
                <a:cs typeface="Lucida Sans Unicode" charset="0"/>
              </a:rPr>
              <a:t>cast</a:t>
            </a:r>
          </a:p>
        </p:txBody>
      </p:sp>
      <p:sp>
        <p:nvSpPr>
          <p:cNvPr id="119809" name="Segnaposto numero diapositiva 5"/>
          <p:cNvSpPr>
            <a:spLocks noGrp="1"/>
          </p:cNvSpPr>
          <p:nvPr>
            <p:ph type="sldNum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D07FD338-19BE-5543-ADC4-527AE7466FD1}" type="slidenum">
              <a:rPr lang="en-GB" sz="1200">
                <a:solidFill>
                  <a:srgbClr val="000000"/>
                </a:solidFill>
              </a:rPr>
              <a:pPr eaLnBrk="1" hangingPunct="1"/>
              <a:t>19</a:t>
            </a:fld>
            <a:endParaRPr lang="en-GB" sz="12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 bwMode="auto">
          <a:xfrm>
            <a:off x="467544" y="4149080"/>
            <a:ext cx="8424936" cy="10801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lIns="90360" tIns="44280" rIns="90360" bIns="44280" rtlCol="0" anchor="ctr"/>
          <a:lstStyle/>
          <a:p>
            <a:pPr algn="ctr"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000" b="1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21857" name="Segnaposto numero diapositiva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68A45B4F-EADB-564B-A176-52543E4845C8}" type="slidenum">
              <a:rPr lang="en-GB" sz="1200">
                <a:solidFill>
                  <a:srgbClr val="000000"/>
                </a:solidFill>
              </a:rPr>
              <a:pPr eaLnBrk="1" hangingPunct="1"/>
              <a:t>20</a:t>
            </a:fld>
            <a:endParaRPr lang="en-GB" sz="1200">
              <a:solidFill>
                <a:srgbClr val="000000"/>
              </a:solidFill>
            </a:endParaRPr>
          </a:p>
        </p:txBody>
      </p:sp>
      <p:sp>
        <p:nvSpPr>
          <p:cNvPr id="121858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223838"/>
            <a:ext cx="8610600" cy="771525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Cast - Generalization</a:t>
            </a:r>
          </a:p>
        </p:txBody>
      </p:sp>
      <p:sp>
        <p:nvSpPr>
          <p:cNvPr id="121859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1295400"/>
            <a:ext cx="8229600" cy="3878263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Things change slightly with inheritance</a:t>
            </a: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Normal case…</a:t>
            </a:r>
          </a:p>
          <a:p>
            <a:pPr eaLnBrk="1" hangingPunct="1">
              <a:lnSpc>
                <a:spcPct val="100000"/>
              </a:lnSpc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dirty="0">
              <a:latin typeface="Lucida Sans Unicode" charset="0"/>
              <a:cs typeface="Lucida Sans Unicode" charset="0"/>
            </a:endParaRPr>
          </a:p>
          <a:p>
            <a:pPr eaLnBrk="1" hangingPunct="1">
              <a:lnSpc>
                <a:spcPct val="100000"/>
              </a:lnSpc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dirty="0">
              <a:latin typeface="Lucida Sans Unicode" charset="0"/>
              <a:cs typeface="Lucida Sans Unicode" charset="0"/>
            </a:endParaRP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spcAft>
                <a:spcPts val="150"/>
              </a:spcAft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>
                <a:latin typeface="Courier New" charset="0"/>
                <a:cs typeface="Lucida Sans Unicode" charset="0"/>
              </a:rPr>
              <a:t>Employee e = new Employee("Smith",12000);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spcAft>
                <a:spcPts val="150"/>
              </a:spcAft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>
                <a:latin typeface="Courier New" charset="0"/>
                <a:cs typeface="Lucida Sans Unicode" charset="0"/>
              </a:rPr>
              <a:t>Manager m = new Manager("Black",25000,"IT");</a:t>
            </a:r>
          </a:p>
        </p:txBody>
      </p:sp>
      <p:pic>
        <p:nvPicPr>
          <p:cNvPr id="121860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0125" y="1341438"/>
            <a:ext cx="1177925" cy="273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>
                <a:latin typeface="Lucida Sans Unicode" charset="0"/>
                <a:cs typeface="Lucida Sans Unicode" charset="0"/>
              </a:rPr>
              <a:t>Generalization</a:t>
            </a:r>
          </a:p>
        </p:txBody>
      </p:sp>
      <p:sp>
        <p:nvSpPr>
          <p:cNvPr id="123906" name="Oval 3"/>
          <p:cNvSpPr>
            <a:spLocks noChangeArrowheads="1"/>
          </p:cNvSpPr>
          <p:nvPr/>
        </p:nvSpPr>
        <p:spPr bwMode="auto">
          <a:xfrm>
            <a:off x="323850" y="1773238"/>
            <a:ext cx="6480175" cy="3455987"/>
          </a:xfrm>
          <a:prstGeom prst="ellipse">
            <a:avLst/>
          </a:prstGeom>
          <a:solidFill>
            <a:srgbClr val="FDEADA"/>
          </a:solidFill>
          <a:ln w="12600">
            <a:solidFill>
              <a:srgbClr val="E46C0A"/>
            </a:solidFill>
            <a:miter lim="800000"/>
            <a:headEnd/>
            <a:tailEnd/>
          </a:ln>
        </p:spPr>
        <p:txBody>
          <a:bodyPr lIns="90360" tIns="44280" rIns="90360" bIns="44280" anchor="ctr"/>
          <a:lstStyle/>
          <a:p>
            <a:pPr algn="ctr"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it-IT" sz="2000" b="1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5" name="Oval 4"/>
          <p:cNvSpPr/>
          <p:nvPr/>
        </p:nvSpPr>
        <p:spPr bwMode="auto">
          <a:xfrm>
            <a:off x="971550" y="2420938"/>
            <a:ext cx="4679950" cy="2592387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600">
            <a:solidFill>
              <a:schemeClr val="accent3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lIns="90360" tIns="44280" rIns="90360" bIns="44280" anchor="ctr"/>
          <a:lstStyle/>
          <a:p>
            <a:pPr algn="ctr"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endParaRPr lang="it-IT" sz="2000" b="1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6" name="Oval 5"/>
          <p:cNvSpPr/>
          <p:nvPr/>
        </p:nvSpPr>
        <p:spPr bwMode="auto">
          <a:xfrm>
            <a:off x="2051050" y="3644900"/>
            <a:ext cx="2800350" cy="100012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2600">
            <a:solidFill>
              <a:schemeClr val="accent4"/>
            </a:solidFill>
            <a:miter lim="800000"/>
            <a:headEnd/>
            <a:tailEnd/>
          </a:ln>
          <a:effectLst/>
        </p:spPr>
        <p:txBody>
          <a:bodyPr lIns="90360" tIns="44280" rIns="90360" bIns="44280" anchor="ctr"/>
          <a:lstStyle/>
          <a:p>
            <a:pPr algn="ctr"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endParaRPr lang="it-IT" sz="2000" b="1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484438" y="1844675"/>
            <a:ext cx="1943100" cy="4714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it-IT" dirty="0" err="1">
                <a:solidFill>
                  <a:schemeClr val="tx1"/>
                </a:solidFill>
                <a:latin typeface="+mj-lt"/>
              </a:rPr>
              <a:t>Employee</a:t>
            </a:r>
            <a:endParaRPr lang="it-IT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627313" y="2492375"/>
            <a:ext cx="1944687" cy="4714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it-IT" dirty="0">
                <a:solidFill>
                  <a:schemeClr val="tx1"/>
                </a:solidFill>
                <a:latin typeface="+mj-lt"/>
              </a:rPr>
              <a:t>Manager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00338" y="4005263"/>
            <a:ext cx="863600" cy="4714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it-IT" dirty="0">
                <a:solidFill>
                  <a:schemeClr val="tx1"/>
                </a:solidFill>
                <a:latin typeface="+mj-lt"/>
              </a:rPr>
              <a:t>CEO</a:t>
            </a:r>
          </a:p>
        </p:txBody>
      </p:sp>
      <p:sp>
        <p:nvSpPr>
          <p:cNvPr id="10" name="Oval 9"/>
          <p:cNvSpPr/>
          <p:nvPr/>
        </p:nvSpPr>
        <p:spPr bwMode="auto">
          <a:xfrm>
            <a:off x="3924300" y="4076700"/>
            <a:ext cx="71438" cy="73025"/>
          </a:xfrm>
          <a:prstGeom prst="ellipse">
            <a:avLst/>
          </a:prstGeom>
          <a:solidFill>
            <a:schemeClr val="accent6">
              <a:lumMod val="50000"/>
            </a:schemeClr>
          </a:solidFill>
          <a:ln w="12600">
            <a:solidFill>
              <a:schemeClr val="accent6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lIns="90360" tIns="44280" rIns="90360" bIns="44280" anchor="ctr"/>
          <a:lstStyle/>
          <a:p>
            <a:pPr algn="ctr"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endParaRPr lang="it-IT" sz="2000" b="1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1" name="Oval 10"/>
          <p:cNvSpPr/>
          <p:nvPr/>
        </p:nvSpPr>
        <p:spPr bwMode="auto">
          <a:xfrm>
            <a:off x="4076700" y="3284538"/>
            <a:ext cx="71438" cy="73025"/>
          </a:xfrm>
          <a:prstGeom prst="ellipse">
            <a:avLst/>
          </a:prstGeom>
          <a:solidFill>
            <a:schemeClr val="accent6">
              <a:lumMod val="50000"/>
            </a:schemeClr>
          </a:solidFill>
          <a:ln w="12600">
            <a:solidFill>
              <a:schemeClr val="accent6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lIns="90360" tIns="44280" rIns="90360" bIns="44280" anchor="ctr"/>
          <a:lstStyle/>
          <a:p>
            <a:pPr algn="ctr"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endParaRPr lang="it-IT" sz="2000" b="1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2" name="Oval 11"/>
          <p:cNvSpPr/>
          <p:nvPr/>
        </p:nvSpPr>
        <p:spPr bwMode="auto">
          <a:xfrm>
            <a:off x="4284663" y="3436938"/>
            <a:ext cx="71437" cy="73025"/>
          </a:xfrm>
          <a:prstGeom prst="ellipse">
            <a:avLst/>
          </a:prstGeom>
          <a:solidFill>
            <a:schemeClr val="accent6">
              <a:lumMod val="50000"/>
            </a:schemeClr>
          </a:solidFill>
          <a:ln w="12600">
            <a:solidFill>
              <a:schemeClr val="accent6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lIns="90360" tIns="44280" rIns="90360" bIns="44280" anchor="ctr"/>
          <a:lstStyle/>
          <a:p>
            <a:pPr algn="ctr"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endParaRPr lang="it-IT" sz="2000" b="1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3492500" y="3436938"/>
            <a:ext cx="71438" cy="73025"/>
          </a:xfrm>
          <a:prstGeom prst="ellipse">
            <a:avLst/>
          </a:prstGeom>
          <a:solidFill>
            <a:schemeClr val="accent6">
              <a:lumMod val="50000"/>
            </a:schemeClr>
          </a:solidFill>
          <a:ln w="12600">
            <a:solidFill>
              <a:schemeClr val="accent6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lIns="90360" tIns="44280" rIns="90360" bIns="44280" anchor="ctr"/>
          <a:lstStyle/>
          <a:p>
            <a:pPr algn="ctr"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endParaRPr lang="it-IT" sz="2000" b="1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4" name="Oval 13"/>
          <p:cNvSpPr/>
          <p:nvPr/>
        </p:nvSpPr>
        <p:spPr bwMode="auto">
          <a:xfrm>
            <a:off x="2484438" y="3429000"/>
            <a:ext cx="71437" cy="71438"/>
          </a:xfrm>
          <a:prstGeom prst="ellipse">
            <a:avLst/>
          </a:prstGeom>
          <a:solidFill>
            <a:schemeClr val="accent6">
              <a:lumMod val="50000"/>
            </a:schemeClr>
          </a:solidFill>
          <a:ln w="12600">
            <a:solidFill>
              <a:schemeClr val="accent6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lIns="90360" tIns="44280" rIns="90360" bIns="44280" anchor="ctr"/>
          <a:lstStyle/>
          <a:p>
            <a:pPr algn="ctr"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endParaRPr lang="it-IT" sz="2000" b="1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5" name="Oval 14"/>
          <p:cNvSpPr/>
          <p:nvPr/>
        </p:nvSpPr>
        <p:spPr bwMode="auto">
          <a:xfrm>
            <a:off x="4381500" y="3068638"/>
            <a:ext cx="71438" cy="73025"/>
          </a:xfrm>
          <a:prstGeom prst="ellipse">
            <a:avLst/>
          </a:prstGeom>
          <a:solidFill>
            <a:schemeClr val="accent6">
              <a:lumMod val="50000"/>
            </a:schemeClr>
          </a:solidFill>
          <a:ln w="12600">
            <a:solidFill>
              <a:schemeClr val="accent6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lIns="90360" tIns="44280" rIns="90360" bIns="44280" anchor="ctr"/>
          <a:lstStyle/>
          <a:p>
            <a:pPr algn="ctr"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endParaRPr lang="it-IT" sz="2000" b="1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6" name="Oval 15"/>
          <p:cNvSpPr/>
          <p:nvPr/>
        </p:nvSpPr>
        <p:spPr bwMode="auto">
          <a:xfrm>
            <a:off x="4229100" y="2060575"/>
            <a:ext cx="71438" cy="73025"/>
          </a:xfrm>
          <a:prstGeom prst="ellipse">
            <a:avLst/>
          </a:prstGeom>
          <a:solidFill>
            <a:schemeClr val="accent6">
              <a:lumMod val="50000"/>
            </a:schemeClr>
          </a:solidFill>
          <a:ln w="12600">
            <a:solidFill>
              <a:schemeClr val="accent6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lIns="90360" tIns="44280" rIns="90360" bIns="44280" anchor="ctr"/>
          <a:lstStyle/>
          <a:p>
            <a:pPr algn="ctr"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endParaRPr lang="it-IT" sz="2000" b="1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7" name="Oval 16"/>
          <p:cNvSpPr/>
          <p:nvPr/>
        </p:nvSpPr>
        <p:spPr bwMode="auto">
          <a:xfrm>
            <a:off x="4381500" y="2347863"/>
            <a:ext cx="71438" cy="73025"/>
          </a:xfrm>
          <a:prstGeom prst="ellipse">
            <a:avLst/>
          </a:prstGeom>
          <a:solidFill>
            <a:schemeClr val="accent6">
              <a:lumMod val="50000"/>
            </a:schemeClr>
          </a:solidFill>
          <a:ln w="12600">
            <a:solidFill>
              <a:schemeClr val="accent6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lIns="90360" tIns="44280" rIns="90360" bIns="44280" anchor="ctr"/>
          <a:lstStyle/>
          <a:p>
            <a:pPr algn="ctr"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endParaRPr lang="it-IT" sz="2000" b="1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8" name="Oval 17"/>
          <p:cNvSpPr/>
          <p:nvPr/>
        </p:nvSpPr>
        <p:spPr bwMode="auto">
          <a:xfrm>
            <a:off x="4644578" y="2204864"/>
            <a:ext cx="71438" cy="73025"/>
          </a:xfrm>
          <a:prstGeom prst="ellipse">
            <a:avLst/>
          </a:prstGeom>
          <a:solidFill>
            <a:schemeClr val="accent6">
              <a:lumMod val="50000"/>
            </a:schemeClr>
          </a:solidFill>
          <a:ln w="12600">
            <a:solidFill>
              <a:schemeClr val="accent6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lIns="90360" tIns="44280" rIns="90360" bIns="44280" anchor="ctr"/>
          <a:lstStyle/>
          <a:p>
            <a:pPr algn="ctr"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endParaRPr lang="it-IT" sz="2000" b="1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9" name="Oval 18"/>
          <p:cNvSpPr/>
          <p:nvPr/>
        </p:nvSpPr>
        <p:spPr bwMode="auto">
          <a:xfrm>
            <a:off x="4932040" y="2420888"/>
            <a:ext cx="71437" cy="73025"/>
          </a:xfrm>
          <a:prstGeom prst="ellipse">
            <a:avLst/>
          </a:prstGeom>
          <a:solidFill>
            <a:schemeClr val="accent6">
              <a:lumMod val="50000"/>
            </a:schemeClr>
          </a:solidFill>
          <a:ln w="12600">
            <a:solidFill>
              <a:schemeClr val="accent6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lIns="90360" tIns="44280" rIns="90360" bIns="44280" anchor="ctr"/>
          <a:lstStyle/>
          <a:p>
            <a:pPr algn="ctr"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endParaRPr lang="it-IT" sz="2000" b="1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20" name="Oval 19"/>
          <p:cNvSpPr/>
          <p:nvPr/>
        </p:nvSpPr>
        <p:spPr bwMode="auto">
          <a:xfrm>
            <a:off x="5436667" y="2492896"/>
            <a:ext cx="71437" cy="73025"/>
          </a:xfrm>
          <a:prstGeom prst="ellipse">
            <a:avLst/>
          </a:prstGeom>
          <a:solidFill>
            <a:schemeClr val="accent6">
              <a:lumMod val="50000"/>
            </a:schemeClr>
          </a:solidFill>
          <a:ln w="12600">
            <a:solidFill>
              <a:schemeClr val="accent6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lIns="90360" tIns="44280" rIns="90360" bIns="44280" anchor="ctr"/>
          <a:lstStyle/>
          <a:p>
            <a:pPr algn="ctr"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endParaRPr lang="it-IT" sz="2000" b="1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21" name="Oval 20"/>
          <p:cNvSpPr/>
          <p:nvPr/>
        </p:nvSpPr>
        <p:spPr bwMode="auto">
          <a:xfrm>
            <a:off x="5453063" y="2822575"/>
            <a:ext cx="71437" cy="73025"/>
          </a:xfrm>
          <a:prstGeom prst="ellipse">
            <a:avLst/>
          </a:prstGeom>
          <a:solidFill>
            <a:schemeClr val="accent6">
              <a:lumMod val="50000"/>
            </a:schemeClr>
          </a:solidFill>
          <a:ln w="12600">
            <a:solidFill>
              <a:schemeClr val="accent6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lIns="90360" tIns="44280" rIns="90360" bIns="44280" anchor="ctr"/>
          <a:lstStyle/>
          <a:p>
            <a:pPr algn="ctr"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endParaRPr lang="it-IT" sz="2000" b="1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22" name="Oval 21"/>
          <p:cNvSpPr/>
          <p:nvPr/>
        </p:nvSpPr>
        <p:spPr bwMode="auto">
          <a:xfrm>
            <a:off x="5940425" y="2974975"/>
            <a:ext cx="71438" cy="73025"/>
          </a:xfrm>
          <a:prstGeom prst="ellipse">
            <a:avLst/>
          </a:prstGeom>
          <a:solidFill>
            <a:schemeClr val="accent6">
              <a:lumMod val="50000"/>
            </a:schemeClr>
          </a:solidFill>
          <a:ln w="12600">
            <a:solidFill>
              <a:schemeClr val="accent6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lIns="90360" tIns="44280" rIns="90360" bIns="44280" anchor="ctr"/>
          <a:lstStyle/>
          <a:p>
            <a:pPr algn="ctr"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endParaRPr lang="it-IT" sz="2000" b="1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23" name="Oval 22"/>
          <p:cNvSpPr/>
          <p:nvPr/>
        </p:nvSpPr>
        <p:spPr bwMode="auto">
          <a:xfrm>
            <a:off x="6156746" y="3068960"/>
            <a:ext cx="71438" cy="73025"/>
          </a:xfrm>
          <a:prstGeom prst="ellipse">
            <a:avLst/>
          </a:prstGeom>
          <a:solidFill>
            <a:schemeClr val="accent6">
              <a:lumMod val="50000"/>
            </a:schemeClr>
          </a:solidFill>
          <a:ln w="12600">
            <a:solidFill>
              <a:schemeClr val="accent6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lIns="90360" tIns="44280" rIns="90360" bIns="44280" anchor="ctr"/>
          <a:lstStyle/>
          <a:p>
            <a:pPr algn="ctr"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endParaRPr lang="it-IT" sz="2000" b="1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24" name="Oval 23"/>
          <p:cNvSpPr/>
          <p:nvPr/>
        </p:nvSpPr>
        <p:spPr bwMode="auto">
          <a:xfrm>
            <a:off x="6012160" y="3427983"/>
            <a:ext cx="71438" cy="73025"/>
          </a:xfrm>
          <a:prstGeom prst="ellipse">
            <a:avLst/>
          </a:prstGeom>
          <a:solidFill>
            <a:schemeClr val="accent6">
              <a:lumMod val="50000"/>
            </a:schemeClr>
          </a:solidFill>
          <a:ln w="12600">
            <a:solidFill>
              <a:schemeClr val="accent6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lIns="90360" tIns="44280" rIns="90360" bIns="44280" anchor="ctr"/>
          <a:lstStyle/>
          <a:p>
            <a:pPr algn="ctr"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endParaRPr lang="it-IT" sz="2000" b="1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25" name="Oval 24"/>
          <p:cNvSpPr/>
          <p:nvPr/>
        </p:nvSpPr>
        <p:spPr bwMode="auto">
          <a:xfrm>
            <a:off x="6228754" y="3860031"/>
            <a:ext cx="71438" cy="73025"/>
          </a:xfrm>
          <a:prstGeom prst="ellipse">
            <a:avLst/>
          </a:prstGeom>
          <a:solidFill>
            <a:schemeClr val="accent6">
              <a:lumMod val="50000"/>
            </a:schemeClr>
          </a:solidFill>
          <a:ln w="12600">
            <a:solidFill>
              <a:schemeClr val="accent6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lIns="90360" tIns="44280" rIns="90360" bIns="44280" anchor="ctr"/>
          <a:lstStyle/>
          <a:p>
            <a:pPr algn="ctr"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endParaRPr lang="it-IT" sz="2000" b="1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26" name="Oval 25"/>
          <p:cNvSpPr/>
          <p:nvPr/>
        </p:nvSpPr>
        <p:spPr bwMode="auto">
          <a:xfrm>
            <a:off x="6550025" y="3584575"/>
            <a:ext cx="71438" cy="73025"/>
          </a:xfrm>
          <a:prstGeom prst="ellipse">
            <a:avLst/>
          </a:prstGeom>
          <a:solidFill>
            <a:schemeClr val="accent6">
              <a:lumMod val="50000"/>
            </a:schemeClr>
          </a:solidFill>
          <a:ln w="12600">
            <a:solidFill>
              <a:schemeClr val="accent6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lIns="90360" tIns="44280" rIns="90360" bIns="44280" anchor="ctr"/>
          <a:lstStyle/>
          <a:p>
            <a:pPr algn="ctr"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endParaRPr lang="it-IT" sz="2000" b="1">
              <a:solidFill>
                <a:srgbClr val="000000"/>
              </a:solidFill>
              <a:latin typeface="Courier New" charset="0"/>
            </a:endParaRPr>
          </a:p>
        </p:txBody>
      </p:sp>
      <p:pic>
        <p:nvPicPr>
          <p:cNvPr id="123929" name="Picture 2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280" y="1371009"/>
            <a:ext cx="1800199" cy="41770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auto">
          <a:xfrm>
            <a:off x="467544" y="2276872"/>
            <a:ext cx="7128792" cy="122413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lIns="90360" tIns="44280" rIns="90360" bIns="44280" rtlCol="0" anchor="ctr"/>
          <a:lstStyle/>
          <a:p>
            <a:pPr algn="ctr"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000" b="1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24929" name="Segnaposto numero diapositiva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A110536A-5D90-C64A-B3E6-853C5A15E639}" type="slidenum">
              <a:rPr lang="en-GB" sz="1200">
                <a:solidFill>
                  <a:srgbClr val="000000"/>
                </a:solidFill>
              </a:rPr>
              <a:pPr eaLnBrk="1" hangingPunct="1"/>
              <a:t>22</a:t>
            </a:fld>
            <a:endParaRPr lang="en-GB" sz="1200">
              <a:solidFill>
                <a:srgbClr val="000000"/>
              </a:solidFill>
            </a:endParaRPr>
          </a:p>
        </p:txBody>
      </p:sp>
      <p:sp>
        <p:nvSpPr>
          <p:cNvPr id="124930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228600"/>
            <a:ext cx="8610600" cy="762000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Upcast</a:t>
            </a:r>
          </a:p>
        </p:txBody>
      </p:sp>
      <p:sp>
        <p:nvSpPr>
          <p:cNvPr id="124931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1295400"/>
            <a:ext cx="8229600" cy="4581525"/>
          </a:xfrm>
        </p:spPr>
        <p:txBody>
          <a:bodyPr/>
          <a:lstStyle/>
          <a:p>
            <a:pPr eaLnBrk="1" hangingPunct="1">
              <a:lnSpc>
                <a:spcPct val="100000"/>
              </a:lnSpc>
              <a:spcBef>
                <a:spcPts val="700"/>
              </a:spcBef>
              <a:spcAft>
                <a:spcPts val="175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>
                <a:latin typeface="Lucida Sans Unicode" charset="0"/>
                <a:cs typeface="Lucida Sans Unicode" charset="0"/>
              </a:rPr>
              <a:t>Assignment  from a more specific type (subtype) to a more general type (</a:t>
            </a:r>
            <a:r>
              <a:rPr lang="en-GB" sz="2800" dirty="0" err="1">
                <a:latin typeface="Lucida Sans Unicode" charset="0"/>
                <a:cs typeface="Lucida Sans Unicode" charset="0"/>
              </a:rPr>
              <a:t>supertype</a:t>
            </a:r>
            <a:r>
              <a:rPr lang="en-GB" sz="2800" dirty="0" smtClean="0">
                <a:latin typeface="Lucida Sans Unicode" charset="0"/>
                <a:cs typeface="Lucida Sans Unicode" charset="0"/>
              </a:rPr>
              <a:t>)</a:t>
            </a:r>
            <a:endParaRPr lang="en-GB" sz="1200" dirty="0">
              <a:latin typeface="Lucida Sans Unicode" charset="0"/>
              <a:cs typeface="Lucida Sans Unicode" charset="0"/>
            </a:endParaRPr>
          </a:p>
          <a:p>
            <a:pPr marL="457200" lvl="1" indent="0" eaLnBrk="1" hangingPunct="1">
              <a:lnSpc>
                <a:spcPct val="100000"/>
              </a:lnSpc>
              <a:spcAft>
                <a:spcPts val="175"/>
              </a:spcAft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 smtClean="0">
                <a:latin typeface="Courier New" charset="0"/>
                <a:ea typeface="Lucida Sans Unicode" charset="0"/>
                <a:cs typeface="Lucida Sans Unicode" charset="0"/>
              </a:rPr>
              <a:t>Employee </a:t>
            </a:r>
            <a:r>
              <a:rPr lang="en-GB" sz="2400" b="1" dirty="0">
                <a:latin typeface="Courier New" charset="0"/>
                <a:ea typeface="Lucida Sans Unicode" charset="0"/>
                <a:cs typeface="Lucida Sans Unicode" charset="0"/>
              </a:rPr>
              <a:t>e = new Employee(…);</a:t>
            </a:r>
            <a:br>
              <a:rPr lang="en-GB" sz="2400" b="1" dirty="0">
                <a:latin typeface="Courier New" charset="0"/>
                <a:ea typeface="Lucida Sans Unicode" charset="0"/>
                <a:cs typeface="Lucida Sans Unicode" charset="0"/>
              </a:rPr>
            </a:br>
            <a:r>
              <a:rPr lang="en-GB" sz="2400" b="1" dirty="0">
                <a:latin typeface="Courier New" charset="0"/>
                <a:ea typeface="Lucida Sans Unicode" charset="0"/>
                <a:cs typeface="Lucida Sans Unicode" charset="0"/>
              </a:rPr>
              <a:t>Manager m = new Manager(…);</a:t>
            </a:r>
            <a:br>
              <a:rPr lang="en-GB" sz="2400" b="1" dirty="0">
                <a:latin typeface="Courier New" charset="0"/>
                <a:ea typeface="Lucida Sans Unicode" charset="0"/>
                <a:cs typeface="Lucida Sans Unicode" charset="0"/>
              </a:rPr>
            </a:br>
            <a:r>
              <a:rPr lang="en-GB" sz="2400" b="1" dirty="0">
                <a:latin typeface="Courier New" charset="0"/>
                <a:ea typeface="Lucida Sans Unicode" charset="0"/>
                <a:cs typeface="Lucida Sans Unicode" charset="0"/>
              </a:rPr>
              <a:t>Employee </a:t>
            </a:r>
            <a:r>
              <a:rPr lang="en-GB" sz="2400" b="1" dirty="0" err="1">
                <a:latin typeface="Courier New" charset="0"/>
                <a:ea typeface="Lucida Sans Unicode" charset="0"/>
                <a:cs typeface="Lucida Sans Unicode" charset="0"/>
              </a:rPr>
              <a:t>em</a:t>
            </a:r>
            <a:r>
              <a:rPr lang="en-GB" sz="2400" b="1" dirty="0">
                <a:latin typeface="Courier New" charset="0"/>
                <a:ea typeface="Lucida Sans Unicode" charset="0"/>
                <a:cs typeface="Lucida Sans Unicode" charset="0"/>
              </a:rPr>
              <a:t> = </a:t>
            </a:r>
            <a:r>
              <a:rPr lang="en-GB" sz="2400" b="1" dirty="0" smtClean="0">
                <a:latin typeface="Courier New" charset="0"/>
                <a:ea typeface="Lucida Sans Unicode" charset="0"/>
                <a:cs typeface="Lucida Sans Unicode" charset="0"/>
              </a:rPr>
              <a:t>m</a:t>
            </a:r>
            <a:endParaRPr lang="en-GB" dirty="0">
              <a:latin typeface="Lucida Sans Unicode" charset="0"/>
              <a:ea typeface="Lucida Sans Unicode" charset="0"/>
              <a:cs typeface="Lucida Sans Unicode" charset="0"/>
            </a:endParaRPr>
          </a:p>
          <a:p>
            <a:pPr lvl="1" eaLnBrk="1" hangingPunct="1">
              <a:lnSpc>
                <a:spcPct val="100000"/>
              </a:lnSpc>
              <a:spcAft>
                <a:spcPts val="175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dirty="0">
                <a:latin typeface="Lucida Sans Unicode" charset="0"/>
                <a:ea typeface="Lucida Sans Unicode" charset="0"/>
                <a:cs typeface="Lucida Sans Unicode" charset="0"/>
              </a:rPr>
              <a:t>∀ m ∈ Manager : m ∈ Employee</a:t>
            </a: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spcAft>
                <a:spcPts val="175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 err="1">
                <a:latin typeface="Lucida Sans Unicode" charset="0"/>
                <a:cs typeface="Lucida Sans Unicode" charset="0"/>
              </a:rPr>
              <a:t>Upcasts</a:t>
            </a:r>
            <a:r>
              <a:rPr lang="en-GB" sz="2800" dirty="0">
                <a:latin typeface="Lucida Sans Unicode" charset="0"/>
                <a:cs typeface="Lucida Sans Unicode" charset="0"/>
              </a:rPr>
              <a:t> are always type-safe and are performed implicitly by the compiler</a:t>
            </a:r>
          </a:p>
          <a:p>
            <a:pPr lvl="1" eaLnBrk="1" hangingPunct="1">
              <a:lnSpc>
                <a:spcPct val="100000"/>
              </a:lnSpc>
              <a:spcAft>
                <a:spcPts val="175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dirty="0">
                <a:latin typeface="Lucida Sans Unicode" charset="0"/>
                <a:ea typeface="Lucida Sans Unicode" charset="0"/>
                <a:cs typeface="Lucida Sans Unicode" charset="0"/>
              </a:rPr>
              <a:t>Though it is legal to explicitly indicate the cast</a:t>
            </a: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467544" y="3284984"/>
            <a:ext cx="7776864" cy="26642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lIns="90360" tIns="44280" rIns="90360" bIns="44280" rtlCol="0" anchor="ctr"/>
          <a:lstStyle/>
          <a:p>
            <a:pPr algn="ctr"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000" b="1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2697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>
                <a:latin typeface="Lucida Sans Unicode" charset="0"/>
                <a:cs typeface="Lucida Sans Unicode" charset="0"/>
              </a:rPr>
              <a:t>Upcast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it-IT" dirty="0" err="1" smtClean="0"/>
              <a:t>Motivation</a:t>
            </a:r>
            <a:endParaRPr lang="it-IT" dirty="0"/>
          </a:p>
          <a:p>
            <a:pPr lvl="1">
              <a:defRPr/>
            </a:pPr>
            <a:r>
              <a:rPr lang="it-IT" dirty="0" err="1" smtClean="0"/>
              <a:t>You</a:t>
            </a:r>
            <a:r>
              <a:rPr lang="it-IT" dirty="0" smtClean="0"/>
              <a:t> can </a:t>
            </a:r>
            <a:r>
              <a:rPr lang="it-IT" dirty="0" err="1" smtClean="0"/>
              <a:t>treat</a:t>
            </a:r>
            <a:r>
              <a:rPr lang="it-IT" dirty="0" smtClean="0"/>
              <a:t> </a:t>
            </a:r>
            <a:r>
              <a:rPr lang="it-IT" dirty="0" err="1" smtClean="0"/>
              <a:t>indifferently</a:t>
            </a:r>
            <a:r>
              <a:rPr lang="it-IT" dirty="0" smtClean="0"/>
              <a:t> </a:t>
            </a:r>
            <a:r>
              <a:rPr lang="it-IT" dirty="0" err="1" smtClean="0"/>
              <a:t>objects</a:t>
            </a:r>
            <a:r>
              <a:rPr lang="it-IT" dirty="0" smtClean="0"/>
              <a:t> of </a:t>
            </a:r>
            <a:r>
              <a:rPr lang="it-IT" dirty="0" err="1" smtClean="0"/>
              <a:t>different</a:t>
            </a:r>
            <a:r>
              <a:rPr lang="it-IT" dirty="0" smtClean="0"/>
              <a:t> </a:t>
            </a:r>
            <a:r>
              <a:rPr lang="it-IT" dirty="0" err="1" smtClean="0"/>
              <a:t>classes</a:t>
            </a:r>
            <a:r>
              <a:rPr lang="it-IT" dirty="0" smtClean="0"/>
              <a:t>, </a:t>
            </a:r>
            <a:r>
              <a:rPr lang="it-IT" dirty="0" err="1" smtClean="0"/>
              <a:t>provided</a:t>
            </a:r>
            <a:r>
              <a:rPr lang="it-IT" dirty="0" smtClean="0"/>
              <a:t> </a:t>
            </a:r>
            <a:r>
              <a:rPr lang="it-IT" dirty="0" err="1" smtClean="0"/>
              <a:t>they</a:t>
            </a:r>
            <a:r>
              <a:rPr lang="it-IT" dirty="0" smtClean="0"/>
              <a:t> derive from a common base </a:t>
            </a:r>
            <a:r>
              <a:rPr lang="it-IT" dirty="0" err="1" smtClean="0"/>
              <a:t>class</a:t>
            </a:r>
            <a:endParaRPr lang="it-IT" dirty="0" smtClean="0"/>
          </a:p>
          <a:p>
            <a:pPr marL="0" indent="0">
              <a:buFont typeface="Wingdings" charset="0"/>
              <a:buNone/>
              <a:defRPr/>
            </a:pPr>
            <a:r>
              <a:rPr lang="it-IT" sz="2400" b="1" dirty="0" err="1" smtClean="0">
                <a:latin typeface="Courier New"/>
                <a:cs typeface="Courier New"/>
              </a:rPr>
              <a:t>Employee</a:t>
            </a:r>
            <a:r>
              <a:rPr lang="it-IT" sz="2400" b="1" dirty="0">
                <a:latin typeface="Courier New"/>
                <a:cs typeface="Courier New"/>
              </a:rPr>
              <a:t>[] team = {</a:t>
            </a:r>
          </a:p>
          <a:p>
            <a:pPr marL="0" indent="0">
              <a:buFont typeface="Wingdings" charset="0"/>
              <a:buNone/>
              <a:defRPr/>
            </a:pPr>
            <a:r>
              <a:rPr lang="en-US" sz="2400" b="1" dirty="0">
                <a:latin typeface="Courier New"/>
                <a:cs typeface="Courier New"/>
              </a:rPr>
              <a:t> </a:t>
            </a:r>
            <a:r>
              <a:rPr lang="en-US" sz="2400" b="1" dirty="0" smtClean="0">
                <a:latin typeface="Courier New"/>
                <a:cs typeface="Courier New"/>
              </a:rPr>
              <a:t> new </a:t>
            </a:r>
            <a:r>
              <a:rPr lang="en-US" sz="2400" b="1" dirty="0">
                <a:latin typeface="Courier New"/>
                <a:cs typeface="Courier New"/>
              </a:rPr>
              <a:t>Manager("Mary Black",25000,"IT"),</a:t>
            </a:r>
          </a:p>
          <a:p>
            <a:pPr marL="0" indent="0">
              <a:buFont typeface="Wingdings" charset="0"/>
              <a:buNone/>
              <a:defRPr/>
            </a:pPr>
            <a:r>
              <a:rPr lang="en-US" sz="2400" b="1" dirty="0">
                <a:latin typeface="Courier New"/>
                <a:cs typeface="Courier New"/>
              </a:rPr>
              <a:t> </a:t>
            </a:r>
            <a:r>
              <a:rPr lang="en-US" sz="2400" b="1" dirty="0" smtClean="0">
                <a:latin typeface="Courier New"/>
                <a:cs typeface="Courier New"/>
              </a:rPr>
              <a:t> new </a:t>
            </a:r>
            <a:r>
              <a:rPr lang="en-US" sz="2400" b="1" dirty="0">
                <a:latin typeface="Courier New"/>
                <a:cs typeface="Courier New"/>
              </a:rPr>
              <a:t>Employee("John Smith",12000),</a:t>
            </a:r>
          </a:p>
          <a:p>
            <a:pPr marL="0" indent="0">
              <a:buFont typeface="Wingdings" charset="0"/>
              <a:buNone/>
              <a:defRPr/>
            </a:pPr>
            <a:r>
              <a:rPr lang="en-US" sz="2400" b="1" dirty="0">
                <a:latin typeface="Courier New"/>
                <a:cs typeface="Courier New"/>
              </a:rPr>
              <a:t> </a:t>
            </a:r>
            <a:r>
              <a:rPr lang="en-US" sz="2400" b="1" dirty="0" smtClean="0">
                <a:latin typeface="Courier New"/>
                <a:cs typeface="Courier New"/>
              </a:rPr>
              <a:t> new </a:t>
            </a:r>
            <a:r>
              <a:rPr lang="en-US" sz="2400" b="1" dirty="0">
                <a:latin typeface="Courier New"/>
                <a:cs typeface="Courier New"/>
              </a:rPr>
              <a:t>Employee("Jane Doe",12000)</a:t>
            </a:r>
          </a:p>
          <a:p>
            <a:pPr marL="0" indent="0">
              <a:buFont typeface="Wingdings" charset="0"/>
              <a:buNone/>
              <a:defRPr/>
            </a:pPr>
            <a:r>
              <a:rPr lang="en-US" sz="2400" b="1" dirty="0" smtClean="0">
                <a:latin typeface="Courier New"/>
                <a:cs typeface="Courier New"/>
              </a:rPr>
              <a:t>}</a:t>
            </a:r>
            <a:r>
              <a:rPr lang="en-US" sz="2400" b="1" dirty="0">
                <a:latin typeface="Courier New"/>
                <a:cs typeface="Courier New"/>
              </a:rPr>
              <a:t>;</a:t>
            </a:r>
          </a:p>
          <a:p>
            <a:pPr marL="0" indent="0">
              <a:buFont typeface="Wingdings" charset="0"/>
              <a:buNone/>
              <a:defRPr/>
            </a:pPr>
            <a:endParaRPr lang="it-IT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>
                <a:latin typeface="Lucida Sans Unicode" charset="0"/>
                <a:cs typeface="Lucida Sans Unicode" charset="0"/>
              </a:rPr>
              <a:t>Cast and </a:t>
            </a:r>
            <a:r>
              <a:rPr lang="it-IT" dirty="0" err="1" smtClean="0">
                <a:latin typeface="Lucida Sans Unicode" charset="0"/>
                <a:cs typeface="Lucida Sans Unicode" charset="0"/>
              </a:rPr>
              <a:t>conversion</a:t>
            </a:r>
            <a:endParaRPr lang="it-IT" dirty="0">
              <a:latin typeface="Lucida Sans Unicode" charset="0"/>
              <a:cs typeface="Lucida Sans Unicode" charset="0"/>
            </a:endParaRPr>
          </a:p>
        </p:txBody>
      </p:sp>
      <p:sp>
        <p:nvSpPr>
          <p:cNvPr id="12800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Aft>
                <a:spcPts val="175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Reference type and object type are distinct concepts 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it-IT">
                <a:latin typeface="Lucida Sans Unicode" charset="0"/>
                <a:cs typeface="Lucida Sans Unicode" charset="0"/>
              </a:rPr>
              <a:t>A reference cast only affects the reference</a:t>
            </a:r>
          </a:p>
          <a:p>
            <a:pPr lvl="1" eaLnBrk="1" hangingPunct="1">
              <a:lnSpc>
                <a:spcPct val="90000"/>
              </a:lnSpc>
              <a:spcAft>
                <a:spcPts val="175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>
                <a:latin typeface="Lucida Sans Unicode" charset="0"/>
                <a:ea typeface="Lucida Sans Unicode" charset="0"/>
                <a:cs typeface="Lucida Sans Unicode" charset="0"/>
              </a:rPr>
              <a:t>In the previous example the object referenced to by </a:t>
            </a:r>
            <a:r>
              <a:rPr lang="ja-JP" altLang="en-GB" sz="2400">
                <a:latin typeface="Lucida Sans Unicode" charset="0"/>
                <a:ea typeface="Lucida Sans Unicode" charset="0"/>
                <a:cs typeface="Lucida Sans Unicode" charset="0"/>
              </a:rPr>
              <a:t>‘</a:t>
            </a:r>
            <a:r>
              <a:rPr lang="en-GB" altLang="ja-JP" sz="2400" b="1">
                <a:latin typeface="Courier New" charset="0"/>
                <a:ea typeface="Lucida Sans Unicode" charset="0"/>
                <a:cs typeface="Lucida Sans Unicode" charset="0"/>
              </a:rPr>
              <a:t>em</a:t>
            </a:r>
            <a:r>
              <a:rPr lang="ja-JP" altLang="en-GB" sz="2400">
                <a:latin typeface="Lucida Sans Unicode" charset="0"/>
                <a:ea typeface="Lucida Sans Unicode" charset="0"/>
                <a:cs typeface="Lucida Sans Unicode" charset="0"/>
              </a:rPr>
              <a:t>’</a:t>
            </a:r>
            <a:r>
              <a:rPr lang="en-GB" altLang="ja-JP" sz="2400">
                <a:latin typeface="Lucida Sans Unicode" charset="0"/>
                <a:ea typeface="Lucida Sans Unicode" charset="0"/>
                <a:cs typeface="Lucida Sans Unicode" charset="0"/>
              </a:rPr>
              <a:t> continues to be of Manager type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it-IT">
                <a:latin typeface="Lucida Sans Unicode" charset="0"/>
                <a:cs typeface="Lucida Sans Unicode" charset="0"/>
              </a:rPr>
              <a:t>Notably, in contrast, a primitive type cast involves a value conversion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5" name="Segnaposto numero diapositiva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97CFD609-A9AD-AF4D-8722-83602471D8B4}" type="slidenum">
              <a:rPr lang="en-GB" sz="1200">
                <a:solidFill>
                  <a:srgbClr val="000000"/>
                </a:solidFill>
              </a:rPr>
              <a:pPr eaLnBrk="1" hangingPunct="1"/>
              <a:t>25</a:t>
            </a:fld>
            <a:endParaRPr lang="en-GB" sz="1200">
              <a:solidFill>
                <a:srgbClr val="000000"/>
              </a:solidFill>
            </a:endParaRPr>
          </a:p>
        </p:txBody>
      </p:sp>
      <p:sp>
        <p:nvSpPr>
          <p:cNvPr id="129026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152400"/>
            <a:ext cx="8610600" cy="914400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Downcast</a:t>
            </a:r>
          </a:p>
        </p:txBody>
      </p:sp>
      <p:sp>
        <p:nvSpPr>
          <p:cNvPr id="129027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1295400"/>
            <a:ext cx="8229600" cy="4418013"/>
          </a:xfrm>
        </p:spPr>
        <p:txBody>
          <a:bodyPr>
            <a:spAutoFit/>
          </a:bodyPr>
          <a:lstStyle/>
          <a:p>
            <a:pPr eaLnBrk="1" hangingPunct="1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Assignment  from a more general type (super-type) to a more specific type (sub-type)</a:t>
            </a:r>
          </a:p>
          <a:p>
            <a:pPr lvl="1" eaLnBrk="1" hangingPunct="1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 dirty="0">
                <a:latin typeface="Courier New" charset="0"/>
                <a:ea typeface="Lucida Sans Unicode" charset="0"/>
                <a:cs typeface="Courier New" charset="0"/>
              </a:rPr>
              <a:t>Manager mm = </a:t>
            </a:r>
            <a:r>
              <a:rPr lang="en-GB" b="1" dirty="0">
                <a:solidFill>
                  <a:srgbClr val="FF6600"/>
                </a:solidFill>
                <a:latin typeface="Courier New" charset="0"/>
                <a:ea typeface="Lucida Sans Unicode" charset="0"/>
                <a:cs typeface="Courier New" charset="0"/>
              </a:rPr>
              <a:t>(Manager)</a:t>
            </a:r>
            <a:r>
              <a:rPr lang="en-GB" b="1" dirty="0" err="1">
                <a:latin typeface="Courier New" charset="0"/>
                <a:ea typeface="Lucida Sans Unicode" charset="0"/>
                <a:cs typeface="Courier New" charset="0"/>
              </a:rPr>
              <a:t>em</a:t>
            </a:r>
            <a:r>
              <a:rPr lang="en-GB" b="1" dirty="0">
                <a:latin typeface="Courier New" charset="0"/>
                <a:ea typeface="Lucida Sans Unicode" charset="0"/>
                <a:cs typeface="Courier New" charset="0"/>
              </a:rPr>
              <a:t>;	</a:t>
            </a:r>
          </a:p>
          <a:p>
            <a:pPr marL="742950" lvl="2" indent="-338138" eaLnBrk="1" hangingPunct="1">
              <a:lnSpc>
                <a:spcPct val="90000"/>
              </a:lnSpc>
              <a:spcBef>
                <a:spcPts val="800"/>
              </a:spcBef>
              <a:spcAft>
                <a:spcPts val="200"/>
              </a:spcAft>
              <a:buFont typeface="Wingdings" charset="0"/>
              <a:buChar char="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∃ </a:t>
            </a:r>
            <a:r>
              <a:rPr lang="en-GB" dirty="0" err="1">
                <a:latin typeface="Lucida Sans Unicode" charset="0"/>
                <a:ea typeface="Lucida Sans Unicode" charset="0"/>
                <a:cs typeface="Lucida Sans Unicode" charset="0"/>
              </a:rPr>
              <a:t>em</a:t>
            </a: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 ∈ Employee : </a:t>
            </a:r>
            <a:r>
              <a:rPr lang="en-GB" dirty="0" err="1">
                <a:latin typeface="Lucida Sans Unicode" charset="0"/>
                <a:ea typeface="Lucida Sans Unicode" charset="0"/>
                <a:cs typeface="Lucida Sans Unicode" charset="0"/>
              </a:rPr>
              <a:t>em</a:t>
            </a: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 ∈ Manager</a:t>
            </a:r>
          </a:p>
          <a:p>
            <a:pPr marL="742950" lvl="2" indent="-338138" eaLnBrk="1" hangingPunct="1">
              <a:lnSpc>
                <a:spcPct val="90000"/>
              </a:lnSpc>
              <a:spcBef>
                <a:spcPts val="800"/>
              </a:spcBef>
              <a:spcAft>
                <a:spcPts val="200"/>
              </a:spcAft>
              <a:buFont typeface="Wingdings" charset="0"/>
              <a:buChar char="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∃ </a:t>
            </a:r>
            <a:r>
              <a:rPr lang="en-GB" dirty="0" err="1">
                <a:latin typeface="Lucida Sans Unicode" charset="0"/>
                <a:ea typeface="Lucida Sans Unicode" charset="0"/>
                <a:cs typeface="Lucida Sans Unicode" charset="0"/>
              </a:rPr>
              <a:t>em</a:t>
            </a: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 ∈ Employee : </a:t>
            </a:r>
            <a:r>
              <a:rPr lang="en-GB" dirty="0" err="1">
                <a:latin typeface="Lucida Sans Unicode" charset="0"/>
                <a:ea typeface="Lucida Sans Unicode" charset="0"/>
                <a:cs typeface="Lucida Sans Unicode" charset="0"/>
              </a:rPr>
              <a:t>em</a:t>
            </a: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 ∉ Manager</a:t>
            </a:r>
          </a:p>
          <a:p>
            <a:pPr eaLnBrk="1" hangingPunct="1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it-IT" dirty="0" err="1">
                <a:latin typeface="Lucida Sans Unicode" charset="0"/>
                <a:cs typeface="Lucida Sans Unicode" charset="0"/>
              </a:rPr>
              <a:t>Not</a:t>
            </a:r>
            <a:r>
              <a:rPr lang="it-IT" dirty="0">
                <a:latin typeface="Lucida Sans Unicode" charset="0"/>
                <a:cs typeface="Lucida Sans Unicode" charset="0"/>
              </a:rPr>
              <a:t> </a:t>
            </a:r>
            <a:r>
              <a:rPr lang="it-IT" dirty="0" err="1">
                <a:latin typeface="Lucida Sans Unicode" charset="0"/>
                <a:cs typeface="Lucida Sans Unicode" charset="0"/>
              </a:rPr>
              <a:t>safe</a:t>
            </a:r>
            <a:r>
              <a:rPr lang="it-IT" dirty="0">
                <a:latin typeface="Lucida Sans Unicode" charset="0"/>
                <a:cs typeface="Lucida Sans Unicode" charset="0"/>
              </a:rPr>
              <a:t> by default</a:t>
            </a:r>
            <a:r>
              <a:rPr lang="en-GB" altLang="ja-JP" dirty="0">
                <a:latin typeface="Lucida Sans Unicode" charset="0"/>
                <a:cs typeface="Lucida Sans Unicode" charset="0"/>
              </a:rPr>
              <a:t>, no automatic conversion provided by the compiler</a:t>
            </a:r>
          </a:p>
          <a:p>
            <a:pPr lvl="1" eaLnBrk="1" hangingPunct="1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 u="sng" dirty="0">
                <a:latin typeface="Lucida Sans Unicode" charset="0"/>
                <a:ea typeface="Lucida Sans Unicode" charset="0"/>
                <a:cs typeface="Lucida Sans Unicode" charset="0"/>
              </a:rPr>
              <a:t>MUST</a:t>
            </a: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 be </a:t>
            </a:r>
            <a:r>
              <a:rPr lang="en-GB" dirty="0">
                <a:solidFill>
                  <a:srgbClr val="FF6600"/>
                </a:solidFill>
                <a:latin typeface="Lucida Sans Unicode" charset="0"/>
                <a:ea typeface="Lucida Sans Unicode" charset="0"/>
                <a:cs typeface="Lucida Sans Unicode" charset="0"/>
              </a:rPr>
              <a:t>explicit</a:t>
            </a: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auto">
          <a:xfrm>
            <a:off x="467544" y="3717032"/>
            <a:ext cx="6480720" cy="22322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lIns="90360" tIns="44280" rIns="90360" bIns="44280" rtlCol="0" anchor="ctr"/>
          <a:lstStyle/>
          <a:p>
            <a:pPr algn="ctr"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000" b="1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3107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>
                <a:latin typeface="Lucida Sans Unicode" charset="0"/>
                <a:cs typeface="Lucida Sans Unicode" charset="0"/>
              </a:rPr>
              <a:t>Downcast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it-IT" dirty="0" err="1" smtClean="0"/>
              <a:t>Motivation</a:t>
            </a:r>
            <a:endParaRPr lang="it-IT" dirty="0"/>
          </a:p>
          <a:p>
            <a:pPr lvl="1">
              <a:defRPr/>
            </a:pPr>
            <a:r>
              <a:rPr lang="it-IT" dirty="0" smtClean="0"/>
              <a:t>To </a:t>
            </a:r>
            <a:r>
              <a:rPr lang="it-IT" dirty="0" err="1" smtClean="0"/>
              <a:t>access</a:t>
            </a:r>
            <a:r>
              <a:rPr lang="it-IT" dirty="0" smtClean="0"/>
              <a:t> a </a:t>
            </a:r>
            <a:r>
              <a:rPr lang="it-IT" dirty="0" err="1" smtClean="0"/>
              <a:t>member</a:t>
            </a:r>
            <a:r>
              <a:rPr lang="it-IT" dirty="0" smtClean="0"/>
              <a:t> </a:t>
            </a:r>
            <a:r>
              <a:rPr lang="it-IT" dirty="0" err="1" smtClean="0"/>
              <a:t>defined</a:t>
            </a:r>
            <a:r>
              <a:rPr lang="it-IT" dirty="0" smtClean="0"/>
              <a:t> in a </a:t>
            </a:r>
            <a:r>
              <a:rPr lang="it-IT" dirty="0" err="1" smtClean="0"/>
              <a:t>class</a:t>
            </a:r>
            <a:r>
              <a:rPr lang="it-IT" dirty="0" smtClean="0"/>
              <a:t> </a:t>
            </a:r>
            <a:r>
              <a:rPr lang="it-IT" dirty="0" err="1" smtClean="0"/>
              <a:t>you</a:t>
            </a:r>
            <a:r>
              <a:rPr lang="it-IT" dirty="0" smtClean="0"/>
              <a:t> </a:t>
            </a:r>
            <a:r>
              <a:rPr lang="it-IT" dirty="0" err="1" smtClean="0"/>
              <a:t>need</a:t>
            </a:r>
            <a:r>
              <a:rPr lang="it-IT" dirty="0" smtClean="0"/>
              <a:t> a </a:t>
            </a:r>
            <a:r>
              <a:rPr lang="it-IT" dirty="0" err="1" smtClean="0"/>
              <a:t>reference</a:t>
            </a:r>
            <a:r>
              <a:rPr lang="it-IT" dirty="0" smtClean="0"/>
              <a:t> of </a:t>
            </a:r>
            <a:r>
              <a:rPr lang="it-IT" dirty="0" err="1" smtClean="0"/>
              <a:t>that</a:t>
            </a:r>
            <a:r>
              <a:rPr lang="it-IT" dirty="0" smtClean="0"/>
              <a:t> </a:t>
            </a:r>
            <a:r>
              <a:rPr lang="it-IT" dirty="0" err="1" smtClean="0"/>
              <a:t>class</a:t>
            </a:r>
            <a:r>
              <a:rPr lang="it-IT" dirty="0" smtClean="0"/>
              <a:t> </a:t>
            </a:r>
            <a:r>
              <a:rPr lang="it-IT" dirty="0" err="1" smtClean="0"/>
              <a:t>type</a:t>
            </a:r>
            <a:endParaRPr lang="it-IT" dirty="0" smtClean="0"/>
          </a:p>
          <a:p>
            <a:pPr lvl="2">
              <a:defRPr/>
            </a:pPr>
            <a:r>
              <a:rPr lang="it-IT" dirty="0" smtClean="0"/>
              <a:t>Or </a:t>
            </a:r>
            <a:r>
              <a:rPr lang="it-IT" dirty="0" err="1" smtClean="0"/>
              <a:t>any</a:t>
            </a:r>
            <a:r>
              <a:rPr lang="it-IT" dirty="0" smtClean="0"/>
              <a:t> </a:t>
            </a:r>
            <a:r>
              <a:rPr lang="it-IT" dirty="0" err="1" smtClean="0"/>
              <a:t>subclass</a:t>
            </a:r>
            <a:endParaRPr lang="it-IT" dirty="0" smtClean="0"/>
          </a:p>
          <a:p>
            <a:pPr lvl="2">
              <a:defRPr/>
            </a:pPr>
            <a:endParaRPr lang="it-IT" dirty="0" smtClean="0"/>
          </a:p>
          <a:p>
            <a:pPr marL="0" indent="0">
              <a:buFont typeface="Wingdings" charset="0"/>
              <a:buNone/>
              <a:defRPr/>
            </a:pPr>
            <a:r>
              <a:rPr lang="it-IT" sz="2400" b="1" dirty="0" err="1" smtClean="0">
                <a:latin typeface="Courier New"/>
                <a:cs typeface="Courier New"/>
              </a:rPr>
              <a:t>Employee</a:t>
            </a:r>
            <a:r>
              <a:rPr lang="it-IT" sz="2400" b="1" dirty="0" smtClean="0">
                <a:latin typeface="Courier New"/>
                <a:cs typeface="Courier New"/>
              </a:rPr>
              <a:t> </a:t>
            </a:r>
            <a:r>
              <a:rPr lang="it-IT" sz="2400" b="1" dirty="0" err="1" smtClean="0">
                <a:latin typeface="Courier New"/>
                <a:cs typeface="Courier New"/>
              </a:rPr>
              <a:t>emp</a:t>
            </a:r>
            <a:r>
              <a:rPr lang="it-IT" sz="2400" b="1" dirty="0" smtClean="0">
                <a:latin typeface="Courier New"/>
                <a:cs typeface="Courier New"/>
              </a:rPr>
              <a:t> = staff[0];</a:t>
            </a:r>
          </a:p>
          <a:p>
            <a:pPr marL="0" indent="0">
              <a:buFont typeface="Wingdings" charset="0"/>
              <a:buNone/>
              <a:defRPr/>
            </a:pPr>
            <a:r>
              <a:rPr lang="it-IT" sz="2400" b="1" dirty="0" err="1" smtClean="0">
                <a:latin typeface="Courier New"/>
                <a:cs typeface="Courier New"/>
              </a:rPr>
              <a:t>s</a:t>
            </a:r>
            <a:r>
              <a:rPr lang="it-IT" sz="2400" b="1" dirty="0" smtClean="0">
                <a:latin typeface="Courier New"/>
                <a:cs typeface="Courier New"/>
              </a:rPr>
              <a:t> = </a:t>
            </a:r>
            <a:r>
              <a:rPr lang="it-IT" sz="2400" b="1" dirty="0" err="1" smtClean="0">
                <a:latin typeface="Courier New"/>
                <a:cs typeface="Courier New"/>
              </a:rPr>
              <a:t>emp.getDepartment</a:t>
            </a:r>
            <a:r>
              <a:rPr lang="it-IT" sz="2400" b="1" dirty="0" smtClean="0">
                <a:latin typeface="Courier New"/>
                <a:cs typeface="Courier New"/>
              </a:rPr>
              <a:t>();</a:t>
            </a:r>
          </a:p>
          <a:p>
            <a:pPr marL="0" indent="0">
              <a:buFont typeface="Wingdings" charset="0"/>
              <a:buNone/>
              <a:defRPr/>
            </a:pPr>
            <a:r>
              <a:rPr lang="it-IT" sz="2400" b="1" dirty="0" smtClean="0">
                <a:latin typeface="Courier New"/>
                <a:cs typeface="Courier New"/>
              </a:rPr>
              <a:t>Manager </a:t>
            </a:r>
            <a:r>
              <a:rPr lang="it-IT" sz="2400" b="1" dirty="0" err="1" smtClean="0">
                <a:latin typeface="Courier New"/>
                <a:cs typeface="Courier New"/>
              </a:rPr>
              <a:t>mgr</a:t>
            </a:r>
            <a:r>
              <a:rPr lang="it-IT" sz="2400" b="1" dirty="0" smtClean="0">
                <a:latin typeface="Courier New"/>
                <a:cs typeface="Courier New"/>
              </a:rPr>
              <a:t> = (Manager)staff[0];</a:t>
            </a:r>
          </a:p>
          <a:p>
            <a:pPr marL="0" indent="0">
              <a:buFont typeface="Wingdings" charset="0"/>
              <a:buNone/>
              <a:defRPr/>
            </a:pPr>
            <a:r>
              <a:rPr lang="it-IT" sz="2400" b="1" dirty="0" err="1" smtClean="0">
                <a:latin typeface="Courier New"/>
                <a:cs typeface="Courier New"/>
              </a:rPr>
              <a:t>s</a:t>
            </a:r>
            <a:r>
              <a:rPr lang="it-IT" sz="2400" b="1" dirty="0" smtClean="0">
                <a:latin typeface="Courier New"/>
                <a:cs typeface="Courier New"/>
              </a:rPr>
              <a:t> = </a:t>
            </a:r>
            <a:r>
              <a:rPr lang="it-IT" sz="2400" b="1" dirty="0" err="1" smtClean="0">
                <a:latin typeface="Courier New"/>
                <a:cs typeface="Courier New"/>
              </a:rPr>
              <a:t>mgr.getDepartment</a:t>
            </a:r>
            <a:r>
              <a:rPr lang="it-IT" sz="2400" b="1" dirty="0" smtClean="0">
                <a:latin typeface="Courier New"/>
                <a:cs typeface="Courier New"/>
              </a:rPr>
              <a:t>();</a:t>
            </a:r>
            <a:endParaRPr lang="en-US" sz="2400" b="1" dirty="0" smtClean="0">
              <a:latin typeface="Courier New"/>
              <a:cs typeface="Courier New"/>
            </a:endParaRPr>
          </a:p>
          <a:p>
            <a:pPr marL="0" indent="0">
              <a:buFont typeface="Wingdings" charset="0"/>
              <a:buNone/>
              <a:defRPr/>
            </a:pPr>
            <a:endParaRPr lang="en-US" sz="2400" b="1" dirty="0">
              <a:latin typeface="Courier New"/>
              <a:cs typeface="Courier New"/>
            </a:endParaRPr>
          </a:p>
          <a:p>
            <a:pPr marL="0" indent="0">
              <a:buFont typeface="Wingdings" charset="0"/>
              <a:buNone/>
              <a:defRPr/>
            </a:pPr>
            <a:endParaRPr lang="it-IT" dirty="0"/>
          </a:p>
        </p:txBody>
      </p:sp>
      <p:sp>
        <p:nvSpPr>
          <p:cNvPr id="4" name="Rounded Rectangular Callout 3"/>
          <p:cNvSpPr/>
          <p:nvPr/>
        </p:nvSpPr>
        <p:spPr bwMode="auto">
          <a:xfrm>
            <a:off x="5435600" y="2997200"/>
            <a:ext cx="3600450" cy="1295400"/>
          </a:xfrm>
          <a:prstGeom prst="wedgeRoundRectCallout">
            <a:avLst>
              <a:gd name="adj1" fmla="val -59647"/>
              <a:gd name="adj2" fmla="val 71517"/>
              <a:gd name="adj3" fmla="val 16667"/>
            </a:avLst>
          </a:prstGeom>
          <a:solidFill>
            <a:srgbClr val="E6E0EC"/>
          </a:solidFill>
          <a:ln w="12600">
            <a:solidFill>
              <a:srgbClr val="8064A2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360" tIns="44280" rIns="90360" bIns="44280" anchor="ctr"/>
          <a:lstStyle/>
          <a:p>
            <a:pPr algn="ctr"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it-IT" sz="2000" b="1" dirty="0" err="1">
                <a:solidFill>
                  <a:srgbClr val="000000"/>
                </a:solidFill>
                <a:latin typeface="+mn-lt"/>
              </a:rPr>
              <a:t>Syntax</a:t>
            </a:r>
            <a:r>
              <a:rPr lang="it-IT" sz="20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it-IT" sz="2000" b="1" dirty="0" err="1">
                <a:solidFill>
                  <a:srgbClr val="000000"/>
                </a:solidFill>
                <a:latin typeface="+mn-lt"/>
              </a:rPr>
              <a:t>Error</a:t>
            </a:r>
            <a:r>
              <a:rPr lang="it-IT" sz="2000" b="1" dirty="0">
                <a:solidFill>
                  <a:srgbClr val="000000"/>
                </a:solidFill>
                <a:latin typeface="+mn-lt"/>
              </a:rPr>
              <a:t>: The </a:t>
            </a:r>
            <a:r>
              <a:rPr lang="it-IT" sz="2000" b="1" dirty="0" err="1">
                <a:solidFill>
                  <a:srgbClr val="000000"/>
                </a:solidFill>
                <a:latin typeface="+mn-lt"/>
              </a:rPr>
              <a:t>method</a:t>
            </a:r>
            <a:r>
              <a:rPr lang="it-IT" sz="20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it-IT" sz="2000" b="1" dirty="0" err="1">
                <a:solidFill>
                  <a:srgbClr val="000000"/>
                </a:solidFill>
                <a:latin typeface="+mn-lt"/>
              </a:rPr>
              <a:t>getDepartment</a:t>
            </a:r>
            <a:r>
              <a:rPr lang="it-IT" sz="2000" b="1" dirty="0">
                <a:solidFill>
                  <a:srgbClr val="000000"/>
                </a:solidFill>
                <a:latin typeface="+mn-lt"/>
              </a:rPr>
              <a:t>() </a:t>
            </a:r>
            <a:r>
              <a:rPr lang="it-IT" sz="2000" b="1" dirty="0" err="1">
                <a:solidFill>
                  <a:srgbClr val="000000"/>
                </a:solidFill>
                <a:latin typeface="+mn-lt"/>
              </a:rPr>
              <a:t>is</a:t>
            </a:r>
            <a:r>
              <a:rPr lang="it-IT" sz="20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it-IT" sz="2000" b="1" dirty="0" err="1">
                <a:solidFill>
                  <a:srgbClr val="000000"/>
                </a:solidFill>
                <a:latin typeface="+mn-lt"/>
              </a:rPr>
              <a:t>undefined</a:t>
            </a:r>
            <a:r>
              <a:rPr lang="it-IT" sz="2000" b="1" dirty="0">
                <a:solidFill>
                  <a:srgbClr val="000000"/>
                </a:solidFill>
                <a:latin typeface="+mn-lt"/>
              </a:rPr>
              <a:t> for the </a:t>
            </a:r>
            <a:r>
              <a:rPr lang="it-IT" sz="2000" b="1" dirty="0" err="1">
                <a:solidFill>
                  <a:srgbClr val="000000"/>
                </a:solidFill>
                <a:latin typeface="+mn-lt"/>
              </a:rPr>
              <a:t>type</a:t>
            </a:r>
            <a:r>
              <a:rPr lang="it-IT" sz="20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it-IT" sz="2000" b="1" dirty="0" err="1">
                <a:solidFill>
                  <a:srgbClr val="000000"/>
                </a:solidFill>
                <a:latin typeface="+mn-lt"/>
              </a:rPr>
              <a:t>Employee</a:t>
            </a:r>
            <a:r>
              <a:rPr lang="it-IT" sz="2000" b="1" dirty="0">
                <a:solidFill>
                  <a:srgbClr val="000000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467544" y="4725144"/>
            <a:ext cx="4896544" cy="6480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lIns="90360" tIns="44280" rIns="90360" bIns="44280" rtlCol="0" anchor="ctr"/>
          <a:lstStyle/>
          <a:p>
            <a:pPr algn="ctr"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000" b="1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3209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>
                <a:latin typeface="Lucida Sans Unicode" charset="0"/>
                <a:cs typeface="Lucida Sans Unicode" charset="0"/>
              </a:rPr>
              <a:t>Downcast - Warning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it-IT" dirty="0" smtClean="0"/>
              <a:t>Compiler trusts </a:t>
            </a:r>
            <a:r>
              <a:rPr lang="it-IT" dirty="0" err="1" smtClean="0"/>
              <a:t>any</a:t>
            </a:r>
            <a:r>
              <a:rPr lang="it-IT" dirty="0" smtClean="0"/>
              <a:t> </a:t>
            </a:r>
            <a:r>
              <a:rPr lang="it-IT" dirty="0" err="1" smtClean="0"/>
              <a:t>downcast</a:t>
            </a:r>
            <a:endParaRPr lang="it-IT" dirty="0"/>
          </a:p>
          <a:p>
            <a:pPr>
              <a:defRPr/>
            </a:pPr>
            <a:r>
              <a:rPr lang="it-IT" dirty="0" smtClean="0"/>
              <a:t>JVM </a:t>
            </a:r>
            <a:r>
              <a:rPr lang="it-IT" dirty="0" err="1" smtClean="0"/>
              <a:t>checks</a:t>
            </a:r>
            <a:r>
              <a:rPr lang="it-IT" dirty="0" smtClean="0"/>
              <a:t> </a:t>
            </a:r>
            <a:r>
              <a:rPr lang="it-IT" dirty="0" err="1" smtClean="0"/>
              <a:t>type</a:t>
            </a:r>
            <a:r>
              <a:rPr lang="it-IT" dirty="0" smtClean="0"/>
              <a:t> </a:t>
            </a:r>
            <a:r>
              <a:rPr lang="it-IT" dirty="0" err="1" smtClean="0"/>
              <a:t>consistency</a:t>
            </a:r>
            <a:r>
              <a:rPr lang="it-IT" dirty="0" smtClean="0"/>
              <a:t> for </a:t>
            </a:r>
            <a:r>
              <a:rPr lang="it-IT" dirty="0" err="1" smtClean="0"/>
              <a:t>all</a:t>
            </a:r>
            <a:r>
              <a:rPr lang="it-IT" dirty="0" smtClean="0"/>
              <a:t> </a:t>
            </a:r>
            <a:r>
              <a:rPr lang="it-IT" dirty="0" err="1" smtClean="0"/>
              <a:t>reference</a:t>
            </a:r>
            <a:r>
              <a:rPr lang="it-IT" dirty="0" smtClean="0"/>
              <a:t> </a:t>
            </a:r>
            <a:r>
              <a:rPr lang="it-IT" dirty="0" err="1"/>
              <a:t>assignments</a:t>
            </a:r>
            <a:r>
              <a:rPr lang="it-IT" dirty="0"/>
              <a:t>, </a:t>
            </a:r>
            <a:r>
              <a:rPr lang="it-IT" dirty="0" err="1"/>
              <a:t>at</a:t>
            </a:r>
            <a:r>
              <a:rPr lang="it-IT" dirty="0"/>
              <a:t> </a:t>
            </a:r>
            <a:r>
              <a:rPr lang="it-IT" dirty="0" err="1"/>
              <a:t>run</a:t>
            </a:r>
            <a:r>
              <a:rPr lang="it-IT" dirty="0"/>
              <a:t>-time</a:t>
            </a:r>
            <a:endParaRPr lang="it-IT" dirty="0" smtClean="0"/>
          </a:p>
          <a:p>
            <a:pPr lvl="1">
              <a:defRPr/>
            </a:pPr>
            <a:r>
              <a:rPr lang="it-IT" dirty="0" smtClean="0"/>
              <a:t>The </a:t>
            </a:r>
            <a:r>
              <a:rPr lang="it-IT" dirty="0" err="1" smtClean="0"/>
              <a:t>class</a:t>
            </a:r>
            <a:r>
              <a:rPr lang="it-IT" dirty="0" smtClean="0"/>
              <a:t> of the </a:t>
            </a:r>
            <a:r>
              <a:rPr lang="it-IT" dirty="0" err="1" smtClean="0"/>
              <a:t>object</a:t>
            </a:r>
            <a:r>
              <a:rPr lang="it-IT" dirty="0" smtClean="0"/>
              <a:t> must be </a:t>
            </a:r>
            <a:r>
              <a:rPr lang="it-IT" dirty="0" err="1" smtClean="0"/>
              <a:t>equal</a:t>
            </a:r>
            <a:r>
              <a:rPr lang="it-IT" dirty="0" smtClean="0"/>
              <a:t> to the </a:t>
            </a:r>
            <a:r>
              <a:rPr lang="it-IT" dirty="0" err="1" smtClean="0"/>
              <a:t>class</a:t>
            </a:r>
            <a:r>
              <a:rPr lang="it-IT" dirty="0" smtClean="0"/>
              <a:t> of the </a:t>
            </a:r>
            <a:r>
              <a:rPr lang="it-IT" dirty="0" err="1" smtClean="0"/>
              <a:t>reference</a:t>
            </a:r>
            <a:r>
              <a:rPr lang="it-IT" dirty="0" smtClean="0"/>
              <a:t> or to </a:t>
            </a:r>
            <a:r>
              <a:rPr lang="it-IT" dirty="0" err="1" smtClean="0"/>
              <a:t>any</a:t>
            </a:r>
            <a:r>
              <a:rPr lang="it-IT" dirty="0" smtClean="0"/>
              <a:t> of </a:t>
            </a:r>
            <a:r>
              <a:rPr lang="it-IT" dirty="0" err="1" smtClean="0"/>
              <a:t>its</a:t>
            </a:r>
            <a:r>
              <a:rPr lang="it-IT" dirty="0" smtClean="0"/>
              <a:t> </a:t>
            </a:r>
            <a:r>
              <a:rPr lang="it-IT" dirty="0" err="1" smtClean="0"/>
              <a:t>subclasses</a:t>
            </a:r>
            <a:endParaRPr lang="it-IT" dirty="0"/>
          </a:p>
          <a:p>
            <a:pPr lvl="3">
              <a:defRPr/>
            </a:pPr>
            <a:endParaRPr lang="it-IT" sz="1600" b="1" dirty="0" smtClean="0">
              <a:latin typeface="Courier New"/>
              <a:cs typeface="Courier New"/>
            </a:endParaRPr>
          </a:p>
          <a:p>
            <a:pPr marL="0" indent="0">
              <a:buFont typeface="Wingdings" charset="0"/>
              <a:buNone/>
              <a:defRPr/>
            </a:pPr>
            <a:r>
              <a:rPr lang="it-IT" sz="2400" b="1" dirty="0" err="1" smtClean="0">
                <a:latin typeface="Courier New"/>
                <a:cs typeface="Courier New"/>
              </a:rPr>
              <a:t>mgr</a:t>
            </a:r>
            <a:r>
              <a:rPr lang="it-IT" sz="2400" b="1" dirty="0" smtClean="0">
                <a:latin typeface="Courier New"/>
                <a:cs typeface="Courier New"/>
              </a:rPr>
              <a:t> = (Manager)staff[1];</a:t>
            </a:r>
          </a:p>
          <a:p>
            <a:pPr marL="0" indent="0">
              <a:buFont typeface="Wingdings" charset="0"/>
              <a:buNone/>
              <a:defRPr/>
            </a:pPr>
            <a:endParaRPr lang="en-US" sz="2400" b="1" dirty="0">
              <a:latin typeface="Courier New"/>
              <a:cs typeface="Courier New"/>
            </a:endParaRPr>
          </a:p>
          <a:p>
            <a:pPr marL="0" indent="0">
              <a:buFont typeface="Wingdings" charset="0"/>
              <a:buNone/>
              <a:defRPr/>
            </a:pPr>
            <a:endParaRPr lang="it-IT" dirty="0"/>
          </a:p>
        </p:txBody>
      </p:sp>
      <p:sp>
        <p:nvSpPr>
          <p:cNvPr id="4" name="Rounded Rectangular Callout 3"/>
          <p:cNvSpPr/>
          <p:nvPr/>
        </p:nvSpPr>
        <p:spPr bwMode="auto">
          <a:xfrm>
            <a:off x="1043608" y="5877272"/>
            <a:ext cx="7992888" cy="504577"/>
          </a:xfrm>
          <a:prstGeom prst="wedgeRoundRectCallout">
            <a:avLst>
              <a:gd name="adj1" fmla="val -44864"/>
              <a:gd name="adj2" fmla="val -194054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 w="12600">
            <a:solidFill>
              <a:schemeClr val="accent4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360" tIns="44280" rIns="90360" bIns="44280" anchor="ctr"/>
          <a:lstStyle/>
          <a:p>
            <a:pPr algn="ctr"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it-IT" sz="2000" b="1" dirty="0" err="1">
                <a:solidFill>
                  <a:srgbClr val="FF6600"/>
                </a:solidFill>
                <a:latin typeface="Courier New"/>
                <a:cs typeface="Courier New"/>
              </a:rPr>
              <a:t>ClassCastException</a:t>
            </a:r>
            <a:r>
              <a:rPr lang="it-IT" sz="2000" b="1" dirty="0">
                <a:solidFill>
                  <a:srgbClr val="000000"/>
                </a:solidFill>
                <a:latin typeface="+mn-lt"/>
              </a:rPr>
              <a:t>: </a:t>
            </a:r>
            <a:r>
              <a:rPr lang="it-IT" sz="2000" b="1" dirty="0" err="1" smtClean="0">
                <a:solidFill>
                  <a:srgbClr val="000000"/>
                </a:solidFill>
                <a:latin typeface="+mn-lt"/>
              </a:rPr>
              <a:t>Employee</a:t>
            </a:r>
            <a:r>
              <a:rPr lang="it-IT" sz="2000" b="1" dirty="0" smtClean="0">
                <a:solidFill>
                  <a:srgbClr val="000000"/>
                </a:solidFill>
                <a:latin typeface="+mn-lt"/>
              </a:rPr>
              <a:t> </a:t>
            </a:r>
            <a:r>
              <a:rPr lang="it-IT" sz="2000" b="1" dirty="0" err="1">
                <a:solidFill>
                  <a:srgbClr val="000000"/>
                </a:solidFill>
                <a:latin typeface="+mn-lt"/>
              </a:rPr>
              <a:t>cannot</a:t>
            </a:r>
            <a:r>
              <a:rPr lang="it-IT" sz="2000" b="1" dirty="0">
                <a:solidFill>
                  <a:srgbClr val="000000"/>
                </a:solidFill>
                <a:latin typeface="+mn-lt"/>
              </a:rPr>
              <a:t> be cast to Manager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auto">
          <a:xfrm>
            <a:off x="467544" y="4581128"/>
            <a:ext cx="6984776" cy="15841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lIns="90360" tIns="44280" rIns="90360" bIns="44280" rtlCol="0" anchor="ctr"/>
          <a:lstStyle/>
          <a:p>
            <a:pPr algn="ctr"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000" b="1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33121" name="Segnaposto numero diapositiva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1497A113-2835-8645-92D3-B8A395583478}" type="slidenum">
              <a:rPr lang="en-GB" sz="1200">
                <a:solidFill>
                  <a:srgbClr val="000000"/>
                </a:solidFill>
              </a:rPr>
              <a:pPr eaLnBrk="1" hangingPunct="1"/>
              <a:t>28</a:t>
            </a:fld>
            <a:endParaRPr lang="en-GB" sz="1200">
              <a:solidFill>
                <a:srgbClr val="000000"/>
              </a:solidFill>
            </a:endParaRPr>
          </a:p>
        </p:txBody>
      </p:sp>
      <p:sp>
        <p:nvSpPr>
          <p:cNvPr id="133122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223838"/>
            <a:ext cx="8610600" cy="771525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Down </a:t>
            </a:r>
            <a:r>
              <a:rPr lang="en-GB" dirty="0" smtClean="0">
                <a:latin typeface="Lucida Sans Unicode" charset="0"/>
                <a:cs typeface="Lucida Sans Unicode" charset="0"/>
              </a:rPr>
              <a:t>cast </a:t>
            </a:r>
            <a:r>
              <a:rPr lang="en-GB" dirty="0">
                <a:latin typeface="Lucida Sans Unicode" charset="0"/>
                <a:cs typeface="Lucida Sans Unicode" charset="0"/>
              </a:rPr>
              <a:t>safety</a:t>
            </a:r>
          </a:p>
        </p:txBody>
      </p:sp>
      <p:sp>
        <p:nvSpPr>
          <p:cNvPr id="142339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1295400"/>
            <a:ext cx="8229600" cy="4934300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dirty="0">
                <a:latin typeface="Lucida Sans Unicode" charset="0"/>
                <a:cs typeface="Lucida Sans Unicode" charset="0"/>
              </a:rPr>
              <a:t>Use the </a:t>
            </a:r>
            <a:r>
              <a:rPr lang="en-GB" b="1" dirty="0" err="1">
                <a:solidFill>
                  <a:schemeClr val="tx1"/>
                </a:solidFill>
                <a:latin typeface="Courier New"/>
                <a:cs typeface="Courier New"/>
              </a:rPr>
              <a:t>instanceof</a:t>
            </a:r>
            <a:r>
              <a:rPr lang="en-GB" dirty="0">
                <a:solidFill>
                  <a:schemeClr val="tx1"/>
                </a:solidFill>
                <a:latin typeface="Lucida Sans Unicode" charset="0"/>
                <a:cs typeface="Lucida Sans Unicode" charset="0"/>
              </a:rPr>
              <a:t> </a:t>
            </a:r>
            <a:r>
              <a:rPr lang="en-GB" dirty="0" smtClean="0">
                <a:latin typeface="Lucida Sans Unicode" charset="0"/>
                <a:cs typeface="Lucida Sans Unicode" charset="0"/>
              </a:rPr>
              <a:t>operator</a:t>
            </a:r>
          </a:p>
          <a:p>
            <a:pPr marL="457200" lvl="1" indent="0" eaLnBrk="1" hangingPunct="1">
              <a:lnSpc>
                <a:spcPct val="100000"/>
              </a:lnSpc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b="1" dirty="0" err="1" smtClean="0">
                <a:latin typeface="Courier New"/>
                <a:cs typeface="Courier New"/>
              </a:rPr>
              <a:t>aReference</a:t>
            </a:r>
            <a:r>
              <a:rPr lang="en-GB" b="1" dirty="0" smtClean="0">
                <a:latin typeface="Courier New"/>
                <a:cs typeface="Courier New"/>
              </a:rPr>
              <a:t> </a:t>
            </a:r>
            <a:r>
              <a:rPr lang="en-GB" b="1" dirty="0" err="1" smtClean="0">
                <a:solidFill>
                  <a:srgbClr val="FF6600"/>
                </a:solidFill>
                <a:latin typeface="Courier New"/>
                <a:cs typeface="Courier New"/>
              </a:rPr>
              <a:t>instanceof</a:t>
            </a:r>
            <a:r>
              <a:rPr lang="en-GB" b="1" dirty="0" smtClean="0">
                <a:solidFill>
                  <a:srgbClr val="FF6600"/>
                </a:solidFill>
                <a:latin typeface="Courier New"/>
                <a:cs typeface="Courier New"/>
              </a:rPr>
              <a:t> </a:t>
            </a:r>
            <a:r>
              <a:rPr lang="en-GB" b="1" dirty="0" err="1" smtClean="0">
                <a:latin typeface="Courier New"/>
                <a:cs typeface="Courier New"/>
              </a:rPr>
              <a:t>aClass</a:t>
            </a:r>
            <a:endParaRPr lang="en-GB" b="1" dirty="0" smtClean="0">
              <a:latin typeface="Courier New"/>
              <a:cs typeface="Courier New"/>
            </a:endParaRP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dirty="0" smtClean="0">
                <a:latin typeface="Lucida Sans Unicode" charset="0"/>
                <a:cs typeface="Lucida Sans Unicode" charset="0"/>
              </a:rPr>
              <a:t>Returns true if the object referred to by the reference can be cast to the class</a:t>
            </a:r>
          </a:p>
          <a:p>
            <a:pPr lvl="2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dirty="0" smtClean="0">
                <a:latin typeface="Lucida Sans Unicode" charset="0"/>
                <a:cs typeface="Lucida Sans Unicode" charset="0"/>
              </a:rPr>
              <a:t>i.e. if the object belongs to the given class or to any of its subclasses</a:t>
            </a:r>
            <a:endParaRPr lang="en-GB" dirty="0">
              <a:latin typeface="Lucida Sans Unicode" charset="0"/>
              <a:cs typeface="Lucida Sans Unicode" charset="0"/>
            </a:endParaRPr>
          </a:p>
          <a:p>
            <a:pPr lvl="1" eaLnBrk="1" hangingPunct="1">
              <a:lnSpc>
                <a:spcPct val="100000"/>
              </a:lnSpc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endParaRPr lang="en-GB" dirty="0">
              <a:latin typeface="Lucida Sans Unicode" charset="0"/>
              <a:ea typeface="Lucida Sans Unicode" charset="0"/>
              <a:cs typeface="Lucida Sans Unicode" charset="0"/>
            </a:endParaRPr>
          </a:p>
          <a:p>
            <a:pPr marL="400050" lvl="1" indent="0" eaLnBrk="1" hangingPunct="1">
              <a:lnSpc>
                <a:spcPct val="100000"/>
              </a:lnSpc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b="1" dirty="0" smtClean="0">
                <a:latin typeface="Courier New" charset="0"/>
                <a:cs typeface="Lucida Sans Unicode" charset="0"/>
              </a:rPr>
              <a:t>if(staff[1] </a:t>
            </a:r>
            <a:r>
              <a:rPr lang="en-GB" sz="2400" b="1" dirty="0" err="1" smtClean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instanceof</a:t>
            </a:r>
            <a:r>
              <a:rPr lang="en-GB" sz="2400" b="1" dirty="0" smtClean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 </a:t>
            </a:r>
            <a:r>
              <a:rPr lang="en-GB" sz="2400" b="1" dirty="0" smtClean="0">
                <a:latin typeface="Courier New" charset="0"/>
                <a:cs typeface="Lucida Sans Unicode" charset="0"/>
              </a:rPr>
              <a:t>Manager){</a:t>
            </a:r>
          </a:p>
          <a:p>
            <a:pPr marL="400050" lvl="1" indent="0" eaLnBrk="1" hangingPunct="1">
              <a:lnSpc>
                <a:spcPct val="100000"/>
              </a:lnSpc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b="1" dirty="0" smtClean="0">
                <a:latin typeface="Courier New" charset="0"/>
                <a:cs typeface="Lucida Sans Unicode" charset="0"/>
              </a:rPr>
              <a:t>		</a:t>
            </a:r>
            <a:r>
              <a:rPr lang="en-GB" sz="2400" b="1" dirty="0" err="1" smtClean="0">
                <a:latin typeface="Courier New" charset="0"/>
                <a:cs typeface="Lucida Sans Unicode" charset="0"/>
              </a:rPr>
              <a:t>mgr</a:t>
            </a:r>
            <a:r>
              <a:rPr lang="en-GB" sz="2400" b="1" dirty="0" smtClean="0">
                <a:latin typeface="Courier New" charset="0"/>
                <a:cs typeface="Lucida Sans Unicode" charset="0"/>
              </a:rPr>
              <a:t> = (Manager)staff[1];</a:t>
            </a:r>
          </a:p>
          <a:p>
            <a:pPr marL="400050" lvl="1" indent="0" eaLnBrk="1" hangingPunct="1">
              <a:lnSpc>
                <a:spcPct val="100000"/>
              </a:lnSpc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b="1" dirty="0" smtClean="0">
                <a:latin typeface="Courier New" charset="0"/>
                <a:cs typeface="Lucida Sans Unicode" charset="0"/>
              </a:rPr>
              <a:t>}</a:t>
            </a: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latin typeface="Lucida Sans Unicode" charset="0"/>
                <a:cs typeface="Lucida Sans Unicode" charset="0"/>
              </a:rPr>
              <a:t>Polymorphism and Dynamic </a:t>
            </a:r>
            <a:r>
              <a:rPr lang="en-US" b="1" dirty="0" err="1" smtClean="0">
                <a:latin typeface="Lucida Sans Unicode" charset="0"/>
                <a:cs typeface="Lucida Sans Unicode" charset="0"/>
              </a:rPr>
              <a:t>bindinG</a:t>
            </a:r>
            <a:endParaRPr lang="en-US" b="1" dirty="0">
              <a:latin typeface="Lucida Sans Unicode" charset="0"/>
              <a:cs typeface="Lucida Sans Unicode" charset="0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323528" y="3861048"/>
            <a:ext cx="8424936" cy="165618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lIns="90360" tIns="44280" rIns="90360" bIns="44280" rtlCol="0" anchor="ctr"/>
          <a:lstStyle/>
          <a:p>
            <a:pPr algn="ctr"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000" b="1" dirty="0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96258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 smtClean="0">
                <a:latin typeface="Lucida Sans Unicode" charset="0"/>
                <a:cs typeface="Lucida Sans Unicode" charset="0"/>
              </a:rPr>
              <a:t>Polymorphism</a:t>
            </a:r>
            <a:endParaRPr lang="en-GB" dirty="0">
              <a:latin typeface="Lucida Sans Unicode" charset="0"/>
              <a:cs typeface="Lucida Sans Unicode" charset="0"/>
            </a:endParaRPr>
          </a:p>
        </p:txBody>
      </p:sp>
      <p:sp>
        <p:nvSpPr>
          <p:cNvPr id="96259" name="Rectangle 2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00000"/>
              </a:lnSpc>
              <a:spcBef>
                <a:spcPts val="700"/>
              </a:spcBef>
              <a:spcAft>
                <a:spcPts val="175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dirty="0" smtClean="0"/>
              <a:t>A reference of type T can point to an object of type S if-and-only-if</a:t>
            </a:r>
          </a:p>
          <a:p>
            <a:pPr lvl="1" eaLnBrk="1" hangingPunct="1">
              <a:lnSpc>
                <a:spcPct val="100000"/>
              </a:lnSpc>
              <a:spcAft>
                <a:spcPts val="175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dirty="0" smtClean="0"/>
              <a:t>S is equal to T or </a:t>
            </a:r>
          </a:p>
          <a:p>
            <a:pPr lvl="1" eaLnBrk="1" hangingPunct="1">
              <a:lnSpc>
                <a:spcPct val="100000"/>
              </a:lnSpc>
              <a:spcAft>
                <a:spcPts val="175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dirty="0" smtClean="0"/>
              <a:t>S is a subclass of T</a:t>
            </a:r>
            <a:endParaRPr lang="en-US" dirty="0"/>
          </a:p>
          <a:p>
            <a:pPr marL="0" indent="0" eaLnBrk="1" hangingPunct="1">
              <a:lnSpc>
                <a:spcPct val="100000"/>
              </a:lnSpc>
              <a:spcBef>
                <a:spcPts val="700"/>
              </a:spcBef>
              <a:spcAft>
                <a:spcPts val="175"/>
              </a:spcAft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2400" b="1" dirty="0" smtClean="0">
              <a:latin typeface="Courier New" charset="0"/>
              <a:cs typeface="Lucida Sans Unicode" charset="0"/>
            </a:endParaRPr>
          </a:p>
          <a:p>
            <a:pPr marL="0" indent="0" eaLnBrk="1" hangingPunct="1">
              <a:lnSpc>
                <a:spcPct val="100000"/>
              </a:lnSpc>
              <a:spcBef>
                <a:spcPts val="700"/>
              </a:spcBef>
              <a:spcAft>
                <a:spcPts val="175"/>
              </a:spcAft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 smtClean="0">
                <a:latin typeface="Courier New" charset="0"/>
                <a:cs typeface="Lucida Sans Unicode" charset="0"/>
              </a:rPr>
              <a:t>Car </a:t>
            </a:r>
            <a:r>
              <a:rPr lang="en-GB" sz="2400" b="1" dirty="0" err="1" smtClean="0">
                <a:latin typeface="Courier New" charset="0"/>
                <a:cs typeface="Lucida Sans Unicode" charset="0"/>
              </a:rPr>
              <a:t>myCar</a:t>
            </a:r>
            <a:r>
              <a:rPr lang="en-GB" sz="2400" b="1" dirty="0" smtClean="0">
                <a:latin typeface="Courier New" charset="0"/>
                <a:cs typeface="Lucida Sans Unicode" charset="0"/>
              </a:rPr>
              <a:t>;</a:t>
            </a:r>
            <a:endParaRPr lang="en-GB" sz="2400" b="1" dirty="0">
              <a:latin typeface="Courier New" charset="0"/>
              <a:cs typeface="Lucida Sans Unicode" charset="0"/>
            </a:endParaRPr>
          </a:p>
          <a:p>
            <a:pPr marL="0" indent="0" eaLnBrk="1" hangingPunct="1">
              <a:lnSpc>
                <a:spcPct val="100000"/>
              </a:lnSpc>
              <a:spcBef>
                <a:spcPts val="700"/>
              </a:spcBef>
              <a:spcAft>
                <a:spcPts val="175"/>
              </a:spcAft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 err="1">
                <a:latin typeface="Courier New" charset="0"/>
                <a:cs typeface="Lucida Sans Unicode" charset="0"/>
              </a:rPr>
              <a:t>myCar</a:t>
            </a:r>
            <a:r>
              <a:rPr lang="en-GB" sz="2400" b="1" dirty="0">
                <a:latin typeface="Courier New" charset="0"/>
                <a:cs typeface="Lucida Sans Unicode" charset="0"/>
              </a:rPr>
              <a:t> = new Car();</a:t>
            </a:r>
          </a:p>
          <a:p>
            <a:pPr marL="0" indent="0" eaLnBrk="1" hangingPunct="1">
              <a:lnSpc>
                <a:spcPct val="100000"/>
              </a:lnSpc>
              <a:spcBef>
                <a:spcPts val="700"/>
              </a:spcBef>
              <a:spcAft>
                <a:spcPts val="175"/>
              </a:spcAft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 err="1">
                <a:latin typeface="Courier New" charset="0"/>
                <a:cs typeface="Lucida Sans Unicode" charset="0"/>
              </a:rPr>
              <a:t>myCar</a:t>
            </a:r>
            <a:r>
              <a:rPr lang="en-GB" sz="2400" b="1" dirty="0">
                <a:latin typeface="Courier New" charset="0"/>
                <a:cs typeface="Lucida Sans Unicode" charset="0"/>
              </a:rPr>
              <a:t> = new </a:t>
            </a:r>
            <a:r>
              <a:rPr lang="en-GB" sz="2400" b="1" dirty="0" err="1">
                <a:latin typeface="Courier New" charset="0"/>
                <a:cs typeface="Lucida Sans Unicode" charset="0"/>
              </a:rPr>
              <a:t>ElectricCar</a:t>
            </a:r>
            <a:r>
              <a:rPr lang="en-GB" sz="2400" b="1" dirty="0">
                <a:latin typeface="Courier New" charset="0"/>
                <a:cs typeface="Lucida Sans Unicode" charset="0"/>
              </a:rPr>
              <a:t>()</a:t>
            </a:r>
            <a:r>
              <a:rPr lang="en-GB" sz="2400" b="1" dirty="0" smtClean="0">
                <a:latin typeface="Courier New" charset="0"/>
                <a:cs typeface="Lucida Sans Unicode" charset="0"/>
              </a:rPr>
              <a:t>;</a:t>
            </a:r>
            <a:endParaRPr lang="en-GB" sz="2400" b="1" dirty="0">
              <a:latin typeface="Courier New" charset="0"/>
              <a:cs typeface="Lucida Sans Unicode" charset="0"/>
            </a:endParaRPr>
          </a:p>
        </p:txBody>
      </p:sp>
      <p:sp>
        <p:nvSpPr>
          <p:cNvPr id="96257" name="Segnaposto numero diapositiva 5"/>
          <p:cNvSpPr>
            <a:spLocks noGrp="1"/>
          </p:cNvSpPr>
          <p:nvPr>
            <p:ph type="sldNum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95C6DE6F-CF33-C741-8DB6-245F52DA5AFE}" type="slidenum">
              <a:rPr lang="en-GB" sz="1200">
                <a:solidFill>
                  <a:srgbClr val="000000"/>
                </a:solidFill>
              </a:rPr>
              <a:pPr eaLnBrk="1" hangingPunct="1"/>
              <a:t>30</a:t>
            </a:fld>
            <a:endParaRPr lang="en-GB" sz="12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323528" y="1268760"/>
            <a:ext cx="8424936" cy="39604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360" tIns="44280" rIns="90360" bIns="44280" rtlCol="0" anchor="ctr"/>
          <a:lstStyle/>
          <a:p>
            <a:pPr algn="ctr"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000" b="1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96257" name="Segnaposto numero diapositiva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95C6DE6F-CF33-C741-8DB6-245F52DA5AFE}" type="slidenum">
              <a:rPr lang="en-GB" sz="1200">
                <a:solidFill>
                  <a:srgbClr val="000000"/>
                </a:solidFill>
              </a:rPr>
              <a:pPr eaLnBrk="1" hangingPunct="1"/>
              <a:t>31</a:t>
            </a:fld>
            <a:endParaRPr lang="en-GB" sz="1200">
              <a:solidFill>
                <a:srgbClr val="000000"/>
              </a:solidFill>
            </a:endParaRPr>
          </a:p>
        </p:txBody>
      </p:sp>
      <p:sp>
        <p:nvSpPr>
          <p:cNvPr id="96258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223789"/>
            <a:ext cx="8610600" cy="771623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 smtClean="0">
                <a:latin typeface="Lucida Sans Unicode" charset="0"/>
                <a:cs typeface="Lucida Sans Unicode" charset="0"/>
              </a:rPr>
              <a:t>Polymorphism</a:t>
            </a:r>
            <a:endParaRPr lang="en-GB" dirty="0">
              <a:latin typeface="Lucida Sans Unicode" charset="0"/>
              <a:cs typeface="Lucida Sans Unicode" charset="0"/>
            </a:endParaRPr>
          </a:p>
        </p:txBody>
      </p:sp>
      <p:sp>
        <p:nvSpPr>
          <p:cNvPr id="96259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1295400"/>
            <a:ext cx="8229600" cy="3834640"/>
          </a:xfrm>
        </p:spPr>
        <p:txBody>
          <a:bodyPr>
            <a:spAutoFit/>
          </a:bodyPr>
          <a:lstStyle/>
          <a:p>
            <a:pPr marL="0" indent="0" eaLnBrk="1" hangingPunct="1">
              <a:lnSpc>
                <a:spcPct val="100000"/>
              </a:lnSpc>
              <a:spcBef>
                <a:spcPts val="700"/>
              </a:spcBef>
              <a:spcAft>
                <a:spcPts val="175"/>
              </a:spcAft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>
                <a:latin typeface="Courier New" charset="0"/>
                <a:cs typeface="Lucida Sans Unicode" charset="0"/>
              </a:rPr>
              <a:t>Car[] garage = new Car[4];</a:t>
            </a:r>
          </a:p>
          <a:p>
            <a:pPr marL="0" indent="0" eaLnBrk="1" hangingPunct="1">
              <a:lnSpc>
                <a:spcPct val="100000"/>
              </a:lnSpc>
              <a:spcBef>
                <a:spcPts val="700"/>
              </a:spcBef>
              <a:spcAft>
                <a:spcPts val="175"/>
              </a:spcAft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>
                <a:latin typeface="Courier New" charset="0"/>
                <a:cs typeface="Lucida Sans Unicode" charset="0"/>
              </a:rPr>
              <a:t>garage[0] = new Car();</a:t>
            </a:r>
          </a:p>
          <a:p>
            <a:pPr marL="0" indent="0" eaLnBrk="1" hangingPunct="1">
              <a:lnSpc>
                <a:spcPct val="100000"/>
              </a:lnSpc>
              <a:spcBef>
                <a:spcPts val="700"/>
              </a:spcBef>
              <a:spcAft>
                <a:spcPts val="175"/>
              </a:spcAft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>
                <a:latin typeface="Courier New" charset="0"/>
                <a:cs typeface="Lucida Sans Unicode" charset="0"/>
              </a:rPr>
              <a:t>garage[1] = new </a:t>
            </a:r>
            <a:r>
              <a:rPr lang="en-GB" sz="2400" b="1" dirty="0" err="1">
                <a:latin typeface="Courier New" charset="0"/>
                <a:cs typeface="Lucida Sans Unicode" charset="0"/>
              </a:rPr>
              <a:t>ElectricCar</a:t>
            </a:r>
            <a:r>
              <a:rPr lang="en-GB" sz="2400" b="1" dirty="0">
                <a:latin typeface="Courier New" charset="0"/>
                <a:cs typeface="Lucida Sans Unicode" charset="0"/>
              </a:rPr>
              <a:t>();</a:t>
            </a:r>
          </a:p>
          <a:p>
            <a:pPr marL="0" indent="0" eaLnBrk="1" hangingPunct="1">
              <a:lnSpc>
                <a:spcPct val="100000"/>
              </a:lnSpc>
              <a:spcBef>
                <a:spcPts val="700"/>
              </a:spcBef>
              <a:spcAft>
                <a:spcPts val="175"/>
              </a:spcAft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>
                <a:latin typeface="Courier New" charset="0"/>
                <a:cs typeface="Lucida Sans Unicode" charset="0"/>
              </a:rPr>
              <a:t>garage[2] = new </a:t>
            </a:r>
            <a:r>
              <a:rPr lang="en-GB" sz="2400" b="1" dirty="0" err="1">
                <a:latin typeface="Courier New" charset="0"/>
                <a:cs typeface="Lucida Sans Unicode" charset="0"/>
              </a:rPr>
              <a:t>ElectricCar</a:t>
            </a:r>
            <a:r>
              <a:rPr lang="en-GB" sz="2400" b="1" dirty="0">
                <a:latin typeface="Courier New" charset="0"/>
                <a:cs typeface="Lucida Sans Unicode" charset="0"/>
              </a:rPr>
              <a:t>();</a:t>
            </a:r>
          </a:p>
          <a:p>
            <a:pPr marL="0" indent="0" eaLnBrk="1" hangingPunct="1">
              <a:lnSpc>
                <a:spcPct val="100000"/>
              </a:lnSpc>
              <a:spcBef>
                <a:spcPts val="700"/>
              </a:spcBef>
              <a:spcAft>
                <a:spcPts val="175"/>
              </a:spcAft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>
                <a:latin typeface="Courier New" charset="0"/>
                <a:cs typeface="Lucida Sans Unicode" charset="0"/>
              </a:rPr>
              <a:t>garage[3] = new Car()</a:t>
            </a:r>
            <a:r>
              <a:rPr lang="en-GB" sz="2400" b="1" dirty="0" smtClean="0">
                <a:latin typeface="Courier New" charset="0"/>
                <a:cs typeface="Lucida Sans Unicode" charset="0"/>
              </a:rPr>
              <a:t>;</a:t>
            </a:r>
          </a:p>
          <a:p>
            <a:pPr marL="0" indent="0" eaLnBrk="1" hangingPunct="1">
              <a:lnSpc>
                <a:spcPct val="100000"/>
              </a:lnSpc>
              <a:spcBef>
                <a:spcPts val="700"/>
              </a:spcBef>
              <a:spcAft>
                <a:spcPts val="175"/>
              </a:spcAft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 smtClean="0">
                <a:latin typeface="Courier New" charset="0"/>
              </a:rPr>
              <a:t>for</a:t>
            </a:r>
            <a:r>
              <a:rPr lang="en-GB" sz="2400" b="1" dirty="0">
                <a:latin typeface="Courier New" charset="0"/>
              </a:rPr>
              <a:t>(Car a : garage)</a:t>
            </a:r>
            <a:r>
              <a:rPr lang="en-GB" sz="2400" b="1" dirty="0" smtClean="0">
                <a:latin typeface="Courier New" charset="0"/>
              </a:rPr>
              <a:t>{</a:t>
            </a:r>
          </a:p>
          <a:p>
            <a:pPr marL="0" indent="0" eaLnBrk="1" hangingPunct="1">
              <a:lnSpc>
                <a:spcPct val="100000"/>
              </a:lnSpc>
              <a:spcBef>
                <a:spcPts val="700"/>
              </a:spcBef>
              <a:spcAft>
                <a:spcPts val="175"/>
              </a:spcAft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>
                <a:latin typeface="Courier New" charset="0"/>
              </a:rPr>
              <a:t>	</a:t>
            </a:r>
            <a:r>
              <a:rPr lang="en-GB" sz="2400" b="1" dirty="0" err="1" smtClean="0">
                <a:latin typeface="Courier New" charset="0"/>
              </a:rPr>
              <a:t>a.</a:t>
            </a:r>
            <a:r>
              <a:rPr lang="en-GB" sz="2400" b="1" dirty="0" err="1" smtClean="0">
                <a:solidFill>
                  <a:srgbClr val="FF6633"/>
                </a:solidFill>
                <a:latin typeface="Courier New" charset="0"/>
              </a:rPr>
              <a:t>turnOn</a:t>
            </a:r>
            <a:r>
              <a:rPr lang="en-GB" sz="2400" b="1" dirty="0">
                <a:latin typeface="Courier New" charset="0"/>
              </a:rPr>
              <a:t>()</a:t>
            </a:r>
            <a:r>
              <a:rPr lang="en-GB" sz="2400" b="1" dirty="0" smtClean="0">
                <a:latin typeface="Courier New" charset="0"/>
              </a:rPr>
              <a:t>;</a:t>
            </a:r>
          </a:p>
          <a:p>
            <a:pPr marL="0" indent="0" eaLnBrk="1" hangingPunct="1">
              <a:lnSpc>
                <a:spcPct val="100000"/>
              </a:lnSpc>
              <a:spcBef>
                <a:spcPts val="700"/>
              </a:spcBef>
              <a:spcAft>
                <a:spcPts val="175"/>
              </a:spcAft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 smtClean="0">
                <a:latin typeface="Courier New" charset="0"/>
              </a:rPr>
              <a:t>}</a:t>
            </a:r>
            <a:endParaRPr lang="en-GB" sz="2400" b="1" dirty="0">
              <a:latin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5155513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395536" y="3429000"/>
            <a:ext cx="8136904" cy="136815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360" tIns="44280" rIns="90360" bIns="44280" rtlCol="0" anchor="ctr"/>
          <a:lstStyle/>
          <a:p>
            <a:pPr algn="ctr"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000" b="1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96258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 smtClean="0">
                <a:latin typeface="Lucida Sans Unicode" charset="0"/>
                <a:cs typeface="Lucida Sans Unicode" charset="0"/>
              </a:rPr>
              <a:t>Static type checking</a:t>
            </a:r>
            <a:endParaRPr lang="en-GB" dirty="0">
              <a:latin typeface="Lucida Sans Unicode" charset="0"/>
              <a:cs typeface="Lucida Sans Unicode" charset="0"/>
            </a:endParaRPr>
          </a:p>
        </p:txBody>
      </p:sp>
      <p:sp>
        <p:nvSpPr>
          <p:cNvPr id="96259" name="Rectangle 2"/>
          <p:cNvSpPr>
            <a:spLocks noGrp="1" noChangeArrowheads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eaLnBrk="1" hangingPunct="1">
              <a:lnSpc>
                <a:spcPct val="100000"/>
              </a:lnSpc>
              <a:spcBef>
                <a:spcPts val="700"/>
              </a:spcBef>
              <a:spcAft>
                <a:spcPts val="175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dirty="0" smtClean="0"/>
              <a:t>The compiler performs a check on method invocation on  the basis of the reference type</a:t>
            </a: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spcAft>
                <a:spcPts val="175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US" dirty="0"/>
          </a:p>
          <a:p>
            <a:pPr marL="0" indent="0" eaLnBrk="1" hangingPunct="1">
              <a:lnSpc>
                <a:spcPct val="100000"/>
              </a:lnSpc>
              <a:spcBef>
                <a:spcPts val="700"/>
              </a:spcBef>
              <a:spcAft>
                <a:spcPts val="175"/>
              </a:spcAft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Courier New" charset="0"/>
                <a:cs typeface="Lucida Sans Unicode" charset="0"/>
              </a:rPr>
              <a:t>f</a:t>
            </a:r>
            <a:r>
              <a:rPr lang="en-GB" sz="2400" b="1" dirty="0" smtClean="0">
                <a:solidFill>
                  <a:schemeClr val="bg1">
                    <a:lumMod val="50000"/>
                  </a:schemeClr>
                </a:solidFill>
                <a:latin typeface="Courier New" charset="0"/>
                <a:cs typeface="Lucida Sans Unicode" charset="0"/>
              </a:rPr>
              <a:t>or(</a:t>
            </a:r>
            <a:r>
              <a:rPr lang="en-GB" sz="2400" b="1" dirty="0">
                <a:latin typeface="Courier New" charset="0"/>
                <a:cs typeface="Lucida Sans Unicode" charset="0"/>
              </a:rPr>
              <a:t>Car a </a:t>
            </a:r>
            <a:r>
              <a:rPr lang="en-GB" sz="2400" b="1" dirty="0" smtClean="0">
                <a:solidFill>
                  <a:srgbClr val="7F7F7F"/>
                </a:solidFill>
                <a:latin typeface="Courier New" charset="0"/>
                <a:cs typeface="Lucida Sans Unicode" charset="0"/>
              </a:rPr>
              <a:t>: garage</a:t>
            </a:r>
            <a:r>
              <a:rPr lang="en-GB" sz="2400" b="1" dirty="0" smtClean="0">
                <a:solidFill>
                  <a:schemeClr val="bg1">
                    <a:lumMod val="50000"/>
                  </a:schemeClr>
                </a:solidFill>
                <a:latin typeface="Courier New" charset="0"/>
                <a:cs typeface="Lucida Sans Unicode" charset="0"/>
              </a:rPr>
              <a:t>)</a:t>
            </a:r>
            <a:r>
              <a:rPr lang="en-GB" sz="2400" b="1" dirty="0">
                <a:solidFill>
                  <a:schemeClr val="bg1">
                    <a:lumMod val="50000"/>
                  </a:schemeClr>
                </a:solidFill>
                <a:latin typeface="Courier New" charset="0"/>
                <a:cs typeface="Lucida Sans Unicode" charset="0"/>
              </a:rPr>
              <a:t>{</a:t>
            </a:r>
            <a:br>
              <a:rPr lang="en-GB" sz="2400" b="1" dirty="0">
                <a:solidFill>
                  <a:schemeClr val="bg1">
                    <a:lumMod val="50000"/>
                  </a:schemeClr>
                </a:solidFill>
                <a:latin typeface="Courier New" charset="0"/>
                <a:cs typeface="Lucida Sans Unicode" charset="0"/>
              </a:rPr>
            </a:br>
            <a:r>
              <a:rPr lang="en-GB" sz="2400" b="1" dirty="0" smtClean="0">
                <a:latin typeface="Courier New" charset="0"/>
                <a:cs typeface="Lucida Sans Unicode" charset="0"/>
              </a:rPr>
              <a:t>  </a:t>
            </a:r>
            <a:r>
              <a:rPr lang="en-GB" sz="2400" b="1" dirty="0" err="1">
                <a:latin typeface="Courier New" charset="0"/>
                <a:cs typeface="Lucida Sans Unicode" charset="0"/>
              </a:rPr>
              <a:t>a.</a:t>
            </a:r>
            <a:r>
              <a:rPr lang="en-GB" sz="2400" b="1" dirty="0" err="1">
                <a:solidFill>
                  <a:srgbClr val="FF6600"/>
                </a:solidFill>
                <a:latin typeface="Courier New" charset="0"/>
                <a:cs typeface="Lucida Sans Unicode" charset="0"/>
              </a:rPr>
              <a:t>turnOn</a:t>
            </a:r>
            <a:r>
              <a:rPr lang="en-GB" sz="2400" b="1" dirty="0">
                <a:latin typeface="Courier New" charset="0"/>
                <a:cs typeface="Lucida Sans Unicode" charset="0"/>
              </a:rPr>
              <a:t>();</a:t>
            </a:r>
            <a:br>
              <a:rPr lang="en-GB" sz="2400" b="1" dirty="0">
                <a:latin typeface="Courier New" charset="0"/>
                <a:cs typeface="Lucida Sans Unicode" charset="0"/>
              </a:rPr>
            </a:br>
            <a:r>
              <a:rPr lang="en-GB" sz="2400" b="1" dirty="0">
                <a:solidFill>
                  <a:srgbClr val="7F7F7F"/>
                </a:solidFill>
                <a:latin typeface="Courier New" charset="0"/>
                <a:cs typeface="Lucida Sans Unicode" charset="0"/>
              </a:rPr>
              <a:t>}</a:t>
            </a: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spcAft>
                <a:spcPts val="175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US" dirty="0"/>
          </a:p>
          <a:p>
            <a:pPr marL="0" indent="0" eaLnBrk="1" hangingPunct="1">
              <a:lnSpc>
                <a:spcPct val="100000"/>
              </a:lnSpc>
              <a:spcBef>
                <a:spcPts val="700"/>
              </a:spcBef>
              <a:spcAft>
                <a:spcPts val="175"/>
              </a:spcAft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2400" b="1" dirty="0">
              <a:solidFill>
                <a:schemeClr val="tx1"/>
              </a:solidFill>
              <a:latin typeface="Courier New" charset="0"/>
              <a:cs typeface="Lucida Sans Unicode" charset="0"/>
            </a:endParaRPr>
          </a:p>
        </p:txBody>
      </p:sp>
      <p:sp>
        <p:nvSpPr>
          <p:cNvPr id="96257" name="Segnaposto numero diapositiva 5"/>
          <p:cNvSpPr>
            <a:spLocks noGrp="1"/>
          </p:cNvSpPr>
          <p:nvPr>
            <p:ph type="sldNum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95C6DE6F-CF33-C741-8DB6-245F52DA5AFE}" type="slidenum">
              <a:rPr lang="en-GB" sz="1200">
                <a:solidFill>
                  <a:srgbClr val="000000"/>
                </a:solidFill>
              </a:rPr>
              <a:pPr eaLnBrk="1" hangingPunct="1"/>
              <a:t>32</a:t>
            </a:fld>
            <a:endParaRPr lang="en-GB" sz="1200">
              <a:solidFill>
                <a:srgbClr val="000000"/>
              </a:solidFill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7092280" y="3933056"/>
            <a:ext cx="1703388" cy="1849437"/>
            <a:chOff x="7092280" y="3501008"/>
            <a:chExt cx="1703388" cy="1849437"/>
          </a:xfrm>
        </p:grpSpPr>
        <p:sp>
          <p:nvSpPr>
            <p:cNvPr id="6" name="Rectangle 7"/>
            <p:cNvSpPr>
              <a:spLocks noChangeArrowheads="1"/>
            </p:cNvSpPr>
            <p:nvPr/>
          </p:nvSpPr>
          <p:spPr bwMode="auto">
            <a:xfrm>
              <a:off x="7092280" y="3501008"/>
              <a:ext cx="1693863" cy="1849437"/>
            </a:xfrm>
            <a:prstGeom prst="rect">
              <a:avLst/>
            </a:prstGeom>
            <a:solidFill>
              <a:srgbClr val="FFFFFF"/>
            </a:solidFill>
            <a:ln w="1908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7" name="Rectangle 8"/>
            <p:cNvSpPr>
              <a:spLocks noChangeArrowheads="1"/>
            </p:cNvSpPr>
            <p:nvPr/>
          </p:nvSpPr>
          <p:spPr bwMode="auto">
            <a:xfrm>
              <a:off x="7766968" y="3580383"/>
              <a:ext cx="481012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2160" tIns="46080" rIns="92160" bIns="46080">
              <a:spAutoFit/>
            </a:bodyPr>
            <a:lstStyle/>
            <a:p>
              <a:pPr algn="ctr">
                <a:lnSpc>
                  <a:spcPct val="100000"/>
                </a:lnSpc>
                <a:buClr>
                  <a:srgbClr val="FF0000"/>
                </a:buClr>
                <a:buFont typeface="Arial" charset="0"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sz="1400" b="1">
                  <a:solidFill>
                    <a:srgbClr val="FF0000"/>
                  </a:solidFill>
                  <a:latin typeface="Arial" charset="0"/>
                </a:rPr>
                <a:t>Car</a:t>
              </a:r>
            </a:p>
          </p:txBody>
        </p:sp>
        <p:sp>
          <p:nvSpPr>
            <p:cNvPr id="8" name="Line 9"/>
            <p:cNvSpPr>
              <a:spLocks noChangeShapeType="1"/>
            </p:cNvSpPr>
            <p:nvPr/>
          </p:nvSpPr>
          <p:spPr bwMode="auto">
            <a:xfrm>
              <a:off x="7100218" y="3961383"/>
              <a:ext cx="1695450" cy="1587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Line 10"/>
            <p:cNvSpPr>
              <a:spLocks noChangeShapeType="1"/>
            </p:cNvSpPr>
            <p:nvPr/>
          </p:nvSpPr>
          <p:spPr bwMode="auto">
            <a:xfrm>
              <a:off x="7092280" y="4817045"/>
              <a:ext cx="1695450" cy="1588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Rectangle 11"/>
            <p:cNvSpPr>
              <a:spLocks noChangeArrowheads="1"/>
            </p:cNvSpPr>
            <p:nvPr/>
          </p:nvSpPr>
          <p:spPr bwMode="auto">
            <a:xfrm>
              <a:off x="7165305" y="4037583"/>
              <a:ext cx="1143000" cy="730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2160" tIns="46080" rIns="92160" bIns="46080">
              <a:spAutoFit/>
            </a:bodyPr>
            <a:lstStyle/>
            <a:p>
              <a:pPr>
                <a:lnSpc>
                  <a:spcPct val="100000"/>
                </a:lnSpc>
                <a:buFont typeface="Arial" charset="0"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sz="1400">
                  <a:solidFill>
                    <a:srgbClr val="000000"/>
                  </a:solidFill>
                  <a:latin typeface="Arial" charset="0"/>
                </a:rPr>
                <a:t>color</a:t>
              </a:r>
            </a:p>
            <a:p>
              <a:pPr>
                <a:lnSpc>
                  <a:spcPct val="100000"/>
                </a:lnSpc>
                <a:buFont typeface="Arial" charset="0"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sz="1400">
                  <a:solidFill>
                    <a:srgbClr val="000000"/>
                  </a:solidFill>
                  <a:latin typeface="Arial" charset="0"/>
                </a:rPr>
                <a:t>isOn</a:t>
              </a:r>
              <a:br>
                <a:rPr lang="en-GB" sz="1400">
                  <a:solidFill>
                    <a:srgbClr val="000000"/>
                  </a:solidFill>
                  <a:latin typeface="Arial" charset="0"/>
                </a:rPr>
              </a:br>
              <a:r>
                <a:rPr lang="en-GB" sz="1400">
                  <a:solidFill>
                    <a:srgbClr val="000000"/>
                  </a:solidFill>
                  <a:latin typeface="Arial" charset="0"/>
                </a:rPr>
                <a:t>licencePlate</a:t>
              </a:r>
            </a:p>
          </p:txBody>
        </p:sp>
        <p:sp>
          <p:nvSpPr>
            <p:cNvPr id="11" name="Rectangle 12"/>
            <p:cNvSpPr>
              <a:spLocks noChangeArrowheads="1"/>
            </p:cNvSpPr>
            <p:nvPr/>
          </p:nvSpPr>
          <p:spPr bwMode="auto">
            <a:xfrm>
              <a:off x="7178005" y="4813870"/>
              <a:ext cx="962025" cy="5239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2160" tIns="46080" rIns="92160" bIns="46080">
              <a:spAutoFit/>
            </a:bodyPr>
            <a:lstStyle/>
            <a:p>
              <a:pPr>
                <a:lnSpc>
                  <a:spcPct val="100000"/>
                </a:lnSpc>
                <a:buClr>
                  <a:srgbClr val="FF9900"/>
                </a:buClr>
                <a:buFont typeface="Arial" charset="0"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sz="1400" dirty="0" err="1" smtClean="0">
                  <a:solidFill>
                    <a:srgbClr val="FF6633"/>
                  </a:solidFill>
                  <a:latin typeface="Arial" charset="0"/>
                </a:rPr>
                <a:t>turnOn</a:t>
              </a:r>
              <a:r>
                <a:rPr lang="en-GB" sz="1400" dirty="0" smtClean="0">
                  <a:solidFill>
                    <a:srgbClr val="FF6633"/>
                  </a:solidFill>
                  <a:latin typeface="Arial" charset="0"/>
                </a:rPr>
                <a:t>()</a:t>
              </a:r>
              <a:endParaRPr lang="en-GB" sz="1400" dirty="0">
                <a:solidFill>
                  <a:srgbClr val="FF6633"/>
                </a:solidFill>
                <a:latin typeface="Arial" charset="0"/>
              </a:endParaRPr>
            </a:p>
            <a:p>
              <a:pPr>
                <a:lnSpc>
                  <a:spcPct val="100000"/>
                </a:lnSpc>
                <a:buFont typeface="Arial" charset="0"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sz="1400" dirty="0" smtClean="0">
                  <a:solidFill>
                    <a:srgbClr val="000000"/>
                  </a:solidFill>
                  <a:latin typeface="Arial" charset="0"/>
                </a:rPr>
                <a:t>paint()</a:t>
              </a:r>
              <a:endParaRPr lang="en-GB" sz="1400" dirty="0">
                <a:solidFill>
                  <a:srgbClr val="000000"/>
                </a:solidFill>
                <a:latin typeface="Arial" charset="0"/>
              </a:endParaRPr>
            </a:p>
          </p:txBody>
        </p:sp>
      </p:grpSp>
      <p:sp>
        <p:nvSpPr>
          <p:cNvPr id="4" name="Rounded Rectangular Callout 3"/>
          <p:cNvSpPr/>
          <p:nvPr/>
        </p:nvSpPr>
        <p:spPr bwMode="auto">
          <a:xfrm>
            <a:off x="1763688" y="5301208"/>
            <a:ext cx="4824536" cy="864096"/>
          </a:xfrm>
          <a:prstGeom prst="wedgeRoundRectCallout">
            <a:avLst>
              <a:gd name="adj1" fmla="val -61770"/>
              <a:gd name="adj2" fmla="val -174962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 w="12600">
            <a:solidFill>
              <a:schemeClr val="accent4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360" tIns="44280" rIns="90360" bIns="44280" rtlCol="0" anchor="ctr"/>
          <a:lstStyle/>
          <a:p>
            <a:pPr algn="ctr"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dirty="0" smtClean="0">
                <a:solidFill>
                  <a:srgbClr val="000000"/>
                </a:solidFill>
                <a:latin typeface="+mn-lt"/>
              </a:rPr>
              <a:t>Does the type of </a:t>
            </a:r>
            <a:r>
              <a:rPr lang="en-US" b="1" dirty="0">
                <a:solidFill>
                  <a:srgbClr val="000000"/>
                </a:solidFill>
                <a:latin typeface="Courier New" charset="0"/>
              </a:rPr>
              <a:t>a </a:t>
            </a:r>
            <a:r>
              <a:rPr lang="en-US" dirty="0" smtClean="0">
                <a:solidFill>
                  <a:srgbClr val="000000"/>
                </a:solidFill>
                <a:latin typeface="+mn-lt"/>
              </a:rPr>
              <a:t>(i.e.</a:t>
            </a:r>
            <a:r>
              <a:rPr lang="en-US" b="1" dirty="0" smtClean="0">
                <a:solidFill>
                  <a:srgbClr val="000000"/>
                </a:solidFill>
                <a:latin typeface="Courier New" charset="0"/>
              </a:rPr>
              <a:t> Car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) </a:t>
            </a:r>
            <a:r>
              <a:rPr lang="en-US" dirty="0" smtClean="0">
                <a:solidFill>
                  <a:srgbClr val="000000"/>
                </a:solidFill>
                <a:latin typeface="+mn-lt"/>
              </a:rPr>
              <a:t>provide 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method</a:t>
            </a:r>
            <a:r>
              <a:rPr lang="en-US" b="1" dirty="0" smtClean="0">
                <a:solidFill>
                  <a:srgbClr val="000000"/>
                </a:solidFill>
                <a:latin typeface="Courier New" charset="0"/>
              </a:rPr>
              <a:t> </a:t>
            </a:r>
            <a:r>
              <a:rPr lang="en-US" b="1" dirty="0" err="1" smtClean="0">
                <a:solidFill>
                  <a:srgbClr val="000000"/>
                </a:solidFill>
                <a:latin typeface="Courier New" charset="0"/>
              </a:rPr>
              <a:t>turnOn</a:t>
            </a:r>
            <a:r>
              <a:rPr lang="en-US" b="1" dirty="0" smtClean="0">
                <a:solidFill>
                  <a:srgbClr val="000000"/>
                </a:solidFill>
                <a:latin typeface="Courier New" charset="0"/>
              </a:rPr>
              <a:t>()</a:t>
            </a:r>
            <a:r>
              <a:rPr lang="en-US" b="1" dirty="0" smtClean="0">
                <a:solidFill>
                  <a:srgbClr val="000000"/>
                </a:solidFill>
                <a:latin typeface="+mn-lt"/>
              </a:rPr>
              <a:t>?</a:t>
            </a:r>
            <a:endParaRPr lang="en-US" b="1" dirty="0">
              <a:solidFill>
                <a:srgbClr val="0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69247563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755576" y="3861048"/>
            <a:ext cx="6840760" cy="15121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360" tIns="44280" rIns="90360" bIns="44280" rtlCol="0" anchor="ctr"/>
          <a:lstStyle/>
          <a:p>
            <a:pPr algn="ctr"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000" b="1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98306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 smtClean="0">
                <a:latin typeface="Lucida Sans Unicode" charset="0"/>
                <a:cs typeface="Lucida Sans Unicode" charset="0"/>
              </a:rPr>
              <a:t>Dynamic Binding</a:t>
            </a:r>
            <a:endParaRPr lang="en-GB" dirty="0">
              <a:latin typeface="Lucida Sans Unicode" charset="0"/>
              <a:cs typeface="Lucida Sans Unicode" charset="0"/>
            </a:endParaRPr>
          </a:p>
        </p:txBody>
      </p:sp>
      <p:sp>
        <p:nvSpPr>
          <p:cNvPr id="98307" name="Rectangle 2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Association </a:t>
            </a:r>
            <a:r>
              <a:rPr lang="en-GB" dirty="0" smtClean="0">
                <a:latin typeface="Lucida Sans Unicode" charset="0"/>
                <a:cs typeface="Lucida Sans Unicode" charset="0"/>
              </a:rPr>
              <a:t>message – method</a:t>
            </a: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smtClean="0">
                <a:latin typeface="Lucida Sans Unicode" charset="0"/>
                <a:cs typeface="Lucida Sans Unicode" charset="0"/>
              </a:rPr>
              <a:t>Performed by JVM at run-time</a:t>
            </a:r>
            <a:endParaRPr lang="en-GB" dirty="0">
              <a:latin typeface="Lucida Sans Unicode" charset="0"/>
              <a:cs typeface="Lucida Sans Unicode" charset="0"/>
            </a:endParaRP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Constraint</a:t>
            </a: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Same </a:t>
            </a:r>
            <a:r>
              <a:rPr lang="en-GB" dirty="0" smtClean="0">
                <a:latin typeface="Lucida Sans Unicode" charset="0"/>
                <a:ea typeface="Lucida Sans Unicode" charset="0"/>
                <a:cs typeface="Lucida Sans Unicode" charset="0"/>
              </a:rPr>
              <a:t>signature</a:t>
            </a:r>
          </a:p>
          <a:p>
            <a:pPr lvl="4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dirty="0">
              <a:latin typeface="Lucida Sans Unicode" charset="0"/>
              <a:ea typeface="Lucida Sans Unicode" charset="0"/>
              <a:cs typeface="Lucida Sans Unicode" charset="0"/>
            </a:endParaRPr>
          </a:p>
          <a:p>
            <a:pPr lvl="1">
              <a:lnSpc>
                <a:spcPct val="100000"/>
              </a:lnSpc>
              <a:buFont typeface="Courier New" charset="0"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</a:tabLst>
            </a:pPr>
            <a:r>
              <a:rPr lang="en-GB" sz="2400" b="1" dirty="0" smtClean="0">
                <a:latin typeface="Courier New" charset="0"/>
              </a:rPr>
              <a:t>for(Car a : garage)</a:t>
            </a:r>
            <a:r>
              <a:rPr lang="en-GB" sz="2400" b="1" dirty="0">
                <a:latin typeface="Courier New" charset="0"/>
              </a:rPr>
              <a:t>{</a:t>
            </a:r>
          </a:p>
          <a:p>
            <a:pPr lvl="1">
              <a:lnSpc>
                <a:spcPct val="100000"/>
              </a:lnSpc>
              <a:buFont typeface="Courier New" charset="0"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</a:tabLst>
            </a:pPr>
            <a:r>
              <a:rPr lang="en-GB" sz="2400" b="1" dirty="0" smtClean="0">
                <a:latin typeface="Courier New" charset="0"/>
              </a:rPr>
              <a:t>		</a:t>
            </a:r>
            <a:r>
              <a:rPr lang="en-GB" sz="2400" b="1" dirty="0" err="1" smtClean="0">
                <a:latin typeface="Courier New" charset="0"/>
              </a:rPr>
              <a:t>a.</a:t>
            </a:r>
            <a:r>
              <a:rPr lang="en-GB" sz="2400" b="1" dirty="0" err="1" smtClean="0">
                <a:solidFill>
                  <a:srgbClr val="FF6633"/>
                </a:solidFill>
                <a:latin typeface="Courier New" charset="0"/>
              </a:rPr>
              <a:t>turnOn</a:t>
            </a:r>
            <a:r>
              <a:rPr lang="en-GB" sz="2400" b="1" dirty="0">
                <a:latin typeface="Courier New" charset="0"/>
              </a:rPr>
              <a:t>();</a:t>
            </a:r>
          </a:p>
          <a:p>
            <a:pPr lvl="1">
              <a:lnSpc>
                <a:spcPct val="100000"/>
              </a:lnSpc>
              <a:buFont typeface="Courier New" charset="0"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</a:tabLst>
            </a:pPr>
            <a:r>
              <a:rPr lang="en-GB" sz="2400" b="1" dirty="0" smtClean="0">
                <a:latin typeface="Courier New" charset="0"/>
              </a:rPr>
              <a:t>}</a:t>
            </a:r>
            <a:endParaRPr lang="en-GB" sz="2400" b="1" dirty="0">
              <a:latin typeface="Courier New" charset="0"/>
            </a:endParaRPr>
          </a:p>
        </p:txBody>
      </p:sp>
      <p:sp>
        <p:nvSpPr>
          <p:cNvPr id="98305" name="Segnaposto numero diapositiva 5"/>
          <p:cNvSpPr>
            <a:spLocks noGrp="1"/>
          </p:cNvSpPr>
          <p:nvPr>
            <p:ph type="sldNum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25E1DD26-D742-5E46-9DE8-BB8AF9165A59}" type="slidenum">
              <a:rPr lang="en-GB" sz="1200">
                <a:solidFill>
                  <a:srgbClr val="000000"/>
                </a:solidFill>
              </a:rPr>
              <a:pPr eaLnBrk="1" hangingPunct="1"/>
              <a:t>33</a:t>
            </a:fld>
            <a:endParaRPr lang="en-GB" sz="1200">
              <a:solidFill>
                <a:srgbClr val="000000"/>
              </a:solidFill>
            </a:endParaRPr>
          </a:p>
        </p:txBody>
      </p:sp>
      <p:sp>
        <p:nvSpPr>
          <p:cNvPr id="98309" name="Text Box 4"/>
          <p:cNvSpPr txBox="1">
            <a:spLocks noChangeArrowheads="1"/>
          </p:cNvSpPr>
          <p:nvPr/>
        </p:nvSpPr>
        <p:spPr bwMode="auto">
          <a:xfrm>
            <a:off x="2183997" y="5399088"/>
            <a:ext cx="1169208" cy="3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100000"/>
              </a:lnSpc>
              <a:buFont typeface="Arial" charset="0"/>
              <a:buNone/>
            </a:pPr>
            <a:r>
              <a:rPr lang="en-GB" sz="1800" b="1" dirty="0">
                <a:solidFill>
                  <a:srgbClr val="000000"/>
                </a:solidFill>
                <a:latin typeface="+mn-lt"/>
              </a:rPr>
              <a:t>message</a:t>
            </a:r>
          </a:p>
        </p:txBody>
      </p:sp>
      <p:sp>
        <p:nvSpPr>
          <p:cNvPr id="98310" name="Line 5"/>
          <p:cNvSpPr>
            <a:spLocks noChangeShapeType="1"/>
          </p:cNvSpPr>
          <p:nvPr/>
        </p:nvSpPr>
        <p:spPr bwMode="auto">
          <a:xfrm flipH="1" flipV="1">
            <a:off x="2043113" y="4719638"/>
            <a:ext cx="654050" cy="708025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8311" name="Text Box 6"/>
          <p:cNvSpPr txBox="1">
            <a:spLocks noChangeArrowheads="1"/>
          </p:cNvSpPr>
          <p:nvPr/>
        </p:nvSpPr>
        <p:spPr bwMode="auto">
          <a:xfrm>
            <a:off x="3915644" y="5373216"/>
            <a:ext cx="1160203" cy="3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100000"/>
              </a:lnSpc>
              <a:buFont typeface="Arial" charset="0"/>
              <a:buNone/>
            </a:pPr>
            <a:r>
              <a:rPr lang="en-GB" sz="1800" b="1" dirty="0" smtClean="0">
                <a:solidFill>
                  <a:srgbClr val="000000"/>
                </a:solidFill>
                <a:latin typeface="+mn-lt"/>
              </a:rPr>
              <a:t>methods</a:t>
            </a:r>
            <a:endParaRPr lang="en-GB" sz="1800" b="1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98312" name="Rectangle 7"/>
          <p:cNvSpPr>
            <a:spLocks noChangeArrowheads="1"/>
          </p:cNvSpPr>
          <p:nvPr/>
        </p:nvSpPr>
        <p:spPr bwMode="auto">
          <a:xfrm>
            <a:off x="7254875" y="1919288"/>
            <a:ext cx="1693863" cy="1849437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98313" name="Rectangle 8"/>
          <p:cNvSpPr>
            <a:spLocks noChangeArrowheads="1"/>
          </p:cNvSpPr>
          <p:nvPr/>
        </p:nvSpPr>
        <p:spPr bwMode="auto">
          <a:xfrm>
            <a:off x="7923121" y="1998663"/>
            <a:ext cx="493897" cy="308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2160" tIns="46080" rIns="92160" bIns="46080">
            <a:spAutoFit/>
          </a:bodyPr>
          <a:lstStyle/>
          <a:p>
            <a:pPr algn="ctr">
              <a:lnSpc>
                <a:spcPct val="100000"/>
              </a:lnSpc>
              <a:buClr>
                <a:srgbClr val="FF0000"/>
              </a:buClr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400" b="1" dirty="0">
                <a:solidFill>
                  <a:srgbClr val="FF6600"/>
                </a:solidFill>
                <a:latin typeface="Arial" charset="0"/>
              </a:rPr>
              <a:t>Car</a:t>
            </a:r>
          </a:p>
        </p:txBody>
      </p:sp>
      <p:sp>
        <p:nvSpPr>
          <p:cNvPr id="98314" name="Line 9"/>
          <p:cNvSpPr>
            <a:spLocks noChangeShapeType="1"/>
          </p:cNvSpPr>
          <p:nvPr/>
        </p:nvSpPr>
        <p:spPr bwMode="auto">
          <a:xfrm>
            <a:off x="7262813" y="2379663"/>
            <a:ext cx="1695450" cy="1587"/>
          </a:xfrm>
          <a:prstGeom prst="line">
            <a:avLst/>
          </a:prstGeom>
          <a:noFill/>
          <a:ln w="1908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8315" name="Line 10"/>
          <p:cNvSpPr>
            <a:spLocks noChangeShapeType="1"/>
          </p:cNvSpPr>
          <p:nvPr/>
        </p:nvSpPr>
        <p:spPr bwMode="auto">
          <a:xfrm>
            <a:off x="7254875" y="3235325"/>
            <a:ext cx="1695450" cy="1588"/>
          </a:xfrm>
          <a:prstGeom prst="line">
            <a:avLst/>
          </a:prstGeom>
          <a:noFill/>
          <a:ln w="1908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8316" name="Rectangle 11"/>
          <p:cNvSpPr>
            <a:spLocks noChangeArrowheads="1"/>
          </p:cNvSpPr>
          <p:nvPr/>
        </p:nvSpPr>
        <p:spPr bwMode="auto">
          <a:xfrm>
            <a:off x="7327900" y="2455863"/>
            <a:ext cx="1143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2160" tIns="46080" rIns="92160" bIns="46080">
            <a:spAutoFit/>
          </a:bodyPr>
          <a:lstStyle/>
          <a:p>
            <a:pPr>
              <a:lnSpc>
                <a:spcPct val="100000"/>
              </a:lnSpc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400">
                <a:solidFill>
                  <a:srgbClr val="000000"/>
                </a:solidFill>
                <a:latin typeface="Arial" charset="0"/>
              </a:rPr>
              <a:t>color</a:t>
            </a:r>
          </a:p>
          <a:p>
            <a:pPr>
              <a:lnSpc>
                <a:spcPct val="100000"/>
              </a:lnSpc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400">
                <a:solidFill>
                  <a:srgbClr val="000000"/>
                </a:solidFill>
                <a:latin typeface="Arial" charset="0"/>
              </a:rPr>
              <a:t>isOn</a:t>
            </a:r>
            <a:br>
              <a:rPr lang="en-GB" sz="1400">
                <a:solidFill>
                  <a:srgbClr val="000000"/>
                </a:solidFill>
                <a:latin typeface="Arial" charset="0"/>
              </a:rPr>
            </a:br>
            <a:r>
              <a:rPr lang="en-GB" sz="1400">
                <a:solidFill>
                  <a:srgbClr val="000000"/>
                </a:solidFill>
                <a:latin typeface="Arial" charset="0"/>
              </a:rPr>
              <a:t>licencePlate</a:t>
            </a:r>
          </a:p>
        </p:txBody>
      </p:sp>
      <p:sp>
        <p:nvSpPr>
          <p:cNvPr id="98317" name="Rectangle 12"/>
          <p:cNvSpPr>
            <a:spLocks noChangeArrowheads="1"/>
          </p:cNvSpPr>
          <p:nvPr/>
        </p:nvSpPr>
        <p:spPr bwMode="auto">
          <a:xfrm>
            <a:off x="7340600" y="3232150"/>
            <a:ext cx="962025" cy="5239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2160" tIns="46080" rIns="92160" bIns="46080">
            <a:spAutoFit/>
          </a:bodyPr>
          <a:lstStyle/>
          <a:p>
            <a:pPr>
              <a:lnSpc>
                <a:spcPct val="100000"/>
              </a:lnSpc>
              <a:buClr>
                <a:srgbClr val="FF9900"/>
              </a:buClr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400" dirty="0" err="1" smtClean="0">
                <a:solidFill>
                  <a:srgbClr val="FF6633"/>
                </a:solidFill>
                <a:latin typeface="Arial" charset="0"/>
              </a:rPr>
              <a:t>turnOn</a:t>
            </a:r>
            <a:r>
              <a:rPr lang="en-GB" sz="1400" dirty="0" smtClean="0">
                <a:solidFill>
                  <a:srgbClr val="FF6633"/>
                </a:solidFill>
                <a:latin typeface="Arial" charset="0"/>
              </a:rPr>
              <a:t>()</a:t>
            </a:r>
            <a:endParaRPr lang="en-GB" sz="1400" dirty="0">
              <a:solidFill>
                <a:srgbClr val="FF6633"/>
              </a:solidFill>
              <a:latin typeface="Arial" charset="0"/>
            </a:endParaRPr>
          </a:p>
          <a:p>
            <a:pPr>
              <a:lnSpc>
                <a:spcPct val="100000"/>
              </a:lnSpc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400" dirty="0" smtClean="0">
                <a:solidFill>
                  <a:srgbClr val="000000"/>
                </a:solidFill>
                <a:latin typeface="Arial" charset="0"/>
              </a:rPr>
              <a:t>paint()</a:t>
            </a:r>
            <a:endParaRPr lang="en-GB" sz="140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98318" name="Rectangle 13"/>
          <p:cNvSpPr>
            <a:spLocks noChangeArrowheads="1"/>
          </p:cNvSpPr>
          <p:nvPr/>
        </p:nvSpPr>
        <p:spPr bwMode="auto">
          <a:xfrm>
            <a:off x="7245350" y="4562475"/>
            <a:ext cx="1693863" cy="153035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98319" name="Rectangle 14"/>
          <p:cNvSpPr>
            <a:spLocks noChangeArrowheads="1"/>
          </p:cNvSpPr>
          <p:nvPr/>
        </p:nvSpPr>
        <p:spPr bwMode="auto">
          <a:xfrm>
            <a:off x="7542195" y="4641850"/>
            <a:ext cx="1135098" cy="308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2160" tIns="46080" rIns="92160" bIns="46080">
            <a:spAutoFit/>
          </a:bodyPr>
          <a:lstStyle/>
          <a:p>
            <a:pPr algn="ctr">
              <a:lnSpc>
                <a:spcPct val="100000"/>
              </a:lnSpc>
              <a:buClr>
                <a:srgbClr val="FF0000"/>
              </a:buClr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400" b="1" dirty="0" err="1">
                <a:solidFill>
                  <a:srgbClr val="FF6600"/>
                </a:solidFill>
                <a:latin typeface="Arial" charset="0"/>
              </a:rPr>
              <a:t>ElectricCar</a:t>
            </a:r>
            <a:endParaRPr lang="en-GB" sz="1400" b="1" dirty="0">
              <a:solidFill>
                <a:srgbClr val="FF6600"/>
              </a:solidFill>
              <a:latin typeface="Arial" charset="0"/>
            </a:endParaRPr>
          </a:p>
        </p:txBody>
      </p:sp>
      <p:sp>
        <p:nvSpPr>
          <p:cNvPr id="98320" name="Line 15"/>
          <p:cNvSpPr>
            <a:spLocks noChangeShapeType="1"/>
          </p:cNvSpPr>
          <p:nvPr/>
        </p:nvSpPr>
        <p:spPr bwMode="auto">
          <a:xfrm>
            <a:off x="7251700" y="5022850"/>
            <a:ext cx="1695450" cy="1588"/>
          </a:xfrm>
          <a:prstGeom prst="line">
            <a:avLst/>
          </a:prstGeom>
          <a:noFill/>
          <a:ln w="1908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8321" name="Line 16"/>
          <p:cNvSpPr>
            <a:spLocks noChangeShapeType="1"/>
          </p:cNvSpPr>
          <p:nvPr/>
        </p:nvSpPr>
        <p:spPr bwMode="auto">
          <a:xfrm>
            <a:off x="7248525" y="5480050"/>
            <a:ext cx="1695450" cy="1588"/>
          </a:xfrm>
          <a:prstGeom prst="line">
            <a:avLst/>
          </a:prstGeom>
          <a:noFill/>
          <a:ln w="1908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8322" name="Rectangle 17"/>
          <p:cNvSpPr>
            <a:spLocks noChangeArrowheads="1"/>
          </p:cNvSpPr>
          <p:nvPr/>
        </p:nvSpPr>
        <p:spPr bwMode="auto">
          <a:xfrm>
            <a:off x="7318375" y="5099050"/>
            <a:ext cx="1498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2160" tIns="46080" rIns="92160" bIns="46080">
            <a:spAutoFit/>
          </a:bodyPr>
          <a:lstStyle/>
          <a:p>
            <a:pPr>
              <a:lnSpc>
                <a:spcPct val="100000"/>
              </a:lnSpc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400">
                <a:solidFill>
                  <a:srgbClr val="000000"/>
                </a:solidFill>
                <a:latin typeface="Arial" charset="0"/>
              </a:rPr>
              <a:t>cellsAreCharged</a:t>
            </a:r>
          </a:p>
        </p:txBody>
      </p:sp>
      <p:sp>
        <p:nvSpPr>
          <p:cNvPr id="98323" name="Rectangle 18"/>
          <p:cNvSpPr>
            <a:spLocks noChangeArrowheads="1"/>
          </p:cNvSpPr>
          <p:nvPr/>
        </p:nvSpPr>
        <p:spPr bwMode="auto">
          <a:xfrm>
            <a:off x="7318375" y="5556250"/>
            <a:ext cx="1014284" cy="5239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2160" tIns="46080" rIns="92160" bIns="46080">
            <a:spAutoFit/>
          </a:bodyPr>
          <a:lstStyle/>
          <a:p>
            <a:pPr>
              <a:lnSpc>
                <a:spcPct val="100000"/>
              </a:lnSpc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400" dirty="0" smtClean="0">
                <a:solidFill>
                  <a:srgbClr val="000000"/>
                </a:solidFill>
                <a:latin typeface="Arial" charset="0"/>
              </a:rPr>
              <a:t>recharge()</a:t>
            </a:r>
            <a:endParaRPr lang="en-GB" sz="1400" dirty="0">
              <a:solidFill>
                <a:srgbClr val="000000"/>
              </a:solidFill>
              <a:latin typeface="Arial" charset="0"/>
            </a:endParaRPr>
          </a:p>
          <a:p>
            <a:pPr>
              <a:lnSpc>
                <a:spcPct val="100000"/>
              </a:lnSpc>
              <a:buClr>
                <a:srgbClr val="FF9900"/>
              </a:buClr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400" dirty="0" err="1" smtClean="0">
                <a:solidFill>
                  <a:srgbClr val="FF6633"/>
                </a:solidFill>
                <a:latin typeface="Arial" charset="0"/>
              </a:rPr>
              <a:t>turnOn</a:t>
            </a:r>
            <a:r>
              <a:rPr lang="en-GB" sz="1400" dirty="0" smtClean="0">
                <a:solidFill>
                  <a:srgbClr val="FF6633"/>
                </a:solidFill>
                <a:latin typeface="Arial" charset="0"/>
              </a:rPr>
              <a:t>()</a:t>
            </a:r>
            <a:endParaRPr lang="en-GB" sz="1400" dirty="0">
              <a:solidFill>
                <a:srgbClr val="FF6633"/>
              </a:solidFill>
              <a:latin typeface="Arial" charset="0"/>
            </a:endParaRPr>
          </a:p>
        </p:txBody>
      </p:sp>
      <p:sp>
        <p:nvSpPr>
          <p:cNvPr id="98324" name="AutoShape 19"/>
          <p:cNvSpPr>
            <a:spLocks noChangeArrowheads="1"/>
          </p:cNvSpPr>
          <p:nvPr/>
        </p:nvSpPr>
        <p:spPr bwMode="auto">
          <a:xfrm>
            <a:off x="7974013" y="3794125"/>
            <a:ext cx="233362" cy="277813"/>
          </a:xfrm>
          <a:prstGeom prst="triangle">
            <a:avLst>
              <a:gd name="adj" fmla="val 50000"/>
            </a:avLst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cxnSp>
        <p:nvCxnSpPr>
          <p:cNvPr id="98325" name="AutoShape 20"/>
          <p:cNvCxnSpPr>
            <a:cxnSpLocks noChangeShapeType="1"/>
            <a:stCxn id="98324" idx="2"/>
            <a:endCxn id="98318" idx="0"/>
          </p:cNvCxnSpPr>
          <p:nvPr/>
        </p:nvCxnSpPr>
        <p:spPr bwMode="auto">
          <a:xfrm>
            <a:off x="7974013" y="4071938"/>
            <a:ext cx="119062" cy="492125"/>
          </a:xfrm>
          <a:prstGeom prst="bentConnector3">
            <a:avLst>
              <a:gd name="adj1" fmla="val 50000"/>
            </a:avLst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8326" name="Line 21"/>
          <p:cNvSpPr>
            <a:spLocks noChangeShapeType="1"/>
          </p:cNvSpPr>
          <p:nvPr/>
        </p:nvSpPr>
        <p:spPr bwMode="auto">
          <a:xfrm flipV="1">
            <a:off x="5092700" y="3398838"/>
            <a:ext cx="2268538" cy="2074862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8327" name="Line 22"/>
          <p:cNvSpPr>
            <a:spLocks noChangeShapeType="1"/>
          </p:cNvSpPr>
          <p:nvPr/>
        </p:nvSpPr>
        <p:spPr bwMode="auto">
          <a:xfrm>
            <a:off x="5156200" y="5621338"/>
            <a:ext cx="2171700" cy="330200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Dynamic binding procedure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The JVM retrieves the effective class of the target object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If that class contains the invoked method it is executed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Otherwise the parent class is considered and step 2 is repeated</a:t>
            </a:r>
          </a:p>
          <a:p>
            <a:r>
              <a:rPr lang="en-US" dirty="0" smtClean="0"/>
              <a:t>Note: the procedure is guaranteed to terminate</a:t>
            </a:r>
          </a:p>
          <a:p>
            <a:pPr lvl="1"/>
            <a:r>
              <a:rPr lang="en-US" dirty="0" smtClean="0"/>
              <a:t>The compiler checks the reference type class (a base of the actual one) defines the method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477364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dynamic binding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Several objects from different classes, sharing a common ancestor class</a:t>
            </a:r>
          </a:p>
          <a:p>
            <a:r>
              <a:rPr lang="en-US" dirty="0" smtClean="0"/>
              <a:t>Can be treated uniformly</a:t>
            </a:r>
          </a:p>
          <a:p>
            <a:r>
              <a:rPr lang="en-US" dirty="0" smtClean="0"/>
              <a:t>Algorithms can be written for the base class (using the relative methods) and applied to any subclass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170870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Substitutability</a:t>
            </a:r>
            <a:r>
              <a:rPr lang="en-US" i="1" dirty="0" smtClean="0"/>
              <a:t> </a:t>
            </a:r>
            <a:r>
              <a:rPr lang="en-US" dirty="0" smtClean="0"/>
              <a:t>principle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000" dirty="0" smtClean="0"/>
              <a:t>If </a:t>
            </a:r>
            <a:r>
              <a:rPr lang="en-US" sz="3000" dirty="0"/>
              <a:t>S is a subtype of T, then objects of type T may be replaced with objects of type </a:t>
            </a:r>
            <a:r>
              <a:rPr lang="en-US" sz="3000" dirty="0" smtClean="0"/>
              <a:t>S</a:t>
            </a:r>
          </a:p>
          <a:p>
            <a:pPr lvl="1"/>
            <a:r>
              <a:rPr lang="en-US" sz="2400" dirty="0" smtClean="0"/>
              <a:t>A.k.a. </a:t>
            </a:r>
            <a:r>
              <a:rPr lang="en-US" sz="2400" dirty="0" err="1" smtClean="0"/>
              <a:t>Liskov</a:t>
            </a:r>
            <a:r>
              <a:rPr lang="en-US" sz="2400" dirty="0"/>
              <a:t> </a:t>
            </a:r>
            <a:r>
              <a:rPr lang="en-US" sz="2400" dirty="0" smtClean="0"/>
              <a:t>Substitution Principle (LSP)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25" y="3140968"/>
            <a:ext cx="1594157" cy="309634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6869" y="3140968"/>
            <a:ext cx="6447131" cy="33117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03648" y="4077072"/>
            <a:ext cx="1052091" cy="12280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 smtClean="0">
                <a:solidFill>
                  <a:schemeClr val="tx1"/>
                </a:solidFill>
                <a:latin typeface="+mj-lt"/>
              </a:rPr>
              <a:t>⇒</a:t>
            </a:r>
          </a:p>
        </p:txBody>
      </p:sp>
      <p:cxnSp>
        <p:nvCxnSpPr>
          <p:cNvPr id="7" name="Straight Arrow Connector 6"/>
          <p:cNvCxnSpPr/>
          <p:nvPr/>
        </p:nvCxnSpPr>
        <p:spPr bwMode="auto">
          <a:xfrm>
            <a:off x="4644008" y="4005064"/>
            <a:ext cx="1800200" cy="72008"/>
          </a:xfrm>
          <a:prstGeom prst="straightConnector1">
            <a:avLst/>
          </a:prstGeom>
          <a:solidFill>
            <a:srgbClr val="00B8FF"/>
          </a:solidFill>
          <a:ln w="28575" cap="flat" cmpd="sng" algn="ctr">
            <a:solidFill>
              <a:schemeClr val="accent3">
                <a:lumMod val="5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8" name="Straight Arrow Connector 7"/>
          <p:cNvCxnSpPr/>
          <p:nvPr/>
        </p:nvCxnSpPr>
        <p:spPr bwMode="auto">
          <a:xfrm>
            <a:off x="4644008" y="4149080"/>
            <a:ext cx="1800200" cy="792088"/>
          </a:xfrm>
          <a:prstGeom prst="straightConnector1">
            <a:avLst/>
          </a:prstGeom>
          <a:solidFill>
            <a:srgbClr val="00B8FF"/>
          </a:solidFill>
          <a:ln w="28575" cap="flat" cmpd="sng" algn="ctr">
            <a:solidFill>
              <a:schemeClr val="accent3">
                <a:lumMod val="5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9" name="Straight Arrow Connector 8"/>
          <p:cNvCxnSpPr/>
          <p:nvPr/>
        </p:nvCxnSpPr>
        <p:spPr bwMode="auto">
          <a:xfrm flipV="1">
            <a:off x="4644008" y="5157192"/>
            <a:ext cx="1800200" cy="360040"/>
          </a:xfrm>
          <a:prstGeom prst="straightConnector1">
            <a:avLst/>
          </a:prstGeom>
          <a:solidFill>
            <a:srgbClr val="00B8FF"/>
          </a:solidFill>
          <a:ln w="28575" cap="flat" cmpd="sng" algn="ctr">
            <a:solidFill>
              <a:schemeClr val="accent3">
                <a:lumMod val="5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0" name="Straight Arrow Connector 9"/>
          <p:cNvCxnSpPr/>
          <p:nvPr/>
        </p:nvCxnSpPr>
        <p:spPr bwMode="auto">
          <a:xfrm flipV="1">
            <a:off x="4644008" y="4293096"/>
            <a:ext cx="1800200" cy="1080120"/>
          </a:xfrm>
          <a:prstGeom prst="straightConnector1">
            <a:avLst/>
          </a:prstGeom>
          <a:solidFill>
            <a:srgbClr val="00B8FF"/>
          </a:solidFill>
          <a:ln w="28575" cap="flat" cmpd="sng" algn="ctr">
            <a:solidFill>
              <a:schemeClr val="accent6">
                <a:lumMod val="75000"/>
              </a:schemeClr>
            </a:solidFill>
            <a:prstDash val="dot"/>
            <a:round/>
            <a:headEnd type="none" w="med" len="med"/>
            <a:tailEnd type="arrow"/>
          </a:ln>
          <a:effectLst/>
        </p:spPr>
      </p:cxnSp>
      <p:cxnSp>
        <p:nvCxnSpPr>
          <p:cNvPr id="11" name="Straight Connector 10"/>
          <p:cNvCxnSpPr/>
          <p:nvPr/>
        </p:nvCxnSpPr>
        <p:spPr bwMode="auto">
          <a:xfrm>
            <a:off x="4932040" y="4725144"/>
            <a:ext cx="648072" cy="432048"/>
          </a:xfrm>
          <a:prstGeom prst="line">
            <a:avLst/>
          </a:prstGeom>
          <a:solidFill>
            <a:srgbClr val="00B8FF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Straight Connector 11"/>
          <p:cNvCxnSpPr/>
          <p:nvPr/>
        </p:nvCxnSpPr>
        <p:spPr bwMode="auto">
          <a:xfrm flipV="1">
            <a:off x="5004048" y="4725144"/>
            <a:ext cx="432048" cy="576064"/>
          </a:xfrm>
          <a:prstGeom prst="line">
            <a:avLst/>
          </a:prstGeom>
          <a:solidFill>
            <a:srgbClr val="00B8FF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8706280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Inheritance vs. Duck typing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2800" i="1" dirty="0"/>
              <a:t>When I see a bird that walks like a duck and swims like a duck and quacks like a duck, I call that bird a </a:t>
            </a:r>
            <a:r>
              <a:rPr lang="en-US" sz="2800" i="1" dirty="0" smtClean="0"/>
              <a:t>duck</a:t>
            </a:r>
          </a:p>
          <a:p>
            <a:r>
              <a:rPr lang="en-US" dirty="0" smtClean="0"/>
              <a:t>Duck typing</a:t>
            </a:r>
          </a:p>
          <a:p>
            <a:pPr lvl="1"/>
            <a:r>
              <a:rPr lang="en-US" dirty="0" smtClean="0"/>
              <a:t>Method invocation correctness check is performed at run-time</a:t>
            </a:r>
          </a:p>
          <a:p>
            <a:pPr lvl="1"/>
            <a:r>
              <a:rPr lang="en-US" dirty="0" smtClean="0"/>
              <a:t>Invocation is correct if the actual class of the target object provides the required method (directly or inherited)</a:t>
            </a:r>
          </a:p>
          <a:p>
            <a:pPr lvl="1"/>
            <a:r>
              <a:rPr lang="en-US" dirty="0" smtClean="0"/>
              <a:t>Dynamic binding can result into an error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330704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Masked overridden methods 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presence of an override practically masks the method in the base class</a:t>
            </a:r>
          </a:p>
          <a:p>
            <a:pPr lvl="1"/>
            <a:r>
              <a:rPr lang="en-US" dirty="0" smtClean="0"/>
              <a:t>Makes it invisible</a:t>
            </a:r>
          </a:p>
          <a:p>
            <a:r>
              <a:rPr lang="en-US" dirty="0" smtClean="0"/>
              <a:t>This behavior might be a problem if we wish to re-use the original overridden methods inside a subclass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23342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 smtClean="0">
                <a:latin typeface="Lucida Sans Unicode" charset="0"/>
                <a:cs typeface="Lucida Sans Unicode" charset="0"/>
              </a:rPr>
              <a:t>Super (reference)</a:t>
            </a:r>
            <a:endParaRPr lang="en-GB" b="1" dirty="0">
              <a:latin typeface="Courier New"/>
              <a:cs typeface="Courier New"/>
            </a:endParaRPr>
          </a:p>
        </p:txBody>
      </p:sp>
      <p:sp>
        <p:nvSpPr>
          <p:cNvPr id="53249" name="Segnaposto numero diapositiva 4"/>
          <p:cNvSpPr>
            <a:spLocks noGrp="1"/>
          </p:cNvSpPr>
          <p:nvPr>
            <p:ph type="sldNum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060D8118-A12B-B942-B88F-9776219602BB}" type="slidenum">
              <a:rPr lang="en-GB" sz="1200">
                <a:solidFill>
                  <a:srgbClr val="000000"/>
                </a:solidFill>
              </a:rPr>
              <a:pPr eaLnBrk="1" hangingPunct="1"/>
              <a:t>39</a:t>
            </a:fld>
            <a:endParaRPr lang="en-GB" sz="1200">
              <a:solidFill>
                <a:srgbClr val="000000"/>
              </a:solidFill>
            </a:endParaRPr>
          </a:p>
        </p:txBody>
      </p:sp>
      <p:sp>
        <p:nvSpPr>
          <p:cNvPr id="53251" name="Rectangle 2"/>
          <p:cNvSpPr>
            <a:spLocks noChangeArrowheads="1"/>
          </p:cNvSpPr>
          <p:nvPr/>
        </p:nvSpPr>
        <p:spPr bwMode="auto">
          <a:xfrm>
            <a:off x="198438" y="1614488"/>
            <a:ext cx="1693862" cy="1849437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53252" name="Rectangle 3"/>
          <p:cNvSpPr>
            <a:spLocks noChangeArrowheads="1"/>
          </p:cNvSpPr>
          <p:nvPr/>
        </p:nvSpPr>
        <p:spPr bwMode="auto">
          <a:xfrm>
            <a:off x="865096" y="1693863"/>
            <a:ext cx="493897" cy="308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2160" tIns="46080" rIns="92160" bIns="46080">
            <a:spAutoFit/>
          </a:bodyPr>
          <a:lstStyle/>
          <a:p>
            <a:pPr algn="ctr">
              <a:lnSpc>
                <a:spcPct val="100000"/>
              </a:lnSpc>
              <a:buClr>
                <a:srgbClr val="FF0000"/>
              </a:buClr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400" b="1" dirty="0">
                <a:solidFill>
                  <a:srgbClr val="FF6600"/>
                </a:solidFill>
                <a:latin typeface="Arial" charset="0"/>
              </a:rPr>
              <a:t>Car</a:t>
            </a:r>
          </a:p>
        </p:txBody>
      </p:sp>
      <p:sp>
        <p:nvSpPr>
          <p:cNvPr id="53253" name="Line 4"/>
          <p:cNvSpPr>
            <a:spLocks noChangeShapeType="1"/>
          </p:cNvSpPr>
          <p:nvPr/>
        </p:nvSpPr>
        <p:spPr bwMode="auto">
          <a:xfrm>
            <a:off x="204788" y="2074863"/>
            <a:ext cx="1695450" cy="1587"/>
          </a:xfrm>
          <a:prstGeom prst="line">
            <a:avLst/>
          </a:prstGeom>
          <a:noFill/>
          <a:ln w="1908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54" name="Line 5"/>
          <p:cNvSpPr>
            <a:spLocks noChangeShapeType="1"/>
          </p:cNvSpPr>
          <p:nvPr/>
        </p:nvSpPr>
        <p:spPr bwMode="auto">
          <a:xfrm>
            <a:off x="198438" y="2930525"/>
            <a:ext cx="1695450" cy="1588"/>
          </a:xfrm>
          <a:prstGeom prst="line">
            <a:avLst/>
          </a:prstGeom>
          <a:noFill/>
          <a:ln w="1908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55" name="Rectangle 6"/>
          <p:cNvSpPr>
            <a:spLocks noChangeArrowheads="1"/>
          </p:cNvSpPr>
          <p:nvPr/>
        </p:nvSpPr>
        <p:spPr bwMode="auto">
          <a:xfrm>
            <a:off x="271463" y="2151063"/>
            <a:ext cx="1143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2160" tIns="46080" rIns="92160" bIns="46080">
            <a:spAutoFit/>
          </a:bodyPr>
          <a:lstStyle/>
          <a:p>
            <a:pPr>
              <a:lnSpc>
                <a:spcPct val="100000"/>
              </a:lnSpc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400">
                <a:solidFill>
                  <a:srgbClr val="000000"/>
                </a:solidFill>
                <a:latin typeface="Arial" charset="0"/>
              </a:rPr>
              <a:t>color</a:t>
            </a:r>
          </a:p>
          <a:p>
            <a:pPr>
              <a:lnSpc>
                <a:spcPct val="100000"/>
              </a:lnSpc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400">
                <a:solidFill>
                  <a:srgbClr val="000000"/>
                </a:solidFill>
                <a:latin typeface="Arial" charset="0"/>
              </a:rPr>
              <a:t>isOn</a:t>
            </a:r>
            <a:br>
              <a:rPr lang="en-GB" sz="1400">
                <a:solidFill>
                  <a:srgbClr val="000000"/>
                </a:solidFill>
                <a:latin typeface="Arial" charset="0"/>
              </a:rPr>
            </a:br>
            <a:r>
              <a:rPr lang="en-GB" sz="1400">
                <a:solidFill>
                  <a:srgbClr val="000000"/>
                </a:solidFill>
                <a:latin typeface="Arial" charset="0"/>
              </a:rPr>
              <a:t>licencePlate</a:t>
            </a:r>
          </a:p>
        </p:txBody>
      </p:sp>
      <p:sp>
        <p:nvSpPr>
          <p:cNvPr id="53256" name="Rectangle 7"/>
          <p:cNvSpPr>
            <a:spLocks noChangeArrowheads="1"/>
          </p:cNvSpPr>
          <p:nvPr/>
        </p:nvSpPr>
        <p:spPr bwMode="auto">
          <a:xfrm>
            <a:off x="282575" y="2927350"/>
            <a:ext cx="1001713" cy="5239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2160" tIns="46080" rIns="92160" bIns="46080">
            <a:spAutoFit/>
          </a:bodyPr>
          <a:lstStyle/>
          <a:p>
            <a:pPr>
              <a:lnSpc>
                <a:spcPct val="100000"/>
              </a:lnSpc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400" dirty="0" err="1" smtClean="0">
                <a:solidFill>
                  <a:srgbClr val="000000"/>
                </a:solidFill>
                <a:latin typeface="Arial" charset="0"/>
              </a:rPr>
              <a:t>turnOn</a:t>
            </a:r>
            <a:r>
              <a:rPr lang="en-GB" sz="1400" dirty="0" smtClean="0">
                <a:solidFill>
                  <a:srgbClr val="000000"/>
                </a:solidFill>
                <a:latin typeface="Arial" charset="0"/>
              </a:rPr>
              <a:t>()</a:t>
            </a:r>
            <a:endParaRPr lang="en-GB" sz="1400" dirty="0">
              <a:solidFill>
                <a:srgbClr val="000000"/>
              </a:solidFill>
              <a:latin typeface="Arial" charset="0"/>
            </a:endParaRPr>
          </a:p>
          <a:p>
            <a:pPr>
              <a:lnSpc>
                <a:spcPct val="100000"/>
              </a:lnSpc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400" dirty="0" smtClean="0">
                <a:solidFill>
                  <a:srgbClr val="000000"/>
                </a:solidFill>
                <a:latin typeface="Arial" charset="0"/>
              </a:rPr>
              <a:t>paint()</a:t>
            </a:r>
            <a:endParaRPr lang="en-GB" sz="140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53257" name="Rectangle 8"/>
          <p:cNvSpPr>
            <a:spLocks noChangeArrowheads="1"/>
          </p:cNvSpPr>
          <p:nvPr/>
        </p:nvSpPr>
        <p:spPr bwMode="auto">
          <a:xfrm>
            <a:off x="187325" y="4257675"/>
            <a:ext cx="1693863" cy="153035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53258" name="Rectangle 9"/>
          <p:cNvSpPr>
            <a:spLocks noChangeArrowheads="1"/>
          </p:cNvSpPr>
          <p:nvPr/>
        </p:nvSpPr>
        <p:spPr bwMode="auto">
          <a:xfrm>
            <a:off x="484170" y="4337050"/>
            <a:ext cx="1135098" cy="308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2160" tIns="46080" rIns="92160" bIns="46080">
            <a:spAutoFit/>
          </a:bodyPr>
          <a:lstStyle/>
          <a:p>
            <a:pPr algn="ctr">
              <a:lnSpc>
                <a:spcPct val="100000"/>
              </a:lnSpc>
              <a:buClr>
                <a:srgbClr val="FF0000"/>
              </a:buClr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400" b="1" dirty="0" err="1">
                <a:solidFill>
                  <a:srgbClr val="FF6600"/>
                </a:solidFill>
                <a:latin typeface="Arial" charset="0"/>
              </a:rPr>
              <a:t>ElectricCar</a:t>
            </a:r>
            <a:endParaRPr lang="en-GB" sz="1400" b="1" dirty="0">
              <a:solidFill>
                <a:srgbClr val="FF6600"/>
              </a:solidFill>
              <a:latin typeface="Arial" charset="0"/>
            </a:endParaRPr>
          </a:p>
        </p:txBody>
      </p:sp>
      <p:sp>
        <p:nvSpPr>
          <p:cNvPr id="53259" name="Line 10"/>
          <p:cNvSpPr>
            <a:spLocks noChangeShapeType="1"/>
          </p:cNvSpPr>
          <p:nvPr/>
        </p:nvSpPr>
        <p:spPr bwMode="auto">
          <a:xfrm>
            <a:off x="195263" y="4718050"/>
            <a:ext cx="1695450" cy="1588"/>
          </a:xfrm>
          <a:prstGeom prst="line">
            <a:avLst/>
          </a:prstGeom>
          <a:noFill/>
          <a:ln w="1908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60" name="Line 11"/>
          <p:cNvSpPr>
            <a:spLocks noChangeShapeType="1"/>
          </p:cNvSpPr>
          <p:nvPr/>
        </p:nvSpPr>
        <p:spPr bwMode="auto">
          <a:xfrm>
            <a:off x="192088" y="5175250"/>
            <a:ext cx="1695450" cy="1588"/>
          </a:xfrm>
          <a:prstGeom prst="line">
            <a:avLst/>
          </a:prstGeom>
          <a:noFill/>
          <a:ln w="1908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61" name="Rectangle 12"/>
          <p:cNvSpPr>
            <a:spLocks noChangeArrowheads="1"/>
          </p:cNvSpPr>
          <p:nvPr/>
        </p:nvSpPr>
        <p:spPr bwMode="auto">
          <a:xfrm>
            <a:off x="260350" y="4794250"/>
            <a:ext cx="1498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2160" tIns="46080" rIns="92160" bIns="46080">
            <a:spAutoFit/>
          </a:bodyPr>
          <a:lstStyle/>
          <a:p>
            <a:pPr>
              <a:lnSpc>
                <a:spcPct val="100000"/>
              </a:lnSpc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400">
                <a:solidFill>
                  <a:srgbClr val="000000"/>
                </a:solidFill>
                <a:latin typeface="Arial" charset="0"/>
              </a:rPr>
              <a:t>cellsAreCharged</a:t>
            </a:r>
          </a:p>
        </p:txBody>
      </p:sp>
      <p:sp>
        <p:nvSpPr>
          <p:cNvPr id="53262" name="Rectangle 13"/>
          <p:cNvSpPr>
            <a:spLocks noChangeArrowheads="1"/>
          </p:cNvSpPr>
          <p:nvPr/>
        </p:nvSpPr>
        <p:spPr bwMode="auto">
          <a:xfrm>
            <a:off x="260350" y="5251450"/>
            <a:ext cx="1014284" cy="5239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2160" tIns="46080" rIns="92160" bIns="46080">
            <a:spAutoFit/>
          </a:bodyPr>
          <a:lstStyle/>
          <a:p>
            <a:pPr>
              <a:lnSpc>
                <a:spcPct val="100000"/>
              </a:lnSpc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400" dirty="0" smtClean="0">
                <a:solidFill>
                  <a:srgbClr val="000000"/>
                </a:solidFill>
                <a:latin typeface="Arial" charset="0"/>
              </a:rPr>
              <a:t>recharge()</a:t>
            </a:r>
            <a:endParaRPr lang="en-GB" sz="1400" dirty="0">
              <a:solidFill>
                <a:srgbClr val="000000"/>
              </a:solidFill>
              <a:latin typeface="Arial" charset="0"/>
            </a:endParaRPr>
          </a:p>
          <a:p>
            <a:pPr>
              <a:lnSpc>
                <a:spcPct val="100000"/>
              </a:lnSpc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400" dirty="0" err="1" smtClean="0">
                <a:solidFill>
                  <a:srgbClr val="000000"/>
                </a:solidFill>
                <a:latin typeface="Arial" charset="0"/>
              </a:rPr>
              <a:t>turnOn</a:t>
            </a:r>
            <a:r>
              <a:rPr lang="en-GB" sz="1400" dirty="0" smtClean="0">
                <a:solidFill>
                  <a:srgbClr val="000000"/>
                </a:solidFill>
                <a:latin typeface="Arial" charset="0"/>
              </a:rPr>
              <a:t>()</a:t>
            </a:r>
            <a:endParaRPr lang="en-GB" sz="140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53263" name="AutoShape 14"/>
          <p:cNvSpPr>
            <a:spLocks noChangeArrowheads="1"/>
          </p:cNvSpPr>
          <p:nvPr/>
        </p:nvSpPr>
        <p:spPr bwMode="auto">
          <a:xfrm>
            <a:off x="917575" y="3489325"/>
            <a:ext cx="233363" cy="277813"/>
          </a:xfrm>
          <a:prstGeom prst="triangle">
            <a:avLst>
              <a:gd name="adj" fmla="val 50000"/>
            </a:avLst>
          </a:prstGeom>
          <a:noFill/>
          <a:ln w="19050" cmpd="sng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cxnSp>
        <p:nvCxnSpPr>
          <p:cNvPr id="53264" name="AutoShape 15"/>
          <p:cNvCxnSpPr>
            <a:cxnSpLocks noChangeShapeType="1"/>
            <a:stCxn id="53263" idx="2"/>
            <a:endCxn id="53257" idx="0"/>
          </p:cNvCxnSpPr>
          <p:nvPr/>
        </p:nvCxnSpPr>
        <p:spPr bwMode="auto">
          <a:xfrm>
            <a:off x="1033463" y="3767138"/>
            <a:ext cx="1587" cy="490537"/>
          </a:xfrm>
          <a:prstGeom prst="bentConnector3">
            <a:avLst>
              <a:gd name="adj1" fmla="val 50000"/>
            </a:avLst>
          </a:prstGeom>
          <a:noFill/>
          <a:ln w="19050" cmpd="sng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3265" name="Rectangle 16"/>
          <p:cNvSpPr>
            <a:spLocks noChangeArrowheads="1"/>
          </p:cNvSpPr>
          <p:nvPr/>
        </p:nvSpPr>
        <p:spPr bwMode="auto">
          <a:xfrm>
            <a:off x="1979712" y="1052736"/>
            <a:ext cx="4100513" cy="3689350"/>
          </a:xfrm>
          <a:prstGeom prst="rect">
            <a:avLst/>
          </a:prstGeom>
          <a:solidFill>
            <a:srgbClr val="FDEADA"/>
          </a:solidFill>
          <a:ln w="12600">
            <a:solidFill>
              <a:srgbClr val="E46C0A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360" tIns="44280" rIns="90360" bIns="44280"/>
          <a:lstStyle/>
          <a:p>
            <a:pPr>
              <a:lnSpc>
                <a:spcPct val="90000"/>
              </a:lnSpc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class </a:t>
            </a:r>
            <a:r>
              <a:rPr lang="en-GB" sz="1800" b="1" dirty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Car </a:t>
            </a:r>
            <a: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{</a:t>
            </a:r>
            <a:b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</a:br>
            <a:endParaRPr lang="en-GB" sz="1800" b="1" dirty="0">
              <a:solidFill>
                <a:srgbClr val="000000"/>
              </a:solidFill>
              <a:latin typeface="Courier New" charset="0"/>
              <a:cs typeface="Lucida Sans Unicode" charset="0"/>
            </a:endParaRPr>
          </a:p>
          <a:p>
            <a:pPr>
              <a:lnSpc>
                <a:spcPct val="90000"/>
              </a:lnSpc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 String </a:t>
            </a:r>
            <a:r>
              <a:rPr lang="en-GB" sz="1800" b="1" dirty="0" err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color</a:t>
            </a:r>
            <a: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;</a:t>
            </a:r>
            <a:b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</a:br>
            <a: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 </a:t>
            </a:r>
            <a:r>
              <a:rPr lang="en-GB" sz="1800" b="1" dirty="0" err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boolean</a:t>
            </a:r>
            <a: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</a:t>
            </a:r>
            <a:r>
              <a:rPr lang="en-GB" sz="1800" b="1" dirty="0" err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isOn</a:t>
            </a:r>
            <a: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;</a:t>
            </a:r>
            <a:b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</a:br>
            <a: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 String </a:t>
            </a:r>
            <a:r>
              <a:rPr lang="en-GB" sz="1800" b="1" dirty="0" err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licencePlate</a:t>
            </a:r>
            <a: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;</a:t>
            </a:r>
          </a:p>
          <a:p>
            <a:pPr>
              <a:lnSpc>
                <a:spcPct val="90000"/>
              </a:lnSpc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 </a:t>
            </a:r>
            <a:b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</a:br>
            <a: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 void paint(String </a:t>
            </a:r>
            <a:r>
              <a:rPr lang="en-GB" sz="1800" b="1" dirty="0" err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color</a:t>
            </a:r>
            <a: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) {</a:t>
            </a:r>
            <a:b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</a:br>
            <a: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   </a:t>
            </a:r>
            <a:r>
              <a:rPr lang="en-GB" sz="1800" b="1" dirty="0" err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this.color</a:t>
            </a:r>
            <a: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= </a:t>
            </a:r>
            <a:r>
              <a:rPr lang="en-GB" sz="1800" b="1" dirty="0" err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color</a:t>
            </a:r>
            <a: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;</a:t>
            </a:r>
            <a:b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</a:br>
            <a: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 }</a:t>
            </a:r>
            <a:b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</a:br>
            <a:endParaRPr lang="en-GB" sz="1800" b="1" dirty="0">
              <a:solidFill>
                <a:srgbClr val="000000"/>
              </a:solidFill>
              <a:latin typeface="Courier New" charset="0"/>
              <a:cs typeface="Lucida Sans Unicode" charset="0"/>
            </a:endParaRPr>
          </a:p>
          <a:p>
            <a:pPr>
              <a:lnSpc>
                <a:spcPct val="90000"/>
              </a:lnSpc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 void </a:t>
            </a:r>
            <a:r>
              <a:rPr lang="en-GB" sz="1800" b="1" dirty="0" err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turnOn</a:t>
            </a:r>
            <a: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() {</a:t>
            </a:r>
            <a:b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</a:br>
            <a: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   </a:t>
            </a:r>
            <a:r>
              <a:rPr lang="en-GB" sz="1800" b="1" dirty="0" err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isOn</a:t>
            </a:r>
            <a: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=true;</a:t>
            </a:r>
            <a:b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</a:br>
            <a: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 }</a:t>
            </a:r>
          </a:p>
          <a:p>
            <a:pPr>
              <a:lnSpc>
                <a:spcPct val="90000"/>
              </a:lnSpc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}</a:t>
            </a:r>
          </a:p>
        </p:txBody>
      </p:sp>
      <p:sp>
        <p:nvSpPr>
          <p:cNvPr id="53266" name="Rectangle 17"/>
          <p:cNvSpPr>
            <a:spLocks noChangeArrowheads="1"/>
          </p:cNvSpPr>
          <p:nvPr/>
        </p:nvSpPr>
        <p:spPr bwMode="auto">
          <a:xfrm>
            <a:off x="4644008" y="3335908"/>
            <a:ext cx="4325367" cy="3189436"/>
          </a:xfrm>
          <a:prstGeom prst="rect">
            <a:avLst/>
          </a:prstGeom>
          <a:solidFill>
            <a:srgbClr val="FDEADA"/>
          </a:solidFill>
          <a:ln w="12600">
            <a:solidFill>
              <a:srgbClr val="E46C0A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360" tIns="44280" rIns="90360" bIns="44280"/>
          <a:lstStyle/>
          <a:p>
            <a:pPr>
              <a:lnSpc>
                <a:spcPct val="90000"/>
              </a:lnSpc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class </a:t>
            </a:r>
            <a:r>
              <a:rPr lang="en-GB" sz="1800" b="1" dirty="0" err="1">
                <a:solidFill>
                  <a:srgbClr val="FF6600"/>
                </a:solidFill>
                <a:latin typeface="Courier New" charset="0"/>
                <a:cs typeface="Lucida Sans Unicode" charset="0"/>
              </a:rPr>
              <a:t>ElectricCar</a:t>
            </a:r>
            <a:r>
              <a:rPr lang="en-GB" sz="1800" b="1" dirty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 </a:t>
            </a:r>
            <a:r>
              <a:rPr lang="en-GB" sz="1800" b="1" i="1" dirty="0">
                <a:solidFill>
                  <a:srgbClr val="8064A2"/>
                </a:solidFill>
                <a:latin typeface="Courier New" charset="0"/>
                <a:cs typeface="Lucida Sans Unicode" charset="0"/>
              </a:rPr>
              <a:t>extends</a:t>
            </a:r>
            <a:r>
              <a:rPr lang="en-GB" sz="1800" b="1" dirty="0">
                <a:solidFill>
                  <a:srgbClr val="8064A2"/>
                </a:solidFill>
                <a:latin typeface="Courier New" charset="0"/>
                <a:cs typeface="Lucida Sans Unicode" charset="0"/>
              </a:rPr>
              <a:t> </a:t>
            </a:r>
            <a:r>
              <a:rPr lang="en-GB" sz="1800" b="1" dirty="0" smtClean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Car</a:t>
            </a:r>
            <a:r>
              <a:rPr lang="en-GB" sz="1800" b="1" dirty="0" smtClean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{</a:t>
            </a:r>
            <a:endParaRPr lang="en-GB" sz="1800" b="1" dirty="0">
              <a:solidFill>
                <a:srgbClr val="000000"/>
              </a:solidFill>
              <a:latin typeface="Courier New" charset="0"/>
              <a:cs typeface="Lucida Sans Unicode" charset="0"/>
            </a:endParaRPr>
          </a:p>
          <a:p>
            <a:pPr>
              <a:lnSpc>
                <a:spcPct val="90000"/>
              </a:lnSpc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sz="1800" b="1" dirty="0" smtClean="0">
              <a:solidFill>
                <a:srgbClr val="000000"/>
              </a:solidFill>
              <a:latin typeface="Courier New" charset="0"/>
              <a:cs typeface="Lucida Sans Unicode" charset="0"/>
            </a:endParaRPr>
          </a:p>
          <a:p>
            <a:pPr>
              <a:lnSpc>
                <a:spcPct val="90000"/>
              </a:lnSpc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800" b="1" dirty="0" smtClean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 </a:t>
            </a:r>
            <a:r>
              <a:rPr lang="en-GB" sz="1800" b="1" dirty="0" err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boolean</a:t>
            </a:r>
            <a: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</a:t>
            </a:r>
            <a:r>
              <a:rPr lang="en-GB" sz="1800" b="1" dirty="0" err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cellsAreCharged</a:t>
            </a:r>
            <a: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;</a:t>
            </a:r>
          </a:p>
          <a:p>
            <a:pPr>
              <a:lnSpc>
                <a:spcPct val="90000"/>
              </a:lnSpc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sz="800" b="1" dirty="0">
              <a:solidFill>
                <a:srgbClr val="000000"/>
              </a:solidFill>
              <a:latin typeface="Courier New" charset="0"/>
              <a:cs typeface="Lucida Sans Unicode" charset="0"/>
            </a:endParaRPr>
          </a:p>
          <a:p>
            <a:pPr>
              <a:lnSpc>
                <a:spcPct val="90000"/>
              </a:lnSpc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 void recharge() {</a:t>
            </a:r>
            <a:b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</a:br>
            <a: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   </a:t>
            </a:r>
            <a:r>
              <a:rPr lang="en-GB" sz="1800" b="1" dirty="0" err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cellsAreCharged</a:t>
            </a:r>
            <a: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= true;</a:t>
            </a:r>
            <a:b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</a:br>
            <a: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 }</a:t>
            </a:r>
            <a:b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</a:br>
            <a:endParaRPr lang="en-GB" sz="1800" b="1" dirty="0">
              <a:solidFill>
                <a:srgbClr val="000000"/>
              </a:solidFill>
              <a:latin typeface="Courier New" charset="0"/>
              <a:cs typeface="Lucida Sans Unicode" charset="0"/>
            </a:endParaRPr>
          </a:p>
          <a:p>
            <a:pPr>
              <a:lnSpc>
                <a:spcPct val="90000"/>
              </a:lnSpc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 void </a:t>
            </a:r>
            <a:r>
              <a:rPr lang="en-GB" sz="1800" b="1" dirty="0" err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turnOn</a:t>
            </a:r>
            <a: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() {</a:t>
            </a:r>
          </a:p>
          <a:p>
            <a:pPr>
              <a:lnSpc>
                <a:spcPct val="90000"/>
              </a:lnSpc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   if(</a:t>
            </a:r>
            <a:r>
              <a:rPr lang="en-GB" sz="1800" b="1" dirty="0" err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cellsAreCharged</a:t>
            </a:r>
            <a: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) </a:t>
            </a:r>
            <a:b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</a:br>
            <a: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     </a:t>
            </a:r>
            <a:r>
              <a:rPr lang="en-GB" sz="1800" b="1" dirty="0" err="1">
                <a:solidFill>
                  <a:srgbClr val="FF6633"/>
                </a:solidFill>
                <a:latin typeface="Courier New" charset="0"/>
                <a:cs typeface="Lucida Sans Unicode" charset="0"/>
              </a:rPr>
              <a:t>super</a:t>
            </a:r>
            <a:r>
              <a:rPr lang="en-GB" sz="1800" b="1" dirty="0" err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.turnOn</a:t>
            </a:r>
            <a: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()</a:t>
            </a:r>
            <a:r>
              <a:rPr lang="en-GB" sz="1800" b="1" dirty="0" smtClean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;</a:t>
            </a:r>
            <a: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/>
            </a:r>
            <a:b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</a:br>
            <a: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 }</a:t>
            </a:r>
          </a:p>
          <a:p>
            <a:pPr>
              <a:lnSpc>
                <a:spcPct val="90000"/>
              </a:lnSpc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8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38111951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Super (reference)</a:t>
            </a:r>
          </a:p>
        </p:txBody>
      </p:sp>
      <p:sp>
        <p:nvSpPr>
          <p:cNvPr id="65539" name="Rectangle 2"/>
          <p:cNvSpPr>
            <a:spLocks noGrp="1" noChangeArrowheads="1"/>
          </p:cNvSpPr>
          <p:nvPr>
            <p:ph idx="1"/>
          </p:nvPr>
        </p:nvSpPr>
        <p:spPr>
          <a:xfrm>
            <a:off x="609600" y="1295400"/>
            <a:ext cx="8224838" cy="2813207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ja-JP" b="1" dirty="0" smtClean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this</a:t>
            </a:r>
            <a:r>
              <a:rPr lang="en-GB" altLang="ja-JP" dirty="0" smtClean="0">
                <a:latin typeface="Lucida Sans Unicode" charset="0"/>
                <a:cs typeface="Lucida Sans Unicode" charset="0"/>
              </a:rPr>
              <a:t> </a:t>
            </a:r>
            <a:r>
              <a:rPr lang="en-GB" altLang="ja-JP" dirty="0">
                <a:latin typeface="Lucida Sans Unicode" charset="0"/>
                <a:cs typeface="Lucida Sans Unicode" charset="0"/>
              </a:rPr>
              <a:t>is a reference to the current object</a:t>
            </a: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dirty="0">
              <a:latin typeface="Lucida Sans Unicode" charset="0"/>
              <a:cs typeface="Lucida Sans Unicode" charset="0"/>
            </a:endParaRP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ja-JP" b="1" dirty="0" smtClean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super</a:t>
            </a:r>
            <a:r>
              <a:rPr lang="en-GB" altLang="ja-JP" dirty="0" smtClean="0">
                <a:latin typeface="Lucida Sans Unicode" charset="0"/>
                <a:cs typeface="Lucida Sans Unicode" charset="0"/>
              </a:rPr>
              <a:t> </a:t>
            </a:r>
            <a:r>
              <a:rPr lang="en-GB" altLang="ja-JP" dirty="0">
                <a:latin typeface="Lucida Sans Unicode" charset="0"/>
                <a:cs typeface="Lucida Sans Unicode" charset="0"/>
              </a:rPr>
              <a:t>is a reference to the parent </a:t>
            </a:r>
            <a:r>
              <a:rPr lang="en-GB" altLang="ja-JP" dirty="0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class</a:t>
            </a:r>
            <a:endParaRPr lang="en-GB" dirty="0">
              <a:solidFill>
                <a:srgbClr val="FF6600"/>
              </a:solidFill>
              <a:latin typeface="Lucida Sans Unicode" charset="0"/>
              <a:cs typeface="Lucida Sans Unicode" charset="0"/>
            </a:endParaRPr>
          </a:p>
        </p:txBody>
      </p:sp>
      <p:sp>
        <p:nvSpPr>
          <p:cNvPr id="65537" name="Segnaposto numero diapositiva 5"/>
          <p:cNvSpPr>
            <a:spLocks noGrp="1"/>
          </p:cNvSpPr>
          <p:nvPr>
            <p:ph type="sldNum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267361D4-F902-594B-B955-9A0F2EF46FAB}" type="slidenum">
              <a:rPr lang="en-GB" sz="1200">
                <a:solidFill>
                  <a:srgbClr val="000000"/>
                </a:solidFill>
              </a:rPr>
              <a:pPr eaLnBrk="1" hangingPunct="1"/>
              <a:t>40</a:t>
            </a:fld>
            <a:endParaRPr lang="en-GB" sz="12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auto">
          <a:xfrm>
            <a:off x="539552" y="1268760"/>
            <a:ext cx="8352928" cy="122413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lIns="90360" tIns="44280" rIns="90360" bIns="44280" rtlCol="0" anchor="ctr"/>
          <a:lstStyle/>
          <a:p>
            <a:pPr algn="ctr"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000" b="1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2" name="Rectangle 1"/>
          <p:cNvSpPr/>
          <p:nvPr/>
        </p:nvSpPr>
        <p:spPr bwMode="auto">
          <a:xfrm>
            <a:off x="539552" y="2780928"/>
            <a:ext cx="8352928" cy="302433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lIns="90360" tIns="44280" rIns="90360" bIns="44280" rtlCol="0" anchor="ctr"/>
          <a:lstStyle/>
          <a:p>
            <a:pPr algn="ctr"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000" b="1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69634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Attributes redefinition</a:t>
            </a:r>
          </a:p>
        </p:txBody>
      </p:sp>
      <p:sp>
        <p:nvSpPr>
          <p:cNvPr id="69635" name="Rectangle 2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eaLnBrk="1" hangingPunct="1">
              <a:lnSpc>
                <a:spcPct val="90000"/>
              </a:lnSpc>
              <a:spcBef>
                <a:spcPts val="500"/>
              </a:spcBef>
              <a:spcAft>
                <a:spcPts val="125"/>
              </a:spcAft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b="1" dirty="0">
                <a:latin typeface="Courier New" charset="0"/>
                <a:cs typeface="Lucida Sans Unicode" charset="0"/>
              </a:rPr>
              <a:t>c</a:t>
            </a:r>
            <a:r>
              <a:rPr lang="en-GB" sz="2800" b="1" dirty="0" smtClean="0">
                <a:latin typeface="Courier New" charset="0"/>
                <a:cs typeface="Lucida Sans Unicode" charset="0"/>
              </a:rPr>
              <a:t>lass </a:t>
            </a:r>
            <a:r>
              <a:rPr lang="en-GB" sz="2800" b="1" dirty="0">
                <a:latin typeface="Courier New" charset="0"/>
                <a:cs typeface="Lucida Sans Unicode" charset="0"/>
              </a:rPr>
              <a:t>Parent{</a:t>
            </a:r>
            <a:br>
              <a:rPr lang="en-GB" sz="2800" b="1" dirty="0">
                <a:latin typeface="Courier New" charset="0"/>
                <a:cs typeface="Lucida Sans Unicode" charset="0"/>
              </a:rPr>
            </a:br>
            <a:r>
              <a:rPr lang="en-GB" sz="2800" b="1" dirty="0">
                <a:latin typeface="Courier New" charset="0"/>
                <a:cs typeface="Lucida Sans Unicode" charset="0"/>
              </a:rPr>
              <a:t>   protected </a:t>
            </a:r>
            <a:r>
              <a:rPr lang="en-GB" sz="2800" b="1" dirty="0" err="1">
                <a:solidFill>
                  <a:srgbClr val="FF6600"/>
                </a:solidFill>
                <a:latin typeface="Courier New" charset="0"/>
                <a:cs typeface="Lucida Sans Unicode" charset="0"/>
              </a:rPr>
              <a:t>int</a:t>
            </a:r>
            <a:r>
              <a:rPr lang="en-GB" sz="2800" b="1" dirty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 </a:t>
            </a:r>
            <a:r>
              <a:rPr lang="en-GB" sz="2800" b="1" dirty="0" err="1">
                <a:solidFill>
                  <a:srgbClr val="FF6600"/>
                </a:solidFill>
                <a:latin typeface="Courier New" charset="0"/>
                <a:cs typeface="Lucida Sans Unicode" charset="0"/>
              </a:rPr>
              <a:t>attr</a:t>
            </a:r>
            <a:r>
              <a:rPr lang="en-GB" sz="2800" b="1" dirty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 </a:t>
            </a:r>
            <a:r>
              <a:rPr lang="en-GB" sz="2800" b="1" dirty="0">
                <a:latin typeface="Courier New" charset="0"/>
                <a:cs typeface="Lucida Sans Unicode" charset="0"/>
              </a:rPr>
              <a:t>= 7;</a:t>
            </a:r>
            <a:br>
              <a:rPr lang="en-GB" sz="2800" b="1" dirty="0">
                <a:latin typeface="Courier New" charset="0"/>
                <a:cs typeface="Lucida Sans Unicode" charset="0"/>
              </a:rPr>
            </a:br>
            <a:r>
              <a:rPr lang="en-GB" sz="2800" b="1" dirty="0" smtClean="0">
                <a:latin typeface="Courier New" charset="0"/>
                <a:cs typeface="Lucida Sans Unicode" charset="0"/>
              </a:rPr>
              <a:t>}</a:t>
            </a:r>
          </a:p>
          <a:p>
            <a:pPr marL="0" indent="0" eaLnBrk="1" hangingPunct="1">
              <a:lnSpc>
                <a:spcPct val="90000"/>
              </a:lnSpc>
              <a:spcBef>
                <a:spcPts val="500"/>
              </a:spcBef>
              <a:spcAft>
                <a:spcPts val="125"/>
              </a:spcAft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2800" b="1" dirty="0">
              <a:latin typeface="Courier New" charset="0"/>
              <a:cs typeface="Lucida Sans Unicode" charset="0"/>
            </a:endParaRPr>
          </a:p>
          <a:p>
            <a:pPr marL="0" indent="0" eaLnBrk="1" hangingPunct="1">
              <a:lnSpc>
                <a:spcPct val="90000"/>
              </a:lnSpc>
              <a:spcBef>
                <a:spcPts val="500"/>
              </a:spcBef>
              <a:spcAft>
                <a:spcPts val="125"/>
              </a:spcAft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b="1" dirty="0">
                <a:latin typeface="Courier New" charset="0"/>
                <a:cs typeface="Lucida Sans Unicode" charset="0"/>
              </a:rPr>
              <a:t>c</a:t>
            </a:r>
            <a:r>
              <a:rPr lang="en-GB" sz="2800" b="1" dirty="0" smtClean="0">
                <a:latin typeface="Courier New" charset="0"/>
                <a:cs typeface="Lucida Sans Unicode" charset="0"/>
              </a:rPr>
              <a:t>lass </a:t>
            </a:r>
            <a:r>
              <a:rPr lang="en-GB" sz="2800" b="1" dirty="0">
                <a:latin typeface="Courier New" charset="0"/>
                <a:cs typeface="Lucida Sans Unicode" charset="0"/>
              </a:rPr>
              <a:t>Child{</a:t>
            </a:r>
            <a:br>
              <a:rPr lang="en-GB" sz="2800" b="1" dirty="0">
                <a:latin typeface="Courier New" charset="0"/>
                <a:cs typeface="Lucida Sans Unicode" charset="0"/>
              </a:rPr>
            </a:br>
            <a:r>
              <a:rPr lang="en-GB" sz="2800" b="1" dirty="0">
                <a:latin typeface="Courier New" charset="0"/>
                <a:cs typeface="Lucida Sans Unicode" charset="0"/>
              </a:rPr>
              <a:t>   protected </a:t>
            </a:r>
            <a:r>
              <a:rPr lang="en-GB" sz="2800" b="1" dirty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String </a:t>
            </a:r>
            <a:r>
              <a:rPr lang="en-GB" sz="2800" b="1" dirty="0" err="1">
                <a:solidFill>
                  <a:srgbClr val="FF6600"/>
                </a:solidFill>
                <a:latin typeface="Courier New" charset="0"/>
                <a:cs typeface="Lucida Sans Unicode" charset="0"/>
              </a:rPr>
              <a:t>attr</a:t>
            </a:r>
            <a:r>
              <a:rPr lang="en-GB" sz="2800" b="1" dirty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 </a:t>
            </a:r>
            <a:r>
              <a:rPr lang="en-GB" sz="2800" b="1" dirty="0">
                <a:latin typeface="Courier New" charset="0"/>
                <a:cs typeface="Lucida Sans Unicode" charset="0"/>
              </a:rPr>
              <a:t>= </a:t>
            </a:r>
            <a:r>
              <a:rPr lang="it-IT" altLang="ja-JP" sz="2800" b="1" dirty="0" smtClean="0">
                <a:latin typeface="Courier New" charset="0"/>
                <a:cs typeface="Lucida Sans Unicode" charset="0"/>
              </a:rPr>
              <a:t>"</a:t>
            </a:r>
            <a:r>
              <a:rPr lang="en-GB" altLang="ja-JP" sz="2800" b="1" dirty="0" smtClean="0">
                <a:latin typeface="Courier New" charset="0"/>
                <a:cs typeface="Lucida Sans Unicode" charset="0"/>
              </a:rPr>
              <a:t>hello</a:t>
            </a:r>
            <a:r>
              <a:rPr lang="it-IT" altLang="ja-JP" sz="2800" b="1" dirty="0">
                <a:latin typeface="Courier New" charset="0"/>
                <a:cs typeface="Lucida Sans Unicode" charset="0"/>
              </a:rPr>
              <a:t>"</a:t>
            </a:r>
            <a:r>
              <a:rPr lang="en-GB" altLang="ja-JP" sz="2800" b="1" dirty="0" smtClean="0">
                <a:latin typeface="Courier New" charset="0"/>
                <a:cs typeface="Lucida Sans Unicode" charset="0"/>
              </a:rPr>
              <a:t>;</a:t>
            </a:r>
            <a:r>
              <a:rPr lang="en-GB" altLang="ja-JP" sz="2800" b="1" dirty="0">
                <a:latin typeface="Courier New" charset="0"/>
                <a:cs typeface="Lucida Sans Unicode" charset="0"/>
              </a:rPr>
              <a:t/>
            </a:r>
            <a:br>
              <a:rPr lang="en-GB" altLang="ja-JP" sz="2800" b="1" dirty="0">
                <a:latin typeface="Courier New" charset="0"/>
                <a:cs typeface="Lucida Sans Unicode" charset="0"/>
              </a:rPr>
            </a:br>
            <a:r>
              <a:rPr lang="en-GB" altLang="ja-JP" sz="2800" b="1" dirty="0">
                <a:latin typeface="Courier New" charset="0"/>
                <a:cs typeface="Lucida Sans Unicode" charset="0"/>
              </a:rPr>
              <a:t/>
            </a:r>
            <a:br>
              <a:rPr lang="en-GB" altLang="ja-JP" sz="2800" b="1" dirty="0">
                <a:latin typeface="Courier New" charset="0"/>
                <a:cs typeface="Lucida Sans Unicode" charset="0"/>
              </a:rPr>
            </a:br>
            <a:r>
              <a:rPr lang="en-GB" altLang="ja-JP" sz="2800" b="1" dirty="0">
                <a:latin typeface="Courier New" charset="0"/>
                <a:cs typeface="Lucida Sans Unicode" charset="0"/>
              </a:rPr>
              <a:t>   void print(){ </a:t>
            </a:r>
            <a:br>
              <a:rPr lang="en-GB" altLang="ja-JP" sz="2800" b="1" dirty="0">
                <a:latin typeface="Courier New" charset="0"/>
                <a:cs typeface="Lucida Sans Unicode" charset="0"/>
              </a:rPr>
            </a:br>
            <a:r>
              <a:rPr lang="en-GB" altLang="ja-JP" sz="2800" b="1" dirty="0">
                <a:latin typeface="Courier New" charset="0"/>
                <a:cs typeface="Lucida Sans Unicode" charset="0"/>
              </a:rPr>
              <a:t>     </a:t>
            </a:r>
            <a:r>
              <a:rPr lang="en-GB" altLang="ja-JP" sz="2800" b="1" dirty="0" err="1">
                <a:latin typeface="Courier New" charset="0"/>
                <a:cs typeface="Lucida Sans Unicode" charset="0"/>
              </a:rPr>
              <a:t>System.out.println</a:t>
            </a:r>
            <a:r>
              <a:rPr lang="en-GB" altLang="ja-JP" sz="2800" b="1" dirty="0">
                <a:latin typeface="Courier New" charset="0"/>
                <a:cs typeface="Lucida Sans Unicode" charset="0"/>
              </a:rPr>
              <a:t>(</a:t>
            </a:r>
            <a:r>
              <a:rPr lang="en-GB" altLang="ja-JP" sz="2800" b="1" dirty="0" err="1">
                <a:solidFill>
                  <a:srgbClr val="FF6633"/>
                </a:solidFill>
                <a:latin typeface="Courier New" charset="0"/>
                <a:cs typeface="Lucida Sans Unicode" charset="0"/>
              </a:rPr>
              <a:t>super</a:t>
            </a:r>
            <a:r>
              <a:rPr lang="en-GB" altLang="ja-JP" sz="2800" b="1" dirty="0" err="1">
                <a:latin typeface="Courier New" charset="0"/>
                <a:cs typeface="Lucida Sans Unicode" charset="0"/>
              </a:rPr>
              <a:t>.attr</a:t>
            </a:r>
            <a:r>
              <a:rPr lang="en-GB" altLang="ja-JP" sz="2800" b="1" dirty="0">
                <a:latin typeface="Courier New" charset="0"/>
                <a:cs typeface="Lucida Sans Unicode" charset="0"/>
              </a:rPr>
              <a:t>); </a:t>
            </a:r>
            <a:br>
              <a:rPr lang="en-GB" altLang="ja-JP" sz="2800" b="1" dirty="0">
                <a:latin typeface="Courier New" charset="0"/>
                <a:cs typeface="Lucida Sans Unicode" charset="0"/>
              </a:rPr>
            </a:br>
            <a:r>
              <a:rPr lang="en-GB" altLang="ja-JP" sz="2800" b="1" dirty="0">
                <a:latin typeface="Courier New" charset="0"/>
                <a:cs typeface="Lucida Sans Unicode" charset="0"/>
              </a:rPr>
              <a:t>     </a:t>
            </a:r>
            <a:r>
              <a:rPr lang="en-GB" altLang="ja-JP" sz="2800" b="1" dirty="0" err="1">
                <a:latin typeface="Courier New" charset="0"/>
                <a:cs typeface="Lucida Sans Unicode" charset="0"/>
              </a:rPr>
              <a:t>System.out.println</a:t>
            </a:r>
            <a:r>
              <a:rPr lang="en-GB" altLang="ja-JP" sz="2800" b="1" dirty="0">
                <a:latin typeface="Courier New" charset="0"/>
                <a:cs typeface="Lucida Sans Unicode" charset="0"/>
              </a:rPr>
              <a:t>(</a:t>
            </a:r>
            <a:r>
              <a:rPr lang="en-GB" altLang="ja-JP" sz="2800" b="1" dirty="0" err="1">
                <a:latin typeface="Courier New" charset="0"/>
                <a:cs typeface="Lucida Sans Unicode" charset="0"/>
              </a:rPr>
              <a:t>attr</a:t>
            </a:r>
            <a:r>
              <a:rPr lang="en-GB" altLang="ja-JP" sz="2800" b="1" dirty="0">
                <a:latin typeface="Courier New" charset="0"/>
                <a:cs typeface="Lucida Sans Unicode" charset="0"/>
              </a:rPr>
              <a:t>);</a:t>
            </a:r>
            <a:br>
              <a:rPr lang="en-GB" altLang="ja-JP" sz="2800" b="1" dirty="0">
                <a:latin typeface="Courier New" charset="0"/>
                <a:cs typeface="Lucida Sans Unicode" charset="0"/>
              </a:rPr>
            </a:br>
            <a:r>
              <a:rPr lang="en-GB" altLang="ja-JP" sz="2800" b="1" dirty="0">
                <a:latin typeface="Courier New" charset="0"/>
                <a:cs typeface="Lucida Sans Unicode" charset="0"/>
              </a:rPr>
              <a:t>   }</a:t>
            </a:r>
            <a:br>
              <a:rPr lang="en-GB" altLang="ja-JP" sz="2800" b="1" dirty="0">
                <a:latin typeface="Courier New" charset="0"/>
                <a:cs typeface="Lucida Sans Unicode" charset="0"/>
              </a:rPr>
            </a:br>
            <a:r>
              <a:rPr lang="en-GB" altLang="ja-JP" sz="2800" b="1" dirty="0" smtClean="0">
                <a:latin typeface="Courier New" charset="0"/>
                <a:cs typeface="Lucida Sans Unicode" charset="0"/>
              </a:rPr>
              <a:t>}</a:t>
            </a:r>
            <a:endParaRPr lang="en-GB" sz="2800" b="1" dirty="0">
              <a:latin typeface="Courier New" charset="0"/>
              <a:cs typeface="Lucida Sans Unicode" charset="0"/>
            </a:endParaRPr>
          </a:p>
        </p:txBody>
      </p:sp>
      <p:sp>
        <p:nvSpPr>
          <p:cNvPr id="69633" name="Segnaposto numero diapositiva 5"/>
          <p:cNvSpPr>
            <a:spLocks noGrp="1"/>
          </p:cNvSpPr>
          <p:nvPr>
            <p:ph type="sldNum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B98133CA-0ED4-7647-AA11-60D3B227CFBE}" type="slidenum">
              <a:rPr lang="en-GB" sz="1200">
                <a:solidFill>
                  <a:srgbClr val="000000"/>
                </a:solidFill>
              </a:rPr>
              <a:pPr eaLnBrk="1" hangingPunct="1"/>
              <a:t>41</a:t>
            </a:fld>
            <a:endParaRPr lang="en-GB" sz="12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Improper override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A method override must use exactly the original method signature</a:t>
            </a:r>
          </a:p>
          <a:p>
            <a:pPr lvl="1"/>
            <a:r>
              <a:rPr lang="en-US" dirty="0" smtClean="0"/>
              <a:t>Might widen visibility</a:t>
            </a:r>
          </a:p>
          <a:p>
            <a:r>
              <a:rPr lang="en-US" dirty="0" smtClean="0"/>
              <a:t>A slightly different method is not an override and therefore not considered in the dynamic binding procedure</a:t>
            </a:r>
          </a:p>
          <a:p>
            <a:r>
              <a:rPr lang="en-US" dirty="0" smtClean="0"/>
              <a:t>Annotation </a:t>
            </a:r>
            <a:r>
              <a:rPr lang="en-US" b="1" dirty="0" smtClean="0">
                <a:solidFill>
                  <a:srgbClr val="FF6600"/>
                </a:solidFill>
                <a:latin typeface="Courier New"/>
                <a:cs typeface="Courier New"/>
              </a:rPr>
              <a:t>@Override </a:t>
            </a:r>
          </a:p>
          <a:p>
            <a:pPr lvl="1"/>
            <a:r>
              <a:rPr lang="en-US" dirty="0" smtClean="0"/>
              <a:t>Inform the compiler that a method is intended as an override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048037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>
                <a:latin typeface="Lucida Sans Unicode" charset="0"/>
                <a:cs typeface="Lucida Sans Unicode" charset="0"/>
              </a:rPr>
              <a:t>Visibility (scope)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auto">
          <a:xfrm>
            <a:off x="395536" y="3212976"/>
            <a:ext cx="7992888" cy="309634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360" tIns="44280" rIns="90360" bIns="44280" rtlCol="0" anchor="ctr"/>
          <a:lstStyle/>
          <a:p>
            <a:pPr algn="ctr"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000" b="1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2" name="Rectangle 1"/>
          <p:cNvSpPr/>
          <p:nvPr/>
        </p:nvSpPr>
        <p:spPr bwMode="auto">
          <a:xfrm>
            <a:off x="395536" y="1124744"/>
            <a:ext cx="7920880" cy="18722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360" tIns="44280" rIns="90360" bIns="44280" rtlCol="0" anchor="ctr"/>
          <a:lstStyle/>
          <a:p>
            <a:pPr algn="ctr"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000" b="1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59393" name="Segnaposto numero diapositiva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25A1677F-B0C0-8645-B4C4-67C17991C216}" type="slidenum">
              <a:rPr lang="en-GB" sz="1200">
                <a:solidFill>
                  <a:srgbClr val="000000"/>
                </a:solidFill>
              </a:rPr>
              <a:pPr eaLnBrk="1" hangingPunct="1"/>
              <a:t>44</a:t>
            </a:fld>
            <a:endParaRPr lang="en-GB" sz="1200">
              <a:solidFill>
                <a:srgbClr val="000000"/>
              </a:solidFill>
            </a:endParaRPr>
          </a:p>
        </p:txBody>
      </p:sp>
      <p:sp>
        <p:nvSpPr>
          <p:cNvPr id="59394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152400"/>
            <a:ext cx="8610600" cy="914400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Example</a:t>
            </a:r>
          </a:p>
        </p:txBody>
      </p:sp>
      <p:sp>
        <p:nvSpPr>
          <p:cNvPr id="59395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1295400"/>
            <a:ext cx="8229600" cy="4578350"/>
          </a:xfrm>
        </p:spPr>
        <p:txBody>
          <a:bodyPr lIns="91440" tIns="45720" rIns="91440" bIns="45720"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ts val="125"/>
              </a:spcAft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>
                <a:latin typeface="Courier New" charset="0"/>
                <a:cs typeface="Lucida Sans Unicode" charset="0"/>
              </a:rPr>
              <a:t>class Employee {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ts val="125"/>
              </a:spcAft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>
                <a:latin typeface="Courier New" charset="0"/>
                <a:cs typeface="Lucida Sans Unicode" charset="0"/>
              </a:rPr>
              <a:t>  </a:t>
            </a:r>
            <a:r>
              <a:rPr lang="en-GB" sz="2400" b="1" dirty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private </a:t>
            </a:r>
            <a:r>
              <a:rPr lang="en-GB" sz="2400" b="1" dirty="0">
                <a:latin typeface="Courier New" charset="0"/>
                <a:cs typeface="Lucida Sans Unicode" charset="0"/>
              </a:rPr>
              <a:t>String name;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ts val="125"/>
              </a:spcAft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>
                <a:latin typeface="Courier New" charset="0"/>
                <a:cs typeface="Lucida Sans Unicode" charset="0"/>
              </a:rPr>
              <a:t>  </a:t>
            </a:r>
            <a:r>
              <a:rPr lang="en-GB" sz="2400" b="1" dirty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private </a:t>
            </a:r>
            <a:r>
              <a:rPr lang="en-GB" sz="2400" b="1" dirty="0">
                <a:latin typeface="Courier New" charset="0"/>
                <a:cs typeface="Lucida Sans Unicode" charset="0"/>
              </a:rPr>
              <a:t>double wage;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ts val="125"/>
              </a:spcAft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>
                <a:latin typeface="Courier New" charset="0"/>
                <a:cs typeface="Lucida Sans Unicode" charset="0"/>
              </a:rPr>
              <a:t>}</a:t>
            </a:r>
            <a:br>
              <a:rPr lang="en-GB" sz="2400" b="1" dirty="0">
                <a:latin typeface="Courier New" charset="0"/>
                <a:cs typeface="Lucida Sans Unicode" charset="0"/>
              </a:rPr>
            </a:br>
            <a:endParaRPr lang="en-GB" sz="2400" b="1" dirty="0">
              <a:latin typeface="Courier New" charset="0"/>
              <a:cs typeface="Lucida Sans Unicode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ts val="125"/>
              </a:spcAft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>
                <a:latin typeface="Courier New" charset="0"/>
                <a:cs typeface="Lucida Sans Unicode" charset="0"/>
              </a:rPr>
              <a:t>class Manager extends Employee {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ts val="125"/>
              </a:spcAft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2400" b="1" dirty="0">
              <a:latin typeface="Courier New" charset="0"/>
              <a:cs typeface="Lucida Sans Unicode" charset="0"/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spcAft>
                <a:spcPts val="125"/>
              </a:spcAft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>
                <a:latin typeface="Courier New" charset="0"/>
                <a:cs typeface="Lucida Sans Unicode" charset="0"/>
              </a:rPr>
              <a:t>  void print() {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spcAft>
                <a:spcPts val="125"/>
              </a:spcAft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>
                <a:latin typeface="Courier New" charset="0"/>
                <a:cs typeface="Lucida Sans Unicode" charset="0"/>
              </a:rPr>
              <a:t>    </a:t>
            </a:r>
            <a:r>
              <a:rPr lang="en-GB" sz="2400" b="1" dirty="0" err="1">
                <a:latin typeface="Courier New" charset="0"/>
                <a:cs typeface="Lucida Sans Unicode" charset="0"/>
              </a:rPr>
              <a:t>System.out.println</a:t>
            </a:r>
            <a:r>
              <a:rPr lang="en-GB" sz="2400" b="1" dirty="0">
                <a:latin typeface="Courier New" charset="0"/>
                <a:cs typeface="Lucida Sans Unicode" charset="0"/>
              </a:rPr>
              <a:t>(</a:t>
            </a:r>
            <a:r>
              <a:rPr lang="ja-JP" altLang="en-GB" sz="2400" b="1" dirty="0">
                <a:latin typeface="Courier New" charset="0"/>
                <a:cs typeface="Lucida Sans Unicode" charset="0"/>
              </a:rPr>
              <a:t>“</a:t>
            </a:r>
            <a:r>
              <a:rPr lang="en-GB" altLang="ja-JP" sz="2400" b="1" dirty="0">
                <a:latin typeface="Courier New" charset="0"/>
                <a:cs typeface="Lucida Sans Unicode" charset="0"/>
              </a:rPr>
              <a:t>Manager</a:t>
            </a:r>
            <a:r>
              <a:rPr lang="ja-JP" altLang="en-GB" sz="2400" b="1" dirty="0">
                <a:latin typeface="Courier New" charset="0"/>
                <a:cs typeface="Lucida Sans Unicode" charset="0"/>
              </a:rPr>
              <a:t>”</a:t>
            </a:r>
            <a:r>
              <a:rPr lang="en-GB" altLang="ja-JP" sz="2400" b="1" dirty="0">
                <a:latin typeface="Courier New" charset="0"/>
                <a:cs typeface="Lucida Sans Unicode" charset="0"/>
              </a:rPr>
              <a:t> + 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spcAft>
                <a:spcPts val="125"/>
              </a:spcAft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>
                <a:latin typeface="Courier New" charset="0"/>
                <a:cs typeface="Lucida Sans Unicode" charset="0"/>
              </a:rPr>
              <a:t>                       </a:t>
            </a:r>
            <a:r>
              <a:rPr lang="en-GB" sz="2400" b="1" i="1" dirty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name</a:t>
            </a:r>
            <a:r>
              <a:rPr lang="en-GB" sz="2400" b="1" dirty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 </a:t>
            </a:r>
            <a:r>
              <a:rPr lang="en-GB" sz="2400" b="1" dirty="0">
                <a:latin typeface="Courier New" charset="0"/>
                <a:cs typeface="Lucida Sans Unicode" charset="0"/>
              </a:rPr>
              <a:t>+ </a:t>
            </a:r>
            <a:r>
              <a:rPr lang="ja-JP" altLang="en-GB" sz="2400" b="1" dirty="0">
                <a:latin typeface="Courier New" charset="0"/>
                <a:cs typeface="Lucida Sans Unicode" charset="0"/>
              </a:rPr>
              <a:t>“</a:t>
            </a:r>
            <a:r>
              <a:rPr lang="en-GB" altLang="ja-JP" sz="2400" b="1" dirty="0">
                <a:latin typeface="Courier New" charset="0"/>
                <a:cs typeface="Lucida Sans Unicode" charset="0"/>
              </a:rPr>
              <a:t> </a:t>
            </a:r>
            <a:r>
              <a:rPr lang="ja-JP" altLang="en-GB" sz="2400" b="1" dirty="0">
                <a:latin typeface="Courier New" charset="0"/>
                <a:cs typeface="Lucida Sans Unicode" charset="0"/>
              </a:rPr>
              <a:t>”</a:t>
            </a:r>
            <a:r>
              <a:rPr lang="en-GB" altLang="ja-JP" sz="2400" b="1" dirty="0">
                <a:latin typeface="Courier New" charset="0"/>
                <a:cs typeface="Lucida Sans Unicode" charset="0"/>
              </a:rPr>
              <a:t> + </a:t>
            </a:r>
            <a:r>
              <a:rPr lang="en-GB" altLang="ja-JP" sz="2400" b="1" i="1" dirty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wage</a:t>
            </a:r>
            <a:r>
              <a:rPr lang="en-GB" altLang="ja-JP" sz="2400" b="1" dirty="0">
                <a:latin typeface="Courier New" charset="0"/>
                <a:cs typeface="Lucida Sans Unicode" charset="0"/>
              </a:rPr>
              <a:t>);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spcAft>
                <a:spcPts val="125"/>
              </a:spcAft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>
                <a:latin typeface="Courier New" charset="0"/>
                <a:cs typeface="Lucida Sans Unicode" charset="0"/>
              </a:rPr>
              <a:t>  }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ts val="125"/>
              </a:spcAft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>
                <a:latin typeface="Courier New" charset="0"/>
                <a:cs typeface="Lucida Sans Unicode" charset="0"/>
              </a:rPr>
              <a:t>}</a:t>
            </a:r>
          </a:p>
        </p:txBody>
      </p:sp>
      <p:sp>
        <p:nvSpPr>
          <p:cNvPr id="59396" name="Text Box 3"/>
          <p:cNvSpPr txBox="1">
            <a:spLocks noChangeArrowheads="1"/>
          </p:cNvSpPr>
          <p:nvPr/>
        </p:nvSpPr>
        <p:spPr bwMode="auto">
          <a:xfrm>
            <a:off x="5616695" y="5794375"/>
            <a:ext cx="1738073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100000"/>
              </a:lnSpc>
              <a:buClr>
                <a:srgbClr val="FF0000"/>
              </a:buClr>
              <a:buFont typeface="Arial" charset="0"/>
              <a:buNone/>
            </a:pPr>
            <a:r>
              <a:rPr lang="en-GB" b="1" dirty="0">
                <a:solidFill>
                  <a:srgbClr val="FF6600"/>
                </a:solidFill>
                <a:latin typeface="Arial" charset="0"/>
              </a:rPr>
              <a:t>Not visible</a:t>
            </a:r>
          </a:p>
        </p:txBody>
      </p:sp>
      <p:sp>
        <p:nvSpPr>
          <p:cNvPr id="59397" name="Line 4"/>
          <p:cNvSpPr>
            <a:spLocks noChangeShapeType="1"/>
          </p:cNvSpPr>
          <p:nvPr/>
        </p:nvSpPr>
        <p:spPr bwMode="auto">
          <a:xfrm flipH="1" flipV="1">
            <a:off x="5595938" y="5068888"/>
            <a:ext cx="641350" cy="742950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398" name="Line 5"/>
          <p:cNvSpPr>
            <a:spLocks noChangeShapeType="1"/>
          </p:cNvSpPr>
          <p:nvPr/>
        </p:nvSpPr>
        <p:spPr bwMode="auto">
          <a:xfrm flipV="1">
            <a:off x="6853238" y="5127625"/>
            <a:ext cx="482600" cy="684213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4" name="Elbow Connector 3"/>
          <p:cNvCxnSpPr>
            <a:stCxn id="9" idx="3"/>
            <a:endCxn id="2" idx="3"/>
          </p:cNvCxnSpPr>
          <p:nvPr/>
        </p:nvCxnSpPr>
        <p:spPr bwMode="auto">
          <a:xfrm flipH="1" flipV="1">
            <a:off x="8316416" y="2060848"/>
            <a:ext cx="72008" cy="2700300"/>
          </a:xfrm>
          <a:prstGeom prst="bentConnector3">
            <a:avLst>
              <a:gd name="adj1" fmla="val -641415"/>
            </a:avLst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Isosceles Triangle 10"/>
          <p:cNvSpPr/>
          <p:nvPr/>
        </p:nvSpPr>
        <p:spPr bwMode="auto">
          <a:xfrm rot="16200000">
            <a:off x="8316416" y="1916832"/>
            <a:ext cx="288032" cy="288032"/>
          </a:xfrm>
          <a:prstGeom prst="triangle">
            <a:avLst/>
          </a:prstGeom>
          <a:solidFill>
            <a:schemeClr val="bg1"/>
          </a:solidFill>
          <a:ln w="126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0360" tIns="44280" rIns="90360" bIns="442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000" b="1">
              <a:solidFill>
                <a:srgbClr val="000000"/>
              </a:solidFill>
              <a:latin typeface="Courier New" charset="0"/>
            </a:endParaRP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Protected</a:t>
            </a:r>
          </a:p>
        </p:txBody>
      </p:sp>
      <p:sp>
        <p:nvSpPr>
          <p:cNvPr id="61443" name="Rectangle 2"/>
          <p:cNvSpPr>
            <a:spLocks noGrp="1" noChangeArrowheads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Attributes and methods marked as</a:t>
            </a: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 dirty="0">
                <a:solidFill>
                  <a:srgbClr val="FF6633"/>
                </a:solidFill>
                <a:latin typeface="Lucida Sans Unicode" charset="0"/>
                <a:ea typeface="Lucida Sans Unicode" charset="0"/>
                <a:cs typeface="Lucida Sans Unicode" charset="0"/>
              </a:rPr>
              <a:t>public</a:t>
            </a: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 are always accessible </a:t>
            </a: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 dirty="0">
                <a:solidFill>
                  <a:srgbClr val="FF6633"/>
                </a:solidFill>
                <a:latin typeface="Lucida Sans Unicode" charset="0"/>
                <a:ea typeface="Lucida Sans Unicode" charset="0"/>
                <a:cs typeface="Lucida Sans Unicode" charset="0"/>
              </a:rPr>
              <a:t>private</a:t>
            </a: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 are accessible </a:t>
            </a:r>
            <a:r>
              <a:rPr lang="en-GB" dirty="0" smtClean="0">
                <a:latin typeface="Lucida Sans Unicode" charset="0"/>
                <a:ea typeface="Lucida Sans Unicode" charset="0"/>
                <a:cs typeface="Lucida Sans Unicode" charset="0"/>
              </a:rPr>
              <a:t>from within </a:t>
            </a: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the </a:t>
            </a:r>
            <a:r>
              <a:rPr lang="en-GB" dirty="0" smtClean="0">
                <a:latin typeface="Lucida Sans Unicode" charset="0"/>
                <a:ea typeface="Lucida Sans Unicode" charset="0"/>
                <a:cs typeface="Lucida Sans Unicode" charset="0"/>
              </a:rPr>
              <a:t>declaring class </a:t>
            </a: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only</a:t>
            </a: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 dirty="0">
                <a:solidFill>
                  <a:srgbClr val="FF6633"/>
                </a:solidFill>
                <a:latin typeface="Lucida Sans Unicode" charset="0"/>
                <a:ea typeface="Lucida Sans Unicode" charset="0"/>
                <a:cs typeface="Lucida Sans Unicode" charset="0"/>
              </a:rPr>
              <a:t>protected</a:t>
            </a: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 are accessible </a:t>
            </a:r>
            <a:r>
              <a:rPr lang="en-GB" dirty="0" smtClean="0">
                <a:latin typeface="Lucida Sans Unicode" charset="0"/>
                <a:ea typeface="Lucida Sans Unicode" charset="0"/>
                <a:cs typeface="Lucida Sans Unicode" charset="0"/>
              </a:rPr>
              <a:t>from within </a:t>
            </a: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the class and its subclasses</a:t>
            </a:r>
          </a:p>
        </p:txBody>
      </p:sp>
      <p:sp>
        <p:nvSpPr>
          <p:cNvPr id="61441" name="Segnaposto numero diapositiva 5"/>
          <p:cNvSpPr>
            <a:spLocks noGrp="1"/>
          </p:cNvSpPr>
          <p:nvPr>
            <p:ph type="sldNum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5D83968C-E0E1-A743-8590-2FD0C88D1FAE}" type="slidenum">
              <a:rPr lang="en-GB" sz="1200">
                <a:solidFill>
                  <a:srgbClr val="000000"/>
                </a:solidFill>
              </a:rPr>
              <a:pPr eaLnBrk="1" hangingPunct="1"/>
              <a:t>45</a:t>
            </a:fld>
            <a:endParaRPr lang="en-GB" sz="12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In summary</a:t>
            </a:r>
          </a:p>
        </p:txBody>
      </p:sp>
      <p:graphicFrame>
        <p:nvGraphicFramePr>
          <p:cNvPr id="366713" name="Group 12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6918992"/>
              </p:ext>
            </p:extLst>
          </p:nvPr>
        </p:nvGraphicFramePr>
        <p:xfrm>
          <a:off x="376238" y="1125538"/>
          <a:ext cx="8516937" cy="4507326"/>
        </p:xfrm>
        <a:graphic>
          <a:graphicData uri="http://schemas.openxmlformats.org/drawingml/2006/table">
            <a:tbl>
              <a:tblPr/>
              <a:tblGrid>
                <a:gridCol w="1728449"/>
                <a:gridCol w="1527834"/>
                <a:gridCol w="1857045"/>
                <a:gridCol w="1530672"/>
                <a:gridCol w="1872937"/>
              </a:tblGrid>
              <a:tr h="158338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"/>
                        </a:spcAft>
                        <a:buClr>
                          <a:srgbClr val="000000"/>
                        </a:buClr>
                        <a:buSzTx/>
                        <a:buFont typeface="Wingdings" charset="0"/>
                        <a:buNone/>
                        <a:tabLst/>
                      </a:pP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Sans Unicode" charset="0"/>
                        <a:ea typeface="ＭＳ Ｐゴシック" charset="0"/>
                        <a:cs typeface="Lucida Sans Unicode" charset="0"/>
                      </a:endParaRPr>
                    </a:p>
                  </a:txBody>
                  <a:tcPr marL="91454" marR="91454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"/>
                        </a:spcAft>
                        <a:buClr>
                          <a:srgbClr val="000000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Sans Unicode" charset="0"/>
                          <a:ea typeface="ＭＳ Ｐゴシック" charset="0"/>
                          <a:cs typeface="Lucida Sans Unicode" charset="0"/>
                        </a:rPr>
                        <a:t>Method in the </a:t>
                      </a:r>
                      <a:r>
                        <a:rPr kumimoji="0" lang="it-IT" sz="2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Lucida Sans Unicode" charset="0"/>
                          <a:ea typeface="ＭＳ Ｐゴシック" charset="0"/>
                          <a:cs typeface="Lucida Sans Unicode" charset="0"/>
                        </a:rPr>
                        <a:t>same</a:t>
                      </a:r>
                      <a:r>
                        <a:rPr kumimoji="0" lang="it-IT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Lucida Sans Unicode" charset="0"/>
                          <a:ea typeface="ＭＳ Ｐゴシック" charset="0"/>
                          <a:cs typeface="Lucida Sans Unicode" charset="0"/>
                        </a:rPr>
                        <a:t> </a:t>
                      </a:r>
                      <a:r>
                        <a:rPr kumimoji="0" lang="it-IT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Lucida Sans Unicode" charset="0"/>
                          <a:ea typeface="ＭＳ Ｐゴシック" charset="0"/>
                          <a:cs typeface="Lucida Sans Unicode" charset="0"/>
                        </a:rPr>
                        <a:t>class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Lucida Sans Unicode" charset="0"/>
                        <a:ea typeface="ＭＳ Ｐゴシック" charset="0"/>
                        <a:cs typeface="Lucida Sans Unicode" charset="0"/>
                      </a:endParaRPr>
                    </a:p>
                  </a:txBody>
                  <a:tcPr marL="91454" marR="9145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"/>
                        </a:spcAft>
                        <a:buClr>
                          <a:srgbClr val="000000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Sans Unicode" charset="0"/>
                          <a:ea typeface="ＭＳ Ｐゴシック" charset="0"/>
                          <a:cs typeface="Lucida Sans Unicode" charset="0"/>
                        </a:rPr>
                        <a:t>Method </a:t>
                      </a:r>
                      <a:r>
                        <a:rPr kumimoji="0" lang="it-IT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charset="0"/>
                          <a:ea typeface="ＭＳ Ｐゴシック" charset="0"/>
                          <a:cs typeface="Lucida Sans Unicode" charset="0"/>
                        </a:rPr>
                        <a:t>of </a:t>
                      </a:r>
                      <a:r>
                        <a:rPr kumimoji="0" lang="it-IT" sz="2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charset="0"/>
                          <a:ea typeface="ＭＳ Ｐゴシック" charset="0"/>
                          <a:cs typeface="Lucida Sans Unicode" charset="0"/>
                        </a:rPr>
                        <a:t>other</a:t>
                      </a:r>
                      <a:r>
                        <a:rPr kumimoji="0" lang="it-IT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charset="0"/>
                          <a:ea typeface="ＭＳ Ｐゴシック" charset="0"/>
                          <a:cs typeface="Lucida Sans Unicode" charset="0"/>
                        </a:rPr>
                        <a:t> </a:t>
                      </a:r>
                      <a:r>
                        <a:rPr kumimoji="0" lang="it-IT" sz="2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charset="0"/>
                          <a:ea typeface="ＭＳ Ｐゴシック" charset="0"/>
                          <a:cs typeface="Lucida Sans Unicode" charset="0"/>
                        </a:rPr>
                        <a:t>class</a:t>
                      </a:r>
                      <a:r>
                        <a:rPr kumimoji="0" lang="it-IT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Sans Unicode" charset="0"/>
                          <a:ea typeface="ＭＳ Ｐゴシック" charset="0"/>
                          <a:cs typeface="Lucida Sans Unicode" charset="0"/>
                        </a:rPr>
                        <a:t> in the </a:t>
                      </a:r>
                      <a:r>
                        <a:rPr kumimoji="0" lang="it-IT" sz="2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Lucida Sans Unicode" charset="0"/>
                          <a:ea typeface="ＭＳ Ｐゴシック" charset="0"/>
                          <a:cs typeface="Lucida Sans Unicode" charset="0"/>
                        </a:rPr>
                        <a:t>same</a:t>
                      </a:r>
                      <a:r>
                        <a:rPr kumimoji="0" lang="it-IT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Lucida Sans Unicode" charset="0"/>
                          <a:ea typeface="ＭＳ Ｐゴシック" charset="0"/>
                          <a:cs typeface="Lucida Sans Unicode" charset="0"/>
                        </a:rPr>
                        <a:t> </a:t>
                      </a:r>
                      <a:r>
                        <a:rPr kumimoji="0" lang="it-IT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Lucida Sans Unicode" charset="0"/>
                          <a:ea typeface="ＭＳ Ｐゴシック" charset="0"/>
                          <a:cs typeface="Lucida Sans Unicode" charset="0"/>
                        </a:rPr>
                        <a:t>package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Lucida Sans Unicode" charset="0"/>
                        <a:ea typeface="ＭＳ Ｐゴシック" charset="0"/>
                        <a:cs typeface="Lucida Sans Unicode" charset="0"/>
                      </a:endParaRPr>
                    </a:p>
                  </a:txBody>
                  <a:tcPr marL="91454" marR="9145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"/>
                        </a:spcAft>
                        <a:buClr>
                          <a:srgbClr val="000000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Sans Unicode" charset="0"/>
                          <a:ea typeface="ＭＳ Ｐゴシック" charset="0"/>
                          <a:cs typeface="Lucida Sans Unicode" charset="0"/>
                        </a:rPr>
                        <a:t>Method </a:t>
                      </a:r>
                      <a:r>
                        <a:rPr kumimoji="0" lang="it-IT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charset="0"/>
                          <a:ea typeface="ＭＳ Ｐゴシック" charset="0"/>
                          <a:cs typeface="Lucida Sans Unicode" charset="0"/>
                        </a:rPr>
                        <a:t>of </a:t>
                      </a:r>
                      <a:r>
                        <a:rPr kumimoji="0" lang="it-IT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Lucida Sans Unicode" charset="0"/>
                          <a:ea typeface="ＭＳ Ｐゴシック" charset="0"/>
                          <a:cs typeface="Lucida Sans Unicode" charset="0"/>
                        </a:rPr>
                        <a:t>subclass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Lucida Sans Unicode" charset="0"/>
                        <a:ea typeface="ＭＳ Ｐゴシック" charset="0"/>
                        <a:cs typeface="Lucida Sans Unicode" charset="0"/>
                      </a:endParaRPr>
                    </a:p>
                  </a:txBody>
                  <a:tcPr marL="91454" marR="9145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"/>
                        </a:spcAft>
                        <a:buClr>
                          <a:srgbClr val="000000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Sans Unicode" charset="0"/>
                          <a:ea typeface="ＭＳ Ｐゴシック" charset="0"/>
                          <a:cs typeface="Lucida Sans Unicode" charset="0"/>
                        </a:rPr>
                        <a:t>Method </a:t>
                      </a:r>
                      <a:r>
                        <a:rPr kumimoji="0" lang="it-IT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charset="0"/>
                          <a:ea typeface="ＭＳ Ｐゴシック" charset="0"/>
                          <a:cs typeface="Lucida Sans Unicode" charset="0"/>
                        </a:rPr>
                        <a:t>of </a:t>
                      </a:r>
                      <a:r>
                        <a:rPr kumimoji="0" lang="it-IT" sz="2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charset="0"/>
                          <a:ea typeface="ＭＳ Ｐゴシック" charset="0"/>
                          <a:cs typeface="Lucida Sans Unicode" charset="0"/>
                        </a:rPr>
                        <a:t>class</a:t>
                      </a:r>
                      <a:r>
                        <a:rPr kumimoji="0" lang="it-IT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Sans Unicode" charset="0"/>
                          <a:ea typeface="ＭＳ Ｐゴシック" charset="0"/>
                          <a:cs typeface="Lucida Sans Unicode" charset="0"/>
                        </a:rPr>
                        <a:t> </a:t>
                      </a:r>
                      <a:r>
                        <a:rPr kumimoji="0" lang="it-IT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ucida Sans Unicode" charset="0"/>
                          <a:ea typeface="ＭＳ Ｐゴシック" charset="0"/>
                          <a:cs typeface="Lucida Sans Unicode" charset="0"/>
                        </a:rPr>
                        <a:t>in </a:t>
                      </a:r>
                      <a:r>
                        <a:rPr kumimoji="0" lang="it-IT" sz="2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Lucida Sans Unicode" charset="0"/>
                          <a:ea typeface="ＭＳ Ｐゴシック" charset="0"/>
                          <a:cs typeface="Lucida Sans Unicode" charset="0"/>
                        </a:rPr>
                        <a:t>other</a:t>
                      </a:r>
                      <a:r>
                        <a:rPr kumimoji="0" lang="it-IT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Lucida Sans Unicode" charset="0"/>
                          <a:ea typeface="ＭＳ Ｐゴシック" charset="0"/>
                          <a:cs typeface="Lucida Sans Unicode" charset="0"/>
                        </a:rPr>
                        <a:t> </a:t>
                      </a:r>
                      <a:r>
                        <a:rPr kumimoji="0" lang="it-IT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Lucida Sans Unicode" charset="0"/>
                          <a:ea typeface="ＭＳ Ｐゴシック" charset="0"/>
                          <a:cs typeface="Lucida Sans Unicode" charset="0"/>
                        </a:rPr>
                        <a:t>package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Lucida Sans Unicode" charset="0"/>
                        <a:ea typeface="ＭＳ Ｐゴシック" charset="0"/>
                        <a:cs typeface="Lucida Sans Unicode" charset="0"/>
                      </a:endParaRPr>
                    </a:p>
                  </a:txBody>
                  <a:tcPr marL="91454" marR="9145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7305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"/>
                        </a:spcAft>
                        <a:buClr>
                          <a:srgbClr val="000000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/>
                          <a:ea typeface="ＭＳ Ｐゴシック" charset="0"/>
                          <a:cs typeface="Courier New"/>
                        </a:rPr>
                        <a:t>private</a:t>
                      </a:r>
                    </a:p>
                  </a:txBody>
                  <a:tcPr marL="91454" marR="9145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"/>
                        </a:spcAft>
                        <a:buClr>
                          <a:srgbClr val="000000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charset="0"/>
                          <a:ea typeface="ＭＳ Ｐゴシック" charset="0"/>
                          <a:cs typeface="Lucida Sans Unicode" charset="0"/>
                          <a:sym typeface="Wingdings" charset="0"/>
                        </a:rPr>
                        <a:t></a:t>
                      </a:r>
                    </a:p>
                  </a:txBody>
                  <a:tcPr marL="91454" marR="9145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"/>
                        </a:spcAft>
                        <a:buClr>
                          <a:srgbClr val="000000"/>
                        </a:buClr>
                        <a:buSzTx/>
                        <a:buFont typeface="Wingdings" charset="0"/>
                        <a:buNone/>
                        <a:tabLst/>
                      </a:pPr>
                      <a:endParaRPr kumimoji="0" lang="en-US" sz="3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Sans Unicode" charset="0"/>
                        <a:ea typeface="ＭＳ Ｐゴシック" charset="0"/>
                        <a:cs typeface="Lucida Sans Unicode" charset="0"/>
                      </a:endParaRPr>
                    </a:p>
                  </a:txBody>
                  <a:tcPr marL="91454" marR="9145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"/>
                        </a:spcAft>
                        <a:buClr>
                          <a:srgbClr val="000000"/>
                        </a:buClr>
                        <a:buSzTx/>
                        <a:buFont typeface="Wingdings" charset="0"/>
                        <a:buNone/>
                        <a:tabLst/>
                      </a:pPr>
                      <a:endParaRPr kumimoji="0" lang="en-US" sz="3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Sans Unicode" charset="0"/>
                        <a:ea typeface="ＭＳ Ｐゴシック" charset="0"/>
                        <a:cs typeface="Lucida Sans Unicode" charset="0"/>
                      </a:endParaRPr>
                    </a:p>
                  </a:txBody>
                  <a:tcPr marL="91454" marR="9145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"/>
                        </a:spcAft>
                        <a:buClr>
                          <a:srgbClr val="000000"/>
                        </a:buClr>
                        <a:buSzTx/>
                        <a:buFont typeface="Wingdings" charset="0"/>
                        <a:buNone/>
                        <a:tabLst/>
                      </a:pPr>
                      <a:endParaRPr kumimoji="0" lang="en-US" sz="3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Sans Unicode" charset="0"/>
                        <a:ea typeface="ＭＳ Ｐゴシック" charset="0"/>
                        <a:cs typeface="Lucida Sans Unicode" charset="0"/>
                      </a:endParaRPr>
                    </a:p>
                  </a:txBody>
                  <a:tcPr marL="91454" marR="9145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73230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"/>
                        </a:spcAft>
                        <a:buClr>
                          <a:srgbClr val="000000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200" b="1" i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Courier New"/>
                        </a:rPr>
                        <a:t>package</a:t>
                      </a:r>
                    </a:p>
                  </a:txBody>
                  <a:tcPr marL="91454" marR="9145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"/>
                        </a:spcAft>
                        <a:buClr>
                          <a:srgbClr val="000000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charset="0"/>
                          <a:ea typeface="ＭＳ Ｐゴシック" charset="0"/>
                          <a:cs typeface="Lucida Sans Unicode" charset="0"/>
                          <a:sym typeface="Wingdings" charset="0"/>
                        </a:rPr>
                        <a:t></a:t>
                      </a:r>
                    </a:p>
                  </a:txBody>
                  <a:tcPr marL="91454" marR="9145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"/>
                        </a:spcAft>
                        <a:buClr>
                          <a:srgbClr val="000000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charset="0"/>
                          <a:ea typeface="ＭＳ Ｐゴシック" charset="0"/>
                          <a:cs typeface="Lucida Sans Unicode" charset="0"/>
                          <a:sym typeface="Wingdings" charset="0"/>
                        </a:rPr>
                        <a:t></a:t>
                      </a:r>
                    </a:p>
                  </a:txBody>
                  <a:tcPr marL="91454" marR="9145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"/>
                        </a:spcAft>
                        <a:buClr>
                          <a:srgbClr val="000000"/>
                        </a:buClr>
                        <a:buSzTx/>
                        <a:buFont typeface="Wingdings" charset="0"/>
                        <a:buNone/>
                        <a:tabLst/>
                      </a:pPr>
                      <a:endParaRPr kumimoji="0" lang="en-US" sz="3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Sans Unicode" charset="0"/>
                        <a:ea typeface="ＭＳ Ｐゴシック" charset="0"/>
                        <a:cs typeface="Lucida Sans Unicode" charset="0"/>
                        <a:sym typeface="Wingdings" charset="0"/>
                      </a:endParaRPr>
                    </a:p>
                  </a:txBody>
                  <a:tcPr marL="91454" marR="9145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"/>
                        </a:spcAft>
                        <a:buClr>
                          <a:srgbClr val="000000"/>
                        </a:buClr>
                        <a:buSzTx/>
                        <a:buFont typeface="Wingdings" charset="0"/>
                        <a:buNone/>
                        <a:tabLst/>
                      </a:pPr>
                      <a:endParaRPr kumimoji="0" lang="en-US" sz="3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Sans Unicode" charset="0"/>
                        <a:ea typeface="ＭＳ Ｐゴシック" charset="0"/>
                        <a:cs typeface="Lucida Sans Unicode" charset="0"/>
                      </a:endParaRPr>
                    </a:p>
                  </a:txBody>
                  <a:tcPr marL="91454" marR="9145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7305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"/>
                        </a:spcAft>
                        <a:buClr>
                          <a:srgbClr val="000000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Courier New"/>
                          <a:ea typeface="ＭＳ Ｐゴシック" charset="0"/>
                          <a:cs typeface="Courier New"/>
                        </a:rPr>
                        <a:t>protected</a:t>
                      </a:r>
                    </a:p>
                  </a:txBody>
                  <a:tcPr marL="91454" marR="9145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"/>
                        </a:spcAft>
                        <a:buClr>
                          <a:srgbClr val="000000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charset="0"/>
                          <a:ea typeface="ＭＳ Ｐゴシック" charset="0"/>
                          <a:cs typeface="Lucida Sans Unicode" charset="0"/>
                          <a:sym typeface="Wingdings" charset="0"/>
                        </a:rPr>
                        <a:t></a:t>
                      </a:r>
                    </a:p>
                  </a:txBody>
                  <a:tcPr marL="91454" marR="9145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"/>
                        </a:spcAft>
                        <a:buClr>
                          <a:srgbClr val="000000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charset="0"/>
                          <a:ea typeface="ＭＳ Ｐゴシック" charset="0"/>
                          <a:cs typeface="Lucida Sans Unicode" charset="0"/>
                          <a:sym typeface="Wingdings" charset="0"/>
                        </a:rPr>
                        <a:t></a:t>
                      </a:r>
                    </a:p>
                  </a:txBody>
                  <a:tcPr marL="91454" marR="9145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"/>
                        </a:spcAft>
                        <a:buClr>
                          <a:srgbClr val="000000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charset="0"/>
                          <a:ea typeface="ＭＳ Ｐゴシック" charset="0"/>
                          <a:cs typeface="Lucida Sans Unicode" charset="0"/>
                          <a:sym typeface="Wingdings" charset="0"/>
                        </a:rPr>
                        <a:t></a:t>
                      </a:r>
                    </a:p>
                  </a:txBody>
                  <a:tcPr marL="91454" marR="9145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"/>
                        </a:spcAft>
                        <a:buClr>
                          <a:srgbClr val="000000"/>
                        </a:buClr>
                        <a:buSzTx/>
                        <a:buFont typeface="Wingdings" charset="0"/>
                        <a:buNone/>
                        <a:tabLst/>
                      </a:pPr>
                      <a:endParaRPr kumimoji="0" lang="en-US" sz="3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Sans Unicode" charset="0"/>
                        <a:ea typeface="ＭＳ Ｐゴシック" charset="0"/>
                        <a:cs typeface="Lucida Sans Unicode" charset="0"/>
                      </a:endParaRPr>
                    </a:p>
                  </a:txBody>
                  <a:tcPr marL="91454" marR="9145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7305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"/>
                        </a:spcAft>
                        <a:buClr>
                          <a:srgbClr val="000000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/>
                          <a:ea typeface="ＭＳ Ｐゴシック" charset="0"/>
                          <a:cs typeface="Courier New"/>
                        </a:rPr>
                        <a:t>public</a:t>
                      </a:r>
                    </a:p>
                  </a:txBody>
                  <a:tcPr marL="91454" marR="9145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"/>
                        </a:spcAft>
                        <a:buClr>
                          <a:srgbClr val="000000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charset="0"/>
                          <a:ea typeface="ＭＳ Ｐゴシック" charset="0"/>
                          <a:cs typeface="Lucida Sans Unicode" charset="0"/>
                          <a:sym typeface="Wingdings" charset="0"/>
                        </a:rPr>
                        <a:t></a:t>
                      </a:r>
                    </a:p>
                  </a:txBody>
                  <a:tcPr marL="91454" marR="9145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"/>
                        </a:spcAft>
                        <a:buClr>
                          <a:srgbClr val="000000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charset="0"/>
                          <a:ea typeface="ＭＳ Ｐゴシック" charset="0"/>
                          <a:cs typeface="Lucida Sans Unicode" charset="0"/>
                          <a:sym typeface="Wingdings" charset="0"/>
                        </a:rPr>
                        <a:t></a:t>
                      </a:r>
                    </a:p>
                  </a:txBody>
                  <a:tcPr marL="91454" marR="9145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"/>
                        </a:spcAft>
                        <a:buClr>
                          <a:srgbClr val="000000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charset="0"/>
                          <a:ea typeface="ＭＳ Ｐゴシック" charset="0"/>
                          <a:cs typeface="Lucida Sans Unicode" charset="0"/>
                          <a:sym typeface="Wingdings" charset="0"/>
                        </a:rPr>
                        <a:t></a:t>
                      </a:r>
                    </a:p>
                  </a:txBody>
                  <a:tcPr marL="91454" marR="9145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5000"/>
                        </a:spcAft>
                        <a:buClr>
                          <a:srgbClr val="000000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charset="0"/>
                          <a:ea typeface="ＭＳ Ｐゴシック" charset="0"/>
                          <a:cs typeface="Lucida Sans Unicode" charset="0"/>
                          <a:sym typeface="Wingdings" charset="0"/>
                        </a:rPr>
                        <a:t></a:t>
                      </a:r>
                    </a:p>
                  </a:txBody>
                  <a:tcPr marL="91454" marR="9145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>
                <a:latin typeface="Lucida Sans Unicode" charset="0"/>
                <a:cs typeface="Lucida Sans Unicode" charset="0"/>
              </a:rPr>
              <a:t>Inheritance and constructors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Construction of child’s objects</a:t>
            </a:r>
          </a:p>
        </p:txBody>
      </p:sp>
      <p:sp>
        <p:nvSpPr>
          <p:cNvPr id="73731" name="Rectangle 2"/>
          <p:cNvSpPr>
            <a:spLocks noGrp="1" noChangeArrowheads="1"/>
          </p:cNvSpPr>
          <p:nvPr>
            <p:ph idx="1"/>
          </p:nvPr>
        </p:nvSpPr>
        <p:spPr>
          <a:xfrm>
            <a:off x="609600" y="1295400"/>
            <a:ext cx="8224838" cy="4290534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Since each object </a:t>
            </a:r>
            <a:r>
              <a:rPr lang="ja-JP" altLang="en-GB" dirty="0">
                <a:latin typeface="Lucida Sans Unicode" charset="0"/>
                <a:cs typeface="Lucida Sans Unicode" charset="0"/>
              </a:rPr>
              <a:t>“</a:t>
            </a:r>
            <a:r>
              <a:rPr lang="en-GB" altLang="ja-JP" dirty="0">
                <a:latin typeface="Lucida Sans Unicode" charset="0"/>
                <a:cs typeface="Lucida Sans Unicode" charset="0"/>
              </a:rPr>
              <a:t>contains</a:t>
            </a:r>
            <a:r>
              <a:rPr lang="ja-JP" altLang="en-GB" dirty="0">
                <a:latin typeface="Lucida Sans Unicode" charset="0"/>
                <a:cs typeface="Lucida Sans Unicode" charset="0"/>
              </a:rPr>
              <a:t>”</a:t>
            </a:r>
            <a:r>
              <a:rPr lang="en-GB" altLang="ja-JP" dirty="0">
                <a:latin typeface="Lucida Sans Unicode" charset="0"/>
                <a:cs typeface="Lucida Sans Unicode" charset="0"/>
              </a:rPr>
              <a:t> an instance of the parent class, the latter </a:t>
            </a:r>
            <a:r>
              <a:rPr lang="en-GB" altLang="ja-JP" dirty="0">
                <a:solidFill>
                  <a:srgbClr val="FF6633"/>
                </a:solidFill>
                <a:latin typeface="Lucida Sans Unicode" charset="0"/>
                <a:cs typeface="Lucida Sans Unicode" charset="0"/>
              </a:rPr>
              <a:t>must</a:t>
            </a:r>
            <a:r>
              <a:rPr lang="en-GB" altLang="ja-JP" dirty="0">
                <a:latin typeface="Lucida Sans Unicode" charset="0"/>
                <a:cs typeface="Lucida Sans Unicode" charset="0"/>
              </a:rPr>
              <a:t> be initialized</a:t>
            </a: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Java compiler automatically  inserts a call to </a:t>
            </a:r>
            <a:r>
              <a:rPr lang="en-GB" dirty="0">
                <a:solidFill>
                  <a:srgbClr val="FF6633"/>
                </a:solidFill>
                <a:latin typeface="Lucida Sans Unicode" charset="0"/>
                <a:cs typeface="Lucida Sans Unicode" charset="0"/>
              </a:rPr>
              <a:t>default constructor</a:t>
            </a:r>
            <a:r>
              <a:rPr lang="en-GB" dirty="0">
                <a:latin typeface="Lucida Sans Unicode" charset="0"/>
                <a:cs typeface="Lucida Sans Unicode" charset="0"/>
              </a:rPr>
              <a:t> </a:t>
            </a:r>
            <a:r>
              <a:rPr lang="en-GB" dirty="0" smtClean="0">
                <a:latin typeface="Lucida Sans Unicode" charset="0"/>
                <a:cs typeface="Lucida Sans Unicode" charset="0"/>
              </a:rPr>
              <a:t>(w/o parameters</a:t>
            </a:r>
            <a:r>
              <a:rPr lang="en-GB" dirty="0">
                <a:latin typeface="Lucida Sans Unicode" charset="0"/>
                <a:cs typeface="Lucida Sans Unicode" charset="0"/>
              </a:rPr>
              <a:t>) of </a:t>
            </a:r>
            <a:r>
              <a:rPr lang="en-GB" dirty="0" smtClean="0">
                <a:latin typeface="Lucida Sans Unicode" charset="0"/>
                <a:cs typeface="Lucida Sans Unicode" charset="0"/>
              </a:rPr>
              <a:t>the parent </a:t>
            </a:r>
            <a:r>
              <a:rPr lang="en-GB" dirty="0">
                <a:latin typeface="Lucida Sans Unicode" charset="0"/>
                <a:cs typeface="Lucida Sans Unicode" charset="0"/>
              </a:rPr>
              <a:t>class</a:t>
            </a: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The call is inserted as the </a:t>
            </a:r>
            <a:r>
              <a:rPr lang="en-GB" dirty="0">
                <a:solidFill>
                  <a:srgbClr val="FF6633"/>
                </a:solidFill>
                <a:latin typeface="Lucida Sans Unicode" charset="0"/>
                <a:cs typeface="Lucida Sans Unicode" charset="0"/>
              </a:rPr>
              <a:t>first</a:t>
            </a:r>
            <a:r>
              <a:rPr lang="en-GB" dirty="0">
                <a:latin typeface="Lucida Sans Unicode" charset="0"/>
                <a:cs typeface="Lucida Sans Unicode" charset="0"/>
              </a:rPr>
              <a:t> statement of each child constructor</a:t>
            </a:r>
          </a:p>
        </p:txBody>
      </p:sp>
      <p:sp>
        <p:nvSpPr>
          <p:cNvPr id="73729" name="Segnaposto numero diapositiva 5"/>
          <p:cNvSpPr>
            <a:spLocks noGrp="1"/>
          </p:cNvSpPr>
          <p:nvPr>
            <p:ph type="sldNum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16952055-5895-A44D-8BDB-3D2FCE1403C8}" type="slidenum">
              <a:rPr lang="en-GB" sz="1200">
                <a:solidFill>
                  <a:srgbClr val="000000"/>
                </a:solidFill>
              </a:rPr>
              <a:pPr eaLnBrk="1" hangingPunct="1"/>
              <a:t>48</a:t>
            </a:fld>
            <a:endParaRPr lang="en-GB" sz="12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Segnaposto numero diapositiva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8FFC204C-4039-4245-A121-AD8053EF5DF8}" type="slidenum">
              <a:rPr lang="en-GB" sz="1200">
                <a:solidFill>
                  <a:srgbClr val="000000"/>
                </a:solidFill>
              </a:rPr>
              <a:pPr eaLnBrk="1" hangingPunct="1"/>
              <a:t>49</a:t>
            </a:fld>
            <a:endParaRPr lang="en-GB" sz="1200">
              <a:solidFill>
                <a:srgbClr val="000000"/>
              </a:solidFill>
            </a:endParaRPr>
          </a:p>
        </p:txBody>
      </p:sp>
      <p:sp>
        <p:nvSpPr>
          <p:cNvPr id="75778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152400"/>
            <a:ext cx="8610600" cy="914400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Construction of child objects</a:t>
            </a:r>
          </a:p>
        </p:txBody>
      </p:sp>
      <p:sp>
        <p:nvSpPr>
          <p:cNvPr id="75779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1295400"/>
            <a:ext cx="8229600" cy="4800600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Execution of constructors proceeds </a:t>
            </a:r>
            <a:r>
              <a:rPr lang="en-GB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top-down</a:t>
            </a:r>
            <a:r>
              <a:rPr lang="en-GB">
                <a:latin typeface="Lucida Sans Unicode" charset="0"/>
                <a:cs typeface="Lucida Sans Unicode" charset="0"/>
              </a:rPr>
              <a:t> in the inheritance hierarchy</a:t>
            </a:r>
          </a:p>
          <a:p>
            <a:pPr eaLnBrk="1" hangingPunct="1">
              <a:lnSpc>
                <a:spcPct val="100000"/>
              </a:lnSpc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>
              <a:latin typeface="Lucida Sans Unicode" charset="0"/>
              <a:cs typeface="Lucida Sans Unicode" charset="0"/>
            </a:endParaRP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In this way, when a method of the child class is executed (constructor included), the super-class is completely initialized already</a:t>
            </a: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Segnaposto numero diapositiva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4B131072-98DC-C74A-A965-C9CB4A5562BB}" type="slidenum">
              <a:rPr lang="en-GB" sz="1200">
                <a:solidFill>
                  <a:srgbClr val="000000"/>
                </a:solidFill>
              </a:rPr>
              <a:pPr eaLnBrk="1" hangingPunct="1"/>
              <a:t>50</a:t>
            </a:fld>
            <a:endParaRPr lang="en-GB" sz="1200">
              <a:solidFill>
                <a:srgbClr val="000000"/>
              </a:solidFill>
            </a:endParaRPr>
          </a:p>
        </p:txBody>
      </p:sp>
      <p:sp>
        <p:nvSpPr>
          <p:cNvPr id="77826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152400"/>
            <a:ext cx="8610600" cy="914400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Example</a:t>
            </a:r>
          </a:p>
        </p:txBody>
      </p:sp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423863" y="1144588"/>
            <a:ext cx="7089775" cy="1582737"/>
          </a:xfrm>
          <a:prstGeom prst="rect">
            <a:avLst/>
          </a:prstGeom>
          <a:solidFill>
            <a:srgbClr val="FDEADA"/>
          </a:solidFill>
          <a:ln w="9525">
            <a:solidFill>
              <a:srgbClr val="E46C0A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360" tIns="44280" rIns="90360" bIns="44280"/>
          <a:lstStyle/>
          <a:p>
            <a:pPr>
              <a:lnSpc>
                <a:spcPct val="10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b="1" dirty="0">
                <a:solidFill>
                  <a:srgbClr val="000000"/>
                </a:solidFill>
                <a:latin typeface="Courier New" charset="0"/>
                <a:ea typeface="Lucida Sans Unicode" charset="0"/>
                <a:cs typeface="Lucida Sans Unicode" charset="0"/>
              </a:rPr>
              <a:t>class </a:t>
            </a:r>
            <a:r>
              <a:rPr lang="en-GB" b="1" dirty="0" err="1">
                <a:solidFill>
                  <a:srgbClr val="000000"/>
                </a:solidFill>
                <a:latin typeface="Courier New" charset="0"/>
                <a:ea typeface="Lucida Sans Unicode" charset="0"/>
                <a:cs typeface="Lucida Sans Unicode" charset="0"/>
              </a:rPr>
              <a:t>ArtWork</a:t>
            </a:r>
            <a:r>
              <a:rPr lang="en-GB" b="1" dirty="0">
                <a:solidFill>
                  <a:srgbClr val="000000"/>
                </a:solidFill>
                <a:latin typeface="Courier New" charset="0"/>
                <a:ea typeface="Lucida Sans Unicode" charset="0"/>
                <a:cs typeface="Lucida Sans Unicode" charset="0"/>
              </a:rPr>
              <a:t> {</a:t>
            </a:r>
          </a:p>
          <a:p>
            <a:pPr>
              <a:lnSpc>
                <a:spcPct val="10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b="1" dirty="0">
                <a:solidFill>
                  <a:srgbClr val="000000"/>
                </a:solidFill>
                <a:latin typeface="Courier New" charset="0"/>
                <a:ea typeface="Lucida Sans Unicode" charset="0"/>
                <a:cs typeface="Lucida Sans Unicode" charset="0"/>
              </a:rPr>
              <a:t>  </a:t>
            </a:r>
            <a:r>
              <a:rPr lang="en-GB" b="1" dirty="0" err="1">
                <a:solidFill>
                  <a:srgbClr val="FF6600"/>
                </a:solidFill>
                <a:latin typeface="Courier New" charset="0"/>
                <a:ea typeface="Lucida Sans Unicode" charset="0"/>
                <a:cs typeface="Lucida Sans Unicode" charset="0"/>
              </a:rPr>
              <a:t>ArtWork</a:t>
            </a:r>
            <a:r>
              <a:rPr lang="en-GB" b="1" dirty="0">
                <a:solidFill>
                  <a:srgbClr val="000000"/>
                </a:solidFill>
                <a:latin typeface="Courier New" charset="0"/>
                <a:ea typeface="Lucida Sans Unicode" charset="0"/>
                <a:cs typeface="Lucida Sans Unicode" charset="0"/>
              </a:rPr>
              <a:t>() {</a:t>
            </a:r>
          </a:p>
          <a:p>
            <a:pPr>
              <a:lnSpc>
                <a:spcPct val="10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b="1" dirty="0">
                <a:solidFill>
                  <a:srgbClr val="000000"/>
                </a:solidFill>
                <a:latin typeface="Courier New" charset="0"/>
                <a:ea typeface="Lucida Sans Unicode" charset="0"/>
                <a:cs typeface="Lucida Sans Unicode" charset="0"/>
              </a:rPr>
              <a:t>    </a:t>
            </a:r>
            <a:r>
              <a:rPr lang="en-GB" sz="2000" b="1" dirty="0" err="1">
                <a:solidFill>
                  <a:srgbClr val="000000"/>
                </a:solidFill>
                <a:latin typeface="Courier New" charset="0"/>
                <a:ea typeface="Lucida Sans Unicode" charset="0"/>
                <a:cs typeface="Lucida Sans Unicode" charset="0"/>
              </a:rPr>
              <a:t>System.out.println(“</a:t>
            </a:r>
            <a:r>
              <a:rPr lang="en-GB" sz="2000" b="1" dirty="0" err="1">
                <a:solidFill>
                  <a:schemeClr val="accent4"/>
                </a:solidFill>
                <a:latin typeface="Courier New" charset="0"/>
                <a:ea typeface="Lucida Sans Unicode" charset="0"/>
                <a:cs typeface="Lucida Sans Unicode" charset="0"/>
              </a:rPr>
              <a:t>ctor</a:t>
            </a:r>
            <a:r>
              <a:rPr lang="en-GB" sz="2000" b="1" dirty="0">
                <a:solidFill>
                  <a:schemeClr val="accent4"/>
                </a:solidFill>
                <a:latin typeface="Courier New" charset="0"/>
                <a:ea typeface="Lucida Sans Unicode" charset="0"/>
                <a:cs typeface="Lucida Sans Unicode" charset="0"/>
              </a:rPr>
              <a:t> </a:t>
            </a:r>
            <a:r>
              <a:rPr lang="en-GB" sz="2000" b="1" dirty="0" err="1">
                <a:solidFill>
                  <a:schemeClr val="accent4"/>
                </a:solidFill>
                <a:latin typeface="Courier New" charset="0"/>
                <a:ea typeface="Lucida Sans Unicode" charset="0"/>
                <a:cs typeface="Lucida Sans Unicode" charset="0"/>
              </a:rPr>
              <a:t>ArtWork</a:t>
            </a:r>
            <a:r>
              <a:rPr lang="en-GB" sz="2000" b="1" dirty="0">
                <a:solidFill>
                  <a:srgbClr val="000000"/>
                </a:solidFill>
                <a:latin typeface="Courier New" charset="0"/>
                <a:ea typeface="Lucida Sans Unicode" charset="0"/>
                <a:cs typeface="Lucida Sans Unicode" charset="0"/>
              </a:rPr>
              <a:t>”); }</a:t>
            </a:r>
          </a:p>
          <a:p>
            <a:pPr>
              <a:lnSpc>
                <a:spcPct val="10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b="1" dirty="0">
                <a:solidFill>
                  <a:srgbClr val="000000"/>
                </a:solidFill>
                <a:latin typeface="Courier New" charset="0"/>
                <a:ea typeface="Lucida Sans Unicode" charset="0"/>
                <a:cs typeface="Lucida Sans Unicode" charset="0"/>
              </a:rPr>
              <a:t>}</a:t>
            </a:r>
          </a:p>
        </p:txBody>
      </p:sp>
      <p:sp>
        <p:nvSpPr>
          <p:cNvPr id="19459" name="Rectangle 3"/>
          <p:cNvSpPr>
            <a:spLocks noChangeArrowheads="1"/>
          </p:cNvSpPr>
          <p:nvPr/>
        </p:nvSpPr>
        <p:spPr bwMode="auto">
          <a:xfrm>
            <a:off x="458788" y="3024188"/>
            <a:ext cx="7089775" cy="1582737"/>
          </a:xfrm>
          <a:prstGeom prst="rect">
            <a:avLst/>
          </a:prstGeom>
          <a:solidFill>
            <a:srgbClr val="FDEADA"/>
          </a:solidFill>
          <a:ln w="9525">
            <a:solidFill>
              <a:srgbClr val="E46C0A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360" tIns="44280" rIns="90360" bIns="44280"/>
          <a:lstStyle/>
          <a:p>
            <a:pPr>
              <a:lnSpc>
                <a:spcPct val="89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b="1" dirty="0">
                <a:solidFill>
                  <a:srgbClr val="000000"/>
                </a:solidFill>
                <a:latin typeface="Courier New" charset="0"/>
                <a:ea typeface="Lucida Sans Unicode" charset="0"/>
                <a:cs typeface="Lucida Sans Unicode" charset="0"/>
              </a:rPr>
              <a:t>class Drawing extends </a:t>
            </a:r>
            <a:r>
              <a:rPr lang="en-GB" b="1" dirty="0" err="1">
                <a:solidFill>
                  <a:srgbClr val="000000"/>
                </a:solidFill>
                <a:latin typeface="Courier New" charset="0"/>
                <a:ea typeface="Lucida Sans Unicode" charset="0"/>
                <a:cs typeface="Lucida Sans Unicode" charset="0"/>
              </a:rPr>
              <a:t>ArtWork</a:t>
            </a:r>
            <a:r>
              <a:rPr lang="en-GB" b="1" dirty="0">
                <a:solidFill>
                  <a:srgbClr val="000000"/>
                </a:solidFill>
                <a:latin typeface="Courier New" charset="0"/>
                <a:ea typeface="Lucida Sans Unicode" charset="0"/>
                <a:cs typeface="Lucida Sans Unicode" charset="0"/>
              </a:rPr>
              <a:t>  {</a:t>
            </a:r>
          </a:p>
          <a:p>
            <a:pPr>
              <a:lnSpc>
                <a:spcPct val="89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b="1" dirty="0">
                <a:solidFill>
                  <a:srgbClr val="000000"/>
                </a:solidFill>
                <a:latin typeface="Courier New" charset="0"/>
                <a:ea typeface="Lucida Sans Unicode" charset="0"/>
                <a:cs typeface="Lucida Sans Unicode" charset="0"/>
              </a:rPr>
              <a:t>  </a:t>
            </a:r>
            <a:r>
              <a:rPr lang="en-GB" b="1" dirty="0">
                <a:solidFill>
                  <a:srgbClr val="FF6600"/>
                </a:solidFill>
                <a:latin typeface="Courier New" charset="0"/>
                <a:ea typeface="Lucida Sans Unicode" charset="0"/>
                <a:cs typeface="Lucida Sans Unicode" charset="0"/>
              </a:rPr>
              <a:t>Drawing</a:t>
            </a:r>
            <a:r>
              <a:rPr lang="en-GB" b="1" dirty="0">
                <a:solidFill>
                  <a:srgbClr val="000000"/>
                </a:solidFill>
                <a:latin typeface="Courier New" charset="0"/>
                <a:ea typeface="Lucida Sans Unicode" charset="0"/>
                <a:cs typeface="Lucida Sans Unicode" charset="0"/>
              </a:rPr>
              <a:t>() {</a:t>
            </a:r>
          </a:p>
          <a:p>
            <a:pPr>
              <a:lnSpc>
                <a:spcPct val="89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b="1" dirty="0">
                <a:solidFill>
                  <a:srgbClr val="000000"/>
                </a:solidFill>
                <a:latin typeface="Courier New" charset="0"/>
                <a:ea typeface="Lucida Sans Unicode" charset="0"/>
                <a:cs typeface="Lucida Sans Unicode" charset="0"/>
              </a:rPr>
              <a:t>    </a:t>
            </a:r>
            <a:r>
              <a:rPr lang="en-GB" sz="2000" b="1" dirty="0" err="1">
                <a:solidFill>
                  <a:srgbClr val="000000"/>
                </a:solidFill>
                <a:latin typeface="Courier New" charset="0"/>
                <a:ea typeface="Lucida Sans Unicode" charset="0"/>
                <a:cs typeface="Lucida Sans Unicode" charset="0"/>
              </a:rPr>
              <a:t>System.out.println(“</a:t>
            </a:r>
            <a:r>
              <a:rPr lang="en-GB" sz="2000" b="1" dirty="0" err="1">
                <a:solidFill>
                  <a:schemeClr val="accent4"/>
                </a:solidFill>
                <a:latin typeface="Courier New" charset="0"/>
                <a:ea typeface="Lucida Sans Unicode" charset="0"/>
                <a:cs typeface="Lucida Sans Unicode" charset="0"/>
              </a:rPr>
              <a:t>ctor</a:t>
            </a:r>
            <a:r>
              <a:rPr lang="en-GB" sz="2000" b="1" dirty="0">
                <a:solidFill>
                  <a:schemeClr val="accent4"/>
                </a:solidFill>
                <a:latin typeface="Courier New" charset="0"/>
                <a:ea typeface="Lucida Sans Unicode" charset="0"/>
                <a:cs typeface="Lucida Sans Unicode" charset="0"/>
              </a:rPr>
              <a:t> Drawing</a:t>
            </a:r>
            <a:r>
              <a:rPr lang="en-GB" sz="2000" b="1" dirty="0">
                <a:solidFill>
                  <a:srgbClr val="000000"/>
                </a:solidFill>
                <a:latin typeface="Courier New" charset="0"/>
                <a:ea typeface="Lucida Sans Unicode" charset="0"/>
                <a:cs typeface="Lucida Sans Unicode" charset="0"/>
              </a:rPr>
              <a:t>”); }</a:t>
            </a:r>
          </a:p>
          <a:p>
            <a:pPr>
              <a:lnSpc>
                <a:spcPct val="89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b="1" dirty="0">
                <a:solidFill>
                  <a:srgbClr val="000000"/>
                </a:solidFill>
                <a:latin typeface="Courier New" charset="0"/>
                <a:ea typeface="Lucida Sans Unicode" charset="0"/>
                <a:cs typeface="Lucida Sans Unicode" charset="0"/>
              </a:rPr>
              <a:t>}</a:t>
            </a:r>
          </a:p>
        </p:txBody>
      </p:sp>
      <p:sp>
        <p:nvSpPr>
          <p:cNvPr id="19460" name="Rectangle 4"/>
          <p:cNvSpPr>
            <a:spLocks noChangeArrowheads="1"/>
          </p:cNvSpPr>
          <p:nvPr/>
        </p:nvSpPr>
        <p:spPr bwMode="auto">
          <a:xfrm>
            <a:off x="542925" y="5013325"/>
            <a:ext cx="7089775" cy="1582738"/>
          </a:xfrm>
          <a:prstGeom prst="rect">
            <a:avLst/>
          </a:prstGeom>
          <a:solidFill>
            <a:srgbClr val="FDEADA"/>
          </a:solidFill>
          <a:ln w="9525">
            <a:solidFill>
              <a:srgbClr val="E46C0A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360" tIns="44280" rIns="90360" bIns="44280"/>
          <a:lstStyle/>
          <a:p>
            <a:pPr>
              <a:lnSpc>
                <a:spcPct val="89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b="1" dirty="0">
                <a:solidFill>
                  <a:srgbClr val="000000"/>
                </a:solidFill>
                <a:latin typeface="Courier New" charset="0"/>
                <a:ea typeface="Lucida Sans Unicode" charset="0"/>
                <a:cs typeface="Lucida Sans Unicode" charset="0"/>
              </a:rPr>
              <a:t>class Cartoon extends Drawing {</a:t>
            </a:r>
          </a:p>
          <a:p>
            <a:pPr>
              <a:lnSpc>
                <a:spcPct val="89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b="1" dirty="0">
                <a:solidFill>
                  <a:srgbClr val="000000"/>
                </a:solidFill>
                <a:latin typeface="Courier New" charset="0"/>
                <a:ea typeface="Lucida Sans Unicode" charset="0"/>
                <a:cs typeface="Lucida Sans Unicode" charset="0"/>
              </a:rPr>
              <a:t>  </a:t>
            </a:r>
            <a:r>
              <a:rPr lang="en-GB" b="1" dirty="0">
                <a:solidFill>
                  <a:srgbClr val="FF6600"/>
                </a:solidFill>
                <a:latin typeface="Courier New" charset="0"/>
                <a:ea typeface="Lucida Sans Unicode" charset="0"/>
                <a:cs typeface="Lucida Sans Unicode" charset="0"/>
              </a:rPr>
              <a:t>Cartoon</a:t>
            </a:r>
            <a:r>
              <a:rPr lang="en-GB" b="1" dirty="0">
                <a:solidFill>
                  <a:srgbClr val="000000"/>
                </a:solidFill>
                <a:latin typeface="Courier New" charset="0"/>
                <a:ea typeface="Lucida Sans Unicode" charset="0"/>
                <a:cs typeface="Lucida Sans Unicode" charset="0"/>
              </a:rPr>
              <a:t>() {</a:t>
            </a:r>
          </a:p>
          <a:p>
            <a:pPr>
              <a:lnSpc>
                <a:spcPct val="89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b="1" dirty="0">
                <a:solidFill>
                  <a:srgbClr val="000000"/>
                </a:solidFill>
                <a:latin typeface="Courier New" charset="0"/>
                <a:ea typeface="Lucida Sans Unicode" charset="0"/>
                <a:cs typeface="Lucida Sans Unicode" charset="0"/>
              </a:rPr>
              <a:t>    </a:t>
            </a:r>
            <a:r>
              <a:rPr lang="en-GB" sz="2000" b="1" dirty="0" err="1">
                <a:solidFill>
                  <a:srgbClr val="000000"/>
                </a:solidFill>
                <a:latin typeface="Courier New" charset="0"/>
                <a:ea typeface="Lucida Sans Unicode" charset="0"/>
                <a:cs typeface="Lucida Sans Unicode" charset="0"/>
              </a:rPr>
              <a:t>System.out.println(“</a:t>
            </a:r>
            <a:r>
              <a:rPr lang="en-GB" sz="2000" b="1" dirty="0" err="1">
                <a:solidFill>
                  <a:schemeClr val="accent4"/>
                </a:solidFill>
                <a:latin typeface="Courier New" charset="0"/>
                <a:ea typeface="Lucida Sans Unicode" charset="0"/>
                <a:cs typeface="Lucida Sans Unicode" charset="0"/>
              </a:rPr>
              <a:t>ctor</a:t>
            </a:r>
            <a:r>
              <a:rPr lang="en-GB" sz="2000" b="1" dirty="0">
                <a:solidFill>
                  <a:schemeClr val="accent4"/>
                </a:solidFill>
                <a:latin typeface="Courier New" charset="0"/>
                <a:ea typeface="Lucida Sans Unicode" charset="0"/>
                <a:cs typeface="Lucida Sans Unicode" charset="0"/>
              </a:rPr>
              <a:t> Cartoon</a:t>
            </a:r>
            <a:r>
              <a:rPr lang="en-GB" sz="2000" b="1" dirty="0">
                <a:solidFill>
                  <a:srgbClr val="000000"/>
                </a:solidFill>
                <a:latin typeface="Courier New" charset="0"/>
                <a:ea typeface="Lucida Sans Unicode" charset="0"/>
                <a:cs typeface="Lucida Sans Unicode" charset="0"/>
              </a:rPr>
              <a:t>”); }</a:t>
            </a:r>
          </a:p>
          <a:p>
            <a:pPr>
              <a:lnSpc>
                <a:spcPct val="89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b="1" dirty="0">
                <a:solidFill>
                  <a:srgbClr val="000000"/>
                </a:solidFill>
                <a:latin typeface="Courier New" charset="0"/>
                <a:ea typeface="Lucida Sans Unicode" charset="0"/>
                <a:cs typeface="Lucida Sans Unicode" charset="0"/>
              </a:rPr>
              <a:t>}</a:t>
            </a:r>
          </a:p>
        </p:txBody>
      </p:sp>
      <p:sp>
        <p:nvSpPr>
          <p:cNvPr id="77830" name="AutoShape 5"/>
          <p:cNvSpPr>
            <a:spLocks noChangeArrowheads="1"/>
          </p:cNvSpPr>
          <p:nvPr/>
        </p:nvSpPr>
        <p:spPr bwMode="auto">
          <a:xfrm rot="-5400000">
            <a:off x="7616032" y="1731168"/>
            <a:ext cx="361950" cy="430213"/>
          </a:xfrm>
          <a:prstGeom prst="triangle">
            <a:avLst>
              <a:gd name="adj" fmla="val 50000"/>
            </a:avLst>
          </a:prstGeom>
          <a:noFill/>
          <a:ln w="28440">
            <a:solidFill>
              <a:srgbClr val="E46C0A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77831" name="AutoShape 6"/>
          <p:cNvSpPr>
            <a:spLocks noChangeArrowheads="1"/>
          </p:cNvSpPr>
          <p:nvPr/>
        </p:nvSpPr>
        <p:spPr bwMode="auto">
          <a:xfrm rot="-5400000">
            <a:off x="7638257" y="3817143"/>
            <a:ext cx="361950" cy="430213"/>
          </a:xfrm>
          <a:prstGeom prst="triangle">
            <a:avLst>
              <a:gd name="adj" fmla="val 50000"/>
            </a:avLst>
          </a:prstGeom>
          <a:noFill/>
          <a:ln w="28440">
            <a:solidFill>
              <a:srgbClr val="E46C0A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cxnSp>
        <p:nvCxnSpPr>
          <p:cNvPr id="77832" name="AutoShape 7"/>
          <p:cNvCxnSpPr>
            <a:cxnSpLocks noChangeShapeType="1"/>
            <a:stCxn id="77830" idx="2"/>
          </p:cNvCxnSpPr>
          <p:nvPr/>
        </p:nvCxnSpPr>
        <p:spPr bwMode="auto">
          <a:xfrm flipH="1">
            <a:off x="7618413" y="1946275"/>
            <a:ext cx="395287" cy="1552575"/>
          </a:xfrm>
          <a:prstGeom prst="bentConnector3">
            <a:avLst>
              <a:gd name="adj1" fmla="val -63829"/>
            </a:avLst>
          </a:prstGeom>
          <a:noFill/>
          <a:ln w="28440">
            <a:solidFill>
              <a:srgbClr val="E46C0A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7834" name="AutoShape 9"/>
          <p:cNvCxnSpPr>
            <a:cxnSpLocks noChangeShapeType="1"/>
            <a:stCxn id="77831" idx="3"/>
            <a:endCxn id="19460" idx="3"/>
          </p:cNvCxnSpPr>
          <p:nvPr/>
        </p:nvCxnSpPr>
        <p:spPr bwMode="auto">
          <a:xfrm flipH="1">
            <a:off x="7632700" y="4032250"/>
            <a:ext cx="401638" cy="1773238"/>
          </a:xfrm>
          <a:prstGeom prst="bentConnector3">
            <a:avLst>
              <a:gd name="adj1" fmla="val -48421"/>
            </a:avLst>
          </a:prstGeom>
          <a:noFill/>
          <a:ln w="28440">
            <a:solidFill>
              <a:srgbClr val="E46C0A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Segnaposto numero diapositiva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7178B9D2-ABD6-174D-9ED9-88411875ECFE}" type="slidenum">
              <a:rPr lang="en-GB" sz="1200">
                <a:solidFill>
                  <a:srgbClr val="000000"/>
                </a:solidFill>
              </a:rPr>
              <a:pPr eaLnBrk="1" hangingPunct="1"/>
              <a:t>51</a:t>
            </a:fld>
            <a:endParaRPr lang="en-GB" sz="1200">
              <a:solidFill>
                <a:srgbClr val="000000"/>
              </a:solidFill>
            </a:endParaRPr>
          </a:p>
        </p:txBody>
      </p:sp>
      <p:sp>
        <p:nvSpPr>
          <p:cNvPr id="79874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152400"/>
            <a:ext cx="8610600" cy="914400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Example (cont</a:t>
            </a:r>
            <a:r>
              <a:rPr lang="ja-JP" altLang="en-GB">
                <a:latin typeface="Lucida Sans Unicode" charset="0"/>
                <a:cs typeface="Lucida Sans Unicode" charset="0"/>
              </a:rPr>
              <a:t>’</a:t>
            </a:r>
            <a:r>
              <a:rPr lang="en-GB" altLang="ja-JP">
                <a:latin typeface="Lucida Sans Unicode" charset="0"/>
                <a:cs typeface="Lucida Sans Unicode" charset="0"/>
              </a:rPr>
              <a:t>d)</a:t>
            </a:r>
            <a:endParaRPr lang="en-GB">
              <a:latin typeface="Lucida Sans Unicode" charset="0"/>
              <a:cs typeface="Lucida Sans Unicode" charset="0"/>
            </a:endParaRPr>
          </a:p>
        </p:txBody>
      </p:sp>
      <p:sp>
        <p:nvSpPr>
          <p:cNvPr id="79875" name="Rectangle 2"/>
          <p:cNvSpPr>
            <a:spLocks noChangeArrowheads="1"/>
          </p:cNvSpPr>
          <p:nvPr/>
        </p:nvSpPr>
        <p:spPr bwMode="auto">
          <a:xfrm>
            <a:off x="485775" y="1749425"/>
            <a:ext cx="7666038" cy="107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360" tIns="44280" rIns="90360" bIns="44280"/>
          <a:lstStyle/>
          <a:p>
            <a:pPr>
              <a:lnSpc>
                <a:spcPct val="10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>
                <a:solidFill>
                  <a:srgbClr val="000000"/>
                </a:solidFill>
                <a:latin typeface="Courier New" charset="0"/>
              </a:rPr>
              <a:t>Cartoon obj = new Cartoon();</a:t>
            </a:r>
          </a:p>
        </p:txBody>
      </p:sp>
      <p:sp>
        <p:nvSpPr>
          <p:cNvPr id="79876" name="Rectangle 3"/>
          <p:cNvSpPr>
            <a:spLocks noChangeArrowheads="1"/>
          </p:cNvSpPr>
          <p:nvPr/>
        </p:nvSpPr>
        <p:spPr bwMode="auto">
          <a:xfrm>
            <a:off x="1201738" y="3678238"/>
            <a:ext cx="7666037" cy="1074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1476374" y="3221038"/>
            <a:ext cx="3239641" cy="14320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E46C0A"/>
            </a:solidFill>
            <a:round/>
            <a:headEnd/>
            <a:tailEnd/>
          </a:ln>
          <a:effectLst>
            <a:outerShdw dist="107933" dir="2700000" algn="ctr" rotWithShape="0">
              <a:srgbClr val="808080"/>
            </a:outerShdw>
          </a:effectLst>
        </p:spPr>
        <p:txBody>
          <a:bodyPr lIns="90360" tIns="44280" rIns="90360" bIns="44280"/>
          <a:lstStyle/>
          <a:p>
            <a:pPr>
              <a:lnSpc>
                <a:spcPct val="10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b="1">
                <a:solidFill>
                  <a:srgbClr val="000000"/>
                </a:solidFill>
                <a:latin typeface="Courier New" charset="0"/>
                <a:ea typeface="Lucida Sans Unicode" charset="0"/>
                <a:cs typeface="Lucida Sans Unicode" charset="0"/>
              </a:rPr>
              <a:t>ctor ArtWork</a:t>
            </a:r>
          </a:p>
          <a:p>
            <a:pPr>
              <a:lnSpc>
                <a:spcPct val="10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b="1">
                <a:solidFill>
                  <a:srgbClr val="000000"/>
                </a:solidFill>
                <a:latin typeface="Courier New" charset="0"/>
                <a:ea typeface="Lucida Sans Unicode" charset="0"/>
                <a:cs typeface="Lucida Sans Unicode" charset="0"/>
              </a:rPr>
              <a:t>ctor Drawing </a:t>
            </a:r>
          </a:p>
          <a:p>
            <a:pPr>
              <a:lnSpc>
                <a:spcPct val="10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b="1">
                <a:solidFill>
                  <a:srgbClr val="000000"/>
                </a:solidFill>
                <a:latin typeface="Courier New" charset="0"/>
                <a:ea typeface="Lucida Sans Unicode" charset="0"/>
                <a:cs typeface="Lucida Sans Unicode" charset="0"/>
              </a:rPr>
              <a:t>ctor Cartoon </a:t>
            </a:r>
          </a:p>
        </p:txBody>
      </p:sp>
      <p:sp>
        <p:nvSpPr>
          <p:cNvPr id="79878" name="Line 5"/>
          <p:cNvSpPr>
            <a:spLocks noChangeShapeType="1"/>
          </p:cNvSpPr>
          <p:nvPr/>
        </p:nvSpPr>
        <p:spPr bwMode="auto">
          <a:xfrm flipH="1">
            <a:off x="3706813" y="2232025"/>
            <a:ext cx="719137" cy="1047750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Segnaposto numero diapositiva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278D04A4-D362-4D4B-8F2A-A24C8ABEEB23}" type="slidenum">
              <a:rPr lang="en-GB" sz="1200">
                <a:solidFill>
                  <a:srgbClr val="000000"/>
                </a:solidFill>
              </a:rPr>
              <a:pPr eaLnBrk="1" hangingPunct="1"/>
              <a:t>52</a:t>
            </a:fld>
            <a:endParaRPr lang="en-GB" sz="1200">
              <a:solidFill>
                <a:srgbClr val="000000"/>
              </a:solidFill>
            </a:endParaRPr>
          </a:p>
        </p:txBody>
      </p:sp>
      <p:sp>
        <p:nvSpPr>
          <p:cNvPr id="81922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152400"/>
            <a:ext cx="8610600" cy="914400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A word of advice</a:t>
            </a:r>
          </a:p>
        </p:txBody>
      </p:sp>
      <p:sp>
        <p:nvSpPr>
          <p:cNvPr id="81923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1295400"/>
            <a:ext cx="8229600" cy="4800600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Default constructor </a:t>
            </a:r>
            <a:r>
              <a:rPr lang="ja-JP" altLang="en-GB">
                <a:latin typeface="Lucida Sans Unicode" charset="0"/>
                <a:cs typeface="Lucida Sans Unicode" charset="0"/>
              </a:rPr>
              <a:t>“</a:t>
            </a:r>
            <a:r>
              <a:rPr lang="en-GB" altLang="ja-JP">
                <a:latin typeface="Lucida Sans Unicode" charset="0"/>
                <a:cs typeface="Lucida Sans Unicode" charset="0"/>
              </a:rPr>
              <a:t>disappears</a:t>
            </a:r>
            <a:r>
              <a:rPr lang="ja-JP" altLang="en-GB">
                <a:latin typeface="Lucida Sans Unicode" charset="0"/>
                <a:cs typeface="Lucida Sans Unicode" charset="0"/>
              </a:rPr>
              <a:t>”</a:t>
            </a:r>
            <a:r>
              <a:rPr lang="en-GB" altLang="ja-JP">
                <a:latin typeface="Lucida Sans Unicode" charset="0"/>
                <a:cs typeface="Lucida Sans Unicode" charset="0"/>
              </a:rPr>
              <a:t> if custom constructors are defined</a:t>
            </a:r>
            <a:endParaRPr lang="en-GB">
              <a:latin typeface="Lucida Sans Unicode" charset="0"/>
              <a:cs typeface="Lucida Sans Unicode" charset="0"/>
            </a:endParaRPr>
          </a:p>
        </p:txBody>
      </p:sp>
      <p:sp>
        <p:nvSpPr>
          <p:cNvPr id="81924" name="Rectangle 3"/>
          <p:cNvSpPr>
            <a:spLocks noChangeArrowheads="1"/>
          </p:cNvSpPr>
          <p:nvPr/>
        </p:nvSpPr>
        <p:spPr bwMode="auto">
          <a:xfrm>
            <a:off x="323527" y="2636912"/>
            <a:ext cx="3528392" cy="2952328"/>
          </a:xfrm>
          <a:prstGeom prst="rect">
            <a:avLst/>
          </a:prstGeom>
          <a:solidFill>
            <a:srgbClr val="FDEADA"/>
          </a:solidFill>
          <a:ln w="12600">
            <a:solidFill>
              <a:srgbClr val="E46C0A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360" tIns="44280" rIns="90360" bIns="44280"/>
          <a:lstStyle/>
          <a:p>
            <a:pPr>
              <a:lnSpc>
                <a:spcPct val="100000"/>
              </a:lnSpc>
              <a:spcBef>
                <a:spcPts val="550"/>
              </a:spcBef>
              <a:spcAft>
                <a:spcPts val="138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200" b="1" dirty="0">
                <a:solidFill>
                  <a:srgbClr val="000000"/>
                </a:solidFill>
                <a:latin typeface="Courier New" charset="0"/>
              </a:rPr>
              <a:t>class Parent{ </a:t>
            </a:r>
          </a:p>
          <a:p>
            <a:pPr>
              <a:lnSpc>
                <a:spcPct val="100000"/>
              </a:lnSpc>
              <a:spcBef>
                <a:spcPts val="550"/>
              </a:spcBef>
              <a:spcAft>
                <a:spcPts val="138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200" b="1" dirty="0">
                <a:solidFill>
                  <a:srgbClr val="000000"/>
                </a:solidFill>
                <a:latin typeface="Courier New" charset="0"/>
              </a:rPr>
              <a:t>  Parent(</a:t>
            </a:r>
            <a:r>
              <a:rPr lang="en-GB" sz="2200" b="1" dirty="0" err="1">
                <a:solidFill>
                  <a:srgbClr val="000000"/>
                </a:solidFill>
                <a:latin typeface="Courier New" charset="0"/>
              </a:rPr>
              <a:t>int</a:t>
            </a:r>
            <a:r>
              <a:rPr lang="en-GB" sz="2200" b="1" dirty="0">
                <a:solidFill>
                  <a:srgbClr val="000000"/>
                </a:solidFill>
                <a:latin typeface="Courier New" charset="0"/>
              </a:rPr>
              <a:t> </a:t>
            </a:r>
            <a:r>
              <a:rPr lang="en-GB" sz="2200" b="1" dirty="0" err="1">
                <a:solidFill>
                  <a:srgbClr val="000000"/>
                </a:solidFill>
                <a:latin typeface="Courier New" charset="0"/>
              </a:rPr>
              <a:t>i</a:t>
            </a:r>
            <a:r>
              <a:rPr lang="en-GB" sz="2200" b="1" dirty="0">
                <a:solidFill>
                  <a:srgbClr val="000000"/>
                </a:solidFill>
                <a:latin typeface="Courier New" charset="0"/>
              </a:rPr>
              <a:t>){} </a:t>
            </a:r>
            <a:endParaRPr lang="en-GB" sz="2200" b="1" dirty="0" smtClean="0">
              <a:solidFill>
                <a:srgbClr val="000000"/>
              </a:solidFill>
              <a:latin typeface="Courier New" charset="0"/>
            </a:endParaRPr>
          </a:p>
          <a:p>
            <a:pPr>
              <a:lnSpc>
                <a:spcPct val="100000"/>
              </a:lnSpc>
              <a:spcBef>
                <a:spcPts val="550"/>
              </a:spcBef>
              <a:spcAft>
                <a:spcPts val="138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sz="2200" b="1" dirty="0">
              <a:solidFill>
                <a:srgbClr val="000000"/>
              </a:solidFill>
              <a:latin typeface="Courier New" charset="0"/>
            </a:endParaRPr>
          </a:p>
          <a:p>
            <a:pPr>
              <a:lnSpc>
                <a:spcPct val="100000"/>
              </a:lnSpc>
              <a:spcBef>
                <a:spcPts val="550"/>
              </a:spcBef>
              <a:spcAft>
                <a:spcPts val="138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200" b="1" dirty="0">
                <a:solidFill>
                  <a:srgbClr val="000000"/>
                </a:solidFill>
                <a:latin typeface="Courier New" charset="0"/>
              </a:rPr>
              <a:t>}</a:t>
            </a:r>
          </a:p>
          <a:p>
            <a:pPr>
              <a:lnSpc>
                <a:spcPct val="100000"/>
              </a:lnSpc>
              <a:spcBef>
                <a:spcPts val="550"/>
              </a:spcBef>
              <a:spcAft>
                <a:spcPts val="138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200" b="1" dirty="0">
                <a:solidFill>
                  <a:srgbClr val="000000"/>
                </a:solidFill>
                <a:latin typeface="Courier New" charset="0"/>
              </a:rPr>
              <a:t>class Child </a:t>
            </a:r>
            <a:endParaRPr lang="en-GB" sz="2200" b="1" dirty="0" smtClean="0">
              <a:solidFill>
                <a:srgbClr val="000000"/>
              </a:solidFill>
              <a:latin typeface="Courier New" charset="0"/>
            </a:endParaRPr>
          </a:p>
          <a:p>
            <a:pPr>
              <a:lnSpc>
                <a:spcPct val="100000"/>
              </a:lnSpc>
              <a:spcBef>
                <a:spcPts val="550"/>
              </a:spcBef>
              <a:spcAft>
                <a:spcPts val="138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200" b="1" dirty="0" smtClean="0">
                <a:solidFill>
                  <a:srgbClr val="000000"/>
                </a:solidFill>
                <a:latin typeface="Courier New" charset="0"/>
              </a:rPr>
              <a:t>extends </a:t>
            </a:r>
            <a:r>
              <a:rPr lang="en-GB" sz="2200" b="1" dirty="0">
                <a:solidFill>
                  <a:srgbClr val="000000"/>
                </a:solidFill>
                <a:latin typeface="Courier New" charset="0"/>
              </a:rPr>
              <a:t>Parent{ } </a:t>
            </a:r>
            <a:br>
              <a:rPr lang="en-GB" sz="2200" b="1" dirty="0">
                <a:solidFill>
                  <a:srgbClr val="000000"/>
                </a:solidFill>
                <a:latin typeface="Courier New" charset="0"/>
              </a:rPr>
            </a:br>
            <a:r>
              <a:rPr lang="en-GB" sz="2200" b="1" dirty="0">
                <a:solidFill>
                  <a:srgbClr val="FF6633"/>
                </a:solidFill>
                <a:latin typeface="Courier New" charset="0"/>
              </a:rPr>
              <a:t>// error!</a:t>
            </a:r>
          </a:p>
        </p:txBody>
      </p:sp>
      <p:sp>
        <p:nvSpPr>
          <p:cNvPr id="81925" name="Rectangle 4"/>
          <p:cNvSpPr>
            <a:spLocks noChangeArrowheads="1"/>
          </p:cNvSpPr>
          <p:nvPr/>
        </p:nvSpPr>
        <p:spPr bwMode="auto">
          <a:xfrm>
            <a:off x="4211960" y="2636912"/>
            <a:ext cx="4320480" cy="2952328"/>
          </a:xfrm>
          <a:prstGeom prst="rect">
            <a:avLst/>
          </a:prstGeom>
          <a:solidFill>
            <a:srgbClr val="FDEADA"/>
          </a:solidFill>
          <a:ln w="12600">
            <a:solidFill>
              <a:srgbClr val="E46C0A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360" tIns="44280" rIns="90360" bIns="44280"/>
          <a:lstStyle/>
          <a:p>
            <a:pPr>
              <a:lnSpc>
                <a:spcPct val="100000"/>
              </a:lnSpc>
              <a:spcBef>
                <a:spcPts val="550"/>
              </a:spcBef>
              <a:spcAft>
                <a:spcPts val="138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200" b="1" dirty="0">
                <a:solidFill>
                  <a:srgbClr val="000000"/>
                </a:solidFill>
                <a:latin typeface="Courier New" charset="0"/>
              </a:rPr>
              <a:t>class Parent{ </a:t>
            </a:r>
          </a:p>
          <a:p>
            <a:pPr>
              <a:lnSpc>
                <a:spcPct val="100000"/>
              </a:lnSpc>
              <a:spcBef>
                <a:spcPts val="550"/>
              </a:spcBef>
              <a:spcAft>
                <a:spcPts val="138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200" b="1" dirty="0">
                <a:solidFill>
                  <a:srgbClr val="000000"/>
                </a:solidFill>
                <a:latin typeface="Courier New" charset="0"/>
              </a:rPr>
              <a:t>  Parent(</a:t>
            </a:r>
            <a:r>
              <a:rPr lang="en-GB" sz="2200" b="1" dirty="0" err="1">
                <a:solidFill>
                  <a:srgbClr val="000000"/>
                </a:solidFill>
                <a:latin typeface="Courier New" charset="0"/>
              </a:rPr>
              <a:t>int</a:t>
            </a:r>
            <a:r>
              <a:rPr lang="en-GB" sz="2200" b="1" dirty="0">
                <a:solidFill>
                  <a:srgbClr val="000000"/>
                </a:solidFill>
                <a:latin typeface="Courier New" charset="0"/>
              </a:rPr>
              <a:t> </a:t>
            </a:r>
            <a:r>
              <a:rPr lang="en-GB" sz="2200" b="1" dirty="0" err="1">
                <a:solidFill>
                  <a:srgbClr val="000000"/>
                </a:solidFill>
                <a:latin typeface="Courier New" charset="0"/>
              </a:rPr>
              <a:t>i</a:t>
            </a:r>
            <a:r>
              <a:rPr lang="en-GB" sz="2200" b="1" dirty="0">
                <a:solidFill>
                  <a:srgbClr val="000000"/>
                </a:solidFill>
                <a:latin typeface="Courier New" charset="0"/>
              </a:rPr>
              <a:t>){}</a:t>
            </a:r>
            <a:br>
              <a:rPr lang="en-GB" sz="2200" b="1" dirty="0">
                <a:solidFill>
                  <a:srgbClr val="000000"/>
                </a:solidFill>
                <a:latin typeface="Courier New" charset="0"/>
              </a:rPr>
            </a:br>
            <a:r>
              <a:rPr lang="en-GB" sz="2200" b="1" dirty="0">
                <a:solidFill>
                  <a:srgbClr val="000000"/>
                </a:solidFill>
                <a:latin typeface="Courier New" charset="0"/>
              </a:rPr>
              <a:t>  </a:t>
            </a:r>
            <a:r>
              <a:rPr lang="en-GB" sz="2200" b="1" dirty="0">
                <a:solidFill>
                  <a:srgbClr val="FF6633"/>
                </a:solidFill>
                <a:latin typeface="Courier New" charset="0"/>
              </a:rPr>
              <a:t>Parent</a:t>
            </a:r>
            <a:r>
              <a:rPr lang="en-GB" sz="2200" b="1" dirty="0">
                <a:solidFill>
                  <a:srgbClr val="000000"/>
                </a:solidFill>
                <a:latin typeface="Courier New" charset="0"/>
              </a:rPr>
              <a:t>(){} </a:t>
            </a:r>
            <a:r>
              <a:rPr lang="en-GB" sz="2200" b="1" dirty="0">
                <a:solidFill>
                  <a:srgbClr val="B2B2B2"/>
                </a:solidFill>
                <a:latin typeface="Courier New" charset="0"/>
              </a:rPr>
              <a:t>//</a:t>
            </a:r>
            <a:r>
              <a:rPr lang="en-GB" sz="2200" b="1" dirty="0" smtClean="0">
                <a:solidFill>
                  <a:srgbClr val="B2B2B2"/>
                </a:solidFill>
                <a:latin typeface="Courier New" charset="0"/>
              </a:rPr>
              <a:t>explicit</a:t>
            </a:r>
            <a:endParaRPr lang="en-GB" sz="2200" b="1" dirty="0">
              <a:solidFill>
                <a:srgbClr val="B2B2B2"/>
              </a:solidFill>
              <a:latin typeface="Courier New" charset="0"/>
            </a:endParaRPr>
          </a:p>
          <a:p>
            <a:pPr>
              <a:lnSpc>
                <a:spcPct val="100000"/>
              </a:lnSpc>
              <a:spcBef>
                <a:spcPts val="550"/>
              </a:spcBef>
              <a:spcAft>
                <a:spcPts val="138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200" b="1" dirty="0">
                <a:solidFill>
                  <a:srgbClr val="000000"/>
                </a:solidFill>
                <a:latin typeface="Courier New" charset="0"/>
              </a:rPr>
              <a:t>}</a:t>
            </a:r>
          </a:p>
          <a:p>
            <a:pPr>
              <a:lnSpc>
                <a:spcPct val="100000"/>
              </a:lnSpc>
              <a:spcBef>
                <a:spcPts val="550"/>
              </a:spcBef>
              <a:spcAft>
                <a:spcPts val="138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200" b="1" dirty="0">
                <a:solidFill>
                  <a:srgbClr val="000000"/>
                </a:solidFill>
                <a:latin typeface="Courier New" charset="0"/>
              </a:rPr>
              <a:t>class Child </a:t>
            </a:r>
            <a:endParaRPr lang="en-GB" sz="2200" b="1" dirty="0" smtClean="0">
              <a:solidFill>
                <a:srgbClr val="000000"/>
              </a:solidFill>
              <a:latin typeface="Courier New" charset="0"/>
            </a:endParaRPr>
          </a:p>
          <a:p>
            <a:pPr>
              <a:lnSpc>
                <a:spcPct val="100000"/>
              </a:lnSpc>
              <a:spcBef>
                <a:spcPts val="550"/>
              </a:spcBef>
              <a:spcAft>
                <a:spcPts val="138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200" b="1" dirty="0" smtClean="0">
                <a:solidFill>
                  <a:srgbClr val="000000"/>
                </a:solidFill>
                <a:latin typeface="Courier New" charset="0"/>
              </a:rPr>
              <a:t>extends </a:t>
            </a:r>
            <a:r>
              <a:rPr lang="en-GB" sz="2200" b="1" dirty="0">
                <a:solidFill>
                  <a:srgbClr val="000000"/>
                </a:solidFill>
                <a:latin typeface="Courier New" charset="0"/>
              </a:rPr>
              <a:t>Parent { } </a:t>
            </a:r>
            <a:br>
              <a:rPr lang="en-GB" sz="2200" b="1" dirty="0">
                <a:solidFill>
                  <a:srgbClr val="000000"/>
                </a:solidFill>
                <a:latin typeface="Courier New" charset="0"/>
              </a:rPr>
            </a:br>
            <a:r>
              <a:rPr lang="en-GB" sz="2200" b="1" dirty="0">
                <a:solidFill>
                  <a:srgbClr val="FF6633"/>
                </a:solidFill>
                <a:latin typeface="Courier New" charset="0"/>
              </a:rPr>
              <a:t>// ok!</a:t>
            </a: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Segnaposto numero diapositiva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FE5300DF-5671-164C-9AEE-C644B4E56654}" type="slidenum">
              <a:rPr lang="en-GB" sz="1200">
                <a:solidFill>
                  <a:srgbClr val="000000"/>
                </a:solidFill>
              </a:rPr>
              <a:pPr eaLnBrk="1" hangingPunct="1"/>
              <a:t>53</a:t>
            </a:fld>
            <a:endParaRPr lang="en-GB" sz="1200">
              <a:solidFill>
                <a:srgbClr val="000000"/>
              </a:solidFill>
            </a:endParaRPr>
          </a:p>
        </p:txBody>
      </p:sp>
      <p:sp>
        <p:nvSpPr>
          <p:cNvPr id="83970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152400"/>
            <a:ext cx="8610600" cy="914400"/>
          </a:xfrm>
        </p:spPr>
        <p:txBody>
          <a:bodyPr lIns="90360" tIns="44280" rIns="90360" bIns="44280"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Super</a:t>
            </a:r>
          </a:p>
        </p:txBody>
      </p:sp>
      <p:sp>
        <p:nvSpPr>
          <p:cNvPr id="83971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1295400"/>
            <a:ext cx="8229600" cy="4467546"/>
          </a:xfrm>
        </p:spPr>
        <p:txBody>
          <a:bodyPr lIns="90360" tIns="44280" rIns="90360" bIns="44280">
            <a:spAutoFit/>
          </a:bodyPr>
          <a:lstStyle/>
          <a:p>
            <a:pPr marL="508000" indent="-508000" eaLnBrk="1" hangingPunct="1">
              <a:lnSpc>
                <a:spcPct val="100000"/>
              </a:lnSpc>
              <a:tabLst>
                <a:tab pos="623888" algn="l"/>
                <a:tab pos="1081088" algn="l"/>
                <a:tab pos="1538288" algn="l"/>
                <a:tab pos="1995488" algn="l"/>
                <a:tab pos="2452688" algn="l"/>
                <a:tab pos="2909888" algn="l"/>
                <a:tab pos="3367088" algn="l"/>
                <a:tab pos="3824288" algn="l"/>
                <a:tab pos="4281488" algn="l"/>
                <a:tab pos="4738688" algn="l"/>
                <a:tab pos="5195888" algn="l"/>
                <a:tab pos="5653088" algn="l"/>
                <a:tab pos="6110288" algn="l"/>
                <a:tab pos="6567488" algn="l"/>
                <a:tab pos="7024688" algn="l"/>
                <a:tab pos="7481888" algn="l"/>
                <a:tab pos="7939088" algn="l"/>
                <a:tab pos="8396288" algn="l"/>
                <a:tab pos="8853488" algn="l"/>
                <a:tab pos="9310688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If you define custom </a:t>
            </a:r>
            <a:r>
              <a:rPr lang="en-GB" dirty="0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constructors with arguments</a:t>
            </a:r>
            <a:r>
              <a:rPr lang="en-GB" dirty="0">
                <a:latin typeface="Lucida Sans Unicode" charset="0"/>
                <a:cs typeface="Lucida Sans Unicode" charset="0"/>
              </a:rPr>
              <a:t> </a:t>
            </a:r>
          </a:p>
          <a:p>
            <a:pPr marL="508000" indent="-508000" eaLnBrk="1" hangingPunct="1">
              <a:lnSpc>
                <a:spcPct val="100000"/>
              </a:lnSpc>
              <a:tabLst>
                <a:tab pos="623888" algn="l"/>
                <a:tab pos="1081088" algn="l"/>
                <a:tab pos="1538288" algn="l"/>
                <a:tab pos="1995488" algn="l"/>
                <a:tab pos="2452688" algn="l"/>
                <a:tab pos="2909888" algn="l"/>
                <a:tab pos="3367088" algn="l"/>
                <a:tab pos="3824288" algn="l"/>
                <a:tab pos="4281488" algn="l"/>
                <a:tab pos="4738688" algn="l"/>
                <a:tab pos="5195888" algn="l"/>
                <a:tab pos="5653088" algn="l"/>
                <a:tab pos="6110288" algn="l"/>
                <a:tab pos="6567488" algn="l"/>
                <a:tab pos="7024688" algn="l"/>
                <a:tab pos="7481888" algn="l"/>
                <a:tab pos="7939088" algn="l"/>
                <a:tab pos="8396288" algn="l"/>
                <a:tab pos="8853488" algn="l"/>
                <a:tab pos="9310688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and default constructor is not defined explicitly </a:t>
            </a:r>
            <a:endParaRPr lang="en-GB" dirty="0" smtClean="0">
              <a:latin typeface="Lucida Sans Unicode" charset="0"/>
              <a:cs typeface="Lucida Sans Unicode" charset="0"/>
            </a:endParaRPr>
          </a:p>
          <a:p>
            <a:pPr marL="508000" indent="-508000" eaLnBrk="1" hangingPunct="1">
              <a:lnSpc>
                <a:spcPct val="100000"/>
              </a:lnSpc>
              <a:tabLst>
                <a:tab pos="623888" algn="l"/>
                <a:tab pos="1081088" algn="l"/>
                <a:tab pos="1538288" algn="l"/>
                <a:tab pos="1995488" algn="l"/>
                <a:tab pos="2452688" algn="l"/>
                <a:tab pos="2909888" algn="l"/>
                <a:tab pos="3367088" algn="l"/>
                <a:tab pos="3824288" algn="l"/>
                <a:tab pos="4281488" algn="l"/>
                <a:tab pos="4738688" algn="l"/>
                <a:tab pos="5195888" algn="l"/>
                <a:tab pos="5653088" algn="l"/>
                <a:tab pos="6110288" algn="l"/>
                <a:tab pos="6567488" algn="l"/>
                <a:tab pos="7024688" algn="l"/>
                <a:tab pos="7481888" algn="l"/>
                <a:tab pos="7939088" algn="l"/>
                <a:tab pos="8396288" algn="l"/>
                <a:tab pos="8853488" algn="l"/>
                <a:tab pos="9310688" algn="l"/>
              </a:tabLst>
            </a:pPr>
            <a:endParaRPr lang="en-GB" dirty="0">
              <a:latin typeface="Lucida Sans Unicode" charset="0"/>
              <a:cs typeface="Lucida Sans Unicode" charset="0"/>
            </a:endParaRPr>
          </a:p>
          <a:p>
            <a:pPr marL="508000" indent="-508000" eaLnBrk="1" hangingPunct="1">
              <a:lnSpc>
                <a:spcPct val="100000"/>
              </a:lnSpc>
              <a:buFont typeface="Wingdings" charset="0"/>
              <a:buChar char=""/>
              <a:tabLst>
                <a:tab pos="623888" algn="l"/>
                <a:tab pos="1081088" algn="l"/>
                <a:tab pos="1538288" algn="l"/>
                <a:tab pos="1995488" algn="l"/>
                <a:tab pos="2452688" algn="l"/>
                <a:tab pos="2909888" algn="l"/>
                <a:tab pos="3367088" algn="l"/>
                <a:tab pos="3824288" algn="l"/>
                <a:tab pos="4281488" algn="l"/>
                <a:tab pos="4738688" algn="l"/>
                <a:tab pos="5195888" algn="l"/>
                <a:tab pos="5653088" algn="l"/>
                <a:tab pos="6110288" algn="l"/>
                <a:tab pos="6567488" algn="l"/>
                <a:tab pos="7024688" algn="l"/>
                <a:tab pos="7481888" algn="l"/>
                <a:tab pos="7939088" algn="l"/>
                <a:tab pos="8396288" algn="l"/>
                <a:tab pos="8853488" algn="l"/>
                <a:tab pos="9310688" algn="l"/>
              </a:tabLst>
            </a:pPr>
            <a:r>
              <a:rPr lang="en-GB" dirty="0" smtClean="0">
                <a:latin typeface="Lucida Sans Unicode" charset="0"/>
                <a:cs typeface="Lucida Sans Unicode" charset="0"/>
              </a:rPr>
              <a:t>the </a:t>
            </a:r>
            <a:r>
              <a:rPr lang="en-GB" dirty="0">
                <a:latin typeface="Lucida Sans Unicode" charset="0"/>
                <a:cs typeface="Lucida Sans Unicode" charset="0"/>
              </a:rPr>
              <a:t>compiler cannot insert the call </a:t>
            </a:r>
            <a:r>
              <a:rPr lang="en-GB" dirty="0" smtClean="0">
                <a:latin typeface="Lucida Sans Unicode" charset="0"/>
                <a:cs typeface="Lucida Sans Unicode" charset="0"/>
              </a:rPr>
              <a:t>automatically</a:t>
            </a:r>
          </a:p>
          <a:p>
            <a:pPr lvl="1" eaLnBrk="1" hangingPunct="1">
              <a:lnSpc>
                <a:spcPct val="100000"/>
              </a:lnSpc>
              <a:tabLst>
                <a:tab pos="623888" algn="l"/>
                <a:tab pos="1081088" algn="l"/>
                <a:tab pos="1538288" algn="l"/>
                <a:tab pos="1995488" algn="l"/>
                <a:tab pos="2452688" algn="l"/>
                <a:tab pos="2909888" algn="l"/>
                <a:tab pos="3367088" algn="l"/>
                <a:tab pos="3824288" algn="l"/>
                <a:tab pos="4281488" algn="l"/>
                <a:tab pos="4738688" algn="l"/>
                <a:tab pos="5195888" algn="l"/>
                <a:tab pos="5653088" algn="l"/>
                <a:tab pos="6110288" algn="l"/>
                <a:tab pos="6567488" algn="l"/>
                <a:tab pos="7024688" algn="l"/>
                <a:tab pos="7481888" algn="l"/>
                <a:tab pos="7939088" algn="l"/>
                <a:tab pos="8396288" algn="l"/>
                <a:tab pos="8853488" algn="l"/>
                <a:tab pos="9310688" algn="l"/>
              </a:tabLst>
            </a:pPr>
            <a:r>
              <a:rPr lang="en-GB" dirty="0" smtClean="0">
                <a:latin typeface="Lucida Sans Unicode" charset="0"/>
                <a:cs typeface="Lucida Sans Unicode" charset="0"/>
              </a:rPr>
              <a:t>The arguments cannot be inferred</a:t>
            </a: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Segnaposto numero diapositiva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0AD75F56-C1CB-D34D-9FAC-6CFD6EA9F155}" type="slidenum">
              <a:rPr lang="en-GB" sz="1200">
                <a:solidFill>
                  <a:srgbClr val="000000"/>
                </a:solidFill>
              </a:rPr>
              <a:pPr eaLnBrk="1" hangingPunct="1"/>
              <a:t>54</a:t>
            </a:fld>
            <a:endParaRPr lang="en-GB" sz="1200">
              <a:solidFill>
                <a:srgbClr val="000000"/>
              </a:solidFill>
            </a:endParaRPr>
          </a:p>
        </p:txBody>
      </p:sp>
      <p:sp>
        <p:nvSpPr>
          <p:cNvPr id="86018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152400"/>
            <a:ext cx="8610600" cy="914400"/>
          </a:xfrm>
        </p:spPr>
        <p:txBody>
          <a:bodyPr lIns="90360" tIns="44280" rIns="90360" bIns="44280"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Super</a:t>
            </a:r>
          </a:p>
        </p:txBody>
      </p:sp>
      <p:sp>
        <p:nvSpPr>
          <p:cNvPr id="86019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1295400"/>
            <a:ext cx="8229600" cy="3793003"/>
          </a:xfrm>
        </p:spPr>
        <p:txBody>
          <a:bodyPr lIns="90360" tIns="44280" rIns="90360" bIns="44280"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smtClean="0">
                <a:latin typeface="Lucida Sans Unicode" charset="0"/>
                <a:cs typeface="Lucida Sans Unicode" charset="0"/>
              </a:rPr>
              <a:t>The child </a:t>
            </a:r>
            <a:r>
              <a:rPr lang="en-GB" dirty="0">
                <a:latin typeface="Lucida Sans Unicode" charset="0"/>
                <a:cs typeface="Lucida Sans Unicode" charset="0"/>
              </a:rPr>
              <a:t>class constructor must call the right constructor of the parent class, </a:t>
            </a:r>
            <a:r>
              <a:rPr lang="en-GB" dirty="0" smtClean="0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explicitly</a:t>
            </a:r>
            <a:endParaRPr lang="en-GB" dirty="0">
              <a:solidFill>
                <a:srgbClr val="FF9900"/>
              </a:solidFill>
              <a:latin typeface="Lucida Sans Unicode" charset="0"/>
              <a:cs typeface="Lucida Sans Unicode" charset="0"/>
            </a:endParaRP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Use </a:t>
            </a:r>
            <a:r>
              <a:rPr lang="en-GB" b="1" dirty="0">
                <a:solidFill>
                  <a:srgbClr val="FF6600"/>
                </a:solidFill>
                <a:latin typeface="Courier New"/>
                <a:cs typeface="Courier New"/>
              </a:rPr>
              <a:t>super()</a:t>
            </a:r>
            <a:r>
              <a:rPr lang="en-GB" dirty="0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 </a:t>
            </a:r>
            <a:r>
              <a:rPr lang="en-GB" dirty="0">
                <a:latin typeface="Lucida Sans Unicode" charset="0"/>
                <a:cs typeface="Lucida Sans Unicode" charset="0"/>
              </a:rPr>
              <a:t>to identify constructors of parent </a:t>
            </a:r>
            <a:r>
              <a:rPr lang="en-GB" dirty="0" smtClean="0">
                <a:latin typeface="Lucida Sans Unicode" charset="0"/>
                <a:cs typeface="Lucida Sans Unicode" charset="0"/>
              </a:rPr>
              <a:t>class</a:t>
            </a:r>
            <a:endParaRPr lang="en-GB" dirty="0">
              <a:latin typeface="Lucida Sans Unicode" charset="0"/>
              <a:cs typeface="Lucida Sans Unicode" charset="0"/>
            </a:endParaRP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smtClean="0">
                <a:solidFill>
                  <a:schemeClr val="tx1"/>
                </a:solidFill>
                <a:latin typeface="Lucida Sans Unicode" charset="0"/>
                <a:cs typeface="Lucida Sans Unicode" charset="0"/>
              </a:rPr>
              <a:t>Must be the </a:t>
            </a:r>
            <a:r>
              <a:rPr lang="en-GB" dirty="0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f</a:t>
            </a:r>
            <a:r>
              <a:rPr lang="en-GB" dirty="0" smtClean="0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irst</a:t>
            </a:r>
            <a:r>
              <a:rPr lang="en-GB" dirty="0" smtClean="0">
                <a:solidFill>
                  <a:srgbClr val="FF9900"/>
                </a:solidFill>
                <a:latin typeface="Lucida Sans Unicode" charset="0"/>
                <a:cs typeface="Lucida Sans Unicode" charset="0"/>
              </a:rPr>
              <a:t> </a:t>
            </a:r>
            <a:r>
              <a:rPr lang="en-GB" dirty="0">
                <a:latin typeface="Lucida Sans Unicode" charset="0"/>
                <a:cs typeface="Lucida Sans Unicode" charset="0"/>
              </a:rPr>
              <a:t>statement in child constructors</a:t>
            </a: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Segnaposto numero diapositiva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8E7DBC1D-1AFB-5846-A379-1E8BA97F29BB}" type="slidenum">
              <a:rPr lang="en-GB" sz="1200">
                <a:solidFill>
                  <a:srgbClr val="000000"/>
                </a:solidFill>
              </a:rPr>
              <a:pPr eaLnBrk="1" hangingPunct="1"/>
              <a:t>55</a:t>
            </a:fld>
            <a:endParaRPr lang="en-GB" sz="1200">
              <a:solidFill>
                <a:srgbClr val="000000"/>
              </a:solidFill>
            </a:endParaRPr>
          </a:p>
        </p:txBody>
      </p:sp>
      <p:sp>
        <p:nvSpPr>
          <p:cNvPr id="88066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152400"/>
            <a:ext cx="8610600" cy="914400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Example</a:t>
            </a:r>
          </a:p>
        </p:txBody>
      </p:sp>
      <p:sp>
        <p:nvSpPr>
          <p:cNvPr id="88067" name="Rectangle 2"/>
          <p:cNvSpPr>
            <a:spLocks noChangeArrowheads="1"/>
          </p:cNvSpPr>
          <p:nvPr/>
        </p:nvSpPr>
        <p:spPr bwMode="auto">
          <a:xfrm>
            <a:off x="206375" y="1316038"/>
            <a:ext cx="5059363" cy="31099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360" tIns="44280" rIns="90360" bIns="44280"/>
          <a:lstStyle/>
          <a:p>
            <a:pPr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000" b="1" dirty="0">
                <a:solidFill>
                  <a:srgbClr val="000000"/>
                </a:solidFill>
                <a:latin typeface="Courier New" charset="0"/>
              </a:rPr>
              <a:t>class </a:t>
            </a:r>
            <a:r>
              <a:rPr lang="en-GB" sz="2000" b="1" dirty="0">
                <a:solidFill>
                  <a:srgbClr val="8064A2"/>
                </a:solidFill>
                <a:latin typeface="Courier New" charset="0"/>
              </a:rPr>
              <a:t>Employee </a:t>
            </a:r>
            <a:r>
              <a:rPr lang="en-GB" sz="2000" b="1" dirty="0">
                <a:solidFill>
                  <a:srgbClr val="000000"/>
                </a:solidFill>
                <a:latin typeface="Courier New" charset="0"/>
              </a:rPr>
              <a:t>{</a:t>
            </a:r>
          </a:p>
          <a:p>
            <a:pPr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000" b="1" dirty="0">
                <a:solidFill>
                  <a:srgbClr val="000000"/>
                </a:solidFill>
                <a:latin typeface="Courier New" charset="0"/>
              </a:rPr>
              <a:t>  private String name;</a:t>
            </a:r>
          </a:p>
          <a:p>
            <a:pPr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000" b="1" dirty="0">
                <a:solidFill>
                  <a:srgbClr val="000000"/>
                </a:solidFill>
                <a:latin typeface="Courier New" charset="0"/>
              </a:rPr>
              <a:t>  private double wage;</a:t>
            </a:r>
          </a:p>
          <a:p>
            <a:pPr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000" b="1" dirty="0">
                <a:solidFill>
                  <a:srgbClr val="FF6600"/>
                </a:solidFill>
                <a:latin typeface="Courier New" charset="0"/>
              </a:rPr>
              <a:t>       ???</a:t>
            </a:r>
            <a:endParaRPr lang="en-GB" sz="2000" b="1" dirty="0">
              <a:solidFill>
                <a:srgbClr val="000000"/>
              </a:solidFill>
              <a:latin typeface="Courier New" charset="0"/>
            </a:endParaRPr>
          </a:p>
          <a:p>
            <a:pPr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000" b="1" dirty="0">
                <a:solidFill>
                  <a:srgbClr val="000000"/>
                </a:solidFill>
                <a:latin typeface="Courier New" charset="0"/>
              </a:rPr>
              <a:t>  Employee(String n, double w){</a:t>
            </a:r>
            <a:br>
              <a:rPr lang="en-GB" sz="2000" b="1" dirty="0">
                <a:solidFill>
                  <a:srgbClr val="000000"/>
                </a:solidFill>
                <a:latin typeface="Courier New" charset="0"/>
              </a:rPr>
            </a:br>
            <a:r>
              <a:rPr lang="en-GB" sz="2000" b="1" dirty="0">
                <a:solidFill>
                  <a:srgbClr val="000000"/>
                </a:solidFill>
                <a:latin typeface="Courier New" charset="0"/>
              </a:rPr>
              <a:t>    name = n;</a:t>
            </a:r>
            <a:br>
              <a:rPr lang="en-GB" sz="2000" b="1" dirty="0">
                <a:solidFill>
                  <a:srgbClr val="000000"/>
                </a:solidFill>
                <a:latin typeface="Courier New" charset="0"/>
              </a:rPr>
            </a:br>
            <a:r>
              <a:rPr lang="en-GB" sz="2000" b="1" dirty="0">
                <a:solidFill>
                  <a:srgbClr val="000000"/>
                </a:solidFill>
                <a:latin typeface="Courier New" charset="0"/>
              </a:rPr>
              <a:t>    wage = w;</a:t>
            </a:r>
          </a:p>
          <a:p>
            <a:pPr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000" dirty="0">
                <a:solidFill>
                  <a:srgbClr val="000000"/>
                </a:solidFill>
              </a:rPr>
              <a:t>    </a:t>
            </a:r>
            <a:r>
              <a:rPr lang="en-GB" sz="2000" b="1" dirty="0">
                <a:solidFill>
                  <a:srgbClr val="000000"/>
                </a:solidFill>
              </a:rPr>
              <a:t>}</a:t>
            </a:r>
          </a:p>
          <a:p>
            <a:pPr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000" b="1" dirty="0">
                <a:solidFill>
                  <a:srgbClr val="000000"/>
                </a:solidFill>
                <a:latin typeface="Courier New" charset="0"/>
              </a:rPr>
              <a:t>}</a:t>
            </a:r>
          </a:p>
        </p:txBody>
      </p:sp>
      <p:sp>
        <p:nvSpPr>
          <p:cNvPr id="88068" name="Rectangle 3"/>
          <p:cNvSpPr>
            <a:spLocks noChangeArrowheads="1"/>
          </p:cNvSpPr>
          <p:nvPr/>
        </p:nvSpPr>
        <p:spPr bwMode="auto">
          <a:xfrm>
            <a:off x="2954338" y="3549650"/>
            <a:ext cx="5991225" cy="2644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360" tIns="44280" rIns="90360" bIns="44280"/>
          <a:lstStyle/>
          <a:p>
            <a:pPr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000" b="1" dirty="0">
                <a:solidFill>
                  <a:srgbClr val="000000"/>
                </a:solidFill>
                <a:latin typeface="Courier New" charset="0"/>
              </a:rPr>
              <a:t>class </a:t>
            </a:r>
            <a:r>
              <a:rPr lang="en-GB" sz="2000" b="1" dirty="0">
                <a:solidFill>
                  <a:srgbClr val="8064A2"/>
                </a:solidFill>
                <a:latin typeface="Courier New" charset="0"/>
              </a:rPr>
              <a:t>Manager </a:t>
            </a:r>
            <a:r>
              <a:rPr lang="en-GB" sz="2000" b="1" i="1" dirty="0">
                <a:solidFill>
                  <a:srgbClr val="000000"/>
                </a:solidFill>
                <a:latin typeface="Courier New" charset="0"/>
              </a:rPr>
              <a:t>extends Employee</a:t>
            </a:r>
            <a:r>
              <a:rPr lang="en-GB" sz="2000" b="1" dirty="0">
                <a:solidFill>
                  <a:srgbClr val="000000"/>
                </a:solidFill>
                <a:latin typeface="Courier New" charset="0"/>
              </a:rPr>
              <a:t> {</a:t>
            </a:r>
            <a:br>
              <a:rPr lang="en-GB" sz="2000" b="1" dirty="0">
                <a:solidFill>
                  <a:srgbClr val="000000"/>
                </a:solidFill>
                <a:latin typeface="Courier New" charset="0"/>
              </a:rPr>
            </a:br>
            <a:r>
              <a:rPr lang="en-GB" sz="2000" b="1" dirty="0">
                <a:solidFill>
                  <a:srgbClr val="000000"/>
                </a:solidFill>
                <a:latin typeface="Courier New" charset="0"/>
              </a:rPr>
              <a:t>  private </a:t>
            </a:r>
            <a:r>
              <a:rPr lang="en-GB" sz="2000" b="1" dirty="0" err="1">
                <a:solidFill>
                  <a:srgbClr val="000000"/>
                </a:solidFill>
                <a:latin typeface="Courier New" charset="0"/>
              </a:rPr>
              <a:t>int</a:t>
            </a:r>
            <a:r>
              <a:rPr lang="en-GB" sz="2000" b="1" dirty="0">
                <a:solidFill>
                  <a:srgbClr val="000000"/>
                </a:solidFill>
                <a:latin typeface="Courier New" charset="0"/>
              </a:rPr>
              <a:t> unit;</a:t>
            </a:r>
          </a:p>
          <a:p>
            <a:pPr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sz="2000" b="1" dirty="0">
              <a:solidFill>
                <a:srgbClr val="000000"/>
              </a:solidFill>
              <a:latin typeface="Courier New" charset="0"/>
            </a:endParaRPr>
          </a:p>
          <a:p>
            <a:pPr>
              <a:lnSpc>
                <a:spcPct val="95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000" b="1" dirty="0">
                <a:solidFill>
                  <a:srgbClr val="000000"/>
                </a:solidFill>
                <a:latin typeface="Courier New" charset="0"/>
              </a:rPr>
              <a:t>  Manager(String n, double w, </a:t>
            </a:r>
            <a:r>
              <a:rPr lang="en-GB" sz="2000" b="1" dirty="0" err="1">
                <a:solidFill>
                  <a:srgbClr val="000000"/>
                </a:solidFill>
                <a:latin typeface="Courier New" charset="0"/>
              </a:rPr>
              <a:t>int</a:t>
            </a:r>
            <a:r>
              <a:rPr lang="en-GB" sz="2000" b="1" dirty="0">
                <a:solidFill>
                  <a:srgbClr val="000000"/>
                </a:solidFill>
                <a:latin typeface="Courier New" charset="0"/>
              </a:rPr>
              <a:t> u) {</a:t>
            </a:r>
          </a:p>
          <a:p>
            <a:pPr>
              <a:lnSpc>
                <a:spcPct val="95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000" b="1" dirty="0">
                <a:solidFill>
                  <a:srgbClr val="000000"/>
                </a:solidFill>
                <a:latin typeface="Courier New" charset="0"/>
              </a:rPr>
              <a:t>    </a:t>
            </a:r>
            <a:r>
              <a:rPr lang="en-GB" sz="2000" b="1" dirty="0">
                <a:solidFill>
                  <a:srgbClr val="FF6600"/>
                </a:solidFill>
                <a:latin typeface="Courier New" charset="0"/>
              </a:rPr>
              <a:t>super();  </a:t>
            </a:r>
            <a:r>
              <a:rPr lang="en-GB" sz="2000" b="1" dirty="0" smtClean="0">
                <a:solidFill>
                  <a:srgbClr val="FF6600"/>
                </a:solidFill>
                <a:latin typeface="Courier New" charset="0"/>
              </a:rPr>
              <a:t>// ERROR </a:t>
            </a:r>
            <a:r>
              <a:rPr lang="en-GB" sz="2000" b="1" dirty="0">
                <a:solidFill>
                  <a:srgbClr val="FF6600"/>
                </a:solidFill>
                <a:latin typeface="Courier New" charset="0"/>
              </a:rPr>
              <a:t>!!!</a:t>
            </a:r>
          </a:p>
          <a:p>
            <a:pPr>
              <a:lnSpc>
                <a:spcPct val="95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000" b="1" dirty="0">
                <a:solidFill>
                  <a:srgbClr val="000000"/>
                </a:solidFill>
                <a:latin typeface="Courier New" charset="0"/>
              </a:rPr>
              <a:t>    unit = u;</a:t>
            </a:r>
          </a:p>
          <a:p>
            <a:pPr>
              <a:lnSpc>
                <a:spcPct val="95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000" b="1" dirty="0">
                <a:solidFill>
                  <a:srgbClr val="000000"/>
                </a:solidFill>
                <a:latin typeface="Courier New" charset="0"/>
              </a:rPr>
              <a:t>  }</a:t>
            </a:r>
          </a:p>
          <a:p>
            <a:pPr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000" b="1" dirty="0">
                <a:solidFill>
                  <a:srgbClr val="000000"/>
                </a:solidFill>
                <a:latin typeface="Courier New" charset="0"/>
              </a:rPr>
              <a:t>}</a:t>
            </a:r>
          </a:p>
        </p:txBody>
      </p:sp>
      <p:grpSp>
        <p:nvGrpSpPr>
          <p:cNvPr id="88069" name="Group 4"/>
          <p:cNvGrpSpPr>
            <a:grpSpLocks/>
          </p:cNvGrpSpPr>
          <p:nvPr/>
        </p:nvGrpSpPr>
        <p:grpSpPr bwMode="auto">
          <a:xfrm>
            <a:off x="2389188" y="2500313"/>
            <a:ext cx="1144587" cy="2506662"/>
            <a:chOff x="1505" y="1934"/>
            <a:chExt cx="721" cy="1220"/>
          </a:xfrm>
        </p:grpSpPr>
        <p:sp>
          <p:nvSpPr>
            <p:cNvPr id="88070" name="Line 5"/>
            <p:cNvSpPr>
              <a:spLocks noChangeShapeType="1"/>
            </p:cNvSpPr>
            <p:nvPr/>
          </p:nvSpPr>
          <p:spPr bwMode="auto">
            <a:xfrm flipH="1">
              <a:off x="1504" y="1934"/>
              <a:ext cx="239" cy="1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071" name="Line 6"/>
            <p:cNvSpPr>
              <a:spLocks noChangeShapeType="1"/>
            </p:cNvSpPr>
            <p:nvPr/>
          </p:nvSpPr>
          <p:spPr bwMode="auto">
            <a:xfrm flipH="1">
              <a:off x="1731" y="1935"/>
              <a:ext cx="12" cy="1218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072" name="Line 7"/>
            <p:cNvSpPr>
              <a:spLocks noChangeShapeType="1"/>
            </p:cNvSpPr>
            <p:nvPr/>
          </p:nvSpPr>
          <p:spPr bwMode="auto">
            <a:xfrm>
              <a:off x="1741" y="3154"/>
              <a:ext cx="486" cy="1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Segnaposto numero diapositiva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24238F53-8C57-534F-AA9A-AA0835E0F82C}" type="slidenum">
              <a:rPr lang="en-GB" sz="1200">
                <a:solidFill>
                  <a:srgbClr val="000000"/>
                </a:solidFill>
              </a:rPr>
              <a:pPr eaLnBrk="1" hangingPunct="1"/>
              <a:t>56</a:t>
            </a:fld>
            <a:endParaRPr lang="en-GB" sz="1200">
              <a:solidFill>
                <a:srgbClr val="000000"/>
              </a:solidFill>
            </a:endParaRPr>
          </a:p>
        </p:txBody>
      </p:sp>
      <p:sp>
        <p:nvSpPr>
          <p:cNvPr id="90114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152400"/>
            <a:ext cx="8610600" cy="914400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Example</a:t>
            </a:r>
          </a:p>
        </p:txBody>
      </p:sp>
      <p:sp>
        <p:nvSpPr>
          <p:cNvPr id="90115" name="Rectangle 2"/>
          <p:cNvSpPr>
            <a:spLocks noChangeArrowheads="1"/>
          </p:cNvSpPr>
          <p:nvPr/>
        </p:nvSpPr>
        <p:spPr bwMode="auto">
          <a:xfrm>
            <a:off x="206375" y="1316038"/>
            <a:ext cx="5059363" cy="3109912"/>
          </a:xfrm>
          <a:prstGeom prst="rect">
            <a:avLst/>
          </a:prstGeom>
          <a:solidFill>
            <a:srgbClr val="FDEADA"/>
          </a:solidFill>
          <a:ln w="12600">
            <a:solidFill>
              <a:srgbClr val="E46C0A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360" tIns="44280" rIns="90360" bIns="44280"/>
          <a:lstStyle/>
          <a:p>
            <a:pPr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000" b="1" dirty="0">
                <a:solidFill>
                  <a:srgbClr val="000000"/>
                </a:solidFill>
                <a:latin typeface="Courier New" charset="0"/>
              </a:rPr>
              <a:t>class </a:t>
            </a:r>
            <a:r>
              <a:rPr lang="en-GB" sz="2000" b="1" dirty="0">
                <a:solidFill>
                  <a:srgbClr val="8064A2"/>
                </a:solidFill>
                <a:latin typeface="Courier New" charset="0"/>
              </a:rPr>
              <a:t>Employee </a:t>
            </a:r>
            <a:r>
              <a:rPr lang="en-GB" sz="2000" b="1" dirty="0">
                <a:solidFill>
                  <a:srgbClr val="000000"/>
                </a:solidFill>
                <a:latin typeface="Courier New" charset="0"/>
              </a:rPr>
              <a:t>{</a:t>
            </a:r>
          </a:p>
          <a:p>
            <a:pPr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000" b="1" dirty="0">
                <a:solidFill>
                  <a:srgbClr val="000000"/>
                </a:solidFill>
                <a:latin typeface="Courier New" charset="0"/>
              </a:rPr>
              <a:t>  private String name;</a:t>
            </a:r>
          </a:p>
          <a:p>
            <a:pPr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000" b="1" dirty="0">
                <a:solidFill>
                  <a:srgbClr val="000000"/>
                </a:solidFill>
                <a:latin typeface="Courier New" charset="0"/>
              </a:rPr>
              <a:t>  private double wage;</a:t>
            </a:r>
          </a:p>
          <a:p>
            <a:pPr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sz="2000" b="1" dirty="0">
              <a:solidFill>
                <a:srgbClr val="000000"/>
              </a:solidFill>
              <a:latin typeface="Courier New" charset="0"/>
            </a:endParaRPr>
          </a:p>
          <a:p>
            <a:pPr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000" b="1" dirty="0">
                <a:solidFill>
                  <a:srgbClr val="000000"/>
                </a:solidFill>
                <a:latin typeface="Courier New" charset="0"/>
              </a:rPr>
              <a:t>  Employee(String n, double w){</a:t>
            </a:r>
            <a:br>
              <a:rPr lang="en-GB" sz="2000" b="1" dirty="0">
                <a:solidFill>
                  <a:srgbClr val="000000"/>
                </a:solidFill>
                <a:latin typeface="Courier New" charset="0"/>
              </a:rPr>
            </a:br>
            <a:r>
              <a:rPr lang="en-GB" sz="2000" b="1" dirty="0">
                <a:solidFill>
                  <a:srgbClr val="000000"/>
                </a:solidFill>
                <a:latin typeface="Courier New" charset="0"/>
              </a:rPr>
              <a:t>    name = n;</a:t>
            </a:r>
            <a:br>
              <a:rPr lang="en-GB" sz="2000" b="1" dirty="0">
                <a:solidFill>
                  <a:srgbClr val="000000"/>
                </a:solidFill>
                <a:latin typeface="Courier New" charset="0"/>
              </a:rPr>
            </a:br>
            <a:r>
              <a:rPr lang="en-GB" sz="2000" b="1" dirty="0">
                <a:solidFill>
                  <a:srgbClr val="000000"/>
                </a:solidFill>
                <a:latin typeface="Courier New" charset="0"/>
              </a:rPr>
              <a:t>    wage = w;</a:t>
            </a:r>
          </a:p>
          <a:p>
            <a:pPr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000" dirty="0">
                <a:solidFill>
                  <a:srgbClr val="000000"/>
                </a:solidFill>
              </a:rPr>
              <a:t>    </a:t>
            </a:r>
            <a:r>
              <a:rPr lang="en-GB" sz="2000" b="1" dirty="0">
                <a:solidFill>
                  <a:srgbClr val="000000"/>
                </a:solidFill>
              </a:rPr>
              <a:t>}</a:t>
            </a:r>
          </a:p>
          <a:p>
            <a:pPr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000" b="1" dirty="0">
                <a:solidFill>
                  <a:srgbClr val="000000"/>
                </a:solidFill>
                <a:latin typeface="Courier New" charset="0"/>
              </a:rPr>
              <a:t>}</a:t>
            </a:r>
          </a:p>
        </p:txBody>
      </p:sp>
      <p:sp>
        <p:nvSpPr>
          <p:cNvPr id="90116" name="Rectangle 3"/>
          <p:cNvSpPr>
            <a:spLocks noChangeArrowheads="1"/>
          </p:cNvSpPr>
          <p:nvPr/>
        </p:nvSpPr>
        <p:spPr bwMode="auto">
          <a:xfrm>
            <a:off x="2954338" y="3549650"/>
            <a:ext cx="5991225" cy="2644775"/>
          </a:xfrm>
          <a:prstGeom prst="rect">
            <a:avLst/>
          </a:prstGeom>
          <a:solidFill>
            <a:srgbClr val="FDEADA"/>
          </a:solidFill>
          <a:ln w="12600">
            <a:solidFill>
              <a:srgbClr val="E46C0A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360" tIns="44280" rIns="90360" bIns="44280"/>
          <a:lstStyle/>
          <a:p>
            <a:pPr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000" b="1" dirty="0">
                <a:solidFill>
                  <a:srgbClr val="000000"/>
                </a:solidFill>
                <a:latin typeface="Courier New" charset="0"/>
              </a:rPr>
              <a:t>class </a:t>
            </a:r>
            <a:r>
              <a:rPr lang="en-GB" sz="2000" b="1" dirty="0">
                <a:solidFill>
                  <a:srgbClr val="8064A2"/>
                </a:solidFill>
                <a:latin typeface="Courier New" charset="0"/>
              </a:rPr>
              <a:t>Manager </a:t>
            </a:r>
            <a:r>
              <a:rPr lang="en-GB" sz="2000" b="1" i="1" dirty="0">
                <a:solidFill>
                  <a:srgbClr val="000000"/>
                </a:solidFill>
                <a:latin typeface="Courier New" charset="0"/>
              </a:rPr>
              <a:t>extends Employee</a:t>
            </a:r>
            <a:r>
              <a:rPr lang="en-GB" sz="2000" b="1" dirty="0">
                <a:solidFill>
                  <a:srgbClr val="000000"/>
                </a:solidFill>
                <a:latin typeface="Courier New" charset="0"/>
              </a:rPr>
              <a:t> {</a:t>
            </a:r>
            <a:br>
              <a:rPr lang="en-GB" sz="2000" b="1" dirty="0">
                <a:solidFill>
                  <a:srgbClr val="000000"/>
                </a:solidFill>
                <a:latin typeface="Courier New" charset="0"/>
              </a:rPr>
            </a:br>
            <a:r>
              <a:rPr lang="en-GB" sz="2000" b="1" dirty="0">
                <a:solidFill>
                  <a:srgbClr val="000000"/>
                </a:solidFill>
                <a:latin typeface="Courier New" charset="0"/>
              </a:rPr>
              <a:t>  private </a:t>
            </a:r>
            <a:r>
              <a:rPr lang="en-GB" sz="2000" b="1" dirty="0" err="1">
                <a:solidFill>
                  <a:srgbClr val="000000"/>
                </a:solidFill>
                <a:latin typeface="Courier New" charset="0"/>
              </a:rPr>
              <a:t>int</a:t>
            </a:r>
            <a:r>
              <a:rPr lang="en-GB" sz="2000" b="1" dirty="0">
                <a:solidFill>
                  <a:srgbClr val="000000"/>
                </a:solidFill>
                <a:latin typeface="Courier New" charset="0"/>
              </a:rPr>
              <a:t> unit;</a:t>
            </a:r>
          </a:p>
          <a:p>
            <a:pPr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sz="2000" b="1" dirty="0">
              <a:solidFill>
                <a:srgbClr val="000000"/>
              </a:solidFill>
              <a:latin typeface="Courier New" charset="0"/>
            </a:endParaRPr>
          </a:p>
          <a:p>
            <a:pPr>
              <a:lnSpc>
                <a:spcPct val="95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000" b="1" dirty="0">
                <a:solidFill>
                  <a:srgbClr val="000000"/>
                </a:solidFill>
                <a:latin typeface="Courier New" charset="0"/>
              </a:rPr>
              <a:t>  Manager(String n, double w, </a:t>
            </a:r>
            <a:r>
              <a:rPr lang="en-GB" sz="2000" b="1" dirty="0" err="1">
                <a:solidFill>
                  <a:srgbClr val="000000"/>
                </a:solidFill>
                <a:latin typeface="Courier New" charset="0"/>
              </a:rPr>
              <a:t>int</a:t>
            </a:r>
            <a:r>
              <a:rPr lang="en-GB" sz="2000" b="1" dirty="0">
                <a:solidFill>
                  <a:srgbClr val="000000"/>
                </a:solidFill>
                <a:latin typeface="Courier New" charset="0"/>
              </a:rPr>
              <a:t> u) {</a:t>
            </a:r>
          </a:p>
          <a:p>
            <a:pPr>
              <a:lnSpc>
                <a:spcPct val="95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000" b="1" dirty="0">
                <a:solidFill>
                  <a:srgbClr val="000000"/>
                </a:solidFill>
                <a:latin typeface="Courier New" charset="0"/>
              </a:rPr>
              <a:t>    </a:t>
            </a:r>
            <a:r>
              <a:rPr lang="en-GB" sz="2000" b="1" dirty="0">
                <a:solidFill>
                  <a:srgbClr val="FF6600"/>
                </a:solidFill>
                <a:latin typeface="Courier New" charset="0"/>
              </a:rPr>
              <a:t>super(</a:t>
            </a:r>
            <a:r>
              <a:rPr lang="en-GB" sz="2000" b="1" dirty="0" err="1">
                <a:solidFill>
                  <a:srgbClr val="FF6600"/>
                </a:solidFill>
                <a:latin typeface="Courier New" charset="0"/>
              </a:rPr>
              <a:t>n,w</a:t>
            </a:r>
            <a:r>
              <a:rPr lang="en-GB" sz="2000" b="1" dirty="0">
                <a:solidFill>
                  <a:srgbClr val="FF6600"/>
                </a:solidFill>
                <a:latin typeface="Courier New" charset="0"/>
              </a:rPr>
              <a:t>);</a:t>
            </a:r>
          </a:p>
          <a:p>
            <a:pPr>
              <a:lnSpc>
                <a:spcPct val="95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000" b="1" dirty="0">
                <a:solidFill>
                  <a:srgbClr val="000000"/>
                </a:solidFill>
                <a:latin typeface="Courier New" charset="0"/>
              </a:rPr>
              <a:t>    unit = u;</a:t>
            </a:r>
          </a:p>
          <a:p>
            <a:pPr>
              <a:lnSpc>
                <a:spcPct val="95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000" b="1" dirty="0">
                <a:solidFill>
                  <a:srgbClr val="000000"/>
                </a:solidFill>
                <a:latin typeface="Courier New" charset="0"/>
              </a:rPr>
              <a:t>  }</a:t>
            </a:r>
          </a:p>
          <a:p>
            <a:pPr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000" b="1" dirty="0">
                <a:solidFill>
                  <a:srgbClr val="000000"/>
                </a:solidFill>
                <a:latin typeface="Courier New" charset="0"/>
              </a:rPr>
              <a:t>}</a:t>
            </a:r>
          </a:p>
        </p:txBody>
      </p:sp>
      <p:sp>
        <p:nvSpPr>
          <p:cNvPr id="90117" name="Freeform 5"/>
          <p:cNvSpPr>
            <a:spLocks/>
          </p:cNvSpPr>
          <p:nvPr/>
        </p:nvSpPr>
        <p:spPr bwMode="auto">
          <a:xfrm>
            <a:off x="163513" y="5160963"/>
            <a:ext cx="3332162" cy="55562"/>
          </a:xfrm>
          <a:custGeom>
            <a:avLst/>
            <a:gdLst>
              <a:gd name="T0" fmla="*/ 3332894 w 3331918"/>
              <a:gd name="T1" fmla="*/ 0 h 54618"/>
              <a:gd name="T2" fmla="*/ 0 w 3331918"/>
              <a:gd name="T3" fmla="*/ 58493 h 54618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3331918" h="54618">
                <a:moveTo>
                  <a:pt x="3331918" y="0"/>
                </a:moveTo>
                <a:lnTo>
                  <a:pt x="0" y="54618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0118" name="Freeform 12"/>
          <p:cNvSpPr>
            <a:spLocks/>
          </p:cNvSpPr>
          <p:nvPr/>
        </p:nvSpPr>
        <p:spPr bwMode="auto">
          <a:xfrm>
            <a:off x="107950" y="2786063"/>
            <a:ext cx="3333750" cy="2252662"/>
          </a:xfrm>
          <a:custGeom>
            <a:avLst/>
            <a:gdLst>
              <a:gd name="T0" fmla="*/ 3882966 w 3209020"/>
              <a:gd name="T1" fmla="*/ 2251645 h 2253001"/>
              <a:gd name="T2" fmla="*/ 0 w 3209020"/>
              <a:gd name="T3" fmla="*/ 2237999 h 2253001"/>
              <a:gd name="T4" fmla="*/ 0 w 3209020"/>
              <a:gd name="T5" fmla="*/ 0 h 2253001"/>
              <a:gd name="T6" fmla="*/ 380036 w 3209020"/>
              <a:gd name="T7" fmla="*/ 1 h 2253001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209020" h="2253001">
                <a:moveTo>
                  <a:pt x="3209020" y="2253001"/>
                </a:moveTo>
                <a:lnTo>
                  <a:pt x="0" y="2239347"/>
                </a:lnTo>
                <a:lnTo>
                  <a:pt x="0" y="0"/>
                </a:lnTo>
                <a:lnTo>
                  <a:pt x="314074" y="1"/>
                </a:lnTo>
              </a:path>
            </a:pathLst>
          </a:custGeom>
          <a:noFill/>
          <a:ln w="9525">
            <a:solidFill>
              <a:srgbClr val="000000"/>
            </a:solidFill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Final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keyword </a:t>
            </a:r>
            <a:r>
              <a:rPr lang="en-US" b="1" dirty="0" smtClean="0">
                <a:solidFill>
                  <a:srgbClr val="FF6600"/>
                </a:solidFill>
                <a:latin typeface="Courier New"/>
                <a:cs typeface="Courier New"/>
              </a:rPr>
              <a:t>final</a:t>
            </a:r>
            <a:r>
              <a:rPr lang="en-US" dirty="0" smtClean="0"/>
              <a:t> applied to a method makes it not </a:t>
            </a:r>
            <a:r>
              <a:rPr lang="en-US" dirty="0" err="1" smtClean="0"/>
              <a:t>overridable</a:t>
            </a:r>
            <a:r>
              <a:rPr lang="en-US" dirty="0" smtClean="0"/>
              <a:t> by subclasses</a:t>
            </a:r>
          </a:p>
          <a:p>
            <a:pPr lvl="1"/>
            <a:r>
              <a:rPr lang="en-US" dirty="0" smtClean="0"/>
              <a:t>When methods must keep a predefined behavior</a:t>
            </a:r>
          </a:p>
          <a:p>
            <a:pPr lvl="1"/>
            <a:r>
              <a:rPr lang="en-US" dirty="0" smtClean="0"/>
              <a:t>E.g. method provide basic service to other methods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26459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1"/>
          <p:cNvSpPr>
            <a:spLocks noGrp="1" noChangeArrowheads="1"/>
          </p:cNvSpPr>
          <p:nvPr>
            <p:ph type="title"/>
          </p:nvPr>
        </p:nvSpPr>
        <p:spPr>
          <a:xfrm>
            <a:off x="722313" y="4406900"/>
            <a:ext cx="7772400" cy="710067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 smtClean="0">
                <a:latin typeface="Lucida Sans Unicode" charset="0"/>
                <a:cs typeface="Lucida Sans Unicode" charset="0"/>
              </a:rPr>
              <a:t>Object class</a:t>
            </a:r>
            <a:endParaRPr lang="en-GB" b="1" dirty="0">
              <a:latin typeface="Lucida Sans Unicode" charset="0"/>
              <a:cs typeface="Lucida Sans Unicode" charset="0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Rounded Rectangular Callout 2"/>
          <p:cNvSpPr/>
          <p:nvPr/>
        </p:nvSpPr>
        <p:spPr bwMode="auto">
          <a:xfrm>
            <a:off x="3851920" y="2420888"/>
            <a:ext cx="5040560" cy="864096"/>
          </a:xfrm>
          <a:prstGeom prst="wedgeRoundRectCallout">
            <a:avLst>
              <a:gd name="adj1" fmla="val -61175"/>
              <a:gd name="adj2" fmla="val 167761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lIns="90360" tIns="44280" rIns="90360" bIns="44280" rtlCol="0" anchor="ctr"/>
          <a:lstStyle/>
          <a:p>
            <a:r>
              <a:rPr lang="it-IT" sz="2000" dirty="0" err="1">
                <a:solidFill>
                  <a:schemeClr val="tx1"/>
                </a:solidFill>
                <a:latin typeface="+mn-lt"/>
              </a:rPr>
              <a:t>Not</a:t>
            </a:r>
            <a:r>
              <a:rPr lang="it-IT" sz="2000" dirty="0">
                <a:solidFill>
                  <a:schemeClr val="tx1"/>
                </a:solidFill>
                <a:latin typeface="+mn-lt"/>
              </a:rPr>
              <a:t> an </a:t>
            </a:r>
            <a:r>
              <a:rPr lang="it-IT" sz="2000" dirty="0" err="1">
                <a:solidFill>
                  <a:schemeClr val="tx1"/>
                </a:solidFill>
                <a:latin typeface="+mn-lt"/>
              </a:rPr>
              <a:t>antinomy</a:t>
            </a:r>
            <a:r>
              <a:rPr lang="it-IT" sz="2000" dirty="0">
                <a:solidFill>
                  <a:schemeClr val="tx1"/>
                </a:solidFill>
                <a:latin typeface="+mn-lt"/>
              </a:rPr>
              <a:t>: </a:t>
            </a:r>
            <a:endParaRPr lang="it-IT" sz="2000" dirty="0" smtClean="0">
              <a:solidFill>
                <a:schemeClr val="tx1"/>
              </a:solidFill>
              <a:latin typeface="+mn-lt"/>
            </a:endParaRPr>
          </a:p>
          <a:p>
            <a:r>
              <a:rPr lang="it-IT" sz="2000" dirty="0" smtClean="0">
                <a:solidFill>
                  <a:schemeClr val="tx1"/>
                </a:solidFill>
                <a:latin typeface="+mn-lt"/>
              </a:rPr>
              <a:t>in </a:t>
            </a:r>
            <a:r>
              <a:rPr lang="it-IT" sz="2000" dirty="0">
                <a:solidFill>
                  <a:schemeClr val="tx1"/>
                </a:solidFill>
                <a:latin typeface="+mn-lt"/>
              </a:rPr>
              <a:t>Java </a:t>
            </a:r>
            <a:r>
              <a:rPr lang="it-IT" sz="2000" dirty="0" err="1">
                <a:solidFill>
                  <a:schemeClr val="tx1"/>
                </a:solidFill>
                <a:latin typeface="+mn-lt"/>
              </a:rPr>
              <a:t>there</a:t>
            </a:r>
            <a:r>
              <a:rPr lang="it-IT" sz="2000" dirty="0">
                <a:solidFill>
                  <a:schemeClr val="tx1"/>
                </a:solidFill>
                <a:latin typeface="+mn-lt"/>
              </a:rPr>
              <a:t> </a:t>
            </a:r>
            <a:r>
              <a:rPr lang="it-IT" sz="2000" dirty="0" err="1">
                <a:solidFill>
                  <a:schemeClr val="tx1"/>
                </a:solidFill>
                <a:latin typeface="+mn-lt"/>
              </a:rPr>
              <a:t>is</a:t>
            </a:r>
            <a:r>
              <a:rPr lang="it-IT" sz="2000" dirty="0">
                <a:solidFill>
                  <a:schemeClr val="tx1"/>
                </a:solidFill>
                <a:latin typeface="+mn-lt"/>
              </a:rPr>
              <a:t> a </a:t>
            </a:r>
            <a:r>
              <a:rPr lang="it-IT" sz="2000" dirty="0" err="1">
                <a:solidFill>
                  <a:schemeClr val="tx1"/>
                </a:solidFill>
                <a:latin typeface="+mn-lt"/>
              </a:rPr>
              <a:t>class</a:t>
            </a:r>
            <a:r>
              <a:rPr lang="it-IT" sz="2000" dirty="0">
                <a:solidFill>
                  <a:schemeClr val="tx1"/>
                </a:solidFill>
                <a:latin typeface="+mn-lt"/>
              </a:rPr>
              <a:t> </a:t>
            </a:r>
            <a:r>
              <a:rPr lang="it-IT" sz="2000" dirty="0" err="1">
                <a:solidFill>
                  <a:schemeClr val="tx1"/>
                </a:solidFill>
                <a:latin typeface="+mn-lt"/>
              </a:rPr>
              <a:t>called</a:t>
            </a:r>
            <a:r>
              <a:rPr lang="it-IT" sz="2000" dirty="0">
                <a:solidFill>
                  <a:schemeClr val="tx1"/>
                </a:solidFill>
                <a:latin typeface="+mn-lt"/>
              </a:rPr>
              <a:t> “Object”</a:t>
            </a: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Segnaposto numero diapositiva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B9DC8F97-4106-7E4E-8DC3-C8E2F973404D}" type="slidenum">
              <a:rPr lang="en-GB" sz="1200">
                <a:solidFill>
                  <a:srgbClr val="000000"/>
                </a:solidFill>
              </a:rPr>
              <a:pPr eaLnBrk="1" hangingPunct="1"/>
              <a:t>59</a:t>
            </a:fld>
            <a:endParaRPr lang="en-GB" sz="1200">
              <a:solidFill>
                <a:srgbClr val="000000"/>
              </a:solidFill>
            </a:endParaRPr>
          </a:p>
        </p:txBody>
      </p:sp>
      <p:sp>
        <p:nvSpPr>
          <p:cNvPr id="102402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223838"/>
            <a:ext cx="8610600" cy="771525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Class </a:t>
            </a:r>
            <a:r>
              <a:rPr lang="en-GB" dirty="0">
                <a:latin typeface="Courier New"/>
                <a:cs typeface="Courier New"/>
              </a:rPr>
              <a:t>Object</a:t>
            </a:r>
          </a:p>
        </p:txBody>
      </p:sp>
      <p:sp>
        <p:nvSpPr>
          <p:cNvPr id="102403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1295400"/>
            <a:ext cx="8229600" cy="1219200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>
                <a:latin typeface="Courier New" charset="0"/>
                <a:cs typeface="Lucida Sans Unicode" charset="0"/>
              </a:rPr>
              <a:t>java.lang.Object</a:t>
            </a: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All classes are subtypes of Object </a:t>
            </a:r>
          </a:p>
        </p:txBody>
      </p:sp>
      <p:grpSp>
        <p:nvGrpSpPr>
          <p:cNvPr id="102404" name="Group 3"/>
          <p:cNvGrpSpPr>
            <a:grpSpLocks/>
          </p:cNvGrpSpPr>
          <p:nvPr/>
        </p:nvGrpSpPr>
        <p:grpSpPr bwMode="auto">
          <a:xfrm>
            <a:off x="899592" y="5229200"/>
            <a:ext cx="1128713" cy="863947"/>
            <a:chOff x="546" y="3158"/>
            <a:chExt cx="711" cy="583"/>
          </a:xfrm>
        </p:grpSpPr>
        <p:sp>
          <p:nvSpPr>
            <p:cNvPr id="102422" name="Rectangle 4"/>
            <p:cNvSpPr>
              <a:spLocks noChangeArrowheads="1"/>
            </p:cNvSpPr>
            <p:nvPr/>
          </p:nvSpPr>
          <p:spPr bwMode="auto">
            <a:xfrm>
              <a:off x="546" y="3158"/>
              <a:ext cx="712" cy="337"/>
            </a:xfrm>
            <a:prstGeom prst="rect">
              <a:avLst/>
            </a:prstGeom>
            <a:solidFill>
              <a:srgbClr val="FFFFFF"/>
            </a:solidFill>
            <a:ln w="1908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2160" tIns="46080" rIns="92160" bIns="46080" anchor="ctr"/>
            <a:lstStyle/>
            <a:p>
              <a:pPr algn="ctr">
                <a:lnSpc>
                  <a:spcPct val="100000"/>
                </a:lnSpc>
                <a:buFont typeface="Arial" charset="0"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sz="1600" b="1">
                  <a:solidFill>
                    <a:srgbClr val="000000"/>
                  </a:solidFill>
                  <a:latin typeface="Arial" charset="0"/>
                </a:rPr>
                <a:t>Bird</a:t>
              </a:r>
            </a:p>
          </p:txBody>
        </p:sp>
        <p:sp>
          <p:nvSpPr>
            <p:cNvPr id="102423" name="Rectangle 5"/>
            <p:cNvSpPr>
              <a:spLocks noChangeArrowheads="1"/>
            </p:cNvSpPr>
            <p:nvPr/>
          </p:nvSpPr>
          <p:spPr bwMode="auto">
            <a:xfrm>
              <a:off x="546" y="3488"/>
              <a:ext cx="712" cy="254"/>
            </a:xfrm>
            <a:prstGeom prst="rect">
              <a:avLst/>
            </a:prstGeom>
            <a:solidFill>
              <a:srgbClr val="FFFFFF"/>
            </a:solidFill>
            <a:ln w="1908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it-IT"/>
            </a:p>
          </p:txBody>
        </p:sp>
      </p:grpSp>
      <p:sp>
        <p:nvSpPr>
          <p:cNvPr id="102405" name="Line 6"/>
          <p:cNvSpPr>
            <a:spLocks noChangeShapeType="1"/>
          </p:cNvSpPr>
          <p:nvPr/>
        </p:nvSpPr>
        <p:spPr bwMode="auto">
          <a:xfrm>
            <a:off x="1457325" y="4725962"/>
            <a:ext cx="1588" cy="503238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06" name="Text Box 7"/>
          <p:cNvSpPr txBox="1">
            <a:spLocks noChangeArrowheads="1"/>
          </p:cNvSpPr>
          <p:nvPr/>
        </p:nvSpPr>
        <p:spPr bwMode="auto">
          <a:xfrm>
            <a:off x="899592" y="5716488"/>
            <a:ext cx="7207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100000"/>
              </a:lnSpc>
              <a:buFont typeface="Lucida Sans Unicode" charset="0"/>
              <a:buNone/>
            </a:pPr>
            <a:r>
              <a:rPr lang="en-GB" sz="1400" dirty="0" err="1">
                <a:solidFill>
                  <a:srgbClr val="000000"/>
                </a:solidFill>
              </a:rPr>
              <a:t>canFly</a:t>
            </a:r>
            <a:endParaRPr lang="en-GB" sz="1400" dirty="0">
              <a:solidFill>
                <a:srgbClr val="000000"/>
              </a:solidFill>
            </a:endParaRPr>
          </a:p>
        </p:txBody>
      </p:sp>
      <p:grpSp>
        <p:nvGrpSpPr>
          <p:cNvPr id="102407" name="Group 8"/>
          <p:cNvGrpSpPr>
            <a:grpSpLocks/>
          </p:cNvGrpSpPr>
          <p:nvPr/>
        </p:nvGrpSpPr>
        <p:grpSpPr bwMode="auto">
          <a:xfrm>
            <a:off x="655638" y="2568575"/>
            <a:ext cx="1550987" cy="538163"/>
            <a:chOff x="413" y="1618"/>
            <a:chExt cx="977" cy="339"/>
          </a:xfrm>
        </p:grpSpPr>
        <p:sp>
          <p:nvSpPr>
            <p:cNvPr id="102420" name="Rectangle 9"/>
            <p:cNvSpPr>
              <a:spLocks noChangeArrowheads="1"/>
            </p:cNvSpPr>
            <p:nvPr/>
          </p:nvSpPr>
          <p:spPr bwMode="auto">
            <a:xfrm>
              <a:off x="413" y="1618"/>
              <a:ext cx="978" cy="196"/>
            </a:xfrm>
            <a:prstGeom prst="rect">
              <a:avLst/>
            </a:prstGeom>
            <a:solidFill>
              <a:srgbClr val="FFFFFF"/>
            </a:solidFill>
            <a:ln w="19080">
              <a:solidFill>
                <a:srgbClr val="B2B2B2"/>
              </a:solidFill>
              <a:miter lim="800000"/>
              <a:headEnd/>
              <a:tailEnd/>
            </a:ln>
          </p:spPr>
          <p:txBody>
            <a:bodyPr wrap="none" lIns="92160" tIns="46080" rIns="92160" bIns="46080" anchor="ctr"/>
            <a:lstStyle/>
            <a:p>
              <a:pPr algn="ctr">
                <a:lnSpc>
                  <a:spcPct val="100000"/>
                </a:lnSpc>
                <a:buClr>
                  <a:srgbClr val="B2B2B2"/>
                </a:buClr>
                <a:buFont typeface="Arial" charset="0"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sz="1600" b="1">
                  <a:solidFill>
                    <a:srgbClr val="B2B2B2"/>
                  </a:solidFill>
                  <a:latin typeface="Arial" charset="0"/>
                </a:rPr>
                <a:t>Object</a:t>
              </a:r>
            </a:p>
          </p:txBody>
        </p:sp>
        <p:sp>
          <p:nvSpPr>
            <p:cNvPr id="102421" name="Rectangle 10"/>
            <p:cNvSpPr>
              <a:spLocks noChangeArrowheads="1"/>
            </p:cNvSpPr>
            <p:nvPr/>
          </p:nvSpPr>
          <p:spPr bwMode="auto">
            <a:xfrm>
              <a:off x="413" y="1810"/>
              <a:ext cx="978" cy="148"/>
            </a:xfrm>
            <a:prstGeom prst="rect">
              <a:avLst/>
            </a:prstGeom>
            <a:solidFill>
              <a:srgbClr val="FFFFFF"/>
            </a:solidFill>
            <a:ln w="19080">
              <a:solidFill>
                <a:srgbClr val="B2B2B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it-IT"/>
            </a:p>
          </p:txBody>
        </p:sp>
      </p:grpSp>
      <p:sp>
        <p:nvSpPr>
          <p:cNvPr id="102408" name="Line 11"/>
          <p:cNvSpPr>
            <a:spLocks noChangeShapeType="1"/>
          </p:cNvSpPr>
          <p:nvPr/>
        </p:nvSpPr>
        <p:spPr bwMode="auto">
          <a:xfrm>
            <a:off x="1438275" y="3319463"/>
            <a:ext cx="11113" cy="461962"/>
          </a:xfrm>
          <a:prstGeom prst="line">
            <a:avLst/>
          </a:prstGeom>
          <a:noFill/>
          <a:ln w="9360">
            <a:solidFill>
              <a:srgbClr val="B2B2B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02409" name="Group 12"/>
          <p:cNvGrpSpPr>
            <a:grpSpLocks/>
          </p:cNvGrpSpPr>
          <p:nvPr/>
        </p:nvGrpSpPr>
        <p:grpSpPr bwMode="auto">
          <a:xfrm>
            <a:off x="666750" y="3736975"/>
            <a:ext cx="1550988" cy="772145"/>
            <a:chOff x="420" y="2354"/>
            <a:chExt cx="977" cy="339"/>
          </a:xfrm>
        </p:grpSpPr>
        <p:sp>
          <p:nvSpPr>
            <p:cNvPr id="102418" name="Rectangle 13"/>
            <p:cNvSpPr>
              <a:spLocks noChangeArrowheads="1"/>
            </p:cNvSpPr>
            <p:nvPr/>
          </p:nvSpPr>
          <p:spPr bwMode="auto">
            <a:xfrm>
              <a:off x="420" y="2354"/>
              <a:ext cx="978" cy="196"/>
            </a:xfrm>
            <a:prstGeom prst="rect">
              <a:avLst/>
            </a:prstGeom>
            <a:solidFill>
              <a:srgbClr val="FFFFFF"/>
            </a:solidFill>
            <a:ln w="1908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2160" tIns="46080" rIns="92160" bIns="46080" anchor="ctr"/>
            <a:lstStyle/>
            <a:p>
              <a:pPr algn="ctr">
                <a:lnSpc>
                  <a:spcPct val="100000"/>
                </a:lnSpc>
                <a:buFont typeface="Arial" charset="0"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sz="1600" b="1">
                  <a:solidFill>
                    <a:srgbClr val="000000"/>
                  </a:solidFill>
                  <a:latin typeface="Arial" charset="0"/>
                </a:rPr>
                <a:t>Vertebrate</a:t>
              </a:r>
            </a:p>
          </p:txBody>
        </p:sp>
        <p:sp>
          <p:nvSpPr>
            <p:cNvPr id="102419" name="Rectangle 14"/>
            <p:cNvSpPr>
              <a:spLocks noChangeArrowheads="1"/>
            </p:cNvSpPr>
            <p:nvPr/>
          </p:nvSpPr>
          <p:spPr bwMode="auto">
            <a:xfrm>
              <a:off x="420" y="2546"/>
              <a:ext cx="978" cy="148"/>
            </a:xfrm>
            <a:prstGeom prst="rect">
              <a:avLst/>
            </a:prstGeom>
            <a:solidFill>
              <a:srgbClr val="FFFFFF"/>
            </a:solidFill>
            <a:ln w="1908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it-IT"/>
            </a:p>
          </p:txBody>
        </p:sp>
      </p:grpSp>
      <p:sp>
        <p:nvSpPr>
          <p:cNvPr id="102410" name="Text Box 15"/>
          <p:cNvSpPr txBox="1">
            <a:spLocks noChangeArrowheads="1"/>
          </p:cNvSpPr>
          <p:nvPr/>
        </p:nvSpPr>
        <p:spPr bwMode="auto">
          <a:xfrm>
            <a:off x="665163" y="4132312"/>
            <a:ext cx="9493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100000"/>
              </a:lnSpc>
              <a:buFont typeface="Lucida Sans Unicode" charset="0"/>
              <a:buNone/>
            </a:pPr>
            <a:r>
              <a:rPr lang="en-GB" sz="1400" dirty="0" err="1">
                <a:solidFill>
                  <a:srgbClr val="000000"/>
                </a:solidFill>
              </a:rPr>
              <a:t>hasSpine</a:t>
            </a:r>
            <a:endParaRPr lang="en-GB" sz="1400" dirty="0">
              <a:solidFill>
                <a:srgbClr val="000000"/>
              </a:solidFill>
            </a:endParaRPr>
          </a:p>
        </p:txBody>
      </p:sp>
      <p:sp>
        <p:nvSpPr>
          <p:cNvPr id="102411" name="AutoShape 16"/>
          <p:cNvSpPr>
            <a:spLocks noChangeArrowheads="1"/>
          </p:cNvSpPr>
          <p:nvPr/>
        </p:nvSpPr>
        <p:spPr bwMode="auto">
          <a:xfrm>
            <a:off x="1296988" y="4500537"/>
            <a:ext cx="293687" cy="238125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102412" name="AutoShape 17"/>
          <p:cNvSpPr>
            <a:spLocks noChangeArrowheads="1"/>
          </p:cNvSpPr>
          <p:nvPr/>
        </p:nvSpPr>
        <p:spPr bwMode="auto">
          <a:xfrm>
            <a:off x="1285875" y="3111500"/>
            <a:ext cx="293688" cy="238125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9360">
            <a:solidFill>
              <a:srgbClr val="B2B2B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102413" name="Rectangle 18"/>
          <p:cNvSpPr>
            <a:spLocks noChangeArrowheads="1"/>
          </p:cNvSpPr>
          <p:nvPr/>
        </p:nvSpPr>
        <p:spPr bwMode="auto">
          <a:xfrm>
            <a:off x="2954338" y="3549650"/>
            <a:ext cx="3146425" cy="1135063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  <a:effectLst>
            <a:outerShdw dist="107933" dir="2700000" algn="ctr" rotWithShape="0">
              <a:srgbClr val="808080"/>
            </a:outerShdw>
          </a:effectLst>
        </p:spPr>
        <p:txBody>
          <a:bodyPr lIns="90360" tIns="44280" rIns="90360" bIns="44280"/>
          <a:lstStyle/>
          <a:p>
            <a:pPr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000" b="1">
                <a:solidFill>
                  <a:srgbClr val="000000"/>
                </a:solidFill>
                <a:latin typeface="Courier New" charset="0"/>
              </a:rPr>
              <a:t>class Vertebrate  {</a:t>
            </a:r>
            <a:br>
              <a:rPr lang="en-GB" sz="2000" b="1">
                <a:solidFill>
                  <a:srgbClr val="000000"/>
                </a:solidFill>
                <a:latin typeface="Courier New" charset="0"/>
              </a:rPr>
            </a:br>
            <a:r>
              <a:rPr lang="en-GB" sz="2000" b="1">
                <a:solidFill>
                  <a:srgbClr val="000000"/>
                </a:solidFill>
                <a:latin typeface="Courier New" charset="0"/>
              </a:rPr>
              <a:t>  …</a:t>
            </a:r>
          </a:p>
          <a:p>
            <a:pPr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000" b="1">
                <a:solidFill>
                  <a:srgbClr val="000000"/>
                </a:solidFill>
                <a:latin typeface="Courier New" charset="0"/>
              </a:rPr>
              <a:t>}</a:t>
            </a:r>
          </a:p>
        </p:txBody>
      </p:sp>
      <p:sp>
        <p:nvSpPr>
          <p:cNvPr id="102414" name="Rectangle 19"/>
          <p:cNvSpPr>
            <a:spLocks noChangeArrowheads="1"/>
          </p:cNvSpPr>
          <p:nvPr/>
        </p:nvSpPr>
        <p:spPr bwMode="auto">
          <a:xfrm>
            <a:off x="2973388" y="4948238"/>
            <a:ext cx="4786312" cy="1135062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  <a:effectLst>
            <a:outerShdw dist="107933" dir="2700000" algn="ctr" rotWithShape="0">
              <a:srgbClr val="808080"/>
            </a:outerShdw>
          </a:effectLst>
        </p:spPr>
        <p:txBody>
          <a:bodyPr lIns="90360" tIns="44280" rIns="90360" bIns="44280"/>
          <a:lstStyle/>
          <a:p>
            <a:pPr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000" b="1">
                <a:solidFill>
                  <a:srgbClr val="000000"/>
                </a:solidFill>
                <a:latin typeface="Courier New" charset="0"/>
              </a:rPr>
              <a:t>class Bird </a:t>
            </a:r>
            <a:r>
              <a:rPr lang="en-GB" sz="2000" b="1">
                <a:solidFill>
                  <a:srgbClr val="FF6633"/>
                </a:solidFill>
                <a:latin typeface="Courier New" charset="0"/>
              </a:rPr>
              <a:t>extends</a:t>
            </a:r>
            <a:r>
              <a:rPr lang="en-GB" sz="2000" b="1">
                <a:solidFill>
                  <a:srgbClr val="000000"/>
                </a:solidFill>
                <a:latin typeface="Courier New" charset="0"/>
              </a:rPr>
              <a:t> Vertebrate{</a:t>
            </a:r>
            <a:br>
              <a:rPr lang="en-GB" sz="2000" b="1">
                <a:solidFill>
                  <a:srgbClr val="000000"/>
                </a:solidFill>
                <a:latin typeface="Courier New" charset="0"/>
              </a:rPr>
            </a:br>
            <a:r>
              <a:rPr lang="en-GB" sz="2000" b="1">
                <a:solidFill>
                  <a:srgbClr val="000000"/>
                </a:solidFill>
                <a:latin typeface="Courier New" charset="0"/>
              </a:rPr>
              <a:t>  …</a:t>
            </a:r>
          </a:p>
          <a:p>
            <a:pPr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000" b="1">
                <a:solidFill>
                  <a:srgbClr val="000000"/>
                </a:solidFill>
                <a:latin typeface="Courier New" charset="0"/>
              </a:rPr>
              <a:t>}</a:t>
            </a:r>
          </a:p>
        </p:txBody>
      </p:sp>
      <p:sp>
        <p:nvSpPr>
          <p:cNvPr id="102415" name="AutoShape 20"/>
          <p:cNvSpPr>
            <a:spLocks/>
          </p:cNvSpPr>
          <p:nvPr/>
        </p:nvSpPr>
        <p:spPr bwMode="auto">
          <a:xfrm rot="5400000">
            <a:off x="5265738" y="2220912"/>
            <a:ext cx="636588" cy="2424113"/>
          </a:xfrm>
          <a:prstGeom prst="rightBrace">
            <a:avLst>
              <a:gd name="adj1" fmla="val 31733"/>
              <a:gd name="adj2" fmla="val 50000"/>
            </a:avLst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02416" name="Text Box 21"/>
          <p:cNvSpPr txBox="1">
            <a:spLocks noChangeArrowheads="1"/>
          </p:cNvSpPr>
          <p:nvPr/>
        </p:nvSpPr>
        <p:spPr bwMode="auto">
          <a:xfrm>
            <a:off x="4452938" y="2990850"/>
            <a:ext cx="2314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100000"/>
              </a:lnSpc>
              <a:buClr>
                <a:srgbClr val="B2B2B2"/>
              </a:buClr>
              <a:buFont typeface="Courier New" charset="0"/>
              <a:buNone/>
            </a:pPr>
            <a:r>
              <a:rPr lang="en-GB" sz="2000" b="1">
                <a:solidFill>
                  <a:srgbClr val="B2B2B2"/>
                </a:solidFill>
                <a:latin typeface="Courier New" charset="0"/>
              </a:rPr>
              <a:t>extends Object</a:t>
            </a:r>
          </a:p>
        </p:txBody>
      </p:sp>
      <p:sp>
        <p:nvSpPr>
          <p:cNvPr id="102417" name="Text Box 22"/>
          <p:cNvSpPr txBox="1">
            <a:spLocks noChangeArrowheads="1"/>
          </p:cNvSpPr>
          <p:nvPr/>
        </p:nvSpPr>
        <p:spPr bwMode="auto">
          <a:xfrm>
            <a:off x="6869113" y="2984500"/>
            <a:ext cx="13033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100000"/>
              </a:lnSpc>
              <a:buClr>
                <a:srgbClr val="FF9900"/>
              </a:buClr>
              <a:buFont typeface="Lucida Sans Unicode" charset="0"/>
              <a:buNone/>
            </a:pPr>
            <a:r>
              <a:rPr lang="en-GB" sz="2000">
                <a:solidFill>
                  <a:srgbClr val="FF6633"/>
                </a:solidFill>
              </a:rPr>
              <a:t>Implicitly</a:t>
            </a: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103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Lucida Sans Unicode" charset="0"/>
                <a:cs typeface="Lucida Sans Unicode" charset="0"/>
              </a:rPr>
              <a:t>Class </a:t>
            </a:r>
            <a:r>
              <a:rPr lang="en-US" dirty="0">
                <a:latin typeface="Courier New"/>
                <a:cs typeface="Courier New"/>
              </a:rPr>
              <a:t>Object</a:t>
            </a:r>
          </a:p>
        </p:txBody>
      </p:sp>
      <p:sp>
        <p:nvSpPr>
          <p:cNvPr id="104451" name="Rectangle 1039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Each instance can be seen as an Object instance</a:t>
            </a:r>
            <a:r>
              <a:rPr lang="en-US" dirty="0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 </a:t>
            </a:r>
            <a:r>
              <a:rPr lang="en-US" dirty="0">
                <a:latin typeface="Lucida Sans Unicode" charset="0"/>
                <a:cs typeface="Lucida Sans Unicode" charset="0"/>
              </a:rPr>
              <a:t>(see Collection</a:t>
            </a:r>
            <a:r>
              <a:rPr lang="en-US" dirty="0" smtClean="0">
                <a:latin typeface="Lucida Sans Unicode" charset="0"/>
                <a:cs typeface="Lucida Sans Unicode" charset="0"/>
              </a:rPr>
              <a:t>)</a:t>
            </a:r>
            <a:endParaRPr lang="en-US" dirty="0">
              <a:latin typeface="Lucida Sans Unicode" charset="0"/>
              <a:cs typeface="Lucida Sans Unicode" charset="0"/>
            </a:endParaRPr>
          </a:p>
          <a:p>
            <a:pPr eaLnBrk="1" hangingPunct="1"/>
            <a:r>
              <a:rPr lang="en-US" dirty="0">
                <a:latin typeface="Lucida Sans Unicode" charset="0"/>
                <a:cs typeface="Lucida Sans Unicode" charset="0"/>
              </a:rPr>
              <a:t>Class </a:t>
            </a:r>
            <a:r>
              <a:rPr lang="en-US" b="1" dirty="0">
                <a:latin typeface="Courier New"/>
                <a:cs typeface="Courier New"/>
              </a:rPr>
              <a:t>Object</a:t>
            </a:r>
            <a:r>
              <a:rPr lang="en-US" dirty="0">
                <a:latin typeface="Lucida Sans Unicode" charset="0"/>
                <a:cs typeface="Lucida Sans Unicode" charset="0"/>
              </a:rPr>
              <a:t> defines some </a:t>
            </a:r>
            <a:r>
              <a:rPr lang="en-US" dirty="0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services</a:t>
            </a:r>
            <a:r>
              <a:rPr lang="en-US" dirty="0">
                <a:latin typeface="Lucida Sans Unicode" charset="0"/>
                <a:cs typeface="Lucida Sans Unicode" charset="0"/>
              </a:rPr>
              <a:t>, which are useful for all classes</a:t>
            </a:r>
          </a:p>
          <a:p>
            <a:pPr eaLnBrk="1" hangingPunct="1"/>
            <a:r>
              <a:rPr lang="en-US" dirty="0">
                <a:latin typeface="Lucida Sans Unicode" charset="0"/>
                <a:cs typeface="Lucida Sans Unicode" charset="0"/>
              </a:rPr>
              <a:t>Often, they are </a:t>
            </a:r>
            <a:r>
              <a:rPr lang="en-US" dirty="0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overridden</a:t>
            </a:r>
            <a:r>
              <a:rPr lang="en-US" dirty="0">
                <a:latin typeface="Lucida Sans Unicode" charset="0"/>
                <a:cs typeface="Lucida Sans Unicode" charset="0"/>
              </a:rPr>
              <a:t> in sub-classes</a:t>
            </a:r>
          </a:p>
        </p:txBody>
      </p:sp>
      <p:sp>
        <p:nvSpPr>
          <p:cNvPr id="104449" name="Segnaposto numero diapositiva 6"/>
          <p:cNvSpPr>
            <a:spLocks noGrp="1"/>
          </p:cNvSpPr>
          <p:nvPr>
            <p:ph type="sldNum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09B6DEE6-7C95-764D-A3EE-87F3F44D0C6C}" type="slidenum">
              <a:rPr lang="it-IT" sz="1200">
                <a:solidFill>
                  <a:srgbClr val="000000"/>
                </a:solidFill>
              </a:rPr>
              <a:pPr eaLnBrk="1" hangingPunct="1"/>
              <a:t>60</a:t>
            </a:fld>
            <a:endParaRPr lang="it-IT" sz="1200">
              <a:solidFill>
                <a:srgbClr val="000000"/>
              </a:solidFill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2915816" y="4797152"/>
            <a:ext cx="3338513" cy="1344613"/>
            <a:chOff x="5378450" y="4267200"/>
            <a:chExt cx="3338513" cy="134461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04454" name="Rectangle 1042"/>
            <p:cNvSpPr>
              <a:spLocks noChangeArrowheads="1"/>
            </p:cNvSpPr>
            <p:nvPr/>
          </p:nvSpPr>
          <p:spPr bwMode="auto">
            <a:xfrm>
              <a:off x="5391150" y="4268788"/>
              <a:ext cx="3325813" cy="1343025"/>
            </a:xfrm>
            <a:prstGeom prst="rect">
              <a:avLst/>
            </a:prstGeom>
            <a:grpFill/>
            <a:ln w="28575">
              <a:solidFill>
                <a:schemeClr val="accent6">
                  <a:lumMod val="75000"/>
                </a:schemeClr>
              </a:solidFill>
              <a:miter lim="800000"/>
              <a:headEnd type="none" w="sm" len="sm"/>
              <a:tailEnd/>
            </a:ln>
          </p:spPr>
          <p:txBody>
            <a:bodyPr wrap="none" anchor="ctr"/>
            <a:lstStyle/>
            <a:p>
              <a:endParaRPr lang="it-IT">
                <a:solidFill>
                  <a:schemeClr val="tx1"/>
                </a:solidFill>
              </a:endParaRPr>
            </a:p>
          </p:txBody>
        </p:sp>
        <p:sp>
          <p:nvSpPr>
            <p:cNvPr id="104455" name="Line 1044"/>
            <p:cNvSpPr>
              <a:spLocks noChangeShapeType="1"/>
            </p:cNvSpPr>
            <p:nvPr/>
          </p:nvSpPr>
          <p:spPr bwMode="auto">
            <a:xfrm>
              <a:off x="5378450" y="4741863"/>
              <a:ext cx="3338513" cy="0"/>
            </a:xfrm>
            <a:prstGeom prst="line">
              <a:avLst/>
            </a:prstGeom>
            <a:grpFill/>
            <a:ln w="28575">
              <a:solidFill>
                <a:srgbClr val="E46C0A"/>
              </a:solidFill>
              <a:round/>
              <a:headEnd type="none" w="sm" len="sm"/>
              <a:tailEnd/>
            </a:ln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456" name="Text Box 1045"/>
            <p:cNvSpPr txBox="1">
              <a:spLocks noChangeArrowheads="1"/>
            </p:cNvSpPr>
            <p:nvPr/>
          </p:nvSpPr>
          <p:spPr bwMode="auto">
            <a:xfrm>
              <a:off x="6562725" y="4267200"/>
              <a:ext cx="1146175" cy="468313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bg1"/>
                  </a:solidFill>
                  <a:latin typeface="Lucida Sans Unicode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bg1"/>
                  </a:solidFill>
                  <a:latin typeface="Lucida Sans Unicode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bg1"/>
                  </a:solidFill>
                  <a:latin typeface="Lucida Sans Unicode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bg1"/>
                  </a:solidFill>
                  <a:latin typeface="Lucida Sans Unicode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bg1"/>
                  </a:solidFill>
                  <a:latin typeface="Lucida Sans Unicode" charset="0"/>
                  <a:ea typeface="ＭＳ Ｐゴシック" charset="0"/>
                </a:defRPr>
              </a:lvl5pPr>
              <a:lvl6pPr marL="2514600" indent="-228600" eaLnBrk="0" fontAlgn="base" hangingPunct="0">
                <a:lnSpc>
                  <a:spcPct val="10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sz="2400">
                  <a:solidFill>
                    <a:schemeClr val="bg1"/>
                  </a:solidFill>
                  <a:latin typeface="Lucida Sans Unicode" charset="0"/>
                  <a:ea typeface="ＭＳ Ｐゴシック" charset="0"/>
                </a:defRPr>
              </a:lvl6pPr>
              <a:lvl7pPr marL="2971800" indent="-228600" eaLnBrk="0" fontAlgn="base" hangingPunct="0">
                <a:lnSpc>
                  <a:spcPct val="10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sz="2400">
                  <a:solidFill>
                    <a:schemeClr val="bg1"/>
                  </a:solidFill>
                  <a:latin typeface="Lucida Sans Unicode" charset="0"/>
                  <a:ea typeface="ＭＳ Ｐゴシック" charset="0"/>
                </a:defRPr>
              </a:lvl7pPr>
              <a:lvl8pPr marL="3429000" indent="-228600" eaLnBrk="0" fontAlgn="base" hangingPunct="0">
                <a:lnSpc>
                  <a:spcPct val="10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sz="2400">
                  <a:solidFill>
                    <a:schemeClr val="bg1"/>
                  </a:solidFill>
                  <a:latin typeface="Lucida Sans Unicode" charset="0"/>
                  <a:ea typeface="ＭＳ Ｐゴシック" charset="0"/>
                </a:defRPr>
              </a:lvl8pPr>
              <a:lvl9pPr marL="3886200" indent="-228600" eaLnBrk="0" fontAlgn="base" hangingPunct="0">
                <a:lnSpc>
                  <a:spcPct val="10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sz="2400">
                  <a:solidFill>
                    <a:schemeClr val="bg1"/>
                  </a:solidFill>
                  <a:latin typeface="Lucida Sans Unicode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it-IT" b="1" dirty="0">
                  <a:solidFill>
                    <a:schemeClr val="tx1"/>
                  </a:solidFill>
                </a:rPr>
                <a:t>Object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04457" name="Text Box 1046"/>
            <p:cNvSpPr txBox="1">
              <a:spLocks noChangeArrowheads="1"/>
            </p:cNvSpPr>
            <p:nvPr/>
          </p:nvSpPr>
          <p:spPr bwMode="auto">
            <a:xfrm>
              <a:off x="5449888" y="4837113"/>
              <a:ext cx="3178175" cy="7207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bg1"/>
                  </a:solidFill>
                  <a:latin typeface="Lucida Sans Unicode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bg1"/>
                  </a:solidFill>
                  <a:latin typeface="Lucida Sans Unicode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bg1"/>
                  </a:solidFill>
                  <a:latin typeface="Lucida Sans Unicode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bg1"/>
                  </a:solidFill>
                  <a:latin typeface="Lucida Sans Unicode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bg1"/>
                  </a:solidFill>
                  <a:latin typeface="Lucida Sans Unicode" charset="0"/>
                  <a:ea typeface="ＭＳ Ｐゴシック" charset="0"/>
                </a:defRPr>
              </a:lvl5pPr>
              <a:lvl6pPr marL="2514600" indent="-228600" eaLnBrk="0" fontAlgn="base" hangingPunct="0">
                <a:lnSpc>
                  <a:spcPct val="10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sz="2400">
                  <a:solidFill>
                    <a:schemeClr val="bg1"/>
                  </a:solidFill>
                  <a:latin typeface="Lucida Sans Unicode" charset="0"/>
                  <a:ea typeface="ＭＳ Ｐゴシック" charset="0"/>
                </a:defRPr>
              </a:lvl6pPr>
              <a:lvl7pPr marL="2971800" indent="-228600" eaLnBrk="0" fontAlgn="base" hangingPunct="0">
                <a:lnSpc>
                  <a:spcPct val="10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sz="2400">
                  <a:solidFill>
                    <a:schemeClr val="bg1"/>
                  </a:solidFill>
                  <a:latin typeface="Lucida Sans Unicode" charset="0"/>
                  <a:ea typeface="ＭＳ Ｐゴシック" charset="0"/>
                </a:defRPr>
              </a:lvl7pPr>
              <a:lvl8pPr marL="3429000" indent="-228600" eaLnBrk="0" fontAlgn="base" hangingPunct="0">
                <a:lnSpc>
                  <a:spcPct val="10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sz="2400">
                  <a:solidFill>
                    <a:schemeClr val="bg1"/>
                  </a:solidFill>
                  <a:latin typeface="Lucida Sans Unicode" charset="0"/>
                  <a:ea typeface="ＭＳ Ｐゴシック" charset="0"/>
                </a:defRPr>
              </a:lvl8pPr>
              <a:lvl9pPr marL="3886200" indent="-228600" eaLnBrk="0" fontAlgn="base" hangingPunct="0">
                <a:lnSpc>
                  <a:spcPct val="10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sz="2400">
                  <a:solidFill>
                    <a:schemeClr val="bg1"/>
                  </a:solidFill>
                  <a:latin typeface="Lucida Sans Unicode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it-IT" sz="2000" dirty="0" err="1">
                  <a:solidFill>
                    <a:schemeClr val="tx1"/>
                  </a:solidFill>
                </a:rPr>
                <a:t>toString</a:t>
              </a:r>
              <a:r>
                <a:rPr lang="it-IT" sz="2000" dirty="0">
                  <a:solidFill>
                    <a:schemeClr val="tx1"/>
                  </a:solidFill>
                </a:rPr>
                <a:t>() : </a:t>
              </a:r>
              <a:r>
                <a:rPr lang="it-IT" sz="2000" dirty="0" err="1">
                  <a:solidFill>
                    <a:schemeClr val="tx1"/>
                  </a:solidFill>
                </a:rPr>
                <a:t>String</a:t>
              </a:r>
              <a:endParaRPr lang="it-IT" sz="2000" dirty="0">
                <a:solidFill>
                  <a:schemeClr val="tx1"/>
                </a:solidFill>
              </a:endParaRPr>
            </a:p>
            <a:p>
              <a:pPr eaLnBrk="1" hangingPunct="1"/>
              <a:r>
                <a:rPr lang="it-IT" sz="2000" dirty="0" err="1">
                  <a:solidFill>
                    <a:schemeClr val="tx1"/>
                  </a:solidFill>
                </a:rPr>
                <a:t>equals</a:t>
              </a:r>
              <a:r>
                <a:rPr lang="it-IT" sz="2000" dirty="0">
                  <a:solidFill>
                    <a:schemeClr val="tx1"/>
                  </a:solidFill>
                </a:rPr>
                <a:t>(Object) : </a:t>
              </a:r>
              <a:r>
                <a:rPr lang="it-IT" sz="2000" dirty="0" err="1">
                  <a:solidFill>
                    <a:schemeClr val="tx1"/>
                  </a:solidFill>
                </a:rPr>
                <a:t>boolean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auto">
          <a:xfrm>
            <a:off x="467544" y="2420888"/>
            <a:ext cx="8424936" cy="345638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lIns="90360" tIns="44280" rIns="90360" bIns="44280" rtlCol="0" anchor="ctr"/>
          <a:lstStyle/>
          <a:p>
            <a:pPr algn="ctr"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000" b="1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06497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Lucida Sans Unicode" charset="0"/>
                <a:cs typeface="Lucida Sans Unicode" charset="0"/>
              </a:rPr>
              <a:t>Objects’ collections</a:t>
            </a:r>
          </a:p>
        </p:txBody>
      </p:sp>
      <p:sp>
        <p:nvSpPr>
          <p:cNvPr id="106498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Lucida Sans Unicode" charset="0"/>
                <a:cs typeface="Lucida Sans Unicode" charset="0"/>
              </a:rPr>
              <a:t>References of type </a:t>
            </a:r>
            <a:r>
              <a:rPr lang="en-US" b="1" dirty="0">
                <a:solidFill>
                  <a:srgbClr val="FF6600"/>
                </a:solidFill>
                <a:latin typeface="Courier New" charset="0"/>
                <a:cs typeface="Courier New" charset="0"/>
              </a:rPr>
              <a:t>Object </a:t>
            </a:r>
            <a:r>
              <a:rPr lang="en-US" dirty="0">
                <a:latin typeface="Lucida Sans Unicode" charset="0"/>
                <a:cs typeface="Lucida Sans Unicode" charset="0"/>
              </a:rPr>
              <a:t>play a role similar to </a:t>
            </a:r>
            <a:r>
              <a:rPr lang="en-US" b="1" dirty="0">
                <a:latin typeface="Courier New" charset="0"/>
                <a:cs typeface="Courier New" charset="0"/>
              </a:rPr>
              <a:t>void*</a:t>
            </a:r>
            <a:r>
              <a:rPr lang="en-US" dirty="0">
                <a:latin typeface="Lucida Sans Unicode" charset="0"/>
                <a:cs typeface="Lucida Sans Unicode" charset="0"/>
              </a:rPr>
              <a:t> in C</a:t>
            </a:r>
          </a:p>
          <a:p>
            <a:pPr lvl="1">
              <a:buFont typeface="Wingdings" charset="0"/>
              <a:buNone/>
            </a:pPr>
            <a:r>
              <a:rPr lang="en-US" sz="2400" b="1" dirty="0">
                <a:latin typeface="Courier New" charset="0"/>
                <a:cs typeface="Courier New" charset="0"/>
              </a:rPr>
              <a:t>Object [] objects = new Object[3];</a:t>
            </a:r>
          </a:p>
          <a:p>
            <a:pPr lvl="1">
              <a:buFont typeface="Wingdings" charset="0"/>
              <a:buNone/>
            </a:pPr>
            <a:r>
              <a:rPr lang="en-US" sz="2400" b="1" dirty="0">
                <a:latin typeface="Courier New" charset="0"/>
                <a:cs typeface="Courier New" charset="0"/>
              </a:rPr>
              <a:t>objects[0</a:t>
            </a:r>
            <a:r>
              <a:rPr lang="en-US" sz="2400" b="1" dirty="0" smtClean="0">
                <a:latin typeface="Courier New" charset="0"/>
                <a:cs typeface="Courier New" charset="0"/>
              </a:rPr>
              <a:t>]= </a:t>
            </a:r>
            <a:r>
              <a:rPr lang="en-US" sz="2400" b="1" dirty="0">
                <a:latin typeface="Courier New" charset="0"/>
                <a:cs typeface="Courier New" charset="0"/>
              </a:rPr>
              <a:t>"First!”;</a:t>
            </a:r>
          </a:p>
          <a:p>
            <a:pPr lvl="1">
              <a:buFont typeface="Wingdings" charset="0"/>
              <a:buNone/>
            </a:pPr>
            <a:r>
              <a:rPr lang="en-US" sz="2400" b="1" dirty="0">
                <a:latin typeface="Courier New" charset="0"/>
                <a:cs typeface="Courier New" charset="0"/>
              </a:rPr>
              <a:t>objects[2</a:t>
            </a:r>
            <a:r>
              <a:rPr lang="en-US" sz="2400" b="1" dirty="0" smtClean="0">
                <a:latin typeface="Courier New" charset="0"/>
                <a:cs typeface="Courier New" charset="0"/>
              </a:rPr>
              <a:t>]= new </a:t>
            </a:r>
            <a:r>
              <a:rPr lang="en-US" sz="2400" b="1" dirty="0">
                <a:latin typeface="Courier New" charset="0"/>
                <a:cs typeface="Courier New" charset="0"/>
              </a:rPr>
              <a:t>Employee("</a:t>
            </a:r>
            <a:r>
              <a:rPr lang="en-US" sz="2400" b="1" dirty="0" err="1">
                <a:latin typeface="Courier New" charset="0"/>
                <a:cs typeface="Courier New" charset="0"/>
              </a:rPr>
              <a:t>Luca","Verdi</a:t>
            </a:r>
            <a:r>
              <a:rPr lang="en-US" sz="2400" b="1" dirty="0">
                <a:latin typeface="Courier New" charset="0"/>
                <a:cs typeface="Courier New" charset="0"/>
              </a:rPr>
              <a:t>");</a:t>
            </a:r>
          </a:p>
          <a:p>
            <a:pPr lvl="1">
              <a:buFont typeface="Wingdings" charset="0"/>
              <a:buNone/>
            </a:pPr>
            <a:r>
              <a:rPr lang="en-US" sz="2400" b="1" dirty="0">
                <a:latin typeface="Courier New" charset="0"/>
                <a:cs typeface="Courier New" charset="0"/>
              </a:rPr>
              <a:t>objects[1</a:t>
            </a:r>
            <a:r>
              <a:rPr lang="en-US" sz="2400" b="1" dirty="0" smtClean="0">
                <a:latin typeface="Courier New" charset="0"/>
                <a:cs typeface="Courier New" charset="0"/>
              </a:rPr>
              <a:t>]= </a:t>
            </a:r>
            <a:r>
              <a:rPr lang="en-US" sz="2400" b="1" dirty="0">
                <a:latin typeface="Courier New" charset="0"/>
                <a:cs typeface="Courier New" charset="0"/>
              </a:rPr>
              <a:t>new Integer(2);</a:t>
            </a:r>
          </a:p>
          <a:p>
            <a:pPr lvl="1">
              <a:buFont typeface="Wingdings" charset="0"/>
              <a:buNone/>
            </a:pPr>
            <a:r>
              <a:rPr lang="en-US" sz="2400" b="1" dirty="0">
                <a:latin typeface="Courier New" charset="0"/>
                <a:cs typeface="Courier New" charset="0"/>
              </a:rPr>
              <a:t>for(Object </a:t>
            </a:r>
            <a:r>
              <a:rPr lang="en-US" sz="2400" b="1" dirty="0" err="1">
                <a:latin typeface="Courier New" charset="0"/>
                <a:cs typeface="Courier New" charset="0"/>
              </a:rPr>
              <a:t>obj</a:t>
            </a:r>
            <a:r>
              <a:rPr lang="en-US" sz="2400" b="1" dirty="0">
                <a:latin typeface="Courier New" charset="0"/>
                <a:cs typeface="Courier New" charset="0"/>
              </a:rPr>
              <a:t> : objects){</a:t>
            </a:r>
          </a:p>
          <a:p>
            <a:pPr lvl="1">
              <a:buFont typeface="Wingdings" charset="0"/>
              <a:buNone/>
            </a:pPr>
            <a:r>
              <a:rPr lang="en-US" sz="2400" b="1" dirty="0">
                <a:latin typeface="Courier New" charset="0"/>
                <a:cs typeface="Courier New" charset="0"/>
              </a:rPr>
              <a:t>  </a:t>
            </a:r>
            <a:r>
              <a:rPr lang="en-US" sz="2400" b="1" dirty="0" err="1">
                <a:latin typeface="Courier New" charset="0"/>
                <a:cs typeface="Courier New" charset="0"/>
              </a:rPr>
              <a:t>System.</a:t>
            </a:r>
            <a:r>
              <a:rPr lang="en-US" sz="2400" b="1" i="1" dirty="0" err="1">
                <a:latin typeface="Courier New" charset="0"/>
                <a:cs typeface="Courier New" charset="0"/>
              </a:rPr>
              <a:t>out.println</a:t>
            </a:r>
            <a:r>
              <a:rPr lang="en-US" sz="2400" b="1" i="1" dirty="0">
                <a:latin typeface="Courier New" charset="0"/>
                <a:cs typeface="Courier New" charset="0"/>
              </a:rPr>
              <a:t>(</a:t>
            </a:r>
            <a:r>
              <a:rPr lang="en-US" sz="2400" b="1" i="1" dirty="0" err="1">
                <a:latin typeface="Courier New" charset="0"/>
                <a:cs typeface="Courier New" charset="0"/>
              </a:rPr>
              <a:t>obj</a:t>
            </a:r>
            <a:r>
              <a:rPr lang="en-US" sz="2400" b="1" i="1" dirty="0">
                <a:latin typeface="Courier New" charset="0"/>
                <a:cs typeface="Courier New" charset="0"/>
              </a:rPr>
              <a:t>);</a:t>
            </a:r>
          </a:p>
          <a:p>
            <a:pPr lvl="1">
              <a:buFont typeface="Wingdings" charset="0"/>
              <a:buNone/>
            </a:pPr>
            <a:r>
              <a:rPr lang="en-US" sz="2400" b="1" dirty="0">
                <a:latin typeface="Courier New" charset="0"/>
                <a:cs typeface="Courier New" charset="0"/>
              </a:rPr>
              <a:t>}</a:t>
            </a:r>
          </a:p>
          <a:p>
            <a:pPr lvl="1">
              <a:buFont typeface="Wingdings" charset="0"/>
              <a:buNone/>
            </a:pPr>
            <a:endParaRPr lang="en-US" sz="3200" dirty="0">
              <a:latin typeface="Lucida Sans Unicode" charset="0"/>
              <a:cs typeface="Lucida Sans Unicode" charset="0"/>
            </a:endParaRPr>
          </a:p>
        </p:txBody>
      </p:sp>
      <p:sp>
        <p:nvSpPr>
          <p:cNvPr id="106499" name="Rounded Rectangular Callout 6"/>
          <p:cNvSpPr>
            <a:spLocks noChangeArrowheads="1"/>
          </p:cNvSpPr>
          <p:nvPr/>
        </p:nvSpPr>
        <p:spPr bwMode="auto">
          <a:xfrm>
            <a:off x="6228184" y="4941168"/>
            <a:ext cx="2759224" cy="1075490"/>
          </a:xfrm>
          <a:prstGeom prst="wedgeRoundRectCallout">
            <a:avLst>
              <a:gd name="adj1" fmla="val -71824"/>
              <a:gd name="adj2" fmla="val -116370"/>
              <a:gd name="adj3" fmla="val 16667"/>
            </a:avLst>
          </a:prstGeom>
          <a:solidFill>
            <a:srgbClr val="E6E0EC"/>
          </a:solidFill>
          <a:ln w="12700" cmpd="sng">
            <a:solidFill>
              <a:schemeClr val="accent4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08000" tIns="63000" rIns="108000" bIns="63000">
            <a:spAutoFit/>
          </a:bodyPr>
          <a:lstStyle/>
          <a:p>
            <a:pPr algn="ctr">
              <a:lnSpc>
                <a:spcPct val="91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>
                <a:solidFill>
                  <a:srgbClr val="000000"/>
                </a:solidFill>
                <a:cs typeface="Lucida Sans Unicode" charset="0"/>
              </a:rPr>
              <a:t>Wrappers must be used instead of primitive types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Lucida Sans Unicode" charset="0"/>
                <a:cs typeface="Lucida Sans Unicode" charset="0"/>
              </a:rPr>
              <a:t>Company Employees</a:t>
            </a:r>
            <a:endParaRPr lang="en-US" dirty="0">
              <a:latin typeface="Lucida Sans Unicode" charset="0"/>
              <a:cs typeface="Lucida Sans Unicode" charset="0"/>
            </a:endParaRPr>
          </a:p>
        </p:txBody>
      </p:sp>
      <p:pic>
        <p:nvPicPr>
          <p:cNvPr id="114690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6238" y="1123950"/>
            <a:ext cx="2951162" cy="5072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Upcast to Object</a:t>
            </a:r>
          </a:p>
        </p:txBody>
      </p:sp>
      <p:sp>
        <p:nvSpPr>
          <p:cNvPr id="135171" name="Rectangle 2"/>
          <p:cNvSpPr>
            <a:spLocks noGrp="1" noChangeArrowheads="1"/>
          </p:cNvSpPr>
          <p:nvPr>
            <p:ph idx="1"/>
          </p:nvPr>
        </p:nvSpPr>
        <p:spPr>
          <a:xfrm>
            <a:off x="609600" y="1295400"/>
            <a:ext cx="8224838" cy="3781421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Each class is either directly or indirectly a subclass of </a:t>
            </a:r>
            <a:r>
              <a:rPr lang="en-GB" b="1" dirty="0">
                <a:latin typeface="Courier New" charset="0"/>
                <a:cs typeface="Courier New" charset="0"/>
              </a:rPr>
              <a:t>Object</a:t>
            </a: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It is always possible to </a:t>
            </a:r>
            <a:r>
              <a:rPr lang="en-GB" dirty="0" err="1">
                <a:latin typeface="Lucida Sans Unicode" charset="0"/>
                <a:cs typeface="Lucida Sans Unicode" charset="0"/>
              </a:rPr>
              <a:t>upcast</a:t>
            </a:r>
            <a:r>
              <a:rPr lang="en-GB" dirty="0">
                <a:latin typeface="Lucida Sans Unicode" charset="0"/>
                <a:cs typeface="Lucida Sans Unicode" charset="0"/>
              </a:rPr>
              <a:t> any instance to Object type (see Collection)</a:t>
            </a:r>
          </a:p>
          <a:p>
            <a:pPr lvl="1" eaLnBrk="1" hangingPunct="1">
              <a:lnSpc>
                <a:spcPct val="100000"/>
              </a:lnSpc>
              <a:spcBef>
                <a:spcPts val="25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1000" dirty="0">
              <a:latin typeface="Lucida Sans Unicode" charset="0"/>
              <a:ea typeface="Lucida Sans Unicode" charset="0"/>
              <a:cs typeface="Lucida Sans Unicode" charset="0"/>
            </a:endParaRP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spcAft>
                <a:spcPts val="150"/>
              </a:spcAft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 err="1">
                <a:latin typeface="Courier New" charset="0"/>
                <a:cs typeface="Lucida Sans Unicode" charset="0"/>
              </a:rPr>
              <a:t>AnyClass</a:t>
            </a:r>
            <a:r>
              <a:rPr lang="en-GB" sz="2400" b="1" dirty="0">
                <a:latin typeface="Courier New" charset="0"/>
                <a:cs typeface="Lucida Sans Unicode" charset="0"/>
              </a:rPr>
              <a:t> foo = new </a:t>
            </a:r>
            <a:r>
              <a:rPr lang="en-GB" sz="2400" b="1" dirty="0" err="1">
                <a:latin typeface="Courier New" charset="0"/>
                <a:cs typeface="Lucida Sans Unicode" charset="0"/>
              </a:rPr>
              <a:t>AnyClass</a:t>
            </a:r>
            <a:r>
              <a:rPr lang="en-GB" sz="2400" b="1" dirty="0">
                <a:latin typeface="Courier New" charset="0"/>
                <a:cs typeface="Lucida Sans Unicode" charset="0"/>
              </a:rPr>
              <a:t>();</a:t>
            </a: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spcAft>
                <a:spcPts val="150"/>
              </a:spcAft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>
                <a:latin typeface="Courier New" charset="0"/>
                <a:cs typeface="Lucida Sans Unicode" charset="0"/>
              </a:rPr>
              <a:t>Object </a:t>
            </a:r>
            <a:r>
              <a:rPr lang="en-GB" sz="2400" b="1" dirty="0" err="1">
                <a:latin typeface="Courier New" charset="0"/>
                <a:cs typeface="Lucida Sans Unicode" charset="0"/>
              </a:rPr>
              <a:t>obj</a:t>
            </a:r>
            <a:r>
              <a:rPr lang="en-GB" sz="2400" b="1" dirty="0">
                <a:latin typeface="Courier New" charset="0"/>
                <a:cs typeface="Lucida Sans Unicode" charset="0"/>
              </a:rPr>
              <a:t>;</a:t>
            </a: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spcAft>
                <a:spcPts val="150"/>
              </a:spcAft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 err="1">
                <a:latin typeface="Courier New" charset="0"/>
                <a:cs typeface="Lucida Sans Unicode" charset="0"/>
              </a:rPr>
              <a:t>obj</a:t>
            </a:r>
            <a:r>
              <a:rPr lang="en-GB" sz="2400" b="1" dirty="0">
                <a:latin typeface="Courier New" charset="0"/>
                <a:cs typeface="Lucida Sans Unicode" charset="0"/>
              </a:rPr>
              <a:t> = foo;</a:t>
            </a:r>
          </a:p>
        </p:txBody>
      </p:sp>
      <p:sp>
        <p:nvSpPr>
          <p:cNvPr id="135169" name="Segnaposto numero diapositiva 5"/>
          <p:cNvSpPr>
            <a:spLocks noGrp="1"/>
          </p:cNvSpPr>
          <p:nvPr>
            <p:ph type="sldNum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CCFC5344-98A5-CE49-B3C9-2367CA3D4F75}" type="slidenum">
              <a:rPr lang="en-GB" sz="1200">
                <a:solidFill>
                  <a:srgbClr val="000000"/>
                </a:solidFill>
              </a:rPr>
              <a:pPr eaLnBrk="1" hangingPunct="1"/>
              <a:t>63</a:t>
            </a:fld>
            <a:endParaRPr lang="en-GB" sz="12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ourier New"/>
                <a:cs typeface="Courier New"/>
              </a:rPr>
              <a:t>Object</a:t>
            </a:r>
            <a:r>
              <a:rPr lang="en-US" dirty="0" smtClean="0"/>
              <a:t> class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 err="1" smtClean="0">
                <a:latin typeface="Courier New"/>
                <a:cs typeface="Courier New"/>
              </a:rPr>
              <a:t>hashCode</a:t>
            </a:r>
            <a:r>
              <a:rPr lang="en-US" b="1" dirty="0" smtClean="0">
                <a:latin typeface="Courier New"/>
                <a:cs typeface="Courier New"/>
              </a:rPr>
              <a:t>()</a:t>
            </a:r>
          </a:p>
          <a:p>
            <a:pPr lvl="1"/>
            <a:r>
              <a:rPr lang="en-US" dirty="0" smtClean="0"/>
              <a:t>Returns a unique code</a:t>
            </a:r>
          </a:p>
          <a:p>
            <a:r>
              <a:rPr lang="en-US" b="1" dirty="0" err="1">
                <a:latin typeface="Courier New"/>
                <a:cs typeface="Courier New"/>
              </a:rPr>
              <a:t>toString</a:t>
            </a:r>
            <a:r>
              <a:rPr lang="en-US" b="1" dirty="0">
                <a:latin typeface="Courier New"/>
                <a:cs typeface="Courier New"/>
              </a:rPr>
              <a:t>()</a:t>
            </a:r>
          </a:p>
          <a:p>
            <a:pPr lvl="1"/>
            <a:r>
              <a:rPr lang="en-US" dirty="0" smtClean="0"/>
              <a:t>Returns string representation of the object</a:t>
            </a:r>
          </a:p>
          <a:p>
            <a:r>
              <a:rPr lang="en-US" b="1" dirty="0">
                <a:latin typeface="Courier New"/>
                <a:cs typeface="Courier New"/>
              </a:rPr>
              <a:t>equals()</a:t>
            </a:r>
          </a:p>
          <a:p>
            <a:pPr lvl="1"/>
            <a:r>
              <a:rPr lang="en-US" dirty="0" smtClean="0"/>
              <a:t>Checks if two objects have same contents</a:t>
            </a:r>
          </a:p>
          <a:p>
            <a:r>
              <a:rPr lang="en-US" b="1" dirty="0">
                <a:latin typeface="Courier New"/>
                <a:cs typeface="Courier New"/>
              </a:rPr>
              <a:t>clone()</a:t>
            </a:r>
          </a:p>
          <a:p>
            <a:pPr lvl="1"/>
            <a:r>
              <a:rPr lang="en-US" dirty="0" smtClean="0"/>
              <a:t>Creates a copy of the current object</a:t>
            </a:r>
          </a:p>
          <a:p>
            <a:r>
              <a:rPr lang="en-US" b="1" dirty="0">
                <a:latin typeface="Courier New"/>
                <a:cs typeface="Courier New"/>
              </a:rPr>
              <a:t>finalize()</a:t>
            </a:r>
          </a:p>
          <a:p>
            <a:pPr lvl="1"/>
            <a:r>
              <a:rPr lang="en-US" dirty="0" smtClean="0"/>
              <a:t>Invoked by GC upon memory reclamation</a:t>
            </a:r>
          </a:p>
        </p:txBody>
      </p:sp>
    </p:spTree>
    <p:extLst>
      <p:ext uri="{BB962C8B-B14F-4D97-AF65-F5344CB8AC3E}">
        <p14:creationId xmlns:p14="http://schemas.microsoft.com/office/powerpoint/2010/main" val="347300805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Segnaposto numero diapositiva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DBF37FB6-5A5B-B148-9AFF-29BDC482425C}" type="slidenum">
              <a:rPr lang="en-GB" sz="1200">
                <a:solidFill>
                  <a:srgbClr val="000000"/>
                </a:solidFill>
              </a:rPr>
              <a:pPr eaLnBrk="1" hangingPunct="1"/>
              <a:t>65</a:t>
            </a:fld>
            <a:endParaRPr lang="en-GB" sz="1200">
              <a:solidFill>
                <a:srgbClr val="000000"/>
              </a:solidFill>
            </a:endParaRPr>
          </a:p>
        </p:txBody>
      </p:sp>
      <p:sp>
        <p:nvSpPr>
          <p:cNvPr id="108546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223789"/>
            <a:ext cx="8610600" cy="771623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 err="1" smtClean="0">
                <a:latin typeface="Courier New"/>
                <a:cs typeface="Courier New"/>
              </a:rPr>
              <a:t>Object.toString</a:t>
            </a:r>
            <a:r>
              <a:rPr lang="en-GB" dirty="0" smtClean="0">
                <a:latin typeface="Courier New"/>
                <a:cs typeface="Courier New"/>
              </a:rPr>
              <a:t>()</a:t>
            </a:r>
            <a:endParaRPr lang="en-GB" dirty="0">
              <a:latin typeface="Courier New"/>
              <a:cs typeface="Courier New"/>
            </a:endParaRPr>
          </a:p>
        </p:txBody>
      </p:sp>
      <p:sp>
        <p:nvSpPr>
          <p:cNvPr id="108547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1295400"/>
            <a:ext cx="4572000" cy="4407874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700"/>
              </a:spcBef>
              <a:spcAft>
                <a:spcPts val="175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b="1" dirty="0" err="1">
                <a:latin typeface="Courier New" charset="0"/>
                <a:cs typeface="Lucida Sans Unicode" charset="0"/>
              </a:rPr>
              <a:t>toString</a:t>
            </a:r>
            <a:r>
              <a:rPr lang="en-GB" sz="2800" b="1" dirty="0">
                <a:latin typeface="Courier New" charset="0"/>
                <a:cs typeface="Lucida Sans Unicode" charset="0"/>
              </a:rPr>
              <a:t>()</a:t>
            </a: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dirty="0">
                <a:latin typeface="Lucida Sans Unicode" charset="0"/>
                <a:ea typeface="Lucida Sans Unicode" charset="0"/>
                <a:cs typeface="Lucida Sans Unicode" charset="0"/>
              </a:rPr>
              <a:t>Returns a string </a:t>
            </a:r>
            <a:r>
              <a:rPr lang="en-GB" sz="2400" dirty="0" smtClean="0">
                <a:latin typeface="Lucida Sans Unicode" charset="0"/>
                <a:ea typeface="Lucida Sans Unicode" charset="0"/>
                <a:cs typeface="Lucida Sans Unicode" charset="0"/>
              </a:rPr>
              <a:t>representing </a:t>
            </a:r>
            <a:r>
              <a:rPr lang="en-GB" sz="2400" dirty="0">
                <a:latin typeface="Lucida Sans Unicode" charset="0"/>
                <a:ea typeface="Lucida Sans Unicode" charset="0"/>
                <a:cs typeface="Lucida Sans Unicode" charset="0"/>
              </a:rPr>
              <a:t>the </a:t>
            </a:r>
            <a:r>
              <a:rPr lang="en-GB" sz="2400" dirty="0" smtClean="0">
                <a:latin typeface="Lucida Sans Unicode" charset="0"/>
                <a:ea typeface="Lucida Sans Unicode" charset="0"/>
                <a:cs typeface="Lucida Sans Unicode" charset="0"/>
              </a:rPr>
              <a:t>object contents</a:t>
            </a:r>
            <a:endParaRPr lang="en-GB" sz="2400" dirty="0">
              <a:latin typeface="Lucida Sans Unicode" charset="0"/>
              <a:ea typeface="Lucida Sans Unicode" charset="0"/>
              <a:cs typeface="Lucida Sans Unicode" charset="0"/>
            </a:endParaRP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2400" dirty="0" smtClean="0">
                <a:latin typeface="Lucida Sans Unicode" charset="0"/>
                <a:ea typeface="Lucida Sans Unicode" charset="0"/>
                <a:cs typeface="Lucida Sans Unicode" charset="0"/>
              </a:rPr>
              <a:t>The d</a:t>
            </a:r>
            <a:r>
              <a:rPr lang="en-GB" sz="2400" dirty="0" err="1" smtClean="0">
                <a:latin typeface="Lucida Sans Unicode" charset="0"/>
                <a:ea typeface="Lucida Sans Unicode" charset="0"/>
                <a:cs typeface="Lucida Sans Unicode" charset="0"/>
              </a:rPr>
              <a:t>efault</a:t>
            </a:r>
            <a:r>
              <a:rPr lang="en-GB" sz="2400" dirty="0" smtClean="0">
                <a:latin typeface="Lucida Sans Unicode" charset="0"/>
                <a:ea typeface="Lucida Sans Unicode" charset="0"/>
                <a:cs typeface="Lucida Sans Unicode" charset="0"/>
              </a:rPr>
              <a:t> </a:t>
            </a:r>
            <a:r>
              <a:rPr lang="en-GB" sz="2400" dirty="0">
                <a:latin typeface="Lucida Sans Unicode" charset="0"/>
                <a:ea typeface="Lucida Sans Unicode" charset="0"/>
                <a:cs typeface="Lucida Sans Unicode" charset="0"/>
              </a:rPr>
              <a:t>implementation returns:</a:t>
            </a: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 err="1">
                <a:latin typeface="Courier New" charset="0"/>
                <a:ea typeface="ＭＳ Ｐゴシック" charset="0"/>
                <a:cs typeface="ＭＳ Ｐゴシック" charset="0"/>
              </a:rPr>
              <a:t>ClassName</a:t>
            </a:r>
            <a:r>
              <a:rPr lang="en-GB" sz="2400" b="1" dirty="0" smtClean="0">
                <a:solidFill>
                  <a:srgbClr val="FF6600"/>
                </a:solidFill>
                <a:latin typeface="Courier New" charset="0"/>
                <a:ea typeface="ＭＳ Ｐゴシック" charset="0"/>
                <a:cs typeface="ＭＳ Ｐゴシック" charset="0"/>
              </a:rPr>
              <a:t>@</a:t>
            </a:r>
            <a:r>
              <a:rPr lang="en-GB" sz="2400" b="1" dirty="0" smtClean="0">
                <a:latin typeface="Courier New" charset="0"/>
                <a:ea typeface="ＭＳ Ｐゴシック" charset="0"/>
                <a:cs typeface="ＭＳ Ｐゴシック" charset="0"/>
              </a:rPr>
              <a:t>#hash#</a:t>
            </a:r>
            <a:endParaRPr lang="en-GB" sz="2400" b="1" dirty="0">
              <a:latin typeface="Courier New" charset="0"/>
              <a:ea typeface="ＭＳ Ｐゴシック" charset="0"/>
              <a:cs typeface="ＭＳ Ｐゴシック" charset="0"/>
            </a:endParaRP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dirty="0" err="1">
                <a:latin typeface="Lucida Sans Unicode" charset="0"/>
                <a:ea typeface="Lucida Sans Unicode" charset="0"/>
                <a:cs typeface="Lucida Sans Unicode" charset="0"/>
              </a:rPr>
              <a:t>Es</a:t>
            </a:r>
            <a:r>
              <a:rPr lang="en-GB" sz="2400" dirty="0">
                <a:latin typeface="Lucida Sans Unicode" charset="0"/>
                <a:ea typeface="Lucida Sans Unicode" charset="0"/>
                <a:cs typeface="Lucida Sans Unicode" charset="0"/>
              </a:rPr>
              <a:t>:</a:t>
            </a: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2400" b="1" dirty="0">
                <a:latin typeface="Courier New" charset="0"/>
                <a:ea typeface="ＭＳ Ｐゴシック" charset="0"/>
                <a:cs typeface="ＭＳ Ｐゴシック" charset="0"/>
              </a:rPr>
              <a:t>org.Employee@af9e22</a:t>
            </a:r>
            <a:endParaRPr lang="en-GB" sz="2400" b="1" dirty="0">
              <a:latin typeface="Courier New" charset="0"/>
              <a:ea typeface="ＭＳ Ｐゴシック" charset="0"/>
              <a:cs typeface="ＭＳ Ｐゴシック" charset="0"/>
            </a:endParaRP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spcAft>
                <a:spcPts val="175"/>
              </a:spcAft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2800" dirty="0">
              <a:latin typeface="Lucida Sans Unicode" charset="0"/>
              <a:cs typeface="Lucida Sans Unicode" charset="0"/>
            </a:endParaRPr>
          </a:p>
        </p:txBody>
      </p:sp>
      <p:sp>
        <p:nvSpPr>
          <p:cNvPr id="10854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794250" y="1295400"/>
            <a:ext cx="4044950" cy="4800600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600"/>
              </a:spcBef>
              <a:spcAft>
                <a:spcPts val="150"/>
              </a:spcAft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2400">
              <a:solidFill>
                <a:srgbClr val="FF6600"/>
              </a:solidFill>
              <a:latin typeface="Lucida Sans Unicode" charset="0"/>
              <a:cs typeface="Lucida Sans Unicode" charset="0"/>
            </a:endParaRP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2400">
              <a:solidFill>
                <a:srgbClr val="FF6600"/>
              </a:solidFill>
              <a:latin typeface="Lucida Sans Unicode" charset="0"/>
              <a:ea typeface="Lucida Sans Unicode" charset="0"/>
              <a:cs typeface="Lucida Sans Unicode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5580112" y="2420888"/>
            <a:ext cx="3338513" cy="1344613"/>
            <a:chOff x="5378450" y="4267200"/>
            <a:chExt cx="3338513" cy="134461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2" name="Rectangle 1042"/>
            <p:cNvSpPr>
              <a:spLocks noChangeArrowheads="1"/>
            </p:cNvSpPr>
            <p:nvPr/>
          </p:nvSpPr>
          <p:spPr bwMode="auto">
            <a:xfrm>
              <a:off x="5391150" y="4268788"/>
              <a:ext cx="3325813" cy="1343025"/>
            </a:xfrm>
            <a:prstGeom prst="rect">
              <a:avLst/>
            </a:prstGeom>
            <a:grpFill/>
            <a:ln w="28575">
              <a:solidFill>
                <a:schemeClr val="accent6">
                  <a:lumMod val="75000"/>
                </a:schemeClr>
              </a:solidFill>
              <a:miter lim="800000"/>
              <a:headEnd type="none" w="sm" len="sm"/>
              <a:tailEnd/>
            </a:ln>
          </p:spPr>
          <p:txBody>
            <a:bodyPr wrap="none" anchor="ctr"/>
            <a:lstStyle/>
            <a:p>
              <a:endParaRPr lang="it-IT">
                <a:solidFill>
                  <a:schemeClr val="tx1"/>
                </a:solidFill>
              </a:endParaRPr>
            </a:p>
          </p:txBody>
        </p:sp>
        <p:sp>
          <p:nvSpPr>
            <p:cNvPr id="13" name="Line 1044"/>
            <p:cNvSpPr>
              <a:spLocks noChangeShapeType="1"/>
            </p:cNvSpPr>
            <p:nvPr/>
          </p:nvSpPr>
          <p:spPr bwMode="auto">
            <a:xfrm>
              <a:off x="5378450" y="4741863"/>
              <a:ext cx="3338513" cy="0"/>
            </a:xfrm>
            <a:prstGeom prst="line">
              <a:avLst/>
            </a:prstGeom>
            <a:grpFill/>
            <a:ln w="28575">
              <a:solidFill>
                <a:srgbClr val="E46C0A"/>
              </a:solidFill>
              <a:round/>
              <a:headEnd type="none" w="sm" len="sm"/>
              <a:tailEnd/>
            </a:ln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Text Box 1045"/>
            <p:cNvSpPr txBox="1">
              <a:spLocks noChangeArrowheads="1"/>
            </p:cNvSpPr>
            <p:nvPr/>
          </p:nvSpPr>
          <p:spPr bwMode="auto">
            <a:xfrm>
              <a:off x="6562725" y="4267200"/>
              <a:ext cx="1146175" cy="468313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bg1"/>
                  </a:solidFill>
                  <a:latin typeface="Lucida Sans Unicode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bg1"/>
                  </a:solidFill>
                  <a:latin typeface="Lucida Sans Unicode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bg1"/>
                  </a:solidFill>
                  <a:latin typeface="Lucida Sans Unicode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bg1"/>
                  </a:solidFill>
                  <a:latin typeface="Lucida Sans Unicode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bg1"/>
                  </a:solidFill>
                  <a:latin typeface="Lucida Sans Unicode" charset="0"/>
                  <a:ea typeface="ＭＳ Ｐゴシック" charset="0"/>
                </a:defRPr>
              </a:lvl5pPr>
              <a:lvl6pPr marL="2514600" indent="-228600" eaLnBrk="0" fontAlgn="base" hangingPunct="0">
                <a:lnSpc>
                  <a:spcPct val="10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sz="2400">
                  <a:solidFill>
                    <a:schemeClr val="bg1"/>
                  </a:solidFill>
                  <a:latin typeface="Lucida Sans Unicode" charset="0"/>
                  <a:ea typeface="ＭＳ Ｐゴシック" charset="0"/>
                </a:defRPr>
              </a:lvl6pPr>
              <a:lvl7pPr marL="2971800" indent="-228600" eaLnBrk="0" fontAlgn="base" hangingPunct="0">
                <a:lnSpc>
                  <a:spcPct val="10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sz="2400">
                  <a:solidFill>
                    <a:schemeClr val="bg1"/>
                  </a:solidFill>
                  <a:latin typeface="Lucida Sans Unicode" charset="0"/>
                  <a:ea typeface="ＭＳ Ｐゴシック" charset="0"/>
                </a:defRPr>
              </a:lvl7pPr>
              <a:lvl8pPr marL="3429000" indent="-228600" eaLnBrk="0" fontAlgn="base" hangingPunct="0">
                <a:lnSpc>
                  <a:spcPct val="10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sz="2400">
                  <a:solidFill>
                    <a:schemeClr val="bg1"/>
                  </a:solidFill>
                  <a:latin typeface="Lucida Sans Unicode" charset="0"/>
                  <a:ea typeface="ＭＳ Ｐゴシック" charset="0"/>
                </a:defRPr>
              </a:lvl8pPr>
              <a:lvl9pPr marL="3886200" indent="-228600" eaLnBrk="0" fontAlgn="base" hangingPunct="0">
                <a:lnSpc>
                  <a:spcPct val="10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sz="2400">
                  <a:solidFill>
                    <a:schemeClr val="bg1"/>
                  </a:solidFill>
                  <a:latin typeface="Lucida Sans Unicode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it-IT" b="1" dirty="0">
                  <a:solidFill>
                    <a:schemeClr val="tx1"/>
                  </a:solidFill>
                </a:rPr>
                <a:t>Object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5" name="Text Box 1046"/>
            <p:cNvSpPr txBox="1">
              <a:spLocks noChangeArrowheads="1"/>
            </p:cNvSpPr>
            <p:nvPr/>
          </p:nvSpPr>
          <p:spPr bwMode="auto">
            <a:xfrm>
              <a:off x="5449888" y="4837113"/>
              <a:ext cx="3178175" cy="7207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bg1"/>
                  </a:solidFill>
                  <a:latin typeface="Lucida Sans Unicode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bg1"/>
                  </a:solidFill>
                  <a:latin typeface="Lucida Sans Unicode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bg1"/>
                  </a:solidFill>
                  <a:latin typeface="Lucida Sans Unicode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bg1"/>
                  </a:solidFill>
                  <a:latin typeface="Lucida Sans Unicode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bg1"/>
                  </a:solidFill>
                  <a:latin typeface="Lucida Sans Unicode" charset="0"/>
                  <a:ea typeface="ＭＳ Ｐゴシック" charset="0"/>
                </a:defRPr>
              </a:lvl5pPr>
              <a:lvl6pPr marL="2514600" indent="-228600" eaLnBrk="0" fontAlgn="base" hangingPunct="0">
                <a:lnSpc>
                  <a:spcPct val="10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sz="2400">
                  <a:solidFill>
                    <a:schemeClr val="bg1"/>
                  </a:solidFill>
                  <a:latin typeface="Lucida Sans Unicode" charset="0"/>
                  <a:ea typeface="ＭＳ Ｐゴシック" charset="0"/>
                </a:defRPr>
              </a:lvl6pPr>
              <a:lvl7pPr marL="2971800" indent="-228600" eaLnBrk="0" fontAlgn="base" hangingPunct="0">
                <a:lnSpc>
                  <a:spcPct val="10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sz="2400">
                  <a:solidFill>
                    <a:schemeClr val="bg1"/>
                  </a:solidFill>
                  <a:latin typeface="Lucida Sans Unicode" charset="0"/>
                  <a:ea typeface="ＭＳ Ｐゴシック" charset="0"/>
                </a:defRPr>
              </a:lvl7pPr>
              <a:lvl8pPr marL="3429000" indent="-228600" eaLnBrk="0" fontAlgn="base" hangingPunct="0">
                <a:lnSpc>
                  <a:spcPct val="10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sz="2400">
                  <a:solidFill>
                    <a:schemeClr val="bg1"/>
                  </a:solidFill>
                  <a:latin typeface="Lucida Sans Unicode" charset="0"/>
                  <a:ea typeface="ＭＳ Ｐゴシック" charset="0"/>
                </a:defRPr>
              </a:lvl8pPr>
              <a:lvl9pPr marL="3886200" indent="-228600" eaLnBrk="0" fontAlgn="base" hangingPunct="0">
                <a:lnSpc>
                  <a:spcPct val="10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sz="2400">
                  <a:solidFill>
                    <a:schemeClr val="bg1"/>
                  </a:solidFill>
                  <a:latin typeface="Lucida Sans Unicode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it-IT" sz="2000" dirty="0" err="1">
                  <a:solidFill>
                    <a:schemeClr val="tx1"/>
                  </a:solidFill>
                </a:rPr>
                <a:t>toString</a:t>
              </a:r>
              <a:r>
                <a:rPr lang="it-IT" sz="2000" dirty="0">
                  <a:solidFill>
                    <a:schemeClr val="tx1"/>
                  </a:solidFill>
                </a:rPr>
                <a:t>() : </a:t>
              </a:r>
              <a:r>
                <a:rPr lang="it-IT" sz="2000" dirty="0" err="1">
                  <a:solidFill>
                    <a:schemeClr val="tx1"/>
                  </a:solidFill>
                </a:rPr>
                <a:t>String</a:t>
              </a:r>
              <a:endParaRPr lang="it-IT" sz="2000" dirty="0">
                <a:solidFill>
                  <a:schemeClr val="tx1"/>
                </a:solidFill>
              </a:endParaRPr>
            </a:p>
            <a:p>
              <a:pPr eaLnBrk="1" hangingPunct="1"/>
              <a:r>
                <a:rPr lang="it-IT" sz="2000" dirty="0" err="1">
                  <a:solidFill>
                    <a:schemeClr val="tx1"/>
                  </a:solidFill>
                </a:rPr>
                <a:t>equals</a:t>
              </a:r>
              <a:r>
                <a:rPr lang="it-IT" sz="2000" dirty="0">
                  <a:solidFill>
                    <a:schemeClr val="tx1"/>
                  </a:solidFill>
                </a:rPr>
                <a:t>(Object) : </a:t>
              </a:r>
              <a:r>
                <a:rPr lang="it-IT" sz="2000" dirty="0" err="1">
                  <a:solidFill>
                    <a:schemeClr val="tx1"/>
                  </a:solidFill>
                </a:rPr>
                <a:t>boolean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 bwMode="auto">
          <a:xfrm>
            <a:off x="395536" y="4581128"/>
            <a:ext cx="8352928" cy="15121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lIns="90360" tIns="44280" rIns="90360" bIns="44280" rtlCol="0" anchor="ctr"/>
          <a:lstStyle/>
          <a:p>
            <a:pPr algn="ctr"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000" b="1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395536" y="3068960"/>
            <a:ext cx="8352928" cy="10801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lIns="90360" tIns="44280" rIns="90360" bIns="44280" rtlCol="0" anchor="ctr"/>
          <a:lstStyle/>
          <a:p>
            <a:pPr algn="ctr"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000" b="1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10593" name="Segnaposto numero diapositiva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462CDC9D-5EC5-D846-8C66-7E979C1AC965}" type="slidenum">
              <a:rPr lang="en-GB" sz="1200">
                <a:solidFill>
                  <a:srgbClr val="000000"/>
                </a:solidFill>
              </a:rPr>
              <a:pPr eaLnBrk="1" hangingPunct="1"/>
              <a:t>66</a:t>
            </a:fld>
            <a:endParaRPr lang="en-GB" sz="1200">
              <a:solidFill>
                <a:srgbClr val="000000"/>
              </a:solidFill>
            </a:endParaRPr>
          </a:p>
        </p:txBody>
      </p:sp>
      <p:sp>
        <p:nvSpPr>
          <p:cNvPr id="110594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223789"/>
            <a:ext cx="8610600" cy="771623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 err="1" smtClean="0">
                <a:latin typeface="Courier New"/>
                <a:cs typeface="Courier New"/>
              </a:rPr>
              <a:t>Object.equals</a:t>
            </a:r>
            <a:r>
              <a:rPr lang="en-GB" dirty="0" smtClean="0">
                <a:latin typeface="Courier New"/>
                <a:cs typeface="Courier New"/>
              </a:rPr>
              <a:t>()</a:t>
            </a:r>
            <a:endParaRPr lang="en-GB" dirty="0">
              <a:latin typeface="Courier New"/>
              <a:cs typeface="Courier New"/>
            </a:endParaRPr>
          </a:p>
        </p:txBody>
      </p:sp>
      <p:sp>
        <p:nvSpPr>
          <p:cNvPr id="110595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1295400"/>
            <a:ext cx="4495800" cy="1812925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700"/>
              </a:spcBef>
              <a:spcAft>
                <a:spcPts val="175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b="1">
                <a:latin typeface="Courier New" charset="0"/>
                <a:cs typeface="Lucida Sans Unicode" charset="0"/>
              </a:rPr>
              <a:t>equals()</a:t>
            </a: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>
                <a:latin typeface="Lucida Sans Unicode" charset="0"/>
                <a:ea typeface="Lucida Sans Unicode" charset="0"/>
                <a:cs typeface="Lucida Sans Unicode" charset="0"/>
              </a:rPr>
              <a:t>Tests equality of values</a:t>
            </a: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>
                <a:latin typeface="Lucida Sans Unicode" charset="0"/>
                <a:ea typeface="Lucida Sans Unicode" charset="0"/>
                <a:cs typeface="Lucida Sans Unicode" charset="0"/>
              </a:rPr>
              <a:t>Default implementation compares references:</a:t>
            </a:r>
          </a:p>
        </p:txBody>
      </p:sp>
      <p:sp>
        <p:nvSpPr>
          <p:cNvPr id="11059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794250" y="1295400"/>
            <a:ext cx="4044950" cy="4800600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600"/>
              </a:spcBef>
              <a:spcAft>
                <a:spcPts val="150"/>
              </a:spcAft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2400">
              <a:solidFill>
                <a:srgbClr val="FF6600"/>
              </a:solidFill>
              <a:latin typeface="Lucida Sans Unicode" charset="0"/>
              <a:cs typeface="Lucida Sans Unicode" charset="0"/>
            </a:endParaRP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2400">
              <a:solidFill>
                <a:srgbClr val="FF6600"/>
              </a:solidFill>
              <a:latin typeface="Lucida Sans Unicode" charset="0"/>
              <a:ea typeface="Lucida Sans Unicode" charset="0"/>
              <a:cs typeface="Lucida Sans Unicode" charset="0"/>
            </a:endParaRPr>
          </a:p>
        </p:txBody>
      </p:sp>
      <p:sp>
        <p:nvSpPr>
          <p:cNvPr id="110598" name="TextBox 10"/>
          <p:cNvSpPr txBox="1">
            <a:spLocks noChangeArrowheads="1"/>
          </p:cNvSpPr>
          <p:nvPr/>
        </p:nvSpPr>
        <p:spPr bwMode="auto">
          <a:xfrm>
            <a:off x="609600" y="2971800"/>
            <a:ext cx="8153400" cy="35723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38188" indent="-280988" eaLnBrk="0" hangingPunct="0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>
              <a:lnSpc>
                <a:spcPct val="100000"/>
              </a:lnSpc>
              <a:buFont typeface="Wingdings" charset="0"/>
              <a:buNone/>
            </a:pPr>
            <a:r>
              <a:rPr lang="en-US" b="1" dirty="0">
                <a:solidFill>
                  <a:srgbClr val="000000"/>
                </a:solidFill>
                <a:latin typeface="Courier New" charset="0"/>
              </a:rPr>
              <a:t>	public </a:t>
            </a:r>
            <a:r>
              <a:rPr lang="en-US" b="1" dirty="0" err="1">
                <a:solidFill>
                  <a:srgbClr val="000000"/>
                </a:solidFill>
                <a:latin typeface="Courier New" charset="0"/>
              </a:rPr>
              <a:t>boolean</a:t>
            </a:r>
            <a:r>
              <a:rPr lang="en-US" b="1" dirty="0">
                <a:solidFill>
                  <a:srgbClr val="000000"/>
                </a:solidFill>
                <a:latin typeface="Courier New" charset="0"/>
              </a:rPr>
              <a:t> equals(Object other){</a:t>
            </a:r>
          </a:p>
          <a:p>
            <a:pPr eaLnBrk="1" hangingPunct="1">
              <a:lnSpc>
                <a:spcPct val="100000"/>
              </a:lnSpc>
              <a:buFont typeface="Wingdings" charset="0"/>
              <a:buNone/>
            </a:pPr>
            <a:r>
              <a:rPr lang="en-US" b="1" dirty="0">
                <a:solidFill>
                  <a:srgbClr val="000000"/>
                </a:solidFill>
                <a:latin typeface="Courier New" charset="0"/>
              </a:rPr>
              <a:t>  	</a:t>
            </a:r>
            <a:r>
              <a:rPr lang="en-US" b="1" dirty="0" smtClean="0">
                <a:solidFill>
                  <a:srgbClr val="000000"/>
                </a:solidFill>
                <a:latin typeface="Courier New" charset="0"/>
              </a:rPr>
              <a:t>  return </a:t>
            </a:r>
            <a:r>
              <a:rPr lang="en-US" b="1" dirty="0">
                <a:solidFill>
                  <a:srgbClr val="000000"/>
                </a:solidFill>
                <a:latin typeface="Courier New" charset="0"/>
              </a:rPr>
              <a:t>this == other;</a:t>
            </a:r>
          </a:p>
          <a:p>
            <a:pPr eaLnBrk="1" hangingPunct="1">
              <a:lnSpc>
                <a:spcPct val="100000"/>
              </a:lnSpc>
              <a:buFont typeface="Wingdings" charset="0"/>
              <a:buNone/>
            </a:pPr>
            <a:r>
              <a:rPr lang="en-US" b="1" dirty="0">
                <a:solidFill>
                  <a:srgbClr val="000000"/>
                </a:solidFill>
                <a:latin typeface="Courier New" charset="0"/>
              </a:rPr>
              <a:t>	}</a:t>
            </a: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buFont typeface="Wingdings" charset="0"/>
              <a:buChar char=""/>
            </a:pPr>
            <a:r>
              <a:rPr lang="en-US" dirty="0">
                <a:solidFill>
                  <a:srgbClr val="000000"/>
                </a:solidFill>
              </a:rPr>
              <a:t> Must be overridden to compare contents, e.g.:</a:t>
            </a:r>
          </a:p>
          <a:p>
            <a:pPr eaLnBrk="1" hangingPunct="1">
              <a:lnSpc>
                <a:spcPct val="100000"/>
              </a:lnSpc>
              <a:buFont typeface="Wingdings" charset="0"/>
              <a:buNone/>
            </a:pPr>
            <a:r>
              <a:rPr lang="en-US" b="1" dirty="0">
                <a:solidFill>
                  <a:srgbClr val="000000"/>
                </a:solidFill>
                <a:latin typeface="Courier New" charset="0"/>
              </a:rPr>
              <a:t>	public </a:t>
            </a:r>
            <a:r>
              <a:rPr lang="en-US" b="1" dirty="0" err="1">
                <a:solidFill>
                  <a:srgbClr val="000000"/>
                </a:solidFill>
                <a:latin typeface="Courier New" charset="0"/>
              </a:rPr>
              <a:t>boolean</a:t>
            </a:r>
            <a:r>
              <a:rPr lang="en-US" b="1" dirty="0">
                <a:solidFill>
                  <a:srgbClr val="000000"/>
                </a:solidFill>
                <a:latin typeface="Courier New" charset="0"/>
              </a:rPr>
              <a:t> equals(Object o){</a:t>
            </a:r>
          </a:p>
          <a:p>
            <a:pPr eaLnBrk="1" hangingPunct="1">
              <a:lnSpc>
                <a:spcPct val="100000"/>
              </a:lnSpc>
              <a:buFont typeface="Wingdings" charset="0"/>
              <a:buNone/>
            </a:pPr>
            <a:r>
              <a:rPr lang="en-US" b="1" dirty="0">
                <a:solidFill>
                  <a:srgbClr val="000000"/>
                </a:solidFill>
                <a:latin typeface="Courier New" charset="0"/>
              </a:rPr>
              <a:t>  	Student other = (Student)o;</a:t>
            </a:r>
          </a:p>
          <a:p>
            <a:pPr eaLnBrk="1" hangingPunct="1">
              <a:lnSpc>
                <a:spcPct val="100000"/>
              </a:lnSpc>
              <a:buFont typeface="Wingdings" charset="0"/>
              <a:buNone/>
            </a:pPr>
            <a:r>
              <a:rPr lang="en-US" b="1" dirty="0">
                <a:solidFill>
                  <a:srgbClr val="000000"/>
                </a:solidFill>
                <a:latin typeface="Courier New" charset="0"/>
              </a:rPr>
              <a:t>  	return </a:t>
            </a:r>
            <a:r>
              <a:rPr lang="en-US" b="1" dirty="0" err="1">
                <a:solidFill>
                  <a:srgbClr val="000000"/>
                </a:solidFill>
                <a:latin typeface="Courier New" charset="0"/>
              </a:rPr>
              <a:t>this.id.equals</a:t>
            </a:r>
            <a:r>
              <a:rPr lang="en-US" b="1" dirty="0">
                <a:solidFill>
                  <a:srgbClr val="000000"/>
                </a:solidFill>
                <a:latin typeface="Courier New" charset="0"/>
              </a:rPr>
              <a:t>(</a:t>
            </a:r>
            <a:r>
              <a:rPr lang="en-US" b="1" dirty="0" err="1">
                <a:solidFill>
                  <a:srgbClr val="000000"/>
                </a:solidFill>
                <a:latin typeface="Courier New" charset="0"/>
              </a:rPr>
              <a:t>other.id</a:t>
            </a:r>
            <a:r>
              <a:rPr lang="en-US" b="1" dirty="0">
                <a:solidFill>
                  <a:srgbClr val="000000"/>
                </a:solidFill>
                <a:latin typeface="Courier New" charset="0"/>
              </a:rPr>
              <a:t>);</a:t>
            </a:r>
          </a:p>
          <a:p>
            <a:pPr eaLnBrk="1" hangingPunct="1">
              <a:lnSpc>
                <a:spcPct val="100000"/>
              </a:lnSpc>
              <a:buFont typeface="Wingdings" charset="0"/>
              <a:buNone/>
            </a:pPr>
            <a:r>
              <a:rPr lang="en-US" b="1" dirty="0">
                <a:solidFill>
                  <a:srgbClr val="000000"/>
                </a:solidFill>
                <a:latin typeface="Courier New" charset="0"/>
              </a:rPr>
              <a:t>	}</a:t>
            </a: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buFont typeface="Wingdings" charset="0"/>
              <a:buChar char=""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5580112" y="1268760"/>
            <a:ext cx="3338513" cy="1344613"/>
            <a:chOff x="5378450" y="4267200"/>
            <a:chExt cx="3338513" cy="134461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3" name="Rectangle 1042"/>
            <p:cNvSpPr>
              <a:spLocks noChangeArrowheads="1"/>
            </p:cNvSpPr>
            <p:nvPr/>
          </p:nvSpPr>
          <p:spPr bwMode="auto">
            <a:xfrm>
              <a:off x="5391150" y="4268788"/>
              <a:ext cx="3325813" cy="1343025"/>
            </a:xfrm>
            <a:prstGeom prst="rect">
              <a:avLst/>
            </a:prstGeom>
            <a:grpFill/>
            <a:ln w="28575">
              <a:solidFill>
                <a:schemeClr val="accent6">
                  <a:lumMod val="75000"/>
                </a:schemeClr>
              </a:solidFill>
              <a:miter lim="800000"/>
              <a:headEnd type="none" w="sm" len="sm"/>
              <a:tailEnd/>
            </a:ln>
          </p:spPr>
          <p:txBody>
            <a:bodyPr wrap="none" anchor="ctr"/>
            <a:lstStyle/>
            <a:p>
              <a:endParaRPr lang="it-IT">
                <a:solidFill>
                  <a:schemeClr val="tx1"/>
                </a:solidFill>
              </a:endParaRPr>
            </a:p>
          </p:txBody>
        </p:sp>
        <p:sp>
          <p:nvSpPr>
            <p:cNvPr id="14" name="Line 1044"/>
            <p:cNvSpPr>
              <a:spLocks noChangeShapeType="1"/>
            </p:cNvSpPr>
            <p:nvPr/>
          </p:nvSpPr>
          <p:spPr bwMode="auto">
            <a:xfrm>
              <a:off x="5378450" y="4741863"/>
              <a:ext cx="3338513" cy="0"/>
            </a:xfrm>
            <a:prstGeom prst="line">
              <a:avLst/>
            </a:prstGeom>
            <a:grpFill/>
            <a:ln w="28575">
              <a:solidFill>
                <a:srgbClr val="E46C0A"/>
              </a:solidFill>
              <a:round/>
              <a:headEnd type="none" w="sm" len="sm"/>
              <a:tailEnd/>
            </a:ln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Text Box 1045"/>
            <p:cNvSpPr txBox="1">
              <a:spLocks noChangeArrowheads="1"/>
            </p:cNvSpPr>
            <p:nvPr/>
          </p:nvSpPr>
          <p:spPr bwMode="auto">
            <a:xfrm>
              <a:off x="6562725" y="4267200"/>
              <a:ext cx="1146175" cy="468313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bg1"/>
                  </a:solidFill>
                  <a:latin typeface="Lucida Sans Unicode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bg1"/>
                  </a:solidFill>
                  <a:latin typeface="Lucida Sans Unicode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bg1"/>
                  </a:solidFill>
                  <a:latin typeface="Lucida Sans Unicode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bg1"/>
                  </a:solidFill>
                  <a:latin typeface="Lucida Sans Unicode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bg1"/>
                  </a:solidFill>
                  <a:latin typeface="Lucida Sans Unicode" charset="0"/>
                  <a:ea typeface="ＭＳ Ｐゴシック" charset="0"/>
                </a:defRPr>
              </a:lvl5pPr>
              <a:lvl6pPr marL="2514600" indent="-228600" eaLnBrk="0" fontAlgn="base" hangingPunct="0">
                <a:lnSpc>
                  <a:spcPct val="10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sz="2400">
                  <a:solidFill>
                    <a:schemeClr val="bg1"/>
                  </a:solidFill>
                  <a:latin typeface="Lucida Sans Unicode" charset="0"/>
                  <a:ea typeface="ＭＳ Ｐゴシック" charset="0"/>
                </a:defRPr>
              </a:lvl6pPr>
              <a:lvl7pPr marL="2971800" indent="-228600" eaLnBrk="0" fontAlgn="base" hangingPunct="0">
                <a:lnSpc>
                  <a:spcPct val="10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sz="2400">
                  <a:solidFill>
                    <a:schemeClr val="bg1"/>
                  </a:solidFill>
                  <a:latin typeface="Lucida Sans Unicode" charset="0"/>
                  <a:ea typeface="ＭＳ Ｐゴシック" charset="0"/>
                </a:defRPr>
              </a:lvl7pPr>
              <a:lvl8pPr marL="3429000" indent="-228600" eaLnBrk="0" fontAlgn="base" hangingPunct="0">
                <a:lnSpc>
                  <a:spcPct val="10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sz="2400">
                  <a:solidFill>
                    <a:schemeClr val="bg1"/>
                  </a:solidFill>
                  <a:latin typeface="Lucida Sans Unicode" charset="0"/>
                  <a:ea typeface="ＭＳ Ｐゴシック" charset="0"/>
                </a:defRPr>
              </a:lvl8pPr>
              <a:lvl9pPr marL="3886200" indent="-228600" eaLnBrk="0" fontAlgn="base" hangingPunct="0">
                <a:lnSpc>
                  <a:spcPct val="10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sz="2400">
                  <a:solidFill>
                    <a:schemeClr val="bg1"/>
                  </a:solidFill>
                  <a:latin typeface="Lucida Sans Unicode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it-IT" b="1" dirty="0">
                  <a:solidFill>
                    <a:schemeClr val="tx1"/>
                  </a:solidFill>
                </a:rPr>
                <a:t>Object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6" name="Text Box 1046"/>
            <p:cNvSpPr txBox="1">
              <a:spLocks noChangeArrowheads="1"/>
            </p:cNvSpPr>
            <p:nvPr/>
          </p:nvSpPr>
          <p:spPr bwMode="auto">
            <a:xfrm>
              <a:off x="5449888" y="4837113"/>
              <a:ext cx="3178175" cy="7207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bg1"/>
                  </a:solidFill>
                  <a:latin typeface="Lucida Sans Unicode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bg1"/>
                  </a:solidFill>
                  <a:latin typeface="Lucida Sans Unicode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bg1"/>
                  </a:solidFill>
                  <a:latin typeface="Lucida Sans Unicode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bg1"/>
                  </a:solidFill>
                  <a:latin typeface="Lucida Sans Unicode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bg1"/>
                  </a:solidFill>
                  <a:latin typeface="Lucida Sans Unicode" charset="0"/>
                  <a:ea typeface="ＭＳ Ｐゴシック" charset="0"/>
                </a:defRPr>
              </a:lvl5pPr>
              <a:lvl6pPr marL="2514600" indent="-228600" eaLnBrk="0" fontAlgn="base" hangingPunct="0">
                <a:lnSpc>
                  <a:spcPct val="10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sz="2400">
                  <a:solidFill>
                    <a:schemeClr val="bg1"/>
                  </a:solidFill>
                  <a:latin typeface="Lucida Sans Unicode" charset="0"/>
                  <a:ea typeface="ＭＳ Ｐゴシック" charset="0"/>
                </a:defRPr>
              </a:lvl6pPr>
              <a:lvl7pPr marL="2971800" indent="-228600" eaLnBrk="0" fontAlgn="base" hangingPunct="0">
                <a:lnSpc>
                  <a:spcPct val="10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sz="2400">
                  <a:solidFill>
                    <a:schemeClr val="bg1"/>
                  </a:solidFill>
                  <a:latin typeface="Lucida Sans Unicode" charset="0"/>
                  <a:ea typeface="ＭＳ Ｐゴシック" charset="0"/>
                </a:defRPr>
              </a:lvl7pPr>
              <a:lvl8pPr marL="3429000" indent="-228600" eaLnBrk="0" fontAlgn="base" hangingPunct="0">
                <a:lnSpc>
                  <a:spcPct val="10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sz="2400">
                  <a:solidFill>
                    <a:schemeClr val="bg1"/>
                  </a:solidFill>
                  <a:latin typeface="Lucida Sans Unicode" charset="0"/>
                  <a:ea typeface="ＭＳ Ｐゴシック" charset="0"/>
                </a:defRPr>
              </a:lvl8pPr>
              <a:lvl9pPr marL="3886200" indent="-228600" eaLnBrk="0" fontAlgn="base" hangingPunct="0">
                <a:lnSpc>
                  <a:spcPct val="10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sz="2400">
                  <a:solidFill>
                    <a:schemeClr val="bg1"/>
                  </a:solidFill>
                  <a:latin typeface="Lucida Sans Unicode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it-IT" sz="2000" dirty="0" err="1">
                  <a:solidFill>
                    <a:schemeClr val="tx1"/>
                  </a:solidFill>
                </a:rPr>
                <a:t>toString</a:t>
              </a:r>
              <a:r>
                <a:rPr lang="it-IT" sz="2000" dirty="0">
                  <a:solidFill>
                    <a:schemeClr val="tx1"/>
                  </a:solidFill>
                </a:rPr>
                <a:t>() : </a:t>
              </a:r>
              <a:r>
                <a:rPr lang="it-IT" sz="2000" dirty="0" err="1">
                  <a:solidFill>
                    <a:schemeClr val="tx1"/>
                  </a:solidFill>
                </a:rPr>
                <a:t>String</a:t>
              </a:r>
              <a:endParaRPr lang="it-IT" sz="2000" dirty="0">
                <a:solidFill>
                  <a:schemeClr val="tx1"/>
                </a:solidFill>
              </a:endParaRPr>
            </a:p>
            <a:p>
              <a:pPr eaLnBrk="1" hangingPunct="1"/>
              <a:r>
                <a:rPr lang="it-IT" sz="2000" dirty="0" err="1">
                  <a:solidFill>
                    <a:schemeClr val="tx1"/>
                  </a:solidFill>
                </a:rPr>
                <a:t>equals</a:t>
              </a:r>
              <a:r>
                <a:rPr lang="it-IT" sz="2000" dirty="0">
                  <a:solidFill>
                    <a:schemeClr val="tx1"/>
                  </a:solidFill>
                </a:rPr>
                <a:t>(Object) : </a:t>
              </a:r>
              <a:r>
                <a:rPr lang="it-IT" sz="2000" dirty="0" err="1">
                  <a:solidFill>
                    <a:schemeClr val="tx1"/>
                  </a:solidFill>
                </a:rPr>
                <a:t>boolean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latin typeface="Lucida Sans Unicode" charset="0"/>
                <a:cs typeface="Lucida Sans Unicode" charset="0"/>
              </a:rPr>
              <a:t>The </a:t>
            </a:r>
            <a:r>
              <a:rPr lang="it-IT" dirty="0" err="1">
                <a:latin typeface="Courier New"/>
                <a:cs typeface="Courier New"/>
              </a:rPr>
              <a:t>equals</a:t>
            </a:r>
            <a:r>
              <a:rPr lang="it-IT" dirty="0">
                <a:latin typeface="Courier New"/>
                <a:cs typeface="Courier New"/>
              </a:rPr>
              <a:t>()</a:t>
            </a:r>
            <a:r>
              <a:rPr lang="it-IT" dirty="0">
                <a:latin typeface="Lucida Sans Unicode" charset="0"/>
                <a:cs typeface="Lucida Sans Unicode" charset="0"/>
              </a:rPr>
              <a:t> </a:t>
            </a:r>
            <a:r>
              <a:rPr lang="it-IT" dirty="0" err="1">
                <a:latin typeface="Lucida Sans Unicode" charset="0"/>
                <a:cs typeface="Lucida Sans Unicode" charset="0"/>
              </a:rPr>
              <a:t>Contract</a:t>
            </a:r>
            <a:endParaRPr lang="it-IT" dirty="0">
              <a:latin typeface="Lucida Sans Unicode" charset="0"/>
              <a:cs typeface="Lucida Sans Unicode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95400"/>
            <a:ext cx="8224838" cy="5085928"/>
          </a:xfrm>
        </p:spPr>
        <p:txBody>
          <a:bodyPr>
            <a:normAutofit fontScale="92500" lnSpcReduction="10000"/>
          </a:bodyPr>
          <a:lstStyle/>
          <a:p>
            <a:pPr marL="334963" indent="-317500">
              <a:lnSpc>
                <a:spcPct val="101000"/>
              </a:lnSpc>
              <a:spcBef>
                <a:spcPts val="700"/>
              </a:spcBef>
              <a:spcAft>
                <a:spcPts val="175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dirty="0" smtClean="0">
                <a:solidFill>
                  <a:srgbClr val="FF6600"/>
                </a:solidFill>
                <a:latin typeface="Lucida Sans Unicode" charset="0"/>
              </a:rPr>
              <a:t>Reflexive</a:t>
            </a:r>
            <a:r>
              <a:rPr lang="en-US" dirty="0">
                <a:latin typeface="Lucida Sans Unicode" charset="0"/>
              </a:rPr>
              <a:t>:  </a:t>
            </a:r>
            <a:r>
              <a:rPr lang="en-US" sz="2800" b="1" dirty="0" err="1">
                <a:latin typeface="Courier New"/>
                <a:cs typeface="Courier New"/>
              </a:rPr>
              <a:t>x.equals</a:t>
            </a:r>
            <a:r>
              <a:rPr lang="en-US" sz="2800" b="1" dirty="0">
                <a:latin typeface="Courier New"/>
                <a:cs typeface="Courier New"/>
              </a:rPr>
              <a:t>(x</a:t>
            </a:r>
            <a:r>
              <a:rPr lang="en-US" sz="2800" b="1" dirty="0" smtClean="0">
                <a:latin typeface="Courier New"/>
                <a:cs typeface="Courier New"/>
              </a:rPr>
              <a:t>) =</a:t>
            </a:r>
            <a:r>
              <a:rPr lang="en-US" sz="2800" b="1" dirty="0">
                <a:latin typeface="Courier New"/>
                <a:cs typeface="Courier New"/>
              </a:rPr>
              <a:t>= true</a:t>
            </a:r>
          </a:p>
          <a:p>
            <a:pPr marL="334963" indent="-317500">
              <a:lnSpc>
                <a:spcPct val="101000"/>
              </a:lnSpc>
              <a:spcBef>
                <a:spcPts val="700"/>
              </a:spcBef>
              <a:spcAft>
                <a:spcPts val="175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dirty="0" smtClean="0">
                <a:solidFill>
                  <a:srgbClr val="FF6600"/>
                </a:solidFill>
                <a:latin typeface="Lucida Sans Unicode" charset="0"/>
              </a:rPr>
              <a:t>Symmetric</a:t>
            </a:r>
            <a:r>
              <a:rPr lang="en-US" dirty="0">
                <a:latin typeface="Lucida Sans Unicode" charset="0"/>
              </a:rPr>
              <a:t>:  </a:t>
            </a:r>
            <a:r>
              <a:rPr lang="en-US" sz="2800" b="1" dirty="0" err="1">
                <a:latin typeface="Courier New"/>
                <a:cs typeface="Courier New"/>
              </a:rPr>
              <a:t>x.equals</a:t>
            </a:r>
            <a:r>
              <a:rPr lang="en-US" sz="2800" b="1" dirty="0">
                <a:latin typeface="Courier New"/>
                <a:cs typeface="Courier New"/>
              </a:rPr>
              <a:t>(y</a:t>
            </a:r>
            <a:r>
              <a:rPr lang="en-US" sz="2800" b="1" dirty="0" smtClean="0">
                <a:latin typeface="Courier New"/>
                <a:cs typeface="Courier New"/>
              </a:rPr>
              <a:t>)==</a:t>
            </a:r>
            <a:r>
              <a:rPr lang="en-US" sz="2800" b="1" dirty="0" err="1" smtClean="0">
                <a:latin typeface="Courier New"/>
                <a:cs typeface="Courier New"/>
              </a:rPr>
              <a:t>y.equals</a:t>
            </a:r>
            <a:r>
              <a:rPr lang="en-US" sz="2800" b="1" dirty="0">
                <a:latin typeface="Courier New"/>
                <a:cs typeface="Courier New"/>
              </a:rPr>
              <a:t>(x) </a:t>
            </a:r>
            <a:endParaRPr lang="en-US" sz="3100" b="1" dirty="0">
              <a:latin typeface="Courier New"/>
              <a:cs typeface="Courier New"/>
            </a:endParaRPr>
          </a:p>
          <a:p>
            <a:pPr marL="334963" indent="-317500">
              <a:lnSpc>
                <a:spcPct val="101000"/>
              </a:lnSpc>
              <a:spcBef>
                <a:spcPts val="700"/>
              </a:spcBef>
              <a:spcAft>
                <a:spcPts val="175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dirty="0" smtClean="0">
                <a:solidFill>
                  <a:srgbClr val="FF6600"/>
                </a:solidFill>
                <a:latin typeface="Lucida Sans Unicode" charset="0"/>
              </a:rPr>
              <a:t>Transitive</a:t>
            </a:r>
            <a:r>
              <a:rPr lang="en-US" dirty="0">
                <a:latin typeface="Lucida Sans Unicode" charset="0"/>
              </a:rPr>
              <a:t>: for any reference </a:t>
            </a:r>
            <a:r>
              <a:rPr lang="en-US" dirty="0" smtClean="0">
                <a:latin typeface="Lucida Sans Unicode" charset="0"/>
              </a:rPr>
              <a:t>x</a:t>
            </a:r>
            <a:r>
              <a:rPr lang="en-US" dirty="0">
                <a:latin typeface="Lucida Sans Unicode" charset="0"/>
              </a:rPr>
              <a:t>, y and z</a:t>
            </a:r>
          </a:p>
          <a:p>
            <a:pPr marL="735013" lvl="1" indent="-317500">
              <a:lnSpc>
                <a:spcPct val="101000"/>
              </a:lnSpc>
              <a:spcAft>
                <a:spcPts val="175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dirty="0" smtClean="0">
                <a:latin typeface="Lucida Sans Unicode" charset="0"/>
              </a:rPr>
              <a:t>if  </a:t>
            </a:r>
            <a:r>
              <a:rPr lang="en-US" sz="2600" b="1" dirty="0" err="1">
                <a:latin typeface="Courier New"/>
                <a:cs typeface="Courier New"/>
              </a:rPr>
              <a:t>x.equals</a:t>
            </a:r>
            <a:r>
              <a:rPr lang="en-US" sz="2600" b="1" dirty="0">
                <a:latin typeface="Courier New"/>
                <a:cs typeface="Courier New"/>
              </a:rPr>
              <a:t>(y</a:t>
            </a:r>
            <a:r>
              <a:rPr lang="en-US" sz="2600" b="1" dirty="0" smtClean="0">
                <a:latin typeface="Courier New"/>
                <a:cs typeface="Courier New"/>
              </a:rPr>
              <a:t>)==true &amp;&amp; </a:t>
            </a:r>
            <a:r>
              <a:rPr lang="en-US" sz="2600" b="1" dirty="0" err="1" smtClean="0">
                <a:latin typeface="Courier New"/>
                <a:cs typeface="Courier New"/>
              </a:rPr>
              <a:t>y.equals</a:t>
            </a:r>
            <a:r>
              <a:rPr lang="en-US" sz="2600" b="1" dirty="0">
                <a:latin typeface="Courier New"/>
                <a:cs typeface="Courier New"/>
              </a:rPr>
              <a:t>(z</a:t>
            </a:r>
            <a:r>
              <a:rPr lang="en-US" sz="2600" b="1" dirty="0" smtClean="0">
                <a:latin typeface="Courier New"/>
                <a:cs typeface="Courier New"/>
              </a:rPr>
              <a:t>)==true</a:t>
            </a:r>
            <a:r>
              <a:rPr lang="en-US" sz="2600" b="1" dirty="0">
                <a:latin typeface="Courier New"/>
                <a:cs typeface="Courier New"/>
              </a:rPr>
              <a:t> </a:t>
            </a:r>
            <a:r>
              <a:rPr lang="en-US" sz="2600" dirty="0" smtClean="0">
                <a:latin typeface="Lucida Sans Unicode" charset="0"/>
              </a:rPr>
              <a:t>=</a:t>
            </a:r>
            <a:r>
              <a:rPr lang="en-US" sz="2600" dirty="0">
                <a:latin typeface="Lucida Sans Unicode" charset="0"/>
              </a:rPr>
              <a:t>&gt; </a:t>
            </a:r>
            <a:r>
              <a:rPr lang="en-US" sz="2600" b="1" dirty="0" err="1">
                <a:latin typeface="Courier New"/>
                <a:cs typeface="Courier New"/>
              </a:rPr>
              <a:t>x.equals</a:t>
            </a:r>
            <a:r>
              <a:rPr lang="en-US" sz="2600" b="1" dirty="0">
                <a:latin typeface="Courier New"/>
                <a:cs typeface="Courier New"/>
              </a:rPr>
              <a:t>(</a:t>
            </a:r>
            <a:r>
              <a:rPr lang="en-US" sz="2600" b="1" dirty="0" smtClean="0">
                <a:latin typeface="Courier New"/>
                <a:cs typeface="Courier New"/>
              </a:rPr>
              <a:t>z)==true</a:t>
            </a:r>
          </a:p>
          <a:p>
            <a:pPr marL="334963" indent="-317500">
              <a:lnSpc>
                <a:spcPct val="101000"/>
              </a:lnSpc>
              <a:spcBef>
                <a:spcPts val="700"/>
              </a:spcBef>
              <a:spcAft>
                <a:spcPts val="175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dirty="0" smtClean="0">
                <a:latin typeface="Lucida Sans Unicode" charset="0"/>
              </a:rPr>
              <a:t>It </a:t>
            </a:r>
            <a:r>
              <a:rPr lang="en-US" dirty="0">
                <a:latin typeface="Lucida Sans Unicode" charset="0"/>
              </a:rPr>
              <a:t>is </a:t>
            </a:r>
            <a:r>
              <a:rPr lang="en-US" b="1" dirty="0">
                <a:solidFill>
                  <a:srgbClr val="FF6600"/>
                </a:solidFill>
                <a:latin typeface="Lucida Sans Unicode" charset="0"/>
              </a:rPr>
              <a:t>consistent</a:t>
            </a:r>
            <a:r>
              <a:rPr lang="en-US" dirty="0">
                <a:latin typeface="Lucida Sans Unicode" charset="0"/>
              </a:rPr>
              <a:t>: for any </a:t>
            </a:r>
            <a:r>
              <a:rPr lang="en-US" dirty="0" smtClean="0">
                <a:latin typeface="Lucida Sans Unicode" charset="0"/>
              </a:rPr>
              <a:t>references x </a:t>
            </a:r>
            <a:r>
              <a:rPr lang="en-US" dirty="0">
                <a:latin typeface="Lucida Sans Unicode" charset="0"/>
              </a:rPr>
              <a:t>and y, multiple invocations of </a:t>
            </a:r>
            <a:r>
              <a:rPr lang="en-US" b="1" dirty="0" err="1">
                <a:latin typeface="Courier New"/>
                <a:cs typeface="Courier New"/>
              </a:rPr>
              <a:t>x.equals</a:t>
            </a:r>
            <a:r>
              <a:rPr lang="en-US" b="1" dirty="0">
                <a:latin typeface="Courier New"/>
                <a:cs typeface="Courier New"/>
              </a:rPr>
              <a:t>(y)</a:t>
            </a:r>
            <a:r>
              <a:rPr lang="en-US" dirty="0">
                <a:latin typeface="Lucida Sans Unicode" charset="0"/>
              </a:rPr>
              <a:t> consistently return true (or false</a:t>
            </a:r>
            <a:r>
              <a:rPr lang="en-US" dirty="0" smtClean="0">
                <a:latin typeface="Lucida Sans Unicode" charset="0"/>
              </a:rPr>
              <a:t>)</a:t>
            </a:r>
            <a:endParaRPr lang="en-US" dirty="0">
              <a:latin typeface="Lucida Sans Unicode" charset="0"/>
            </a:endParaRPr>
          </a:p>
          <a:p>
            <a:pPr marL="735013" lvl="1" indent="-317500">
              <a:lnSpc>
                <a:spcPct val="101000"/>
              </a:lnSpc>
              <a:spcAft>
                <a:spcPts val="175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dirty="0" smtClean="0">
                <a:latin typeface="Lucida Sans Unicode" charset="0"/>
              </a:rPr>
              <a:t>Provided no </a:t>
            </a:r>
            <a:r>
              <a:rPr lang="en-US" dirty="0">
                <a:latin typeface="Lucida Sans Unicode" charset="0"/>
              </a:rPr>
              <a:t>information used in equals comparisons on the object is modified. </a:t>
            </a:r>
          </a:p>
          <a:p>
            <a:pPr marL="334963" indent="-317500">
              <a:lnSpc>
                <a:spcPct val="101000"/>
              </a:lnSpc>
              <a:spcBef>
                <a:spcPts val="700"/>
              </a:spcBef>
              <a:spcAft>
                <a:spcPts val="175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2800" b="1" dirty="0" err="1" smtClean="0">
                <a:latin typeface="Courier New"/>
                <a:cs typeface="Courier New"/>
              </a:rPr>
              <a:t>x.equals</a:t>
            </a:r>
            <a:r>
              <a:rPr lang="en-US" sz="2800" b="1" dirty="0">
                <a:latin typeface="Courier New"/>
                <a:cs typeface="Courier New"/>
              </a:rPr>
              <a:t>(</a:t>
            </a:r>
            <a:r>
              <a:rPr lang="en-US" sz="2800" b="1" dirty="0">
                <a:solidFill>
                  <a:srgbClr val="FF6600"/>
                </a:solidFill>
                <a:latin typeface="Courier New"/>
                <a:cs typeface="Courier New"/>
              </a:rPr>
              <a:t>null</a:t>
            </a:r>
            <a:r>
              <a:rPr lang="en-US" sz="2800" b="1" dirty="0">
                <a:latin typeface="Courier New"/>
                <a:cs typeface="Courier New"/>
              </a:rPr>
              <a:t>) == </a:t>
            </a:r>
            <a:r>
              <a:rPr lang="en-US" sz="2800" b="1" dirty="0" smtClean="0">
                <a:latin typeface="Courier New"/>
                <a:cs typeface="Courier New"/>
              </a:rPr>
              <a:t>false</a:t>
            </a:r>
            <a:endParaRPr lang="en-US" sz="2800" b="1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46083138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latin typeface="Lucida Sans Unicode" charset="0"/>
                <a:cs typeface="Lucida Sans Unicode" charset="0"/>
              </a:rPr>
              <a:t>The </a:t>
            </a:r>
            <a:r>
              <a:rPr lang="it-IT" dirty="0" err="1">
                <a:latin typeface="Courier New"/>
                <a:cs typeface="Courier New"/>
              </a:rPr>
              <a:t>hashCode</a:t>
            </a:r>
            <a:r>
              <a:rPr lang="it-IT" dirty="0">
                <a:latin typeface="Courier New"/>
                <a:cs typeface="Courier New"/>
              </a:rPr>
              <a:t>()</a:t>
            </a:r>
            <a:r>
              <a:rPr lang="it-IT" dirty="0">
                <a:latin typeface="Lucida Sans Unicode" charset="0"/>
                <a:cs typeface="Lucida Sans Unicode" charset="0"/>
              </a:rPr>
              <a:t> </a:t>
            </a:r>
            <a:r>
              <a:rPr lang="it-IT" dirty="0" err="1">
                <a:latin typeface="Lucida Sans Unicode" charset="0"/>
                <a:cs typeface="Lucida Sans Unicode" charset="0"/>
              </a:rPr>
              <a:t>contract</a:t>
            </a:r>
            <a:endParaRPr lang="it-IT" dirty="0">
              <a:latin typeface="Lucida Sans Unicode" charset="0"/>
              <a:cs typeface="Lucida Sans Unicode" charset="0"/>
            </a:endParaRPr>
          </a:p>
        </p:txBody>
      </p:sp>
      <p:sp>
        <p:nvSpPr>
          <p:cNvPr id="101378" name="Content Placeholder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85000"/>
              </a:lnSpc>
            </a:pPr>
            <a:r>
              <a:rPr lang="en-US" sz="2800" b="1" dirty="0" err="1" smtClean="0">
                <a:solidFill>
                  <a:srgbClr val="FF6600"/>
                </a:solidFill>
                <a:latin typeface="Courier New"/>
                <a:cs typeface="Courier New"/>
              </a:rPr>
              <a:t>hashCode</a:t>
            </a:r>
            <a:r>
              <a:rPr lang="en-US" sz="2800" b="1" dirty="0">
                <a:solidFill>
                  <a:srgbClr val="FF6600"/>
                </a:solidFill>
                <a:latin typeface="Courier New"/>
                <a:cs typeface="Courier New"/>
              </a:rPr>
              <a:t>(</a:t>
            </a:r>
            <a:r>
              <a:rPr lang="en-US" sz="2800" b="1" dirty="0" smtClean="0">
                <a:solidFill>
                  <a:srgbClr val="FF6600"/>
                </a:solidFill>
                <a:latin typeface="Courier New"/>
                <a:cs typeface="Courier New"/>
              </a:rPr>
              <a:t>)</a:t>
            </a:r>
            <a:r>
              <a:rPr lang="en-US" sz="2800" dirty="0" smtClean="0">
                <a:latin typeface="Lucida Sans Unicode" charset="0"/>
                <a:cs typeface="Lucida Sans Unicode" charset="0"/>
              </a:rPr>
              <a:t>must </a:t>
            </a:r>
            <a:r>
              <a:rPr lang="en-US" sz="2800" dirty="0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consistently</a:t>
            </a:r>
            <a:r>
              <a:rPr lang="en-US" sz="2800" dirty="0">
                <a:latin typeface="Lucida Sans Unicode" charset="0"/>
                <a:cs typeface="Lucida Sans Unicode" charset="0"/>
              </a:rPr>
              <a:t> return the same value, if no information used in </a:t>
            </a:r>
            <a:r>
              <a:rPr lang="en-US" sz="2800" b="1" dirty="0">
                <a:latin typeface="Courier New"/>
                <a:cs typeface="Courier New"/>
              </a:rPr>
              <a:t>equals()</a:t>
            </a:r>
            <a:r>
              <a:rPr lang="en-US" sz="2800" dirty="0">
                <a:latin typeface="Lucida Sans Unicode" charset="0"/>
                <a:cs typeface="Lucida Sans Unicode" charset="0"/>
              </a:rPr>
              <a:t> </a:t>
            </a:r>
            <a:r>
              <a:rPr lang="en-US" sz="2800" dirty="0" smtClean="0">
                <a:latin typeface="Lucida Sans Unicode" charset="0"/>
                <a:cs typeface="Lucida Sans Unicode" charset="0"/>
              </a:rPr>
              <a:t>is </a:t>
            </a:r>
            <a:r>
              <a:rPr lang="en-US" sz="2800" dirty="0">
                <a:latin typeface="Lucida Sans Unicode" charset="0"/>
                <a:cs typeface="Lucida Sans Unicode" charset="0"/>
              </a:rPr>
              <a:t>modified.</a:t>
            </a:r>
          </a:p>
          <a:p>
            <a:pPr>
              <a:lnSpc>
                <a:spcPct val="85000"/>
              </a:lnSpc>
            </a:pPr>
            <a:r>
              <a:rPr lang="en-US" sz="2800" dirty="0">
                <a:latin typeface="Lucida Sans Unicode" charset="0"/>
                <a:cs typeface="Lucida Sans Unicode" charset="0"/>
              </a:rPr>
              <a:t>If two objects are equal for </a:t>
            </a:r>
            <a:r>
              <a:rPr lang="en-US" sz="2800" b="1" dirty="0">
                <a:latin typeface="Courier New"/>
                <a:cs typeface="Courier New"/>
              </a:rPr>
              <a:t>equals()</a:t>
            </a:r>
            <a:r>
              <a:rPr lang="en-US" sz="2800" dirty="0">
                <a:latin typeface="Lucida Sans Unicode" charset="0"/>
                <a:cs typeface="Lucida Sans Unicode" charset="0"/>
              </a:rPr>
              <a:t> method, then calling </a:t>
            </a:r>
            <a:r>
              <a:rPr lang="en-US" sz="2800" b="1" dirty="0" err="1" smtClean="0">
                <a:latin typeface="Courier New"/>
                <a:cs typeface="Courier New"/>
              </a:rPr>
              <a:t>hashCode</a:t>
            </a:r>
            <a:r>
              <a:rPr lang="en-US" sz="2800" b="1" dirty="0">
                <a:latin typeface="Courier New"/>
                <a:cs typeface="Courier New"/>
              </a:rPr>
              <a:t>()</a:t>
            </a:r>
            <a:r>
              <a:rPr lang="en-US" sz="2800" dirty="0">
                <a:latin typeface="Lucida Sans Unicode" charset="0"/>
                <a:cs typeface="Lucida Sans Unicode" charset="0"/>
              </a:rPr>
              <a:t> </a:t>
            </a:r>
            <a:r>
              <a:rPr lang="en-US" sz="2800" dirty="0" smtClean="0">
                <a:latin typeface="Lucida Sans Unicode" charset="0"/>
                <a:cs typeface="Lucida Sans Unicode" charset="0"/>
              </a:rPr>
              <a:t>on </a:t>
            </a:r>
            <a:r>
              <a:rPr lang="en-US" sz="2800" dirty="0">
                <a:latin typeface="Lucida Sans Unicode" charset="0"/>
                <a:cs typeface="Lucida Sans Unicode" charset="0"/>
              </a:rPr>
              <a:t>the two objects must produce the </a:t>
            </a:r>
            <a:r>
              <a:rPr lang="it-IT" sz="2800" dirty="0" err="1">
                <a:latin typeface="Lucida Sans Unicode" charset="0"/>
                <a:cs typeface="Lucida Sans Unicode" charset="0"/>
              </a:rPr>
              <a:t>same</a:t>
            </a:r>
            <a:r>
              <a:rPr lang="it-IT" sz="2800" dirty="0">
                <a:latin typeface="Lucida Sans Unicode" charset="0"/>
                <a:cs typeface="Lucida Sans Unicode" charset="0"/>
              </a:rPr>
              <a:t> </a:t>
            </a:r>
            <a:r>
              <a:rPr lang="it-IT" sz="2800" dirty="0" err="1" smtClean="0">
                <a:latin typeface="Lucida Sans Unicode" charset="0"/>
                <a:cs typeface="Lucida Sans Unicode" charset="0"/>
              </a:rPr>
              <a:t>result</a:t>
            </a:r>
            <a:endParaRPr lang="it-IT" sz="2800" dirty="0">
              <a:latin typeface="Lucida Sans Unicode" charset="0"/>
              <a:cs typeface="Lucida Sans Unicode" charset="0"/>
            </a:endParaRPr>
          </a:p>
          <a:p>
            <a:pPr>
              <a:lnSpc>
                <a:spcPct val="85000"/>
              </a:lnSpc>
            </a:pPr>
            <a:r>
              <a:rPr lang="en-US" sz="2800" dirty="0">
                <a:latin typeface="Lucida Sans Unicode" charset="0"/>
                <a:cs typeface="Lucida Sans Unicode" charset="0"/>
              </a:rPr>
              <a:t>If two objects are unequal for </a:t>
            </a:r>
            <a:r>
              <a:rPr lang="en-US" sz="2800" b="1" dirty="0">
                <a:latin typeface="Courier New"/>
                <a:cs typeface="Courier New"/>
              </a:rPr>
              <a:t>equals()</a:t>
            </a:r>
            <a:r>
              <a:rPr lang="en-US" sz="2800" dirty="0">
                <a:latin typeface="Lucida Sans Unicode" charset="0"/>
                <a:cs typeface="Lucida Sans Unicode" charset="0"/>
              </a:rPr>
              <a:t> method, then calling </a:t>
            </a:r>
            <a:r>
              <a:rPr lang="en-US" sz="2800" b="1" dirty="0" err="1" smtClean="0">
                <a:latin typeface="Courier New"/>
                <a:cs typeface="Courier New"/>
              </a:rPr>
              <a:t>hashCode</a:t>
            </a:r>
            <a:r>
              <a:rPr lang="en-US" sz="2800" b="1" dirty="0" smtClean="0">
                <a:latin typeface="Courier New"/>
                <a:cs typeface="Courier New"/>
              </a:rPr>
              <a:t>()</a:t>
            </a:r>
            <a:r>
              <a:rPr lang="en-US" sz="2800" dirty="0" smtClean="0">
                <a:latin typeface="Lucida Sans Unicode" charset="0"/>
                <a:cs typeface="Lucida Sans Unicode" charset="0"/>
              </a:rPr>
              <a:t> on </a:t>
            </a:r>
            <a:r>
              <a:rPr lang="en-US" sz="2800" dirty="0">
                <a:latin typeface="Lucida Sans Unicode" charset="0"/>
                <a:cs typeface="Lucida Sans Unicode" charset="0"/>
              </a:rPr>
              <a:t>the two objects </a:t>
            </a:r>
            <a:r>
              <a:rPr lang="en-US" sz="2800" i="1" dirty="0" smtClean="0">
                <a:latin typeface="Lucida Sans Unicode" charset="0"/>
                <a:cs typeface="Lucida Sans Unicode" charset="0"/>
              </a:rPr>
              <a:t>may</a:t>
            </a:r>
            <a:r>
              <a:rPr lang="en-US" sz="2800" dirty="0" smtClean="0">
                <a:latin typeface="Lucida Sans Unicode" charset="0"/>
                <a:cs typeface="Lucida Sans Unicode" charset="0"/>
              </a:rPr>
              <a:t> produce </a:t>
            </a:r>
            <a:r>
              <a:rPr lang="en-US" sz="2800" dirty="0">
                <a:latin typeface="Lucida Sans Unicode" charset="0"/>
                <a:cs typeface="Lucida Sans Unicode" charset="0"/>
              </a:rPr>
              <a:t>distinct </a:t>
            </a:r>
            <a:r>
              <a:rPr lang="en-US" sz="2800" dirty="0" smtClean="0">
                <a:latin typeface="Lucida Sans Unicode" charset="0"/>
                <a:cs typeface="Lucida Sans Unicode" charset="0"/>
              </a:rPr>
              <a:t>results.</a:t>
            </a:r>
          </a:p>
          <a:p>
            <a:pPr lvl="1">
              <a:lnSpc>
                <a:spcPct val="85000"/>
              </a:lnSpc>
            </a:pPr>
            <a:r>
              <a:rPr lang="en-US" sz="2400" dirty="0">
                <a:latin typeface="Lucida Sans Unicode" charset="0"/>
                <a:cs typeface="Lucida Sans Unicode" charset="0"/>
              </a:rPr>
              <a:t>producing distinct results for unequal objects may improve the performance of hash tables</a:t>
            </a:r>
            <a:endParaRPr lang="it-IT" sz="2400" dirty="0">
              <a:latin typeface="Lucida Sans Unicode" charset="0"/>
              <a:cs typeface="Lucida Sans Unicod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444864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Courier New"/>
                <a:cs typeface="Courier New"/>
              </a:rPr>
              <a:t>hashCode</a:t>
            </a:r>
            <a:r>
              <a:rPr lang="en-US" dirty="0" smtClean="0">
                <a:latin typeface="Courier New"/>
                <a:cs typeface="Courier New"/>
              </a:rPr>
              <a:t>()</a:t>
            </a:r>
            <a:r>
              <a:rPr lang="en-US" dirty="0" smtClean="0"/>
              <a:t> vs. </a:t>
            </a:r>
            <a:r>
              <a:rPr lang="en-US" dirty="0" smtClean="0">
                <a:latin typeface="Courier New"/>
                <a:cs typeface="Courier New"/>
              </a:rPr>
              <a:t>equals()</a:t>
            </a:r>
            <a:endParaRPr lang="en-US" dirty="0">
              <a:latin typeface="Courier New"/>
              <a:cs typeface="Courier New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6372815"/>
              </p:ext>
            </p:extLst>
          </p:nvPr>
        </p:nvGraphicFramePr>
        <p:xfrm>
          <a:off x="251520" y="1295400"/>
          <a:ext cx="8712969" cy="4208342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3384376"/>
                <a:gridCol w="2808312"/>
                <a:gridCol w="2520281"/>
              </a:tblGrid>
              <a:tr h="76444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Condition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Required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Not Required (but allowed)</a:t>
                      </a:r>
                      <a:endParaRPr lang="en-US" sz="2400" dirty="0"/>
                    </a:p>
                  </a:txBody>
                  <a:tcPr anchor="ctr"/>
                </a:tc>
              </a:tr>
              <a:tr h="764441"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dirty="0" err="1" smtClean="0">
                          <a:latin typeface="Courier New"/>
                          <a:cs typeface="Courier New"/>
                        </a:rPr>
                        <a:t>x.equals</a:t>
                      </a:r>
                      <a:r>
                        <a:rPr lang="en-US" sz="2000" b="1" i="0" dirty="0" smtClean="0">
                          <a:latin typeface="Courier New"/>
                          <a:cs typeface="Courier New"/>
                        </a:rPr>
                        <a:t>(y)</a:t>
                      </a:r>
                      <a:r>
                        <a:rPr lang="en-US" sz="2000" b="1" i="0" baseline="0" dirty="0" smtClean="0">
                          <a:latin typeface="Courier New"/>
                          <a:cs typeface="Courier New"/>
                        </a:rPr>
                        <a:t> == true</a:t>
                      </a:r>
                      <a:endParaRPr lang="en-US" sz="2000" b="1" i="0" dirty="0">
                        <a:latin typeface="Courier New"/>
                        <a:cs typeface="Courier New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dirty="0" err="1" smtClean="0">
                          <a:latin typeface="Courier New"/>
                          <a:cs typeface="Courier New"/>
                        </a:rPr>
                        <a:t>x.hashCode</a:t>
                      </a:r>
                      <a:r>
                        <a:rPr lang="en-US" sz="2000" b="1" i="0" dirty="0" smtClean="0">
                          <a:latin typeface="Courier New"/>
                          <a:cs typeface="Courier New"/>
                        </a:rPr>
                        <a:t>()== </a:t>
                      </a:r>
                      <a:r>
                        <a:rPr lang="en-US" sz="2000" b="1" i="0" dirty="0" err="1" smtClean="0">
                          <a:latin typeface="Courier New"/>
                          <a:cs typeface="Courier New"/>
                        </a:rPr>
                        <a:t>y.hashCode</a:t>
                      </a:r>
                      <a:r>
                        <a:rPr lang="en-US" sz="2000" b="1" i="0" dirty="0" smtClean="0">
                          <a:latin typeface="Courier New"/>
                          <a:cs typeface="Courier New"/>
                        </a:rPr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000" b="1" i="0">
                        <a:latin typeface="Courier New"/>
                        <a:cs typeface="Courier New"/>
                      </a:endParaRPr>
                    </a:p>
                  </a:txBody>
                  <a:tcPr anchor="ctr"/>
                </a:tc>
              </a:tr>
              <a:tr h="764441"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dirty="0" err="1" smtClean="0">
                          <a:latin typeface="Courier New"/>
                          <a:cs typeface="Courier New"/>
                        </a:rPr>
                        <a:t>x.hashCode</a:t>
                      </a:r>
                      <a:r>
                        <a:rPr lang="en-US" sz="2000" b="1" i="0" dirty="0" smtClean="0">
                          <a:latin typeface="Courier New"/>
                          <a:cs typeface="Courier New"/>
                        </a:rPr>
                        <a:t>() == </a:t>
                      </a:r>
                      <a:r>
                        <a:rPr lang="en-US" sz="2000" b="1" i="0" dirty="0" err="1" smtClean="0">
                          <a:latin typeface="Courier New"/>
                          <a:cs typeface="Courier New"/>
                        </a:rPr>
                        <a:t>y.hashCode</a:t>
                      </a:r>
                      <a:r>
                        <a:rPr lang="en-US" sz="2000" b="1" i="0" dirty="0" smtClean="0">
                          <a:latin typeface="Courier New"/>
                          <a:cs typeface="Courier New"/>
                        </a:rPr>
                        <a:t>()</a:t>
                      </a:r>
                      <a:endParaRPr lang="en-US" sz="2000" b="1" i="0" dirty="0">
                        <a:latin typeface="Courier New"/>
                        <a:cs typeface="Courier New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000" b="1" i="0" dirty="0">
                        <a:latin typeface="Courier New"/>
                        <a:cs typeface="Courier New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dirty="0" err="1" smtClean="0">
                          <a:latin typeface="Courier New"/>
                          <a:cs typeface="Courier New"/>
                        </a:rPr>
                        <a:t>x.equals</a:t>
                      </a:r>
                      <a:r>
                        <a:rPr lang="en-US" sz="2000" b="1" i="0" dirty="0" smtClean="0">
                          <a:latin typeface="Courier New"/>
                          <a:cs typeface="Courier New"/>
                        </a:rPr>
                        <a:t>(y)</a:t>
                      </a:r>
                      <a:r>
                        <a:rPr lang="en-US" sz="2000" b="1" i="0" baseline="0" dirty="0" smtClean="0">
                          <a:latin typeface="Courier New"/>
                          <a:cs typeface="Courier New"/>
                        </a:rPr>
                        <a:t>== true</a:t>
                      </a:r>
                      <a:endParaRPr lang="en-US" sz="2000" b="1" i="0" dirty="0" smtClean="0">
                        <a:latin typeface="Courier New"/>
                        <a:cs typeface="Courier New"/>
                      </a:endParaRPr>
                    </a:p>
                  </a:txBody>
                  <a:tcPr anchor="ctr"/>
                </a:tc>
              </a:tr>
              <a:tr h="76444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dirty="0" err="1" smtClean="0">
                          <a:latin typeface="Courier New"/>
                          <a:cs typeface="Courier New"/>
                        </a:rPr>
                        <a:t>x.equals</a:t>
                      </a:r>
                      <a:r>
                        <a:rPr lang="en-US" sz="2000" b="1" i="0" dirty="0" smtClean="0">
                          <a:latin typeface="Courier New"/>
                          <a:cs typeface="Courier New"/>
                        </a:rPr>
                        <a:t>(y)</a:t>
                      </a:r>
                      <a:r>
                        <a:rPr lang="en-US" sz="2000" b="1" i="0" baseline="0" dirty="0" smtClean="0">
                          <a:latin typeface="Courier New"/>
                          <a:cs typeface="Courier New"/>
                        </a:rPr>
                        <a:t> == false</a:t>
                      </a:r>
                      <a:endParaRPr lang="en-US" sz="2000" b="1" i="0" dirty="0" smtClean="0">
                        <a:latin typeface="Courier New"/>
                        <a:cs typeface="Courier New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000" b="1" i="0" dirty="0">
                        <a:latin typeface="Courier New"/>
                        <a:cs typeface="Courier New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dirty="0" smtClean="0">
                          <a:latin typeface="Courier New"/>
                          <a:cs typeface="Courier New"/>
                        </a:rPr>
                        <a:t>-</a:t>
                      </a:r>
                      <a:endParaRPr lang="en-US" sz="2000" b="1" i="0" dirty="0">
                        <a:latin typeface="Courier New"/>
                        <a:cs typeface="Courier New"/>
                      </a:endParaRPr>
                    </a:p>
                  </a:txBody>
                  <a:tcPr anchor="ctr"/>
                </a:tc>
              </a:tr>
              <a:tr h="109205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dirty="0" err="1" smtClean="0">
                          <a:latin typeface="Courier New"/>
                          <a:cs typeface="Courier New"/>
                        </a:rPr>
                        <a:t>x.hashCode</a:t>
                      </a:r>
                      <a:r>
                        <a:rPr lang="en-US" sz="2000" b="1" i="0" dirty="0" smtClean="0">
                          <a:latin typeface="Courier New"/>
                          <a:cs typeface="Courier New"/>
                        </a:rPr>
                        <a:t>() != </a:t>
                      </a:r>
                      <a:r>
                        <a:rPr lang="en-US" sz="2000" b="1" i="0" dirty="0" err="1" smtClean="0">
                          <a:latin typeface="Courier New"/>
                          <a:cs typeface="Courier New"/>
                        </a:rPr>
                        <a:t>y.hashCode</a:t>
                      </a:r>
                      <a:r>
                        <a:rPr lang="en-US" sz="2000" b="1" i="0" dirty="0" smtClean="0">
                          <a:latin typeface="Courier New"/>
                          <a:cs typeface="Courier New"/>
                        </a:rPr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dirty="0" err="1" smtClean="0">
                          <a:latin typeface="Courier New"/>
                          <a:cs typeface="Courier New"/>
                        </a:rPr>
                        <a:t>x.equals</a:t>
                      </a:r>
                      <a:r>
                        <a:rPr lang="en-US" sz="2000" b="1" i="0" dirty="0" smtClean="0">
                          <a:latin typeface="Courier New"/>
                          <a:cs typeface="Courier New"/>
                        </a:rPr>
                        <a:t>(y)</a:t>
                      </a:r>
                      <a:r>
                        <a:rPr lang="en-US" sz="2000" b="1" i="0" baseline="0" dirty="0" smtClean="0">
                          <a:latin typeface="Courier New"/>
                          <a:cs typeface="Courier New"/>
                        </a:rPr>
                        <a:t>== false</a:t>
                      </a:r>
                      <a:endParaRPr lang="en-US" sz="2000" b="1" i="0" dirty="0" smtClean="0">
                        <a:latin typeface="Courier New"/>
                        <a:cs typeface="Courier New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000" b="1" i="0" dirty="0">
                        <a:latin typeface="Courier New"/>
                        <a:cs typeface="Courier New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720927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 smtClean="0">
                <a:latin typeface="Courier New"/>
                <a:cs typeface="Courier New"/>
              </a:rPr>
              <a:t>hashCode</a:t>
            </a:r>
            <a:r>
              <a:rPr lang="it-IT" dirty="0" smtClean="0">
                <a:latin typeface="Lucida Sans Unicode" charset="0"/>
                <a:cs typeface="Lucida Sans Unicode" charset="0"/>
              </a:rPr>
              <a:t> </a:t>
            </a:r>
            <a:r>
              <a:rPr lang="it-IT" dirty="0" err="1" smtClean="0">
                <a:latin typeface="Lucida Sans Unicode" charset="0"/>
                <a:cs typeface="Lucida Sans Unicode" charset="0"/>
              </a:rPr>
              <a:t>example</a:t>
            </a:r>
            <a:endParaRPr lang="it-IT" dirty="0">
              <a:latin typeface="Lucida Sans Unicode" charset="0"/>
              <a:cs typeface="Lucida Sans Unicode" charset="0"/>
            </a:endParaRPr>
          </a:p>
        </p:txBody>
      </p:sp>
      <p:pic>
        <p:nvPicPr>
          <p:cNvPr id="100354" name="Immagine 2" descr="untitled.bmp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692" y="1285875"/>
            <a:ext cx="8762795" cy="4765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3231794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auto">
          <a:xfrm>
            <a:off x="467544" y="2276872"/>
            <a:ext cx="7776864" cy="19442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lIns="90360" tIns="44280" rIns="90360" bIns="44280" rtlCol="0" anchor="ctr"/>
          <a:lstStyle/>
          <a:p>
            <a:pPr algn="ctr"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000" b="1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12642" name="Rectangle 1"/>
          <p:cNvSpPr>
            <a:spLocks noGrp="1" noChangeArrowheads="1"/>
          </p:cNvSpPr>
          <p:nvPr>
            <p:ph type="title"/>
          </p:nvPr>
        </p:nvSpPr>
        <p:spPr>
          <a:xfrm>
            <a:off x="228600" y="252979"/>
            <a:ext cx="8605838" cy="710067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4000" dirty="0" err="1">
                <a:latin typeface="Courier New"/>
                <a:cs typeface="Courier New"/>
              </a:rPr>
              <a:t>System.out.print</a:t>
            </a:r>
            <a:r>
              <a:rPr lang="en-GB" sz="4000" dirty="0">
                <a:latin typeface="Courier New"/>
                <a:cs typeface="Courier New"/>
              </a:rPr>
              <a:t>( Object )</a:t>
            </a:r>
          </a:p>
        </p:txBody>
      </p:sp>
      <p:sp>
        <p:nvSpPr>
          <p:cNvPr id="112643" name="Rectangle 2"/>
          <p:cNvSpPr>
            <a:spLocks noGrp="1" noChangeArrowheads="1"/>
          </p:cNvSpPr>
          <p:nvPr>
            <p:ph idx="1"/>
          </p:nvPr>
        </p:nvSpPr>
        <p:spPr>
          <a:xfrm>
            <a:off x="609600" y="1295400"/>
            <a:ext cx="8224838" cy="4941912"/>
          </a:xfrm>
        </p:spPr>
        <p:txBody>
          <a:bodyPr>
            <a:normAutofit/>
          </a:bodyPr>
          <a:lstStyle/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b="1" i="1" dirty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print</a:t>
            </a:r>
            <a:r>
              <a:rPr lang="en-GB" sz="2800" b="1" dirty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 </a:t>
            </a:r>
            <a:r>
              <a:rPr lang="en-GB" sz="2800" dirty="0">
                <a:latin typeface="Lucida Sans Unicode" charset="0"/>
                <a:cs typeface="Lucida Sans Unicode" charset="0"/>
              </a:rPr>
              <a:t>methods implicitly invoke </a:t>
            </a:r>
            <a:r>
              <a:rPr lang="en-GB" sz="2800" b="1" dirty="0" err="1">
                <a:latin typeface="Courier New" charset="0"/>
                <a:cs typeface="Lucida Sans Unicode" charset="0"/>
              </a:rPr>
              <a:t>toString</a:t>
            </a:r>
            <a:r>
              <a:rPr lang="en-GB" sz="2800" b="1" dirty="0">
                <a:latin typeface="Courier New" charset="0"/>
                <a:cs typeface="Lucida Sans Unicode" charset="0"/>
              </a:rPr>
              <a:t>() </a:t>
            </a:r>
            <a:r>
              <a:rPr lang="en-GB" sz="2800" dirty="0">
                <a:latin typeface="Lucida Sans Unicode" charset="0"/>
                <a:cs typeface="Lucida Sans Unicode" charset="0"/>
              </a:rPr>
              <a:t>on all object parameters</a:t>
            </a:r>
            <a:r>
              <a:rPr lang="en-GB" sz="2800" b="1" dirty="0">
                <a:latin typeface="Courier New" charset="0"/>
                <a:cs typeface="Lucida Sans Unicode" charset="0"/>
              </a:rPr>
              <a:t> </a:t>
            </a:r>
          </a:p>
          <a:p>
            <a:pPr eaLnBrk="1" hangingPunct="1">
              <a:lnSpc>
                <a:spcPct val="100000"/>
              </a:lnSpc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>
                <a:latin typeface="Courier New" charset="0"/>
                <a:cs typeface="Lucida Sans Unicode" charset="0"/>
              </a:rPr>
              <a:t>	class Car{ String </a:t>
            </a:r>
            <a:r>
              <a:rPr lang="en-GB" sz="2400" b="1" dirty="0" err="1">
                <a:latin typeface="Courier New" charset="0"/>
                <a:cs typeface="Lucida Sans Unicode" charset="0"/>
              </a:rPr>
              <a:t>toString</a:t>
            </a:r>
            <a:r>
              <a:rPr lang="en-GB" sz="2400" b="1" dirty="0">
                <a:latin typeface="Courier New" charset="0"/>
                <a:cs typeface="Lucida Sans Unicode" charset="0"/>
              </a:rPr>
              <a:t>(){…} }</a:t>
            </a:r>
          </a:p>
          <a:p>
            <a:pPr eaLnBrk="1" hangingPunct="1">
              <a:lnSpc>
                <a:spcPct val="100000"/>
              </a:lnSpc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>
                <a:latin typeface="Courier New" charset="0"/>
                <a:cs typeface="Lucida Sans Unicode" charset="0"/>
              </a:rPr>
              <a:t>	Car c = new Car();</a:t>
            </a:r>
          </a:p>
          <a:p>
            <a:pPr eaLnBrk="1" hangingPunct="1">
              <a:lnSpc>
                <a:spcPct val="100000"/>
              </a:lnSpc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>
                <a:latin typeface="Courier New" charset="0"/>
                <a:cs typeface="Lucida Sans Unicode" charset="0"/>
              </a:rPr>
              <a:t>	</a:t>
            </a:r>
            <a:r>
              <a:rPr lang="en-GB" sz="2400" b="1" dirty="0" err="1">
                <a:latin typeface="Courier New" charset="0"/>
                <a:cs typeface="Lucida Sans Unicode" charset="0"/>
              </a:rPr>
              <a:t>System.out.</a:t>
            </a:r>
            <a:r>
              <a:rPr lang="en-GB" sz="2400" b="1" dirty="0" err="1">
                <a:solidFill>
                  <a:srgbClr val="FF6600"/>
                </a:solidFill>
                <a:latin typeface="Courier New" charset="0"/>
                <a:cs typeface="Lucida Sans Unicode" charset="0"/>
              </a:rPr>
              <a:t>print</a:t>
            </a:r>
            <a:r>
              <a:rPr lang="en-GB" sz="2400" b="1" dirty="0">
                <a:latin typeface="Courier New" charset="0"/>
                <a:cs typeface="Lucida Sans Unicode" charset="0"/>
              </a:rPr>
              <a:t>(c);  // same as...</a:t>
            </a:r>
          </a:p>
          <a:p>
            <a:pPr eaLnBrk="1" hangingPunct="1">
              <a:lnSpc>
                <a:spcPct val="100000"/>
              </a:lnSpc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>
                <a:latin typeface="Courier New" charset="0"/>
                <a:cs typeface="Lucida Sans Unicode" charset="0"/>
              </a:rPr>
              <a:t>	</a:t>
            </a:r>
            <a:r>
              <a:rPr lang="en-GB" sz="2400" b="1" dirty="0" err="1" smtClean="0">
                <a:latin typeface="Courier New" charset="0"/>
                <a:cs typeface="Lucida Sans Unicode" charset="0"/>
              </a:rPr>
              <a:t>System.out.</a:t>
            </a:r>
            <a:r>
              <a:rPr lang="en-GB" sz="2400" b="1" dirty="0" err="1" smtClean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print</a:t>
            </a:r>
            <a:r>
              <a:rPr lang="en-GB" sz="2400" b="1" dirty="0">
                <a:latin typeface="Courier New" charset="0"/>
                <a:cs typeface="Lucida Sans Unicode" charset="0"/>
              </a:rPr>
              <a:t>(</a:t>
            </a:r>
            <a:r>
              <a:rPr lang="en-GB" sz="2400" b="1" dirty="0" err="1">
                <a:latin typeface="Courier New" charset="0"/>
                <a:cs typeface="Lucida Sans Unicode" charset="0"/>
              </a:rPr>
              <a:t>c.toString</a:t>
            </a:r>
            <a:r>
              <a:rPr lang="en-GB" sz="2400" b="1" dirty="0">
                <a:latin typeface="Courier New" charset="0"/>
                <a:cs typeface="Lucida Sans Unicode" charset="0"/>
              </a:rPr>
              <a:t>());</a:t>
            </a: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>
                <a:latin typeface="Lucida Sans Unicode" charset="0"/>
                <a:cs typeface="Lucida Sans Unicode" charset="0"/>
              </a:rPr>
              <a:t>Polymorphism applies when </a:t>
            </a:r>
            <a:r>
              <a:rPr lang="en-GB" sz="2800" b="1" dirty="0" err="1">
                <a:latin typeface="Courier New" charset="0"/>
                <a:cs typeface="Lucida Sans Unicode" charset="0"/>
              </a:rPr>
              <a:t>toString</a:t>
            </a:r>
            <a:r>
              <a:rPr lang="en-GB" sz="2800" b="1" dirty="0">
                <a:latin typeface="Courier New" charset="0"/>
                <a:cs typeface="Lucida Sans Unicode" charset="0"/>
              </a:rPr>
              <a:t>()</a:t>
            </a:r>
            <a:r>
              <a:rPr lang="en-GB" sz="2800" dirty="0">
                <a:latin typeface="Lucida Sans Unicode" charset="0"/>
                <a:cs typeface="Lucida Sans Unicode" charset="0"/>
              </a:rPr>
              <a:t> is overridden </a:t>
            </a:r>
          </a:p>
          <a:p>
            <a:pPr eaLnBrk="1" hangingPunct="1">
              <a:lnSpc>
                <a:spcPct val="100000"/>
              </a:lnSpc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>
                <a:latin typeface="Courier New" charset="0"/>
                <a:cs typeface="Lucida Sans Unicode" charset="0"/>
              </a:rPr>
              <a:t>	Object </a:t>
            </a:r>
            <a:r>
              <a:rPr lang="en-GB" sz="2400" b="1" dirty="0" err="1">
                <a:latin typeface="Courier New" charset="0"/>
                <a:cs typeface="Lucida Sans Unicode" charset="0"/>
              </a:rPr>
              <a:t>ob</a:t>
            </a:r>
            <a:r>
              <a:rPr lang="en-GB" sz="2400" b="1" dirty="0">
                <a:latin typeface="Courier New" charset="0"/>
                <a:cs typeface="Lucida Sans Unicode" charset="0"/>
              </a:rPr>
              <a:t> = c;</a:t>
            </a:r>
          </a:p>
          <a:p>
            <a:pPr eaLnBrk="1" hangingPunct="1">
              <a:lnSpc>
                <a:spcPct val="100000"/>
              </a:lnSpc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>
                <a:solidFill>
                  <a:schemeClr val="tx1"/>
                </a:solidFill>
                <a:latin typeface="Courier New" charset="0"/>
                <a:cs typeface="Lucida Sans Unicode" charset="0"/>
              </a:rPr>
              <a:t>	</a:t>
            </a:r>
            <a:r>
              <a:rPr lang="en-GB" sz="2400" b="1" dirty="0" err="1">
                <a:solidFill>
                  <a:schemeClr val="tx1"/>
                </a:solidFill>
                <a:latin typeface="Courier New" charset="0"/>
                <a:cs typeface="Lucida Sans Unicode" charset="0"/>
              </a:rPr>
              <a:t>System.out.print</a:t>
            </a:r>
            <a:r>
              <a:rPr lang="en-GB" sz="2400" b="1" dirty="0">
                <a:solidFill>
                  <a:schemeClr val="tx1"/>
                </a:solidFill>
                <a:latin typeface="Courier New" charset="0"/>
                <a:cs typeface="Lucida Sans Unicode" charset="0"/>
              </a:rPr>
              <a:t>(</a:t>
            </a:r>
            <a:r>
              <a:rPr lang="en-GB" sz="2400" b="1" dirty="0" err="1">
                <a:solidFill>
                  <a:schemeClr val="tx1"/>
                </a:solidFill>
                <a:latin typeface="Courier New" charset="0"/>
                <a:cs typeface="Lucida Sans Unicode" charset="0"/>
              </a:rPr>
              <a:t>ob</a:t>
            </a:r>
            <a:r>
              <a:rPr lang="en-GB" sz="2400" b="1" dirty="0">
                <a:solidFill>
                  <a:schemeClr val="tx1"/>
                </a:solidFill>
                <a:latin typeface="Courier New" charset="0"/>
                <a:cs typeface="Lucida Sans Unicode" charset="0"/>
              </a:rPr>
              <a:t>)</a:t>
            </a:r>
            <a:r>
              <a:rPr lang="en-GB" sz="2400" b="1" dirty="0" smtClean="0">
                <a:solidFill>
                  <a:schemeClr val="tx1"/>
                </a:solidFill>
                <a:latin typeface="Courier New" charset="0"/>
                <a:cs typeface="Lucida Sans Unicode" charset="0"/>
              </a:rPr>
              <a:t>;</a:t>
            </a:r>
            <a:r>
              <a:rPr lang="en-GB" sz="2000" b="1" dirty="0" smtClean="0">
                <a:solidFill>
                  <a:srgbClr val="FF6633"/>
                </a:solidFill>
                <a:latin typeface="Courier New" charset="0"/>
                <a:cs typeface="Lucida Sans Unicode" charset="0"/>
              </a:rPr>
              <a:t>//Car</a:t>
            </a:r>
            <a:r>
              <a:rPr lang="ja-JP" altLang="en-GB" sz="2000" b="1" dirty="0" smtClean="0">
                <a:solidFill>
                  <a:srgbClr val="FF6633"/>
                </a:solidFill>
                <a:latin typeface="Courier New" charset="0"/>
                <a:cs typeface="Lucida Sans Unicode" charset="0"/>
              </a:rPr>
              <a:t>’</a:t>
            </a:r>
            <a:r>
              <a:rPr lang="en-GB" altLang="ja-JP" sz="2000" b="1" dirty="0" smtClean="0">
                <a:solidFill>
                  <a:srgbClr val="FF6633"/>
                </a:solidFill>
                <a:latin typeface="Courier New" charset="0"/>
                <a:cs typeface="Lucida Sans Unicode" charset="0"/>
              </a:rPr>
              <a:t>s </a:t>
            </a:r>
            <a:r>
              <a:rPr lang="en-GB" altLang="ja-JP" sz="2000" b="1" dirty="0" err="1">
                <a:solidFill>
                  <a:srgbClr val="FF6633"/>
                </a:solidFill>
                <a:latin typeface="Courier New" charset="0"/>
                <a:cs typeface="Lucida Sans Unicode" charset="0"/>
              </a:rPr>
              <a:t>toString</a:t>
            </a:r>
            <a:r>
              <a:rPr lang="en-GB" altLang="ja-JP" sz="2000" b="1" dirty="0">
                <a:solidFill>
                  <a:srgbClr val="FF6633"/>
                </a:solidFill>
                <a:latin typeface="Courier New" charset="0"/>
                <a:cs typeface="Lucida Sans Unicode" charset="0"/>
              </a:rPr>
              <a:t>(</a:t>
            </a:r>
            <a:r>
              <a:rPr lang="en-GB" altLang="ja-JP" sz="2000" b="1" dirty="0" smtClean="0">
                <a:solidFill>
                  <a:srgbClr val="FF6633"/>
                </a:solidFill>
                <a:latin typeface="Courier New" charset="0"/>
                <a:cs typeface="Lucida Sans Unicode" charset="0"/>
              </a:rPr>
              <a:t>) called</a:t>
            </a:r>
            <a:endParaRPr lang="en-GB" sz="2400" b="1" dirty="0">
              <a:solidFill>
                <a:srgbClr val="FF6633"/>
              </a:solidFill>
              <a:latin typeface="Courier New" charset="0"/>
              <a:cs typeface="Lucida Sans Unicode" charset="0"/>
            </a:endParaRPr>
          </a:p>
        </p:txBody>
      </p:sp>
      <p:sp>
        <p:nvSpPr>
          <p:cNvPr id="112641" name="Segnaposto numero diapositiva 5"/>
          <p:cNvSpPr>
            <a:spLocks noGrp="1"/>
          </p:cNvSpPr>
          <p:nvPr>
            <p:ph type="sldNum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4FF1C78F-85BE-FA4E-A433-41E71BB13AD7}" type="slidenum">
              <a:rPr lang="en-GB" sz="1200">
                <a:solidFill>
                  <a:srgbClr val="000000"/>
                </a:solidFill>
              </a:rPr>
              <a:pPr eaLnBrk="1" hangingPunct="1"/>
              <a:t>71</a:t>
            </a:fld>
            <a:endParaRPr lang="en-GB" sz="12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auto">
          <a:xfrm>
            <a:off x="467544" y="1268760"/>
            <a:ext cx="8424936" cy="46085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lIns="90360" tIns="44280" rIns="90360" bIns="44280" rtlCol="0" anchor="ctr"/>
          <a:lstStyle/>
          <a:p>
            <a:pPr algn="ctr"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000" b="1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222209" name="Segnaposto numero diapositiva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924992A3-D410-8248-A531-2E8A9766DE3D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/>
              <a:t>72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222210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177800"/>
            <a:ext cx="8912225" cy="860425"/>
          </a:xfrm>
        </p:spPr>
        <p:txBody>
          <a:bodyPr lIns="0" tIns="0" rIns="0" bIns="0" anchor="ctr"/>
          <a:lstStyle/>
          <a:p>
            <a:pPr eaLnBrk="1" hangingPunct="1">
              <a:lnSpc>
                <a:spcPct val="101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Variable arguments- example</a:t>
            </a:r>
          </a:p>
        </p:txBody>
      </p:sp>
      <p:sp>
        <p:nvSpPr>
          <p:cNvPr id="222211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295400"/>
            <a:ext cx="8148638" cy="4727575"/>
          </a:xfrm>
        </p:spPr>
        <p:txBody>
          <a:bodyPr lIns="0" tIns="0" rIns="0" bIns="0"/>
          <a:lstStyle/>
          <a:p>
            <a:pPr marL="0" indent="0" eaLnBrk="1" hangingPunct="1">
              <a:lnSpc>
                <a:spcPct val="89000"/>
              </a:lnSpc>
              <a:buFont typeface="Wingdings" charset="0"/>
              <a:buNone/>
              <a:tabLst>
                <a:tab pos="127000" algn="l"/>
                <a:tab pos="584200" algn="l"/>
                <a:tab pos="1041400" algn="l"/>
                <a:tab pos="1498600" algn="l"/>
                <a:tab pos="1955800" algn="l"/>
                <a:tab pos="2413000" algn="l"/>
                <a:tab pos="2870200" algn="l"/>
                <a:tab pos="3327400" algn="l"/>
                <a:tab pos="3784600" algn="l"/>
                <a:tab pos="4241800" algn="l"/>
                <a:tab pos="4699000" algn="l"/>
                <a:tab pos="5156200" algn="l"/>
                <a:tab pos="5613400" algn="l"/>
                <a:tab pos="6070600" algn="l"/>
                <a:tab pos="6527800" algn="l"/>
                <a:tab pos="6985000" algn="l"/>
                <a:tab pos="7442200" algn="l"/>
                <a:tab pos="7899400" algn="l"/>
                <a:tab pos="8356600" algn="l"/>
                <a:tab pos="8813800" algn="l"/>
              </a:tabLst>
            </a:pPr>
            <a:r>
              <a:rPr lang="en-GB" sz="2400" b="1" dirty="0">
                <a:latin typeface="Courier New" charset="0"/>
                <a:cs typeface="Lucida Sans Unicode" charset="0"/>
              </a:rPr>
              <a:t>static void </a:t>
            </a:r>
            <a:r>
              <a:rPr lang="en-GB" sz="2400" b="1" dirty="0" err="1">
                <a:latin typeface="Courier New" charset="0"/>
                <a:cs typeface="Lucida Sans Unicode" charset="0"/>
              </a:rPr>
              <a:t>plst</a:t>
            </a:r>
            <a:r>
              <a:rPr lang="en-GB" sz="2400" b="1" dirty="0">
                <a:latin typeface="Courier New" charset="0"/>
                <a:cs typeface="Lucida Sans Unicode" charset="0"/>
              </a:rPr>
              <a:t>(String pre, Object</a:t>
            </a:r>
            <a:r>
              <a:rPr lang="en-GB" sz="2400" b="1" dirty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...</a:t>
            </a:r>
            <a:r>
              <a:rPr lang="en-GB" sz="2400" b="1" dirty="0" err="1">
                <a:solidFill>
                  <a:srgbClr val="FF6600"/>
                </a:solidFill>
                <a:latin typeface="Courier New" charset="0"/>
                <a:cs typeface="Lucida Sans Unicode" charset="0"/>
              </a:rPr>
              <a:t>args</a:t>
            </a:r>
            <a:r>
              <a:rPr lang="en-GB" sz="2400" b="1" dirty="0">
                <a:latin typeface="Courier New" charset="0"/>
                <a:cs typeface="Lucida Sans Unicode" charset="0"/>
              </a:rPr>
              <a:t>){</a:t>
            </a:r>
          </a:p>
          <a:p>
            <a:pPr lvl="1" eaLnBrk="1" hangingPunct="1">
              <a:lnSpc>
                <a:spcPct val="92000"/>
              </a:lnSpc>
              <a:buFont typeface="Symbol" charset="0"/>
              <a:buNone/>
              <a:tabLst>
                <a:tab pos="127000" algn="l"/>
                <a:tab pos="584200" algn="l"/>
                <a:tab pos="1041400" algn="l"/>
                <a:tab pos="1498600" algn="l"/>
                <a:tab pos="1955800" algn="l"/>
                <a:tab pos="2413000" algn="l"/>
                <a:tab pos="2870200" algn="l"/>
                <a:tab pos="3327400" algn="l"/>
                <a:tab pos="3784600" algn="l"/>
                <a:tab pos="4241800" algn="l"/>
                <a:tab pos="4699000" algn="l"/>
                <a:tab pos="5156200" algn="l"/>
                <a:tab pos="5613400" algn="l"/>
                <a:tab pos="6070600" algn="l"/>
                <a:tab pos="6527800" algn="l"/>
                <a:tab pos="6985000" algn="l"/>
                <a:tab pos="7442200" algn="l"/>
                <a:tab pos="7899400" algn="l"/>
                <a:tab pos="8356600" algn="l"/>
                <a:tab pos="8813800" algn="l"/>
              </a:tabLst>
            </a:pPr>
            <a:r>
              <a:rPr lang="en-GB" sz="2400" b="1" dirty="0" err="1">
                <a:latin typeface="Courier New" charset="0"/>
                <a:ea typeface="Lucida Sans Unicode" charset="0"/>
                <a:cs typeface="Lucida Sans Unicode" charset="0"/>
              </a:rPr>
              <a:t>System.out.print</a:t>
            </a:r>
            <a:r>
              <a:rPr lang="en-GB" sz="2400" b="1" dirty="0">
                <a:latin typeface="Courier New" charset="0"/>
                <a:ea typeface="Lucida Sans Unicode" charset="0"/>
                <a:cs typeface="Lucida Sans Unicode" charset="0"/>
              </a:rPr>
              <a:t>(</a:t>
            </a:r>
            <a:r>
              <a:rPr lang="en-GB" sz="2400" b="1" dirty="0" smtClean="0">
                <a:latin typeface="Courier New" charset="0"/>
                <a:ea typeface="Lucida Sans Unicode" charset="0"/>
                <a:cs typeface="Lucida Sans Unicode" charset="0"/>
              </a:rPr>
              <a:t>pre + </a:t>
            </a:r>
            <a:r>
              <a:rPr lang="en-GB" sz="2400" b="1" dirty="0">
                <a:latin typeface="Courier New" charset="0"/>
                <a:ea typeface="Lucida Sans Unicode" charset="0"/>
                <a:cs typeface="Lucida Sans Unicode" charset="0"/>
              </a:rPr>
              <a:t>", ");</a:t>
            </a:r>
          </a:p>
          <a:p>
            <a:pPr lvl="1" eaLnBrk="1" hangingPunct="1">
              <a:lnSpc>
                <a:spcPct val="92000"/>
              </a:lnSpc>
              <a:buFont typeface="Symbol" charset="0"/>
              <a:buNone/>
              <a:tabLst>
                <a:tab pos="127000" algn="l"/>
                <a:tab pos="584200" algn="l"/>
                <a:tab pos="1041400" algn="l"/>
                <a:tab pos="1498600" algn="l"/>
                <a:tab pos="1955800" algn="l"/>
                <a:tab pos="2413000" algn="l"/>
                <a:tab pos="2870200" algn="l"/>
                <a:tab pos="3327400" algn="l"/>
                <a:tab pos="3784600" algn="l"/>
                <a:tab pos="4241800" algn="l"/>
                <a:tab pos="4699000" algn="l"/>
                <a:tab pos="5156200" algn="l"/>
                <a:tab pos="5613400" algn="l"/>
                <a:tab pos="6070600" algn="l"/>
                <a:tab pos="6527800" algn="l"/>
                <a:tab pos="6985000" algn="l"/>
                <a:tab pos="7442200" algn="l"/>
                <a:tab pos="7899400" algn="l"/>
                <a:tab pos="8356600" algn="l"/>
                <a:tab pos="8813800" algn="l"/>
              </a:tabLst>
            </a:pPr>
            <a:r>
              <a:rPr lang="en-GB" sz="2400" b="1" dirty="0">
                <a:latin typeface="Courier New" charset="0"/>
                <a:ea typeface="Lucida Sans Unicode" charset="0"/>
                <a:cs typeface="Lucida Sans Unicode" charset="0"/>
              </a:rPr>
              <a:t>for(Object </a:t>
            </a:r>
            <a:r>
              <a:rPr lang="en-GB" sz="2400" b="1" dirty="0" smtClean="0">
                <a:latin typeface="Courier New" charset="0"/>
                <a:ea typeface="Lucida Sans Unicode" charset="0"/>
                <a:cs typeface="Lucida Sans Unicode" charset="0"/>
              </a:rPr>
              <a:t>o : </a:t>
            </a:r>
            <a:r>
              <a:rPr lang="en-GB" sz="2400" b="1" dirty="0" err="1" smtClean="0">
                <a:solidFill>
                  <a:srgbClr val="FF6600"/>
                </a:solidFill>
                <a:latin typeface="Courier New" charset="0"/>
                <a:ea typeface="Lucida Sans Unicode" charset="0"/>
                <a:cs typeface="Lucida Sans Unicode" charset="0"/>
              </a:rPr>
              <a:t>args</a:t>
            </a:r>
            <a:r>
              <a:rPr lang="en-GB" sz="2400" b="1" dirty="0">
                <a:latin typeface="Courier New" charset="0"/>
                <a:ea typeface="Lucida Sans Unicode" charset="0"/>
                <a:cs typeface="Lucida Sans Unicode" charset="0"/>
              </a:rPr>
              <a:t>){</a:t>
            </a:r>
          </a:p>
          <a:p>
            <a:pPr lvl="2" eaLnBrk="1" hangingPunct="1">
              <a:lnSpc>
                <a:spcPct val="92000"/>
              </a:lnSpc>
              <a:buFont typeface="Symbol" charset="0"/>
              <a:buNone/>
              <a:tabLst>
                <a:tab pos="127000" algn="l"/>
                <a:tab pos="584200" algn="l"/>
                <a:tab pos="1041400" algn="l"/>
                <a:tab pos="1498600" algn="l"/>
                <a:tab pos="1955800" algn="l"/>
                <a:tab pos="2413000" algn="l"/>
                <a:tab pos="2870200" algn="l"/>
                <a:tab pos="3327400" algn="l"/>
                <a:tab pos="3784600" algn="l"/>
                <a:tab pos="4241800" algn="l"/>
                <a:tab pos="4699000" algn="l"/>
                <a:tab pos="5156200" algn="l"/>
                <a:tab pos="5613400" algn="l"/>
                <a:tab pos="6070600" algn="l"/>
                <a:tab pos="6527800" algn="l"/>
                <a:tab pos="6985000" algn="l"/>
                <a:tab pos="7442200" algn="l"/>
                <a:tab pos="7899400" algn="l"/>
                <a:tab pos="8356600" algn="l"/>
                <a:tab pos="8813800" algn="l"/>
              </a:tabLst>
            </a:pPr>
            <a:r>
              <a:rPr lang="en-GB" b="1" dirty="0">
                <a:latin typeface="Courier New" charset="0"/>
                <a:ea typeface="Lucida Sans Unicode" charset="0"/>
                <a:cs typeface="Lucida Sans Unicode" charset="0"/>
              </a:rPr>
              <a:t>if(o!=</a:t>
            </a:r>
            <a:r>
              <a:rPr lang="en-GB" b="1" dirty="0" err="1">
                <a:latin typeface="Courier New" charset="0"/>
                <a:ea typeface="Lucida Sans Unicode" charset="0"/>
                <a:cs typeface="Lucida Sans Unicode" charset="0"/>
              </a:rPr>
              <a:t>args</a:t>
            </a:r>
            <a:r>
              <a:rPr lang="en-GB" b="1" dirty="0">
                <a:latin typeface="Courier New" charset="0"/>
                <a:ea typeface="Lucida Sans Unicode" charset="0"/>
                <a:cs typeface="Lucida Sans Unicode" charset="0"/>
              </a:rPr>
              <a:t>[0]) </a:t>
            </a:r>
            <a:r>
              <a:rPr lang="en-GB" b="1" dirty="0" err="1">
                <a:latin typeface="Courier New" charset="0"/>
                <a:ea typeface="Lucida Sans Unicode" charset="0"/>
                <a:cs typeface="Lucida Sans Unicode" charset="0"/>
              </a:rPr>
              <a:t>System.out.print</a:t>
            </a:r>
            <a:r>
              <a:rPr lang="en-GB" b="1" dirty="0">
                <a:latin typeface="Courier New" charset="0"/>
                <a:ea typeface="Lucida Sans Unicode" charset="0"/>
                <a:cs typeface="Lucida Sans Unicode" charset="0"/>
              </a:rPr>
              <a:t>(", ");</a:t>
            </a:r>
          </a:p>
          <a:p>
            <a:pPr marL="0" indent="0" eaLnBrk="1" hangingPunct="1">
              <a:lnSpc>
                <a:spcPct val="92000"/>
              </a:lnSpc>
              <a:buFont typeface="Wingdings" charset="0"/>
              <a:buNone/>
              <a:tabLst>
                <a:tab pos="127000" algn="l"/>
                <a:tab pos="584200" algn="l"/>
                <a:tab pos="1041400" algn="l"/>
                <a:tab pos="1498600" algn="l"/>
                <a:tab pos="1955800" algn="l"/>
                <a:tab pos="2413000" algn="l"/>
                <a:tab pos="2870200" algn="l"/>
                <a:tab pos="3327400" algn="l"/>
                <a:tab pos="3784600" algn="l"/>
                <a:tab pos="4241800" algn="l"/>
                <a:tab pos="4699000" algn="l"/>
                <a:tab pos="5156200" algn="l"/>
                <a:tab pos="5613400" algn="l"/>
                <a:tab pos="6070600" algn="l"/>
                <a:tab pos="6527800" algn="l"/>
                <a:tab pos="6985000" algn="l"/>
                <a:tab pos="7442200" algn="l"/>
                <a:tab pos="7899400" algn="l"/>
                <a:tab pos="8356600" algn="l"/>
                <a:tab pos="8813800" algn="l"/>
              </a:tabLst>
            </a:pPr>
            <a:r>
              <a:rPr lang="en-GB" sz="2400" b="1" dirty="0">
                <a:latin typeface="Courier New" charset="0"/>
                <a:cs typeface="Lucida Sans Unicode" charset="0"/>
              </a:rPr>
              <a:t>     </a:t>
            </a:r>
            <a:r>
              <a:rPr lang="en-GB" sz="2400" b="1" dirty="0" err="1">
                <a:latin typeface="Courier New" charset="0"/>
                <a:cs typeface="Lucida Sans Unicode" charset="0"/>
              </a:rPr>
              <a:t>System.out.print</a:t>
            </a:r>
            <a:r>
              <a:rPr lang="en-GB" sz="2400" b="1" dirty="0">
                <a:latin typeface="Courier New" charset="0"/>
                <a:cs typeface="Lucida Sans Unicode" charset="0"/>
              </a:rPr>
              <a:t>(o);</a:t>
            </a:r>
          </a:p>
          <a:p>
            <a:pPr marL="0" indent="0" eaLnBrk="1" hangingPunct="1">
              <a:lnSpc>
                <a:spcPct val="92000"/>
              </a:lnSpc>
              <a:buFont typeface="Wingdings" charset="0"/>
              <a:buNone/>
              <a:tabLst>
                <a:tab pos="127000" algn="l"/>
                <a:tab pos="584200" algn="l"/>
                <a:tab pos="1041400" algn="l"/>
                <a:tab pos="1498600" algn="l"/>
                <a:tab pos="1955800" algn="l"/>
                <a:tab pos="2413000" algn="l"/>
                <a:tab pos="2870200" algn="l"/>
                <a:tab pos="3327400" algn="l"/>
                <a:tab pos="3784600" algn="l"/>
                <a:tab pos="4241800" algn="l"/>
                <a:tab pos="4699000" algn="l"/>
                <a:tab pos="5156200" algn="l"/>
                <a:tab pos="5613400" algn="l"/>
                <a:tab pos="6070600" algn="l"/>
                <a:tab pos="6527800" algn="l"/>
                <a:tab pos="6985000" algn="l"/>
                <a:tab pos="7442200" algn="l"/>
                <a:tab pos="7899400" algn="l"/>
                <a:tab pos="8356600" algn="l"/>
                <a:tab pos="8813800" algn="l"/>
              </a:tabLst>
            </a:pPr>
            <a:r>
              <a:rPr lang="en-GB" sz="2400" b="1" dirty="0">
                <a:latin typeface="Courier New" charset="0"/>
                <a:cs typeface="Lucida Sans Unicode" charset="0"/>
              </a:rPr>
              <a:t>  }</a:t>
            </a:r>
          </a:p>
          <a:p>
            <a:pPr marL="0" indent="0" eaLnBrk="1" hangingPunct="1">
              <a:lnSpc>
                <a:spcPct val="92000"/>
              </a:lnSpc>
              <a:buFont typeface="Wingdings" charset="0"/>
              <a:buNone/>
              <a:tabLst>
                <a:tab pos="127000" algn="l"/>
                <a:tab pos="584200" algn="l"/>
                <a:tab pos="1041400" algn="l"/>
                <a:tab pos="1498600" algn="l"/>
                <a:tab pos="1955800" algn="l"/>
                <a:tab pos="2413000" algn="l"/>
                <a:tab pos="2870200" algn="l"/>
                <a:tab pos="3327400" algn="l"/>
                <a:tab pos="3784600" algn="l"/>
                <a:tab pos="4241800" algn="l"/>
                <a:tab pos="4699000" algn="l"/>
                <a:tab pos="5156200" algn="l"/>
                <a:tab pos="5613400" algn="l"/>
                <a:tab pos="6070600" algn="l"/>
                <a:tab pos="6527800" algn="l"/>
                <a:tab pos="6985000" algn="l"/>
                <a:tab pos="7442200" algn="l"/>
                <a:tab pos="7899400" algn="l"/>
                <a:tab pos="8356600" algn="l"/>
                <a:tab pos="8813800" algn="l"/>
              </a:tabLst>
            </a:pPr>
            <a:r>
              <a:rPr lang="en-GB" sz="2400" b="1" dirty="0">
                <a:latin typeface="Courier New" charset="0"/>
                <a:cs typeface="Lucida Sans Unicode" charset="0"/>
              </a:rPr>
              <a:t>  </a:t>
            </a:r>
            <a:r>
              <a:rPr lang="en-GB" sz="2400" b="1" dirty="0" err="1">
                <a:latin typeface="Courier New" charset="0"/>
                <a:cs typeface="Lucida Sans Unicode" charset="0"/>
              </a:rPr>
              <a:t>System.out.println</a:t>
            </a:r>
            <a:r>
              <a:rPr lang="en-GB" sz="2400" b="1" dirty="0">
                <a:latin typeface="Courier New" charset="0"/>
                <a:cs typeface="Lucida Sans Unicode" charset="0"/>
              </a:rPr>
              <a:t>();</a:t>
            </a:r>
            <a:br>
              <a:rPr lang="en-GB" sz="2400" b="1" dirty="0">
                <a:latin typeface="Courier New" charset="0"/>
                <a:cs typeface="Lucida Sans Unicode" charset="0"/>
              </a:rPr>
            </a:br>
            <a:r>
              <a:rPr lang="en-GB" sz="2400" b="1" dirty="0">
                <a:latin typeface="Courier New" charset="0"/>
                <a:cs typeface="Lucida Sans Unicode" charset="0"/>
              </a:rPr>
              <a:t>}</a:t>
            </a:r>
          </a:p>
          <a:p>
            <a:pPr marL="0" indent="0" eaLnBrk="1" hangingPunct="1">
              <a:lnSpc>
                <a:spcPct val="92000"/>
              </a:lnSpc>
              <a:buNone/>
              <a:tabLst>
                <a:tab pos="127000" algn="l"/>
                <a:tab pos="584200" algn="l"/>
                <a:tab pos="1041400" algn="l"/>
                <a:tab pos="1498600" algn="l"/>
                <a:tab pos="1955800" algn="l"/>
                <a:tab pos="2413000" algn="l"/>
                <a:tab pos="2870200" algn="l"/>
                <a:tab pos="3327400" algn="l"/>
                <a:tab pos="3784600" algn="l"/>
                <a:tab pos="4241800" algn="l"/>
                <a:tab pos="4699000" algn="l"/>
                <a:tab pos="5156200" algn="l"/>
                <a:tab pos="5613400" algn="l"/>
                <a:tab pos="6070600" algn="l"/>
                <a:tab pos="6527800" algn="l"/>
                <a:tab pos="6985000" algn="l"/>
                <a:tab pos="7442200" algn="l"/>
                <a:tab pos="7899400" algn="l"/>
                <a:tab pos="8356600" algn="l"/>
                <a:tab pos="8813800" algn="l"/>
              </a:tabLst>
            </a:pPr>
            <a:r>
              <a:rPr lang="en-GB" sz="2400" b="1" dirty="0">
                <a:latin typeface="Courier New" charset="0"/>
                <a:cs typeface="Lucida Sans Unicode" charset="0"/>
              </a:rPr>
              <a:t>public static void main(String[] </a:t>
            </a:r>
            <a:r>
              <a:rPr lang="en-GB" sz="2400" b="1" dirty="0" err="1">
                <a:latin typeface="Courier New" charset="0"/>
                <a:cs typeface="Lucida Sans Unicode" charset="0"/>
              </a:rPr>
              <a:t>args</a:t>
            </a:r>
            <a:r>
              <a:rPr lang="en-GB" sz="2400" b="1" dirty="0">
                <a:latin typeface="Courier New" charset="0"/>
                <a:cs typeface="Lucida Sans Unicode" charset="0"/>
              </a:rPr>
              <a:t>) {</a:t>
            </a:r>
            <a:br>
              <a:rPr lang="en-GB" sz="2400" b="1" dirty="0">
                <a:latin typeface="Courier New" charset="0"/>
                <a:cs typeface="Lucida Sans Unicode" charset="0"/>
              </a:rPr>
            </a:br>
            <a:r>
              <a:rPr lang="en-GB" sz="2400" b="1" dirty="0">
                <a:latin typeface="Courier New" charset="0"/>
                <a:cs typeface="Lucida Sans Unicode" charset="0"/>
              </a:rPr>
              <a:t>  </a:t>
            </a:r>
            <a:r>
              <a:rPr lang="en-GB" sz="2400" b="1" dirty="0" err="1">
                <a:latin typeface="Courier New" charset="0"/>
                <a:cs typeface="Lucida Sans Unicode" charset="0"/>
              </a:rPr>
              <a:t>plst</a:t>
            </a:r>
            <a:r>
              <a:rPr lang="en-GB" sz="2400" b="1" dirty="0">
                <a:latin typeface="Courier New" charset="0"/>
                <a:cs typeface="Lucida Sans Unicode" charset="0"/>
              </a:rPr>
              <a:t>("List:"</a:t>
            </a:r>
            <a:r>
              <a:rPr lang="en-GB" sz="2400" b="1" dirty="0" smtClean="0">
                <a:latin typeface="Courier New" charset="0"/>
                <a:cs typeface="Lucida Sans Unicode" charset="0"/>
              </a:rPr>
              <a:t>, "</a:t>
            </a:r>
            <a:r>
              <a:rPr lang="en-GB" sz="2400" b="1" dirty="0">
                <a:latin typeface="Courier New" charset="0"/>
                <a:cs typeface="Lucida Sans Unicode" charset="0"/>
              </a:rPr>
              <a:t>A"</a:t>
            </a:r>
            <a:r>
              <a:rPr lang="en-GB" sz="2400" b="1" dirty="0" smtClean="0">
                <a:latin typeface="Courier New" charset="0"/>
                <a:cs typeface="Lucida Sans Unicode" charset="0"/>
              </a:rPr>
              <a:t>, '</a:t>
            </a:r>
            <a:r>
              <a:rPr lang="en-GB" sz="2400" b="1" dirty="0">
                <a:latin typeface="Courier New" charset="0"/>
                <a:cs typeface="Lucida Sans Unicode" charset="0"/>
              </a:rPr>
              <a:t>b'</a:t>
            </a:r>
            <a:r>
              <a:rPr lang="en-GB" sz="2400" b="1" dirty="0" smtClean="0">
                <a:latin typeface="Courier New" charset="0"/>
                <a:cs typeface="Lucida Sans Unicode" charset="0"/>
              </a:rPr>
              <a:t>, 123</a:t>
            </a:r>
            <a:r>
              <a:rPr lang="en-GB" sz="2400" b="1" dirty="0">
                <a:latin typeface="Courier New" charset="0"/>
                <a:cs typeface="Lucida Sans Unicode" charset="0"/>
              </a:rPr>
              <a:t>, </a:t>
            </a:r>
            <a:r>
              <a:rPr lang="en-GB" sz="2400" b="1" dirty="0">
                <a:latin typeface="Courier New" charset="0"/>
                <a:ea typeface="Lucida Sans Unicode" charset="0"/>
                <a:cs typeface="Lucida Sans Unicode" charset="0"/>
              </a:rPr>
              <a:t>"</a:t>
            </a:r>
            <a:r>
              <a:rPr lang="en-GB" altLang="ja-JP" sz="2400" b="1" dirty="0" smtClean="0">
                <a:latin typeface="Courier New" charset="0"/>
                <a:cs typeface="Lucida Sans Unicode" charset="0"/>
              </a:rPr>
              <a:t>hi!</a:t>
            </a:r>
            <a:r>
              <a:rPr lang="en-GB" sz="2400" b="1" dirty="0" smtClean="0">
                <a:latin typeface="Courier New" charset="0"/>
                <a:ea typeface="Lucida Sans Unicode" charset="0"/>
                <a:cs typeface="Lucida Sans Unicode" charset="0"/>
              </a:rPr>
              <a:t>"</a:t>
            </a:r>
            <a:r>
              <a:rPr lang="en-GB" altLang="ja-JP" sz="2400" b="1" dirty="0" smtClean="0">
                <a:latin typeface="Courier New" charset="0"/>
                <a:cs typeface="Lucida Sans Unicode" charset="0"/>
              </a:rPr>
              <a:t>)</a:t>
            </a:r>
            <a:r>
              <a:rPr lang="en-GB" altLang="ja-JP" sz="2400" b="1" dirty="0">
                <a:latin typeface="Courier New" charset="0"/>
                <a:cs typeface="Lucida Sans Unicode" charset="0"/>
              </a:rPr>
              <a:t>;</a:t>
            </a:r>
            <a:br>
              <a:rPr lang="en-GB" altLang="ja-JP" sz="2400" b="1" dirty="0">
                <a:latin typeface="Courier New" charset="0"/>
                <a:cs typeface="Lucida Sans Unicode" charset="0"/>
              </a:rPr>
            </a:br>
            <a:r>
              <a:rPr lang="en-GB" altLang="ja-JP" sz="2400" b="1" dirty="0">
                <a:latin typeface="Courier New" charset="0"/>
                <a:cs typeface="Lucida Sans Unicode" charset="0"/>
              </a:rPr>
              <a:t>}</a:t>
            </a:r>
            <a:endParaRPr lang="en-GB" sz="2400" b="1" dirty="0">
              <a:latin typeface="Courier New" charset="0"/>
              <a:cs typeface="Lucida Sans Unicod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6780977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7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>
                <a:latin typeface="Lucida Sans Unicode" charset="0"/>
                <a:cs typeface="Lucida Sans Unicode" charset="0"/>
              </a:rPr>
              <a:t>Abstract classes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Abstract class</a:t>
            </a:r>
            <a:endParaRPr lang="en-GB"/>
          </a:p>
        </p:txBody>
      </p:sp>
      <p:sp>
        <p:nvSpPr>
          <p:cNvPr id="139267" name="Rectangle 2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Often, a superclass is used to define common behavior for many children classes </a:t>
            </a:r>
          </a:p>
          <a:p>
            <a:r>
              <a:rPr lang="en-US" dirty="0" smtClean="0"/>
              <a:t>Though some methods have no obvious implementation in the superclass</a:t>
            </a:r>
          </a:p>
          <a:p>
            <a:r>
              <a:rPr lang="en-US" dirty="0" smtClean="0"/>
              <a:t>The behavior is left partially unspecified</a:t>
            </a:r>
          </a:p>
          <a:p>
            <a:r>
              <a:rPr lang="en-US" dirty="0" smtClean="0"/>
              <a:t>The superclass cannot be instantiated</a:t>
            </a:r>
          </a:p>
          <a:p>
            <a:endParaRPr lang="en-US" dirty="0"/>
          </a:p>
        </p:txBody>
      </p:sp>
      <p:sp>
        <p:nvSpPr>
          <p:cNvPr id="139265" name="Segnaposto numero diapositiva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fld id="{EB5FC3B4-1FD9-D747-9B61-C6F45795A5D7}" type="slidenum">
              <a:rPr lang="en-GB" smtClean="0"/>
              <a:pPr/>
              <a:t>74</a:t>
            </a:fld>
            <a:endParaRPr lang="en-GB"/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Abstract modifier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b="1" dirty="0" smtClean="0">
                <a:solidFill>
                  <a:srgbClr val="FF6600"/>
                </a:solidFill>
                <a:latin typeface="Courier New"/>
                <a:cs typeface="Courier New"/>
              </a:rPr>
              <a:t>abstract</a:t>
            </a:r>
            <a:r>
              <a:rPr lang="en-US" dirty="0" smtClean="0">
                <a:solidFill>
                  <a:srgbClr val="FF6600"/>
                </a:solidFill>
              </a:rPr>
              <a:t> </a:t>
            </a:r>
            <a:r>
              <a:rPr lang="en-US" dirty="0" smtClean="0"/>
              <a:t>modifier marks the class as non-complete</a:t>
            </a:r>
          </a:p>
          <a:p>
            <a:r>
              <a:rPr lang="en-US" dirty="0" smtClean="0"/>
              <a:t>The modifier must be applied to all incomplete method and to the class</a:t>
            </a:r>
            <a:endParaRPr lang="en-US" dirty="0"/>
          </a:p>
        </p:txBody>
      </p:sp>
      <p:sp>
        <p:nvSpPr>
          <p:cNvPr id="141313" name="Segnaposto numero diapositiva 4"/>
          <p:cNvSpPr>
            <a:spLocks noGrp="1"/>
          </p:cNvSpPr>
          <p:nvPr>
            <p:ph type="sldNum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22250CDE-25F8-474C-A21A-A7C1C4508723}" type="slidenum">
              <a:rPr lang="en-GB" sz="1200">
                <a:solidFill>
                  <a:srgbClr val="000000"/>
                </a:solidFill>
              </a:rPr>
              <a:pPr eaLnBrk="1" hangingPunct="1"/>
              <a:t>75</a:t>
            </a:fld>
            <a:endParaRPr lang="en-GB" sz="1200">
              <a:solidFill>
                <a:srgbClr val="000000"/>
              </a:solidFill>
            </a:endParaRPr>
          </a:p>
        </p:txBody>
      </p:sp>
      <p:sp>
        <p:nvSpPr>
          <p:cNvPr id="141314" name="Rectangle 1"/>
          <p:cNvSpPr>
            <a:spLocks noChangeArrowheads="1"/>
          </p:cNvSpPr>
          <p:nvPr/>
        </p:nvSpPr>
        <p:spPr bwMode="auto">
          <a:xfrm>
            <a:off x="467544" y="3789040"/>
            <a:ext cx="8280920" cy="1656184"/>
          </a:xfrm>
          <a:prstGeom prst="rect">
            <a:avLst/>
          </a:prstGeom>
          <a:solidFill>
            <a:srgbClr val="FDEADA"/>
          </a:solidFill>
          <a:ln w="12600">
            <a:solidFill>
              <a:srgbClr val="E46C0A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0000" tIns="46800" rIns="90000" bIns="46800" anchor="ctr"/>
          <a:lstStyle/>
          <a:p>
            <a:pPr>
              <a:lnSpc>
                <a:spcPct val="90000"/>
              </a:lnSpc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public </a:t>
            </a:r>
            <a:r>
              <a:rPr lang="en-GB" b="1" dirty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abstract</a:t>
            </a: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class </a:t>
            </a:r>
            <a:r>
              <a:rPr lang="en-GB" b="1" dirty="0" smtClean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Expression {</a:t>
            </a:r>
            <a:endParaRPr lang="en-GB" b="1" dirty="0">
              <a:solidFill>
                <a:srgbClr val="000000"/>
              </a:solidFill>
              <a:latin typeface="Courier New" charset="0"/>
              <a:cs typeface="Lucida Sans Unicode" charset="0"/>
            </a:endParaRPr>
          </a:p>
          <a:p>
            <a:pPr>
              <a:lnSpc>
                <a:spcPct val="90000"/>
              </a:lnSpc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b="1" dirty="0">
              <a:solidFill>
                <a:srgbClr val="000000"/>
              </a:solidFill>
              <a:latin typeface="Courier New" charset="0"/>
              <a:cs typeface="Lucida Sans Unicode" charset="0"/>
            </a:endParaRPr>
          </a:p>
          <a:p>
            <a:pPr>
              <a:lnSpc>
                <a:spcPct val="90000"/>
              </a:lnSpc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  </a:t>
            </a:r>
            <a:r>
              <a:rPr lang="en-GB" b="1" dirty="0">
                <a:solidFill>
                  <a:schemeClr val="accent3">
                    <a:lumMod val="75000"/>
                  </a:schemeClr>
                </a:solidFill>
                <a:latin typeface="Courier New" charset="0"/>
                <a:cs typeface="Lucida Sans Unicode" charset="0"/>
              </a:rPr>
              <a:t>// to be implemented in child classes </a:t>
            </a:r>
          </a:p>
          <a:p>
            <a:pPr>
              <a:lnSpc>
                <a:spcPct val="90000"/>
              </a:lnSpc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  public </a:t>
            </a:r>
            <a:r>
              <a:rPr lang="en-GB" b="1" dirty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abstract</a:t>
            </a: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</a:t>
            </a:r>
            <a:r>
              <a:rPr lang="en-GB" b="1" dirty="0" smtClean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double evaluate(</a:t>
            </a: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); </a:t>
            </a:r>
          </a:p>
          <a:p>
            <a:pPr>
              <a:lnSpc>
                <a:spcPct val="90000"/>
              </a:lnSpc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}</a:t>
            </a:r>
          </a:p>
        </p:txBody>
      </p:sp>
      <p:sp>
        <p:nvSpPr>
          <p:cNvPr id="150532" name="AutoShape 3"/>
          <p:cNvSpPr>
            <a:spLocks noChangeArrowheads="1"/>
          </p:cNvSpPr>
          <p:nvPr/>
        </p:nvSpPr>
        <p:spPr bwMode="auto">
          <a:xfrm>
            <a:off x="4788024" y="5661248"/>
            <a:ext cx="2952328" cy="504056"/>
          </a:xfrm>
          <a:prstGeom prst="wedgeRoundRectCallout">
            <a:avLst>
              <a:gd name="adj1" fmla="val 39196"/>
              <a:gd name="adj2" fmla="val -162503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 w="12600">
            <a:solidFill>
              <a:schemeClr val="accent4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360" tIns="44280" rIns="90360" bIns="44280" anchor="ctr"/>
          <a:lstStyle/>
          <a:p>
            <a:pPr algn="ctr"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b="1" dirty="0" smtClean="0">
                <a:solidFill>
                  <a:srgbClr val="000000"/>
                </a:solidFill>
                <a:latin typeface="+mn-lt"/>
              </a:rPr>
              <a:t>No method </a:t>
            </a:r>
            <a:r>
              <a:rPr lang="en-GB" b="1" dirty="0">
                <a:solidFill>
                  <a:srgbClr val="000000"/>
                </a:solidFill>
                <a:latin typeface="+mn-lt"/>
              </a:rPr>
              <a:t>body</a:t>
            </a:r>
          </a:p>
        </p:txBody>
      </p:sp>
    </p:spTree>
    <p:extLst>
      <p:ext uri="{BB962C8B-B14F-4D97-AF65-F5344CB8AC3E}">
        <p14:creationId xmlns:p14="http://schemas.microsoft.com/office/powerpoint/2010/main" val="3913678715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1" name="Segnaposto numero diapositiva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A40CE15C-8AD4-F744-A8C6-DEBC562E92ED}" type="slidenum">
              <a:rPr lang="en-GB" sz="1200">
                <a:solidFill>
                  <a:srgbClr val="000000"/>
                </a:solidFill>
              </a:rPr>
              <a:pPr eaLnBrk="1" hangingPunct="1"/>
              <a:t>76</a:t>
            </a:fld>
            <a:endParaRPr lang="en-GB" sz="1200">
              <a:solidFill>
                <a:srgbClr val="000000"/>
              </a:solidFill>
            </a:endParaRPr>
          </a:p>
        </p:txBody>
      </p:sp>
      <p:sp>
        <p:nvSpPr>
          <p:cNvPr id="53249" name="Rectangle 1"/>
          <p:cNvSpPr>
            <a:spLocks noChangeArrowheads="1"/>
          </p:cNvSpPr>
          <p:nvPr/>
        </p:nvSpPr>
        <p:spPr bwMode="auto">
          <a:xfrm>
            <a:off x="251520" y="1124744"/>
            <a:ext cx="8155632" cy="3096344"/>
          </a:xfrm>
          <a:prstGeom prst="rect">
            <a:avLst/>
          </a:prstGeom>
          <a:solidFill>
            <a:srgbClr val="FDEADA"/>
          </a:solidFill>
          <a:ln w="12600">
            <a:solidFill>
              <a:srgbClr val="E46C0A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0000" tIns="46800" rIns="90000" bIns="46800" anchor="ctr"/>
          <a:lstStyle/>
          <a:p>
            <a:pPr>
              <a:lnSpc>
                <a:spcPct val="90000"/>
              </a:lnSpc>
              <a:buFont typeface="Wingdings" charset="2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b="1" dirty="0">
                <a:solidFill>
                  <a:srgbClr val="000000"/>
                </a:solidFill>
                <a:latin typeface="Courier New" charset="0"/>
                <a:ea typeface="Lucida Sans Unicode" charset="0"/>
                <a:cs typeface="Lucida Sans Unicode" charset="0"/>
              </a:rPr>
              <a:t>public class </a:t>
            </a:r>
            <a:r>
              <a:rPr lang="en-GB" b="1" dirty="0" smtClean="0">
                <a:solidFill>
                  <a:srgbClr val="000000"/>
                </a:solidFill>
                <a:latin typeface="Courier New" charset="0"/>
                <a:ea typeface="Lucida Sans Unicode" charset="0"/>
                <a:cs typeface="Lucida Sans Unicode" charset="0"/>
              </a:rPr>
              <a:t>Operand </a:t>
            </a:r>
            <a:r>
              <a:rPr lang="en-GB" b="1" dirty="0" smtClean="0">
                <a:solidFill>
                  <a:srgbClr val="FF6633"/>
                </a:solidFill>
                <a:latin typeface="Courier New" charset="0"/>
                <a:ea typeface="Lucida Sans Unicode" charset="0"/>
                <a:cs typeface="Lucida Sans Unicode" charset="0"/>
              </a:rPr>
              <a:t>extends Expression </a:t>
            </a:r>
            <a:r>
              <a:rPr lang="en-GB" b="1" dirty="0" smtClean="0">
                <a:solidFill>
                  <a:srgbClr val="000000"/>
                </a:solidFill>
                <a:latin typeface="Courier New" charset="0"/>
                <a:ea typeface="Lucida Sans Unicode" charset="0"/>
                <a:cs typeface="Lucida Sans Unicode" charset="0"/>
              </a:rPr>
              <a:t>{</a:t>
            </a:r>
            <a:endParaRPr lang="en-GB" b="1" dirty="0">
              <a:solidFill>
                <a:srgbClr val="000000"/>
              </a:solidFill>
              <a:latin typeface="Courier New" charset="0"/>
              <a:ea typeface="Lucida Sans Unicode" charset="0"/>
              <a:cs typeface="Lucida Sans Unicode" charset="0"/>
            </a:endParaRPr>
          </a:p>
          <a:p>
            <a:pPr>
              <a:lnSpc>
                <a:spcPct val="90000"/>
              </a:lnSpc>
              <a:buFont typeface="Wingdings" charset="2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b="1" dirty="0" smtClean="0">
                <a:solidFill>
                  <a:srgbClr val="000000"/>
                </a:solidFill>
                <a:latin typeface="Courier New" charset="0"/>
                <a:ea typeface="Lucida Sans Unicode" charset="0"/>
                <a:cs typeface="Lucida Sans Unicode" charset="0"/>
              </a:rPr>
              <a:t>	private double value;</a:t>
            </a:r>
          </a:p>
          <a:p>
            <a:pPr>
              <a:lnSpc>
                <a:spcPct val="90000"/>
              </a:lnSpc>
              <a:buFont typeface="Wingdings" charset="2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b="1" dirty="0">
                <a:solidFill>
                  <a:srgbClr val="000000"/>
                </a:solidFill>
                <a:latin typeface="Courier New" charset="0"/>
                <a:ea typeface="Lucida Sans Unicode" charset="0"/>
                <a:cs typeface="Lucida Sans Unicode" charset="0"/>
              </a:rPr>
              <a:t>	</a:t>
            </a:r>
            <a:r>
              <a:rPr lang="en-GB" b="1" dirty="0" smtClean="0">
                <a:solidFill>
                  <a:srgbClr val="000000"/>
                </a:solidFill>
                <a:latin typeface="Courier New" charset="0"/>
                <a:ea typeface="Lucida Sans Unicode" charset="0"/>
                <a:cs typeface="Lucida Sans Unicode" charset="0"/>
              </a:rPr>
              <a:t>public Operand(double v){</a:t>
            </a:r>
          </a:p>
          <a:p>
            <a:pPr>
              <a:lnSpc>
                <a:spcPct val="90000"/>
              </a:lnSpc>
              <a:buFont typeface="Wingdings" charset="2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b="1" dirty="0">
                <a:solidFill>
                  <a:srgbClr val="000000"/>
                </a:solidFill>
                <a:latin typeface="Courier New" charset="0"/>
                <a:ea typeface="Lucida Sans Unicode" charset="0"/>
                <a:cs typeface="Lucida Sans Unicode" charset="0"/>
              </a:rPr>
              <a:t>	</a:t>
            </a:r>
            <a:r>
              <a:rPr lang="en-GB" b="1" dirty="0" smtClean="0">
                <a:solidFill>
                  <a:srgbClr val="000000"/>
                </a:solidFill>
                <a:latin typeface="Courier New" charset="0"/>
                <a:ea typeface="Lucida Sans Unicode" charset="0"/>
                <a:cs typeface="Lucida Sans Unicode" charset="0"/>
              </a:rPr>
              <a:t>	value = v;</a:t>
            </a:r>
          </a:p>
          <a:p>
            <a:pPr>
              <a:lnSpc>
                <a:spcPct val="90000"/>
              </a:lnSpc>
              <a:buFont typeface="Wingdings" charset="2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b="1" dirty="0">
                <a:solidFill>
                  <a:srgbClr val="000000"/>
                </a:solidFill>
                <a:latin typeface="Courier New" charset="0"/>
                <a:ea typeface="Lucida Sans Unicode" charset="0"/>
                <a:cs typeface="Lucida Sans Unicode" charset="0"/>
              </a:rPr>
              <a:t>	</a:t>
            </a:r>
            <a:r>
              <a:rPr lang="en-GB" b="1" dirty="0" smtClean="0">
                <a:solidFill>
                  <a:srgbClr val="000000"/>
                </a:solidFill>
                <a:latin typeface="Courier New" charset="0"/>
                <a:ea typeface="Lucida Sans Unicode" charset="0"/>
                <a:cs typeface="Lucida Sans Unicode" charset="0"/>
              </a:rPr>
              <a:t>}</a:t>
            </a:r>
            <a:endParaRPr lang="en-GB" b="1" dirty="0">
              <a:solidFill>
                <a:srgbClr val="000000"/>
              </a:solidFill>
              <a:latin typeface="Courier New" charset="0"/>
              <a:ea typeface="Lucida Sans Unicode" charset="0"/>
              <a:cs typeface="Lucida Sans Unicode" charset="0"/>
            </a:endParaRPr>
          </a:p>
          <a:p>
            <a:pPr>
              <a:lnSpc>
                <a:spcPct val="90000"/>
              </a:lnSpc>
              <a:buFont typeface="Wingdings" charset="2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b="1" dirty="0">
                <a:solidFill>
                  <a:srgbClr val="FF6600"/>
                </a:solidFill>
                <a:latin typeface="Courier New" charset="0"/>
                <a:ea typeface="Lucida Sans Unicode" charset="0"/>
                <a:cs typeface="Lucida Sans Unicode" charset="0"/>
              </a:rPr>
              <a:t>   </a:t>
            </a:r>
            <a:r>
              <a:rPr lang="en-GB" b="1" dirty="0">
                <a:solidFill>
                  <a:srgbClr val="FF6633"/>
                </a:solidFill>
                <a:latin typeface="Courier New" charset="0"/>
                <a:ea typeface="Lucida Sans Unicode" charset="0"/>
                <a:cs typeface="Lucida Sans Unicode" charset="0"/>
              </a:rPr>
              <a:t>public </a:t>
            </a:r>
            <a:r>
              <a:rPr lang="en-GB" b="1" dirty="0" smtClean="0">
                <a:solidFill>
                  <a:srgbClr val="FF6633"/>
                </a:solidFill>
                <a:latin typeface="Courier New" charset="0"/>
                <a:ea typeface="Lucida Sans Unicode" charset="0"/>
                <a:cs typeface="Lucida Sans Unicode" charset="0"/>
              </a:rPr>
              <a:t>double evaluate(</a:t>
            </a:r>
            <a:r>
              <a:rPr lang="en-GB" b="1" dirty="0">
                <a:solidFill>
                  <a:srgbClr val="FF6633"/>
                </a:solidFill>
                <a:latin typeface="Courier New" charset="0"/>
                <a:ea typeface="Lucida Sans Unicode" charset="0"/>
                <a:cs typeface="Lucida Sans Unicode" charset="0"/>
              </a:rPr>
              <a:t>) {</a:t>
            </a:r>
          </a:p>
          <a:p>
            <a:pPr>
              <a:lnSpc>
                <a:spcPct val="90000"/>
              </a:lnSpc>
              <a:buFont typeface="Wingdings" charset="2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b="1" dirty="0">
                <a:solidFill>
                  <a:srgbClr val="FF6633"/>
                </a:solidFill>
                <a:latin typeface="Courier New" charset="0"/>
                <a:ea typeface="Lucida Sans Unicode" charset="0"/>
                <a:cs typeface="Lucida Sans Unicode" charset="0"/>
              </a:rPr>
              <a:t>      </a:t>
            </a:r>
            <a:r>
              <a:rPr lang="en-GB" b="1" dirty="0" smtClean="0">
                <a:solidFill>
                  <a:srgbClr val="FF6633"/>
                </a:solidFill>
                <a:latin typeface="Courier New" charset="0"/>
                <a:ea typeface="Lucida Sans Unicode" charset="0"/>
                <a:cs typeface="Lucida Sans Unicode" charset="0"/>
              </a:rPr>
              <a:t>return value;</a:t>
            </a:r>
            <a:endParaRPr lang="en-GB" b="1" dirty="0">
              <a:solidFill>
                <a:srgbClr val="FF6633"/>
              </a:solidFill>
              <a:latin typeface="Courier New" charset="0"/>
              <a:ea typeface="Lucida Sans Unicode" charset="0"/>
              <a:cs typeface="Lucida Sans Unicode" charset="0"/>
            </a:endParaRPr>
          </a:p>
          <a:p>
            <a:pPr>
              <a:lnSpc>
                <a:spcPct val="90000"/>
              </a:lnSpc>
              <a:buFont typeface="Wingdings" charset="2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b="1" dirty="0">
                <a:solidFill>
                  <a:srgbClr val="FF6633"/>
                </a:solidFill>
                <a:latin typeface="Courier New" charset="0"/>
                <a:ea typeface="Lucida Sans Unicode" charset="0"/>
                <a:cs typeface="Lucida Sans Unicode" charset="0"/>
              </a:rPr>
              <a:t>   }</a:t>
            </a:r>
          </a:p>
          <a:p>
            <a:pPr>
              <a:lnSpc>
                <a:spcPct val="90000"/>
              </a:lnSpc>
              <a:buFont typeface="Wingdings" charset="2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b="1" dirty="0" smtClean="0">
                <a:solidFill>
                  <a:srgbClr val="000000"/>
                </a:solidFill>
                <a:latin typeface="Courier New" charset="0"/>
                <a:ea typeface="Lucida Sans Unicode" charset="0"/>
                <a:cs typeface="Lucida Sans Unicode" charset="0"/>
              </a:rPr>
              <a:t>}</a:t>
            </a:r>
            <a:endParaRPr lang="en-GB" b="1" dirty="0">
              <a:solidFill>
                <a:srgbClr val="000000"/>
              </a:solidFill>
              <a:latin typeface="Courier New" charset="0"/>
              <a:ea typeface="Lucida Sans Unicode" charset="0"/>
              <a:cs typeface="Lucida Sans Unicode" charset="0"/>
            </a:endParaRPr>
          </a:p>
        </p:txBody>
      </p:sp>
      <p:sp>
        <p:nvSpPr>
          <p:cNvPr id="14336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152400"/>
            <a:ext cx="8610600" cy="914400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Abstract modifier</a:t>
            </a: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611560" y="4437112"/>
            <a:ext cx="8299648" cy="1728192"/>
          </a:xfrm>
          <a:prstGeom prst="rect">
            <a:avLst/>
          </a:prstGeom>
          <a:solidFill>
            <a:srgbClr val="FDEADA"/>
          </a:solidFill>
          <a:ln w="12600">
            <a:solidFill>
              <a:srgbClr val="E46C0A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0000" tIns="46800" rIns="90000" bIns="46800" anchor="ctr"/>
          <a:lstStyle/>
          <a:p>
            <a:pPr>
              <a:lnSpc>
                <a:spcPct val="90000"/>
              </a:lnSpc>
              <a:buFont typeface="Wingdings" charset="2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b="1" dirty="0" smtClean="0">
                <a:solidFill>
                  <a:srgbClr val="000000"/>
                </a:solidFill>
                <a:latin typeface="Courier New" charset="0"/>
                <a:ea typeface="Lucida Sans Unicode" charset="0"/>
                <a:cs typeface="Lucida Sans Unicode" charset="0"/>
              </a:rPr>
              <a:t>Expression e=new Expression(</a:t>
            </a:r>
            <a:r>
              <a:rPr lang="en-GB" b="1" dirty="0">
                <a:solidFill>
                  <a:srgbClr val="000000"/>
                </a:solidFill>
                <a:latin typeface="Courier New" charset="0"/>
                <a:ea typeface="Lucida Sans Unicode" charset="0"/>
                <a:cs typeface="Lucida Sans Unicode" charset="0"/>
              </a:rPr>
              <a:t>)</a:t>
            </a:r>
            <a:r>
              <a:rPr lang="en-GB" b="1" dirty="0" smtClean="0">
                <a:solidFill>
                  <a:srgbClr val="000000"/>
                </a:solidFill>
                <a:latin typeface="Courier New" charset="0"/>
                <a:ea typeface="Lucida Sans Unicode" charset="0"/>
                <a:cs typeface="Lucida Sans Unicode" charset="0"/>
              </a:rPr>
              <a:t>;</a:t>
            </a:r>
            <a:r>
              <a:rPr lang="en-GB" b="1" dirty="0" smtClean="0">
                <a:solidFill>
                  <a:schemeClr val="accent4"/>
                </a:solidFill>
                <a:latin typeface="Courier New" charset="0"/>
                <a:ea typeface="Lucida Sans Unicode" charset="0"/>
                <a:cs typeface="Lucida Sans Unicode" charset="0"/>
              </a:rPr>
              <a:t>//</a:t>
            </a:r>
            <a:r>
              <a:rPr lang="en-GB" b="1" dirty="0" err="1" smtClean="0">
                <a:solidFill>
                  <a:schemeClr val="accent4"/>
                </a:solidFill>
                <a:latin typeface="Courier New" charset="0"/>
                <a:ea typeface="Lucida Sans Unicode" charset="0"/>
                <a:cs typeface="Lucida Sans Unicode" charset="0"/>
              </a:rPr>
              <a:t>No:abstract</a:t>
            </a:r>
            <a:endParaRPr lang="en-GB" b="1" dirty="0" smtClean="0">
              <a:solidFill>
                <a:schemeClr val="accent4"/>
              </a:solidFill>
              <a:latin typeface="Courier New" charset="0"/>
              <a:ea typeface="Lucida Sans Unicode" charset="0"/>
              <a:cs typeface="Lucida Sans Unicode" charset="0"/>
            </a:endParaRPr>
          </a:p>
          <a:p>
            <a:pPr>
              <a:lnSpc>
                <a:spcPct val="90000"/>
              </a:lnSpc>
              <a:buFont typeface="Wingdings" charset="2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endParaRPr lang="en-GB" b="1" dirty="0">
              <a:solidFill>
                <a:schemeClr val="accent4"/>
              </a:solidFill>
              <a:latin typeface="Courier New" charset="0"/>
              <a:ea typeface="Lucida Sans Unicode" charset="0"/>
              <a:cs typeface="Lucida Sans Unicode" charset="0"/>
            </a:endParaRPr>
          </a:p>
          <a:p>
            <a:pPr>
              <a:lnSpc>
                <a:spcPct val="90000"/>
              </a:lnSpc>
              <a:buFont typeface="Wingdings" charset="2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b="1" dirty="0">
                <a:solidFill>
                  <a:srgbClr val="000000"/>
                </a:solidFill>
                <a:latin typeface="Courier New" charset="0"/>
                <a:ea typeface="Lucida Sans Unicode" charset="0"/>
                <a:cs typeface="Lucida Sans Unicode" charset="0"/>
              </a:rPr>
              <a:t>Expression </a:t>
            </a:r>
            <a:r>
              <a:rPr lang="en-GB" b="1" dirty="0" smtClean="0">
                <a:solidFill>
                  <a:srgbClr val="000000"/>
                </a:solidFill>
                <a:latin typeface="Courier New" charset="0"/>
                <a:ea typeface="Lucida Sans Unicode" charset="0"/>
                <a:cs typeface="Lucida Sans Unicode" charset="0"/>
              </a:rPr>
              <a:t>v=new Operand(1);</a:t>
            </a:r>
            <a:r>
              <a:rPr lang="en-GB" b="1" dirty="0" smtClean="0">
                <a:solidFill>
                  <a:srgbClr val="008000"/>
                </a:solidFill>
                <a:latin typeface="Courier New" charset="0"/>
                <a:ea typeface="Lucida Sans Unicode" charset="0"/>
                <a:cs typeface="Lucida Sans Unicode" charset="0"/>
              </a:rPr>
              <a:t>/</a:t>
            </a:r>
            <a:r>
              <a:rPr lang="en-GB" b="1" dirty="0">
                <a:solidFill>
                  <a:srgbClr val="008000"/>
                </a:solidFill>
                <a:latin typeface="Courier New" charset="0"/>
                <a:ea typeface="Lucida Sans Unicode" charset="0"/>
                <a:cs typeface="Lucida Sans Unicode" charset="0"/>
              </a:rPr>
              <a:t>/ </a:t>
            </a:r>
            <a:r>
              <a:rPr lang="en-GB" b="1" dirty="0" smtClean="0">
                <a:solidFill>
                  <a:srgbClr val="008000"/>
                </a:solidFill>
                <a:latin typeface="Courier New" charset="0"/>
                <a:ea typeface="Lucida Sans Unicode" charset="0"/>
                <a:cs typeface="Lucida Sans Unicode" charset="0"/>
              </a:rPr>
              <a:t>OK: concrete</a:t>
            </a:r>
            <a:endParaRPr lang="en-GB" b="1" dirty="0">
              <a:solidFill>
                <a:srgbClr val="008000"/>
              </a:solidFill>
              <a:latin typeface="Courier New" charset="0"/>
              <a:ea typeface="Lucida Sans Unicode" charset="0"/>
              <a:cs typeface="Lucida Sans Unicod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0068172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1" name="Segnaposto numero diapositiva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A40CE15C-8AD4-F744-A8C6-DEBC562E92ED}" type="slidenum">
              <a:rPr lang="en-GB" sz="1200">
                <a:solidFill>
                  <a:srgbClr val="000000"/>
                </a:solidFill>
              </a:rPr>
              <a:pPr eaLnBrk="1" hangingPunct="1"/>
              <a:t>77</a:t>
            </a:fld>
            <a:endParaRPr lang="en-GB" sz="1200">
              <a:solidFill>
                <a:srgbClr val="000000"/>
              </a:solidFill>
            </a:endParaRPr>
          </a:p>
        </p:txBody>
      </p:sp>
      <p:sp>
        <p:nvSpPr>
          <p:cNvPr id="53249" name="Rectangle 1"/>
          <p:cNvSpPr>
            <a:spLocks noChangeArrowheads="1"/>
          </p:cNvSpPr>
          <p:nvPr/>
        </p:nvSpPr>
        <p:spPr bwMode="auto">
          <a:xfrm>
            <a:off x="251520" y="1052736"/>
            <a:ext cx="8640960" cy="3672408"/>
          </a:xfrm>
          <a:prstGeom prst="rect">
            <a:avLst/>
          </a:prstGeom>
          <a:solidFill>
            <a:srgbClr val="FDEADA"/>
          </a:solidFill>
          <a:ln w="12600">
            <a:solidFill>
              <a:srgbClr val="E46C0A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0000" tIns="46800" rIns="90000" bIns="46800" anchor="ctr"/>
          <a:lstStyle/>
          <a:p>
            <a:pPr>
              <a:lnSpc>
                <a:spcPct val="90000"/>
              </a:lnSpc>
              <a:buFont typeface="Wingdings" charset="2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b="1" dirty="0">
                <a:solidFill>
                  <a:srgbClr val="000000"/>
                </a:solidFill>
                <a:latin typeface="Courier New" charset="0"/>
                <a:ea typeface="Lucida Sans Unicode" charset="0"/>
                <a:cs typeface="Lucida Sans Unicode" charset="0"/>
              </a:rPr>
              <a:t>public class </a:t>
            </a:r>
            <a:r>
              <a:rPr lang="en-GB" b="1" dirty="0" smtClean="0">
                <a:solidFill>
                  <a:srgbClr val="000000"/>
                </a:solidFill>
                <a:latin typeface="Courier New" charset="0"/>
                <a:ea typeface="Lucida Sans Unicode" charset="0"/>
                <a:cs typeface="Lucida Sans Unicode" charset="0"/>
              </a:rPr>
              <a:t>Addition </a:t>
            </a:r>
            <a:r>
              <a:rPr lang="en-GB" b="1" dirty="0" smtClean="0">
                <a:solidFill>
                  <a:srgbClr val="FF6633"/>
                </a:solidFill>
                <a:latin typeface="Courier New" charset="0"/>
                <a:ea typeface="Lucida Sans Unicode" charset="0"/>
                <a:cs typeface="Lucida Sans Unicode" charset="0"/>
              </a:rPr>
              <a:t>extends Expression </a:t>
            </a:r>
            <a:r>
              <a:rPr lang="en-GB" b="1" dirty="0" smtClean="0">
                <a:solidFill>
                  <a:srgbClr val="000000"/>
                </a:solidFill>
                <a:latin typeface="Courier New" charset="0"/>
                <a:ea typeface="Lucida Sans Unicode" charset="0"/>
                <a:cs typeface="Lucida Sans Unicode" charset="0"/>
              </a:rPr>
              <a:t>{</a:t>
            </a:r>
            <a:endParaRPr lang="en-GB" b="1" dirty="0">
              <a:solidFill>
                <a:srgbClr val="000000"/>
              </a:solidFill>
              <a:latin typeface="Courier New" charset="0"/>
              <a:ea typeface="Lucida Sans Unicode" charset="0"/>
              <a:cs typeface="Lucida Sans Unicode" charset="0"/>
            </a:endParaRPr>
          </a:p>
          <a:p>
            <a:pPr>
              <a:lnSpc>
                <a:spcPct val="90000"/>
              </a:lnSpc>
              <a:buFont typeface="Wingdings" charset="2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b="1" dirty="0" smtClean="0">
                <a:solidFill>
                  <a:srgbClr val="000000"/>
                </a:solidFill>
                <a:latin typeface="Courier New" charset="0"/>
                <a:ea typeface="Lucida Sans Unicode" charset="0"/>
                <a:cs typeface="Lucida Sans Unicode" charset="0"/>
              </a:rPr>
              <a:t>	private Expression left, right;</a:t>
            </a:r>
          </a:p>
          <a:p>
            <a:pPr>
              <a:lnSpc>
                <a:spcPct val="90000"/>
              </a:lnSpc>
              <a:buFont typeface="Wingdings" charset="2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b="1" dirty="0">
                <a:solidFill>
                  <a:srgbClr val="000000"/>
                </a:solidFill>
                <a:latin typeface="Courier New" charset="0"/>
                <a:ea typeface="Lucida Sans Unicode" charset="0"/>
                <a:cs typeface="Lucida Sans Unicode" charset="0"/>
              </a:rPr>
              <a:t>	</a:t>
            </a:r>
            <a:r>
              <a:rPr lang="en-GB" b="1" dirty="0" smtClean="0">
                <a:solidFill>
                  <a:srgbClr val="000000"/>
                </a:solidFill>
                <a:latin typeface="Courier New" charset="0"/>
                <a:ea typeface="Lucida Sans Unicode" charset="0"/>
                <a:cs typeface="Lucida Sans Unicode" charset="0"/>
              </a:rPr>
              <a:t>public Addition(Expression l, </a:t>
            </a:r>
          </a:p>
          <a:p>
            <a:pPr>
              <a:lnSpc>
                <a:spcPct val="90000"/>
              </a:lnSpc>
              <a:buFont typeface="Wingdings" charset="2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b="1" dirty="0">
                <a:solidFill>
                  <a:srgbClr val="000000"/>
                </a:solidFill>
                <a:latin typeface="Courier New" charset="0"/>
                <a:ea typeface="Lucida Sans Unicode" charset="0"/>
                <a:cs typeface="Lucida Sans Unicode" charset="0"/>
              </a:rPr>
              <a:t>	</a:t>
            </a:r>
            <a:r>
              <a:rPr lang="en-GB" b="1" dirty="0" smtClean="0">
                <a:solidFill>
                  <a:srgbClr val="000000"/>
                </a:solidFill>
                <a:latin typeface="Courier New" charset="0"/>
                <a:ea typeface="Lucida Sans Unicode" charset="0"/>
                <a:cs typeface="Lucida Sans Unicode" charset="0"/>
              </a:rPr>
              <a:t>							 Expression r){</a:t>
            </a:r>
          </a:p>
          <a:p>
            <a:pPr>
              <a:lnSpc>
                <a:spcPct val="90000"/>
              </a:lnSpc>
              <a:buFont typeface="Wingdings" charset="2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b="1" dirty="0">
                <a:solidFill>
                  <a:srgbClr val="000000"/>
                </a:solidFill>
                <a:latin typeface="Courier New" charset="0"/>
                <a:ea typeface="Lucida Sans Unicode" charset="0"/>
                <a:cs typeface="Lucida Sans Unicode" charset="0"/>
              </a:rPr>
              <a:t>	</a:t>
            </a:r>
            <a:r>
              <a:rPr lang="en-GB" b="1" dirty="0" smtClean="0">
                <a:solidFill>
                  <a:srgbClr val="000000"/>
                </a:solidFill>
                <a:latin typeface="Courier New" charset="0"/>
                <a:ea typeface="Lucida Sans Unicode" charset="0"/>
                <a:cs typeface="Lucida Sans Unicode" charset="0"/>
              </a:rPr>
              <a:t>	left=l; right=r;</a:t>
            </a:r>
          </a:p>
          <a:p>
            <a:pPr>
              <a:lnSpc>
                <a:spcPct val="90000"/>
              </a:lnSpc>
              <a:buFont typeface="Wingdings" charset="2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b="1" dirty="0">
                <a:solidFill>
                  <a:srgbClr val="000000"/>
                </a:solidFill>
                <a:latin typeface="Courier New" charset="0"/>
                <a:ea typeface="Lucida Sans Unicode" charset="0"/>
                <a:cs typeface="Lucida Sans Unicode" charset="0"/>
              </a:rPr>
              <a:t>	</a:t>
            </a:r>
            <a:r>
              <a:rPr lang="en-GB" b="1" dirty="0" smtClean="0">
                <a:solidFill>
                  <a:srgbClr val="000000"/>
                </a:solidFill>
                <a:latin typeface="Courier New" charset="0"/>
                <a:ea typeface="Lucida Sans Unicode" charset="0"/>
                <a:cs typeface="Lucida Sans Unicode" charset="0"/>
              </a:rPr>
              <a:t>}</a:t>
            </a:r>
            <a:endParaRPr lang="en-GB" b="1" dirty="0">
              <a:solidFill>
                <a:srgbClr val="000000"/>
              </a:solidFill>
              <a:latin typeface="Courier New" charset="0"/>
              <a:ea typeface="Lucida Sans Unicode" charset="0"/>
              <a:cs typeface="Lucida Sans Unicode" charset="0"/>
            </a:endParaRPr>
          </a:p>
          <a:p>
            <a:pPr>
              <a:lnSpc>
                <a:spcPct val="90000"/>
              </a:lnSpc>
              <a:buFont typeface="Wingdings" charset="2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b="1" dirty="0">
                <a:solidFill>
                  <a:srgbClr val="FF6600"/>
                </a:solidFill>
                <a:latin typeface="Courier New" charset="0"/>
                <a:ea typeface="Lucida Sans Unicode" charset="0"/>
                <a:cs typeface="Lucida Sans Unicode" charset="0"/>
              </a:rPr>
              <a:t>   </a:t>
            </a:r>
            <a:r>
              <a:rPr lang="en-GB" b="1" dirty="0">
                <a:solidFill>
                  <a:srgbClr val="FF6633"/>
                </a:solidFill>
                <a:latin typeface="Courier New" charset="0"/>
                <a:ea typeface="Lucida Sans Unicode" charset="0"/>
                <a:cs typeface="Lucida Sans Unicode" charset="0"/>
              </a:rPr>
              <a:t>public </a:t>
            </a:r>
            <a:r>
              <a:rPr lang="en-GB" b="1" dirty="0" smtClean="0">
                <a:solidFill>
                  <a:srgbClr val="FF6633"/>
                </a:solidFill>
                <a:latin typeface="Courier New" charset="0"/>
                <a:ea typeface="Lucida Sans Unicode" charset="0"/>
                <a:cs typeface="Lucida Sans Unicode" charset="0"/>
              </a:rPr>
              <a:t>double evaluate(</a:t>
            </a:r>
            <a:r>
              <a:rPr lang="en-GB" b="1" dirty="0">
                <a:solidFill>
                  <a:srgbClr val="FF6633"/>
                </a:solidFill>
                <a:latin typeface="Courier New" charset="0"/>
                <a:ea typeface="Lucida Sans Unicode" charset="0"/>
                <a:cs typeface="Lucida Sans Unicode" charset="0"/>
              </a:rPr>
              <a:t>) {</a:t>
            </a:r>
          </a:p>
          <a:p>
            <a:pPr>
              <a:lnSpc>
                <a:spcPct val="90000"/>
              </a:lnSpc>
              <a:buFont typeface="Wingdings" charset="2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b="1" dirty="0">
                <a:solidFill>
                  <a:srgbClr val="FF6633"/>
                </a:solidFill>
                <a:latin typeface="Courier New" charset="0"/>
                <a:ea typeface="Lucida Sans Unicode" charset="0"/>
                <a:cs typeface="Lucida Sans Unicode" charset="0"/>
              </a:rPr>
              <a:t>      </a:t>
            </a:r>
            <a:r>
              <a:rPr lang="en-GB" b="1" dirty="0" smtClean="0">
                <a:solidFill>
                  <a:srgbClr val="FF6633"/>
                </a:solidFill>
                <a:latin typeface="Courier New" charset="0"/>
                <a:ea typeface="Lucida Sans Unicode" charset="0"/>
                <a:cs typeface="Lucida Sans Unicode" charset="0"/>
              </a:rPr>
              <a:t>return </a:t>
            </a:r>
            <a:r>
              <a:rPr lang="en-GB" b="1" dirty="0" err="1" smtClean="0">
                <a:solidFill>
                  <a:srgbClr val="FF6633"/>
                </a:solidFill>
                <a:latin typeface="Courier New" charset="0"/>
                <a:ea typeface="Lucida Sans Unicode" charset="0"/>
                <a:cs typeface="Lucida Sans Unicode" charset="0"/>
              </a:rPr>
              <a:t>left.evaluate</a:t>
            </a:r>
            <a:r>
              <a:rPr lang="en-GB" b="1" dirty="0" smtClean="0">
                <a:solidFill>
                  <a:srgbClr val="FF6633"/>
                </a:solidFill>
                <a:latin typeface="Courier New" charset="0"/>
                <a:ea typeface="Lucida Sans Unicode" charset="0"/>
                <a:cs typeface="Lucida Sans Unicode" charset="0"/>
              </a:rPr>
              <a:t>()+</a:t>
            </a:r>
            <a:r>
              <a:rPr lang="en-GB" b="1" dirty="0" err="1" smtClean="0">
                <a:solidFill>
                  <a:srgbClr val="FF6633"/>
                </a:solidFill>
                <a:latin typeface="Courier New" charset="0"/>
                <a:ea typeface="Lucida Sans Unicode" charset="0"/>
                <a:cs typeface="Lucida Sans Unicode" charset="0"/>
              </a:rPr>
              <a:t>right.evaluate</a:t>
            </a:r>
            <a:r>
              <a:rPr lang="en-GB" b="1" dirty="0" smtClean="0">
                <a:solidFill>
                  <a:srgbClr val="FF6633"/>
                </a:solidFill>
                <a:latin typeface="Courier New" charset="0"/>
                <a:ea typeface="Lucida Sans Unicode" charset="0"/>
                <a:cs typeface="Lucida Sans Unicode" charset="0"/>
              </a:rPr>
              <a:t>();</a:t>
            </a:r>
            <a:endParaRPr lang="en-GB" b="1" dirty="0">
              <a:solidFill>
                <a:srgbClr val="FF6633"/>
              </a:solidFill>
              <a:latin typeface="Courier New" charset="0"/>
              <a:ea typeface="Lucida Sans Unicode" charset="0"/>
              <a:cs typeface="Lucida Sans Unicode" charset="0"/>
            </a:endParaRPr>
          </a:p>
          <a:p>
            <a:pPr>
              <a:lnSpc>
                <a:spcPct val="90000"/>
              </a:lnSpc>
              <a:buFont typeface="Wingdings" charset="2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b="1" dirty="0">
                <a:solidFill>
                  <a:srgbClr val="FF6633"/>
                </a:solidFill>
                <a:latin typeface="Courier New" charset="0"/>
                <a:ea typeface="Lucida Sans Unicode" charset="0"/>
                <a:cs typeface="Lucida Sans Unicode" charset="0"/>
              </a:rPr>
              <a:t>   }</a:t>
            </a:r>
          </a:p>
          <a:p>
            <a:pPr>
              <a:lnSpc>
                <a:spcPct val="90000"/>
              </a:lnSpc>
              <a:buFont typeface="Wingdings" charset="2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b="1" dirty="0" smtClean="0">
                <a:solidFill>
                  <a:srgbClr val="000000"/>
                </a:solidFill>
                <a:latin typeface="Courier New" charset="0"/>
                <a:ea typeface="Lucida Sans Unicode" charset="0"/>
                <a:cs typeface="Lucida Sans Unicode" charset="0"/>
              </a:rPr>
              <a:t>}</a:t>
            </a:r>
            <a:endParaRPr lang="en-GB" b="1" dirty="0">
              <a:solidFill>
                <a:srgbClr val="000000"/>
              </a:solidFill>
              <a:latin typeface="Courier New" charset="0"/>
              <a:ea typeface="Lucida Sans Unicode" charset="0"/>
              <a:cs typeface="Lucida Sans Unicode" charset="0"/>
            </a:endParaRPr>
          </a:p>
        </p:txBody>
      </p:sp>
      <p:sp>
        <p:nvSpPr>
          <p:cNvPr id="14336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152400"/>
            <a:ext cx="8610600" cy="914400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Abstract modifier</a:t>
            </a: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899592" y="4941168"/>
            <a:ext cx="8064896" cy="1440160"/>
          </a:xfrm>
          <a:prstGeom prst="rect">
            <a:avLst/>
          </a:prstGeom>
          <a:solidFill>
            <a:srgbClr val="FDEADA"/>
          </a:solidFill>
          <a:ln w="12600">
            <a:solidFill>
              <a:srgbClr val="E46C0A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0000" tIns="46800" rIns="90000" bIns="46800" anchor="ctr"/>
          <a:lstStyle/>
          <a:p>
            <a:pPr>
              <a:lnSpc>
                <a:spcPct val="90000"/>
              </a:lnSpc>
              <a:buFont typeface="Wingdings" charset="2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b="1" dirty="0" smtClean="0">
                <a:solidFill>
                  <a:srgbClr val="000000"/>
                </a:solidFill>
                <a:latin typeface="Courier New" charset="0"/>
                <a:ea typeface="Lucida Sans Unicode" charset="0"/>
                <a:cs typeface="Lucida Sans Unicode" charset="0"/>
              </a:rPr>
              <a:t>Expression </a:t>
            </a:r>
            <a:r>
              <a:rPr lang="en-GB" b="1" dirty="0">
                <a:solidFill>
                  <a:srgbClr val="000000"/>
                </a:solidFill>
                <a:latin typeface="Courier New" charset="0"/>
                <a:ea typeface="Lucida Sans Unicode" charset="0"/>
                <a:cs typeface="Lucida Sans Unicode" charset="0"/>
              </a:rPr>
              <a:t>s</a:t>
            </a:r>
            <a:r>
              <a:rPr lang="en-GB" b="1" dirty="0" smtClean="0">
                <a:solidFill>
                  <a:srgbClr val="000000"/>
                </a:solidFill>
                <a:latin typeface="Courier New" charset="0"/>
                <a:ea typeface="Lucida Sans Unicode" charset="0"/>
                <a:cs typeface="Lucida Sans Unicode" charset="0"/>
              </a:rPr>
              <a:t>= new Addition(</a:t>
            </a:r>
          </a:p>
          <a:p>
            <a:pPr>
              <a:lnSpc>
                <a:spcPct val="90000"/>
              </a:lnSpc>
              <a:buFont typeface="Wingdings" charset="2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b="1" dirty="0">
                <a:solidFill>
                  <a:srgbClr val="000000"/>
                </a:solidFill>
                <a:latin typeface="Courier New" charset="0"/>
                <a:ea typeface="Lucida Sans Unicode" charset="0"/>
                <a:cs typeface="Lucida Sans Unicode" charset="0"/>
              </a:rPr>
              <a:t>	</a:t>
            </a:r>
            <a:r>
              <a:rPr lang="en-GB" b="1" dirty="0" smtClean="0">
                <a:solidFill>
                  <a:srgbClr val="000000"/>
                </a:solidFill>
                <a:latin typeface="Courier New" charset="0"/>
                <a:ea typeface="Lucida Sans Unicode" charset="0"/>
                <a:cs typeface="Lucida Sans Unicode" charset="0"/>
              </a:rPr>
              <a:t>								new Operand(3),</a:t>
            </a:r>
          </a:p>
          <a:p>
            <a:pPr>
              <a:lnSpc>
                <a:spcPct val="90000"/>
              </a:lnSpc>
              <a:buFont typeface="Wingdings" charset="2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b="1" dirty="0">
                <a:solidFill>
                  <a:srgbClr val="000000"/>
                </a:solidFill>
                <a:latin typeface="Courier New" charset="0"/>
                <a:ea typeface="Lucida Sans Unicode" charset="0"/>
                <a:cs typeface="Lucida Sans Unicode" charset="0"/>
              </a:rPr>
              <a:t>	</a:t>
            </a:r>
            <a:r>
              <a:rPr lang="en-GB" b="1" dirty="0" smtClean="0">
                <a:solidFill>
                  <a:srgbClr val="000000"/>
                </a:solidFill>
                <a:latin typeface="Courier New" charset="0"/>
                <a:ea typeface="Lucida Sans Unicode" charset="0"/>
                <a:cs typeface="Lucida Sans Unicode" charset="0"/>
              </a:rPr>
              <a:t>								v);</a:t>
            </a:r>
          </a:p>
          <a:p>
            <a:pPr>
              <a:lnSpc>
                <a:spcPct val="90000"/>
              </a:lnSpc>
              <a:buFont typeface="Wingdings" charset="2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b="1" dirty="0">
                <a:solidFill>
                  <a:srgbClr val="000000"/>
                </a:solidFill>
                <a:latin typeface="Courier New" charset="0"/>
                <a:ea typeface="Lucida Sans Unicode" charset="0"/>
                <a:cs typeface="Lucida Sans Unicode" charset="0"/>
              </a:rPr>
              <a:t>d</a:t>
            </a:r>
            <a:r>
              <a:rPr lang="en-GB" b="1" dirty="0" smtClean="0">
                <a:solidFill>
                  <a:srgbClr val="000000"/>
                </a:solidFill>
                <a:latin typeface="Courier New" charset="0"/>
                <a:ea typeface="Lucida Sans Unicode" charset="0"/>
                <a:cs typeface="Lucida Sans Unicode" charset="0"/>
              </a:rPr>
              <a:t>ouble res = </a:t>
            </a:r>
            <a:r>
              <a:rPr lang="en-GB" b="1" dirty="0" err="1" smtClean="0">
                <a:solidFill>
                  <a:srgbClr val="000000"/>
                </a:solidFill>
                <a:latin typeface="Courier New" charset="0"/>
                <a:ea typeface="Lucida Sans Unicode" charset="0"/>
                <a:cs typeface="Lucida Sans Unicode" charset="0"/>
              </a:rPr>
              <a:t>s.evaluate</a:t>
            </a:r>
            <a:r>
              <a:rPr lang="en-GB" b="1" dirty="0" smtClean="0">
                <a:solidFill>
                  <a:srgbClr val="000000"/>
                </a:solidFill>
                <a:latin typeface="Courier New" charset="0"/>
                <a:ea typeface="Lucida Sans Unicode" charset="0"/>
                <a:cs typeface="Lucida Sans Unicode" charset="0"/>
              </a:rPr>
              <a:t>();</a:t>
            </a:r>
            <a:endParaRPr lang="en-GB" b="1" dirty="0">
              <a:solidFill>
                <a:srgbClr val="008000"/>
              </a:solidFill>
              <a:latin typeface="Courier New" charset="0"/>
              <a:ea typeface="Lucida Sans Unicode" charset="0"/>
              <a:cs typeface="Lucida Sans Unicod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0022492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Abstract Expression Tree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484784"/>
            <a:ext cx="7825034" cy="4181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22044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3" name="Segnaposto numero diapositiva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22250CDE-25F8-474C-A21A-A7C1C4508723}" type="slidenum">
              <a:rPr lang="en-GB" sz="1200">
                <a:solidFill>
                  <a:srgbClr val="000000"/>
                </a:solidFill>
              </a:rPr>
              <a:pPr eaLnBrk="1" hangingPunct="1"/>
              <a:t>79</a:t>
            </a:fld>
            <a:endParaRPr lang="en-GB" sz="1200">
              <a:solidFill>
                <a:srgbClr val="000000"/>
              </a:solidFill>
            </a:endParaRPr>
          </a:p>
        </p:txBody>
      </p:sp>
      <p:sp>
        <p:nvSpPr>
          <p:cNvPr id="141314" name="Rectangle 1"/>
          <p:cNvSpPr>
            <a:spLocks noChangeArrowheads="1"/>
          </p:cNvSpPr>
          <p:nvPr/>
        </p:nvSpPr>
        <p:spPr bwMode="auto">
          <a:xfrm>
            <a:off x="467544" y="1340768"/>
            <a:ext cx="8280920" cy="4152900"/>
          </a:xfrm>
          <a:prstGeom prst="rect">
            <a:avLst/>
          </a:prstGeom>
          <a:solidFill>
            <a:srgbClr val="FDEADA"/>
          </a:solidFill>
          <a:ln w="12600">
            <a:solidFill>
              <a:srgbClr val="E46C0A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0000" tIns="46800" rIns="90000" bIns="46800" anchor="ctr"/>
          <a:lstStyle/>
          <a:p>
            <a:pPr>
              <a:lnSpc>
                <a:spcPct val="90000"/>
              </a:lnSpc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public </a:t>
            </a:r>
            <a:r>
              <a:rPr lang="en-GB" b="1" dirty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abstract</a:t>
            </a: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class Shape {</a:t>
            </a:r>
          </a:p>
          <a:p>
            <a:pPr>
              <a:lnSpc>
                <a:spcPct val="90000"/>
              </a:lnSpc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b="1" dirty="0">
              <a:solidFill>
                <a:srgbClr val="000000"/>
              </a:solidFill>
              <a:latin typeface="Courier New" charset="0"/>
              <a:cs typeface="Lucida Sans Unicode" charset="0"/>
            </a:endParaRPr>
          </a:p>
          <a:p>
            <a:pPr>
              <a:lnSpc>
                <a:spcPct val="90000"/>
              </a:lnSpc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>
                <a:solidFill>
                  <a:srgbClr val="777777"/>
                </a:solidFill>
                <a:latin typeface="Courier New" charset="0"/>
                <a:cs typeface="Lucida Sans Unicode" charset="0"/>
              </a:rPr>
              <a:t>   private </a:t>
            </a:r>
            <a:r>
              <a:rPr lang="en-GB" b="1" dirty="0" err="1">
                <a:solidFill>
                  <a:srgbClr val="777777"/>
                </a:solidFill>
                <a:latin typeface="Courier New" charset="0"/>
                <a:cs typeface="Lucida Sans Unicode" charset="0"/>
              </a:rPr>
              <a:t>int</a:t>
            </a:r>
            <a:r>
              <a:rPr lang="en-GB" b="1" dirty="0">
                <a:solidFill>
                  <a:srgbClr val="777777"/>
                </a:solidFill>
                <a:latin typeface="Courier New" charset="0"/>
                <a:cs typeface="Lucida Sans Unicode" charset="0"/>
              </a:rPr>
              <a:t> </a:t>
            </a:r>
            <a:r>
              <a:rPr lang="en-GB" b="1" dirty="0" err="1">
                <a:solidFill>
                  <a:srgbClr val="777777"/>
                </a:solidFill>
                <a:latin typeface="Courier New" charset="0"/>
                <a:cs typeface="Lucida Sans Unicode" charset="0"/>
              </a:rPr>
              <a:t>color</a:t>
            </a:r>
            <a:r>
              <a:rPr lang="en-GB" b="1" dirty="0">
                <a:solidFill>
                  <a:srgbClr val="777777"/>
                </a:solidFill>
                <a:latin typeface="Courier New" charset="0"/>
                <a:cs typeface="Lucida Sans Unicode" charset="0"/>
              </a:rPr>
              <a:t>;</a:t>
            </a:r>
          </a:p>
          <a:p>
            <a:pPr>
              <a:lnSpc>
                <a:spcPct val="90000"/>
              </a:lnSpc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b="1" dirty="0">
              <a:solidFill>
                <a:srgbClr val="777777"/>
              </a:solidFill>
              <a:latin typeface="Courier New" charset="0"/>
              <a:cs typeface="Lucida Sans Unicode" charset="0"/>
            </a:endParaRPr>
          </a:p>
          <a:p>
            <a:pPr>
              <a:lnSpc>
                <a:spcPct val="90000"/>
              </a:lnSpc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>
                <a:solidFill>
                  <a:srgbClr val="777777"/>
                </a:solidFill>
                <a:latin typeface="Courier New" charset="0"/>
                <a:cs typeface="Lucida Sans Unicode" charset="0"/>
              </a:rPr>
              <a:t>   public void </a:t>
            </a:r>
            <a:r>
              <a:rPr lang="en-GB" b="1" dirty="0" err="1">
                <a:solidFill>
                  <a:srgbClr val="777777"/>
                </a:solidFill>
                <a:latin typeface="Courier New" charset="0"/>
                <a:cs typeface="Lucida Sans Unicode" charset="0"/>
              </a:rPr>
              <a:t>setColor</a:t>
            </a:r>
            <a:r>
              <a:rPr lang="en-GB" b="1" dirty="0">
                <a:solidFill>
                  <a:srgbClr val="777777"/>
                </a:solidFill>
                <a:latin typeface="Courier New" charset="0"/>
                <a:cs typeface="Lucida Sans Unicode" charset="0"/>
              </a:rPr>
              <a:t>(</a:t>
            </a:r>
            <a:r>
              <a:rPr lang="en-GB" b="1" dirty="0" err="1">
                <a:solidFill>
                  <a:srgbClr val="777777"/>
                </a:solidFill>
                <a:latin typeface="Courier New" charset="0"/>
                <a:cs typeface="Lucida Sans Unicode" charset="0"/>
              </a:rPr>
              <a:t>int</a:t>
            </a:r>
            <a:r>
              <a:rPr lang="en-GB" b="1" dirty="0">
                <a:solidFill>
                  <a:srgbClr val="777777"/>
                </a:solidFill>
                <a:latin typeface="Courier New" charset="0"/>
                <a:cs typeface="Lucida Sans Unicode" charset="0"/>
              </a:rPr>
              <a:t> </a:t>
            </a:r>
            <a:r>
              <a:rPr lang="en-GB" b="1" dirty="0" err="1">
                <a:solidFill>
                  <a:srgbClr val="777777"/>
                </a:solidFill>
                <a:latin typeface="Courier New" charset="0"/>
                <a:cs typeface="Lucida Sans Unicode" charset="0"/>
              </a:rPr>
              <a:t>color</a:t>
            </a:r>
            <a:r>
              <a:rPr lang="en-GB" b="1" dirty="0">
                <a:solidFill>
                  <a:srgbClr val="777777"/>
                </a:solidFill>
                <a:latin typeface="Courier New" charset="0"/>
                <a:cs typeface="Lucida Sans Unicode" charset="0"/>
              </a:rPr>
              <a:t>){ </a:t>
            </a:r>
          </a:p>
          <a:p>
            <a:pPr>
              <a:lnSpc>
                <a:spcPct val="90000"/>
              </a:lnSpc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>
                <a:solidFill>
                  <a:srgbClr val="777777"/>
                </a:solidFill>
                <a:latin typeface="Courier New" charset="0"/>
                <a:cs typeface="Lucida Sans Unicode" charset="0"/>
              </a:rPr>
              <a:t>      </a:t>
            </a:r>
            <a:r>
              <a:rPr lang="en-GB" b="1" dirty="0" err="1">
                <a:solidFill>
                  <a:srgbClr val="777777"/>
                </a:solidFill>
                <a:latin typeface="Courier New" charset="0"/>
                <a:cs typeface="Lucida Sans Unicode" charset="0"/>
              </a:rPr>
              <a:t>this.color</a:t>
            </a:r>
            <a:r>
              <a:rPr lang="en-GB" b="1" dirty="0">
                <a:solidFill>
                  <a:srgbClr val="777777"/>
                </a:solidFill>
                <a:latin typeface="Courier New" charset="0"/>
                <a:cs typeface="Lucida Sans Unicode" charset="0"/>
              </a:rPr>
              <a:t> = </a:t>
            </a:r>
            <a:r>
              <a:rPr lang="en-GB" b="1" dirty="0" err="1">
                <a:solidFill>
                  <a:srgbClr val="777777"/>
                </a:solidFill>
                <a:latin typeface="Courier New" charset="0"/>
                <a:cs typeface="Lucida Sans Unicode" charset="0"/>
              </a:rPr>
              <a:t>color</a:t>
            </a:r>
            <a:r>
              <a:rPr lang="en-GB" b="1" dirty="0">
                <a:solidFill>
                  <a:srgbClr val="777777"/>
                </a:solidFill>
                <a:latin typeface="Courier New" charset="0"/>
                <a:cs typeface="Lucida Sans Unicode" charset="0"/>
              </a:rPr>
              <a:t>; </a:t>
            </a:r>
          </a:p>
          <a:p>
            <a:pPr>
              <a:lnSpc>
                <a:spcPct val="90000"/>
              </a:lnSpc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>
                <a:solidFill>
                  <a:srgbClr val="777777"/>
                </a:solidFill>
                <a:latin typeface="Courier New" charset="0"/>
                <a:cs typeface="Lucida Sans Unicode" charset="0"/>
              </a:rPr>
              <a:t>   }</a:t>
            </a:r>
          </a:p>
          <a:p>
            <a:pPr>
              <a:lnSpc>
                <a:spcPct val="90000"/>
              </a:lnSpc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b="1" dirty="0">
              <a:solidFill>
                <a:srgbClr val="000000"/>
              </a:solidFill>
              <a:latin typeface="Courier New" charset="0"/>
              <a:cs typeface="Lucida Sans Unicode" charset="0"/>
            </a:endParaRPr>
          </a:p>
          <a:p>
            <a:pPr>
              <a:lnSpc>
                <a:spcPct val="90000"/>
              </a:lnSpc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  </a:t>
            </a:r>
            <a:r>
              <a:rPr lang="en-GB" b="1" dirty="0">
                <a:solidFill>
                  <a:schemeClr val="accent3">
                    <a:lumMod val="50000"/>
                  </a:schemeClr>
                </a:solidFill>
                <a:latin typeface="Courier New" charset="0"/>
                <a:cs typeface="Lucida Sans Unicode" charset="0"/>
              </a:rPr>
              <a:t>// to be implemented in child classes </a:t>
            </a:r>
          </a:p>
          <a:p>
            <a:pPr>
              <a:lnSpc>
                <a:spcPct val="90000"/>
              </a:lnSpc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  public </a:t>
            </a:r>
            <a:r>
              <a:rPr lang="en-GB" b="1" dirty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abstract</a:t>
            </a: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void draw(); </a:t>
            </a:r>
          </a:p>
          <a:p>
            <a:pPr>
              <a:lnSpc>
                <a:spcPct val="90000"/>
              </a:lnSpc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}</a:t>
            </a:r>
          </a:p>
        </p:txBody>
      </p:sp>
      <p:sp>
        <p:nvSpPr>
          <p:cNvPr id="14131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152400"/>
            <a:ext cx="8610600" cy="914400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Abstract modifier</a:t>
            </a:r>
          </a:p>
        </p:txBody>
      </p:sp>
      <p:sp>
        <p:nvSpPr>
          <p:cNvPr id="150532" name="AutoShape 3"/>
          <p:cNvSpPr>
            <a:spLocks noChangeArrowheads="1"/>
          </p:cNvSpPr>
          <p:nvPr/>
        </p:nvSpPr>
        <p:spPr bwMode="auto">
          <a:xfrm>
            <a:off x="7164288" y="5301208"/>
            <a:ext cx="1717775" cy="792088"/>
          </a:xfrm>
          <a:prstGeom prst="wedgeRoundRectCallout">
            <a:avLst>
              <a:gd name="adj1" fmla="val -91762"/>
              <a:gd name="adj2" fmla="val -108202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 w="12600">
            <a:solidFill>
              <a:schemeClr val="accent4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360" tIns="44280" rIns="90360" bIns="44280" anchor="ctr"/>
          <a:lstStyle/>
          <a:p>
            <a:pPr algn="ctr"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sz="2000" b="1" dirty="0" smtClean="0">
                <a:solidFill>
                  <a:srgbClr val="000000"/>
                </a:solidFill>
                <a:latin typeface="+mn-lt"/>
              </a:rPr>
              <a:t>No method </a:t>
            </a:r>
            <a:r>
              <a:rPr lang="en-GB" sz="2000" b="1" dirty="0">
                <a:solidFill>
                  <a:srgbClr val="000000"/>
                </a:solidFill>
                <a:latin typeface="+mn-lt"/>
              </a:rPr>
              <a:t>body</a:t>
            </a: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1" name="Segnaposto numero diapositiva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A40CE15C-8AD4-F744-A8C6-DEBC562E92ED}" type="slidenum">
              <a:rPr lang="en-GB" sz="1200">
                <a:solidFill>
                  <a:srgbClr val="000000"/>
                </a:solidFill>
              </a:rPr>
              <a:pPr eaLnBrk="1" hangingPunct="1"/>
              <a:t>80</a:t>
            </a:fld>
            <a:endParaRPr lang="en-GB" sz="1200">
              <a:solidFill>
                <a:srgbClr val="000000"/>
              </a:solidFill>
            </a:endParaRPr>
          </a:p>
        </p:txBody>
      </p:sp>
      <p:sp>
        <p:nvSpPr>
          <p:cNvPr id="53249" name="Rectangle 1"/>
          <p:cNvSpPr>
            <a:spLocks noChangeArrowheads="1"/>
          </p:cNvSpPr>
          <p:nvPr/>
        </p:nvSpPr>
        <p:spPr bwMode="auto">
          <a:xfrm>
            <a:off x="448816" y="1294805"/>
            <a:ext cx="8299648" cy="3862387"/>
          </a:xfrm>
          <a:prstGeom prst="rect">
            <a:avLst/>
          </a:prstGeom>
          <a:solidFill>
            <a:srgbClr val="FDEADA"/>
          </a:solidFill>
          <a:ln w="12600">
            <a:solidFill>
              <a:srgbClr val="E46C0A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0000" tIns="46800" rIns="90000" bIns="46800" anchor="ctr"/>
          <a:lstStyle/>
          <a:p>
            <a:pPr>
              <a:lnSpc>
                <a:spcPct val="90000"/>
              </a:lnSpc>
              <a:buFont typeface="Wingdings" charset="2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b="1" dirty="0">
                <a:solidFill>
                  <a:srgbClr val="000000"/>
                </a:solidFill>
                <a:latin typeface="Courier New" charset="0"/>
                <a:ea typeface="Lucida Sans Unicode" charset="0"/>
                <a:cs typeface="Lucida Sans Unicode" charset="0"/>
              </a:rPr>
              <a:t>public class Circle </a:t>
            </a:r>
            <a:r>
              <a:rPr lang="en-GB" b="1" dirty="0">
                <a:solidFill>
                  <a:srgbClr val="FF6633"/>
                </a:solidFill>
                <a:latin typeface="Courier New" charset="0"/>
                <a:ea typeface="Lucida Sans Unicode" charset="0"/>
                <a:cs typeface="Lucida Sans Unicode" charset="0"/>
              </a:rPr>
              <a:t>extends Shape</a:t>
            </a:r>
            <a:r>
              <a:rPr lang="en-GB" b="1" dirty="0">
                <a:solidFill>
                  <a:srgbClr val="000000"/>
                </a:solidFill>
                <a:latin typeface="Courier New" charset="0"/>
                <a:ea typeface="Lucida Sans Unicode" charset="0"/>
                <a:cs typeface="Lucida Sans Unicode" charset="0"/>
              </a:rPr>
              <a:t> {</a:t>
            </a:r>
          </a:p>
          <a:p>
            <a:pPr>
              <a:lnSpc>
                <a:spcPct val="90000"/>
              </a:lnSpc>
              <a:buFont typeface="Wingdings" charset="2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endParaRPr lang="en-GB" b="1" dirty="0">
              <a:solidFill>
                <a:srgbClr val="000000"/>
              </a:solidFill>
              <a:latin typeface="Courier New" charset="0"/>
              <a:ea typeface="Lucida Sans Unicode" charset="0"/>
              <a:cs typeface="Lucida Sans Unicode" charset="0"/>
            </a:endParaRPr>
          </a:p>
          <a:p>
            <a:pPr>
              <a:lnSpc>
                <a:spcPct val="90000"/>
              </a:lnSpc>
              <a:buFont typeface="Wingdings" charset="2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b="1" dirty="0">
                <a:solidFill>
                  <a:srgbClr val="FF6600"/>
                </a:solidFill>
                <a:latin typeface="Courier New" charset="0"/>
                <a:ea typeface="Lucida Sans Unicode" charset="0"/>
                <a:cs typeface="Lucida Sans Unicode" charset="0"/>
              </a:rPr>
              <a:t>   </a:t>
            </a:r>
            <a:r>
              <a:rPr lang="en-GB" b="1" dirty="0">
                <a:solidFill>
                  <a:srgbClr val="FF6633"/>
                </a:solidFill>
                <a:latin typeface="Courier New" charset="0"/>
                <a:ea typeface="Lucida Sans Unicode" charset="0"/>
                <a:cs typeface="Lucida Sans Unicode" charset="0"/>
              </a:rPr>
              <a:t>public void draw() {</a:t>
            </a:r>
          </a:p>
          <a:p>
            <a:pPr>
              <a:lnSpc>
                <a:spcPct val="90000"/>
              </a:lnSpc>
              <a:buFont typeface="Wingdings" charset="2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b="1" dirty="0">
                <a:solidFill>
                  <a:srgbClr val="FF6633"/>
                </a:solidFill>
                <a:latin typeface="Courier New" charset="0"/>
                <a:ea typeface="Lucida Sans Unicode" charset="0"/>
                <a:cs typeface="Lucida Sans Unicode" charset="0"/>
              </a:rPr>
              <a:t>      // body goes here</a:t>
            </a:r>
          </a:p>
          <a:p>
            <a:pPr>
              <a:lnSpc>
                <a:spcPct val="90000"/>
              </a:lnSpc>
              <a:buFont typeface="Wingdings" charset="2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b="1" dirty="0">
                <a:solidFill>
                  <a:srgbClr val="FF6633"/>
                </a:solidFill>
                <a:latin typeface="Courier New" charset="0"/>
                <a:ea typeface="Lucida Sans Unicode" charset="0"/>
                <a:cs typeface="Lucida Sans Unicode" charset="0"/>
              </a:rPr>
              <a:t>   }</a:t>
            </a:r>
          </a:p>
          <a:p>
            <a:pPr>
              <a:lnSpc>
                <a:spcPct val="90000"/>
              </a:lnSpc>
              <a:buFont typeface="Wingdings" charset="2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b="1" dirty="0">
                <a:solidFill>
                  <a:srgbClr val="000000"/>
                </a:solidFill>
                <a:latin typeface="Courier New" charset="0"/>
                <a:ea typeface="Lucida Sans Unicode" charset="0"/>
                <a:cs typeface="Lucida Sans Unicode" charset="0"/>
              </a:rPr>
              <a:t>}</a:t>
            </a:r>
          </a:p>
          <a:p>
            <a:pPr>
              <a:lnSpc>
                <a:spcPct val="90000"/>
              </a:lnSpc>
              <a:buFont typeface="Wingdings" charset="2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endParaRPr lang="en-GB" b="1" dirty="0">
              <a:solidFill>
                <a:srgbClr val="000000"/>
              </a:solidFill>
              <a:latin typeface="Courier New" charset="0"/>
              <a:ea typeface="Lucida Sans Unicode" charset="0"/>
              <a:cs typeface="Lucida Sans Unicode" charset="0"/>
            </a:endParaRPr>
          </a:p>
          <a:p>
            <a:pPr>
              <a:lnSpc>
                <a:spcPct val="90000"/>
              </a:lnSpc>
              <a:buFont typeface="Wingdings" charset="2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endParaRPr lang="en-GB" b="1" dirty="0">
              <a:solidFill>
                <a:srgbClr val="000000"/>
              </a:solidFill>
              <a:latin typeface="Courier New" charset="0"/>
              <a:ea typeface="Lucida Sans Unicode" charset="0"/>
              <a:cs typeface="Lucida Sans Unicode" charset="0"/>
            </a:endParaRPr>
          </a:p>
          <a:p>
            <a:pPr>
              <a:lnSpc>
                <a:spcPct val="90000"/>
              </a:lnSpc>
              <a:buFont typeface="Wingdings" charset="2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b="1" dirty="0">
                <a:solidFill>
                  <a:srgbClr val="000000"/>
                </a:solidFill>
                <a:latin typeface="Courier New" charset="0"/>
                <a:ea typeface="Lucida Sans Unicode" charset="0"/>
                <a:cs typeface="Lucida Sans Unicode" charset="0"/>
              </a:rPr>
              <a:t>Object a = new Shape(); </a:t>
            </a:r>
            <a:r>
              <a:rPr lang="en-GB" b="1" dirty="0" smtClean="0">
                <a:solidFill>
                  <a:schemeClr val="accent4"/>
                </a:solidFill>
                <a:latin typeface="Courier New" charset="0"/>
                <a:ea typeface="Lucida Sans Unicode" charset="0"/>
                <a:cs typeface="Lucida Sans Unicode" charset="0"/>
              </a:rPr>
              <a:t>/</a:t>
            </a:r>
            <a:r>
              <a:rPr lang="en-GB" b="1" dirty="0">
                <a:solidFill>
                  <a:schemeClr val="accent4"/>
                </a:solidFill>
                <a:latin typeface="Courier New" charset="0"/>
                <a:ea typeface="Lucida Sans Unicode" charset="0"/>
                <a:cs typeface="Lucida Sans Unicode" charset="0"/>
              </a:rPr>
              <a:t>/ Illegal: abstract</a:t>
            </a:r>
          </a:p>
          <a:p>
            <a:pPr>
              <a:lnSpc>
                <a:spcPct val="90000"/>
              </a:lnSpc>
              <a:buFont typeface="Wingdings" charset="2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b="1" dirty="0">
                <a:solidFill>
                  <a:srgbClr val="000000"/>
                </a:solidFill>
                <a:latin typeface="Courier New" charset="0"/>
                <a:ea typeface="Lucida Sans Unicode" charset="0"/>
                <a:cs typeface="Lucida Sans Unicode" charset="0"/>
              </a:rPr>
              <a:t>Object a = new Circle()</a:t>
            </a:r>
            <a:r>
              <a:rPr lang="en-GB" b="1" dirty="0" smtClean="0">
                <a:solidFill>
                  <a:srgbClr val="000000"/>
                </a:solidFill>
                <a:latin typeface="Courier New" charset="0"/>
                <a:ea typeface="Lucida Sans Unicode" charset="0"/>
                <a:cs typeface="Lucida Sans Unicode" charset="0"/>
              </a:rPr>
              <a:t>;</a:t>
            </a:r>
            <a:r>
              <a:rPr lang="en-GB" b="1" dirty="0" smtClean="0">
                <a:solidFill>
                  <a:srgbClr val="008000"/>
                </a:solidFill>
                <a:latin typeface="Courier New" charset="0"/>
                <a:ea typeface="Lucida Sans Unicode" charset="0"/>
                <a:cs typeface="Lucida Sans Unicode" charset="0"/>
              </a:rPr>
              <a:t>/</a:t>
            </a:r>
            <a:r>
              <a:rPr lang="en-GB" b="1" dirty="0">
                <a:solidFill>
                  <a:srgbClr val="008000"/>
                </a:solidFill>
                <a:latin typeface="Courier New" charset="0"/>
                <a:ea typeface="Lucida Sans Unicode" charset="0"/>
                <a:cs typeface="Lucida Sans Unicode" charset="0"/>
              </a:rPr>
              <a:t>/ </a:t>
            </a:r>
            <a:r>
              <a:rPr lang="en-GB" b="1" dirty="0" smtClean="0">
                <a:solidFill>
                  <a:srgbClr val="008000"/>
                </a:solidFill>
                <a:latin typeface="Courier New" charset="0"/>
                <a:ea typeface="Lucida Sans Unicode" charset="0"/>
                <a:cs typeface="Lucida Sans Unicode" charset="0"/>
              </a:rPr>
              <a:t>OK: concrete</a:t>
            </a:r>
            <a:endParaRPr lang="en-GB" b="1" dirty="0">
              <a:solidFill>
                <a:srgbClr val="008000"/>
              </a:solidFill>
              <a:latin typeface="Courier New" charset="0"/>
              <a:ea typeface="Lucida Sans Unicode" charset="0"/>
              <a:cs typeface="Lucida Sans Unicode" charset="0"/>
            </a:endParaRPr>
          </a:p>
        </p:txBody>
      </p:sp>
      <p:sp>
        <p:nvSpPr>
          <p:cNvPr id="14336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152400"/>
            <a:ext cx="8610600" cy="914400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Abstract modifier</a:t>
            </a: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Composite Pattern</a:t>
            </a:r>
            <a:endParaRPr lang="en-GB" dirty="0"/>
          </a:p>
        </p:txBody>
      </p:sp>
      <p:sp>
        <p:nvSpPr>
          <p:cNvPr id="105475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Context:</a:t>
            </a:r>
          </a:p>
          <a:p>
            <a:pPr lvl="1"/>
            <a:r>
              <a:rPr lang="en-GB" dirty="0" smtClean="0"/>
              <a:t>You need to represent part-whole hierarchies of objects</a:t>
            </a:r>
          </a:p>
          <a:p>
            <a:r>
              <a:rPr lang="en-GB" dirty="0" smtClean="0"/>
              <a:t>Problem</a:t>
            </a:r>
          </a:p>
          <a:p>
            <a:pPr lvl="1"/>
            <a:r>
              <a:rPr lang="en-GB" dirty="0" smtClean="0"/>
              <a:t>Clients need to access a unique interface</a:t>
            </a:r>
          </a:p>
          <a:p>
            <a:pPr lvl="1"/>
            <a:r>
              <a:rPr lang="en-GB" dirty="0" smtClean="0"/>
              <a:t>There are structural difference between composite objects and individual objects.</a:t>
            </a:r>
            <a:endParaRPr lang="en-GB" dirty="0"/>
          </a:p>
        </p:txBody>
      </p:sp>
      <p:sp>
        <p:nvSpPr>
          <p:cNvPr id="105473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EABB8D4C-B466-6143-B070-6FDEFD161AD8}" type="slidenum">
              <a:rPr lang="en-GB" smtClean="0"/>
              <a:pPr/>
              <a:t>81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2440170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F783185A-0089-794F-9499-0F8A57337D38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 eaLnBrk="1" hangingPunct="1"/>
              <a:t>82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107522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223789"/>
            <a:ext cx="8610600" cy="771623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smtClean="0">
                <a:latin typeface="Lucida Sans Unicode" charset="0"/>
                <a:cs typeface="Lucida Sans Unicode" charset="0"/>
              </a:rPr>
              <a:t>Composite Pattern</a:t>
            </a:r>
            <a:endParaRPr lang="en-GB" dirty="0">
              <a:latin typeface="Lucida Sans Unicode" charset="0"/>
              <a:cs typeface="Lucida Sans Unicode" charset="0"/>
            </a:endParaRPr>
          </a:p>
        </p:txBody>
      </p:sp>
      <p:pic>
        <p:nvPicPr>
          <p:cNvPr id="107523" name="Picture 3" descr="Composite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1397000"/>
            <a:ext cx="7883525" cy="46720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17603942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467544" y="1196752"/>
            <a:ext cx="8064896" cy="47525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0360" tIns="44280" rIns="90360" bIns="442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000" b="1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8944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Lucida Sans Unicode" charset="0"/>
                <a:cs typeface="Lucida Sans Unicode" charset="0"/>
              </a:rPr>
              <a:t>Example: Sorter</a:t>
            </a:r>
            <a:endParaRPr lang="en-US" dirty="0">
              <a:latin typeface="Lucida Sans Unicode" charset="0"/>
              <a:cs typeface="Lucida Sans Unicode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Font typeface="Wingdings" charset="0"/>
              <a:buNone/>
              <a:defRPr/>
            </a:pPr>
            <a:r>
              <a:rPr lang="en-US" b="1" dirty="0">
                <a:latin typeface="Courier New"/>
                <a:cs typeface="Courier New"/>
              </a:rPr>
              <a:t>p</a:t>
            </a:r>
            <a:r>
              <a:rPr lang="en-US" b="1" dirty="0" smtClean="0">
                <a:latin typeface="Courier New"/>
                <a:cs typeface="Courier New"/>
              </a:rPr>
              <a:t>ublic abstract class Sorter {</a:t>
            </a:r>
          </a:p>
          <a:p>
            <a:pPr marL="0" indent="0">
              <a:buFont typeface="Wingdings" charset="0"/>
              <a:buNone/>
              <a:defRPr/>
            </a:pP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 smtClean="0">
                <a:latin typeface="Courier New"/>
                <a:cs typeface="Courier New"/>
              </a:rPr>
              <a:t> public void </a:t>
            </a:r>
            <a:r>
              <a:rPr lang="en-US" b="1" dirty="0" smtClean="0">
                <a:solidFill>
                  <a:srgbClr val="FF6600"/>
                </a:solidFill>
                <a:latin typeface="Courier New"/>
                <a:cs typeface="Courier New"/>
              </a:rPr>
              <a:t>sort</a:t>
            </a:r>
            <a:r>
              <a:rPr lang="en-US" b="1" dirty="0" smtClean="0">
                <a:latin typeface="Courier New"/>
                <a:cs typeface="Courier New"/>
              </a:rPr>
              <a:t>(Object v[]){</a:t>
            </a:r>
          </a:p>
          <a:p>
            <a:pPr marL="0" indent="0">
              <a:buFont typeface="Wingdings" charset="0"/>
              <a:buNone/>
              <a:defRPr/>
            </a:pP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 smtClean="0">
                <a:latin typeface="Courier New"/>
                <a:cs typeface="Courier New"/>
              </a:rPr>
              <a:t>   for(</a:t>
            </a:r>
            <a:r>
              <a:rPr lang="en-US" b="1" dirty="0" err="1" smtClean="0">
                <a:latin typeface="Courier New"/>
                <a:cs typeface="Courier New"/>
              </a:rPr>
              <a:t>int</a:t>
            </a:r>
            <a:r>
              <a:rPr lang="en-US" b="1" dirty="0" smtClean="0">
                <a:latin typeface="Courier New"/>
                <a:cs typeface="Courier New"/>
              </a:rPr>
              <a:t> </a:t>
            </a:r>
            <a:r>
              <a:rPr lang="en-US" b="1" dirty="0" err="1" smtClean="0">
                <a:latin typeface="Courier New"/>
                <a:cs typeface="Courier New"/>
              </a:rPr>
              <a:t>i</a:t>
            </a:r>
            <a:r>
              <a:rPr lang="en-US" b="1" dirty="0" smtClean="0">
                <a:latin typeface="Courier New"/>
                <a:cs typeface="Courier New"/>
              </a:rPr>
              <a:t>=1; </a:t>
            </a:r>
            <a:r>
              <a:rPr lang="en-US" b="1" dirty="0" err="1" smtClean="0">
                <a:latin typeface="Courier New"/>
                <a:cs typeface="Courier New"/>
              </a:rPr>
              <a:t>i</a:t>
            </a:r>
            <a:r>
              <a:rPr lang="en-US" b="1" dirty="0" smtClean="0">
                <a:latin typeface="Courier New"/>
                <a:cs typeface="Courier New"/>
              </a:rPr>
              <a:t>&lt;</a:t>
            </a:r>
            <a:r>
              <a:rPr lang="en-US" b="1" dirty="0" err="1" smtClean="0">
                <a:latin typeface="Courier New"/>
                <a:cs typeface="Courier New"/>
              </a:rPr>
              <a:t>v.length</a:t>
            </a:r>
            <a:r>
              <a:rPr lang="en-US" b="1" dirty="0" smtClean="0">
                <a:latin typeface="Courier New"/>
                <a:cs typeface="Courier New"/>
              </a:rPr>
              <a:t>; ++</a:t>
            </a:r>
            <a:r>
              <a:rPr lang="en-US" b="1" dirty="0" err="1" smtClean="0">
                <a:latin typeface="Courier New"/>
                <a:cs typeface="Courier New"/>
              </a:rPr>
              <a:t>i</a:t>
            </a:r>
            <a:r>
              <a:rPr lang="en-US" b="1" dirty="0" smtClean="0">
                <a:latin typeface="Courier New"/>
                <a:cs typeface="Courier New"/>
              </a:rPr>
              <a:t>)</a:t>
            </a:r>
          </a:p>
          <a:p>
            <a:pPr marL="0" indent="0">
              <a:buFont typeface="Wingdings" charset="0"/>
              <a:buNone/>
              <a:defRPr/>
            </a:pP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 smtClean="0">
                <a:latin typeface="Courier New"/>
                <a:cs typeface="Courier New"/>
              </a:rPr>
              <a:t>     for(</a:t>
            </a:r>
            <a:r>
              <a:rPr lang="en-US" b="1" dirty="0" err="1" smtClean="0">
                <a:latin typeface="Courier New"/>
                <a:cs typeface="Courier New"/>
              </a:rPr>
              <a:t>int</a:t>
            </a:r>
            <a:r>
              <a:rPr lang="en-US" b="1" dirty="0" smtClean="0">
                <a:latin typeface="Courier New"/>
                <a:cs typeface="Courier New"/>
              </a:rPr>
              <a:t> j=1; j&lt;</a:t>
            </a:r>
            <a:r>
              <a:rPr lang="en-US" b="1" dirty="0" err="1" smtClean="0">
                <a:latin typeface="Courier New"/>
                <a:cs typeface="Courier New"/>
              </a:rPr>
              <a:t>v.length</a:t>
            </a:r>
            <a:r>
              <a:rPr lang="en-US" b="1" dirty="0" smtClean="0">
                <a:latin typeface="Courier New"/>
                <a:cs typeface="Courier New"/>
              </a:rPr>
              <a:t>; ++j){</a:t>
            </a:r>
          </a:p>
          <a:p>
            <a:pPr marL="0" indent="0">
              <a:buFont typeface="Wingdings" charset="0"/>
              <a:buNone/>
              <a:defRPr/>
            </a:pP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 smtClean="0">
                <a:latin typeface="Courier New"/>
                <a:cs typeface="Courier New"/>
              </a:rPr>
              <a:t>       if(compare(v[j-1],v[j])&gt;0</a:t>
            </a:r>
            <a:r>
              <a:rPr lang="en-US" b="1" dirty="0" smtClean="0">
                <a:latin typeface="Courier New"/>
                <a:cs typeface="Courier New"/>
              </a:rPr>
              <a:t>){ </a:t>
            </a:r>
            <a:endParaRPr lang="en-US" b="1" dirty="0" smtClean="0">
              <a:latin typeface="Courier New"/>
              <a:cs typeface="Courier New"/>
            </a:endParaRPr>
          </a:p>
          <a:p>
            <a:pPr marL="0" indent="0">
              <a:buFont typeface="Wingdings" charset="0"/>
              <a:buNone/>
              <a:defRPr/>
            </a:pPr>
            <a:r>
              <a:rPr lang="en-US" b="1" dirty="0" smtClean="0">
                <a:latin typeface="Courier New"/>
                <a:cs typeface="Courier New"/>
              </a:rPr>
              <a:t>          Object o=v[</a:t>
            </a:r>
            <a:r>
              <a:rPr lang="en-US" b="1" dirty="0">
                <a:latin typeface="Courier New"/>
                <a:cs typeface="Courier New"/>
              </a:rPr>
              <a:t>j</a:t>
            </a:r>
            <a:r>
              <a:rPr lang="en-US" b="1" dirty="0" smtClean="0">
                <a:latin typeface="Courier New"/>
                <a:cs typeface="Courier New"/>
              </a:rPr>
              <a:t>];</a:t>
            </a:r>
          </a:p>
          <a:p>
            <a:pPr marL="0" indent="0">
              <a:buFont typeface="Wingdings" charset="0"/>
              <a:buNone/>
              <a:defRPr/>
            </a:pP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 smtClean="0">
                <a:latin typeface="Courier New"/>
                <a:cs typeface="Courier New"/>
              </a:rPr>
              <a:t>         v[</a:t>
            </a:r>
            <a:r>
              <a:rPr lang="en-US" b="1" dirty="0">
                <a:latin typeface="Courier New"/>
                <a:cs typeface="Courier New"/>
              </a:rPr>
              <a:t>j</a:t>
            </a:r>
            <a:r>
              <a:rPr lang="en-US" b="1" dirty="0" smtClean="0">
                <a:latin typeface="Courier New"/>
                <a:cs typeface="Courier New"/>
              </a:rPr>
              <a:t>]=v[j-1]; v[j-1]=o;</a:t>
            </a:r>
          </a:p>
          <a:p>
            <a:pPr marL="0" indent="0">
              <a:buFont typeface="Wingdings" charset="0"/>
              <a:buNone/>
              <a:defRPr/>
            </a:pP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 smtClean="0">
                <a:latin typeface="Courier New"/>
                <a:cs typeface="Courier New"/>
              </a:rPr>
              <a:t>     }</a:t>
            </a:r>
          </a:p>
          <a:p>
            <a:pPr marL="0" indent="0">
              <a:buFont typeface="Wingdings" charset="0"/>
              <a:buNone/>
              <a:defRPr/>
            </a:pPr>
            <a:r>
              <a:rPr lang="en-US" b="1" dirty="0" smtClean="0">
                <a:latin typeface="Courier New"/>
                <a:cs typeface="Courier New"/>
              </a:rPr>
              <a:t>  }</a:t>
            </a:r>
          </a:p>
          <a:p>
            <a:pPr marL="0" indent="0">
              <a:buFont typeface="Wingdings" charset="0"/>
              <a:buNone/>
              <a:defRPr/>
            </a:pP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 smtClean="0">
                <a:latin typeface="Courier New"/>
                <a:cs typeface="Courier New"/>
              </a:rPr>
              <a:t> abstract </a:t>
            </a:r>
            <a:r>
              <a:rPr lang="en-US" b="1" dirty="0" err="1" smtClean="0">
                <a:latin typeface="Courier New"/>
                <a:cs typeface="Courier New"/>
              </a:rPr>
              <a:t>int</a:t>
            </a:r>
            <a:r>
              <a:rPr lang="en-US" b="1" dirty="0" smtClean="0">
                <a:latin typeface="Courier New"/>
                <a:cs typeface="Courier New"/>
              </a:rPr>
              <a:t> </a:t>
            </a:r>
            <a:r>
              <a:rPr lang="en-US" b="1" dirty="0" smtClean="0">
                <a:solidFill>
                  <a:srgbClr val="FF6600"/>
                </a:solidFill>
                <a:latin typeface="Courier New"/>
                <a:cs typeface="Courier New"/>
              </a:rPr>
              <a:t>compare</a:t>
            </a:r>
            <a:r>
              <a:rPr lang="en-US" b="1" dirty="0" smtClean="0">
                <a:latin typeface="Courier New"/>
                <a:cs typeface="Courier New"/>
              </a:rPr>
              <a:t>(Object a, Object b);</a:t>
            </a:r>
          </a:p>
          <a:p>
            <a:pPr marL="0" indent="0">
              <a:buFont typeface="Wingdings" charset="0"/>
              <a:buNone/>
              <a:defRPr/>
            </a:pPr>
            <a:r>
              <a:rPr lang="en-US" b="1" dirty="0">
                <a:latin typeface="Courier New"/>
                <a:cs typeface="Courier New"/>
              </a:rPr>
              <a:t>}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395536" y="1268760"/>
            <a:ext cx="7056784" cy="3600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0360" tIns="44280" rIns="90360" bIns="442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000" b="1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904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Lucida Sans Unicode" charset="0"/>
                <a:cs typeface="Lucida Sans Unicode" charset="0"/>
              </a:rPr>
              <a:t>Example: </a:t>
            </a:r>
            <a:r>
              <a:rPr lang="en-US" dirty="0" err="1" smtClean="0">
                <a:latin typeface="Lucida Sans Unicode" charset="0"/>
                <a:cs typeface="Lucida Sans Unicode" charset="0"/>
              </a:rPr>
              <a:t>StringSorter</a:t>
            </a:r>
            <a:endParaRPr lang="en-US" dirty="0">
              <a:latin typeface="Lucida Sans Unicode" charset="0"/>
              <a:cs typeface="Lucida Sans Unicode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Font typeface="Wingdings" charset="0"/>
              <a:buNone/>
              <a:defRPr/>
            </a:pPr>
            <a:r>
              <a:rPr lang="en-US" sz="2400" b="1" dirty="0">
                <a:latin typeface="Courier New"/>
                <a:cs typeface="Courier New"/>
              </a:rPr>
              <a:t>c</a:t>
            </a:r>
            <a:r>
              <a:rPr lang="en-US" sz="2400" b="1" dirty="0" smtClean="0">
                <a:latin typeface="Courier New"/>
                <a:cs typeface="Courier New"/>
              </a:rPr>
              <a:t>lass </a:t>
            </a:r>
            <a:r>
              <a:rPr lang="en-US" sz="2400" b="1" dirty="0" err="1" smtClean="0">
                <a:latin typeface="Courier New"/>
                <a:cs typeface="Courier New"/>
              </a:rPr>
              <a:t>StringSorter</a:t>
            </a:r>
            <a:r>
              <a:rPr lang="en-US" sz="2400" b="1" dirty="0" smtClean="0">
                <a:latin typeface="Courier New"/>
                <a:cs typeface="Courier New"/>
              </a:rPr>
              <a:t> extends </a:t>
            </a:r>
            <a:r>
              <a:rPr lang="en-US" sz="2400" b="1" dirty="0" smtClean="0">
                <a:solidFill>
                  <a:srgbClr val="FF6600"/>
                </a:solidFill>
                <a:latin typeface="Courier New"/>
                <a:cs typeface="Courier New"/>
              </a:rPr>
              <a:t>Sorter</a:t>
            </a:r>
            <a:r>
              <a:rPr lang="en-US" sz="2400" b="1" dirty="0" smtClean="0">
                <a:latin typeface="Courier New"/>
                <a:cs typeface="Courier New"/>
              </a:rPr>
              <a:t> {</a:t>
            </a:r>
          </a:p>
          <a:p>
            <a:pPr marL="0" indent="0">
              <a:buFont typeface="Wingdings" charset="0"/>
              <a:buNone/>
              <a:defRPr/>
            </a:pPr>
            <a:r>
              <a:rPr lang="en-US" sz="2400" b="1" dirty="0" smtClean="0">
                <a:latin typeface="Courier New"/>
                <a:cs typeface="Courier New"/>
              </a:rPr>
              <a:t>  </a:t>
            </a:r>
            <a:r>
              <a:rPr lang="en-US" sz="2400" b="1" dirty="0" err="1" smtClean="0">
                <a:latin typeface="Courier New"/>
                <a:cs typeface="Courier New"/>
              </a:rPr>
              <a:t>int</a:t>
            </a:r>
            <a:r>
              <a:rPr lang="en-US" sz="2400" b="1" dirty="0" smtClean="0">
                <a:latin typeface="Courier New"/>
                <a:cs typeface="Courier New"/>
              </a:rPr>
              <a:t> </a:t>
            </a:r>
            <a:r>
              <a:rPr lang="en-US" sz="2400" b="1" dirty="0" smtClean="0">
                <a:solidFill>
                  <a:srgbClr val="FF6600"/>
                </a:solidFill>
                <a:latin typeface="Courier New"/>
                <a:cs typeface="Courier New"/>
              </a:rPr>
              <a:t>compare</a:t>
            </a:r>
            <a:r>
              <a:rPr lang="en-US" sz="2400" b="1" dirty="0" smtClean="0">
                <a:latin typeface="Courier New"/>
                <a:cs typeface="Courier New"/>
              </a:rPr>
              <a:t>(Object a, Object b){</a:t>
            </a:r>
          </a:p>
          <a:p>
            <a:pPr marL="0" indent="0">
              <a:buFont typeface="Wingdings" charset="0"/>
              <a:buNone/>
              <a:defRPr/>
            </a:pPr>
            <a:r>
              <a:rPr lang="en-US" sz="2400" b="1" dirty="0">
                <a:latin typeface="Courier New"/>
                <a:cs typeface="Courier New"/>
              </a:rPr>
              <a:t> </a:t>
            </a:r>
            <a:r>
              <a:rPr lang="en-US" sz="2400" b="1" dirty="0" smtClean="0">
                <a:latin typeface="Courier New"/>
                <a:cs typeface="Courier New"/>
              </a:rPr>
              <a:t>   String </a:t>
            </a:r>
            <a:r>
              <a:rPr lang="en-US" sz="2400" b="1" dirty="0" err="1" smtClean="0">
                <a:latin typeface="Courier New"/>
                <a:cs typeface="Courier New"/>
              </a:rPr>
              <a:t>sa</a:t>
            </a:r>
            <a:r>
              <a:rPr lang="en-US" sz="2400" b="1" dirty="0" smtClean="0">
                <a:latin typeface="Courier New"/>
                <a:cs typeface="Courier New"/>
              </a:rPr>
              <a:t>=(String)a;</a:t>
            </a:r>
          </a:p>
          <a:p>
            <a:pPr marL="0" indent="0">
              <a:buNone/>
              <a:defRPr/>
            </a:pPr>
            <a:r>
              <a:rPr lang="en-US" sz="2400" b="1" dirty="0" smtClean="0">
                <a:latin typeface="Courier New"/>
                <a:cs typeface="Courier New"/>
              </a:rPr>
              <a:t>    </a:t>
            </a:r>
            <a:r>
              <a:rPr lang="en-US" sz="2400" b="1" dirty="0">
                <a:latin typeface="Courier New"/>
                <a:cs typeface="Courier New"/>
              </a:rPr>
              <a:t>String </a:t>
            </a:r>
            <a:r>
              <a:rPr lang="en-US" sz="2400" b="1" dirty="0" err="1" smtClean="0">
                <a:latin typeface="Courier New"/>
                <a:cs typeface="Courier New"/>
              </a:rPr>
              <a:t>sb</a:t>
            </a:r>
            <a:r>
              <a:rPr lang="en-US" sz="2400" b="1" dirty="0" smtClean="0">
                <a:latin typeface="Courier New"/>
                <a:cs typeface="Courier New"/>
              </a:rPr>
              <a:t>=</a:t>
            </a:r>
            <a:r>
              <a:rPr lang="en-US" sz="2400" b="1" dirty="0">
                <a:latin typeface="Courier New"/>
                <a:cs typeface="Courier New"/>
              </a:rPr>
              <a:t>(String</a:t>
            </a:r>
            <a:r>
              <a:rPr lang="en-US" sz="2400" b="1" dirty="0" smtClean="0">
                <a:latin typeface="Courier New"/>
                <a:cs typeface="Courier New"/>
              </a:rPr>
              <a:t>)b;</a:t>
            </a:r>
          </a:p>
          <a:p>
            <a:pPr marL="0" indent="0">
              <a:buNone/>
              <a:defRPr/>
            </a:pPr>
            <a:r>
              <a:rPr lang="en-US" sz="2400" b="1" dirty="0">
                <a:latin typeface="Courier New"/>
                <a:cs typeface="Courier New"/>
              </a:rPr>
              <a:t> </a:t>
            </a:r>
            <a:r>
              <a:rPr lang="en-US" sz="2400" b="1" dirty="0" smtClean="0">
                <a:latin typeface="Courier New"/>
                <a:cs typeface="Courier New"/>
              </a:rPr>
              <a:t>   return </a:t>
            </a:r>
            <a:r>
              <a:rPr lang="en-US" sz="2400" b="1" dirty="0" err="1" smtClean="0">
                <a:latin typeface="Courier New"/>
                <a:cs typeface="Courier New"/>
              </a:rPr>
              <a:t>sa.compareTo</a:t>
            </a:r>
            <a:r>
              <a:rPr lang="en-US" sz="2400" b="1" dirty="0" smtClean="0">
                <a:latin typeface="Courier New"/>
                <a:cs typeface="Courier New"/>
              </a:rPr>
              <a:t>(</a:t>
            </a:r>
            <a:r>
              <a:rPr lang="en-US" sz="2400" b="1" dirty="0" err="1" smtClean="0">
                <a:latin typeface="Courier New"/>
                <a:cs typeface="Courier New"/>
              </a:rPr>
              <a:t>sb</a:t>
            </a:r>
            <a:r>
              <a:rPr lang="en-US" sz="2400" b="1" dirty="0" smtClean="0">
                <a:latin typeface="Courier New"/>
                <a:cs typeface="Courier New"/>
              </a:rPr>
              <a:t>);</a:t>
            </a:r>
          </a:p>
          <a:p>
            <a:pPr marL="0" indent="0">
              <a:buNone/>
              <a:defRPr/>
            </a:pPr>
            <a:r>
              <a:rPr lang="en-US" sz="2400" b="1" dirty="0">
                <a:latin typeface="Courier New"/>
                <a:cs typeface="Courier New"/>
              </a:rPr>
              <a:t> </a:t>
            </a:r>
            <a:r>
              <a:rPr lang="en-US" sz="2400" b="1" dirty="0" smtClean="0">
                <a:latin typeface="Courier New"/>
                <a:cs typeface="Courier New"/>
              </a:rPr>
              <a:t> }</a:t>
            </a:r>
          </a:p>
          <a:p>
            <a:pPr marL="0" indent="0">
              <a:buNone/>
              <a:defRPr/>
            </a:pPr>
            <a:r>
              <a:rPr lang="en-US" sz="2400" b="1" dirty="0" smtClean="0">
                <a:latin typeface="Courier New"/>
                <a:cs typeface="Courier New"/>
              </a:rPr>
              <a:t>}</a:t>
            </a:r>
          </a:p>
          <a:p>
            <a:pPr marL="0" indent="0">
              <a:buNone/>
              <a:defRPr/>
            </a:pPr>
            <a:endParaRPr lang="en-US" sz="2400" b="1" dirty="0">
              <a:latin typeface="Courier New"/>
              <a:cs typeface="Courier New"/>
            </a:endParaRPr>
          </a:p>
        </p:txBody>
      </p:sp>
      <p:sp>
        <p:nvSpPr>
          <p:cNvPr id="2" name="Rectangle 1"/>
          <p:cNvSpPr/>
          <p:nvPr/>
        </p:nvSpPr>
        <p:spPr bwMode="auto">
          <a:xfrm>
            <a:off x="1763688" y="4725144"/>
            <a:ext cx="7200800" cy="1440160"/>
          </a:xfrm>
          <a:prstGeom prst="rect">
            <a:avLst/>
          </a:prstGeom>
          <a:solidFill>
            <a:srgbClr val="FDEADA"/>
          </a:solidFill>
          <a:ln w="12600">
            <a:solidFill>
              <a:srgbClr val="E46C0A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360" tIns="44280" rIns="90360" bIns="44280" rtlCol="0" anchor="t"/>
          <a:lstStyle/>
          <a:p>
            <a:pPr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b="1" dirty="0" smtClean="0">
                <a:solidFill>
                  <a:srgbClr val="000000"/>
                </a:solidFill>
                <a:latin typeface="Courier New" charset="0"/>
              </a:rPr>
              <a:t>Sorter </a:t>
            </a:r>
            <a:r>
              <a:rPr lang="en-US" b="1" dirty="0" err="1" smtClean="0">
                <a:solidFill>
                  <a:srgbClr val="000000"/>
                </a:solidFill>
                <a:latin typeface="Courier New" charset="0"/>
              </a:rPr>
              <a:t>ssrt</a:t>
            </a:r>
            <a:r>
              <a:rPr lang="en-US" b="1" dirty="0" smtClean="0">
                <a:solidFill>
                  <a:srgbClr val="000000"/>
                </a:solidFill>
                <a:latin typeface="Courier New" charset="0"/>
              </a:rPr>
              <a:t> = new </a:t>
            </a:r>
            <a:r>
              <a:rPr lang="en-US" b="1" dirty="0" err="1" smtClean="0">
                <a:solidFill>
                  <a:srgbClr val="000000"/>
                </a:solidFill>
                <a:latin typeface="Courier New" charset="0"/>
              </a:rPr>
              <a:t>StringSorter</a:t>
            </a:r>
            <a:r>
              <a:rPr lang="en-US" b="1" dirty="0" smtClean="0">
                <a:solidFill>
                  <a:srgbClr val="000000"/>
                </a:solidFill>
                <a:latin typeface="Courier New" charset="0"/>
              </a:rPr>
              <a:t>();</a:t>
            </a:r>
          </a:p>
          <a:p>
            <a:pPr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b="1" dirty="0" smtClean="0">
                <a:solidFill>
                  <a:srgbClr val="000000"/>
                </a:solidFill>
                <a:latin typeface="Courier New" charset="0"/>
              </a:rPr>
              <a:t>String[] v={"</a:t>
            </a:r>
            <a:r>
              <a:rPr lang="en-US" b="1" dirty="0" err="1" smtClean="0">
                <a:solidFill>
                  <a:srgbClr val="000000"/>
                </a:solidFill>
                <a:latin typeface="Courier New" charset="0"/>
              </a:rPr>
              <a:t>g","t","h","n","j","k</a:t>
            </a:r>
            <a:r>
              <a:rPr lang="en-US" b="1" dirty="0" smtClean="0">
                <a:solidFill>
                  <a:srgbClr val="000000"/>
                </a:solidFill>
                <a:latin typeface="Courier New" charset="0"/>
              </a:rPr>
              <a:t>"};</a:t>
            </a:r>
          </a:p>
          <a:p>
            <a:pPr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b="1" dirty="0" err="1" smtClean="0">
                <a:solidFill>
                  <a:srgbClr val="000000"/>
                </a:solidFill>
                <a:latin typeface="Courier New" charset="0"/>
              </a:rPr>
              <a:t>ssrt.sort</a:t>
            </a:r>
            <a:r>
              <a:rPr lang="en-US" b="1" dirty="0" smtClean="0">
                <a:solidFill>
                  <a:srgbClr val="000000"/>
                </a:solidFill>
                <a:latin typeface="Courier New" charset="0"/>
              </a:rPr>
              <a:t>(v);</a:t>
            </a:r>
          </a:p>
          <a:p>
            <a:pPr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b="1" dirty="0">
              <a:solidFill>
                <a:srgbClr val="000000"/>
              </a:solidFill>
              <a:latin typeface="Courier New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5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>
                <a:latin typeface="Lucida Sans Unicode" charset="0"/>
                <a:cs typeface="Lucida Sans Unicode" charset="0"/>
              </a:rPr>
              <a:t>Template Method Example</a:t>
            </a:r>
          </a:p>
        </p:txBody>
      </p:sp>
      <p:pic>
        <p:nvPicPr>
          <p:cNvPr id="149506" name="Picture 3" descr="TemplateMethodExample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1314450"/>
            <a:ext cx="3429000" cy="450056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BFC9A80B-B869-284E-8E47-EC73C09C4858}" type="slidenum">
              <a:rPr lang="en-GB" sz="1200">
                <a:solidFill>
                  <a:srgbClr val="000000"/>
                </a:solidFill>
              </a:rPr>
              <a:pPr eaLnBrk="1" hangingPunct="1"/>
              <a:t>86</a:t>
            </a:fld>
            <a:endParaRPr lang="en-GB" sz="1200">
              <a:solidFill>
                <a:srgbClr val="000000"/>
              </a:solidFill>
            </a:endParaRPr>
          </a:p>
        </p:txBody>
      </p:sp>
      <p:sp>
        <p:nvSpPr>
          <p:cNvPr id="145411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223789"/>
            <a:ext cx="8610600" cy="771623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Template </a:t>
            </a:r>
            <a:r>
              <a:rPr lang="en-GB" dirty="0" smtClean="0">
                <a:latin typeface="Lucida Sans Unicode" charset="0"/>
                <a:cs typeface="Lucida Sans Unicode" charset="0"/>
              </a:rPr>
              <a:t>Method Pattern</a:t>
            </a:r>
            <a:endParaRPr lang="en-GB" dirty="0">
              <a:latin typeface="Lucida Sans Unicode" charset="0"/>
              <a:cs typeface="Lucida Sans Unicode" charset="0"/>
            </a:endParaRPr>
          </a:p>
        </p:txBody>
      </p:sp>
      <p:sp>
        <p:nvSpPr>
          <p:cNvPr id="14541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1295400"/>
            <a:ext cx="8229600" cy="4800600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Context:</a:t>
            </a:r>
          </a:p>
          <a:p>
            <a:pPr lvl="1" eaLnBrk="1" hangingPunct="1">
              <a:lnSpc>
                <a:spcPct val="10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>
                <a:latin typeface="Lucida Sans Unicode" charset="0"/>
                <a:ea typeface="Lucida Sans Unicode" charset="0"/>
                <a:cs typeface="Lucida Sans Unicode" charset="0"/>
              </a:rPr>
              <a:t>An algorithm/behavior has a stable core and several variation at given points</a:t>
            </a:r>
          </a:p>
          <a:p>
            <a:pPr eaLnBrk="1" hangingPunct="1">
              <a:lnSpc>
                <a:spcPct val="10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Problem</a:t>
            </a:r>
          </a:p>
          <a:p>
            <a:pPr lvl="1" eaLnBrk="1" hangingPunct="1">
              <a:lnSpc>
                <a:spcPct val="10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>
                <a:latin typeface="Lucida Sans Unicode" charset="0"/>
                <a:ea typeface="Lucida Sans Unicode" charset="0"/>
                <a:cs typeface="Lucida Sans Unicode" charset="0"/>
              </a:rPr>
              <a:t>You have to implement/maintain several almost identical pieces of code</a:t>
            </a: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457" name="Picture 5" descr="TemplateMethod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447800"/>
            <a:ext cx="8024813" cy="43942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745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9884A680-D7B9-974C-B587-0286F24C3079}" type="slidenum">
              <a:rPr lang="en-GB" sz="1200">
                <a:solidFill>
                  <a:srgbClr val="000000"/>
                </a:solidFill>
              </a:rPr>
              <a:pPr eaLnBrk="1" hangingPunct="1"/>
              <a:t>87</a:t>
            </a:fld>
            <a:endParaRPr lang="en-GB" sz="1200">
              <a:solidFill>
                <a:srgbClr val="000000"/>
              </a:solidFill>
            </a:endParaRPr>
          </a:p>
        </p:txBody>
      </p:sp>
      <p:sp>
        <p:nvSpPr>
          <p:cNvPr id="147460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152400"/>
            <a:ext cx="8610600" cy="914400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Template Method</a:t>
            </a:r>
          </a:p>
        </p:txBody>
      </p:sp>
      <p:sp>
        <p:nvSpPr>
          <p:cNvPr id="3" name="Rounded Rectangular Callout 2"/>
          <p:cNvSpPr/>
          <p:nvPr/>
        </p:nvSpPr>
        <p:spPr bwMode="auto">
          <a:xfrm>
            <a:off x="4932040" y="1124744"/>
            <a:ext cx="3960440" cy="828672"/>
          </a:xfrm>
          <a:prstGeom prst="wedgeRoundRectCallout">
            <a:avLst>
              <a:gd name="adj1" fmla="val -69392"/>
              <a:gd name="adj2" fmla="val 109207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lIns="90360" tIns="44280" rIns="90360" bIns="44280" rtlCol="0" anchor="ctr"/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solidFill>
                  <a:srgbClr val="000000"/>
                </a:solidFill>
              </a:rPr>
              <a:t>Core algorithm, invokes abstract primitive operations</a:t>
            </a:r>
          </a:p>
        </p:txBody>
      </p:sp>
      <p:sp>
        <p:nvSpPr>
          <p:cNvPr id="10" name="Rounded Rectangular Callout 9"/>
          <p:cNvSpPr/>
          <p:nvPr/>
        </p:nvSpPr>
        <p:spPr bwMode="auto">
          <a:xfrm>
            <a:off x="5004048" y="5229200"/>
            <a:ext cx="3168352" cy="828672"/>
          </a:xfrm>
          <a:prstGeom prst="wedgeRoundRectCallout">
            <a:avLst>
              <a:gd name="adj1" fmla="val -73591"/>
              <a:gd name="adj2" fmla="val -122868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lIns="90360" tIns="44280" rIns="90360" bIns="44280" rtlCol="0" anchor="ctr"/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 smtClean="0">
                <a:solidFill>
                  <a:srgbClr val="000000"/>
                </a:solidFill>
              </a:rPr>
              <a:t>Defines </a:t>
            </a:r>
            <a:r>
              <a:rPr lang="en-GB" sz="2000" dirty="0">
                <a:solidFill>
                  <a:srgbClr val="000000"/>
                </a:solidFill>
              </a:rPr>
              <a:t>a </a:t>
            </a:r>
            <a:r>
              <a:rPr lang="en-GB" sz="2000" dirty="0" smtClean="0">
                <a:solidFill>
                  <a:srgbClr val="000000"/>
                </a:solidFill>
              </a:rPr>
              <a:t>variation </a:t>
            </a:r>
            <a:r>
              <a:rPr lang="en-GB" sz="2000" dirty="0">
                <a:solidFill>
                  <a:srgbClr val="000000"/>
                </a:solidFill>
              </a:rPr>
              <a:t>of the algorithm</a:t>
            </a: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3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>
                <a:latin typeface="Lucida Sans Unicode" charset="0"/>
                <a:cs typeface="Lucida Sans Unicode" charset="0"/>
              </a:rPr>
              <a:t>Interfaces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mtClean="0">
                <a:latin typeface="Lucida Sans Unicode" charset="0"/>
                <a:cs typeface="Lucida Sans Unicode" charset="0"/>
              </a:rPr>
              <a:t>Java interface</a:t>
            </a:r>
            <a:endParaRPr lang="en-GB">
              <a:latin typeface="Lucida Sans Unicode" charset="0"/>
              <a:cs typeface="Lucida Sans Unicode" charset="0"/>
            </a:endParaRPr>
          </a:p>
        </p:txBody>
      </p:sp>
      <p:sp>
        <p:nvSpPr>
          <p:cNvPr id="153603" name="Rectangle 2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smtClean="0">
                <a:latin typeface="Lucida Sans Unicode" charset="0"/>
                <a:cs typeface="Lucida Sans Unicode" charset="0"/>
              </a:rPr>
              <a:t>Special type of </a:t>
            </a:r>
            <a:r>
              <a:rPr lang="en-GB" altLang="ja-JP" dirty="0" smtClean="0">
                <a:latin typeface="Lucida Sans Unicode" charset="0"/>
                <a:cs typeface="Lucida Sans Unicode" charset="0"/>
              </a:rPr>
              <a:t>class where </a:t>
            </a: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smtClean="0">
                <a:latin typeface="Lucida Sans Unicode" charset="0"/>
                <a:ea typeface="Lucida Sans Unicode" charset="0"/>
                <a:cs typeface="Lucida Sans Unicode" charset="0"/>
              </a:rPr>
              <a:t>Methods are implicitly </a:t>
            </a:r>
            <a:r>
              <a:rPr lang="en-GB" dirty="0" smtClean="0">
                <a:solidFill>
                  <a:schemeClr val="tx1"/>
                </a:solidFill>
                <a:latin typeface="Lucida Sans Unicode" charset="0"/>
                <a:ea typeface="Lucida Sans Unicode" charset="0"/>
                <a:cs typeface="Lucida Sans Unicode" charset="0"/>
              </a:rPr>
              <a:t>abstract (no body)</a:t>
            </a: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smtClean="0">
                <a:solidFill>
                  <a:schemeClr val="tx1"/>
                </a:solidFill>
                <a:latin typeface="Lucida Sans Unicode" charset="0"/>
                <a:ea typeface="Lucida Sans Unicode" charset="0"/>
                <a:cs typeface="Lucida Sans Unicode" charset="0"/>
              </a:rPr>
              <a:t>Attributes are implicitly static and final</a:t>
            </a: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ja-JP" dirty="0" smtClean="0">
                <a:solidFill>
                  <a:schemeClr val="tx1"/>
                </a:solidFill>
                <a:latin typeface="Lucida Sans Unicode" charset="0"/>
                <a:cs typeface="Lucida Sans Unicode" charset="0"/>
              </a:rPr>
              <a:t>Members are implicitly public</a:t>
            </a:r>
            <a:endParaRPr lang="en-GB" dirty="0" smtClean="0">
              <a:solidFill>
                <a:schemeClr val="tx1"/>
              </a:solidFill>
              <a:latin typeface="Lucida Sans Unicode" charset="0"/>
              <a:cs typeface="Lucida Sans Unicode" charset="0"/>
            </a:endParaRP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smtClean="0">
                <a:solidFill>
                  <a:schemeClr val="tx1"/>
                </a:solidFill>
                <a:latin typeface="Lucida Sans Unicode" charset="0"/>
                <a:cs typeface="Lucida Sans Unicode" charset="0"/>
              </a:rPr>
              <a:t>Defined with keyword </a:t>
            </a:r>
            <a:r>
              <a:rPr lang="en-GB" b="1" dirty="0" smtClean="0">
                <a:solidFill>
                  <a:srgbClr val="FF6600"/>
                </a:solidFill>
                <a:latin typeface="Courier New"/>
                <a:cs typeface="Courier New"/>
              </a:rPr>
              <a:t>interface</a:t>
            </a: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smtClean="0">
                <a:solidFill>
                  <a:schemeClr val="tx1"/>
                </a:solidFill>
                <a:latin typeface="Lucida Sans Unicode" charset="0"/>
                <a:cs typeface="Lucida Sans Unicode" charset="0"/>
              </a:rPr>
              <a:t>Instead of </a:t>
            </a:r>
            <a:r>
              <a:rPr lang="en-GB" b="1" dirty="0" smtClean="0">
                <a:solidFill>
                  <a:schemeClr val="tx1"/>
                </a:solidFill>
                <a:latin typeface="Courier New"/>
                <a:cs typeface="Courier New"/>
              </a:rPr>
              <a:t>class</a:t>
            </a: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smtClean="0">
                <a:solidFill>
                  <a:schemeClr val="tx1"/>
                </a:solidFill>
                <a:latin typeface="Lucida Sans Unicode" charset="0"/>
                <a:cs typeface="Lucida Sans Unicode" charset="0"/>
              </a:rPr>
              <a:t>Cannot be instantiated </a:t>
            </a: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smtClean="0">
                <a:latin typeface="Lucida Sans Unicode" charset="0"/>
                <a:cs typeface="Lucida Sans Unicode" charset="0"/>
              </a:rPr>
              <a:t>i.e. no </a:t>
            </a:r>
            <a:r>
              <a:rPr lang="en-GB" b="1" dirty="0" smtClean="0">
                <a:latin typeface="Courier New"/>
                <a:cs typeface="Courier New"/>
              </a:rPr>
              <a:t>new</a:t>
            </a:r>
            <a:endParaRPr lang="en-GB" dirty="0" smtClean="0">
              <a:latin typeface="Lucida Sans Unicode" charset="0"/>
              <a:cs typeface="Lucida Sans Unicode" charset="0"/>
            </a:endParaRP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smtClean="0">
                <a:latin typeface="Lucida Sans Unicode" charset="0"/>
                <a:cs typeface="Lucida Sans Unicode" charset="0"/>
              </a:rPr>
              <a:t>Can be used as a type for references</a:t>
            </a: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smtClean="0">
                <a:latin typeface="Lucida Sans Unicode" charset="0"/>
                <a:cs typeface="Lucida Sans Unicode" charset="0"/>
              </a:rPr>
              <a:t>Similar to abstract class</a:t>
            </a:r>
            <a:endParaRPr lang="en-GB" dirty="0">
              <a:latin typeface="Lucida Sans Unicode" charset="0"/>
              <a:cs typeface="Lucida Sans Unicode" charset="0"/>
            </a:endParaRPr>
          </a:p>
        </p:txBody>
      </p:sp>
      <p:sp>
        <p:nvSpPr>
          <p:cNvPr id="153601" name="Segnaposto numero diapositiva 5"/>
          <p:cNvSpPr>
            <a:spLocks noGrp="1"/>
          </p:cNvSpPr>
          <p:nvPr>
            <p:ph type="sldNum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8E139381-6ECE-6B4F-B49F-16927787C241}" type="slidenum">
              <a:rPr lang="en-GB" sz="1200" smtClean="0">
                <a:solidFill>
                  <a:srgbClr val="000000"/>
                </a:solidFill>
              </a:rPr>
              <a:pPr eaLnBrk="1" hangingPunct="1"/>
              <a:t>89</a:t>
            </a:fld>
            <a:endParaRPr lang="en-GB" sz="12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Interface implementation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Class </a:t>
            </a:r>
            <a:r>
              <a:rPr lang="en-US" b="1" dirty="0" smtClean="0">
                <a:solidFill>
                  <a:srgbClr val="FF6600"/>
                </a:solidFill>
                <a:latin typeface="Courier New"/>
                <a:cs typeface="Courier New"/>
              </a:rPr>
              <a:t>implements</a:t>
            </a:r>
            <a:r>
              <a:rPr lang="en-US" dirty="0" smtClean="0">
                <a:solidFill>
                  <a:srgbClr val="FF6600"/>
                </a:solidFill>
              </a:rPr>
              <a:t> </a:t>
            </a:r>
            <a:r>
              <a:rPr lang="en-US" dirty="0" smtClean="0"/>
              <a:t>interfaces</a:t>
            </a:r>
          </a:p>
          <a:p>
            <a:pPr lvl="1"/>
            <a:r>
              <a:rPr lang="en-US" dirty="0" smtClean="0"/>
              <a:t>A class must implement all interface methods unless the class is abstract</a:t>
            </a:r>
          </a:p>
          <a:p>
            <a:pPr lvl="1"/>
            <a:r>
              <a:rPr lang="en-US" dirty="0" smtClean="0"/>
              <a:t>Interfaces are similar to abstract classes with only abstract methods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251520" y="3933056"/>
            <a:ext cx="3456384" cy="129614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360" tIns="44280" rIns="90360" bIns="44280" rtlCol="0" anchor="t"/>
          <a:lstStyle/>
          <a:p>
            <a:pPr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b="1" dirty="0">
                <a:solidFill>
                  <a:srgbClr val="FF6600"/>
                </a:solidFill>
                <a:latin typeface="Courier New" charset="0"/>
              </a:rPr>
              <a:t>interface</a:t>
            </a:r>
            <a:r>
              <a:rPr lang="en-US" b="1" dirty="0">
                <a:solidFill>
                  <a:srgbClr val="000000"/>
                </a:solidFill>
                <a:latin typeface="Courier New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urier New" charset="0"/>
              </a:rPr>
              <a:t>Iface</a:t>
            </a:r>
            <a:r>
              <a:rPr lang="en-US" b="1" dirty="0">
                <a:solidFill>
                  <a:srgbClr val="000000"/>
                </a:solidFill>
                <a:latin typeface="Courier New" charset="0"/>
              </a:rPr>
              <a:t> {</a:t>
            </a:r>
          </a:p>
          <a:p>
            <a:pPr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b="1" dirty="0">
                <a:solidFill>
                  <a:srgbClr val="000000"/>
                </a:solidFill>
                <a:latin typeface="Courier New" charset="0"/>
              </a:rPr>
              <a:t>	void method();</a:t>
            </a:r>
          </a:p>
          <a:p>
            <a:pPr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b="1" dirty="0">
                <a:solidFill>
                  <a:srgbClr val="000000"/>
                </a:solidFill>
                <a:latin typeface="Courier New" charset="0"/>
              </a:rPr>
              <a:t>} 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3563888" y="4392488"/>
            <a:ext cx="5400600" cy="19888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360" tIns="44280" rIns="90360" bIns="44280" rtlCol="0" anchor="t"/>
          <a:lstStyle/>
          <a:p>
            <a:pPr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charset="0"/>
              </a:rPr>
              <a:t>c</a:t>
            </a:r>
            <a:r>
              <a:rPr lang="en-US" b="1" dirty="0" smtClean="0">
                <a:solidFill>
                  <a:schemeClr val="tx1"/>
                </a:solidFill>
                <a:latin typeface="Courier New" charset="0"/>
              </a:rPr>
              <a:t>lass </a:t>
            </a:r>
            <a:r>
              <a:rPr lang="en-US" b="1" dirty="0" err="1" smtClean="0">
                <a:solidFill>
                  <a:schemeClr val="tx1"/>
                </a:solidFill>
                <a:latin typeface="Courier New" charset="0"/>
              </a:rPr>
              <a:t>Cls</a:t>
            </a:r>
            <a:r>
              <a:rPr lang="en-US" b="1" dirty="0" smtClean="0">
                <a:solidFill>
                  <a:schemeClr val="tx1"/>
                </a:solidFill>
                <a:latin typeface="Courier New" charset="0"/>
              </a:rPr>
              <a:t> </a:t>
            </a:r>
            <a:r>
              <a:rPr lang="en-US" b="1" dirty="0" smtClean="0">
                <a:solidFill>
                  <a:srgbClr val="FF6600"/>
                </a:solidFill>
                <a:latin typeface="Courier New" charset="0"/>
              </a:rPr>
              <a:t>implements </a:t>
            </a:r>
            <a:r>
              <a:rPr lang="en-US" b="1" dirty="0" err="1" smtClean="0">
                <a:solidFill>
                  <a:srgbClr val="000000"/>
                </a:solidFill>
                <a:latin typeface="Courier New" charset="0"/>
              </a:rPr>
              <a:t>Iface</a:t>
            </a:r>
            <a:r>
              <a:rPr lang="en-US" b="1" dirty="0" smtClean="0">
                <a:solidFill>
                  <a:srgbClr val="000000"/>
                </a:solidFill>
                <a:latin typeface="Courier New" charset="0"/>
              </a:rPr>
              <a:t> {</a:t>
            </a:r>
          </a:p>
          <a:p>
            <a:pPr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b="1" dirty="0">
                <a:solidFill>
                  <a:srgbClr val="000000"/>
                </a:solidFill>
                <a:latin typeface="Courier New" charset="0"/>
              </a:rPr>
              <a:t>	</a:t>
            </a:r>
            <a:r>
              <a:rPr lang="en-US" b="1" dirty="0" smtClean="0">
                <a:solidFill>
                  <a:srgbClr val="000000"/>
                </a:solidFill>
                <a:latin typeface="Courier New" charset="0"/>
              </a:rPr>
              <a:t>void method(){</a:t>
            </a:r>
          </a:p>
          <a:p>
            <a:pPr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b="1" dirty="0">
                <a:solidFill>
                  <a:srgbClr val="000000"/>
                </a:solidFill>
                <a:latin typeface="Courier New" charset="0"/>
              </a:rPr>
              <a:t>	</a:t>
            </a:r>
            <a:r>
              <a:rPr lang="en-US" b="1" dirty="0" smtClean="0">
                <a:solidFill>
                  <a:srgbClr val="000000"/>
                </a:solidFill>
                <a:latin typeface="Courier New" charset="0"/>
              </a:rPr>
              <a:t>	// . . .</a:t>
            </a:r>
          </a:p>
          <a:p>
            <a:pPr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b="1" dirty="0">
                <a:solidFill>
                  <a:srgbClr val="000000"/>
                </a:solidFill>
                <a:latin typeface="Courier New" charset="0"/>
              </a:rPr>
              <a:t>	</a:t>
            </a:r>
            <a:r>
              <a:rPr lang="en-US" b="1" dirty="0" smtClean="0">
                <a:solidFill>
                  <a:srgbClr val="000000"/>
                </a:solidFill>
                <a:latin typeface="Courier New" charset="0"/>
              </a:rPr>
              <a:t>}</a:t>
            </a:r>
          </a:p>
          <a:p>
            <a:pPr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b="1" dirty="0">
                <a:solidFill>
                  <a:srgbClr val="000000"/>
                </a:solidFill>
                <a:latin typeface="Courier New" charset="0"/>
              </a:rPr>
              <a:t>}</a:t>
            </a:r>
            <a:r>
              <a:rPr lang="en-US" b="1" dirty="0" smtClean="0">
                <a:solidFill>
                  <a:srgbClr val="000000"/>
                </a:solidFill>
                <a:latin typeface="Courier New" charset="0"/>
              </a:rPr>
              <a:t> </a:t>
            </a:r>
            <a:endParaRPr lang="en-US" b="1" dirty="0">
              <a:solidFill>
                <a:srgbClr val="000000"/>
              </a:solidFill>
              <a:latin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660762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 smtClean="0">
                <a:latin typeface="Lucida Sans Unicode" charset="0"/>
                <a:cs typeface="Lucida Sans Unicode" charset="0"/>
              </a:rPr>
              <a:t>Interfaces and inheritance</a:t>
            </a:r>
            <a:endParaRPr lang="en-GB" dirty="0">
              <a:latin typeface="Lucida Sans Unicode" charset="0"/>
              <a:cs typeface="Lucida Sans Unicode" charset="0"/>
            </a:endParaRPr>
          </a:p>
        </p:txBody>
      </p:sp>
      <p:sp>
        <p:nvSpPr>
          <p:cNvPr id="165891" name="Rectangle 2"/>
          <p:cNvSpPr>
            <a:spLocks noGrp="1" noChangeArrowheads="1"/>
          </p:cNvSpPr>
          <p:nvPr>
            <p:ph idx="1"/>
          </p:nvPr>
        </p:nvSpPr>
        <p:spPr>
          <a:xfrm>
            <a:off x="609600" y="1295400"/>
            <a:ext cx="8224838" cy="4579562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500"/>
              </a:spcBef>
              <a:spcAft>
                <a:spcPts val="125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An interface can extend another interface, </a:t>
            </a:r>
            <a:r>
              <a:rPr lang="en-GB" dirty="0">
                <a:solidFill>
                  <a:schemeClr val="tx1"/>
                </a:solidFill>
                <a:latin typeface="Lucida Sans Unicode" charset="0"/>
                <a:cs typeface="Lucida Sans Unicode" charset="0"/>
              </a:rPr>
              <a:t>cannot extend a class</a:t>
            </a:r>
            <a:r>
              <a:rPr lang="en-GB" dirty="0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/>
            </a:r>
            <a:br>
              <a:rPr lang="en-GB" dirty="0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</a:br>
            <a:r>
              <a:rPr lang="en-GB" sz="2800" b="1" dirty="0">
                <a:latin typeface="Courier New" charset="0"/>
                <a:cs typeface="Lucida Sans Unicode" charset="0"/>
              </a:rPr>
              <a:t> </a:t>
            </a:r>
            <a:r>
              <a:rPr lang="en-GB" sz="2400" b="1" dirty="0">
                <a:latin typeface="Courier New" charset="0"/>
                <a:cs typeface="Lucida Sans Unicode" charset="0"/>
              </a:rPr>
              <a:t>interface Bar </a:t>
            </a:r>
            <a:r>
              <a:rPr lang="en-GB" sz="2400" b="1" dirty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extends</a:t>
            </a:r>
            <a:r>
              <a:rPr lang="en-GB" sz="2400" b="1" dirty="0">
                <a:latin typeface="Courier New" charset="0"/>
                <a:cs typeface="Lucida Sans Unicode" charset="0"/>
              </a:rPr>
              <a:t> </a:t>
            </a:r>
            <a:r>
              <a:rPr lang="en-GB" sz="2400" b="1" dirty="0">
                <a:solidFill>
                  <a:srgbClr val="8064A2"/>
                </a:solidFill>
                <a:latin typeface="Courier New" charset="0"/>
                <a:cs typeface="Lucida Sans Unicode" charset="0"/>
              </a:rPr>
              <a:t>Comparable </a:t>
            </a:r>
            <a:r>
              <a:rPr lang="en-GB" sz="2400" b="1" dirty="0">
                <a:latin typeface="Courier New" charset="0"/>
                <a:cs typeface="Lucida Sans Unicode" charset="0"/>
              </a:rPr>
              <a:t>{</a:t>
            </a:r>
          </a:p>
          <a:p>
            <a:pPr marL="950913" lvl="1" indent="-422275" eaLnBrk="1" hangingPunct="1">
              <a:lnSpc>
                <a:spcPct val="100000"/>
              </a:lnSpc>
              <a:spcBef>
                <a:spcPct val="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>
                <a:latin typeface="Courier New" charset="0"/>
                <a:ea typeface="Lucida Sans Unicode" charset="0"/>
                <a:cs typeface="Lucida Sans Unicode" charset="0"/>
              </a:rPr>
              <a:t>  void print();</a:t>
            </a:r>
          </a:p>
          <a:p>
            <a:pPr marL="950913" lvl="1" indent="-422275" eaLnBrk="1" hangingPunct="1">
              <a:lnSpc>
                <a:spcPct val="100000"/>
              </a:lnSpc>
              <a:spcBef>
                <a:spcPct val="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>
                <a:latin typeface="Courier New" charset="0"/>
                <a:ea typeface="Lucida Sans Unicode" charset="0"/>
                <a:cs typeface="Lucida Sans Unicode" charset="0"/>
              </a:rPr>
              <a:t>}</a:t>
            </a: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An interface </a:t>
            </a:r>
            <a:r>
              <a:rPr lang="en-GB" dirty="0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can extend multiple interfaces</a:t>
            </a:r>
          </a:p>
          <a:p>
            <a:pPr marL="457200" lvl="1" indent="-457200" eaLnBrk="1" hangingPunct="1">
              <a:lnSpc>
                <a:spcPct val="101000"/>
              </a:lnSpc>
              <a:buFont typeface="Wingdings" charset="0"/>
              <a:buNone/>
              <a:tabLst>
                <a:tab pos="4540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>
                <a:latin typeface="Courier New" charset="0"/>
                <a:ea typeface="Lucida Sans Unicode" charset="0"/>
                <a:cs typeface="Lucida Sans Unicode" charset="0"/>
              </a:rPr>
              <a:t>interface Bar </a:t>
            </a:r>
            <a:r>
              <a:rPr lang="en-GB" sz="2400" b="1" dirty="0">
                <a:solidFill>
                  <a:srgbClr val="FF6600"/>
                </a:solidFill>
                <a:latin typeface="Courier New" charset="0"/>
                <a:ea typeface="Lucida Sans Unicode" charset="0"/>
                <a:cs typeface="Lucida Sans Unicode" charset="0"/>
              </a:rPr>
              <a:t>extends</a:t>
            </a:r>
            <a:r>
              <a:rPr lang="en-GB" sz="2400" b="1" dirty="0">
                <a:latin typeface="Courier New" charset="0"/>
                <a:ea typeface="Lucida Sans Unicode" charset="0"/>
                <a:cs typeface="Lucida Sans Unicode" charset="0"/>
              </a:rPr>
              <a:t> </a:t>
            </a:r>
            <a:r>
              <a:rPr lang="en-GB" sz="2400" b="1" dirty="0">
                <a:solidFill>
                  <a:srgbClr val="8064A2"/>
                </a:solidFill>
                <a:latin typeface="Courier New" charset="0"/>
                <a:ea typeface="Lucida Sans Unicode" charset="0"/>
                <a:cs typeface="Lucida Sans Unicode" charset="0"/>
              </a:rPr>
              <a:t>Orderable</a:t>
            </a:r>
            <a:r>
              <a:rPr lang="en-GB" sz="2400" b="1" dirty="0">
                <a:latin typeface="Courier New" charset="0"/>
                <a:ea typeface="Lucida Sans Unicode" charset="0"/>
                <a:cs typeface="Lucida Sans Unicode" charset="0"/>
              </a:rPr>
              <a:t>, </a:t>
            </a:r>
            <a:r>
              <a:rPr lang="en-GB" sz="2400" b="1" dirty="0">
                <a:solidFill>
                  <a:srgbClr val="8064A2"/>
                </a:solidFill>
                <a:latin typeface="Courier New" charset="0"/>
                <a:ea typeface="Lucida Sans Unicode" charset="0"/>
                <a:cs typeface="Lucida Sans Unicode" charset="0"/>
              </a:rPr>
              <a:t>Comparable</a:t>
            </a:r>
            <a:r>
              <a:rPr lang="en-GB" sz="2400" b="1" dirty="0">
                <a:latin typeface="Courier New" charset="0"/>
                <a:ea typeface="Lucida Sans Unicode" charset="0"/>
                <a:cs typeface="Lucida Sans Unicode" charset="0"/>
              </a:rPr>
              <a:t>{</a:t>
            </a:r>
          </a:p>
          <a:p>
            <a:pPr marL="457200" lvl="1" indent="-457200" eaLnBrk="1" hangingPunct="1">
              <a:lnSpc>
                <a:spcPct val="100000"/>
              </a:lnSpc>
              <a:spcBef>
                <a:spcPct val="0"/>
              </a:spcBef>
              <a:buFont typeface="Wingdings" charset="0"/>
              <a:buNone/>
              <a:tabLst>
                <a:tab pos="4540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>
                <a:latin typeface="Courier New" charset="0"/>
                <a:ea typeface="Lucida Sans Unicode" charset="0"/>
                <a:cs typeface="Lucida Sans Unicode" charset="0"/>
              </a:rPr>
              <a:t>  ...</a:t>
            </a:r>
          </a:p>
          <a:p>
            <a:pPr marL="457200" lvl="1" indent="-457200" eaLnBrk="1" hangingPunct="1">
              <a:lnSpc>
                <a:spcPct val="100000"/>
              </a:lnSpc>
              <a:spcBef>
                <a:spcPct val="0"/>
              </a:spcBef>
              <a:buFont typeface="Wingdings" charset="0"/>
              <a:buNone/>
              <a:tabLst>
                <a:tab pos="4540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>
                <a:latin typeface="Courier New" charset="0"/>
                <a:ea typeface="Lucida Sans Unicode" charset="0"/>
                <a:cs typeface="Lucida Sans Unicode" charset="0"/>
              </a:rPr>
              <a:t>}</a:t>
            </a:r>
          </a:p>
        </p:txBody>
      </p:sp>
      <p:sp>
        <p:nvSpPr>
          <p:cNvPr id="165889" name="Segnaposto numero diapositiva 5"/>
          <p:cNvSpPr>
            <a:spLocks noGrp="1"/>
          </p:cNvSpPr>
          <p:nvPr>
            <p:ph type="sldNum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9C74D653-4568-8348-8FF8-256F86222C0E}" type="slidenum">
              <a:rPr lang="en-GB" sz="1200">
                <a:solidFill>
                  <a:srgbClr val="000000"/>
                </a:solidFill>
              </a:rPr>
              <a:pPr eaLnBrk="1" hangingPunct="1"/>
              <a:t>91</a:t>
            </a:fld>
            <a:endParaRPr lang="en-GB" sz="1200">
              <a:solidFill>
                <a:srgbClr val="000000"/>
              </a:solidFill>
            </a:endParaRPr>
          </a:p>
        </p:txBody>
      </p:sp>
      <p:sp>
        <p:nvSpPr>
          <p:cNvPr id="165892" name="Line 3"/>
          <p:cNvSpPr>
            <a:spLocks noChangeShapeType="1"/>
          </p:cNvSpPr>
          <p:nvPr/>
        </p:nvSpPr>
        <p:spPr bwMode="auto">
          <a:xfrm>
            <a:off x="6118225" y="5065713"/>
            <a:ext cx="465138" cy="515937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5893" name="Line 4"/>
          <p:cNvSpPr>
            <a:spLocks noChangeShapeType="1"/>
          </p:cNvSpPr>
          <p:nvPr/>
        </p:nvSpPr>
        <p:spPr bwMode="auto">
          <a:xfrm flipH="1">
            <a:off x="6927850" y="5072063"/>
            <a:ext cx="425450" cy="528637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5894" name="Text Box 5"/>
          <p:cNvSpPr txBox="1">
            <a:spLocks noChangeArrowheads="1"/>
          </p:cNvSpPr>
          <p:nvPr/>
        </p:nvSpPr>
        <p:spPr bwMode="auto">
          <a:xfrm>
            <a:off x="6151563" y="5595938"/>
            <a:ext cx="1282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100000"/>
              </a:lnSpc>
              <a:buFont typeface="Lucida Sans Unicode" charset="0"/>
              <a:buNone/>
            </a:pPr>
            <a:r>
              <a:rPr lang="en-GB" sz="2000" u="sng">
                <a:solidFill>
                  <a:srgbClr val="000000"/>
                </a:solidFill>
              </a:rPr>
              <a:t>interfaces</a:t>
            </a:r>
          </a:p>
        </p:txBody>
      </p:sp>
      <p:sp>
        <p:nvSpPr>
          <p:cNvPr id="165895" name="Text Box 6"/>
          <p:cNvSpPr txBox="1">
            <a:spLocks noChangeArrowheads="1"/>
          </p:cNvSpPr>
          <p:nvPr/>
        </p:nvSpPr>
        <p:spPr bwMode="auto">
          <a:xfrm>
            <a:off x="6330950" y="3025775"/>
            <a:ext cx="1155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100000"/>
              </a:lnSpc>
              <a:buFont typeface="Lucida Sans Unicode" charset="0"/>
              <a:buNone/>
            </a:pPr>
            <a:r>
              <a:rPr lang="en-GB" sz="2000" u="sng">
                <a:solidFill>
                  <a:srgbClr val="000000"/>
                </a:solidFill>
              </a:rPr>
              <a:t>interface</a:t>
            </a:r>
          </a:p>
        </p:txBody>
      </p:sp>
      <p:sp>
        <p:nvSpPr>
          <p:cNvPr id="165896" name="Line 7"/>
          <p:cNvSpPr>
            <a:spLocks noChangeShapeType="1"/>
          </p:cNvSpPr>
          <p:nvPr/>
        </p:nvSpPr>
        <p:spPr bwMode="auto">
          <a:xfrm>
            <a:off x="6342063" y="2733675"/>
            <a:ext cx="352425" cy="3556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 smtClean="0">
                <a:latin typeface="Lucida Sans Unicode" charset="0"/>
                <a:cs typeface="Lucida Sans Unicode" charset="0"/>
              </a:rPr>
              <a:t>Class implementations</a:t>
            </a:r>
            <a:endParaRPr lang="en-GB" dirty="0">
              <a:latin typeface="Lucida Sans Unicode" charset="0"/>
              <a:cs typeface="Lucida Sans Unicode" charset="0"/>
            </a:endParaRPr>
          </a:p>
        </p:txBody>
      </p:sp>
      <p:sp>
        <p:nvSpPr>
          <p:cNvPr id="167939" name="Rectangle 2"/>
          <p:cNvSpPr>
            <a:spLocks noGrp="1" noChangeArrowheads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A class can </a:t>
            </a:r>
            <a:r>
              <a:rPr lang="en-GB" dirty="0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extend</a:t>
            </a:r>
            <a:r>
              <a:rPr lang="en-GB" dirty="0">
                <a:latin typeface="Lucida Sans Unicode" charset="0"/>
                <a:cs typeface="Lucida Sans Unicode" charset="0"/>
              </a:rPr>
              <a:t> only </a:t>
            </a:r>
            <a:r>
              <a:rPr lang="en-GB" dirty="0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one</a:t>
            </a:r>
            <a:r>
              <a:rPr lang="en-GB" dirty="0">
                <a:latin typeface="Lucida Sans Unicode" charset="0"/>
                <a:cs typeface="Lucida Sans Unicode" charset="0"/>
              </a:rPr>
              <a:t> class</a:t>
            </a: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A class can </a:t>
            </a:r>
            <a:r>
              <a:rPr lang="en-GB" dirty="0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implement multiple</a:t>
            </a:r>
            <a:r>
              <a:rPr lang="en-GB" dirty="0">
                <a:latin typeface="Lucida Sans Unicode" charset="0"/>
                <a:cs typeface="Lucida Sans Unicode" charset="0"/>
              </a:rPr>
              <a:t> interfaces</a:t>
            </a:r>
          </a:p>
          <a:p>
            <a:pPr eaLnBrk="1" hangingPunct="1">
              <a:lnSpc>
                <a:spcPct val="100000"/>
              </a:lnSpc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dirty="0">
              <a:latin typeface="Lucida Sans Unicode" charset="0"/>
              <a:cs typeface="Lucida Sans Unicode" charset="0"/>
            </a:endParaRPr>
          </a:p>
          <a:p>
            <a:pPr marL="950913" lvl="1" indent="-422275" eaLnBrk="1" hangingPunct="1">
              <a:lnSpc>
                <a:spcPct val="100000"/>
              </a:lnSpc>
              <a:spcBef>
                <a:spcPts val="6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>
                <a:latin typeface="Courier New" charset="0"/>
                <a:ea typeface="Lucida Sans Unicode" charset="0"/>
                <a:cs typeface="Lucida Sans Unicode" charset="0"/>
              </a:rPr>
              <a:t>class Person </a:t>
            </a:r>
          </a:p>
          <a:p>
            <a:pPr marL="950913" lvl="1" indent="-422275" eaLnBrk="1" hangingPunct="1">
              <a:lnSpc>
                <a:spcPct val="100000"/>
              </a:lnSpc>
              <a:spcBef>
                <a:spcPts val="6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>
                <a:latin typeface="Courier New" charset="0"/>
                <a:ea typeface="Lucida Sans Unicode" charset="0"/>
                <a:cs typeface="Lucida Sans Unicode" charset="0"/>
              </a:rPr>
              <a:t>	</a:t>
            </a:r>
            <a:r>
              <a:rPr lang="en-GB" sz="2400" b="1" dirty="0">
                <a:solidFill>
                  <a:schemeClr val="tx1"/>
                </a:solidFill>
                <a:latin typeface="Courier New" charset="0"/>
                <a:ea typeface="Lucida Sans Unicode" charset="0"/>
                <a:cs typeface="Lucida Sans Unicode" charset="0"/>
              </a:rPr>
              <a:t>extends</a:t>
            </a:r>
            <a:r>
              <a:rPr lang="en-GB" sz="2400" b="1" dirty="0">
                <a:solidFill>
                  <a:srgbClr val="FF6600"/>
                </a:solidFill>
                <a:latin typeface="Courier New" charset="0"/>
                <a:ea typeface="Lucida Sans Unicode" charset="0"/>
                <a:cs typeface="Lucida Sans Unicode" charset="0"/>
              </a:rPr>
              <a:t> </a:t>
            </a:r>
            <a:r>
              <a:rPr lang="en-GB" sz="2400" b="1" dirty="0">
                <a:latin typeface="Courier New" charset="0"/>
                <a:ea typeface="Lucida Sans Unicode" charset="0"/>
                <a:cs typeface="Lucida Sans Unicode" charset="0"/>
              </a:rPr>
              <a:t>Employee </a:t>
            </a:r>
          </a:p>
          <a:p>
            <a:pPr marL="950913" lvl="1" indent="-422275" eaLnBrk="1" hangingPunct="1">
              <a:lnSpc>
                <a:spcPct val="100000"/>
              </a:lnSpc>
              <a:spcBef>
                <a:spcPct val="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>
                <a:latin typeface="Courier New" charset="0"/>
                <a:ea typeface="Lucida Sans Unicode" charset="0"/>
                <a:cs typeface="Lucida Sans Unicode" charset="0"/>
              </a:rPr>
              <a:t>	</a:t>
            </a:r>
            <a:r>
              <a:rPr lang="en-GB" sz="2400" b="1" dirty="0">
                <a:solidFill>
                  <a:srgbClr val="FF6600"/>
                </a:solidFill>
                <a:latin typeface="Courier New" charset="0"/>
                <a:ea typeface="Lucida Sans Unicode" charset="0"/>
                <a:cs typeface="Lucida Sans Unicode" charset="0"/>
              </a:rPr>
              <a:t>implements </a:t>
            </a:r>
            <a:r>
              <a:rPr lang="en-GB" sz="2400" b="1" dirty="0">
                <a:latin typeface="Courier New" charset="0"/>
                <a:ea typeface="Lucida Sans Unicode" charset="0"/>
                <a:cs typeface="Lucida Sans Unicode" charset="0"/>
              </a:rPr>
              <a:t>Orderable, Comparable {…}</a:t>
            </a:r>
          </a:p>
        </p:txBody>
      </p:sp>
      <p:sp>
        <p:nvSpPr>
          <p:cNvPr id="167937" name="Segnaposto numero diapositiva 5"/>
          <p:cNvSpPr>
            <a:spLocks noGrp="1"/>
          </p:cNvSpPr>
          <p:nvPr>
            <p:ph type="sldNum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E55EF626-5C40-794E-A7FA-A32E8319B7A7}" type="slidenum">
              <a:rPr lang="en-GB" sz="1200">
                <a:solidFill>
                  <a:srgbClr val="000000"/>
                </a:solidFill>
              </a:rPr>
              <a:pPr eaLnBrk="1" hangingPunct="1"/>
              <a:t>92</a:t>
            </a:fld>
            <a:endParaRPr lang="en-GB" sz="12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 smtClean="0"/>
              <a:t>Inheritance Classes &amp; Interfaces</a:t>
            </a:r>
            <a:endParaRPr lang="en-US" sz="42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2448362"/>
              </p:ext>
            </p:extLst>
          </p:nvPr>
        </p:nvGraphicFramePr>
        <p:xfrm>
          <a:off x="395536" y="1295400"/>
          <a:ext cx="8438903" cy="4797896"/>
        </p:xfrm>
        <a:graphic>
          <a:graphicData uri="http://schemas.openxmlformats.org/drawingml/2006/table">
            <a:tbl>
              <a:tblPr firstRow="1" firstCol="1" bandRow="1">
                <a:tableStyleId>{93296810-A885-4BE3-A3E7-6D5BEEA58F35}</a:tableStyleId>
              </a:tblPr>
              <a:tblGrid>
                <a:gridCol w="2232248"/>
                <a:gridCol w="2941511"/>
                <a:gridCol w="3265144"/>
              </a:tblGrid>
              <a:tr h="370840">
                <a:tc>
                  <a:txBody>
                    <a:bodyPr/>
                    <a:lstStyle/>
                    <a:p>
                      <a:endParaRPr lang="en-US" sz="320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 smtClean="0">
                          <a:solidFill>
                            <a:srgbClr val="000000"/>
                          </a:solidFill>
                        </a:rPr>
                        <a:t>Class</a:t>
                      </a:r>
                      <a:endParaRPr lang="en-US" sz="3600" b="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 smtClean="0">
                          <a:solidFill>
                            <a:srgbClr val="000000"/>
                          </a:solidFill>
                        </a:rPr>
                        <a:t>Interface</a:t>
                      </a:r>
                      <a:endParaRPr lang="en-US" sz="3600" b="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noFill/>
                  </a:tcPr>
                </a:tc>
              </a:tr>
              <a:tr h="2069584">
                <a:tc>
                  <a:txBody>
                    <a:bodyPr/>
                    <a:lstStyle/>
                    <a:p>
                      <a:pPr algn="r"/>
                      <a:r>
                        <a:rPr lang="en-US" sz="3600" b="0" dirty="0" smtClean="0">
                          <a:solidFill>
                            <a:schemeClr val="tx1"/>
                          </a:solidFill>
                        </a:rPr>
                        <a:t>Class</a:t>
                      </a:r>
                      <a:endParaRPr lang="en-US" sz="3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i="0" dirty="0" smtClean="0">
                          <a:solidFill>
                            <a:srgbClr val="FF6600"/>
                          </a:solidFill>
                          <a:latin typeface="Courier New"/>
                          <a:cs typeface="Courier New"/>
                        </a:rPr>
                        <a:t>extends</a:t>
                      </a:r>
                      <a:endParaRPr lang="en-US" sz="3200" b="1" i="0" baseline="0" dirty="0" smtClean="0">
                        <a:solidFill>
                          <a:srgbClr val="FF6600"/>
                        </a:solidFill>
                        <a:latin typeface="Courier New"/>
                        <a:cs typeface="Courier New"/>
                      </a:endParaRPr>
                    </a:p>
                    <a:p>
                      <a:pPr algn="ctr"/>
                      <a:r>
                        <a:rPr lang="en-US" sz="3200" baseline="0" dirty="0" smtClean="0"/>
                        <a:t>(only one)</a:t>
                      </a:r>
                      <a:endParaRPr lang="en-US" sz="3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i="0" kern="1200" dirty="0" smtClean="0">
                          <a:solidFill>
                            <a:srgbClr val="FF6600"/>
                          </a:solidFill>
                          <a:latin typeface="Courier New"/>
                          <a:ea typeface="+mn-ea"/>
                          <a:cs typeface="Courier New"/>
                        </a:rPr>
                        <a:t>implements</a:t>
                      </a:r>
                    </a:p>
                    <a:p>
                      <a:pPr algn="ctr"/>
                      <a:r>
                        <a:rPr lang="en-US" sz="3200" dirty="0" smtClean="0"/>
                        <a:t>(multiple)</a:t>
                      </a:r>
                      <a:endParaRPr lang="en-US" sz="3200" dirty="0"/>
                    </a:p>
                  </a:txBody>
                  <a:tcPr anchor="ctr"/>
                </a:tc>
              </a:tr>
              <a:tr h="2088232">
                <a:tc>
                  <a:txBody>
                    <a:bodyPr/>
                    <a:lstStyle/>
                    <a:p>
                      <a:pPr algn="r"/>
                      <a:r>
                        <a:rPr lang="en-US" sz="3600" b="0" dirty="0" smtClean="0">
                          <a:solidFill>
                            <a:schemeClr val="tx1"/>
                          </a:solidFill>
                        </a:rPr>
                        <a:t>Interface</a:t>
                      </a:r>
                      <a:endParaRPr lang="en-US" sz="3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X</a:t>
                      </a:r>
                      <a:endParaRPr lang="en-US" sz="3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i="0" kern="1200" dirty="0" smtClean="0">
                          <a:solidFill>
                            <a:srgbClr val="FF6600"/>
                          </a:solidFill>
                          <a:latin typeface="Courier New"/>
                          <a:ea typeface="+mn-ea"/>
                          <a:cs typeface="Courier New"/>
                        </a:rPr>
                        <a:t>extends</a:t>
                      </a:r>
                    </a:p>
                    <a:p>
                      <a:pPr algn="ctr"/>
                      <a:r>
                        <a:rPr lang="en-US" sz="3200" dirty="0" smtClean="0"/>
                        <a:t>(multiple)</a:t>
                      </a:r>
                      <a:endParaRPr lang="en-US" sz="3200" dirty="0"/>
                    </a:p>
                  </a:txBody>
                  <a:tcPr anchor="ctr"/>
                </a:tc>
              </a:tr>
            </a:tbl>
          </a:graphicData>
        </a:graphic>
      </p:graphicFrame>
      <p:cxnSp>
        <p:nvCxnSpPr>
          <p:cNvPr id="6" name="Straight Arrow Connector 5"/>
          <p:cNvCxnSpPr/>
          <p:nvPr/>
        </p:nvCxnSpPr>
        <p:spPr bwMode="auto">
          <a:xfrm>
            <a:off x="2627784" y="2996952"/>
            <a:ext cx="288032" cy="0"/>
          </a:xfrm>
          <a:prstGeom prst="straightConnector1">
            <a:avLst/>
          </a:prstGeom>
          <a:solidFill>
            <a:srgbClr val="00B8FF"/>
          </a:solidFill>
          <a:ln w="2857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7" name="Straight Arrow Connector 6"/>
          <p:cNvCxnSpPr/>
          <p:nvPr/>
        </p:nvCxnSpPr>
        <p:spPr bwMode="auto">
          <a:xfrm>
            <a:off x="2627784" y="5085184"/>
            <a:ext cx="288032" cy="0"/>
          </a:xfrm>
          <a:prstGeom prst="straightConnector1">
            <a:avLst/>
          </a:prstGeom>
          <a:solidFill>
            <a:srgbClr val="00B8FF"/>
          </a:solidFill>
          <a:ln w="2857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8" name="Straight Arrow Connector 7"/>
          <p:cNvCxnSpPr/>
          <p:nvPr/>
        </p:nvCxnSpPr>
        <p:spPr bwMode="auto">
          <a:xfrm flipV="1">
            <a:off x="4139952" y="1916832"/>
            <a:ext cx="0" cy="360040"/>
          </a:xfrm>
          <a:prstGeom prst="straightConnector1">
            <a:avLst/>
          </a:prstGeom>
          <a:solidFill>
            <a:srgbClr val="00B8FF"/>
          </a:solidFill>
          <a:ln w="2857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11" name="Straight Arrow Connector 10"/>
          <p:cNvCxnSpPr/>
          <p:nvPr/>
        </p:nvCxnSpPr>
        <p:spPr bwMode="auto">
          <a:xfrm flipV="1">
            <a:off x="7164288" y="1916832"/>
            <a:ext cx="0" cy="360040"/>
          </a:xfrm>
          <a:prstGeom prst="straightConnector1">
            <a:avLst/>
          </a:prstGeom>
          <a:solidFill>
            <a:srgbClr val="00B8FF"/>
          </a:solidFill>
          <a:ln w="2857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161563671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Anonymous Classes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Interfaces are often used to instantiate </a:t>
            </a:r>
            <a:r>
              <a:rPr lang="en-US" dirty="0"/>
              <a:t> anonymous </a:t>
            </a:r>
            <a:r>
              <a:rPr lang="en-US" dirty="0" smtClean="0"/>
              <a:t>classes</a:t>
            </a:r>
          </a:p>
          <a:p>
            <a:pPr lvl="1"/>
            <a:r>
              <a:rPr lang="en-US" dirty="0" smtClean="0"/>
              <a:t>Inline within a method code</a:t>
            </a:r>
          </a:p>
          <a:p>
            <a:pPr lvl="1"/>
            <a:r>
              <a:rPr lang="en-US" dirty="0" smtClean="0"/>
              <a:t>Providing implementation of methods</a:t>
            </a:r>
          </a:p>
          <a:p>
            <a:pPr lvl="2"/>
            <a:r>
              <a:rPr lang="en-US" dirty="0" smtClean="0"/>
              <a:t>E.g.</a:t>
            </a:r>
          </a:p>
          <a:p>
            <a:pPr marL="400050" lvl="1" indent="0">
              <a:buNone/>
            </a:pPr>
            <a:r>
              <a:rPr lang="en-US" b="1" dirty="0" err="1" smtClean="0">
                <a:latin typeface="Courier New"/>
                <a:cs typeface="Courier New"/>
              </a:rPr>
              <a:t>Iface</a:t>
            </a:r>
            <a:r>
              <a:rPr lang="en-US" b="1" dirty="0" smtClean="0">
                <a:latin typeface="Courier New"/>
                <a:cs typeface="Courier New"/>
              </a:rPr>
              <a:t> </a:t>
            </a:r>
            <a:r>
              <a:rPr lang="en-US" b="1" dirty="0" err="1" smtClean="0">
                <a:latin typeface="Courier New"/>
                <a:cs typeface="Courier New"/>
              </a:rPr>
              <a:t>obj</a:t>
            </a:r>
            <a:r>
              <a:rPr lang="en-US" b="1" dirty="0" smtClean="0">
                <a:latin typeface="Courier New"/>
                <a:cs typeface="Courier New"/>
              </a:rPr>
              <a:t> = new </a:t>
            </a:r>
            <a:r>
              <a:rPr lang="en-US" b="1" dirty="0" err="1" smtClean="0">
                <a:latin typeface="Courier New"/>
                <a:cs typeface="Courier New"/>
              </a:rPr>
              <a:t>Iface</a:t>
            </a:r>
            <a:r>
              <a:rPr lang="en-US" b="1" dirty="0" smtClean="0">
                <a:latin typeface="Courier New"/>
                <a:cs typeface="Courier New"/>
              </a:rPr>
              <a:t> {</a:t>
            </a:r>
          </a:p>
          <a:p>
            <a:pPr marL="400050" lvl="1" indent="0">
              <a:buNone/>
            </a:pP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 smtClean="0">
                <a:latin typeface="Courier New"/>
                <a:cs typeface="Courier New"/>
              </a:rPr>
              <a:t> public void method(){</a:t>
            </a:r>
            <a:r>
              <a:rPr lang="mr-IN" b="1" dirty="0" smtClean="0">
                <a:latin typeface="Courier New"/>
                <a:cs typeface="Courier New"/>
              </a:rPr>
              <a:t>…</a:t>
            </a:r>
            <a:r>
              <a:rPr lang="it-IT" b="1" dirty="0" smtClean="0">
                <a:latin typeface="Courier New"/>
                <a:cs typeface="Courier New"/>
              </a:rPr>
              <a:t>}</a:t>
            </a:r>
          </a:p>
          <a:p>
            <a:pPr marL="400050" lvl="1" indent="0">
              <a:buNone/>
            </a:pPr>
            <a:r>
              <a:rPr lang="it-IT" b="1" dirty="0" smtClean="0">
                <a:latin typeface="Courier New"/>
                <a:cs typeface="Courier New"/>
              </a:rPr>
              <a:t>};</a:t>
            </a:r>
            <a:endParaRPr lang="en-US" b="1" dirty="0" smtClean="0">
              <a:latin typeface="Courier New"/>
              <a:cs typeface="Courier New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668785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4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Lucida Sans Unicode" charset="0"/>
                <a:cs typeface="Lucida Sans Unicode" charset="0"/>
              </a:rPr>
              <a:t>Purpose of interfaces</a:t>
            </a:r>
          </a:p>
        </p:txBody>
      </p:sp>
      <p:sp>
        <p:nvSpPr>
          <p:cNvPr id="155650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latin typeface="Lucida Sans Unicode" charset="0"/>
                <a:cs typeface="Lucida Sans Unicode" charset="0"/>
              </a:rPr>
              <a:t>Define a </a:t>
            </a:r>
            <a:r>
              <a:rPr lang="en-US" dirty="0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common “interface” </a:t>
            </a:r>
            <a:endParaRPr lang="en-US" dirty="0" smtClean="0">
              <a:solidFill>
                <a:srgbClr val="FF6600"/>
              </a:solidFill>
              <a:latin typeface="Lucida Sans Unicode" charset="0"/>
              <a:cs typeface="Lucida Sans Unicode" charset="0"/>
            </a:endParaRPr>
          </a:p>
          <a:p>
            <a:pPr lvl="1"/>
            <a:r>
              <a:rPr lang="en-US" dirty="0" smtClean="0">
                <a:latin typeface="Lucida Sans Unicode" charset="0"/>
                <a:cs typeface="Lucida Sans Unicode" charset="0"/>
              </a:rPr>
              <a:t>Allows </a:t>
            </a:r>
            <a:r>
              <a:rPr lang="en-US" dirty="0">
                <a:latin typeface="Lucida Sans Unicode" charset="0"/>
                <a:cs typeface="Lucida Sans Unicode" charset="0"/>
              </a:rPr>
              <a:t>alternative implementations</a:t>
            </a:r>
          </a:p>
          <a:p>
            <a:r>
              <a:rPr lang="en-US" dirty="0" smtClean="0">
                <a:latin typeface="Lucida Sans Unicode" charset="0"/>
                <a:cs typeface="Lucida Sans Unicode" charset="0"/>
              </a:rPr>
              <a:t>Provide a </a:t>
            </a:r>
            <a:r>
              <a:rPr lang="en-US" dirty="0" smtClean="0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common behavior</a:t>
            </a:r>
            <a:endParaRPr lang="en-US" dirty="0">
              <a:solidFill>
                <a:srgbClr val="FF6600"/>
              </a:solidFill>
              <a:latin typeface="Lucida Sans Unicode" charset="0"/>
              <a:cs typeface="Lucida Sans Unicode" charset="0"/>
            </a:endParaRPr>
          </a:p>
          <a:p>
            <a:pPr lvl="1"/>
            <a:r>
              <a:rPr lang="en-US" dirty="0" smtClean="0">
                <a:latin typeface="Lucida Sans Unicode" charset="0"/>
                <a:cs typeface="Lucida Sans Unicode" charset="0"/>
              </a:rPr>
              <a:t>Define a (set of) method(s) to be called by algorithms</a:t>
            </a:r>
          </a:p>
          <a:p>
            <a:r>
              <a:rPr lang="en-US" dirty="0" smtClean="0">
                <a:solidFill>
                  <a:schemeClr val="tx1"/>
                </a:solidFill>
                <a:latin typeface="Lucida Sans Unicode" charset="0"/>
                <a:cs typeface="Lucida Sans Unicode" charset="0"/>
              </a:rPr>
              <a:t>Enable </a:t>
            </a:r>
            <a:r>
              <a:rPr lang="en-US" dirty="0" smtClean="0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Behavioral parameterization</a:t>
            </a:r>
          </a:p>
          <a:p>
            <a:pPr lvl="1"/>
            <a:r>
              <a:rPr lang="en-US" dirty="0" smtClean="0">
                <a:latin typeface="Lucida Sans Unicode" charset="0"/>
                <a:cs typeface="Lucida Sans Unicode" charset="0"/>
              </a:rPr>
              <a:t>Encapsulate behavior in an object passed as parameter</a:t>
            </a:r>
          </a:p>
          <a:p>
            <a:r>
              <a:rPr lang="en-US" dirty="0" smtClean="0">
                <a:latin typeface="Lucida Sans Unicode" charset="0"/>
                <a:cs typeface="Lucida Sans Unicode" charset="0"/>
              </a:rPr>
              <a:t>Enable </a:t>
            </a:r>
            <a:r>
              <a:rPr lang="en-US" dirty="0" smtClean="0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Communication decoupling </a:t>
            </a:r>
          </a:p>
          <a:p>
            <a:pPr lvl="1"/>
            <a:r>
              <a:rPr lang="en-US" dirty="0" smtClean="0">
                <a:latin typeface="Lucida Sans Unicode" charset="0"/>
                <a:cs typeface="Lucida Sans Unicode" charset="0"/>
              </a:rPr>
              <a:t>Define a set of callback method(s)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539552" y="1916832"/>
            <a:ext cx="6696744" cy="32403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lIns="90360" tIns="44280" rIns="90360" bIns="44280" rtlCol="0" anchor="ctr"/>
          <a:lstStyle/>
          <a:p>
            <a:pPr algn="ctr"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000" b="1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5769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Lucida Sans Unicode" charset="0"/>
                <a:cs typeface="Lucida Sans Unicode" charset="0"/>
              </a:rPr>
              <a:t>Alternative implementations</a:t>
            </a:r>
          </a:p>
        </p:txBody>
      </p:sp>
      <p:sp>
        <p:nvSpPr>
          <p:cNvPr id="147458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>
                <a:latin typeface="Lucida Sans Unicode" charset="0"/>
                <a:cs typeface="Lucida Sans Unicode" charset="0"/>
              </a:rPr>
              <a:t>Complex numbers</a:t>
            </a:r>
          </a:p>
          <a:p>
            <a:pPr lvl="1">
              <a:buFont typeface="Wingdings" charset="0"/>
              <a:buNone/>
              <a:defRPr/>
            </a:pPr>
            <a:r>
              <a:rPr lang="en-US" b="1" dirty="0">
                <a:latin typeface="Courier New" charset="0"/>
                <a:ea typeface="ＭＳ Ｐゴシック" charset="0"/>
                <a:cs typeface="ＭＳ Ｐゴシック" charset="0"/>
              </a:rPr>
              <a:t>public </a:t>
            </a:r>
            <a:r>
              <a:rPr lang="en-US" b="1" dirty="0">
                <a:solidFill>
                  <a:srgbClr val="FF6600"/>
                </a:solidFill>
                <a:latin typeface="Courier New" charset="0"/>
                <a:ea typeface="ＭＳ Ｐゴシック" charset="0"/>
                <a:cs typeface="ＭＳ Ｐゴシック" charset="0"/>
              </a:rPr>
              <a:t>interface</a:t>
            </a:r>
            <a:r>
              <a:rPr lang="en-US" b="1" dirty="0">
                <a:latin typeface="Courier New" charset="0"/>
                <a:ea typeface="ＭＳ Ｐゴシック" charset="0"/>
                <a:cs typeface="ＭＳ Ｐゴシック" charset="0"/>
              </a:rPr>
              <a:t> Complex {</a:t>
            </a:r>
          </a:p>
          <a:p>
            <a:pPr lvl="1">
              <a:buFont typeface="Wingdings" charset="0"/>
              <a:buNone/>
              <a:defRPr/>
            </a:pPr>
            <a:r>
              <a:rPr lang="en-US" b="1" dirty="0">
                <a:latin typeface="Courier New" charset="0"/>
                <a:ea typeface="ＭＳ Ｐゴシック" charset="0"/>
                <a:cs typeface="ＭＳ Ｐゴシック" charset="0"/>
              </a:rPr>
              <a:t>  double real();</a:t>
            </a:r>
          </a:p>
          <a:p>
            <a:pPr lvl="1">
              <a:buFont typeface="Wingdings" charset="0"/>
              <a:buNone/>
              <a:defRPr/>
            </a:pPr>
            <a:r>
              <a:rPr lang="en-US" b="1" dirty="0">
                <a:latin typeface="Courier New" charset="0"/>
                <a:ea typeface="ＭＳ Ｐゴシック" charset="0"/>
                <a:cs typeface="ＭＳ Ｐゴシック" charset="0"/>
              </a:rPr>
              <a:t>  double imaginary();</a:t>
            </a:r>
          </a:p>
          <a:p>
            <a:pPr lvl="1">
              <a:buFont typeface="Wingdings" charset="0"/>
              <a:buNone/>
              <a:defRPr/>
            </a:pPr>
            <a:r>
              <a:rPr lang="en-US" b="1" dirty="0">
                <a:latin typeface="Courier New" charset="0"/>
                <a:ea typeface="ＭＳ Ｐゴシック" charset="0"/>
                <a:cs typeface="ＭＳ Ｐゴシック" charset="0"/>
              </a:rPr>
              <a:t>  double modulus();</a:t>
            </a:r>
          </a:p>
          <a:p>
            <a:pPr lvl="1">
              <a:buFont typeface="Wingdings" charset="0"/>
              <a:buNone/>
              <a:defRPr/>
            </a:pPr>
            <a:r>
              <a:rPr lang="en-US" b="1" dirty="0">
                <a:latin typeface="Courier New" charset="0"/>
                <a:ea typeface="ＭＳ Ｐゴシック" charset="0"/>
                <a:cs typeface="ＭＳ Ｐゴシック" charset="0"/>
              </a:rPr>
              <a:t>  double argument();</a:t>
            </a:r>
          </a:p>
          <a:p>
            <a:pPr lvl="1">
              <a:buFont typeface="Wingdings" charset="0"/>
              <a:buNone/>
              <a:defRPr/>
            </a:pPr>
            <a:r>
              <a:rPr lang="en-US" b="1" dirty="0">
                <a:latin typeface="Courier New" charset="0"/>
                <a:ea typeface="ＭＳ Ｐゴシック" charset="0"/>
                <a:cs typeface="ＭＳ Ｐゴシック" charset="0"/>
              </a:rPr>
              <a:t>}</a:t>
            </a:r>
          </a:p>
          <a:p>
            <a:pPr lvl="1">
              <a:defRPr/>
            </a:pPr>
            <a:r>
              <a:rPr lang="en-US" dirty="0">
                <a:latin typeface="Lucida Sans Unicode" charset="0"/>
                <a:cs typeface="Lucida Sans Unicode" charset="0"/>
              </a:rPr>
              <a:t>Can be implemented using either Cartesian or polar </a:t>
            </a:r>
            <a:r>
              <a:rPr lang="en-US" dirty="0" smtClean="0">
                <a:latin typeface="Lucida Sans Unicode" charset="0"/>
                <a:cs typeface="Lucida Sans Unicode" charset="0"/>
              </a:rPr>
              <a:t>coordinates storage</a:t>
            </a:r>
            <a:endParaRPr lang="en-US" dirty="0">
              <a:latin typeface="Lucida Sans Unicode" charset="0"/>
              <a:cs typeface="Lucida Sans Unicode" charset="0"/>
            </a:endParaRPr>
          </a:p>
          <a:p>
            <a:pPr lvl="1">
              <a:buFont typeface="Wingdings" charset="0"/>
              <a:buNone/>
              <a:defRPr/>
            </a:pPr>
            <a:endParaRPr lang="en-US" b="1" dirty="0">
              <a:latin typeface="Courier New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Alternative implementations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Context</a:t>
            </a:r>
          </a:p>
          <a:p>
            <a:pPr lvl="1"/>
            <a:r>
              <a:rPr lang="en-US" dirty="0"/>
              <a:t>S</a:t>
            </a:r>
            <a:r>
              <a:rPr lang="en-US" dirty="0" smtClean="0"/>
              <a:t>ame module can be implemented in different ways by distinct classes with variations of:</a:t>
            </a:r>
          </a:p>
          <a:p>
            <a:pPr lvl="2"/>
            <a:r>
              <a:rPr lang="en-US" dirty="0" smtClean="0"/>
              <a:t>Storage type or strategy</a:t>
            </a:r>
          </a:p>
          <a:p>
            <a:pPr lvl="2"/>
            <a:r>
              <a:rPr lang="en-US" dirty="0" smtClean="0"/>
              <a:t>Processing</a:t>
            </a:r>
          </a:p>
          <a:p>
            <a:r>
              <a:rPr lang="en-US" dirty="0" smtClean="0"/>
              <a:t>Problem</a:t>
            </a:r>
          </a:p>
          <a:p>
            <a:pPr lvl="1"/>
            <a:r>
              <a:rPr lang="en-US" dirty="0" smtClean="0"/>
              <a:t>The classes should be usable interchangeably</a:t>
            </a:r>
          </a:p>
          <a:p>
            <a:r>
              <a:rPr lang="en-US" dirty="0" smtClean="0"/>
              <a:t>Solution</a:t>
            </a:r>
          </a:p>
          <a:p>
            <a:pPr lvl="1"/>
            <a:r>
              <a:rPr lang="en-US" dirty="0" smtClean="0"/>
              <a:t>Interface </a:t>
            </a:r>
            <a:r>
              <a:rPr lang="en-US" dirty="0"/>
              <a:t>p</a:t>
            </a:r>
            <a:r>
              <a:rPr lang="en-US" dirty="0" smtClean="0"/>
              <a:t>rovides a set of methods with a well defined semantics and functional specification</a:t>
            </a:r>
          </a:p>
          <a:p>
            <a:pPr lvl="1"/>
            <a:r>
              <a:rPr lang="en-US" dirty="0" smtClean="0"/>
              <a:t>Distinct classes can implement it</a:t>
            </a:r>
          </a:p>
        </p:txBody>
      </p:sp>
    </p:spTree>
    <p:extLst>
      <p:ext uri="{BB962C8B-B14F-4D97-AF65-F5344CB8AC3E}">
        <p14:creationId xmlns:p14="http://schemas.microsoft.com/office/powerpoint/2010/main" val="144918637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auto">
          <a:xfrm>
            <a:off x="539552" y="2636912"/>
            <a:ext cx="6696744" cy="129614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lIns="90360" tIns="44280" rIns="90360" bIns="44280" rtlCol="0" anchor="ctr"/>
          <a:lstStyle/>
          <a:p>
            <a:pPr algn="ctr"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000" b="1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Common behavior: sorting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Class </a:t>
            </a:r>
            <a:r>
              <a:rPr lang="en-US" b="1" dirty="0" err="1" smtClean="0">
                <a:latin typeface="Courier New"/>
                <a:cs typeface="Courier New"/>
              </a:rPr>
              <a:t>java.utils.Arrays</a:t>
            </a:r>
            <a:r>
              <a:rPr lang="en-US" dirty="0" smtClean="0"/>
              <a:t> provides the static method </a:t>
            </a:r>
            <a:r>
              <a:rPr lang="en-US" b="1" dirty="0" smtClean="0">
                <a:solidFill>
                  <a:srgbClr val="FF6600"/>
                </a:solidFill>
                <a:latin typeface="Courier New"/>
                <a:cs typeface="Courier New"/>
              </a:rPr>
              <a:t>sort()</a:t>
            </a:r>
          </a:p>
          <a:p>
            <a:pPr lvl="2"/>
            <a:endParaRPr lang="en-US" b="1" dirty="0">
              <a:solidFill>
                <a:srgbClr val="FF6600"/>
              </a:solidFill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sk-SK" sz="2800" b="1" dirty="0" smtClean="0">
                <a:latin typeface="Courier New"/>
                <a:cs typeface="Courier New"/>
              </a:rPr>
              <a:t>	int</a:t>
            </a:r>
            <a:r>
              <a:rPr lang="sk-SK" sz="2800" b="1" dirty="0">
                <a:latin typeface="Courier New"/>
                <a:cs typeface="Courier New"/>
              </a:rPr>
              <a:t>[] v = {7,2,5,1,8,5}</a:t>
            </a:r>
            <a:r>
              <a:rPr lang="sk-SK" sz="2800" b="1" dirty="0" smtClean="0">
                <a:latin typeface="Courier New"/>
                <a:cs typeface="Courier New"/>
              </a:rPr>
              <a:t>;</a:t>
            </a:r>
          </a:p>
          <a:p>
            <a:pPr marL="0" indent="0">
              <a:buNone/>
            </a:pPr>
            <a:r>
              <a:rPr lang="sk-SK" sz="2800" b="1" dirty="0" smtClean="0">
                <a:latin typeface="Courier New"/>
                <a:cs typeface="Courier New"/>
              </a:rPr>
              <a:t>	Arrays.sort</a:t>
            </a:r>
            <a:r>
              <a:rPr lang="sk-SK" sz="2800" b="1" dirty="0">
                <a:latin typeface="Courier New"/>
                <a:cs typeface="Courier New"/>
              </a:rPr>
              <a:t>(v);</a:t>
            </a:r>
          </a:p>
          <a:p>
            <a:pPr lvl="2"/>
            <a:endParaRPr lang="en-US" dirty="0" smtClean="0"/>
          </a:p>
          <a:p>
            <a:r>
              <a:rPr lang="en-US" dirty="0" smtClean="0"/>
              <a:t>Sorting object arrays requires a means to compare two objects:</a:t>
            </a:r>
          </a:p>
          <a:p>
            <a:pPr lvl="1"/>
            <a:r>
              <a:rPr lang="en-US" b="1" dirty="0" err="1">
                <a:latin typeface="Courier New"/>
                <a:cs typeface="Courier New"/>
              </a:rPr>
              <a:t>j</a:t>
            </a:r>
            <a:r>
              <a:rPr lang="en-US" b="1" dirty="0" err="1" smtClean="0">
                <a:latin typeface="Courier New"/>
                <a:cs typeface="Courier New"/>
              </a:rPr>
              <a:t>ava.lang.Comparable</a:t>
            </a:r>
            <a:endParaRPr lang="en-US" b="1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52120261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 bwMode="auto">
          <a:xfrm>
            <a:off x="539552" y="1916832"/>
            <a:ext cx="7272808" cy="15841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lIns="90360" tIns="44280" rIns="90360" bIns="44280" rtlCol="0" anchor="ctr"/>
          <a:lstStyle/>
          <a:p>
            <a:pPr algn="ctr"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000" b="1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72033" name="Rectangle 1"/>
          <p:cNvSpPr>
            <a:spLocks noGrp="1" noChangeArrowheads="1"/>
          </p:cNvSpPr>
          <p:nvPr>
            <p:ph type="title"/>
          </p:nvPr>
        </p:nvSpPr>
        <p:spPr>
          <a:xfrm>
            <a:off x="228600" y="224746"/>
            <a:ext cx="8605838" cy="766533"/>
          </a:xfrm>
        </p:spPr>
        <p:txBody>
          <a:bodyPr lIns="90360" tIns="44280" rIns="90360" bIns="44280"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 smtClean="0">
                <a:latin typeface="Courier New"/>
                <a:cs typeface="Courier New"/>
              </a:rPr>
              <a:t>Comparable</a:t>
            </a:r>
            <a:endParaRPr lang="en-GB" dirty="0">
              <a:latin typeface="Courier New"/>
              <a:cs typeface="Courier New"/>
            </a:endParaRPr>
          </a:p>
        </p:txBody>
      </p:sp>
      <p:sp>
        <p:nvSpPr>
          <p:cNvPr id="172034" name="Rectangle 2"/>
          <p:cNvSpPr>
            <a:spLocks noGrp="1" noChangeArrowheads="1"/>
          </p:cNvSpPr>
          <p:nvPr>
            <p:ph idx="1"/>
          </p:nvPr>
        </p:nvSpPr>
        <p:spPr/>
        <p:txBody>
          <a:bodyPr lIns="90360" tIns="44280" rIns="90360" bIns="44280"/>
          <a:lstStyle/>
          <a:p>
            <a:pPr lvl="2" eaLnBrk="1" hangingPunct="1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smtClean="0">
                <a:latin typeface="Lucida Sans Unicode" charset="0"/>
                <a:cs typeface="Lucida Sans Unicode" charset="0"/>
              </a:rPr>
              <a:t>Interface </a:t>
            </a:r>
            <a:r>
              <a:rPr lang="en-GB" b="1" dirty="0" err="1" smtClean="0">
                <a:latin typeface="Courier New"/>
                <a:cs typeface="Courier New"/>
              </a:rPr>
              <a:t>java.lang.Comparable</a:t>
            </a:r>
            <a:endParaRPr lang="en-GB" dirty="0">
              <a:latin typeface="Lucida Sans Unicode" charset="0"/>
              <a:cs typeface="Lucida Sans Unicode" charset="0"/>
            </a:endParaRPr>
          </a:p>
          <a:p>
            <a:pPr lvl="3" eaLnBrk="1" hangingPunct="1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dirty="0">
              <a:latin typeface="Lucida Sans Unicode" charset="0"/>
              <a:cs typeface="Lucida Sans Unicode" charset="0"/>
            </a:endParaRPr>
          </a:p>
          <a:p>
            <a:pPr marL="400050" lvl="1" indent="0" eaLnBrk="1" hangingPunct="1">
              <a:lnSpc>
                <a:spcPct val="90000"/>
              </a:lnSpc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 dirty="0" smtClean="0">
                <a:solidFill>
                  <a:schemeClr val="tx1"/>
                </a:solidFill>
                <a:latin typeface="Courier New" charset="0"/>
                <a:cs typeface="Lucida Sans Unicode" charset="0"/>
              </a:rPr>
              <a:t>public</a:t>
            </a:r>
            <a:r>
              <a:rPr lang="en-GB" sz="2400" b="1" dirty="0" smtClean="0">
                <a:solidFill>
                  <a:schemeClr val="tx1"/>
                </a:solidFill>
                <a:latin typeface="Courier New" charset="0"/>
                <a:cs typeface="Lucida Sans Unicode" charset="0"/>
              </a:rPr>
              <a:t> </a:t>
            </a:r>
            <a:r>
              <a:rPr lang="en-GB" b="1" dirty="0">
                <a:solidFill>
                  <a:schemeClr val="tx1"/>
                </a:solidFill>
                <a:latin typeface="Courier New" charset="0"/>
                <a:cs typeface="Lucida Sans Unicode" charset="0"/>
              </a:rPr>
              <a:t>interface </a:t>
            </a:r>
            <a:r>
              <a:rPr lang="en-GB" b="1" dirty="0">
                <a:solidFill>
                  <a:srgbClr val="FF6633"/>
                </a:solidFill>
                <a:latin typeface="Courier New" charset="0"/>
                <a:cs typeface="Lucida Sans Unicode" charset="0"/>
              </a:rPr>
              <a:t>Comparable</a:t>
            </a:r>
            <a:r>
              <a:rPr lang="en-GB" b="1" dirty="0" smtClean="0">
                <a:latin typeface="Courier New" charset="0"/>
                <a:cs typeface="Lucida Sans Unicode" charset="0"/>
              </a:rPr>
              <a:t>{</a:t>
            </a:r>
            <a:br>
              <a:rPr lang="en-GB" b="1" dirty="0" smtClean="0">
                <a:latin typeface="Courier New" charset="0"/>
                <a:cs typeface="Lucida Sans Unicode" charset="0"/>
              </a:rPr>
            </a:br>
            <a:r>
              <a:rPr lang="en-GB" b="1" dirty="0" smtClean="0">
                <a:latin typeface="Courier New" charset="0"/>
                <a:cs typeface="Lucida Sans Unicode" charset="0"/>
              </a:rPr>
              <a:t>  </a:t>
            </a:r>
            <a:r>
              <a:rPr lang="en-GB" b="1" dirty="0" err="1">
                <a:latin typeface="Courier New" charset="0"/>
                <a:cs typeface="Lucida Sans Unicode" charset="0"/>
              </a:rPr>
              <a:t>int</a:t>
            </a:r>
            <a:r>
              <a:rPr lang="en-GB" b="1" dirty="0">
                <a:latin typeface="Courier New" charset="0"/>
                <a:cs typeface="Lucida Sans Unicode" charset="0"/>
              </a:rPr>
              <a:t> </a:t>
            </a:r>
            <a:r>
              <a:rPr lang="en-GB" b="1" dirty="0" err="1">
                <a:solidFill>
                  <a:srgbClr val="FF6633"/>
                </a:solidFill>
                <a:latin typeface="Courier New" charset="0"/>
                <a:cs typeface="Lucida Sans Unicode" charset="0"/>
              </a:rPr>
              <a:t>compareTo</a:t>
            </a:r>
            <a:r>
              <a:rPr lang="en-GB" b="1" dirty="0">
                <a:latin typeface="Courier New" charset="0"/>
                <a:cs typeface="Lucida Sans Unicode" charset="0"/>
              </a:rPr>
              <a:t>(Object </a:t>
            </a:r>
            <a:r>
              <a:rPr lang="en-GB" b="1" dirty="0" err="1">
                <a:latin typeface="Courier New" charset="0"/>
                <a:cs typeface="Lucida Sans Unicode" charset="0"/>
              </a:rPr>
              <a:t>obj</a:t>
            </a:r>
            <a:r>
              <a:rPr lang="en-GB" b="1" dirty="0">
                <a:latin typeface="Courier New" charset="0"/>
                <a:cs typeface="Lucida Sans Unicode" charset="0"/>
              </a:rPr>
              <a:t>)</a:t>
            </a:r>
            <a:r>
              <a:rPr lang="en-GB" b="1" dirty="0" smtClean="0">
                <a:latin typeface="Courier New" charset="0"/>
                <a:cs typeface="Lucida Sans Unicode" charset="0"/>
              </a:rPr>
              <a:t>;</a:t>
            </a:r>
            <a:br>
              <a:rPr lang="en-GB" b="1" dirty="0" smtClean="0">
                <a:latin typeface="Courier New" charset="0"/>
                <a:cs typeface="Lucida Sans Unicode" charset="0"/>
              </a:rPr>
            </a:br>
            <a:r>
              <a:rPr lang="en-GB" b="1" dirty="0" smtClean="0">
                <a:latin typeface="Courier New" charset="0"/>
                <a:cs typeface="Lucida Sans Unicode" charset="0"/>
              </a:rPr>
              <a:t>}</a:t>
            </a:r>
            <a:endParaRPr lang="en-GB" dirty="0">
              <a:latin typeface="Lucida Sans Unicode" charset="0"/>
              <a:cs typeface="Lucida Sans Unicode" charset="0"/>
            </a:endParaRPr>
          </a:p>
          <a:p>
            <a:pPr lvl="3" eaLnBrk="1" hangingPunct="1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dirty="0" smtClean="0">
              <a:latin typeface="Lucida Sans Unicode" charset="0"/>
              <a:cs typeface="Lucida Sans Unicode" charset="0"/>
            </a:endParaRPr>
          </a:p>
          <a:p>
            <a:pPr eaLnBrk="1" hangingPunct="1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R</a:t>
            </a:r>
            <a:r>
              <a:rPr lang="en-GB" dirty="0" smtClean="0">
                <a:latin typeface="Lucida Sans Unicode" charset="0"/>
                <a:cs typeface="Lucida Sans Unicode" charset="0"/>
              </a:rPr>
              <a:t>eturns </a:t>
            </a:r>
            <a:endParaRPr lang="en-GB" dirty="0">
              <a:latin typeface="Lucida Sans Unicode" charset="0"/>
              <a:cs typeface="Lucida Sans Unicode" charset="0"/>
            </a:endParaRPr>
          </a:p>
          <a:p>
            <a:pPr lvl="1" eaLnBrk="1" hangingPunct="1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a negative integer if </a:t>
            </a:r>
            <a:r>
              <a:rPr lang="en-GB" b="1" dirty="0">
                <a:latin typeface="Courier New" charset="0"/>
                <a:ea typeface="Lucida Sans Unicode" charset="0"/>
                <a:cs typeface="Lucida Sans Unicode" charset="0"/>
              </a:rPr>
              <a:t>this</a:t>
            </a: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 precedes </a:t>
            </a:r>
            <a:r>
              <a:rPr lang="en-GB" b="1" dirty="0" err="1">
                <a:latin typeface="Courier New" charset="0"/>
                <a:ea typeface="Lucida Sans Unicode" charset="0"/>
                <a:cs typeface="Lucida Sans Unicode" charset="0"/>
              </a:rPr>
              <a:t>obj</a:t>
            </a:r>
            <a:endParaRPr lang="en-GB" b="1" dirty="0">
              <a:latin typeface="Courier New" charset="0"/>
              <a:ea typeface="Lucida Sans Unicode" charset="0"/>
              <a:cs typeface="Lucida Sans Unicode" charset="0"/>
            </a:endParaRPr>
          </a:p>
          <a:p>
            <a:pPr lvl="1" eaLnBrk="1" hangingPunct="1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0, if </a:t>
            </a:r>
            <a:r>
              <a:rPr lang="en-GB" b="1" dirty="0">
                <a:latin typeface="Courier New" charset="0"/>
                <a:ea typeface="Lucida Sans Unicode" charset="0"/>
                <a:cs typeface="Lucida Sans Unicode" charset="0"/>
              </a:rPr>
              <a:t>this</a:t>
            </a: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 equals </a:t>
            </a:r>
            <a:r>
              <a:rPr lang="en-GB" b="1" dirty="0" err="1">
                <a:latin typeface="Courier New" charset="0"/>
                <a:ea typeface="Lucida Sans Unicode" charset="0"/>
                <a:cs typeface="Lucida Sans Unicode" charset="0"/>
              </a:rPr>
              <a:t>obj</a:t>
            </a:r>
            <a:endParaRPr lang="en-GB" b="1" dirty="0">
              <a:latin typeface="Lucida Sans Unicode" charset="0"/>
              <a:ea typeface="Lucida Sans Unicode" charset="0"/>
              <a:cs typeface="Lucida Sans Unicode" charset="0"/>
            </a:endParaRPr>
          </a:p>
          <a:p>
            <a:pPr lvl="1" eaLnBrk="1" hangingPunct="1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a positive integer if </a:t>
            </a:r>
            <a:r>
              <a:rPr lang="en-GB" b="1" dirty="0">
                <a:latin typeface="Courier New" charset="0"/>
                <a:ea typeface="Lucida Sans Unicode" charset="0"/>
                <a:cs typeface="Lucida Sans Unicode" charset="0"/>
              </a:rPr>
              <a:t>this</a:t>
            </a: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 </a:t>
            </a:r>
            <a:r>
              <a:rPr lang="en-GB" dirty="0" smtClean="0">
                <a:latin typeface="Lucida Sans Unicode" charset="0"/>
                <a:ea typeface="Lucida Sans Unicode" charset="0"/>
                <a:cs typeface="Lucida Sans Unicode" charset="0"/>
              </a:rPr>
              <a:t>follows </a:t>
            </a:r>
            <a:r>
              <a:rPr lang="en-GB" b="1" dirty="0" err="1" smtClean="0">
                <a:latin typeface="Courier New" charset="0"/>
                <a:ea typeface="Lucida Sans Unicode" charset="0"/>
                <a:cs typeface="Lucida Sans Unicode" charset="0"/>
              </a:rPr>
              <a:t>obj</a:t>
            </a:r>
            <a:endParaRPr lang="en-GB" b="1" dirty="0">
              <a:latin typeface="Courier New" charset="0"/>
              <a:ea typeface="Lucida Sans Unicode" charset="0"/>
              <a:cs typeface="Lucida Sans Unicode" charset="0"/>
            </a:endParaRPr>
          </a:p>
        </p:txBody>
      </p:sp>
      <p:sp>
        <p:nvSpPr>
          <p:cNvPr id="172035" name="Segnaposto numero diapositiva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EC12237E-666C-FC49-AB51-81097C5F4C05}" type="slidenum">
              <a:rPr lang="en-GB" sz="1200">
                <a:solidFill>
                  <a:srgbClr val="000000"/>
                </a:solidFill>
              </a:rPr>
              <a:pPr eaLnBrk="1" hangingPunct="1"/>
              <a:t>99</a:t>
            </a:fld>
            <a:endParaRPr lang="en-GB" sz="1200">
              <a:solidFill>
                <a:srgbClr val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45637" y="6093296"/>
            <a:ext cx="5156367" cy="313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chemeClr val="bg1">
                    <a:lumMod val="50000"/>
                  </a:schemeClr>
                </a:solidFill>
                <a:latin typeface="+mj-lt"/>
              </a:rPr>
              <a:t>Note: simplified version, actual declaration uses generics</a:t>
            </a: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1"/>
          <p:cNvSpPr>
            <a:spLocks noChangeArrowheads="1"/>
          </p:cNvSpPr>
          <p:nvPr/>
        </p:nvSpPr>
        <p:spPr bwMode="auto">
          <a:xfrm>
            <a:off x="360365" y="1340768"/>
            <a:ext cx="8100067" cy="4464495"/>
          </a:xfrm>
          <a:prstGeom prst="roundRect">
            <a:avLst>
              <a:gd name="adj" fmla="val 32"/>
            </a:avLst>
          </a:prstGeom>
          <a:solidFill>
            <a:schemeClr val="accent6">
              <a:lumMod val="20000"/>
              <a:lumOff val="80000"/>
            </a:schemeClr>
          </a:solidFill>
          <a:ln w="9360">
            <a:solidFill>
              <a:schemeClr val="accent6">
                <a:lumMod val="75000"/>
              </a:schemeClr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10" tIns="45706" rIns="91410" bIns="45706" anchor="ctr"/>
          <a:lstStyle/>
          <a:p>
            <a:endParaRPr lang="it-IT">
              <a:cs typeface="Lucida Sans Unicod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Comparable usage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b="1" dirty="0" smtClean="0">
                <a:latin typeface="Courier New"/>
                <a:cs typeface="Courier New"/>
              </a:rPr>
              <a:t>public class Student </a:t>
            </a:r>
          </a:p>
          <a:p>
            <a:pPr marL="0" indent="0">
              <a:buNone/>
            </a:pPr>
            <a:r>
              <a:rPr lang="en-US" sz="2800" b="1" dirty="0">
                <a:latin typeface="Courier New"/>
                <a:cs typeface="Courier New"/>
              </a:rPr>
              <a:t>	</a:t>
            </a:r>
            <a:r>
              <a:rPr lang="en-US" sz="2800" b="1" dirty="0" smtClean="0">
                <a:latin typeface="Courier New"/>
                <a:cs typeface="Courier New"/>
              </a:rPr>
              <a:t>		implements </a:t>
            </a:r>
            <a:r>
              <a:rPr lang="en-US" sz="2800" b="1" dirty="0" smtClean="0">
                <a:solidFill>
                  <a:srgbClr val="FF6600"/>
                </a:solidFill>
                <a:latin typeface="Courier New"/>
                <a:cs typeface="Courier New"/>
              </a:rPr>
              <a:t>Comparable</a:t>
            </a:r>
            <a:r>
              <a:rPr lang="en-US" sz="2800" b="1" dirty="0" smtClean="0">
                <a:latin typeface="Courier New"/>
                <a:cs typeface="Courier New"/>
              </a:rPr>
              <a:t> {</a:t>
            </a:r>
          </a:p>
          <a:p>
            <a:pPr marL="0" indent="0">
              <a:buNone/>
            </a:pPr>
            <a:r>
              <a:rPr lang="en-US" sz="2800" b="1" dirty="0">
                <a:latin typeface="Courier New"/>
                <a:cs typeface="Courier New"/>
              </a:rPr>
              <a:t> </a:t>
            </a:r>
            <a:r>
              <a:rPr lang="en-US" sz="2800" b="1" dirty="0" smtClean="0">
                <a:latin typeface="Courier New"/>
                <a:cs typeface="Courier New"/>
              </a:rPr>
              <a:t> </a:t>
            </a:r>
            <a:r>
              <a:rPr lang="en-US" sz="2800" b="1" dirty="0" err="1" smtClean="0">
                <a:latin typeface="Courier New"/>
                <a:cs typeface="Courier New"/>
              </a:rPr>
              <a:t>int</a:t>
            </a:r>
            <a:r>
              <a:rPr lang="en-US" sz="2800" b="1" dirty="0" smtClean="0">
                <a:latin typeface="Courier New"/>
                <a:cs typeface="Courier New"/>
              </a:rPr>
              <a:t> id;</a:t>
            </a:r>
          </a:p>
          <a:p>
            <a:pPr marL="0" indent="0">
              <a:buNone/>
            </a:pPr>
            <a:r>
              <a:rPr lang="en-US" sz="2800" b="1" dirty="0">
                <a:latin typeface="Courier New"/>
                <a:cs typeface="Courier New"/>
              </a:rPr>
              <a:t> </a:t>
            </a:r>
            <a:r>
              <a:rPr lang="en-US" sz="2800" b="1" dirty="0" smtClean="0">
                <a:latin typeface="Courier New"/>
                <a:cs typeface="Courier New"/>
              </a:rPr>
              <a:t> public </a:t>
            </a:r>
            <a:r>
              <a:rPr lang="en-US" sz="2800" b="1" dirty="0" err="1" smtClean="0">
                <a:latin typeface="Courier New"/>
                <a:cs typeface="Courier New"/>
              </a:rPr>
              <a:t>int</a:t>
            </a:r>
            <a:r>
              <a:rPr lang="en-US" sz="2800" b="1" dirty="0" smtClean="0">
                <a:latin typeface="Courier New"/>
                <a:cs typeface="Courier New"/>
              </a:rPr>
              <a:t> </a:t>
            </a:r>
            <a:r>
              <a:rPr lang="en-US" sz="2800" b="1" dirty="0" err="1" smtClean="0">
                <a:solidFill>
                  <a:srgbClr val="FF6600"/>
                </a:solidFill>
                <a:latin typeface="Courier New"/>
                <a:cs typeface="Courier New"/>
              </a:rPr>
              <a:t>compareTo</a:t>
            </a:r>
            <a:r>
              <a:rPr lang="en-US" sz="2800" b="1" dirty="0" smtClean="0">
                <a:latin typeface="Courier New"/>
                <a:cs typeface="Courier New"/>
              </a:rPr>
              <a:t>(Object o){</a:t>
            </a:r>
          </a:p>
          <a:p>
            <a:pPr marL="0" indent="0">
              <a:buNone/>
            </a:pPr>
            <a:r>
              <a:rPr lang="en-US" sz="2800" b="1" dirty="0" smtClean="0">
                <a:latin typeface="Courier New"/>
                <a:cs typeface="Courier New"/>
              </a:rPr>
              <a:t>    Student other = (Student)o;</a:t>
            </a:r>
          </a:p>
          <a:p>
            <a:pPr marL="0" indent="0">
              <a:buNone/>
            </a:pPr>
            <a:r>
              <a:rPr lang="en-US" sz="2800" b="1" dirty="0" smtClean="0">
                <a:latin typeface="Courier New"/>
                <a:cs typeface="Courier New"/>
              </a:rPr>
              <a:t>    return </a:t>
            </a:r>
            <a:r>
              <a:rPr lang="en-US" sz="2800" b="1" dirty="0" err="1" smtClean="0">
                <a:latin typeface="Courier New"/>
                <a:cs typeface="Courier New"/>
              </a:rPr>
              <a:t>this.id</a:t>
            </a:r>
            <a:r>
              <a:rPr lang="en-US" sz="2800" b="1" dirty="0" smtClean="0">
                <a:latin typeface="Courier New"/>
                <a:cs typeface="Courier New"/>
              </a:rPr>
              <a:t> – </a:t>
            </a:r>
            <a:r>
              <a:rPr lang="en-US" sz="2800" b="1" dirty="0" err="1" smtClean="0">
                <a:latin typeface="Courier New"/>
                <a:cs typeface="Courier New"/>
              </a:rPr>
              <a:t>other.id</a:t>
            </a:r>
            <a:r>
              <a:rPr lang="en-US" sz="2800" b="1" dirty="0" smtClean="0">
                <a:latin typeface="Courier New"/>
                <a:cs typeface="Courier New"/>
              </a:rPr>
              <a:t>;</a:t>
            </a:r>
          </a:p>
          <a:p>
            <a:pPr marL="0" indent="0">
              <a:buNone/>
            </a:pPr>
            <a:r>
              <a:rPr lang="en-US" sz="2800" b="1" dirty="0">
                <a:latin typeface="Courier New"/>
                <a:cs typeface="Courier New"/>
              </a:rPr>
              <a:t> </a:t>
            </a:r>
            <a:r>
              <a:rPr lang="en-US" sz="2800" b="1" dirty="0" smtClean="0">
                <a:latin typeface="Courier New"/>
                <a:cs typeface="Courier New"/>
              </a:rPr>
              <a:t> }</a:t>
            </a:r>
          </a:p>
          <a:p>
            <a:pPr marL="0" indent="0">
              <a:buNone/>
            </a:pPr>
            <a:r>
              <a:rPr lang="en-US" sz="2800" b="1" dirty="0" smtClean="0">
                <a:latin typeface="Courier New"/>
                <a:cs typeface="Courier New"/>
              </a:rPr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976692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Common behavior idiom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Context</a:t>
            </a:r>
          </a:p>
          <a:p>
            <a:pPr lvl="1"/>
            <a:r>
              <a:rPr lang="en-US" dirty="0" smtClean="0"/>
              <a:t>An algorithm require its data to provide a predefined set </a:t>
            </a:r>
            <a:r>
              <a:rPr lang="en-US" smtClean="0"/>
              <a:t>of common operations</a:t>
            </a:r>
            <a:endParaRPr lang="en-US" dirty="0" smtClean="0"/>
          </a:p>
          <a:p>
            <a:r>
              <a:rPr lang="en-US" dirty="0" smtClean="0"/>
              <a:t>Problem</a:t>
            </a:r>
          </a:p>
          <a:p>
            <a:pPr lvl="1"/>
            <a:r>
              <a:rPr lang="en-US" dirty="0" smtClean="0"/>
              <a:t>The algorithm should work on a diverse set of classes</a:t>
            </a:r>
          </a:p>
          <a:p>
            <a:r>
              <a:rPr lang="en-US" dirty="0" smtClean="0"/>
              <a:t>Solution</a:t>
            </a:r>
          </a:p>
          <a:p>
            <a:pPr lvl="1"/>
            <a:r>
              <a:rPr lang="en-US" dirty="0" smtClean="0"/>
              <a:t>Interface </a:t>
            </a:r>
            <a:r>
              <a:rPr lang="en-US" dirty="0"/>
              <a:t>p</a:t>
            </a:r>
            <a:r>
              <a:rPr lang="en-US" dirty="0" smtClean="0"/>
              <a:t>rovides the set of required methods </a:t>
            </a:r>
          </a:p>
          <a:p>
            <a:pPr lvl="1"/>
            <a:r>
              <a:rPr lang="en-US" dirty="0" smtClean="0"/>
              <a:t>Classes implement the interface and provide methods that are used by the algorithm</a:t>
            </a:r>
          </a:p>
        </p:txBody>
      </p:sp>
    </p:spTree>
    <p:extLst>
      <p:ext uri="{BB962C8B-B14F-4D97-AF65-F5344CB8AC3E}">
        <p14:creationId xmlns:p14="http://schemas.microsoft.com/office/powerpoint/2010/main" val="145322620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 bwMode="auto">
          <a:xfrm>
            <a:off x="539552" y="2132856"/>
            <a:ext cx="7272808" cy="17281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lIns="90360" tIns="44280" rIns="90360" bIns="44280" rtlCol="0" anchor="ctr"/>
          <a:lstStyle/>
          <a:p>
            <a:pPr algn="ctr"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000" b="1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Common behavior: iteration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2"/>
            <a:r>
              <a:rPr lang="en-US" dirty="0" smtClean="0"/>
              <a:t>Interface </a:t>
            </a:r>
            <a:r>
              <a:rPr lang="en-US" b="1" dirty="0" err="1" smtClean="0">
                <a:solidFill>
                  <a:schemeClr val="tx1"/>
                </a:solidFill>
                <a:latin typeface="Courier New"/>
                <a:cs typeface="Courier New"/>
              </a:rPr>
              <a:t>java.lang.Iterable</a:t>
            </a:r>
            <a:endParaRPr lang="en-US" b="1" dirty="0" smtClean="0">
              <a:solidFill>
                <a:schemeClr val="tx1"/>
              </a:solidFill>
              <a:latin typeface="Courier New"/>
              <a:cs typeface="Courier New"/>
            </a:endParaRPr>
          </a:p>
          <a:p>
            <a:pPr lvl="2"/>
            <a:endParaRPr lang="en-US" b="1" dirty="0" smtClean="0">
              <a:solidFill>
                <a:schemeClr val="tx1"/>
              </a:solidFill>
              <a:latin typeface="Courier New"/>
              <a:cs typeface="Courier New"/>
            </a:endParaRPr>
          </a:p>
          <a:p>
            <a:pPr marL="400050" lvl="1" indent="0">
              <a:buNone/>
            </a:pPr>
            <a:r>
              <a:rPr lang="en-US" b="1" dirty="0">
                <a:latin typeface="Courier New"/>
                <a:cs typeface="Courier New"/>
              </a:rPr>
              <a:t>public interface </a:t>
            </a:r>
            <a:r>
              <a:rPr lang="en-US" b="1" dirty="0" err="1" smtClean="0">
                <a:solidFill>
                  <a:srgbClr val="FF6600"/>
                </a:solidFill>
                <a:latin typeface="Courier New"/>
                <a:cs typeface="Courier New"/>
              </a:rPr>
              <a:t>Iterable</a:t>
            </a:r>
            <a:r>
              <a:rPr lang="en-US" b="1" dirty="0" smtClean="0">
                <a:solidFill>
                  <a:srgbClr val="FF6600"/>
                </a:solidFill>
                <a:latin typeface="Courier New"/>
                <a:cs typeface="Courier New"/>
              </a:rPr>
              <a:t> </a:t>
            </a:r>
            <a:r>
              <a:rPr lang="en-US" b="1" dirty="0" smtClean="0">
                <a:latin typeface="Courier New"/>
                <a:cs typeface="Courier New"/>
              </a:rPr>
              <a:t>{</a:t>
            </a:r>
          </a:p>
          <a:p>
            <a:pPr marL="400050" lvl="1" indent="0">
              <a:buNone/>
            </a:pP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 smtClean="0">
                <a:latin typeface="Courier New"/>
                <a:cs typeface="Courier New"/>
              </a:rPr>
              <a:t> Iterator </a:t>
            </a:r>
            <a:r>
              <a:rPr lang="en-US" b="1" dirty="0" smtClean="0">
                <a:solidFill>
                  <a:srgbClr val="FF6600"/>
                </a:solidFill>
                <a:latin typeface="Courier New"/>
                <a:cs typeface="Courier New"/>
              </a:rPr>
              <a:t>iterator</a:t>
            </a:r>
            <a:r>
              <a:rPr lang="en-US" b="1" dirty="0" smtClean="0">
                <a:latin typeface="Courier New"/>
                <a:cs typeface="Courier New"/>
              </a:rPr>
              <a:t>();</a:t>
            </a:r>
          </a:p>
          <a:p>
            <a:pPr marL="400050" lvl="1" indent="0">
              <a:buNone/>
            </a:pPr>
            <a:r>
              <a:rPr lang="en-US" b="1" dirty="0" smtClean="0">
                <a:latin typeface="Courier New"/>
                <a:cs typeface="Courier New"/>
              </a:rPr>
              <a:t>}</a:t>
            </a:r>
          </a:p>
          <a:p>
            <a:pPr>
              <a:lnSpc>
                <a:spcPct val="113000"/>
              </a:lnSpc>
            </a:pPr>
            <a:r>
              <a:rPr lang="en-US" b="1" dirty="0" smtClean="0"/>
              <a:t>Any class implementing </a:t>
            </a:r>
            <a:r>
              <a:rPr lang="en-US" b="1" dirty="0" err="1" smtClean="0">
                <a:latin typeface="Courier New"/>
                <a:cs typeface="Courier New"/>
              </a:rPr>
              <a:t>Iterable</a:t>
            </a:r>
            <a:r>
              <a:rPr lang="en-US" b="1" dirty="0" smtClean="0"/>
              <a:t> can be the target of a </a:t>
            </a:r>
            <a:r>
              <a:rPr lang="en-US" b="1" i="1" dirty="0" err="1" smtClean="0">
                <a:solidFill>
                  <a:srgbClr val="FF6600"/>
                </a:solidFill>
              </a:rPr>
              <a:t>foreach</a:t>
            </a:r>
            <a:r>
              <a:rPr lang="en-US" b="1" i="1" dirty="0" smtClean="0">
                <a:solidFill>
                  <a:srgbClr val="FF6600"/>
                </a:solidFill>
              </a:rPr>
              <a:t> </a:t>
            </a:r>
            <a:r>
              <a:rPr lang="en-US" b="1" dirty="0" smtClean="0"/>
              <a:t>construct</a:t>
            </a:r>
          </a:p>
          <a:p>
            <a:pPr lvl="1">
              <a:lnSpc>
                <a:spcPct val="113000"/>
              </a:lnSpc>
            </a:pPr>
            <a:r>
              <a:rPr lang="en-US" b="1" dirty="0" smtClean="0"/>
              <a:t>Uses the Iterator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5637" y="6093296"/>
            <a:ext cx="5156367" cy="313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chemeClr val="bg1">
                    <a:lumMod val="50000"/>
                  </a:schemeClr>
                </a:solidFill>
                <a:latin typeface="+mj-lt"/>
              </a:rPr>
              <a:t>Note: simplified version, actual declaration uses generics</a:t>
            </a:r>
          </a:p>
        </p:txBody>
      </p:sp>
    </p:spTree>
    <p:extLst>
      <p:ext uri="{BB962C8B-B14F-4D97-AF65-F5344CB8AC3E}">
        <p14:creationId xmlns:p14="http://schemas.microsoft.com/office/powerpoint/2010/main" val="334200509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auto">
          <a:xfrm>
            <a:off x="539552" y="1772816"/>
            <a:ext cx="7272808" cy="20162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lIns="90360" tIns="44280" rIns="90360" bIns="44280" rtlCol="0" anchor="ctr"/>
          <a:lstStyle/>
          <a:p>
            <a:pPr algn="ctr"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000" b="1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Common behavior: iteration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2">
              <a:lnSpc>
                <a:spcPct val="113000"/>
              </a:lnSpc>
            </a:pPr>
            <a:r>
              <a:rPr lang="en-US" b="1" dirty="0" smtClean="0"/>
              <a:t>Interface </a:t>
            </a:r>
            <a:r>
              <a:rPr lang="en-US" b="1" dirty="0" err="1">
                <a:latin typeface="Courier New"/>
                <a:cs typeface="Courier New"/>
              </a:rPr>
              <a:t>java.util.Iterator</a:t>
            </a:r>
            <a:endParaRPr lang="en-US" b="1" dirty="0">
              <a:latin typeface="Courier New"/>
              <a:cs typeface="Courier New"/>
            </a:endParaRPr>
          </a:p>
          <a:p>
            <a:pPr marL="400050" lvl="1" indent="0">
              <a:buNone/>
            </a:pPr>
            <a:r>
              <a:rPr lang="en-US" b="1" dirty="0">
                <a:latin typeface="Courier New"/>
                <a:cs typeface="Courier New"/>
              </a:rPr>
              <a:t>public interface </a:t>
            </a:r>
            <a:r>
              <a:rPr lang="en-US" b="1" dirty="0">
                <a:solidFill>
                  <a:srgbClr val="FF6600"/>
                </a:solidFill>
                <a:latin typeface="Courier New"/>
                <a:cs typeface="Courier New"/>
              </a:rPr>
              <a:t>Iterator</a:t>
            </a:r>
            <a:r>
              <a:rPr lang="en-US" b="1" dirty="0">
                <a:latin typeface="Courier New"/>
                <a:cs typeface="Courier New"/>
              </a:rPr>
              <a:t> {</a:t>
            </a:r>
          </a:p>
          <a:p>
            <a:pPr marL="400050" lvl="1" indent="0">
              <a:buNone/>
            </a:pPr>
            <a:r>
              <a:rPr lang="en-US" b="1" dirty="0">
                <a:latin typeface="Courier New"/>
                <a:cs typeface="Courier New"/>
              </a:rPr>
              <a:t>  </a:t>
            </a:r>
            <a:r>
              <a:rPr lang="en-US" b="1" dirty="0" err="1">
                <a:latin typeface="Courier New"/>
                <a:cs typeface="Courier New"/>
              </a:rPr>
              <a:t>boolean</a:t>
            </a: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 err="1">
                <a:solidFill>
                  <a:srgbClr val="FF6600"/>
                </a:solidFill>
                <a:latin typeface="Courier New"/>
                <a:cs typeface="Courier New"/>
              </a:rPr>
              <a:t>hasNext</a:t>
            </a:r>
            <a:r>
              <a:rPr lang="en-US" b="1" dirty="0">
                <a:latin typeface="Courier New"/>
                <a:cs typeface="Courier New"/>
              </a:rPr>
              <a:t>();</a:t>
            </a:r>
          </a:p>
          <a:p>
            <a:pPr marL="400050" lvl="1" indent="0">
              <a:buNone/>
            </a:pPr>
            <a:r>
              <a:rPr lang="en-US" b="1" dirty="0">
                <a:latin typeface="Courier New"/>
                <a:cs typeface="Courier New"/>
              </a:rPr>
              <a:t>  Object </a:t>
            </a:r>
            <a:r>
              <a:rPr lang="en-US" b="1" dirty="0">
                <a:solidFill>
                  <a:srgbClr val="FF6600"/>
                </a:solidFill>
                <a:latin typeface="Courier New"/>
                <a:cs typeface="Courier New"/>
              </a:rPr>
              <a:t>next</a:t>
            </a:r>
            <a:r>
              <a:rPr lang="en-US" b="1" dirty="0">
                <a:latin typeface="Courier New"/>
                <a:cs typeface="Courier New"/>
              </a:rPr>
              <a:t>();</a:t>
            </a:r>
          </a:p>
          <a:p>
            <a:pPr marL="400050" lvl="1" indent="0">
              <a:buNone/>
            </a:pPr>
            <a:r>
              <a:rPr lang="en-US" b="1" dirty="0" smtClean="0">
                <a:latin typeface="Courier New"/>
                <a:cs typeface="Courier New"/>
              </a:rPr>
              <a:t>}</a:t>
            </a:r>
          </a:p>
          <a:p>
            <a:pPr eaLnBrk="1" hangingPunct="1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Semantics</a:t>
            </a:r>
            <a:r>
              <a:rPr lang="en-GB" dirty="0" smtClean="0">
                <a:latin typeface="Lucida Sans Unicode" charset="0"/>
                <a:cs typeface="Lucida Sans Unicode" charset="0"/>
              </a:rPr>
              <a:t>:</a:t>
            </a:r>
          </a:p>
          <a:p>
            <a:pPr lvl="1" eaLnBrk="1" hangingPunct="1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smtClean="0">
                <a:latin typeface="Lucida Sans Unicode" charset="0"/>
                <a:cs typeface="Lucida Sans Unicode" charset="0"/>
              </a:rPr>
              <a:t>Initially before the first element</a:t>
            </a:r>
          </a:p>
          <a:p>
            <a:pPr lvl="1" eaLnBrk="1" hangingPunct="1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 dirty="0" err="1" smtClean="0">
                <a:latin typeface="Courier New"/>
                <a:cs typeface="Courier New"/>
              </a:rPr>
              <a:t>hasNext</a:t>
            </a:r>
            <a:r>
              <a:rPr lang="en-GB" b="1" dirty="0" smtClean="0">
                <a:latin typeface="Courier New"/>
                <a:cs typeface="Courier New"/>
              </a:rPr>
              <a:t>()</a:t>
            </a:r>
            <a:r>
              <a:rPr lang="en-GB" dirty="0" smtClean="0">
                <a:latin typeface="Lucida Sans Unicode" charset="0"/>
                <a:cs typeface="Lucida Sans Unicode" charset="0"/>
              </a:rPr>
              <a:t> tells if a next element is present</a:t>
            </a:r>
          </a:p>
          <a:p>
            <a:pPr lvl="1" eaLnBrk="1" hangingPunct="1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 dirty="0" smtClean="0">
                <a:latin typeface="Courier New"/>
                <a:cs typeface="Courier New"/>
              </a:rPr>
              <a:t>next()</a:t>
            </a:r>
            <a:r>
              <a:rPr lang="en-GB" dirty="0" smtClean="0">
                <a:latin typeface="Lucida Sans Unicode" charset="0"/>
                <a:cs typeface="Lucida Sans Unicode" charset="0"/>
              </a:rPr>
              <a:t> returns the next element and advances by one position</a:t>
            </a:r>
            <a:endParaRPr lang="en-GB" dirty="0">
              <a:latin typeface="Lucida Sans Unicode" charset="0"/>
              <a:cs typeface="Lucida Sans Unicode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45637" y="6093296"/>
            <a:ext cx="5866610" cy="34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chemeClr val="tx1"/>
                </a:solidFill>
                <a:latin typeface="+mj-lt"/>
              </a:rPr>
              <a:t>Note: simplified version, actual declaration uses generics</a:t>
            </a:r>
          </a:p>
        </p:txBody>
      </p:sp>
    </p:spTree>
    <p:extLst>
      <p:ext uri="{BB962C8B-B14F-4D97-AF65-F5344CB8AC3E}">
        <p14:creationId xmlns:p14="http://schemas.microsoft.com/office/powerpoint/2010/main" val="43978375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539552" y="1268760"/>
            <a:ext cx="8208912" cy="51845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rgbClr val="E46C0A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360" tIns="44280" rIns="90360" bIns="44280" rtlCol="0" anchor="ctr"/>
          <a:lstStyle/>
          <a:p>
            <a:pPr algn="ctr"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000" b="1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Courier New"/>
                <a:cs typeface="Courier New"/>
              </a:rPr>
              <a:t>Iterable</a:t>
            </a:r>
            <a:r>
              <a:rPr lang="en-US" dirty="0" smtClean="0"/>
              <a:t>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latin typeface="Courier New"/>
                <a:cs typeface="Courier New"/>
              </a:rPr>
              <a:t>public class </a:t>
            </a:r>
            <a:r>
              <a:rPr lang="en-US" sz="2200" b="1" dirty="0" smtClean="0">
                <a:solidFill>
                  <a:srgbClr val="FF6600"/>
                </a:solidFill>
                <a:latin typeface="Courier New"/>
                <a:cs typeface="Courier New"/>
              </a:rPr>
              <a:t>Letters </a:t>
            </a:r>
            <a:r>
              <a:rPr lang="en-US" sz="2200" b="1" dirty="0">
                <a:latin typeface="Courier New"/>
                <a:cs typeface="Courier New"/>
              </a:rPr>
              <a:t>implements </a:t>
            </a:r>
            <a:r>
              <a:rPr lang="en-US" sz="2200" b="1" dirty="0" err="1">
                <a:latin typeface="Courier New"/>
                <a:cs typeface="Courier New"/>
              </a:rPr>
              <a:t>Iterable</a:t>
            </a:r>
            <a:r>
              <a:rPr lang="en-US" sz="2200" b="1" dirty="0">
                <a:latin typeface="Courier New"/>
                <a:cs typeface="Courier New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 smtClean="0">
                <a:latin typeface="Courier New"/>
                <a:cs typeface="Courier New"/>
              </a:rPr>
              <a:t>  char</a:t>
            </a:r>
            <a:r>
              <a:rPr lang="en-US" sz="2200" b="1" dirty="0">
                <a:latin typeface="Courier New"/>
                <a:cs typeface="Courier New"/>
              </a:rPr>
              <a:t>[] </a:t>
            </a:r>
            <a:r>
              <a:rPr lang="en-US" sz="2200" b="1" dirty="0" smtClean="0">
                <a:latin typeface="Courier New"/>
                <a:cs typeface="Courier New"/>
              </a:rPr>
              <a:t>chars;</a:t>
            </a:r>
            <a:endParaRPr lang="en-US" sz="2200" b="1" dirty="0">
              <a:latin typeface="Courier New"/>
              <a:cs typeface="Courier New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 smtClean="0">
                <a:latin typeface="Courier New"/>
                <a:cs typeface="Courier New"/>
              </a:rPr>
              <a:t>  public Letters(</a:t>
            </a:r>
            <a:r>
              <a:rPr lang="en-US" sz="2200" b="1" dirty="0">
                <a:latin typeface="Courier New"/>
                <a:cs typeface="Courier New"/>
              </a:rPr>
              <a:t>String s){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latin typeface="Courier New"/>
                <a:cs typeface="Courier New"/>
              </a:rPr>
              <a:t>		</a:t>
            </a:r>
            <a:r>
              <a:rPr lang="en-US" sz="2200" b="1" dirty="0" smtClean="0">
                <a:latin typeface="Courier New"/>
                <a:cs typeface="Courier New"/>
              </a:rPr>
              <a:t>chars = </a:t>
            </a:r>
            <a:r>
              <a:rPr lang="en-US" sz="2200" b="1" dirty="0" err="1">
                <a:latin typeface="Courier New"/>
                <a:cs typeface="Courier New"/>
              </a:rPr>
              <a:t>s.toCharArray</a:t>
            </a:r>
            <a:r>
              <a:rPr lang="en-US" sz="2200" b="1" dirty="0">
                <a:latin typeface="Courier New"/>
                <a:cs typeface="Courier New"/>
              </a:rPr>
              <a:t>()</a:t>
            </a:r>
            <a:r>
              <a:rPr lang="en-US" sz="2200" b="1" dirty="0" smtClean="0">
                <a:latin typeface="Courier New"/>
                <a:cs typeface="Courier New"/>
              </a:rPr>
              <a:t>; }</a:t>
            </a:r>
            <a:endParaRPr lang="en-US" sz="2200" b="1" dirty="0">
              <a:latin typeface="Courier New"/>
              <a:cs typeface="Courier New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 smtClean="0">
                <a:latin typeface="Courier New"/>
                <a:cs typeface="Courier New"/>
              </a:rPr>
              <a:t>  public </a:t>
            </a:r>
            <a:r>
              <a:rPr lang="en-US" sz="2200" b="1" dirty="0">
                <a:latin typeface="Courier New"/>
                <a:cs typeface="Courier New"/>
              </a:rPr>
              <a:t>Iterator </a:t>
            </a:r>
            <a:r>
              <a:rPr lang="en-US" sz="2200" b="1" dirty="0">
                <a:solidFill>
                  <a:srgbClr val="FF6600"/>
                </a:solidFill>
                <a:latin typeface="Courier New"/>
                <a:cs typeface="Courier New"/>
              </a:rPr>
              <a:t>iterator</a:t>
            </a:r>
            <a:r>
              <a:rPr lang="en-US" sz="2200" b="1" dirty="0">
                <a:latin typeface="Courier New"/>
                <a:cs typeface="Courier New"/>
              </a:rPr>
              <a:t>()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 smtClean="0">
                <a:latin typeface="Courier New"/>
                <a:cs typeface="Courier New"/>
              </a:rPr>
              <a:t>    return </a:t>
            </a:r>
            <a:r>
              <a:rPr lang="en-US" sz="2200" b="1" dirty="0">
                <a:latin typeface="Courier New"/>
                <a:cs typeface="Courier New"/>
              </a:rPr>
              <a:t>new </a:t>
            </a:r>
            <a:r>
              <a:rPr lang="en-US" sz="2200" b="1" dirty="0">
                <a:solidFill>
                  <a:srgbClr val="FF6600"/>
                </a:solidFill>
                <a:latin typeface="Courier New"/>
                <a:cs typeface="Courier New"/>
              </a:rPr>
              <a:t>Iterator</a:t>
            </a:r>
            <a:r>
              <a:rPr lang="en-US" sz="2200" b="1" dirty="0">
                <a:latin typeface="Courier New"/>
                <a:cs typeface="Courier New"/>
              </a:rPr>
              <a:t>()</a:t>
            </a:r>
            <a:r>
              <a:rPr lang="en-US" sz="2200" b="1" dirty="0" smtClean="0">
                <a:latin typeface="Courier New"/>
                <a:cs typeface="Courier New"/>
              </a:rPr>
              <a:t>{</a:t>
            </a:r>
            <a:endParaRPr lang="en-US" sz="2200" b="1" dirty="0">
              <a:latin typeface="Courier New"/>
              <a:cs typeface="Courier New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 smtClean="0">
                <a:latin typeface="Courier New"/>
                <a:cs typeface="Courier New"/>
              </a:rPr>
              <a:t>      private </a:t>
            </a:r>
            <a:r>
              <a:rPr lang="en-US" sz="2200" b="1" dirty="0" err="1">
                <a:latin typeface="Courier New"/>
                <a:cs typeface="Courier New"/>
              </a:rPr>
              <a:t>int</a:t>
            </a:r>
            <a:r>
              <a:rPr lang="en-US" sz="2200" b="1" dirty="0">
                <a:latin typeface="Courier New"/>
                <a:cs typeface="Courier New"/>
              </a:rPr>
              <a:t> </a:t>
            </a:r>
            <a:r>
              <a:rPr lang="en-US" sz="2200" b="1" dirty="0" err="1">
                <a:latin typeface="Courier New"/>
                <a:cs typeface="Courier New"/>
              </a:rPr>
              <a:t>i</a:t>
            </a:r>
            <a:r>
              <a:rPr lang="en-US" sz="2200" b="1" dirty="0">
                <a:latin typeface="Courier New"/>
                <a:cs typeface="Courier New"/>
              </a:rPr>
              <a:t>=0;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 smtClean="0">
                <a:latin typeface="Courier New"/>
                <a:cs typeface="Courier New"/>
              </a:rPr>
              <a:t>      public </a:t>
            </a:r>
            <a:r>
              <a:rPr lang="en-US" sz="2200" b="1" dirty="0" err="1">
                <a:latin typeface="Courier New"/>
                <a:cs typeface="Courier New"/>
              </a:rPr>
              <a:t>boolean</a:t>
            </a:r>
            <a:r>
              <a:rPr lang="en-US" sz="2200" b="1" dirty="0">
                <a:latin typeface="Courier New"/>
                <a:cs typeface="Courier New"/>
              </a:rPr>
              <a:t> </a:t>
            </a:r>
            <a:r>
              <a:rPr lang="en-US" sz="2200" b="1" dirty="0" err="1">
                <a:solidFill>
                  <a:srgbClr val="FF6600"/>
                </a:solidFill>
                <a:latin typeface="Courier New"/>
                <a:cs typeface="Courier New"/>
              </a:rPr>
              <a:t>hasNext</a:t>
            </a:r>
            <a:r>
              <a:rPr lang="en-US" sz="2200" b="1" dirty="0">
                <a:latin typeface="Courier New"/>
                <a:cs typeface="Courier New"/>
              </a:rPr>
              <a:t>(</a:t>
            </a:r>
            <a:r>
              <a:rPr lang="en-US" sz="2200" b="1" dirty="0" smtClean="0">
                <a:latin typeface="Courier New"/>
                <a:cs typeface="Courier New"/>
              </a:rPr>
              <a:t>){</a:t>
            </a:r>
            <a:endParaRPr lang="en-US" sz="2200" b="1" dirty="0">
              <a:latin typeface="Courier New"/>
              <a:cs typeface="Courier New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 smtClean="0">
                <a:latin typeface="Courier New"/>
                <a:cs typeface="Courier New"/>
              </a:rPr>
              <a:t>        return </a:t>
            </a:r>
            <a:r>
              <a:rPr lang="en-US" sz="2200" b="1" dirty="0" err="1">
                <a:latin typeface="Courier New"/>
                <a:cs typeface="Courier New"/>
              </a:rPr>
              <a:t>i</a:t>
            </a:r>
            <a:r>
              <a:rPr lang="en-US" sz="2200" b="1" dirty="0">
                <a:latin typeface="Courier New"/>
                <a:cs typeface="Courier New"/>
              </a:rPr>
              <a:t> &lt; </a:t>
            </a:r>
            <a:r>
              <a:rPr lang="en-US" sz="2200" b="1" dirty="0" err="1" smtClean="0">
                <a:latin typeface="Courier New"/>
                <a:cs typeface="Courier New"/>
              </a:rPr>
              <a:t>chars.length</a:t>
            </a:r>
            <a:r>
              <a:rPr lang="en-US" sz="2200" b="1" dirty="0">
                <a:latin typeface="Courier New"/>
                <a:cs typeface="Courier New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latin typeface="Courier New"/>
                <a:cs typeface="Courier New"/>
              </a:rPr>
              <a:t>		</a:t>
            </a:r>
            <a:r>
              <a:rPr lang="en-US" sz="2200" b="1" dirty="0" smtClean="0">
                <a:latin typeface="Courier New"/>
                <a:cs typeface="Courier New"/>
              </a:rPr>
              <a:t>}</a:t>
            </a:r>
            <a:endParaRPr lang="en-US" sz="2200" b="1" dirty="0">
              <a:latin typeface="Courier New"/>
              <a:cs typeface="Courier New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 smtClean="0">
                <a:latin typeface="Courier New"/>
                <a:cs typeface="Courier New"/>
              </a:rPr>
              <a:t>      public </a:t>
            </a:r>
            <a:r>
              <a:rPr lang="en-US" sz="2200" b="1" dirty="0">
                <a:latin typeface="Courier New"/>
                <a:cs typeface="Courier New"/>
              </a:rPr>
              <a:t>Object </a:t>
            </a:r>
            <a:r>
              <a:rPr lang="en-US" sz="2200" b="1" dirty="0">
                <a:solidFill>
                  <a:srgbClr val="FF6600"/>
                </a:solidFill>
                <a:latin typeface="Courier New"/>
                <a:cs typeface="Courier New"/>
              </a:rPr>
              <a:t>next</a:t>
            </a:r>
            <a:r>
              <a:rPr lang="en-US" sz="2200" b="1" dirty="0">
                <a:latin typeface="Courier New"/>
                <a:cs typeface="Courier New"/>
              </a:rPr>
              <a:t>()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 smtClean="0">
                <a:latin typeface="Courier New"/>
                <a:cs typeface="Courier New"/>
              </a:rPr>
              <a:t>        return </a:t>
            </a:r>
            <a:r>
              <a:rPr lang="en-US" sz="2200" b="1" dirty="0">
                <a:latin typeface="Courier New"/>
                <a:cs typeface="Courier New"/>
              </a:rPr>
              <a:t>new Character(</a:t>
            </a:r>
            <a:r>
              <a:rPr lang="en-US" sz="2200" b="1" dirty="0" smtClean="0">
                <a:latin typeface="Courier New"/>
                <a:cs typeface="Courier New"/>
              </a:rPr>
              <a:t>chars[</a:t>
            </a:r>
            <a:r>
              <a:rPr lang="en-US" sz="2200" b="1" dirty="0" err="1">
                <a:latin typeface="Courier New"/>
                <a:cs typeface="Courier New"/>
              </a:rPr>
              <a:t>i</a:t>
            </a:r>
            <a:r>
              <a:rPr lang="en-US" sz="2200" b="1" dirty="0">
                <a:latin typeface="Courier New"/>
                <a:cs typeface="Courier New"/>
              </a:rPr>
              <a:t>++]);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 smtClean="0">
                <a:latin typeface="Courier New"/>
                <a:cs typeface="Courier New"/>
              </a:rPr>
              <a:t>      }</a:t>
            </a:r>
            <a:endParaRPr lang="en-US" sz="2200" b="1" dirty="0">
              <a:latin typeface="Courier New"/>
              <a:cs typeface="Courier New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latin typeface="Courier New"/>
                <a:cs typeface="Courier New"/>
              </a:rPr>
              <a:t>	</a:t>
            </a:r>
            <a:r>
              <a:rPr lang="en-US" sz="2200" b="1" dirty="0" smtClean="0">
                <a:latin typeface="Courier New"/>
                <a:cs typeface="Courier New"/>
              </a:rPr>
              <a:t>  }</a:t>
            </a:r>
            <a:r>
              <a:rPr lang="en-US" sz="2200" b="1" dirty="0">
                <a:latin typeface="Courier New"/>
                <a:cs typeface="Courier New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 smtClean="0">
                <a:latin typeface="Courier New"/>
                <a:cs typeface="Courier New"/>
              </a:rPr>
              <a:t>} }</a:t>
            </a:r>
            <a:endParaRPr lang="en-US" sz="2200" b="1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418077761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539552" y="2348880"/>
            <a:ext cx="8208912" cy="27363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rgbClr val="E46C0A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360" tIns="44280" rIns="90360" bIns="44280" rtlCol="0" anchor="ctr"/>
          <a:lstStyle/>
          <a:p>
            <a:pPr algn="ctr"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000" b="1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Courier New"/>
                <a:cs typeface="Courier New"/>
              </a:rPr>
              <a:t>Iterable</a:t>
            </a:r>
            <a:r>
              <a:rPr lang="en-US" dirty="0"/>
              <a:t>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68760"/>
            <a:ext cx="8224838" cy="4799013"/>
          </a:xfrm>
        </p:spPr>
        <p:txBody>
          <a:bodyPr/>
          <a:lstStyle/>
          <a:p>
            <a:r>
              <a:rPr lang="en-US" dirty="0" smtClean="0"/>
              <a:t>Usage of an iterator with for-each</a:t>
            </a:r>
          </a:p>
          <a:p>
            <a:pPr lvl="2"/>
            <a:endParaRPr lang="en-US" dirty="0" smtClean="0"/>
          </a:p>
          <a:p>
            <a:pPr marL="365125" lvl="1" indent="-95250">
              <a:buNone/>
            </a:pPr>
            <a:r>
              <a:rPr lang="en-US" b="1" dirty="0" smtClean="0">
                <a:latin typeface="Courier New"/>
                <a:cs typeface="Courier New"/>
              </a:rPr>
              <a:t>Letters l </a:t>
            </a:r>
            <a:r>
              <a:rPr lang="en-US" b="1" dirty="0">
                <a:latin typeface="Courier New"/>
                <a:cs typeface="Courier New"/>
              </a:rPr>
              <a:t>= new </a:t>
            </a:r>
            <a:r>
              <a:rPr lang="en-US" b="1" dirty="0" smtClean="0">
                <a:latin typeface="Courier New"/>
                <a:cs typeface="Courier New"/>
              </a:rPr>
              <a:t>Letters("Sequence");</a:t>
            </a:r>
          </a:p>
          <a:p>
            <a:pPr marL="365125" lvl="1" indent="-95250">
              <a:buNone/>
            </a:pPr>
            <a:r>
              <a:rPr lang="en-US" b="1" dirty="0" smtClean="0">
                <a:latin typeface="Courier New"/>
                <a:cs typeface="Courier New"/>
              </a:rPr>
              <a:t>for(Object e : l){</a:t>
            </a:r>
          </a:p>
          <a:p>
            <a:pPr marL="365125" lvl="1" indent="-95250">
              <a:buNone/>
            </a:pP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 smtClean="0">
                <a:latin typeface="Courier New"/>
                <a:cs typeface="Courier New"/>
              </a:rPr>
              <a:t> char v = ((Character)e);</a:t>
            </a:r>
          </a:p>
          <a:p>
            <a:pPr marL="365125" lvl="1" indent="-95250">
              <a:buNone/>
            </a:pP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 smtClean="0">
                <a:latin typeface="Courier New"/>
                <a:cs typeface="Courier New"/>
              </a:rPr>
              <a:t> </a:t>
            </a:r>
            <a:r>
              <a:rPr lang="en-US" b="1" dirty="0" err="1" smtClean="0">
                <a:latin typeface="Courier New"/>
                <a:cs typeface="Courier New"/>
              </a:rPr>
              <a:t>System.out.println</a:t>
            </a:r>
            <a:r>
              <a:rPr lang="en-US" b="1" dirty="0" smtClean="0">
                <a:latin typeface="Courier New"/>
                <a:cs typeface="Courier New"/>
              </a:rPr>
              <a:t>(v);</a:t>
            </a:r>
          </a:p>
          <a:p>
            <a:pPr marL="365125" lvl="1" indent="-95250">
              <a:buNone/>
            </a:pPr>
            <a:r>
              <a:rPr lang="en-US" b="1" dirty="0" smtClean="0">
                <a:latin typeface="Courier New"/>
                <a:cs typeface="Courier New"/>
              </a:rPr>
              <a:t>}</a:t>
            </a:r>
            <a:endParaRPr lang="en-US" b="1" dirty="0">
              <a:latin typeface="Courier New"/>
              <a:cs typeface="Courier New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905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539552" y="1268760"/>
            <a:ext cx="8208912" cy="50405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rgbClr val="E46C0A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360" tIns="44280" rIns="90360" bIns="44280" rtlCol="0" anchor="ctr"/>
          <a:lstStyle/>
          <a:p>
            <a:pPr algn="ctr"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000" b="1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Courier New"/>
                <a:cs typeface="Courier New"/>
              </a:rPr>
              <a:t>Iterable</a:t>
            </a:r>
            <a:r>
              <a:rPr lang="en-US" dirty="0" smtClean="0"/>
              <a:t>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 smtClean="0">
                <a:latin typeface="Courier New"/>
                <a:cs typeface="Courier New"/>
              </a:rPr>
              <a:t>class </a:t>
            </a:r>
            <a:r>
              <a:rPr lang="en-US" sz="2200" b="1" dirty="0">
                <a:solidFill>
                  <a:srgbClr val="FF6600"/>
                </a:solidFill>
                <a:latin typeface="Courier New"/>
                <a:cs typeface="Courier New"/>
              </a:rPr>
              <a:t>Random</a:t>
            </a:r>
            <a:r>
              <a:rPr lang="en-US" sz="2200" b="1" dirty="0">
                <a:latin typeface="Courier New"/>
                <a:cs typeface="Courier New"/>
              </a:rPr>
              <a:t> implements </a:t>
            </a:r>
            <a:r>
              <a:rPr lang="en-US" sz="2200" b="1" dirty="0" err="1">
                <a:latin typeface="Courier New"/>
                <a:cs typeface="Courier New"/>
              </a:rPr>
              <a:t>Iterable</a:t>
            </a:r>
            <a:r>
              <a:rPr lang="en-US" sz="2200" b="1" dirty="0">
                <a:latin typeface="Courier New"/>
                <a:cs typeface="Courier New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latin typeface="Courier New"/>
                <a:cs typeface="Courier New"/>
              </a:rPr>
              <a:t> </a:t>
            </a:r>
            <a:r>
              <a:rPr lang="en-US" sz="2200" b="1" dirty="0" smtClean="0">
                <a:latin typeface="Courier New"/>
                <a:cs typeface="Courier New"/>
              </a:rPr>
              <a:t> private </a:t>
            </a:r>
            <a:r>
              <a:rPr lang="en-US" sz="2200" b="1" dirty="0" err="1">
                <a:latin typeface="Courier New"/>
                <a:cs typeface="Courier New"/>
              </a:rPr>
              <a:t>int</a:t>
            </a:r>
            <a:r>
              <a:rPr lang="en-US" sz="2200" b="1" dirty="0">
                <a:latin typeface="Courier New"/>
                <a:cs typeface="Courier New"/>
              </a:rPr>
              <a:t>[] values;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latin typeface="Courier New"/>
                <a:cs typeface="Courier New"/>
              </a:rPr>
              <a:t> </a:t>
            </a:r>
            <a:r>
              <a:rPr lang="en-US" sz="2200" b="1" dirty="0" smtClean="0">
                <a:latin typeface="Courier New"/>
                <a:cs typeface="Courier New"/>
              </a:rPr>
              <a:t> public </a:t>
            </a:r>
            <a:r>
              <a:rPr lang="en-US" sz="2200" b="1" dirty="0">
                <a:latin typeface="Courier New"/>
                <a:cs typeface="Courier New"/>
              </a:rPr>
              <a:t>Random(</a:t>
            </a:r>
            <a:r>
              <a:rPr lang="en-US" sz="2200" b="1" dirty="0" err="1">
                <a:latin typeface="Courier New"/>
                <a:cs typeface="Courier New"/>
              </a:rPr>
              <a:t>int</a:t>
            </a:r>
            <a:r>
              <a:rPr lang="en-US" sz="2200" b="1" dirty="0">
                <a:latin typeface="Courier New"/>
                <a:cs typeface="Courier New"/>
              </a:rPr>
              <a:t> n</a:t>
            </a:r>
            <a:r>
              <a:rPr lang="en-US" sz="2200" b="1" dirty="0" smtClean="0">
                <a:latin typeface="Courier New"/>
                <a:cs typeface="Courier New"/>
              </a:rPr>
              <a:t>, </a:t>
            </a:r>
            <a:r>
              <a:rPr lang="en-US" sz="2200" b="1" dirty="0" err="1" smtClean="0">
                <a:latin typeface="Courier New"/>
                <a:cs typeface="Courier New"/>
              </a:rPr>
              <a:t>int</a:t>
            </a:r>
            <a:r>
              <a:rPr lang="en-US" sz="2200" b="1" dirty="0" smtClean="0">
                <a:latin typeface="Courier New"/>
                <a:cs typeface="Courier New"/>
              </a:rPr>
              <a:t> </a:t>
            </a:r>
            <a:r>
              <a:rPr lang="en-US" sz="2200" b="1" dirty="0">
                <a:latin typeface="Courier New"/>
                <a:cs typeface="Courier New"/>
              </a:rPr>
              <a:t>min, </a:t>
            </a:r>
            <a:r>
              <a:rPr lang="en-US" sz="2200" b="1" dirty="0" err="1">
                <a:latin typeface="Courier New"/>
                <a:cs typeface="Courier New"/>
              </a:rPr>
              <a:t>int</a:t>
            </a:r>
            <a:r>
              <a:rPr lang="en-US" sz="2200" b="1" dirty="0">
                <a:latin typeface="Courier New"/>
                <a:cs typeface="Courier New"/>
              </a:rPr>
              <a:t> max)</a:t>
            </a:r>
            <a:r>
              <a:rPr lang="en-US" sz="2200" b="1" dirty="0" smtClean="0">
                <a:latin typeface="Courier New"/>
                <a:cs typeface="Courier New"/>
              </a:rPr>
              <a:t>{ … </a:t>
            </a:r>
            <a:r>
              <a:rPr lang="fr-FR" sz="2200" b="1" dirty="0" smtClean="0">
                <a:latin typeface="Courier New"/>
                <a:cs typeface="Courier New"/>
              </a:rPr>
              <a:t>}</a:t>
            </a:r>
            <a:endParaRPr lang="fr-FR" sz="2200" b="1" dirty="0">
              <a:latin typeface="Courier New"/>
              <a:cs typeface="Courier New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latin typeface="Courier New"/>
                <a:cs typeface="Courier New"/>
              </a:rPr>
              <a:t> </a:t>
            </a:r>
            <a:r>
              <a:rPr lang="en-US" sz="2200" b="1" dirty="0" smtClean="0">
                <a:latin typeface="Courier New"/>
                <a:cs typeface="Courier New"/>
              </a:rPr>
              <a:t> </a:t>
            </a:r>
            <a:r>
              <a:rPr lang="fr-FR" sz="2200" b="1" dirty="0" smtClean="0">
                <a:latin typeface="Courier New"/>
                <a:cs typeface="Courier New"/>
              </a:rPr>
              <a:t>class </a:t>
            </a:r>
            <a:r>
              <a:rPr lang="fr-FR" sz="2200" b="1" dirty="0" err="1">
                <a:solidFill>
                  <a:srgbClr val="FF6600"/>
                </a:solidFill>
                <a:latin typeface="Courier New"/>
                <a:cs typeface="Courier New"/>
              </a:rPr>
              <a:t>RIterator</a:t>
            </a:r>
            <a:r>
              <a:rPr lang="fr-FR" sz="2200" b="1" dirty="0">
                <a:solidFill>
                  <a:srgbClr val="FF6600"/>
                </a:solidFill>
                <a:latin typeface="Courier New"/>
                <a:cs typeface="Courier New"/>
              </a:rPr>
              <a:t> </a:t>
            </a:r>
            <a:r>
              <a:rPr lang="fr-FR" sz="2200" b="1" dirty="0" err="1">
                <a:latin typeface="Courier New"/>
                <a:cs typeface="Courier New"/>
              </a:rPr>
              <a:t>implements</a:t>
            </a:r>
            <a:r>
              <a:rPr lang="fr-FR" sz="2200" b="1" dirty="0">
                <a:latin typeface="Courier New"/>
                <a:cs typeface="Courier New"/>
              </a:rPr>
              <a:t> </a:t>
            </a:r>
            <a:r>
              <a:rPr lang="fr-FR" sz="2200" b="1" dirty="0" err="1">
                <a:latin typeface="Courier New"/>
                <a:cs typeface="Courier New"/>
              </a:rPr>
              <a:t>Iterator</a:t>
            </a:r>
            <a:r>
              <a:rPr lang="fr-FR" sz="2200" b="1" dirty="0">
                <a:latin typeface="Courier New"/>
                <a:cs typeface="Courier New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200" b="1" dirty="0">
                <a:latin typeface="Courier New"/>
                <a:cs typeface="Courier New"/>
              </a:rPr>
              <a:t> </a:t>
            </a:r>
            <a:r>
              <a:rPr lang="fr-FR" sz="2200" b="1" dirty="0" smtClean="0">
                <a:latin typeface="Courier New"/>
                <a:cs typeface="Courier New"/>
              </a:rPr>
              <a:t>   </a:t>
            </a:r>
            <a:r>
              <a:rPr lang="fr-FR" sz="2200" b="1" dirty="0" err="1" smtClean="0">
                <a:latin typeface="Courier New"/>
                <a:cs typeface="Courier New"/>
              </a:rPr>
              <a:t>private</a:t>
            </a:r>
            <a:r>
              <a:rPr lang="fr-FR" sz="2200" b="1" dirty="0" smtClean="0">
                <a:latin typeface="Courier New"/>
                <a:cs typeface="Courier New"/>
              </a:rPr>
              <a:t> </a:t>
            </a:r>
            <a:r>
              <a:rPr lang="fr-FR" sz="2200" b="1" dirty="0" err="1">
                <a:latin typeface="Courier New"/>
                <a:cs typeface="Courier New"/>
              </a:rPr>
              <a:t>int</a:t>
            </a:r>
            <a:r>
              <a:rPr lang="fr-FR" sz="2200" b="1" dirty="0">
                <a:latin typeface="Courier New"/>
                <a:cs typeface="Courier New"/>
              </a:rPr>
              <a:t> </a:t>
            </a:r>
            <a:r>
              <a:rPr lang="fr-FR" sz="2200" b="1" dirty="0" err="1" smtClean="0">
                <a:latin typeface="Courier New"/>
                <a:cs typeface="Courier New"/>
              </a:rPr>
              <a:t>next</a:t>
            </a:r>
            <a:r>
              <a:rPr lang="fr-FR" sz="2200" b="1" dirty="0" smtClean="0">
                <a:latin typeface="Courier New"/>
                <a:cs typeface="Courier New"/>
              </a:rPr>
              <a:t>=</a:t>
            </a:r>
            <a:r>
              <a:rPr lang="fr-FR" sz="2200" b="1" dirty="0">
                <a:latin typeface="Courier New"/>
                <a:cs typeface="Courier New"/>
              </a:rPr>
              <a:t>0;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200" b="1" dirty="0">
                <a:latin typeface="Courier New"/>
                <a:cs typeface="Courier New"/>
              </a:rPr>
              <a:t> </a:t>
            </a:r>
            <a:r>
              <a:rPr lang="fr-FR" sz="2200" b="1" dirty="0" smtClean="0">
                <a:latin typeface="Courier New"/>
                <a:cs typeface="Courier New"/>
              </a:rPr>
              <a:t>   public </a:t>
            </a:r>
            <a:r>
              <a:rPr lang="fr-FR" sz="2200" b="1" dirty="0" err="1">
                <a:latin typeface="Courier New"/>
                <a:cs typeface="Courier New"/>
              </a:rPr>
              <a:t>boolean</a:t>
            </a:r>
            <a:r>
              <a:rPr lang="fr-FR" sz="2200" b="1" dirty="0">
                <a:latin typeface="Courier New"/>
                <a:cs typeface="Courier New"/>
              </a:rPr>
              <a:t> </a:t>
            </a:r>
            <a:r>
              <a:rPr lang="fr-FR" sz="2200" b="1" dirty="0" err="1">
                <a:solidFill>
                  <a:srgbClr val="FF6600"/>
                </a:solidFill>
                <a:latin typeface="Courier New"/>
                <a:cs typeface="Courier New"/>
              </a:rPr>
              <a:t>hasNext</a:t>
            </a:r>
            <a:r>
              <a:rPr lang="fr-FR" sz="2200" b="1" dirty="0">
                <a:latin typeface="Courier New"/>
                <a:cs typeface="Courier New"/>
              </a:rPr>
              <a:t>() { </a:t>
            </a:r>
            <a:endParaRPr lang="fr-FR" sz="2200" b="1" dirty="0" smtClean="0">
              <a:latin typeface="Courier New"/>
              <a:cs typeface="Courier New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200" b="1" dirty="0">
                <a:latin typeface="Courier New"/>
                <a:cs typeface="Courier New"/>
              </a:rPr>
              <a:t>	</a:t>
            </a:r>
            <a:r>
              <a:rPr lang="fr-FR" sz="2200" b="1" dirty="0" smtClean="0">
                <a:latin typeface="Courier New"/>
                <a:cs typeface="Courier New"/>
              </a:rPr>
              <a:t>		return </a:t>
            </a:r>
            <a:r>
              <a:rPr lang="fr-FR" sz="2200" b="1" dirty="0" err="1" smtClean="0">
                <a:latin typeface="Courier New"/>
                <a:cs typeface="Courier New"/>
              </a:rPr>
              <a:t>next</a:t>
            </a:r>
            <a:r>
              <a:rPr lang="fr-FR" sz="2200" b="1" dirty="0" smtClean="0">
                <a:latin typeface="Courier New"/>
                <a:cs typeface="Courier New"/>
              </a:rPr>
              <a:t> &lt; </a:t>
            </a:r>
            <a:r>
              <a:rPr lang="fr-FR" sz="2200" b="1" dirty="0" err="1" smtClean="0">
                <a:latin typeface="Courier New"/>
                <a:cs typeface="Courier New"/>
              </a:rPr>
              <a:t>values.length</a:t>
            </a:r>
            <a:r>
              <a:rPr lang="fr-FR" sz="2200" b="1" dirty="0">
                <a:latin typeface="Courier New"/>
                <a:cs typeface="Courier New"/>
              </a:rPr>
              <a:t>;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200" b="1" dirty="0">
                <a:latin typeface="Courier New"/>
                <a:cs typeface="Courier New"/>
              </a:rPr>
              <a:t> </a:t>
            </a:r>
            <a:r>
              <a:rPr lang="fr-FR" sz="2200" b="1" dirty="0" smtClean="0">
                <a:latin typeface="Courier New"/>
                <a:cs typeface="Courier New"/>
              </a:rPr>
              <a:t>   public </a:t>
            </a:r>
            <a:r>
              <a:rPr lang="fr-FR" sz="2200" b="1" dirty="0">
                <a:latin typeface="Courier New"/>
                <a:cs typeface="Courier New"/>
              </a:rPr>
              <a:t>Object </a:t>
            </a:r>
            <a:r>
              <a:rPr lang="fr-FR" sz="2200" b="1" dirty="0" err="1">
                <a:solidFill>
                  <a:srgbClr val="FF6600"/>
                </a:solidFill>
                <a:latin typeface="Courier New"/>
                <a:cs typeface="Courier New"/>
              </a:rPr>
              <a:t>next</a:t>
            </a:r>
            <a:r>
              <a:rPr lang="fr-FR" sz="2200" b="1" dirty="0">
                <a:latin typeface="Courier New"/>
                <a:cs typeface="Courier New"/>
              </a:rPr>
              <a:t>() { </a:t>
            </a:r>
            <a:endParaRPr lang="fr-FR" sz="2200" b="1" dirty="0" smtClean="0">
              <a:latin typeface="Courier New"/>
              <a:cs typeface="Courier New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200" b="1" dirty="0">
                <a:latin typeface="Courier New"/>
                <a:cs typeface="Courier New"/>
              </a:rPr>
              <a:t>	</a:t>
            </a:r>
            <a:r>
              <a:rPr lang="fr-FR" sz="2200" b="1" dirty="0" smtClean="0">
                <a:latin typeface="Courier New"/>
                <a:cs typeface="Courier New"/>
              </a:rPr>
              <a:t>		return </a:t>
            </a:r>
            <a:r>
              <a:rPr lang="fr-FR" sz="2200" b="1" dirty="0">
                <a:latin typeface="Courier New"/>
                <a:cs typeface="Courier New"/>
              </a:rPr>
              <a:t>new </a:t>
            </a:r>
            <a:r>
              <a:rPr lang="fr-FR" sz="2200" b="1" dirty="0" err="1">
                <a:latin typeface="Courier New"/>
                <a:cs typeface="Courier New"/>
              </a:rPr>
              <a:t>Integer</a:t>
            </a:r>
            <a:r>
              <a:rPr lang="fr-FR" sz="2200" b="1" dirty="0">
                <a:latin typeface="Courier New"/>
                <a:cs typeface="Courier New"/>
              </a:rPr>
              <a:t>(values</a:t>
            </a:r>
            <a:r>
              <a:rPr lang="fr-FR" sz="2200" b="1" dirty="0" smtClean="0">
                <a:latin typeface="Courier New"/>
                <a:cs typeface="Courier New"/>
              </a:rPr>
              <a:t>[</a:t>
            </a:r>
            <a:r>
              <a:rPr lang="fr-FR" sz="2200" b="1" dirty="0" err="1" smtClean="0">
                <a:latin typeface="Courier New"/>
                <a:cs typeface="Courier New"/>
              </a:rPr>
              <a:t>next</a:t>
            </a:r>
            <a:r>
              <a:rPr lang="fr-FR" sz="2200" b="1" dirty="0" smtClean="0">
                <a:latin typeface="Courier New"/>
                <a:cs typeface="Courier New"/>
              </a:rPr>
              <a:t>++</a:t>
            </a:r>
            <a:r>
              <a:rPr lang="fr-FR" sz="2200" b="1" dirty="0">
                <a:latin typeface="Courier New"/>
                <a:cs typeface="Courier New"/>
              </a:rPr>
              <a:t>])</a:t>
            </a:r>
            <a:r>
              <a:rPr lang="fr-FR" sz="2200" b="1" dirty="0" smtClean="0">
                <a:latin typeface="Courier New"/>
                <a:cs typeface="Courier New"/>
              </a:rPr>
              <a:t>;}</a:t>
            </a:r>
            <a:endParaRPr lang="fr-FR" sz="2200" b="1" dirty="0">
              <a:latin typeface="Courier New"/>
              <a:cs typeface="Courier New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200" b="1" dirty="0">
                <a:latin typeface="Courier New"/>
                <a:cs typeface="Courier New"/>
              </a:rPr>
              <a:t> </a:t>
            </a:r>
            <a:r>
              <a:rPr lang="fr-FR" sz="2200" b="1" dirty="0" smtClean="0">
                <a:latin typeface="Courier New"/>
                <a:cs typeface="Courier New"/>
              </a:rPr>
              <a:t> }</a:t>
            </a:r>
            <a:endParaRPr lang="fr-FR" sz="2200" b="1" dirty="0">
              <a:latin typeface="Courier New"/>
              <a:cs typeface="Courier New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200" b="1" dirty="0">
                <a:latin typeface="Courier New"/>
                <a:cs typeface="Courier New"/>
              </a:rPr>
              <a:t> </a:t>
            </a:r>
            <a:r>
              <a:rPr lang="fr-FR" sz="2200" b="1" dirty="0" smtClean="0">
                <a:latin typeface="Courier New"/>
                <a:cs typeface="Courier New"/>
              </a:rPr>
              <a:t> public </a:t>
            </a:r>
            <a:r>
              <a:rPr lang="fr-FR" sz="2200" b="1" dirty="0" err="1">
                <a:latin typeface="Courier New"/>
                <a:cs typeface="Courier New"/>
              </a:rPr>
              <a:t>Iterator</a:t>
            </a:r>
            <a:r>
              <a:rPr lang="fr-FR" sz="2200" b="1" dirty="0">
                <a:latin typeface="Courier New"/>
                <a:cs typeface="Courier New"/>
              </a:rPr>
              <a:t> </a:t>
            </a:r>
            <a:r>
              <a:rPr lang="fr-FR" sz="2200" b="1" dirty="0" err="1">
                <a:solidFill>
                  <a:srgbClr val="FF6600"/>
                </a:solidFill>
                <a:latin typeface="Courier New"/>
                <a:cs typeface="Courier New"/>
              </a:rPr>
              <a:t>iterator</a:t>
            </a:r>
            <a:r>
              <a:rPr lang="fr-FR" sz="2200" b="1" dirty="0">
                <a:latin typeface="Courier New"/>
                <a:cs typeface="Courier New"/>
              </a:rPr>
              <a:t>()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200" b="1" dirty="0">
                <a:latin typeface="Courier New"/>
                <a:cs typeface="Courier New"/>
              </a:rPr>
              <a:t> </a:t>
            </a:r>
            <a:r>
              <a:rPr lang="fr-FR" sz="2200" b="1" dirty="0" smtClean="0">
                <a:latin typeface="Courier New"/>
                <a:cs typeface="Courier New"/>
              </a:rPr>
              <a:t>   return </a:t>
            </a:r>
            <a:r>
              <a:rPr lang="fr-FR" sz="2200" b="1" dirty="0">
                <a:latin typeface="Courier New"/>
                <a:cs typeface="Courier New"/>
              </a:rPr>
              <a:t>new </a:t>
            </a:r>
            <a:r>
              <a:rPr lang="fr-FR" sz="2200" b="1" dirty="0" err="1">
                <a:latin typeface="Courier New"/>
                <a:cs typeface="Courier New"/>
              </a:rPr>
              <a:t>RIterator</a:t>
            </a:r>
            <a:r>
              <a:rPr lang="fr-FR" sz="2200" b="1" dirty="0">
                <a:latin typeface="Courier New"/>
                <a:cs typeface="Courier New"/>
              </a:rPr>
              <a:t>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200" b="1" dirty="0">
                <a:latin typeface="Courier New"/>
                <a:cs typeface="Courier New"/>
              </a:rPr>
              <a:t> </a:t>
            </a:r>
            <a:r>
              <a:rPr lang="fr-FR" sz="2200" b="1" dirty="0" smtClean="0">
                <a:latin typeface="Courier New"/>
                <a:cs typeface="Courier New"/>
              </a:rPr>
              <a:t> }</a:t>
            </a:r>
            <a:endParaRPr lang="fr-FR" sz="2200" b="1" dirty="0">
              <a:latin typeface="Courier New"/>
              <a:cs typeface="Courier New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200" b="1" dirty="0" smtClean="0">
                <a:latin typeface="Courier New"/>
                <a:cs typeface="Courier New"/>
              </a:rPr>
              <a:t>}</a:t>
            </a:r>
            <a:endParaRPr lang="fr-FR" sz="2200" b="1" dirty="0">
              <a:latin typeface="Courier New"/>
              <a:cs typeface="Courier New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200" b="1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1121754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539552" y="2348880"/>
            <a:ext cx="8208912" cy="27363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rgbClr val="E46C0A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360" tIns="44280" rIns="90360" bIns="44280" rtlCol="0" anchor="ctr"/>
          <a:lstStyle/>
          <a:p>
            <a:pPr algn="ctr"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000" b="1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Courier New"/>
                <a:cs typeface="Courier New"/>
              </a:rPr>
              <a:t>Iterable</a:t>
            </a:r>
            <a:r>
              <a:rPr lang="en-US" dirty="0"/>
              <a:t>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68760"/>
            <a:ext cx="8224838" cy="4799013"/>
          </a:xfrm>
        </p:spPr>
        <p:txBody>
          <a:bodyPr/>
          <a:lstStyle/>
          <a:p>
            <a:r>
              <a:rPr lang="en-US" dirty="0" smtClean="0"/>
              <a:t>Usage of an iterator with for-each</a:t>
            </a:r>
          </a:p>
          <a:p>
            <a:pPr lvl="2"/>
            <a:endParaRPr lang="en-US" dirty="0" smtClean="0"/>
          </a:p>
          <a:p>
            <a:pPr marL="400050" lvl="1" indent="0">
              <a:buNone/>
            </a:pPr>
            <a:r>
              <a:rPr lang="en-US" b="1" dirty="0" smtClean="0">
                <a:latin typeface="Courier New"/>
                <a:cs typeface="Courier New"/>
              </a:rPr>
              <a:t>Random </a:t>
            </a:r>
            <a:r>
              <a:rPr lang="en-US" b="1" dirty="0" err="1">
                <a:latin typeface="Courier New"/>
                <a:cs typeface="Courier New"/>
              </a:rPr>
              <a:t>seq</a:t>
            </a:r>
            <a:r>
              <a:rPr lang="en-US" b="1" dirty="0">
                <a:latin typeface="Courier New"/>
                <a:cs typeface="Courier New"/>
              </a:rPr>
              <a:t> = new Random(</a:t>
            </a:r>
            <a:r>
              <a:rPr lang="en-US" b="1" dirty="0" smtClean="0">
                <a:latin typeface="Courier New"/>
                <a:cs typeface="Courier New"/>
              </a:rPr>
              <a:t>10,5,10</a:t>
            </a:r>
            <a:r>
              <a:rPr lang="en-US" b="1" dirty="0">
                <a:latin typeface="Courier New"/>
                <a:cs typeface="Courier New"/>
              </a:rPr>
              <a:t>)</a:t>
            </a:r>
            <a:r>
              <a:rPr lang="en-US" b="1" dirty="0" smtClean="0">
                <a:latin typeface="Courier New"/>
                <a:cs typeface="Courier New"/>
              </a:rPr>
              <a:t>;</a:t>
            </a:r>
          </a:p>
          <a:p>
            <a:pPr marL="400050" lvl="1" indent="0">
              <a:buNone/>
            </a:pPr>
            <a:r>
              <a:rPr lang="en-US" b="1" dirty="0" smtClean="0">
                <a:latin typeface="Courier New"/>
                <a:cs typeface="Courier New"/>
              </a:rPr>
              <a:t>for(Object e : </a:t>
            </a:r>
            <a:r>
              <a:rPr lang="en-US" b="1" dirty="0" err="1" smtClean="0">
                <a:latin typeface="Courier New"/>
                <a:cs typeface="Courier New"/>
              </a:rPr>
              <a:t>seq</a:t>
            </a:r>
            <a:r>
              <a:rPr lang="en-US" b="1" dirty="0" smtClean="0">
                <a:latin typeface="Courier New"/>
                <a:cs typeface="Courier New"/>
              </a:rPr>
              <a:t>){</a:t>
            </a:r>
          </a:p>
          <a:p>
            <a:pPr marL="400050" lvl="1" indent="0">
              <a:buNone/>
            </a:pP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 smtClean="0">
                <a:latin typeface="Courier New"/>
                <a:cs typeface="Courier New"/>
              </a:rPr>
              <a:t> </a:t>
            </a:r>
            <a:r>
              <a:rPr lang="en-US" b="1" dirty="0" err="1" smtClean="0">
                <a:latin typeface="Courier New"/>
                <a:cs typeface="Courier New"/>
              </a:rPr>
              <a:t>int</a:t>
            </a:r>
            <a:r>
              <a:rPr lang="en-US" b="1" dirty="0" smtClean="0">
                <a:latin typeface="Courier New"/>
                <a:cs typeface="Courier New"/>
              </a:rPr>
              <a:t> v = ((Integer)e).</a:t>
            </a:r>
            <a:r>
              <a:rPr lang="en-US" b="1" dirty="0" err="1" smtClean="0">
                <a:latin typeface="Courier New"/>
                <a:cs typeface="Courier New"/>
              </a:rPr>
              <a:t>intValue</a:t>
            </a:r>
            <a:r>
              <a:rPr lang="en-US" b="1" dirty="0" smtClean="0">
                <a:latin typeface="Courier New"/>
                <a:cs typeface="Courier New"/>
              </a:rPr>
              <a:t>();</a:t>
            </a:r>
          </a:p>
          <a:p>
            <a:pPr marL="400050" lvl="1" indent="0">
              <a:buNone/>
            </a:pP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 smtClean="0">
                <a:latin typeface="Courier New"/>
                <a:cs typeface="Courier New"/>
              </a:rPr>
              <a:t> </a:t>
            </a:r>
            <a:r>
              <a:rPr lang="en-US" b="1" dirty="0" err="1" smtClean="0">
                <a:latin typeface="Courier New"/>
                <a:cs typeface="Courier New"/>
              </a:rPr>
              <a:t>System.out.println</a:t>
            </a:r>
            <a:r>
              <a:rPr lang="en-US" b="1" dirty="0" smtClean="0">
                <a:latin typeface="Courier New"/>
                <a:cs typeface="Courier New"/>
              </a:rPr>
              <a:t>(v);</a:t>
            </a:r>
          </a:p>
          <a:p>
            <a:pPr marL="400050" lvl="1" indent="0">
              <a:buNone/>
            </a:pPr>
            <a:r>
              <a:rPr lang="en-US" b="1" dirty="0" smtClean="0">
                <a:latin typeface="Courier New"/>
                <a:cs typeface="Courier New"/>
              </a:rPr>
              <a:t>}</a:t>
            </a:r>
            <a:endParaRPr lang="en-US" b="1" dirty="0">
              <a:latin typeface="Courier New"/>
              <a:cs typeface="Courier New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88054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Iterator pattern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Context</a:t>
            </a:r>
          </a:p>
          <a:p>
            <a:pPr lvl="1"/>
            <a:r>
              <a:rPr lang="en-US" dirty="0" smtClean="0"/>
              <a:t>A collection of objects has to be iterated</a:t>
            </a:r>
          </a:p>
          <a:p>
            <a:r>
              <a:rPr lang="en-US" dirty="0" smtClean="0"/>
              <a:t>Problem</a:t>
            </a:r>
          </a:p>
          <a:p>
            <a:pPr lvl="1"/>
            <a:r>
              <a:rPr lang="en-US" dirty="0" smtClean="0"/>
              <a:t>Multiple concurrent iterations are required</a:t>
            </a:r>
          </a:p>
          <a:p>
            <a:pPr lvl="1"/>
            <a:r>
              <a:rPr lang="en-US" dirty="0" smtClean="0"/>
              <a:t>The internal storage must not be exposed</a:t>
            </a:r>
          </a:p>
          <a:p>
            <a:r>
              <a:rPr lang="en-US" dirty="0" smtClean="0"/>
              <a:t>Solution</a:t>
            </a:r>
          </a:p>
          <a:p>
            <a:pPr lvl="1"/>
            <a:r>
              <a:rPr lang="en-US" dirty="0" smtClean="0"/>
              <a:t>Provide an iterator object, attached to the collection, that can be advanced independently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814330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Behavioral parameterization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400" b="1" dirty="0" smtClean="0">
              <a:latin typeface="Courier New"/>
              <a:cs typeface="Courier New"/>
            </a:endParaRPr>
          </a:p>
          <a:p>
            <a:pPr marL="0" indent="0">
              <a:buNone/>
            </a:pPr>
            <a:endParaRPr lang="en-US" sz="2400" b="1" dirty="0">
              <a:latin typeface="Courier New"/>
              <a:cs typeface="Courier New"/>
            </a:endParaRPr>
          </a:p>
          <a:p>
            <a:pPr marL="0" indent="0">
              <a:buNone/>
            </a:pPr>
            <a:endParaRPr lang="en-US" sz="2400" b="1" dirty="0" smtClean="0">
              <a:latin typeface="Courier New"/>
              <a:cs typeface="Courier New"/>
            </a:endParaRPr>
          </a:p>
          <a:p>
            <a:pPr marL="0" indent="0">
              <a:buNone/>
            </a:pPr>
            <a:endParaRPr lang="en-US" sz="2400" b="1" dirty="0" smtClean="0"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2400" b="1" dirty="0" smtClean="0">
                <a:latin typeface="Courier New"/>
                <a:cs typeface="Courier New"/>
              </a:rPr>
              <a:t>String[] v = {"A</a:t>
            </a:r>
            <a:r>
              <a:rPr lang="en-US" sz="2400" b="1" dirty="0">
                <a:latin typeface="Courier New"/>
                <a:cs typeface="Courier New"/>
              </a:rPr>
              <a:t>", </a:t>
            </a:r>
            <a:r>
              <a:rPr lang="en-US" sz="2400" b="1" dirty="0" smtClean="0">
                <a:latin typeface="Courier New"/>
                <a:cs typeface="Courier New"/>
              </a:rPr>
              <a:t>"B",</a:t>
            </a:r>
            <a:r>
              <a:rPr lang="en-US" sz="2400" b="1" dirty="0">
                <a:latin typeface="Courier New"/>
                <a:cs typeface="Courier New"/>
              </a:rPr>
              <a:t> </a:t>
            </a:r>
            <a:r>
              <a:rPr lang="en-US" sz="2400" b="1" dirty="0" smtClean="0">
                <a:latin typeface="Courier New"/>
                <a:cs typeface="Courier New"/>
              </a:rPr>
              <a:t>"C",</a:t>
            </a:r>
            <a:r>
              <a:rPr lang="en-US" sz="2400" b="1" dirty="0">
                <a:latin typeface="Courier New"/>
                <a:cs typeface="Courier New"/>
              </a:rPr>
              <a:t> </a:t>
            </a:r>
            <a:r>
              <a:rPr lang="en-US" sz="2400" b="1" dirty="0" smtClean="0">
                <a:latin typeface="Courier New"/>
                <a:cs typeface="Courier New"/>
              </a:rPr>
              <a:t>"D</a:t>
            </a:r>
            <a:r>
              <a:rPr lang="en-US" sz="2400" b="1" dirty="0">
                <a:latin typeface="Courier New"/>
                <a:cs typeface="Courier New"/>
              </a:rPr>
              <a:t>"</a:t>
            </a:r>
            <a:r>
              <a:rPr lang="en-US" sz="2400" b="1" dirty="0" smtClean="0">
                <a:latin typeface="Courier New"/>
                <a:cs typeface="Courier New"/>
              </a:rPr>
              <a:t>};</a:t>
            </a:r>
            <a:br>
              <a:rPr lang="en-US" sz="2400" b="1" dirty="0" smtClean="0">
                <a:latin typeface="Courier New"/>
                <a:cs typeface="Courier New"/>
              </a:rPr>
            </a:br>
            <a:r>
              <a:rPr lang="en-US" sz="2400" b="1" dirty="0" smtClean="0">
                <a:latin typeface="Courier New"/>
                <a:cs typeface="Courier New"/>
              </a:rPr>
              <a:t>Processor printer = new Printer();</a:t>
            </a:r>
            <a:br>
              <a:rPr lang="en-US" sz="2400" b="1" dirty="0" smtClean="0">
                <a:latin typeface="Courier New"/>
                <a:cs typeface="Courier New"/>
              </a:rPr>
            </a:br>
            <a:r>
              <a:rPr lang="en-US" sz="2400" b="1" dirty="0" smtClean="0">
                <a:latin typeface="Courier New"/>
                <a:cs typeface="Courier New"/>
              </a:rPr>
              <a:t>process(v, printer);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323528" y="1124744"/>
            <a:ext cx="7416824" cy="19442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360" tIns="44280" rIns="90360" bIns="4428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void process(Object[] v, Processor p){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  for(Object o : v){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    </a:t>
            </a:r>
            <a:r>
              <a:rPr lang="en-US" b="1" dirty="0" err="1">
                <a:solidFill>
                  <a:schemeClr val="tx1"/>
                </a:solidFill>
                <a:latin typeface="Courier New"/>
                <a:cs typeface="Courier New"/>
              </a:rPr>
              <a:t>p.handle</a:t>
            </a:r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(o</a:t>
            </a:r>
            <a:r>
              <a:rPr lang="en-US" b="1" dirty="0" smtClean="0">
                <a:solidFill>
                  <a:schemeClr val="tx1"/>
                </a:solidFill>
                <a:latin typeface="Courier New"/>
                <a:cs typeface="Courier New"/>
              </a:rPr>
              <a:t>);</a:t>
            </a:r>
            <a:endParaRPr lang="en-US" b="1" dirty="0">
              <a:solidFill>
                <a:schemeClr val="tx1"/>
              </a:solidFill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  }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}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3635896" y="1988840"/>
            <a:ext cx="5328592" cy="129614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360" tIns="44280" rIns="90360" bIns="44280" rtlCol="0" anchor="ctr"/>
          <a:lstStyle/>
          <a:p>
            <a:pPr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b="1" dirty="0" smtClean="0">
                <a:solidFill>
                  <a:srgbClr val="000000"/>
                </a:solidFill>
                <a:latin typeface="Courier New" charset="0"/>
              </a:rPr>
              <a:t>public interface Processor{</a:t>
            </a:r>
          </a:p>
          <a:p>
            <a:pPr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b="1" dirty="0">
                <a:solidFill>
                  <a:srgbClr val="000000"/>
                </a:solidFill>
                <a:latin typeface="Courier New" charset="0"/>
              </a:rPr>
              <a:t> </a:t>
            </a:r>
            <a:r>
              <a:rPr lang="en-US" b="1" dirty="0" smtClean="0">
                <a:solidFill>
                  <a:srgbClr val="000000"/>
                </a:solidFill>
                <a:latin typeface="Courier New" charset="0"/>
              </a:rPr>
              <a:t> void handle(Object o);</a:t>
            </a:r>
          </a:p>
          <a:p>
            <a:pPr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b="1" dirty="0">
                <a:solidFill>
                  <a:srgbClr val="000000"/>
                </a:solidFill>
                <a:latin typeface="Courier New" charset="0"/>
              </a:rPr>
              <a:t>}</a:t>
            </a:r>
          </a:p>
        </p:txBody>
      </p:sp>
      <p:sp>
        <p:nvSpPr>
          <p:cNvPr id="6" name="Rectangle 5"/>
          <p:cNvSpPr/>
          <p:nvPr/>
        </p:nvSpPr>
        <p:spPr bwMode="auto">
          <a:xfrm>
            <a:off x="3059832" y="4797152"/>
            <a:ext cx="5904656" cy="19442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360" tIns="44280" rIns="90360" bIns="44280" rtlCol="0" anchor="ctr"/>
          <a:lstStyle/>
          <a:p>
            <a:pPr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b="1" dirty="0" smtClean="0">
                <a:solidFill>
                  <a:srgbClr val="000000"/>
                </a:solidFill>
                <a:latin typeface="Courier New" charset="0"/>
              </a:rPr>
              <a:t>public class Printer </a:t>
            </a:r>
            <a:br>
              <a:rPr lang="en-US" b="1" dirty="0" smtClean="0">
                <a:solidFill>
                  <a:srgbClr val="000000"/>
                </a:solidFill>
                <a:latin typeface="Courier New" charset="0"/>
              </a:rPr>
            </a:br>
            <a:r>
              <a:rPr lang="en-US" b="1" dirty="0" smtClean="0">
                <a:solidFill>
                  <a:srgbClr val="000000"/>
                </a:solidFill>
                <a:latin typeface="Courier New" charset="0"/>
              </a:rPr>
              <a:t>implements Processor{</a:t>
            </a:r>
          </a:p>
          <a:p>
            <a:pPr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b="1" dirty="0" smtClean="0">
                <a:solidFill>
                  <a:srgbClr val="000000"/>
                </a:solidFill>
                <a:latin typeface="Courier New" charset="0"/>
              </a:rPr>
              <a:t>  public void handle(Object o){</a:t>
            </a:r>
          </a:p>
          <a:p>
            <a:pPr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b="1" dirty="0">
                <a:solidFill>
                  <a:srgbClr val="000000"/>
                </a:solidFill>
                <a:latin typeface="Courier New" charset="0"/>
              </a:rPr>
              <a:t> </a:t>
            </a:r>
            <a:r>
              <a:rPr lang="en-US" b="1" dirty="0" smtClean="0">
                <a:solidFill>
                  <a:srgbClr val="000000"/>
                </a:solidFill>
                <a:latin typeface="Courier New" charset="0"/>
              </a:rPr>
              <a:t>   </a:t>
            </a:r>
            <a:r>
              <a:rPr lang="en-US" b="1" dirty="0" err="1" smtClean="0">
                <a:solidFill>
                  <a:srgbClr val="000000"/>
                </a:solidFill>
                <a:latin typeface="Courier New" charset="0"/>
              </a:rPr>
              <a:t>System.out.println</a:t>
            </a:r>
            <a:r>
              <a:rPr lang="en-US" b="1" dirty="0" smtClean="0">
                <a:solidFill>
                  <a:srgbClr val="000000"/>
                </a:solidFill>
                <a:latin typeface="Courier New" charset="0"/>
              </a:rPr>
              <a:t>(o);</a:t>
            </a:r>
          </a:p>
          <a:p>
            <a:pPr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b="1" dirty="0" smtClean="0">
                <a:solidFill>
                  <a:srgbClr val="000000"/>
                </a:solidFill>
                <a:latin typeface="Courier New" charset="0"/>
              </a:rPr>
              <a:t>}}</a:t>
            </a:r>
            <a:endParaRPr lang="en-US" b="1" dirty="0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7" name="Isosceles Triangle 6"/>
          <p:cNvSpPr/>
          <p:nvPr/>
        </p:nvSpPr>
        <p:spPr bwMode="auto">
          <a:xfrm>
            <a:off x="8388424" y="3284984"/>
            <a:ext cx="360040" cy="360040"/>
          </a:xfrm>
          <a:prstGeom prst="triangle">
            <a:avLst/>
          </a:prstGeom>
          <a:solidFill>
            <a:schemeClr val="bg1"/>
          </a:solidFill>
          <a:ln w="28575" cmpd="sng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lIns="90360" tIns="44280" rIns="90360" bIns="44280" rtlCol="0" anchor="ctr"/>
          <a:lstStyle/>
          <a:p>
            <a:pPr algn="ctr"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000" b="1">
              <a:solidFill>
                <a:srgbClr val="000000"/>
              </a:solidFill>
              <a:latin typeface="Courier New" charset="0"/>
            </a:endParaRPr>
          </a:p>
        </p:txBody>
      </p:sp>
      <p:cxnSp>
        <p:nvCxnSpPr>
          <p:cNvPr id="9" name="Straight Connector 8"/>
          <p:cNvCxnSpPr>
            <a:stCxn id="7" idx="3"/>
          </p:cNvCxnSpPr>
          <p:nvPr/>
        </p:nvCxnSpPr>
        <p:spPr bwMode="auto">
          <a:xfrm flipH="1">
            <a:off x="8532440" y="3645024"/>
            <a:ext cx="36004" cy="1152128"/>
          </a:xfrm>
          <a:prstGeom prst="line">
            <a:avLst/>
          </a:prstGeom>
          <a:solidFill>
            <a:srgbClr val="00B8FF"/>
          </a:solidFill>
          <a:ln w="28575" cap="flat" cmpd="sng" algn="ctr">
            <a:solidFill>
              <a:schemeClr val="accent6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05686328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auto">
          <a:xfrm>
            <a:off x="467544" y="3356992"/>
            <a:ext cx="7200800" cy="25202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lIns="90360" tIns="44280" rIns="90360" bIns="44280" rtlCol="0" anchor="ctr"/>
          <a:lstStyle/>
          <a:p>
            <a:pPr algn="ctr"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000" b="1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Behavioral parameterization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400" b="1" dirty="0" smtClean="0">
              <a:latin typeface="Courier New"/>
              <a:cs typeface="Courier New"/>
            </a:endParaRPr>
          </a:p>
          <a:p>
            <a:pPr marL="0" indent="0">
              <a:buNone/>
            </a:pPr>
            <a:endParaRPr lang="en-US" sz="2400" b="1" dirty="0">
              <a:latin typeface="Courier New"/>
              <a:cs typeface="Courier New"/>
            </a:endParaRPr>
          </a:p>
          <a:p>
            <a:pPr marL="0" indent="0">
              <a:buNone/>
            </a:pPr>
            <a:endParaRPr lang="en-US" sz="2400" b="1" dirty="0" smtClean="0">
              <a:latin typeface="Courier New"/>
              <a:cs typeface="Courier New"/>
            </a:endParaRPr>
          </a:p>
          <a:p>
            <a:pPr marL="0" indent="0">
              <a:buNone/>
            </a:pPr>
            <a:endParaRPr lang="en-US" sz="2400" b="1" dirty="0" smtClean="0"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2400" b="1" dirty="0" smtClean="0">
                <a:latin typeface="Courier New"/>
                <a:cs typeface="Courier New"/>
              </a:rPr>
              <a:t>String[] v = {"A</a:t>
            </a:r>
            <a:r>
              <a:rPr lang="en-US" sz="2400" b="1" dirty="0">
                <a:latin typeface="Courier New"/>
                <a:cs typeface="Courier New"/>
              </a:rPr>
              <a:t>", </a:t>
            </a:r>
            <a:r>
              <a:rPr lang="en-US" sz="2400" b="1" dirty="0" smtClean="0">
                <a:latin typeface="Courier New"/>
                <a:cs typeface="Courier New"/>
              </a:rPr>
              <a:t>"B",</a:t>
            </a:r>
            <a:r>
              <a:rPr lang="en-US" sz="2400" b="1" dirty="0">
                <a:latin typeface="Courier New"/>
                <a:cs typeface="Courier New"/>
              </a:rPr>
              <a:t> </a:t>
            </a:r>
            <a:r>
              <a:rPr lang="en-US" sz="2400" b="1" dirty="0" smtClean="0">
                <a:latin typeface="Courier New"/>
                <a:cs typeface="Courier New"/>
              </a:rPr>
              <a:t>"C",</a:t>
            </a:r>
            <a:r>
              <a:rPr lang="en-US" sz="2400" b="1" dirty="0">
                <a:latin typeface="Courier New"/>
                <a:cs typeface="Courier New"/>
              </a:rPr>
              <a:t> </a:t>
            </a:r>
            <a:r>
              <a:rPr lang="en-US" sz="2400" b="1" dirty="0" smtClean="0">
                <a:latin typeface="Courier New"/>
                <a:cs typeface="Courier New"/>
              </a:rPr>
              <a:t>"D</a:t>
            </a:r>
            <a:r>
              <a:rPr lang="en-US" sz="2400" b="1" dirty="0">
                <a:latin typeface="Courier New"/>
                <a:cs typeface="Courier New"/>
              </a:rPr>
              <a:t>"</a:t>
            </a:r>
            <a:r>
              <a:rPr lang="en-US" sz="2400" b="1" dirty="0" smtClean="0">
                <a:latin typeface="Courier New"/>
                <a:cs typeface="Courier New"/>
              </a:rPr>
              <a:t>};</a:t>
            </a:r>
            <a:br>
              <a:rPr lang="en-US" sz="2400" b="1" dirty="0" smtClean="0">
                <a:latin typeface="Courier New"/>
                <a:cs typeface="Courier New"/>
              </a:rPr>
            </a:br>
            <a:r>
              <a:rPr lang="en-US" sz="2400" b="1" dirty="0" smtClean="0">
                <a:latin typeface="Courier New"/>
                <a:cs typeface="Courier New"/>
              </a:rPr>
              <a:t>Processor printer = new Processor(){</a:t>
            </a:r>
            <a:br>
              <a:rPr lang="en-US" sz="2400" b="1" dirty="0" smtClean="0">
                <a:latin typeface="Courier New"/>
                <a:cs typeface="Courier New"/>
              </a:rPr>
            </a:br>
            <a:r>
              <a:rPr lang="en-US" sz="2400" b="1" dirty="0" smtClean="0">
                <a:latin typeface="Courier New"/>
                <a:cs typeface="Courier New"/>
              </a:rPr>
              <a:t>  </a:t>
            </a:r>
            <a:r>
              <a:rPr lang="en-US" sz="2400" b="1" dirty="0" smtClean="0">
                <a:latin typeface="Courier New" charset="0"/>
              </a:rPr>
              <a:t>public </a:t>
            </a:r>
            <a:r>
              <a:rPr lang="en-US" sz="2400" b="1" dirty="0">
                <a:latin typeface="Courier New" charset="0"/>
              </a:rPr>
              <a:t>void handle(Object o)</a:t>
            </a:r>
            <a:r>
              <a:rPr lang="en-US" sz="2400" b="1" dirty="0" smtClean="0">
                <a:latin typeface="Courier New" charset="0"/>
              </a:rPr>
              <a:t>{</a:t>
            </a:r>
            <a:br>
              <a:rPr lang="en-US" sz="2400" b="1" dirty="0" smtClean="0">
                <a:latin typeface="Courier New" charset="0"/>
              </a:rPr>
            </a:br>
            <a:r>
              <a:rPr lang="en-US" sz="2400" b="1" dirty="0" smtClean="0">
                <a:latin typeface="Courier New" charset="0"/>
              </a:rPr>
              <a:t>    </a:t>
            </a:r>
            <a:r>
              <a:rPr lang="en-US" sz="2400" b="1" dirty="0" err="1" smtClean="0">
                <a:latin typeface="Courier New" charset="0"/>
              </a:rPr>
              <a:t>System.out.println</a:t>
            </a:r>
            <a:r>
              <a:rPr lang="en-US" sz="2400" b="1" dirty="0">
                <a:latin typeface="Courier New" charset="0"/>
              </a:rPr>
              <a:t>(o)</a:t>
            </a:r>
            <a:r>
              <a:rPr lang="en-US" sz="2400" b="1" dirty="0" smtClean="0">
                <a:latin typeface="Courier New" charset="0"/>
              </a:rPr>
              <a:t>;</a:t>
            </a:r>
            <a:br>
              <a:rPr lang="en-US" sz="2400" b="1" dirty="0" smtClean="0">
                <a:latin typeface="Courier New" charset="0"/>
              </a:rPr>
            </a:br>
            <a:r>
              <a:rPr lang="en-US" sz="2400" b="1" dirty="0" smtClean="0">
                <a:latin typeface="Courier New" charset="0"/>
              </a:rPr>
              <a:t>  }</a:t>
            </a:r>
            <a:r>
              <a:rPr lang="en-US" sz="2400" b="1" dirty="0" smtClean="0">
                <a:latin typeface="Courier New"/>
                <a:cs typeface="Courier New"/>
              </a:rPr>
              <a:t>};</a:t>
            </a:r>
            <a:br>
              <a:rPr lang="en-US" sz="2400" b="1" dirty="0" smtClean="0">
                <a:latin typeface="Courier New"/>
                <a:cs typeface="Courier New"/>
              </a:rPr>
            </a:br>
            <a:r>
              <a:rPr lang="en-US" sz="2400" b="1" dirty="0" smtClean="0">
                <a:latin typeface="Courier New"/>
                <a:cs typeface="Courier New"/>
              </a:rPr>
              <a:t>process(</a:t>
            </a:r>
            <a:r>
              <a:rPr lang="en-US" sz="2400" b="1" dirty="0" err="1" smtClean="0">
                <a:latin typeface="Courier New"/>
                <a:cs typeface="Courier New"/>
              </a:rPr>
              <a:t>v,printer</a:t>
            </a:r>
            <a:r>
              <a:rPr lang="en-US" sz="2400" b="1" dirty="0" smtClean="0">
                <a:latin typeface="Courier New"/>
                <a:cs typeface="Courier New"/>
              </a:rPr>
              <a:t>);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323528" y="1124744"/>
            <a:ext cx="7416824" cy="19442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360" tIns="44280" rIns="90360" bIns="4428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void process(Object[] v, Processor p){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  for(Object o : v){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    </a:t>
            </a:r>
            <a:r>
              <a:rPr lang="en-US" b="1" dirty="0" err="1">
                <a:solidFill>
                  <a:schemeClr val="tx1"/>
                </a:solidFill>
                <a:latin typeface="Courier New"/>
                <a:cs typeface="Courier New"/>
              </a:rPr>
              <a:t>p.handle</a:t>
            </a:r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(o</a:t>
            </a:r>
            <a:r>
              <a:rPr lang="en-US" b="1" dirty="0" smtClean="0">
                <a:solidFill>
                  <a:schemeClr val="tx1"/>
                </a:solidFill>
                <a:latin typeface="Courier New"/>
                <a:cs typeface="Courier New"/>
              </a:rPr>
              <a:t>);</a:t>
            </a:r>
            <a:endParaRPr lang="en-US" b="1" dirty="0">
              <a:solidFill>
                <a:schemeClr val="tx1"/>
              </a:solidFill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  }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}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3635896" y="1988840"/>
            <a:ext cx="5328592" cy="129614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360" tIns="44280" rIns="90360" bIns="44280" rtlCol="0" anchor="ctr"/>
          <a:lstStyle/>
          <a:p>
            <a:pPr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b="1" dirty="0" smtClean="0">
                <a:solidFill>
                  <a:srgbClr val="000000"/>
                </a:solidFill>
                <a:latin typeface="Courier New" charset="0"/>
              </a:rPr>
              <a:t>public interface Processor{</a:t>
            </a:r>
          </a:p>
          <a:p>
            <a:pPr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b="1" dirty="0">
                <a:solidFill>
                  <a:srgbClr val="000000"/>
                </a:solidFill>
                <a:latin typeface="Courier New" charset="0"/>
              </a:rPr>
              <a:t> </a:t>
            </a:r>
            <a:r>
              <a:rPr lang="en-US" b="1" dirty="0" smtClean="0">
                <a:solidFill>
                  <a:srgbClr val="000000"/>
                </a:solidFill>
                <a:latin typeface="Courier New" charset="0"/>
              </a:rPr>
              <a:t> void handle(Object o);</a:t>
            </a:r>
          </a:p>
          <a:p>
            <a:pPr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b="1" dirty="0">
                <a:solidFill>
                  <a:srgbClr val="000000"/>
                </a:solidFill>
                <a:latin typeface="Courier New" charset="0"/>
              </a:rPr>
              <a:t>}</a:t>
            </a:r>
          </a:p>
        </p:txBody>
      </p:sp>
      <p:sp>
        <p:nvSpPr>
          <p:cNvPr id="8" name="Rounded Rectangular Callout 7"/>
          <p:cNvSpPr/>
          <p:nvPr/>
        </p:nvSpPr>
        <p:spPr bwMode="auto">
          <a:xfrm>
            <a:off x="5508104" y="4941168"/>
            <a:ext cx="3312368" cy="576064"/>
          </a:xfrm>
          <a:prstGeom prst="wedgeRoundRectCallout">
            <a:avLst>
              <a:gd name="adj1" fmla="val 170"/>
              <a:gd name="adj2" fmla="val -200895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 w="12600">
            <a:solidFill>
              <a:schemeClr val="accent4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360" tIns="44280" rIns="90360" bIns="44280" rtlCol="0" anchor="ctr"/>
          <a:lstStyle/>
          <a:p>
            <a:pPr algn="ctr"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dirty="0" smtClean="0">
                <a:solidFill>
                  <a:srgbClr val="000000"/>
                </a:solidFill>
                <a:latin typeface="+mn-lt"/>
              </a:rPr>
              <a:t>Anonymous inner class</a:t>
            </a:r>
            <a:endParaRPr lang="en-US" sz="2000" b="1" dirty="0">
              <a:solidFill>
                <a:srgbClr val="0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0591476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latin typeface="Lucida Sans Unicode" charset="0"/>
              </a:rPr>
              <a:t>Strategy Pattern</a:t>
            </a:r>
            <a:endParaRPr lang="en-US" dirty="0">
              <a:latin typeface="Lucida Sans Unicode" charset="0"/>
            </a:endParaRPr>
          </a:p>
        </p:txBody>
      </p:sp>
      <p:sp>
        <p:nvSpPr>
          <p:cNvPr id="19251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Lucida Sans Unicode" charset="0"/>
              </a:rPr>
              <a:t>Context</a:t>
            </a:r>
          </a:p>
          <a:p>
            <a:pPr lvl="1" eaLnBrk="1" hangingPunct="1"/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</a:rPr>
              <a:t>Many classes or algorithm </a:t>
            </a: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has a stable core and several </a:t>
            </a:r>
            <a:r>
              <a:rPr lang="en-GB" dirty="0" smtClean="0">
                <a:latin typeface="Lucida Sans Unicode" charset="0"/>
                <a:ea typeface="Lucida Sans Unicode" charset="0"/>
                <a:cs typeface="Lucida Sans Unicode" charset="0"/>
              </a:rPr>
              <a:t>behavioural variations</a:t>
            </a:r>
          </a:p>
          <a:p>
            <a:pPr lvl="2" eaLnBrk="1" hangingPunct="1"/>
            <a:r>
              <a:rPr lang="en-GB" dirty="0" smtClean="0">
                <a:latin typeface="Lucida Sans Unicode" charset="0"/>
                <a:ea typeface="Lucida Sans Unicode" charset="0"/>
                <a:cs typeface="Lucida Sans Unicode" charset="0"/>
              </a:rPr>
              <a:t>The operation performed may vary</a:t>
            </a:r>
            <a:endParaRPr lang="en-GB" dirty="0">
              <a:latin typeface="Lucida Sans Unicode" charset="0"/>
              <a:ea typeface="Lucida Sans Unicode" charset="0"/>
              <a:cs typeface="Lucida Sans Unicode" charset="0"/>
            </a:endParaRPr>
          </a:p>
          <a:p>
            <a:pPr eaLnBrk="1" hangingPunct="1"/>
            <a:r>
              <a:rPr lang="en-US" dirty="0">
                <a:latin typeface="Lucida Sans Unicode" charset="0"/>
              </a:rPr>
              <a:t>Problem</a:t>
            </a:r>
          </a:p>
          <a:p>
            <a:pPr lvl="1" eaLnBrk="1" hangingPunct="1"/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</a:rPr>
              <a:t>Several different implementations are needed.</a:t>
            </a:r>
          </a:p>
          <a:p>
            <a:pPr lvl="1" eaLnBrk="1" hangingPunct="1"/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</a:rPr>
              <a:t>Multiple conditional constructs tangle the code.</a:t>
            </a:r>
          </a:p>
          <a:p>
            <a:pPr eaLnBrk="1" hangingPunct="1"/>
            <a:endParaRPr lang="en-US" dirty="0">
              <a:latin typeface="Lucida Sans Unicod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3762004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Strategy Pattern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Solution</a:t>
            </a:r>
          </a:p>
          <a:p>
            <a:pPr lvl="1"/>
            <a:r>
              <a:rPr lang="en-US" dirty="0" smtClean="0"/>
              <a:t>Embed inside a strategy object passed as a parameter to the algorithm</a:t>
            </a:r>
          </a:p>
          <a:p>
            <a:pPr lvl="1"/>
            <a:r>
              <a:rPr lang="en-US" dirty="0" smtClean="0"/>
              <a:t>The strategy object’s class implements an interface providing the operations required by the algorithm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63241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7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latin typeface="Lucida Sans Unicode" charset="0"/>
              </a:rPr>
              <a:t>Strategy Pattern</a:t>
            </a:r>
            <a:endParaRPr lang="en-US" dirty="0">
              <a:latin typeface="Lucida Sans Unicode" charset="0"/>
            </a:endParaRPr>
          </a:p>
        </p:txBody>
      </p:sp>
      <p:pic>
        <p:nvPicPr>
          <p:cNvPr id="193538" name="Picture 5" descr="Strategy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513" y="2222500"/>
            <a:ext cx="8047037" cy="30575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39267899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 bwMode="auto">
          <a:xfrm>
            <a:off x="539552" y="2060848"/>
            <a:ext cx="8064896" cy="14401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lIns="90360" tIns="44280" rIns="90360" bIns="44280" rtlCol="0" anchor="ctr"/>
          <a:lstStyle/>
          <a:p>
            <a:pPr algn="ctr"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000" b="1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72033" name="Rectangle 1"/>
          <p:cNvSpPr>
            <a:spLocks noGrp="1" noChangeArrowheads="1"/>
          </p:cNvSpPr>
          <p:nvPr>
            <p:ph type="title"/>
          </p:nvPr>
        </p:nvSpPr>
        <p:spPr>
          <a:xfrm>
            <a:off x="228600" y="224746"/>
            <a:ext cx="8605838" cy="766533"/>
          </a:xfrm>
        </p:spPr>
        <p:txBody>
          <a:bodyPr lIns="90360" tIns="44280" rIns="90360" bIns="44280"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 smtClean="0">
                <a:latin typeface="Courier New"/>
                <a:cs typeface="Courier New"/>
              </a:rPr>
              <a:t>Comparator</a:t>
            </a:r>
            <a:endParaRPr lang="en-GB" dirty="0">
              <a:latin typeface="Courier New"/>
              <a:cs typeface="Courier New"/>
            </a:endParaRPr>
          </a:p>
        </p:txBody>
      </p:sp>
      <p:sp>
        <p:nvSpPr>
          <p:cNvPr id="172034" name="Rectangle 2"/>
          <p:cNvSpPr>
            <a:spLocks noGrp="1" noChangeArrowheads="1"/>
          </p:cNvSpPr>
          <p:nvPr>
            <p:ph idx="1"/>
          </p:nvPr>
        </p:nvSpPr>
        <p:spPr/>
        <p:txBody>
          <a:bodyPr lIns="90360" tIns="44280" rIns="90360" bIns="44280"/>
          <a:lstStyle/>
          <a:p>
            <a:pPr lvl="2" eaLnBrk="1" hangingPunct="1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smtClean="0">
                <a:latin typeface="Lucida Sans Unicode" charset="0"/>
                <a:cs typeface="Lucida Sans Unicode" charset="0"/>
              </a:rPr>
              <a:t>Interface </a:t>
            </a:r>
            <a:r>
              <a:rPr lang="en-GB" b="1" dirty="0" err="1" smtClean="0">
                <a:latin typeface="Courier New"/>
                <a:cs typeface="Courier New"/>
              </a:rPr>
              <a:t>java.util.Comparator</a:t>
            </a:r>
            <a:endParaRPr lang="en-GB" b="1" dirty="0" smtClean="0">
              <a:latin typeface="Courier New"/>
              <a:cs typeface="Courier New"/>
            </a:endParaRPr>
          </a:p>
          <a:p>
            <a:pPr lvl="2" eaLnBrk="1" hangingPunct="1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dirty="0">
              <a:latin typeface="Lucida Sans Unicode" charset="0"/>
              <a:cs typeface="Lucida Sans Unicode" charset="0"/>
            </a:endParaRPr>
          </a:p>
          <a:p>
            <a:pPr marL="400050" lvl="1" indent="0" eaLnBrk="1" hangingPunct="1">
              <a:lnSpc>
                <a:spcPct val="90000"/>
              </a:lnSpc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 dirty="0" smtClean="0">
                <a:solidFill>
                  <a:schemeClr val="tx1"/>
                </a:solidFill>
                <a:latin typeface="Courier New" charset="0"/>
                <a:cs typeface="Lucida Sans Unicode" charset="0"/>
              </a:rPr>
              <a:t>public</a:t>
            </a:r>
            <a:r>
              <a:rPr lang="en-GB" sz="2400" b="1" dirty="0" smtClean="0">
                <a:solidFill>
                  <a:schemeClr val="tx1"/>
                </a:solidFill>
                <a:latin typeface="Courier New" charset="0"/>
                <a:cs typeface="Lucida Sans Unicode" charset="0"/>
              </a:rPr>
              <a:t> </a:t>
            </a:r>
            <a:r>
              <a:rPr lang="en-GB" b="1" dirty="0">
                <a:solidFill>
                  <a:schemeClr val="tx1"/>
                </a:solidFill>
                <a:latin typeface="Courier New" charset="0"/>
                <a:cs typeface="Lucida Sans Unicode" charset="0"/>
              </a:rPr>
              <a:t>interface </a:t>
            </a:r>
            <a:r>
              <a:rPr lang="en-GB" b="1" dirty="0" smtClean="0">
                <a:solidFill>
                  <a:srgbClr val="FF6633"/>
                </a:solidFill>
                <a:latin typeface="Courier New" charset="0"/>
                <a:cs typeface="Lucida Sans Unicode" charset="0"/>
              </a:rPr>
              <a:t>Comparator</a:t>
            </a:r>
            <a:r>
              <a:rPr lang="en-GB" b="1" dirty="0" smtClean="0">
                <a:latin typeface="Courier New" charset="0"/>
                <a:cs typeface="Lucida Sans Unicode" charset="0"/>
              </a:rPr>
              <a:t>{</a:t>
            </a:r>
            <a:br>
              <a:rPr lang="en-GB" b="1" dirty="0" smtClean="0">
                <a:latin typeface="Courier New" charset="0"/>
                <a:cs typeface="Lucida Sans Unicode" charset="0"/>
              </a:rPr>
            </a:br>
            <a:r>
              <a:rPr lang="en-GB" b="1" dirty="0" smtClean="0">
                <a:latin typeface="Courier New" charset="0"/>
                <a:cs typeface="Lucida Sans Unicode" charset="0"/>
              </a:rPr>
              <a:t>  </a:t>
            </a:r>
            <a:r>
              <a:rPr lang="en-GB" b="1" dirty="0" err="1">
                <a:latin typeface="Courier New" charset="0"/>
                <a:cs typeface="Lucida Sans Unicode" charset="0"/>
              </a:rPr>
              <a:t>int</a:t>
            </a:r>
            <a:r>
              <a:rPr lang="en-GB" b="1" dirty="0">
                <a:latin typeface="Courier New" charset="0"/>
                <a:cs typeface="Lucida Sans Unicode" charset="0"/>
              </a:rPr>
              <a:t> </a:t>
            </a:r>
            <a:r>
              <a:rPr lang="en-GB" b="1" dirty="0" smtClean="0">
                <a:solidFill>
                  <a:srgbClr val="FF6633"/>
                </a:solidFill>
                <a:latin typeface="Courier New" charset="0"/>
                <a:cs typeface="Lucida Sans Unicode" charset="0"/>
              </a:rPr>
              <a:t>compare</a:t>
            </a:r>
            <a:r>
              <a:rPr lang="en-GB" b="1" dirty="0" smtClean="0">
                <a:latin typeface="Courier New" charset="0"/>
                <a:cs typeface="Lucida Sans Unicode" charset="0"/>
              </a:rPr>
              <a:t>(</a:t>
            </a:r>
            <a:r>
              <a:rPr lang="en-GB" b="1" dirty="0">
                <a:latin typeface="Courier New" charset="0"/>
                <a:cs typeface="Lucida Sans Unicode" charset="0"/>
              </a:rPr>
              <a:t>Object </a:t>
            </a:r>
            <a:r>
              <a:rPr lang="en-GB" b="1" dirty="0" smtClean="0">
                <a:latin typeface="Courier New" charset="0"/>
                <a:cs typeface="Lucida Sans Unicode" charset="0"/>
              </a:rPr>
              <a:t>a</a:t>
            </a:r>
            <a:r>
              <a:rPr lang="en-GB" b="1" dirty="0">
                <a:latin typeface="Courier New" charset="0"/>
                <a:cs typeface="Lucida Sans Unicode" charset="0"/>
              </a:rPr>
              <a:t>, Object </a:t>
            </a:r>
            <a:r>
              <a:rPr lang="en-GB" b="1" dirty="0" smtClean="0">
                <a:latin typeface="Courier New" charset="0"/>
                <a:cs typeface="Lucida Sans Unicode" charset="0"/>
              </a:rPr>
              <a:t>b);</a:t>
            </a:r>
            <a:br>
              <a:rPr lang="en-GB" b="1" dirty="0" smtClean="0">
                <a:latin typeface="Courier New" charset="0"/>
                <a:cs typeface="Lucida Sans Unicode" charset="0"/>
              </a:rPr>
            </a:br>
            <a:r>
              <a:rPr lang="en-GB" b="1" dirty="0" smtClean="0">
                <a:latin typeface="Courier New" charset="0"/>
                <a:cs typeface="Lucida Sans Unicode" charset="0"/>
              </a:rPr>
              <a:t>}</a:t>
            </a:r>
            <a:endParaRPr lang="en-GB" dirty="0">
              <a:latin typeface="Lucida Sans Unicode" charset="0"/>
              <a:cs typeface="Lucida Sans Unicode" charset="0"/>
            </a:endParaRPr>
          </a:p>
          <a:p>
            <a:pPr eaLnBrk="1" hangingPunct="1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dirty="0" smtClean="0">
              <a:latin typeface="Lucida Sans Unicode" charset="0"/>
              <a:cs typeface="Lucida Sans Unicode" charset="0"/>
            </a:endParaRPr>
          </a:p>
          <a:p>
            <a:pPr eaLnBrk="1" hangingPunct="1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smtClean="0">
                <a:latin typeface="Lucida Sans Unicode" charset="0"/>
                <a:cs typeface="Lucida Sans Unicode" charset="0"/>
              </a:rPr>
              <a:t>Semantics (as comparable): </a:t>
            </a:r>
            <a:r>
              <a:rPr lang="en-GB" dirty="0">
                <a:latin typeface="Lucida Sans Unicode" charset="0"/>
                <a:cs typeface="Lucida Sans Unicode" charset="0"/>
              </a:rPr>
              <a:t>returns </a:t>
            </a:r>
          </a:p>
          <a:p>
            <a:pPr lvl="1" eaLnBrk="1" hangingPunct="1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a negative integer if </a:t>
            </a:r>
            <a:r>
              <a:rPr lang="en-GB" b="1" dirty="0" smtClean="0">
                <a:latin typeface="Courier New" charset="0"/>
                <a:ea typeface="Lucida Sans Unicode" charset="0"/>
                <a:cs typeface="Lucida Sans Unicode" charset="0"/>
              </a:rPr>
              <a:t>a </a:t>
            </a:r>
            <a:r>
              <a:rPr lang="en-GB" dirty="0" smtClean="0">
                <a:latin typeface="Lucida Sans Unicode" charset="0"/>
                <a:ea typeface="Lucida Sans Unicode" charset="0"/>
                <a:cs typeface="Lucida Sans Unicode" charset="0"/>
              </a:rPr>
              <a:t>precedes </a:t>
            </a:r>
            <a:r>
              <a:rPr lang="en-GB" b="1" dirty="0" smtClean="0">
                <a:latin typeface="Courier New" charset="0"/>
                <a:ea typeface="Lucida Sans Unicode" charset="0"/>
                <a:cs typeface="Lucida Sans Unicode" charset="0"/>
              </a:rPr>
              <a:t>b</a:t>
            </a:r>
            <a:endParaRPr lang="en-GB" b="1" dirty="0">
              <a:latin typeface="Courier New" charset="0"/>
              <a:ea typeface="Lucida Sans Unicode" charset="0"/>
              <a:cs typeface="Lucida Sans Unicode" charset="0"/>
            </a:endParaRPr>
          </a:p>
          <a:p>
            <a:pPr lvl="1" eaLnBrk="1" hangingPunct="1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0, if </a:t>
            </a:r>
            <a:r>
              <a:rPr lang="en-GB" b="1" dirty="0" smtClean="0">
                <a:latin typeface="Courier New" charset="0"/>
                <a:ea typeface="Lucida Sans Unicode" charset="0"/>
                <a:cs typeface="Lucida Sans Unicode" charset="0"/>
              </a:rPr>
              <a:t>a </a:t>
            </a:r>
            <a:r>
              <a:rPr lang="en-GB" dirty="0" smtClean="0">
                <a:latin typeface="Lucida Sans Unicode" charset="0"/>
                <a:ea typeface="Lucida Sans Unicode" charset="0"/>
                <a:cs typeface="Lucida Sans Unicode" charset="0"/>
              </a:rPr>
              <a:t>equals </a:t>
            </a:r>
            <a:r>
              <a:rPr lang="en-GB" b="1" dirty="0" smtClean="0">
                <a:latin typeface="Courier New" charset="0"/>
                <a:ea typeface="Lucida Sans Unicode" charset="0"/>
                <a:cs typeface="Lucida Sans Unicode" charset="0"/>
              </a:rPr>
              <a:t>b</a:t>
            </a:r>
            <a:endParaRPr lang="en-GB" b="1" dirty="0">
              <a:latin typeface="Lucida Sans Unicode" charset="0"/>
              <a:ea typeface="Lucida Sans Unicode" charset="0"/>
              <a:cs typeface="Lucida Sans Unicode" charset="0"/>
            </a:endParaRPr>
          </a:p>
          <a:p>
            <a:pPr lvl="1" eaLnBrk="1" hangingPunct="1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a positive integer if </a:t>
            </a:r>
            <a:r>
              <a:rPr lang="en-GB" b="1" dirty="0" smtClean="0">
                <a:latin typeface="Courier New" charset="0"/>
                <a:ea typeface="Lucida Sans Unicode" charset="0"/>
                <a:cs typeface="Lucida Sans Unicode" charset="0"/>
              </a:rPr>
              <a:t>a </a:t>
            </a:r>
            <a:r>
              <a:rPr lang="en-GB" dirty="0" smtClean="0">
                <a:latin typeface="Lucida Sans Unicode" charset="0"/>
                <a:ea typeface="Lucida Sans Unicode" charset="0"/>
                <a:cs typeface="Lucida Sans Unicode" charset="0"/>
              </a:rPr>
              <a:t>succeeds </a:t>
            </a:r>
            <a:r>
              <a:rPr lang="en-GB" b="1" dirty="0" smtClean="0">
                <a:latin typeface="Courier New" charset="0"/>
                <a:ea typeface="Lucida Sans Unicode" charset="0"/>
                <a:cs typeface="Lucida Sans Unicode" charset="0"/>
              </a:rPr>
              <a:t>b</a:t>
            </a:r>
            <a:endParaRPr lang="en-GB" b="1" dirty="0">
              <a:latin typeface="Courier New" charset="0"/>
              <a:ea typeface="Lucida Sans Unicode" charset="0"/>
              <a:cs typeface="Lucida Sans Unicode" charset="0"/>
            </a:endParaRPr>
          </a:p>
        </p:txBody>
      </p:sp>
      <p:sp>
        <p:nvSpPr>
          <p:cNvPr id="172035" name="Segnaposto numero diapositiva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EC12237E-666C-FC49-AB51-81097C5F4C05}" type="slidenum">
              <a:rPr lang="en-GB" sz="1200">
                <a:solidFill>
                  <a:srgbClr val="000000"/>
                </a:solidFill>
              </a:rPr>
              <a:pPr eaLnBrk="1" hangingPunct="1"/>
              <a:t>114</a:t>
            </a:fld>
            <a:endParaRPr lang="en-GB" sz="1200">
              <a:solidFill>
                <a:srgbClr val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45637" y="6093296"/>
            <a:ext cx="5866610" cy="34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chemeClr val="tx1"/>
                </a:solidFill>
                <a:latin typeface="+mj-lt"/>
              </a:rPr>
              <a:t>Note: simplified version, actual declaration uses generics</a:t>
            </a:r>
          </a:p>
        </p:txBody>
      </p:sp>
    </p:spTree>
    <p:extLst>
      <p:ext uri="{BB962C8B-B14F-4D97-AF65-F5344CB8AC3E}">
        <p14:creationId xmlns:p14="http://schemas.microsoft.com/office/powerpoint/2010/main" val="1398141312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auto">
          <a:xfrm>
            <a:off x="539552" y="4077072"/>
            <a:ext cx="7416824" cy="20882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lIns="90360" tIns="44280" rIns="90360" bIns="44280" rtlCol="0" anchor="ctr"/>
          <a:lstStyle/>
          <a:p>
            <a:pPr algn="ctr"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000" b="1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4" name="AutoShape 1"/>
          <p:cNvSpPr>
            <a:spLocks noChangeArrowheads="1"/>
          </p:cNvSpPr>
          <p:nvPr/>
        </p:nvSpPr>
        <p:spPr bwMode="auto">
          <a:xfrm>
            <a:off x="323528" y="1124744"/>
            <a:ext cx="8640960" cy="2736304"/>
          </a:xfrm>
          <a:prstGeom prst="roundRect">
            <a:avLst>
              <a:gd name="adj" fmla="val 32"/>
            </a:avLst>
          </a:prstGeom>
          <a:solidFill>
            <a:schemeClr val="accent6">
              <a:lumMod val="20000"/>
              <a:lumOff val="80000"/>
            </a:schemeClr>
          </a:solidFill>
          <a:ln w="9360">
            <a:solidFill>
              <a:schemeClr val="accent6">
                <a:lumMod val="75000"/>
              </a:schemeClr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10" tIns="45706" rIns="91410" bIns="45706" anchor="ctr"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public class </a:t>
            </a:r>
            <a:r>
              <a:rPr lang="en-US" b="1" dirty="0" err="1" smtClean="0">
                <a:solidFill>
                  <a:schemeClr val="tx1"/>
                </a:solidFill>
                <a:latin typeface="Courier New"/>
                <a:cs typeface="Courier New"/>
              </a:rPr>
              <a:t>StudentCmp</a:t>
            </a:r>
            <a:r>
              <a:rPr lang="en-US" b="1" dirty="0" smtClean="0">
                <a:solidFill>
                  <a:schemeClr val="tx1"/>
                </a:solidFill>
                <a:latin typeface="Courier New"/>
                <a:cs typeface="Courier New"/>
              </a:rPr>
              <a:t> implements </a:t>
            </a:r>
            <a:r>
              <a:rPr lang="en-US" b="1" dirty="0" smtClean="0">
                <a:solidFill>
                  <a:srgbClr val="FF6600"/>
                </a:solidFill>
                <a:latin typeface="Courier New"/>
                <a:cs typeface="Courier New"/>
              </a:rPr>
              <a:t>Comparator</a:t>
            </a:r>
            <a:r>
              <a:rPr lang="en-US" b="1" dirty="0" smtClean="0">
                <a:solidFill>
                  <a:schemeClr val="tx1"/>
                </a:solidFill>
                <a:latin typeface="Courier New"/>
                <a:cs typeface="Courier New"/>
              </a:rPr>
              <a:t>{</a:t>
            </a:r>
            <a:endParaRPr lang="en-US" b="1" dirty="0">
              <a:solidFill>
                <a:schemeClr val="tx1"/>
              </a:solidFill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  public </a:t>
            </a:r>
            <a:r>
              <a:rPr lang="en-US" b="1" dirty="0" err="1">
                <a:solidFill>
                  <a:schemeClr val="tx1"/>
                </a:solidFill>
                <a:latin typeface="Courier New"/>
                <a:cs typeface="Courier New"/>
              </a:rPr>
              <a:t>int</a:t>
            </a:r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lang="en-US" b="1" dirty="0">
                <a:solidFill>
                  <a:srgbClr val="FF6600"/>
                </a:solidFill>
                <a:latin typeface="Courier New"/>
                <a:cs typeface="Courier New"/>
              </a:rPr>
              <a:t>compare</a:t>
            </a:r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(Object a, Object b){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    Student </a:t>
            </a:r>
            <a:r>
              <a:rPr lang="en-US" b="1" dirty="0" err="1">
                <a:solidFill>
                  <a:schemeClr val="tx1"/>
                </a:solidFill>
                <a:latin typeface="Courier New"/>
                <a:cs typeface="Courier New"/>
              </a:rPr>
              <a:t>sa</a:t>
            </a:r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 = (Student)a;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    Student </a:t>
            </a:r>
            <a:r>
              <a:rPr lang="en-US" b="1" dirty="0" err="1">
                <a:solidFill>
                  <a:schemeClr val="tx1"/>
                </a:solidFill>
                <a:latin typeface="Courier New"/>
                <a:cs typeface="Courier New"/>
              </a:rPr>
              <a:t>sb</a:t>
            </a:r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 = (Student)b; 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    return </a:t>
            </a:r>
            <a:r>
              <a:rPr lang="en-US" b="1" dirty="0" err="1">
                <a:solidFill>
                  <a:schemeClr val="tx1"/>
                </a:solidFill>
                <a:latin typeface="Courier New"/>
                <a:cs typeface="Courier New"/>
              </a:rPr>
              <a:t>a.id</a:t>
            </a:r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 – </a:t>
            </a:r>
            <a:r>
              <a:rPr lang="en-US" b="1" dirty="0" err="1">
                <a:solidFill>
                  <a:schemeClr val="tx1"/>
                </a:solidFill>
                <a:latin typeface="Courier New"/>
                <a:cs typeface="Courier New"/>
              </a:rPr>
              <a:t>b.id</a:t>
            </a:r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;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  }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}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Comparator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800" b="1" dirty="0" smtClean="0">
              <a:latin typeface="Courier New"/>
              <a:cs typeface="Courier New"/>
            </a:endParaRPr>
          </a:p>
          <a:p>
            <a:pPr marL="0" indent="0">
              <a:buNone/>
            </a:pPr>
            <a:endParaRPr lang="en-US" sz="2800" b="1" dirty="0">
              <a:latin typeface="Courier New"/>
              <a:cs typeface="Courier New"/>
            </a:endParaRPr>
          </a:p>
          <a:p>
            <a:pPr marL="0" indent="0">
              <a:buNone/>
            </a:pPr>
            <a:endParaRPr lang="en-US" sz="2800" b="1" dirty="0" smtClean="0">
              <a:latin typeface="Courier New"/>
              <a:cs typeface="Courier New"/>
            </a:endParaRPr>
          </a:p>
          <a:p>
            <a:pPr marL="0" indent="0">
              <a:buNone/>
            </a:pPr>
            <a:endParaRPr lang="en-US" sz="2800" b="1" dirty="0">
              <a:latin typeface="Courier New"/>
              <a:cs typeface="Courier New"/>
            </a:endParaRPr>
          </a:p>
          <a:p>
            <a:pPr marL="0" indent="0">
              <a:buNone/>
            </a:pPr>
            <a:endParaRPr lang="en-US" sz="2800" b="1" dirty="0" smtClean="0">
              <a:latin typeface="Courier New"/>
              <a:cs typeface="Courier New"/>
            </a:endParaRPr>
          </a:p>
          <a:p>
            <a:pPr marL="400050" lvl="1" indent="0">
              <a:buNone/>
            </a:pPr>
            <a:r>
              <a:rPr lang="en-US" sz="2400" b="1" dirty="0" smtClean="0">
                <a:latin typeface="Courier New"/>
                <a:cs typeface="Courier New"/>
              </a:rPr>
              <a:t>Student</a:t>
            </a:r>
            <a:r>
              <a:rPr lang="en-US" sz="2400" b="1" dirty="0">
                <a:latin typeface="Courier New"/>
                <a:cs typeface="Courier New"/>
              </a:rPr>
              <a:t>[] </a:t>
            </a:r>
            <a:r>
              <a:rPr lang="en-US" sz="2400" b="1" dirty="0" err="1">
                <a:latin typeface="Courier New"/>
                <a:cs typeface="Courier New"/>
              </a:rPr>
              <a:t>sv</a:t>
            </a:r>
            <a:r>
              <a:rPr lang="en-US" sz="2400" b="1" dirty="0">
                <a:latin typeface="Courier New"/>
                <a:cs typeface="Courier New"/>
              </a:rPr>
              <a:t> = {new Student(11), </a:t>
            </a:r>
            <a:endParaRPr lang="en-US" sz="2400" b="1" dirty="0" smtClean="0">
              <a:latin typeface="Courier New"/>
              <a:cs typeface="Courier New"/>
            </a:endParaRPr>
          </a:p>
          <a:p>
            <a:pPr marL="400050" lvl="1" indent="0">
              <a:buNone/>
            </a:pPr>
            <a:r>
              <a:rPr lang="en-US" sz="2400" b="1" dirty="0">
                <a:latin typeface="Courier New"/>
                <a:cs typeface="Courier New"/>
              </a:rPr>
              <a:t>	</a:t>
            </a:r>
            <a:r>
              <a:rPr lang="en-US" sz="2400" b="1" dirty="0" smtClean="0">
                <a:latin typeface="Courier New"/>
                <a:cs typeface="Courier New"/>
              </a:rPr>
              <a:t>					   new </a:t>
            </a:r>
            <a:r>
              <a:rPr lang="en-US" sz="2400" b="1" dirty="0">
                <a:latin typeface="Courier New"/>
                <a:cs typeface="Courier New"/>
              </a:rPr>
              <a:t>Student(3</a:t>
            </a:r>
            <a:r>
              <a:rPr lang="en-US" sz="2400" b="1" dirty="0" smtClean="0">
                <a:latin typeface="Courier New"/>
                <a:cs typeface="Courier New"/>
              </a:rPr>
              <a:t>),</a:t>
            </a:r>
          </a:p>
          <a:p>
            <a:pPr marL="400050" lvl="1" indent="0">
              <a:buNone/>
            </a:pPr>
            <a:r>
              <a:rPr lang="en-US" sz="2400" b="1" dirty="0" smtClean="0">
                <a:latin typeface="Courier New"/>
                <a:cs typeface="Courier New"/>
              </a:rPr>
              <a:t>						   new </a:t>
            </a:r>
            <a:r>
              <a:rPr lang="en-US" sz="2400" b="1" dirty="0">
                <a:latin typeface="Courier New"/>
                <a:cs typeface="Courier New"/>
              </a:rPr>
              <a:t>Student</a:t>
            </a:r>
            <a:r>
              <a:rPr lang="en-US" sz="2400" b="1" dirty="0" smtClean="0">
                <a:latin typeface="Courier New"/>
                <a:cs typeface="Courier New"/>
              </a:rPr>
              <a:t>(7)}</a:t>
            </a:r>
            <a:r>
              <a:rPr lang="en-US" sz="2400" b="1" dirty="0">
                <a:latin typeface="Courier New"/>
                <a:cs typeface="Courier New"/>
              </a:rPr>
              <a:t>;</a:t>
            </a:r>
            <a:r>
              <a:rPr lang="en-US" sz="2400" b="1" dirty="0" smtClean="0">
                <a:latin typeface="Courier New"/>
                <a:cs typeface="Courier New"/>
              </a:rPr>
              <a:t>	</a:t>
            </a:r>
          </a:p>
          <a:p>
            <a:pPr marL="400050" lvl="1" indent="0">
              <a:buNone/>
            </a:pPr>
            <a:r>
              <a:rPr lang="en-US" sz="2400" b="1" dirty="0" err="1" smtClean="0">
                <a:latin typeface="Courier New"/>
                <a:cs typeface="Courier New"/>
              </a:rPr>
              <a:t>Arrays.sort</a:t>
            </a:r>
            <a:r>
              <a:rPr lang="en-US" sz="2400" b="1" dirty="0" smtClean="0">
                <a:latin typeface="Courier New"/>
                <a:cs typeface="Courier New"/>
              </a:rPr>
              <a:t>(</a:t>
            </a:r>
            <a:r>
              <a:rPr lang="en-US" sz="2400" b="1" dirty="0" err="1" smtClean="0">
                <a:latin typeface="Courier New"/>
                <a:cs typeface="Courier New"/>
              </a:rPr>
              <a:t>sv</a:t>
            </a:r>
            <a:r>
              <a:rPr lang="en-US" sz="2400" b="1" dirty="0" smtClean="0">
                <a:latin typeface="Courier New"/>
                <a:cs typeface="Courier New"/>
              </a:rPr>
              <a:t>, new </a:t>
            </a:r>
            <a:r>
              <a:rPr lang="en-US" sz="2400" b="1" dirty="0" err="1" smtClean="0">
                <a:latin typeface="Courier New"/>
                <a:cs typeface="Courier New"/>
              </a:rPr>
              <a:t>StudentCmp</a:t>
            </a:r>
            <a:r>
              <a:rPr lang="en-US" sz="2400" b="1" dirty="0" smtClean="0">
                <a:latin typeface="Courier New"/>
                <a:cs typeface="Courier New"/>
              </a:rPr>
              <a:t>());</a:t>
            </a:r>
            <a:endParaRPr lang="en-US" sz="2400" b="1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2424728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Lucida Sans Unicode" charset="0"/>
              </a:rPr>
              <a:t>Strategy </a:t>
            </a:r>
            <a:r>
              <a:rPr lang="en-US" dirty="0" smtClean="0">
                <a:latin typeface="Lucida Sans Unicode" charset="0"/>
              </a:rPr>
              <a:t>Example: </a:t>
            </a:r>
            <a:r>
              <a:rPr lang="en-US" dirty="0" smtClean="0">
                <a:latin typeface="Courier New"/>
                <a:cs typeface="Courier New"/>
              </a:rPr>
              <a:t>Comparator</a:t>
            </a:r>
            <a:endParaRPr lang="en-US" dirty="0">
              <a:latin typeface="Courier New"/>
              <a:cs typeface="Courier New"/>
            </a:endParaRPr>
          </a:p>
        </p:txBody>
      </p:sp>
      <p:pic>
        <p:nvPicPr>
          <p:cNvPr id="194562" name="Picture 3" descr="StrategyExample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513" y="2159000"/>
            <a:ext cx="8037512" cy="321468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91474455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latin typeface="Lucida Sans Unicode" charset="0"/>
              </a:rPr>
              <a:t>Strategy Consequences</a:t>
            </a:r>
            <a:endParaRPr lang="en-US" dirty="0">
              <a:latin typeface="Lucida Sans Unicode" charset="0"/>
            </a:endParaRPr>
          </a:p>
        </p:txBody>
      </p:sp>
      <p:sp>
        <p:nvSpPr>
          <p:cNvPr id="19558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charset="0"/>
              <a:buNone/>
            </a:pPr>
            <a:r>
              <a:rPr lang="en-US" sz="3000">
                <a:latin typeface="Lucida Sans Unicode" charset="0"/>
              </a:rPr>
              <a:t>+ Avoid conditional statements</a:t>
            </a:r>
          </a:p>
          <a:p>
            <a:pPr eaLnBrk="1" hangingPunct="1">
              <a:buFont typeface="Wingdings" charset="0"/>
              <a:buNone/>
            </a:pPr>
            <a:r>
              <a:rPr lang="en-US" sz="3000">
                <a:latin typeface="Lucida Sans Unicode" charset="0"/>
              </a:rPr>
              <a:t>+ Algorithms may be organized in families</a:t>
            </a:r>
          </a:p>
          <a:p>
            <a:pPr eaLnBrk="1" hangingPunct="1">
              <a:buFont typeface="Wingdings" charset="0"/>
              <a:buNone/>
            </a:pPr>
            <a:r>
              <a:rPr lang="en-US" sz="3000">
                <a:latin typeface="Lucida Sans Unicode" charset="0"/>
              </a:rPr>
              <a:t>+ Choice of implementations</a:t>
            </a:r>
          </a:p>
          <a:p>
            <a:pPr eaLnBrk="1" hangingPunct="1">
              <a:buFont typeface="Wingdings" charset="0"/>
              <a:buNone/>
            </a:pPr>
            <a:r>
              <a:rPr lang="en-US" sz="3000">
                <a:latin typeface="Lucida Sans Unicode" charset="0"/>
              </a:rPr>
              <a:t>+ Run-time binding</a:t>
            </a:r>
          </a:p>
          <a:p>
            <a:pPr eaLnBrk="1" hangingPunct="1">
              <a:buFont typeface="Wingdings" charset="0"/>
              <a:buNone/>
            </a:pPr>
            <a:r>
              <a:rPr lang="en-US" sz="3000">
                <a:latin typeface="Lucida Sans Unicode" charset="0"/>
              </a:rPr>
              <a:t>- Clients must be aware of different strategies</a:t>
            </a:r>
          </a:p>
          <a:p>
            <a:pPr eaLnBrk="1" hangingPunct="1">
              <a:buFont typeface="Wingdings" charset="0"/>
              <a:buNone/>
            </a:pPr>
            <a:r>
              <a:rPr lang="en-US" sz="3000">
                <a:latin typeface="Lucida Sans Unicode" charset="0"/>
              </a:rPr>
              <a:t>- Communication overhead</a:t>
            </a:r>
          </a:p>
          <a:p>
            <a:pPr eaLnBrk="1" hangingPunct="1">
              <a:buFont typeface="Wingdings" charset="0"/>
              <a:buNone/>
            </a:pPr>
            <a:r>
              <a:rPr lang="en-US" sz="3000">
                <a:latin typeface="Lucida Sans Unicode" charset="0"/>
              </a:rPr>
              <a:t>- Increased number of objects</a:t>
            </a:r>
          </a:p>
          <a:p>
            <a:pPr eaLnBrk="1" hangingPunct="1">
              <a:buFont typeface="Wingdings" charset="0"/>
              <a:buNone/>
            </a:pPr>
            <a:endParaRPr lang="en-US" sz="3000">
              <a:latin typeface="Lucida Sans Unicod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4260584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539552" y="1268760"/>
            <a:ext cx="8208912" cy="496855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lIns="90360" tIns="44280" rIns="90360" bIns="44280" rtlCol="0" anchor="ctr"/>
          <a:lstStyle/>
          <a:p>
            <a:pPr algn="ctr"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000" b="1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 smtClean="0"/>
              <a:t>Comparator w/anonymous class</a:t>
            </a:r>
            <a:endParaRPr lang="en-US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 smtClean="0">
                <a:latin typeface="Courier New"/>
                <a:cs typeface="Courier New"/>
              </a:rPr>
              <a:t>Student</a:t>
            </a:r>
            <a:r>
              <a:rPr lang="en-US" b="1" dirty="0">
                <a:latin typeface="Courier New"/>
                <a:cs typeface="Courier New"/>
              </a:rPr>
              <a:t>[] </a:t>
            </a:r>
            <a:r>
              <a:rPr lang="en-US" b="1" dirty="0" err="1">
                <a:latin typeface="Courier New"/>
                <a:cs typeface="Courier New"/>
              </a:rPr>
              <a:t>sv</a:t>
            </a:r>
            <a:r>
              <a:rPr lang="en-US" b="1" dirty="0">
                <a:latin typeface="Courier New"/>
                <a:cs typeface="Courier New"/>
              </a:rPr>
              <a:t> = {new Student(11), </a:t>
            </a:r>
            <a:endParaRPr lang="en-US" b="1" dirty="0" smtClean="0"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b="1" dirty="0">
                <a:latin typeface="Courier New"/>
                <a:cs typeface="Courier New"/>
              </a:rPr>
              <a:t>	</a:t>
            </a:r>
            <a:r>
              <a:rPr lang="en-US" b="1" dirty="0" smtClean="0">
                <a:latin typeface="Courier New"/>
                <a:cs typeface="Courier New"/>
              </a:rPr>
              <a:t>					   new </a:t>
            </a:r>
            <a:r>
              <a:rPr lang="en-US" b="1" dirty="0">
                <a:latin typeface="Courier New"/>
                <a:cs typeface="Courier New"/>
              </a:rPr>
              <a:t>Student(3</a:t>
            </a:r>
            <a:r>
              <a:rPr lang="en-US" b="1" dirty="0" smtClean="0">
                <a:latin typeface="Courier New"/>
                <a:cs typeface="Courier New"/>
              </a:rPr>
              <a:t>),</a:t>
            </a:r>
          </a:p>
          <a:p>
            <a:pPr marL="0" indent="0">
              <a:buNone/>
            </a:pPr>
            <a:r>
              <a:rPr lang="en-US" b="1" dirty="0" smtClean="0">
                <a:latin typeface="Courier New"/>
                <a:cs typeface="Courier New"/>
              </a:rPr>
              <a:t>						   new </a:t>
            </a:r>
            <a:r>
              <a:rPr lang="en-US" b="1" dirty="0">
                <a:latin typeface="Courier New"/>
                <a:cs typeface="Courier New"/>
              </a:rPr>
              <a:t>Student</a:t>
            </a:r>
            <a:r>
              <a:rPr lang="en-US" b="1" dirty="0" smtClean="0">
                <a:latin typeface="Courier New"/>
                <a:cs typeface="Courier New"/>
              </a:rPr>
              <a:t>(7)}</a:t>
            </a:r>
            <a:r>
              <a:rPr lang="en-US" b="1" dirty="0">
                <a:latin typeface="Courier New"/>
                <a:cs typeface="Courier New"/>
              </a:rPr>
              <a:t>;</a:t>
            </a:r>
            <a:r>
              <a:rPr lang="en-US" b="1" dirty="0" smtClean="0">
                <a:latin typeface="Courier New"/>
                <a:cs typeface="Courier New"/>
              </a:rPr>
              <a:t>	</a:t>
            </a:r>
          </a:p>
          <a:p>
            <a:pPr marL="0" indent="0">
              <a:buNone/>
            </a:pPr>
            <a:r>
              <a:rPr lang="en-US" b="1" dirty="0" err="1" smtClean="0">
                <a:latin typeface="Courier New"/>
                <a:cs typeface="Courier New"/>
              </a:rPr>
              <a:t>Arrays.sort</a:t>
            </a:r>
            <a:r>
              <a:rPr lang="en-US" b="1" dirty="0" smtClean="0">
                <a:latin typeface="Courier New"/>
                <a:cs typeface="Courier New"/>
              </a:rPr>
              <a:t>(</a:t>
            </a:r>
            <a:r>
              <a:rPr lang="en-US" b="1" dirty="0" err="1" smtClean="0">
                <a:latin typeface="Courier New"/>
                <a:cs typeface="Courier New"/>
              </a:rPr>
              <a:t>sv</a:t>
            </a:r>
            <a:r>
              <a:rPr lang="en-US" b="1" dirty="0" smtClean="0">
                <a:latin typeface="Courier New"/>
                <a:cs typeface="Courier New"/>
              </a:rPr>
              <a:t>, </a:t>
            </a:r>
            <a:r>
              <a:rPr lang="en-US" b="1" dirty="0" smtClean="0">
                <a:solidFill>
                  <a:srgbClr val="FF6600"/>
                </a:solidFill>
                <a:latin typeface="Courier New"/>
                <a:cs typeface="Courier New"/>
              </a:rPr>
              <a:t>new Comparator(){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chemeClr val="tx1"/>
                </a:solidFill>
                <a:latin typeface="Courier New"/>
                <a:cs typeface="Courier New"/>
              </a:rPr>
              <a:t>  public </a:t>
            </a:r>
            <a:r>
              <a:rPr lang="en-US" b="1" dirty="0" err="1">
                <a:solidFill>
                  <a:schemeClr val="tx1"/>
                </a:solidFill>
                <a:latin typeface="Courier New"/>
                <a:cs typeface="Courier New"/>
              </a:rPr>
              <a:t>int</a:t>
            </a:r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 compare(Object a, Object b){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    Student </a:t>
            </a:r>
            <a:r>
              <a:rPr lang="en-US" b="1" dirty="0" err="1">
                <a:solidFill>
                  <a:schemeClr val="tx1"/>
                </a:solidFill>
                <a:latin typeface="Courier New"/>
                <a:cs typeface="Courier New"/>
              </a:rPr>
              <a:t>sa</a:t>
            </a:r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 = (Student)a;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    Student </a:t>
            </a:r>
            <a:r>
              <a:rPr lang="en-US" b="1" dirty="0" err="1">
                <a:solidFill>
                  <a:schemeClr val="tx1"/>
                </a:solidFill>
                <a:latin typeface="Courier New"/>
                <a:cs typeface="Courier New"/>
              </a:rPr>
              <a:t>sb</a:t>
            </a:r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 = (Student)b; 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    return </a:t>
            </a:r>
            <a:r>
              <a:rPr lang="en-US" b="1" dirty="0" err="1">
                <a:solidFill>
                  <a:schemeClr val="tx1"/>
                </a:solidFill>
                <a:latin typeface="Courier New"/>
                <a:cs typeface="Courier New"/>
              </a:rPr>
              <a:t>a.id</a:t>
            </a:r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 – </a:t>
            </a:r>
            <a:r>
              <a:rPr lang="en-US" b="1" dirty="0" err="1">
                <a:solidFill>
                  <a:schemeClr val="tx1"/>
                </a:solidFill>
                <a:latin typeface="Courier New"/>
                <a:cs typeface="Courier New"/>
              </a:rPr>
              <a:t>b.id</a:t>
            </a:r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;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chemeClr val="tx1"/>
                </a:solidFill>
                <a:latin typeface="Courier New"/>
                <a:cs typeface="Courier New"/>
              </a:rPr>
              <a:t>	}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rgbClr val="FF6600"/>
                </a:solidFill>
                <a:latin typeface="Courier New"/>
                <a:cs typeface="Courier New"/>
              </a:rPr>
              <a:t>}</a:t>
            </a:r>
            <a:r>
              <a:rPr lang="en-US" b="1" dirty="0" smtClean="0">
                <a:latin typeface="Courier New"/>
                <a:cs typeface="Courier New"/>
              </a:rPr>
              <a:t>);</a:t>
            </a:r>
            <a:endParaRPr lang="en-US" b="1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5519947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</a:rPr>
              <a:t>Communication decoupling</a:t>
            </a:r>
          </a:p>
        </p:txBody>
      </p:sp>
      <p:sp>
        <p:nvSpPr>
          <p:cNvPr id="12595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latin typeface="Lucida Sans Unicode" charset="0"/>
              </a:rPr>
              <a:t>Separating senders </a:t>
            </a:r>
            <a:r>
              <a:rPr lang="en-US" dirty="0">
                <a:latin typeface="Lucida Sans Unicode" charset="0"/>
              </a:rPr>
              <a:t>and receivers is a key to:</a:t>
            </a:r>
          </a:p>
          <a:p>
            <a:pPr lvl="1" eaLnBrk="1" hangingPunct="1"/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</a:rPr>
              <a:t>Reduce </a:t>
            </a:r>
            <a:r>
              <a:rPr lang="en-US" dirty="0" smtClean="0">
                <a:latin typeface="Lucida Sans Unicode" charset="0"/>
                <a:ea typeface="Lucida Sans Unicode" charset="0"/>
                <a:cs typeface="Lucida Sans Unicode" charset="0"/>
              </a:rPr>
              <a:t>code coupling</a:t>
            </a:r>
            <a:endParaRPr lang="en-US" dirty="0">
              <a:latin typeface="Lucida Sans Unicode" charset="0"/>
              <a:ea typeface="Lucida Sans Unicode" charset="0"/>
              <a:cs typeface="Lucida Sans Unicode" charset="0"/>
            </a:endParaRPr>
          </a:p>
          <a:p>
            <a:pPr lvl="1" eaLnBrk="1" hangingPunct="1"/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</a:rPr>
              <a:t>Improve reusability</a:t>
            </a:r>
          </a:p>
          <a:p>
            <a:pPr lvl="1" eaLnBrk="1" hangingPunct="1"/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</a:rPr>
              <a:t>Enforce layering and </a:t>
            </a:r>
            <a:r>
              <a:rPr lang="en-US" dirty="0" smtClean="0">
                <a:latin typeface="Lucida Sans Unicode" charset="0"/>
                <a:ea typeface="Lucida Sans Unicode" charset="0"/>
                <a:cs typeface="Lucida Sans Unicode" charset="0"/>
              </a:rPr>
              <a:t>structure</a:t>
            </a:r>
          </a:p>
          <a:p>
            <a:pPr eaLnBrk="1" hangingPunct="1"/>
            <a:endParaRPr lang="en-US" dirty="0">
              <a:latin typeface="Lucida Sans Unicode" charset="0"/>
              <a:ea typeface="Lucida Sans Unicode" charset="0"/>
              <a:cs typeface="Lucida Sans Unicode" charset="0"/>
            </a:endParaRPr>
          </a:p>
        </p:txBody>
      </p:sp>
      <p:sp>
        <p:nvSpPr>
          <p:cNvPr id="125955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D1A3015A-7352-DE40-BB2F-BCCE7C19A862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 eaLnBrk="1" hangingPunct="1"/>
              <a:t>119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7630721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ourier New"/>
                <a:cs typeface="Courier New"/>
              </a:rPr>
              <a:t>Observer</a:t>
            </a:r>
            <a:r>
              <a:rPr lang="en-US" dirty="0" smtClean="0"/>
              <a:t>-</a:t>
            </a:r>
            <a:r>
              <a:rPr lang="en-US" dirty="0" smtClean="0">
                <a:latin typeface="Courier New"/>
                <a:cs typeface="Courier New"/>
              </a:rPr>
              <a:t>Observable</a:t>
            </a:r>
            <a:endParaRPr lang="en-US" dirty="0">
              <a:latin typeface="Courier New"/>
              <a:cs typeface="Courier New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Allows a standardized interaction between an objects that needs to notify one or more other objects</a:t>
            </a:r>
          </a:p>
          <a:p>
            <a:r>
              <a:rPr lang="en-US" dirty="0" smtClean="0"/>
              <a:t>Defined in package </a:t>
            </a:r>
            <a:r>
              <a:rPr lang="en-US" b="1" dirty="0" err="1">
                <a:latin typeface="Courier New"/>
                <a:cs typeface="Courier New"/>
              </a:rPr>
              <a:t>java.util</a:t>
            </a:r>
            <a:endParaRPr lang="en-US" b="1" dirty="0">
              <a:latin typeface="Courier New"/>
              <a:cs typeface="Courier New"/>
            </a:endParaRPr>
          </a:p>
          <a:p>
            <a:r>
              <a:rPr lang="en-US" dirty="0" smtClean="0"/>
              <a:t>Class </a:t>
            </a:r>
            <a:r>
              <a:rPr lang="en-US" b="1" dirty="0" smtClean="0">
                <a:latin typeface="Courier New"/>
                <a:cs typeface="Courier New"/>
              </a:rPr>
              <a:t>Observable</a:t>
            </a:r>
          </a:p>
          <a:p>
            <a:r>
              <a:rPr lang="en-US" dirty="0" smtClean="0"/>
              <a:t>Interface </a:t>
            </a:r>
            <a:r>
              <a:rPr lang="en-US" b="1" dirty="0">
                <a:latin typeface="Courier New"/>
                <a:cs typeface="Courier New"/>
              </a:rPr>
              <a:t>Observer</a:t>
            </a:r>
          </a:p>
        </p:txBody>
      </p:sp>
    </p:spTree>
    <p:extLst>
      <p:ext uri="{BB962C8B-B14F-4D97-AF65-F5344CB8AC3E}">
        <p14:creationId xmlns:p14="http://schemas.microsoft.com/office/powerpoint/2010/main" val="287156813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urier New"/>
                <a:cs typeface="Courier New"/>
              </a:rPr>
              <a:t>Observer</a:t>
            </a:r>
            <a:r>
              <a:rPr lang="en-US" dirty="0"/>
              <a:t>-</a:t>
            </a:r>
            <a:r>
              <a:rPr lang="en-US" dirty="0">
                <a:latin typeface="Courier New"/>
                <a:cs typeface="Courier New"/>
              </a:rPr>
              <a:t>Observable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Class </a:t>
            </a:r>
            <a:r>
              <a:rPr lang="en-US" b="1" dirty="0">
                <a:latin typeface="Courier New"/>
                <a:cs typeface="Courier New"/>
              </a:rPr>
              <a:t>Observable</a:t>
            </a:r>
            <a:r>
              <a:rPr lang="en-US" dirty="0"/>
              <a:t> manages:</a:t>
            </a:r>
          </a:p>
          <a:p>
            <a:pPr lvl="1"/>
            <a:r>
              <a:rPr lang="en-US" dirty="0" smtClean="0"/>
              <a:t>registration </a:t>
            </a:r>
            <a:r>
              <a:rPr lang="en-US" dirty="0"/>
              <a:t>of </a:t>
            </a:r>
            <a:r>
              <a:rPr lang="en-US" dirty="0" smtClean="0"/>
              <a:t>interested observers by </a:t>
            </a:r>
            <a:r>
              <a:rPr lang="en-US" dirty="0"/>
              <a:t>means of method </a:t>
            </a:r>
            <a:r>
              <a:rPr lang="en-US" b="1" dirty="0" err="1">
                <a:latin typeface="Courier New"/>
                <a:ea typeface="ＭＳ Ｐゴシック" charset="0"/>
                <a:cs typeface="Courier New"/>
              </a:rPr>
              <a:t>addObserver</a:t>
            </a:r>
            <a:r>
              <a:rPr lang="en-US" b="1" dirty="0">
                <a:latin typeface="Courier New"/>
                <a:ea typeface="ＭＳ Ｐゴシック" charset="0"/>
                <a:cs typeface="Courier New"/>
              </a:rPr>
              <a:t>()</a:t>
            </a:r>
          </a:p>
          <a:p>
            <a:pPr lvl="1"/>
            <a:r>
              <a:rPr lang="en-US" dirty="0"/>
              <a:t>sending the notification of the status change to the observer(s) together with additional information concerning the status (event object).</a:t>
            </a:r>
          </a:p>
          <a:p>
            <a:r>
              <a:rPr lang="en-US" dirty="0"/>
              <a:t>Interface </a:t>
            </a:r>
            <a:r>
              <a:rPr lang="en-US" b="1" dirty="0">
                <a:latin typeface="Courier New"/>
                <a:cs typeface="Courier New"/>
              </a:rPr>
              <a:t>Observer</a:t>
            </a:r>
            <a:r>
              <a:rPr lang="en-US" dirty="0"/>
              <a:t> </a:t>
            </a:r>
            <a:r>
              <a:rPr lang="en-US" dirty="0" smtClean="0"/>
              <a:t>allows:</a:t>
            </a:r>
          </a:p>
          <a:p>
            <a:pPr lvl="1"/>
            <a:r>
              <a:rPr lang="en-US" dirty="0" smtClean="0"/>
              <a:t>Receiving standardized notification of the observer change of state through method </a:t>
            </a:r>
            <a:r>
              <a:rPr lang="en-US" b="1" dirty="0">
                <a:latin typeface="Courier New"/>
                <a:ea typeface="ＭＳ Ｐゴシック" charset="0"/>
                <a:cs typeface="Courier New"/>
              </a:rPr>
              <a:t>update()</a:t>
            </a:r>
            <a:r>
              <a:rPr lang="en-US" dirty="0"/>
              <a:t> </a:t>
            </a:r>
            <a:r>
              <a:rPr lang="en-US" dirty="0" smtClean="0"/>
              <a:t>that accepts </a:t>
            </a:r>
            <a:r>
              <a:rPr lang="en-US" dirty="0"/>
              <a:t>two arguments: </a:t>
            </a:r>
            <a:endParaRPr lang="en-US" dirty="0" smtClean="0"/>
          </a:p>
          <a:p>
            <a:pPr lvl="2"/>
            <a:r>
              <a:rPr lang="en-US" dirty="0" smtClean="0"/>
              <a:t>Observable </a:t>
            </a:r>
            <a:r>
              <a:rPr lang="en-US" dirty="0"/>
              <a:t>object that originated the notification </a:t>
            </a:r>
            <a:endParaRPr lang="en-US" dirty="0" smtClean="0"/>
          </a:p>
          <a:p>
            <a:pPr lvl="2"/>
            <a:r>
              <a:rPr lang="en-US" dirty="0" smtClean="0"/>
              <a:t>Additional </a:t>
            </a:r>
            <a:r>
              <a:rPr lang="en-US" dirty="0"/>
              <a:t>information (the event object</a:t>
            </a:r>
            <a:r>
              <a:rPr lang="en-U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0672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urier New"/>
                <a:cs typeface="Courier New"/>
              </a:rPr>
              <a:t>Observer</a:t>
            </a:r>
            <a:r>
              <a:rPr lang="en-US" dirty="0"/>
              <a:t>-</a:t>
            </a:r>
            <a:r>
              <a:rPr lang="en-US" dirty="0">
                <a:latin typeface="Courier New"/>
                <a:cs typeface="Courier New"/>
              </a:rPr>
              <a:t>Observable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rcRect l="-4902" r="-490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24162883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urier New"/>
                <a:cs typeface="Courier New"/>
              </a:rPr>
              <a:t>Observer</a:t>
            </a:r>
            <a:r>
              <a:rPr lang="en-US" dirty="0"/>
              <a:t>-</a:t>
            </a:r>
            <a:r>
              <a:rPr lang="en-US" dirty="0">
                <a:latin typeface="Courier New"/>
                <a:cs typeface="Courier New"/>
              </a:rPr>
              <a:t>Observable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Sending a notification from an observable element involves two steps:</a:t>
            </a:r>
          </a:p>
          <a:p>
            <a:pPr lvl="1"/>
            <a:r>
              <a:rPr lang="en-US" dirty="0"/>
              <a:t>record the fact the the status of the </a:t>
            </a:r>
            <a:r>
              <a:rPr lang="en-US" dirty="0" smtClean="0"/>
              <a:t>observable </a:t>
            </a:r>
            <a:r>
              <a:rPr lang="en-US" dirty="0"/>
              <a:t>has changed, by means of method </a:t>
            </a:r>
            <a:r>
              <a:rPr lang="en-US" b="1" dirty="0" err="1">
                <a:latin typeface="Courier New"/>
                <a:cs typeface="Courier New"/>
              </a:rPr>
              <a:t>setChanged</a:t>
            </a:r>
            <a:r>
              <a:rPr lang="en-US" b="1" dirty="0">
                <a:latin typeface="Courier New"/>
                <a:cs typeface="Courier New"/>
              </a:rPr>
              <a:t>()</a:t>
            </a:r>
            <a:r>
              <a:rPr lang="en-US" dirty="0"/>
              <a:t>,</a:t>
            </a:r>
          </a:p>
          <a:p>
            <a:pPr lvl="1"/>
            <a:r>
              <a:rPr lang="en-US" dirty="0"/>
              <a:t>send the actual notification </a:t>
            </a:r>
            <a:r>
              <a:rPr lang="en-US" dirty="0" smtClean="0"/>
              <a:t>and provide additional </a:t>
            </a:r>
            <a:r>
              <a:rPr lang="en-US" dirty="0"/>
              <a:t>information (the event object), by means of method </a:t>
            </a:r>
            <a:r>
              <a:rPr lang="en-US" b="1" dirty="0" err="1">
                <a:latin typeface="Courier New"/>
                <a:cs typeface="Courier New"/>
              </a:rPr>
              <a:t>notifyObservers</a:t>
            </a:r>
            <a:r>
              <a:rPr lang="en-US" b="1" dirty="0">
                <a:latin typeface="Courier New"/>
                <a:cs typeface="Courier New"/>
              </a:rPr>
              <a:t>(</a:t>
            </a:r>
            <a:r>
              <a:rPr lang="en-US" b="1" dirty="0" smtClean="0">
                <a:latin typeface="Courier New"/>
                <a:cs typeface="Courier New"/>
              </a:rPr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02420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smtClean="0">
                <a:latin typeface="Lucida Sans Unicode" charset="0"/>
              </a:rPr>
              <a:t>Observer Pattern</a:t>
            </a:r>
            <a:endParaRPr lang="en-GB" dirty="0">
              <a:latin typeface="Lucida Sans Unicode" charset="0"/>
            </a:endParaRPr>
          </a:p>
        </p:txBody>
      </p:sp>
      <p:sp>
        <p:nvSpPr>
          <p:cNvPr id="128003" name="Rectangle 2"/>
          <p:cNvSpPr>
            <a:spLocks noGrp="1" noChangeArrowheads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>
                <a:latin typeface="Lucida Sans Unicode" charset="0"/>
              </a:rPr>
              <a:t>Context:</a:t>
            </a:r>
          </a:p>
          <a:p>
            <a:pPr lvl="1" eaLnBrk="1" hangingPunct="1">
              <a:lnSpc>
                <a:spcPct val="10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The change in one object may </a:t>
            </a:r>
            <a:r>
              <a:rPr lang="en-GB" dirty="0" smtClean="0">
                <a:latin typeface="Lucida Sans Unicode" charset="0"/>
                <a:ea typeface="Lucida Sans Unicode" charset="0"/>
                <a:cs typeface="Lucida Sans Unicode" charset="0"/>
              </a:rPr>
              <a:t>trigger operations in one </a:t>
            </a: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or more other objects</a:t>
            </a:r>
          </a:p>
          <a:p>
            <a:pPr eaLnBrk="1" hangingPunct="1">
              <a:lnSpc>
                <a:spcPct val="10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>
                <a:latin typeface="Lucida Sans Unicode" charset="0"/>
              </a:rPr>
              <a:t>Problem</a:t>
            </a:r>
          </a:p>
          <a:p>
            <a:pPr lvl="1" eaLnBrk="1" hangingPunct="1">
              <a:lnSpc>
                <a:spcPct val="10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High coupling</a:t>
            </a:r>
          </a:p>
          <a:p>
            <a:pPr lvl="1" eaLnBrk="1" hangingPunct="1">
              <a:lnSpc>
                <a:spcPct val="10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Number and type of objects to be notified may not be known in advance</a:t>
            </a:r>
          </a:p>
        </p:txBody>
      </p:sp>
      <p:sp>
        <p:nvSpPr>
          <p:cNvPr id="128001" name="Slide Number Placeholder 5"/>
          <p:cNvSpPr>
            <a:spLocks noGrp="1"/>
          </p:cNvSpPr>
          <p:nvPr>
            <p:ph type="sldNum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09B72CD8-F92E-4843-B185-9E7E61042466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 eaLnBrk="1" hangingPunct="1"/>
              <a:t>124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6522134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Observer Pattern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Solution</a:t>
            </a:r>
          </a:p>
          <a:p>
            <a:pPr lvl="1"/>
            <a:r>
              <a:rPr lang="en-US" dirty="0" smtClean="0"/>
              <a:t>Define a base Subject class that provides methods to</a:t>
            </a:r>
          </a:p>
          <a:p>
            <a:pPr lvl="2"/>
            <a:r>
              <a:rPr lang="en-US" dirty="0" smtClean="0"/>
              <a:t>Manage observers registrations</a:t>
            </a:r>
          </a:p>
          <a:p>
            <a:pPr lvl="2"/>
            <a:r>
              <a:rPr lang="en-US" dirty="0" smtClean="0"/>
              <a:t>Send notifications</a:t>
            </a:r>
          </a:p>
          <a:p>
            <a:pPr lvl="1"/>
            <a:r>
              <a:rPr lang="en-US" dirty="0" smtClean="0"/>
              <a:t>Define a standard Observer interface with a method that receives the notifications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388577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Observer - Consequences</a:t>
            </a:r>
            <a:endParaRPr lang="en-US"/>
          </a:p>
        </p:txBody>
      </p:sp>
      <p:sp>
        <p:nvSpPr>
          <p:cNvPr id="13209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0850" indent="-450850">
              <a:buNone/>
              <a:tabLst>
                <a:tab pos="531813" algn="l"/>
              </a:tabLst>
            </a:pPr>
            <a:r>
              <a:rPr lang="en-US" dirty="0" smtClean="0"/>
              <a:t>+	Abstract coupling between Subject and Observer</a:t>
            </a:r>
          </a:p>
          <a:p>
            <a:pPr marL="450850" indent="-450850">
              <a:buNone/>
              <a:tabLst>
                <a:tab pos="531813" algn="l"/>
              </a:tabLst>
            </a:pPr>
            <a:r>
              <a:rPr lang="en-US" dirty="0" smtClean="0"/>
              <a:t>+	Support for broadcast communication</a:t>
            </a:r>
          </a:p>
          <a:p>
            <a:pPr marL="450850" indent="-450850">
              <a:buNone/>
              <a:tabLst>
                <a:tab pos="531813" algn="l"/>
              </a:tabLst>
            </a:pPr>
            <a:r>
              <a:rPr lang="en-US" smtClean="0"/>
              <a:t>-	Unanticipated </a:t>
            </a:r>
            <a:r>
              <a:rPr lang="en-US" dirty="0" smtClean="0"/>
              <a:t>updates</a:t>
            </a:r>
            <a:endParaRPr lang="en-US" dirty="0"/>
          </a:p>
        </p:txBody>
      </p:sp>
      <p:sp>
        <p:nvSpPr>
          <p:cNvPr id="132099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1CFD6A7C-9C8D-C141-93B7-2009347BE11A}" type="slidenum">
              <a:rPr lang="en-GB" smtClean="0"/>
              <a:pPr/>
              <a:t>126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5535416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Lucida Sans Unicode" charset="0"/>
                <a:cs typeface="Lucida Sans Unicode" charset="0"/>
              </a:rPr>
              <a:t>A word of advice</a:t>
            </a:r>
          </a:p>
        </p:txBody>
      </p:sp>
      <p:sp>
        <p:nvSpPr>
          <p:cNvPr id="16998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93000"/>
              </a:lnSpc>
            </a:pPr>
            <a:r>
              <a:rPr lang="en-US" sz="3000" dirty="0">
                <a:latin typeface="Lucida Sans Unicode" charset="0"/>
                <a:cs typeface="Lucida Sans Unicode" charset="0"/>
              </a:rPr>
              <a:t>Defining a class that contains abstract methods only is not illegal but..</a:t>
            </a:r>
          </a:p>
          <a:p>
            <a:pPr lvl="1">
              <a:lnSpc>
                <a:spcPct val="93000"/>
              </a:lnSpc>
            </a:pPr>
            <a:r>
              <a:rPr lang="en-US" sz="2600" dirty="0">
                <a:latin typeface="Lucida Sans Unicode" charset="0"/>
                <a:ea typeface="Lucida Sans Unicode" charset="0"/>
                <a:cs typeface="Lucida Sans Unicode" charset="0"/>
              </a:rPr>
              <a:t>You should use interfaces instead</a:t>
            </a:r>
          </a:p>
          <a:p>
            <a:pPr>
              <a:lnSpc>
                <a:spcPct val="93000"/>
              </a:lnSpc>
            </a:pPr>
            <a:r>
              <a:rPr lang="en-US" sz="3000" dirty="0">
                <a:latin typeface="Lucida Sans Unicode" charset="0"/>
                <a:cs typeface="Lucida Sans Unicode" charset="0"/>
              </a:rPr>
              <a:t>Overriding methods in subclasses can maintain or extend the visibility of overridden superclass’s methods</a:t>
            </a:r>
          </a:p>
          <a:p>
            <a:pPr lvl="1">
              <a:lnSpc>
                <a:spcPct val="93000"/>
              </a:lnSpc>
            </a:pPr>
            <a:r>
              <a:rPr lang="en-US" sz="2600" dirty="0">
                <a:latin typeface="Lucida Sans Unicode" charset="0"/>
                <a:ea typeface="Lucida Sans Unicode" charset="0"/>
                <a:cs typeface="Lucida Sans Unicode" charset="0"/>
              </a:rPr>
              <a:t>e.g. protected </a:t>
            </a:r>
            <a:r>
              <a:rPr lang="en-US" sz="2600" b="1" dirty="0" err="1">
                <a:latin typeface="Courier New"/>
                <a:ea typeface="Lucida Sans Unicode" charset="0"/>
                <a:cs typeface="Courier New"/>
              </a:rPr>
              <a:t>int</a:t>
            </a:r>
            <a:r>
              <a:rPr lang="en-US" sz="2600" b="1" dirty="0">
                <a:latin typeface="Courier New"/>
                <a:ea typeface="Lucida Sans Unicode" charset="0"/>
                <a:cs typeface="Courier New"/>
              </a:rPr>
              <a:t> m()</a:t>
            </a:r>
            <a:r>
              <a:rPr lang="en-US" sz="2600" dirty="0">
                <a:latin typeface="Lucida Sans Unicode" charset="0"/>
                <a:ea typeface="Lucida Sans Unicode" charset="0"/>
                <a:cs typeface="Lucida Sans Unicode" charset="0"/>
              </a:rPr>
              <a:t> can’t be overridden by</a:t>
            </a:r>
          </a:p>
          <a:p>
            <a:pPr lvl="2">
              <a:lnSpc>
                <a:spcPct val="93000"/>
              </a:lnSpc>
            </a:pPr>
            <a:r>
              <a:rPr lang="en-US" sz="2200" b="1" dirty="0">
                <a:latin typeface="Courier New"/>
                <a:ea typeface="Lucida Sans Unicode" charset="0"/>
                <a:cs typeface="Courier New"/>
              </a:rPr>
              <a:t>private </a:t>
            </a:r>
            <a:r>
              <a:rPr lang="en-US" sz="2200" b="1" dirty="0" err="1">
                <a:latin typeface="Courier New"/>
                <a:ea typeface="Lucida Sans Unicode" charset="0"/>
                <a:cs typeface="Courier New"/>
              </a:rPr>
              <a:t>int</a:t>
            </a:r>
            <a:r>
              <a:rPr lang="en-US" sz="2200" b="1" dirty="0">
                <a:latin typeface="Courier New"/>
                <a:ea typeface="Lucida Sans Unicode" charset="0"/>
                <a:cs typeface="Courier New"/>
              </a:rPr>
              <a:t> m()</a:t>
            </a:r>
          </a:p>
          <a:p>
            <a:pPr lvl="2">
              <a:lnSpc>
                <a:spcPct val="93000"/>
              </a:lnSpc>
            </a:pPr>
            <a:r>
              <a:rPr lang="en-US" sz="2200" b="1" dirty="0" err="1" smtClean="0">
                <a:latin typeface="Courier New"/>
                <a:ea typeface="Lucida Sans Unicode" charset="0"/>
                <a:cs typeface="Courier New"/>
              </a:rPr>
              <a:t>int</a:t>
            </a:r>
            <a:r>
              <a:rPr lang="en-US" sz="2200" b="1" dirty="0" smtClean="0">
                <a:latin typeface="Courier New"/>
                <a:ea typeface="Lucida Sans Unicode" charset="0"/>
                <a:cs typeface="Courier New"/>
              </a:rPr>
              <a:t> </a:t>
            </a:r>
            <a:r>
              <a:rPr lang="en-US" sz="2200" b="1" dirty="0">
                <a:latin typeface="Courier New"/>
                <a:ea typeface="Lucida Sans Unicode" charset="0"/>
                <a:cs typeface="Courier New"/>
              </a:rPr>
              <a:t>m()</a:t>
            </a:r>
          </a:p>
          <a:p>
            <a:pPr lvl="1">
              <a:lnSpc>
                <a:spcPct val="93000"/>
              </a:lnSpc>
            </a:pPr>
            <a:r>
              <a:rPr lang="en-US" sz="2600" dirty="0">
                <a:latin typeface="Lucida Sans Unicode" charset="0"/>
                <a:ea typeface="Lucida Sans Unicode" charset="0"/>
                <a:cs typeface="Lucida Sans Unicode" charset="0"/>
              </a:rPr>
              <a:t>Only protected or public are allowed</a:t>
            </a:r>
          </a:p>
          <a:p>
            <a:pPr>
              <a:lnSpc>
                <a:spcPct val="93000"/>
              </a:lnSpc>
            </a:pPr>
            <a:endParaRPr lang="en-US" sz="3000" dirty="0">
              <a:latin typeface="Lucida Sans Unicode" charset="0"/>
              <a:cs typeface="Lucida Sans Unicode" charset="0"/>
            </a:endParaRPr>
          </a:p>
        </p:txBody>
      </p:sp>
      <p:sp>
        <p:nvSpPr>
          <p:cNvPr id="169987" name="Segnaposto numero diapositiva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fld id="{65870625-4518-1449-9E82-1C3FB83DCF08}" type="slidenum">
              <a:rPr lang="it-IT" sz="1200">
                <a:solidFill>
                  <a:srgbClr val="000000"/>
                </a:solidFill>
              </a:rPr>
              <a:pPr eaLnBrk="1" hangingPunct="1"/>
              <a:t>127</a:t>
            </a:fld>
            <a:endParaRPr lang="it-IT" sz="1200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Default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Interface method implementation can be provided for </a:t>
            </a:r>
            <a:r>
              <a:rPr lang="en-US" b="1" dirty="0" smtClean="0">
                <a:solidFill>
                  <a:srgbClr val="FF6600"/>
                </a:solidFill>
                <a:latin typeface="Courier New"/>
                <a:cs typeface="Courier New"/>
              </a:rPr>
              <a:t>default</a:t>
            </a:r>
            <a:r>
              <a:rPr lang="en-US" dirty="0" smtClean="0"/>
              <a:t> methods</a:t>
            </a:r>
          </a:p>
          <a:p>
            <a:pPr lvl="1"/>
            <a:r>
              <a:rPr lang="en-US" dirty="0" smtClean="0"/>
              <a:t>Cannot refer to non-static attributes</a:t>
            </a:r>
          </a:p>
          <a:p>
            <a:pPr lvl="2"/>
            <a:r>
              <a:rPr lang="en-US" dirty="0" smtClean="0"/>
              <a:t>Since they are unknown to the interface</a:t>
            </a:r>
          </a:p>
          <a:p>
            <a:pPr lvl="1"/>
            <a:r>
              <a:rPr lang="en-US" dirty="0" smtClean="0"/>
              <a:t>Can refer to arguments and other methods</a:t>
            </a:r>
          </a:p>
          <a:p>
            <a:pPr lvl="1"/>
            <a:r>
              <a:rPr lang="en-US" dirty="0" smtClean="0"/>
              <a:t>Can be overridden as usual methods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472829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Default methods motivation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</a:t>
            </a:r>
            <a:r>
              <a:rPr lang="en-US" dirty="0" smtClean="0"/>
              <a:t>nable adding </a:t>
            </a:r>
            <a:r>
              <a:rPr lang="en-US" dirty="0"/>
              <a:t>new functionality to the interfaces of </a:t>
            </a:r>
            <a:r>
              <a:rPr lang="en-US" dirty="0" smtClean="0"/>
              <a:t>libraries </a:t>
            </a:r>
            <a:r>
              <a:rPr lang="en-US" dirty="0"/>
              <a:t>and ensure </a:t>
            </a:r>
            <a:r>
              <a:rPr lang="en-US" dirty="0" smtClean="0"/>
              <a:t>compatibility </a:t>
            </a:r>
            <a:r>
              <a:rPr lang="en-US" dirty="0"/>
              <a:t>with code written for older versions of those interfaces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Provide extra functionalities through multiple inheritance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2555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539552" y="1268760"/>
            <a:ext cx="7344816" cy="489654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lIns="90360" tIns="44280" rIns="90360" bIns="44280" rtlCol="0" anchor="ctr"/>
          <a:lstStyle/>
          <a:p>
            <a:pPr algn="ctr"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000" b="1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5769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Default method - Example</a:t>
            </a:r>
            <a:endParaRPr lang="en-US" dirty="0">
              <a:latin typeface="Lucida Sans Unicode" charset="0"/>
              <a:cs typeface="Lucida Sans Unicode" charset="0"/>
            </a:endParaRPr>
          </a:p>
        </p:txBody>
      </p:sp>
      <p:sp>
        <p:nvSpPr>
          <p:cNvPr id="147458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buFont typeface="Wingdings" charset="0"/>
              <a:buNone/>
              <a:defRPr/>
            </a:pPr>
            <a:r>
              <a:rPr lang="en-US" b="1" dirty="0" smtClean="0">
                <a:latin typeface="Courier New" charset="0"/>
                <a:ea typeface="ＭＳ Ｐゴシック" charset="0"/>
                <a:cs typeface="ＭＳ Ｐゴシック" charset="0"/>
              </a:rPr>
              <a:t>public </a:t>
            </a:r>
            <a:r>
              <a:rPr lang="en-US" b="1" dirty="0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rPr>
              <a:t>interface </a:t>
            </a:r>
            <a:r>
              <a:rPr lang="en-US" b="1" dirty="0">
                <a:latin typeface="Courier New" charset="0"/>
                <a:ea typeface="ＭＳ Ｐゴシック" charset="0"/>
                <a:cs typeface="ＭＳ Ｐゴシック" charset="0"/>
              </a:rPr>
              <a:t>Complex {</a:t>
            </a:r>
          </a:p>
          <a:p>
            <a:pPr lvl="1">
              <a:buFont typeface="Wingdings" charset="0"/>
              <a:buNone/>
              <a:defRPr/>
            </a:pPr>
            <a:r>
              <a:rPr lang="en-US" b="1" dirty="0">
                <a:latin typeface="Courier New" charset="0"/>
                <a:ea typeface="ＭＳ Ｐゴシック" charset="0"/>
                <a:cs typeface="ＭＳ Ｐゴシック" charset="0"/>
              </a:rPr>
              <a:t>  </a:t>
            </a:r>
            <a:r>
              <a:rPr lang="en-US" b="1" dirty="0" smtClean="0">
                <a:latin typeface="Courier New" charset="0"/>
                <a:ea typeface="ＭＳ Ｐゴシック" charset="0"/>
                <a:cs typeface="ＭＳ Ｐゴシック" charset="0"/>
              </a:rPr>
              <a:t>double </a:t>
            </a:r>
            <a:r>
              <a:rPr lang="en-US" b="1" dirty="0">
                <a:latin typeface="Courier New" charset="0"/>
                <a:ea typeface="ＭＳ Ｐゴシック" charset="0"/>
                <a:cs typeface="ＭＳ Ｐゴシック" charset="0"/>
              </a:rPr>
              <a:t>real();</a:t>
            </a:r>
          </a:p>
          <a:p>
            <a:pPr lvl="1">
              <a:buFont typeface="Wingdings" charset="0"/>
              <a:buNone/>
              <a:defRPr/>
            </a:pPr>
            <a:r>
              <a:rPr lang="en-US" b="1" dirty="0">
                <a:latin typeface="Courier New" charset="0"/>
                <a:ea typeface="ＭＳ Ｐゴシック" charset="0"/>
                <a:cs typeface="ＭＳ Ｐゴシック" charset="0"/>
              </a:rPr>
              <a:t>  double imaginary();</a:t>
            </a:r>
          </a:p>
          <a:p>
            <a:pPr lvl="1">
              <a:buFont typeface="Wingdings" charset="0"/>
              <a:buNone/>
              <a:defRPr/>
            </a:pPr>
            <a:r>
              <a:rPr lang="en-US" b="1" dirty="0">
                <a:latin typeface="Courier New" charset="0"/>
                <a:ea typeface="ＭＳ Ｐゴシック" charset="0"/>
                <a:cs typeface="ＭＳ Ｐゴシック" charset="0"/>
              </a:rPr>
              <a:t>  </a:t>
            </a:r>
            <a:r>
              <a:rPr lang="en-US" b="1" dirty="0" smtClean="0">
                <a:latin typeface="Courier New" charset="0"/>
                <a:ea typeface="ＭＳ Ｐゴシック" charset="0"/>
                <a:cs typeface="ＭＳ Ｐゴシック" charset="0"/>
              </a:rPr>
              <a:t>double </a:t>
            </a:r>
            <a:r>
              <a:rPr lang="en-US" b="1" dirty="0">
                <a:latin typeface="Courier New" charset="0"/>
                <a:ea typeface="ＭＳ Ｐゴシック" charset="0"/>
                <a:cs typeface="ＭＳ Ｐゴシック" charset="0"/>
              </a:rPr>
              <a:t>modulus(</a:t>
            </a:r>
            <a:r>
              <a:rPr lang="en-US" b="1" dirty="0" smtClean="0">
                <a:latin typeface="Courier New" charset="0"/>
                <a:ea typeface="ＭＳ Ｐゴシック" charset="0"/>
                <a:cs typeface="ＭＳ Ｐゴシック" charset="0"/>
              </a:rPr>
              <a:t>);</a:t>
            </a:r>
            <a:endParaRPr lang="en-US" b="1" dirty="0">
              <a:latin typeface="Courier New" charset="0"/>
              <a:ea typeface="ＭＳ Ｐゴシック" charset="0"/>
              <a:cs typeface="ＭＳ Ｐゴシック" charset="0"/>
            </a:endParaRPr>
          </a:p>
          <a:p>
            <a:pPr lvl="1">
              <a:buFont typeface="Wingdings" charset="0"/>
              <a:buNone/>
              <a:defRPr/>
            </a:pPr>
            <a:r>
              <a:rPr lang="en-US" b="1" dirty="0">
                <a:latin typeface="Courier New" charset="0"/>
                <a:ea typeface="ＭＳ Ｐゴシック" charset="0"/>
                <a:cs typeface="ＭＳ Ｐゴシック" charset="0"/>
              </a:rPr>
              <a:t>  double argument()</a:t>
            </a:r>
            <a:r>
              <a:rPr lang="en-US" b="1" dirty="0" smtClean="0">
                <a:latin typeface="Courier New" charset="0"/>
                <a:ea typeface="ＭＳ Ｐゴシック" charset="0"/>
                <a:cs typeface="ＭＳ Ｐゴシック" charset="0"/>
              </a:rPr>
              <a:t>;</a:t>
            </a:r>
          </a:p>
          <a:p>
            <a:pPr lvl="1">
              <a:buFont typeface="Wingdings" charset="0"/>
              <a:buNone/>
              <a:defRPr/>
            </a:pPr>
            <a:r>
              <a:rPr lang="en-US" b="1" dirty="0">
                <a:latin typeface="Courier New" charset="0"/>
                <a:ea typeface="ＭＳ Ｐゴシック" charset="0"/>
                <a:cs typeface="ＭＳ Ｐゴシック" charset="0"/>
              </a:rPr>
              <a:t> </a:t>
            </a:r>
            <a:r>
              <a:rPr lang="en-US" b="1" dirty="0" smtClean="0">
                <a:latin typeface="Courier New" charset="0"/>
                <a:ea typeface="ＭＳ Ｐゴシック" charset="0"/>
                <a:cs typeface="ＭＳ Ｐゴシック" charset="0"/>
              </a:rPr>
              <a:t> </a:t>
            </a:r>
            <a:r>
              <a:rPr lang="en-US" b="1" dirty="0" smtClean="0">
                <a:solidFill>
                  <a:srgbClr val="FF6600"/>
                </a:solidFill>
                <a:latin typeface="Courier New" charset="0"/>
                <a:ea typeface="ＭＳ Ｐゴシック" charset="0"/>
                <a:cs typeface="ＭＳ Ｐゴシック" charset="0"/>
              </a:rPr>
              <a:t>default</a:t>
            </a:r>
            <a:r>
              <a:rPr lang="en-US" b="1" dirty="0" smtClean="0">
                <a:latin typeface="Courier New" charset="0"/>
                <a:ea typeface="ＭＳ Ｐゴシック" charset="0"/>
                <a:cs typeface="ＭＳ Ｐゴシック" charset="0"/>
              </a:rPr>
              <a:t> </a:t>
            </a:r>
            <a:r>
              <a:rPr lang="en-US" b="1" dirty="0" err="1" smtClean="0">
                <a:latin typeface="Courier New" charset="0"/>
                <a:ea typeface="ＭＳ Ｐゴシック" charset="0"/>
                <a:cs typeface="ＭＳ Ｐゴシック" charset="0"/>
              </a:rPr>
              <a:t>boolean</a:t>
            </a:r>
            <a:r>
              <a:rPr lang="en-US" b="1" dirty="0" smtClean="0">
                <a:latin typeface="Courier New" charset="0"/>
                <a:ea typeface="ＭＳ Ｐゴシック" charset="0"/>
                <a:cs typeface="ＭＳ Ｐゴシック" charset="0"/>
              </a:rPr>
              <a:t> </a:t>
            </a:r>
            <a:r>
              <a:rPr lang="en-US" b="1" dirty="0" err="1" smtClean="0">
                <a:latin typeface="Courier New" charset="0"/>
                <a:ea typeface="ＭＳ Ｐゴシック" charset="0"/>
                <a:cs typeface="ＭＳ Ｐゴシック" charset="0"/>
              </a:rPr>
              <a:t>isReal</a:t>
            </a:r>
            <a:r>
              <a:rPr lang="en-US" b="1" dirty="0" smtClean="0">
                <a:latin typeface="Courier New" charset="0"/>
                <a:ea typeface="ＭＳ Ｐゴシック" charset="0"/>
                <a:cs typeface="ＭＳ Ｐゴシック" charset="0"/>
              </a:rPr>
              <a:t>(){</a:t>
            </a:r>
          </a:p>
          <a:p>
            <a:pPr lvl="1">
              <a:buFont typeface="Wingdings" charset="0"/>
              <a:buNone/>
              <a:defRPr/>
            </a:pPr>
            <a:r>
              <a:rPr lang="en-US" b="1" dirty="0">
                <a:latin typeface="Courier New" charset="0"/>
                <a:ea typeface="ＭＳ Ｐゴシック" charset="0"/>
                <a:cs typeface="ＭＳ Ｐゴシック" charset="0"/>
              </a:rPr>
              <a:t>	</a:t>
            </a:r>
            <a:r>
              <a:rPr lang="en-US" b="1" dirty="0" smtClean="0">
                <a:latin typeface="Courier New" charset="0"/>
                <a:ea typeface="ＭＳ Ｐゴシック" charset="0"/>
                <a:cs typeface="ＭＳ Ｐゴシック" charset="0"/>
              </a:rPr>
              <a:t>		return imaginary()==0;</a:t>
            </a:r>
          </a:p>
          <a:p>
            <a:pPr lvl="1">
              <a:buFont typeface="Wingdings" charset="0"/>
              <a:buNone/>
              <a:defRPr/>
            </a:pPr>
            <a:r>
              <a:rPr lang="en-US" b="1" dirty="0">
                <a:latin typeface="Courier New" charset="0"/>
                <a:ea typeface="ＭＳ Ｐゴシック" charset="0"/>
                <a:cs typeface="ＭＳ Ｐゴシック" charset="0"/>
              </a:rPr>
              <a:t> </a:t>
            </a:r>
            <a:r>
              <a:rPr lang="en-US" b="1" dirty="0" smtClean="0">
                <a:latin typeface="Courier New" charset="0"/>
                <a:ea typeface="ＭＳ Ｐゴシック" charset="0"/>
                <a:cs typeface="ＭＳ Ｐゴシック" charset="0"/>
              </a:rPr>
              <a:t> }</a:t>
            </a:r>
            <a:endParaRPr lang="en-US" b="1" dirty="0">
              <a:latin typeface="Courier New" charset="0"/>
              <a:ea typeface="ＭＳ Ｐゴシック" charset="0"/>
              <a:cs typeface="ＭＳ Ｐゴシック" charset="0"/>
            </a:endParaRPr>
          </a:p>
          <a:p>
            <a:pPr lvl="1">
              <a:buFont typeface="Wingdings" charset="0"/>
              <a:buNone/>
              <a:defRPr/>
            </a:pPr>
            <a:r>
              <a:rPr lang="en-US" b="1" dirty="0" smtClean="0">
                <a:latin typeface="Courier New" charset="0"/>
                <a:ea typeface="ＭＳ Ｐゴシック" charset="0"/>
                <a:cs typeface="ＭＳ Ｐゴシック" charset="0"/>
              </a:rPr>
              <a:t>}</a:t>
            </a:r>
            <a:endParaRPr lang="en-US" b="1" dirty="0">
              <a:latin typeface="Courier New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276533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Functional Interfaces</a:t>
            </a: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35767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Functional interface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An interface containing only one regular method</a:t>
            </a:r>
            <a:endParaRPr lang="en-US" dirty="0" smtClean="0">
              <a:solidFill>
                <a:srgbClr val="FF6600"/>
              </a:solidFill>
            </a:endParaRPr>
          </a:p>
          <a:p>
            <a:pPr lvl="2"/>
            <a:r>
              <a:rPr lang="en-US" b="1" dirty="0" smtClean="0">
                <a:latin typeface="Courier New"/>
                <a:cs typeface="Courier New"/>
              </a:rPr>
              <a:t>static</a:t>
            </a:r>
            <a:r>
              <a:rPr lang="en-US" dirty="0" smtClean="0"/>
              <a:t> methods do not count</a:t>
            </a:r>
          </a:p>
          <a:p>
            <a:pPr lvl="2"/>
            <a:r>
              <a:rPr lang="en-US" b="1" dirty="0" smtClean="0">
                <a:latin typeface="Courier New"/>
                <a:cs typeface="Courier New"/>
              </a:rPr>
              <a:t>default</a:t>
            </a:r>
            <a:r>
              <a:rPr lang="en-US" dirty="0" smtClean="0"/>
              <a:t> methods do not count</a:t>
            </a:r>
          </a:p>
          <a:p>
            <a:r>
              <a:rPr lang="en-US" dirty="0" smtClean="0">
                <a:latin typeface="Lucida Sans Unicode" charset="0"/>
                <a:cs typeface="Lucida Sans Unicode" charset="0"/>
              </a:rPr>
              <a:t>The </a:t>
            </a:r>
            <a:r>
              <a:rPr lang="en-US" dirty="0">
                <a:latin typeface="Lucida Sans Unicode" charset="0"/>
                <a:cs typeface="Lucida Sans Unicode" charset="0"/>
              </a:rPr>
              <a:t>semantics is purely functional</a:t>
            </a:r>
          </a:p>
          <a:p>
            <a:pPr lvl="1"/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</a:rPr>
              <a:t>The </a:t>
            </a:r>
            <a:r>
              <a:rPr lang="en-US" dirty="0" smtClean="0">
                <a:latin typeface="Lucida Sans Unicode" charset="0"/>
                <a:ea typeface="Lucida Sans Unicode" charset="0"/>
                <a:cs typeface="Lucida Sans Unicode" charset="0"/>
              </a:rPr>
              <a:t>result of </a:t>
            </a:r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</a:rPr>
              <a:t>the method is based solely on the arguments</a:t>
            </a:r>
          </a:p>
          <a:p>
            <a:pPr lvl="2"/>
            <a:r>
              <a:rPr lang="en-US" dirty="0" smtClean="0">
                <a:latin typeface="Lucida Sans Unicode" charset="0"/>
                <a:ea typeface="Lucida Sans Unicode" charset="0"/>
                <a:cs typeface="Lucida Sans Unicode" charset="0"/>
              </a:rPr>
              <a:t>i.e. </a:t>
            </a:r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</a:rPr>
              <a:t>t</a:t>
            </a:r>
            <a:r>
              <a:rPr lang="en-US" dirty="0" smtClean="0">
                <a:latin typeface="Lucida Sans Unicode" charset="0"/>
                <a:ea typeface="Lucida Sans Unicode" charset="0"/>
                <a:cs typeface="Lucida Sans Unicode" charset="0"/>
              </a:rPr>
              <a:t>here </a:t>
            </a:r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</a:rPr>
              <a:t>are no side-effects on attributes</a:t>
            </a:r>
          </a:p>
          <a:p>
            <a:pPr lvl="1"/>
            <a:r>
              <a:rPr lang="en-US" dirty="0" smtClean="0"/>
              <a:t>E.g. </a:t>
            </a:r>
            <a:r>
              <a:rPr lang="en-US" b="1" dirty="0" err="1" smtClean="0">
                <a:latin typeface="Courier New"/>
                <a:cs typeface="Courier New"/>
              </a:rPr>
              <a:t>java.lang.Comparator</a:t>
            </a:r>
            <a:endParaRPr lang="en-US" dirty="0" smtClean="0">
              <a:latin typeface="Lucida Sans Unicode" charset="0"/>
              <a:cs typeface="Lucida Sans Unicod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146143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Functional interface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Predefined interfaces are defined in</a:t>
            </a:r>
          </a:p>
          <a:p>
            <a:pPr lvl="1"/>
            <a:r>
              <a:rPr lang="en-US" b="1" dirty="0" err="1">
                <a:solidFill>
                  <a:srgbClr val="FF6600"/>
                </a:solidFill>
                <a:latin typeface="Courier New"/>
                <a:cs typeface="Courier New"/>
              </a:rPr>
              <a:t>java.util.function</a:t>
            </a:r>
            <a:endParaRPr lang="en-US" b="1" dirty="0">
              <a:solidFill>
                <a:srgbClr val="FF6600"/>
              </a:solidFill>
              <a:latin typeface="Courier New"/>
              <a:cs typeface="Courier New"/>
            </a:endParaRPr>
          </a:p>
          <a:p>
            <a:pPr lvl="1"/>
            <a:r>
              <a:rPr lang="en-US" dirty="0"/>
              <a:t>Specific for different primitive types</a:t>
            </a:r>
          </a:p>
          <a:p>
            <a:pPr lvl="1"/>
            <a:r>
              <a:rPr lang="en-US" dirty="0"/>
              <a:t>Generic version (see Generics</a:t>
            </a:r>
            <a:r>
              <a:rPr lang="en-US" dirty="0" smtClean="0"/>
              <a:t>)	</a:t>
            </a:r>
          </a:p>
          <a:p>
            <a:r>
              <a:rPr lang="en-US" dirty="0" smtClean="0"/>
              <a:t>The predefined interfaces can be used to define behavioral parameterization arguments</a:t>
            </a:r>
          </a:p>
          <a:p>
            <a:pPr lvl="1"/>
            <a:r>
              <a:rPr lang="en-US" dirty="0" smtClean="0"/>
              <a:t>E.g. strategy objects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06008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ourier New"/>
                <a:cs typeface="Courier New"/>
              </a:rPr>
              <a:t>Functions</a:t>
            </a:r>
            <a:r>
              <a:rPr lang="en-US" dirty="0" smtClean="0"/>
              <a:t> (</a:t>
            </a:r>
            <a:r>
              <a:rPr lang="en-US" dirty="0" err="1" smtClean="0"/>
              <a:t>int</a:t>
            </a:r>
            <a:r>
              <a:rPr lang="en-US" dirty="0" smtClean="0"/>
              <a:t> versions)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Function</a:t>
            </a:r>
          </a:p>
          <a:p>
            <a:pPr lvl="1"/>
            <a:r>
              <a:rPr lang="en-US" b="1" dirty="0" smtClean="0">
                <a:latin typeface="Courier New"/>
                <a:cs typeface="Courier New"/>
              </a:rPr>
              <a:t>Object </a:t>
            </a:r>
            <a:r>
              <a:rPr lang="en-US" b="1" dirty="0" smtClean="0">
                <a:solidFill>
                  <a:srgbClr val="FF6600"/>
                </a:solidFill>
                <a:latin typeface="Courier New"/>
                <a:cs typeface="Courier New"/>
              </a:rPr>
              <a:t>apply</a:t>
            </a:r>
            <a:r>
              <a:rPr lang="en-US" b="1" dirty="0" smtClean="0">
                <a:latin typeface="Courier New"/>
                <a:cs typeface="Courier New"/>
              </a:rPr>
              <a:t>(</a:t>
            </a:r>
            <a:r>
              <a:rPr lang="en-US" b="1" dirty="0" err="1" smtClean="0">
                <a:latin typeface="Courier New"/>
                <a:cs typeface="Courier New"/>
              </a:rPr>
              <a:t>int</a:t>
            </a:r>
            <a:r>
              <a:rPr lang="en-US" b="1" dirty="0" smtClean="0">
                <a:latin typeface="Courier New"/>
                <a:cs typeface="Courier New"/>
              </a:rPr>
              <a:t> value)</a:t>
            </a:r>
          </a:p>
          <a:p>
            <a:r>
              <a:rPr lang="en-US" dirty="0" smtClean="0"/>
              <a:t>Consumer</a:t>
            </a:r>
          </a:p>
          <a:p>
            <a:pPr lvl="1"/>
            <a:r>
              <a:rPr lang="en-US" b="1" dirty="0">
                <a:latin typeface="Courier New"/>
                <a:cs typeface="Courier New"/>
              </a:rPr>
              <a:t>void </a:t>
            </a:r>
            <a:r>
              <a:rPr lang="en-US" b="1" dirty="0">
                <a:solidFill>
                  <a:srgbClr val="FF6600"/>
                </a:solidFill>
                <a:latin typeface="Courier New"/>
                <a:cs typeface="Courier New"/>
              </a:rPr>
              <a:t>accept</a:t>
            </a:r>
            <a:r>
              <a:rPr lang="en-US" b="1" dirty="0">
                <a:latin typeface="Courier New"/>
                <a:cs typeface="Courier New"/>
              </a:rPr>
              <a:t>(</a:t>
            </a:r>
            <a:r>
              <a:rPr lang="en-US" b="1" dirty="0" err="1">
                <a:latin typeface="Courier New"/>
                <a:cs typeface="Courier New"/>
              </a:rPr>
              <a:t>int</a:t>
            </a:r>
            <a:r>
              <a:rPr lang="en-US" b="1" dirty="0">
                <a:latin typeface="Courier New"/>
                <a:cs typeface="Courier New"/>
              </a:rPr>
              <a:t> value)</a:t>
            </a:r>
          </a:p>
          <a:p>
            <a:r>
              <a:rPr lang="en-US" dirty="0" smtClean="0"/>
              <a:t>Predicate</a:t>
            </a:r>
          </a:p>
          <a:p>
            <a:pPr lvl="1"/>
            <a:r>
              <a:rPr lang="en-US" b="1" dirty="0" err="1">
                <a:latin typeface="Courier New"/>
                <a:cs typeface="Courier New"/>
              </a:rPr>
              <a:t>boolean</a:t>
            </a: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>
                <a:solidFill>
                  <a:srgbClr val="FF6600"/>
                </a:solidFill>
                <a:latin typeface="Courier New"/>
                <a:cs typeface="Courier New"/>
              </a:rPr>
              <a:t>test</a:t>
            </a:r>
            <a:r>
              <a:rPr lang="en-US" b="1" dirty="0">
                <a:latin typeface="Courier New"/>
                <a:cs typeface="Courier New"/>
              </a:rPr>
              <a:t>(</a:t>
            </a:r>
            <a:r>
              <a:rPr lang="en-US" b="1" dirty="0" err="1">
                <a:latin typeface="Courier New"/>
                <a:cs typeface="Courier New"/>
              </a:rPr>
              <a:t>int</a:t>
            </a:r>
            <a:r>
              <a:rPr lang="en-US" b="1" dirty="0">
                <a:latin typeface="Courier New"/>
                <a:cs typeface="Courier New"/>
              </a:rPr>
              <a:t> value)</a:t>
            </a:r>
          </a:p>
          <a:p>
            <a:r>
              <a:rPr lang="en-US" dirty="0" smtClean="0"/>
              <a:t>Supplier</a:t>
            </a:r>
          </a:p>
          <a:p>
            <a:pPr lvl="1"/>
            <a:r>
              <a:rPr lang="en-US" b="1" dirty="0" err="1">
                <a:latin typeface="Courier New"/>
                <a:cs typeface="Courier New"/>
              </a:rPr>
              <a:t>int</a:t>
            </a: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 err="1">
                <a:solidFill>
                  <a:srgbClr val="FF6600"/>
                </a:solidFill>
                <a:latin typeface="Courier New"/>
                <a:cs typeface="Courier New"/>
              </a:rPr>
              <a:t>getAsInt</a:t>
            </a:r>
            <a:r>
              <a:rPr lang="en-US" b="1" dirty="0">
                <a:latin typeface="Courier New"/>
                <a:cs typeface="Courier New"/>
              </a:rPr>
              <a:t>()</a:t>
            </a:r>
          </a:p>
          <a:p>
            <a:r>
              <a:rPr lang="en-US" dirty="0" err="1" smtClean="0"/>
              <a:t>BinaryOperator</a:t>
            </a:r>
            <a:endParaRPr lang="en-US" dirty="0" smtClean="0"/>
          </a:p>
          <a:p>
            <a:pPr lvl="1"/>
            <a:r>
              <a:rPr lang="en-US" b="1" dirty="0" err="1" smtClean="0">
                <a:latin typeface="Courier New"/>
                <a:cs typeface="Courier New"/>
              </a:rPr>
              <a:t>int</a:t>
            </a:r>
            <a:r>
              <a:rPr lang="en-US" b="1" dirty="0" smtClean="0">
                <a:latin typeface="Courier New"/>
                <a:cs typeface="Courier New"/>
              </a:rPr>
              <a:t> </a:t>
            </a:r>
            <a:r>
              <a:rPr lang="en-US" b="1" dirty="0" err="1">
                <a:solidFill>
                  <a:srgbClr val="FF6600"/>
                </a:solidFill>
                <a:latin typeface="Courier New"/>
                <a:cs typeface="Courier New"/>
              </a:rPr>
              <a:t>applyAsInt</a:t>
            </a:r>
            <a:r>
              <a:rPr lang="en-US" b="1" dirty="0">
                <a:latin typeface="Courier New"/>
                <a:cs typeface="Courier New"/>
              </a:rPr>
              <a:t>(</a:t>
            </a:r>
            <a:r>
              <a:rPr lang="en-US" b="1" dirty="0" err="1">
                <a:latin typeface="Courier New"/>
                <a:cs typeface="Courier New"/>
              </a:rPr>
              <a:t>int</a:t>
            </a:r>
            <a:r>
              <a:rPr lang="en-US" b="1" dirty="0">
                <a:latin typeface="Courier New"/>
                <a:cs typeface="Courier New"/>
              </a:rPr>
              <a:t> left, </a:t>
            </a:r>
            <a:r>
              <a:rPr lang="en-US" b="1" dirty="0" err="1">
                <a:latin typeface="Courier New"/>
                <a:cs typeface="Courier New"/>
              </a:rPr>
              <a:t>int</a:t>
            </a: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 smtClean="0">
                <a:latin typeface="Courier New"/>
                <a:cs typeface="Courier New"/>
              </a:rPr>
              <a:t>right)</a:t>
            </a:r>
            <a:endParaRPr lang="en-US" b="1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66840380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auto">
          <a:xfrm>
            <a:off x="467544" y="3573016"/>
            <a:ext cx="8136904" cy="23042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lIns="90360" tIns="44280" rIns="90360" bIns="44280" rtlCol="0" anchor="ctr"/>
          <a:lstStyle/>
          <a:p>
            <a:pPr algn="ctr"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000" b="1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Anonymous Inner class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sz="2400" b="1" dirty="0" smtClean="0">
              <a:latin typeface="Courier New"/>
              <a:cs typeface="Courier New"/>
            </a:endParaRPr>
          </a:p>
          <a:p>
            <a:pPr marL="0" indent="0">
              <a:buNone/>
            </a:pPr>
            <a:endParaRPr lang="en-US" sz="2400" b="1" dirty="0">
              <a:latin typeface="Courier New"/>
              <a:cs typeface="Courier New"/>
            </a:endParaRPr>
          </a:p>
          <a:p>
            <a:pPr marL="0" indent="0">
              <a:buNone/>
            </a:pPr>
            <a:endParaRPr lang="en-US" sz="2400" b="1" dirty="0" smtClean="0">
              <a:latin typeface="Courier New"/>
              <a:cs typeface="Courier New"/>
            </a:endParaRPr>
          </a:p>
          <a:p>
            <a:pPr marL="0" indent="0">
              <a:buNone/>
            </a:pPr>
            <a:endParaRPr lang="en-US" sz="2400" b="1" dirty="0" smtClean="0">
              <a:latin typeface="Courier New"/>
              <a:cs typeface="Courier New"/>
            </a:endParaRPr>
          </a:p>
          <a:p>
            <a:pPr marL="0" indent="0">
              <a:buNone/>
            </a:pPr>
            <a:endParaRPr lang="en-US" sz="2400" b="1" dirty="0" smtClean="0"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2800" b="1" dirty="0" smtClean="0">
                <a:latin typeface="Courier New"/>
                <a:cs typeface="Courier New"/>
              </a:rPr>
              <a:t>Processor printer = new Processor(){</a:t>
            </a:r>
            <a:br>
              <a:rPr lang="en-US" sz="2800" b="1" dirty="0" smtClean="0">
                <a:latin typeface="Courier New"/>
                <a:cs typeface="Courier New"/>
              </a:rPr>
            </a:br>
            <a:r>
              <a:rPr lang="en-US" sz="2800" b="1" dirty="0" smtClean="0">
                <a:latin typeface="Courier New"/>
                <a:cs typeface="Courier New"/>
              </a:rPr>
              <a:t>  </a:t>
            </a:r>
            <a:r>
              <a:rPr lang="en-US" sz="2800" b="1" dirty="0" smtClean="0">
                <a:latin typeface="Courier New" charset="0"/>
              </a:rPr>
              <a:t>public </a:t>
            </a:r>
            <a:r>
              <a:rPr lang="en-US" sz="2800" b="1" dirty="0">
                <a:latin typeface="Courier New" charset="0"/>
              </a:rPr>
              <a:t>void handle(Object o)</a:t>
            </a:r>
            <a:r>
              <a:rPr lang="en-US" sz="2800" b="1" dirty="0" smtClean="0">
                <a:latin typeface="Courier New" charset="0"/>
              </a:rPr>
              <a:t>{</a:t>
            </a:r>
            <a:br>
              <a:rPr lang="en-US" sz="2800" b="1" dirty="0" smtClean="0">
                <a:latin typeface="Courier New" charset="0"/>
              </a:rPr>
            </a:br>
            <a:r>
              <a:rPr lang="en-US" sz="2800" b="1" dirty="0" smtClean="0">
                <a:latin typeface="Courier New" charset="0"/>
              </a:rPr>
              <a:t>    </a:t>
            </a:r>
            <a:r>
              <a:rPr lang="en-US" sz="2800" b="1" dirty="0" err="1" smtClean="0">
                <a:solidFill>
                  <a:srgbClr val="FF6600"/>
                </a:solidFill>
                <a:latin typeface="Courier New" charset="0"/>
              </a:rPr>
              <a:t>System.out.println</a:t>
            </a:r>
            <a:r>
              <a:rPr lang="en-US" sz="2800" b="1" dirty="0">
                <a:solidFill>
                  <a:srgbClr val="FF6600"/>
                </a:solidFill>
                <a:latin typeface="Courier New" charset="0"/>
              </a:rPr>
              <a:t>(o)</a:t>
            </a:r>
            <a:r>
              <a:rPr lang="en-US" sz="2800" b="1" dirty="0" smtClean="0">
                <a:solidFill>
                  <a:srgbClr val="FF6600"/>
                </a:solidFill>
                <a:latin typeface="Courier New" charset="0"/>
              </a:rPr>
              <a:t>;</a:t>
            </a:r>
            <a:br>
              <a:rPr lang="en-US" sz="2800" b="1" dirty="0" smtClean="0">
                <a:solidFill>
                  <a:srgbClr val="FF6600"/>
                </a:solidFill>
                <a:latin typeface="Courier New" charset="0"/>
              </a:rPr>
            </a:br>
            <a:r>
              <a:rPr lang="en-US" sz="2800" b="1" dirty="0" smtClean="0">
                <a:latin typeface="Courier New" charset="0"/>
              </a:rPr>
              <a:t>  }</a:t>
            </a:r>
            <a:r>
              <a:rPr lang="en-US" sz="2800" b="1" dirty="0" smtClean="0">
                <a:latin typeface="Courier New"/>
                <a:cs typeface="Courier New"/>
              </a:rPr>
              <a:t>};</a:t>
            </a:r>
            <a:br>
              <a:rPr lang="en-US" sz="2800" b="1" dirty="0" smtClean="0">
                <a:latin typeface="Courier New"/>
                <a:cs typeface="Courier New"/>
              </a:rPr>
            </a:br>
            <a:r>
              <a:rPr lang="mr-IN" sz="2800" b="1" dirty="0" smtClean="0">
                <a:latin typeface="Courier New"/>
                <a:cs typeface="Courier New"/>
              </a:rPr>
              <a:t>…</a:t>
            </a:r>
            <a:endParaRPr lang="en-US" sz="2800" b="1" dirty="0" smtClean="0">
              <a:latin typeface="Courier New"/>
              <a:cs typeface="Courier New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323528" y="1124744"/>
            <a:ext cx="7416824" cy="19442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360" tIns="44280" rIns="90360" bIns="4428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void process(Object[] v, Processor p){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  for(Object o : v){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    </a:t>
            </a:r>
            <a:r>
              <a:rPr lang="en-US" b="1" dirty="0" err="1">
                <a:solidFill>
                  <a:schemeClr val="tx1"/>
                </a:solidFill>
                <a:latin typeface="Courier New"/>
                <a:cs typeface="Courier New"/>
              </a:rPr>
              <a:t>p.handle</a:t>
            </a:r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(o</a:t>
            </a:r>
            <a:r>
              <a:rPr lang="en-US" b="1" dirty="0" smtClean="0">
                <a:solidFill>
                  <a:schemeClr val="tx1"/>
                </a:solidFill>
                <a:latin typeface="Courier New"/>
                <a:cs typeface="Courier New"/>
              </a:rPr>
              <a:t>);</a:t>
            </a:r>
            <a:endParaRPr lang="en-US" b="1" dirty="0">
              <a:solidFill>
                <a:schemeClr val="tx1"/>
              </a:solidFill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  }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}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3635896" y="1988840"/>
            <a:ext cx="5328592" cy="129614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360" tIns="44280" rIns="90360" bIns="44280" rtlCol="0" anchor="ctr"/>
          <a:lstStyle/>
          <a:p>
            <a:pPr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b="1" dirty="0" smtClean="0">
                <a:solidFill>
                  <a:srgbClr val="000000"/>
                </a:solidFill>
                <a:latin typeface="Courier New" charset="0"/>
              </a:rPr>
              <a:t>public interface Processor{</a:t>
            </a:r>
          </a:p>
          <a:p>
            <a:pPr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b="1" dirty="0">
                <a:solidFill>
                  <a:srgbClr val="000000"/>
                </a:solidFill>
                <a:latin typeface="Courier New" charset="0"/>
              </a:rPr>
              <a:t> </a:t>
            </a:r>
            <a:r>
              <a:rPr lang="en-US" b="1" dirty="0" smtClean="0">
                <a:solidFill>
                  <a:srgbClr val="000000"/>
                </a:solidFill>
                <a:latin typeface="Courier New" charset="0"/>
              </a:rPr>
              <a:t> void handle(Object o);</a:t>
            </a:r>
          </a:p>
          <a:p>
            <a:pPr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b="1" dirty="0">
                <a:solidFill>
                  <a:srgbClr val="000000"/>
                </a:solidFill>
                <a:latin typeface="Courier New" charset="0"/>
              </a:rPr>
              <a:t>}</a:t>
            </a:r>
          </a:p>
        </p:txBody>
      </p:sp>
      <p:sp>
        <p:nvSpPr>
          <p:cNvPr id="6" name="Rounded Rectangle 5"/>
          <p:cNvSpPr/>
          <p:nvPr/>
        </p:nvSpPr>
        <p:spPr bwMode="auto">
          <a:xfrm>
            <a:off x="1259632" y="4509120"/>
            <a:ext cx="5112568" cy="432048"/>
          </a:xfrm>
          <a:prstGeom prst="roundRect">
            <a:avLst/>
          </a:prstGeom>
          <a:noFill/>
          <a:ln w="38100" cmpd="sng">
            <a:solidFill>
              <a:srgbClr val="8064A2"/>
            </a:solidFill>
            <a:miter lim="800000"/>
            <a:headEnd/>
            <a:tailEnd/>
          </a:ln>
          <a:effectLst/>
        </p:spPr>
        <p:txBody>
          <a:bodyPr lIns="90360" tIns="44280" rIns="90360" bIns="44280" rtlCol="0" anchor="ctr"/>
          <a:lstStyle/>
          <a:p>
            <a:pPr algn="ctr"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000" b="1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9" name="Rounded Rectangular Callout 8"/>
          <p:cNvSpPr/>
          <p:nvPr/>
        </p:nvSpPr>
        <p:spPr bwMode="auto">
          <a:xfrm>
            <a:off x="4572000" y="5517232"/>
            <a:ext cx="4392488" cy="1152128"/>
          </a:xfrm>
          <a:prstGeom prst="wedgeRoundRectCallout">
            <a:avLst>
              <a:gd name="adj1" fmla="val -63409"/>
              <a:gd name="adj2" fmla="val -99128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 w="12600">
            <a:solidFill>
              <a:schemeClr val="accent4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360" tIns="44280" rIns="90360" bIns="44280" rtlCol="0" anchor="ctr"/>
          <a:lstStyle/>
          <a:p>
            <a:pPr algn="ctr"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b="1" dirty="0" smtClean="0">
                <a:solidFill>
                  <a:srgbClr val="000000"/>
                </a:solidFill>
                <a:latin typeface="+mn-lt"/>
              </a:rPr>
              <a:t>The only fragment of code really useful. All the rest is just syntactic sugar</a:t>
            </a:r>
            <a:endParaRPr lang="en-US" b="1" dirty="0">
              <a:solidFill>
                <a:srgbClr val="0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549577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 bwMode="auto">
          <a:xfrm>
            <a:off x="467544" y="2420888"/>
            <a:ext cx="8496944" cy="129614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lIns="90360" tIns="44280" rIns="90360" bIns="44280" rtlCol="0" anchor="ctr"/>
          <a:lstStyle/>
          <a:p>
            <a:pPr algn="ctr"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000" b="1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Lambda function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Definition of anonymous inner instances for functional interfaces</a:t>
            </a:r>
          </a:p>
          <a:p>
            <a:pPr marL="400050" lvl="1" indent="0">
              <a:buNone/>
            </a:pPr>
            <a:r>
              <a:rPr lang="en-US" b="1" dirty="0" smtClean="0">
                <a:latin typeface="Courier New"/>
                <a:cs typeface="Courier New"/>
              </a:rPr>
              <a:t>Processor printer = </a:t>
            </a:r>
          </a:p>
          <a:p>
            <a:pPr marL="400050" lvl="1" indent="0">
              <a:buNone/>
            </a:pPr>
            <a:r>
              <a:rPr lang="en-US" b="1" dirty="0" smtClean="0">
                <a:latin typeface="Courier New"/>
                <a:cs typeface="Courier New"/>
              </a:rPr>
              <a:t>					o </a:t>
            </a:r>
            <a:r>
              <a:rPr lang="en-US" b="1" dirty="0" smtClean="0">
                <a:solidFill>
                  <a:srgbClr val="FF6600"/>
                </a:solidFill>
                <a:latin typeface="Courier New"/>
                <a:cs typeface="Courier New"/>
              </a:rPr>
              <a:t>-&gt; </a:t>
            </a:r>
            <a:r>
              <a:rPr lang="en-US" b="1" dirty="0" err="1" smtClean="0">
                <a:latin typeface="Courier New"/>
                <a:cs typeface="Courier New"/>
              </a:rPr>
              <a:t>System.out.println</a:t>
            </a:r>
            <a:r>
              <a:rPr lang="en-US" b="1" dirty="0" smtClean="0">
                <a:latin typeface="Courier New"/>
                <a:cs typeface="Courier New"/>
              </a:rPr>
              <a:t>(o);</a:t>
            </a:r>
          </a:p>
        </p:txBody>
      </p:sp>
      <p:sp>
        <p:nvSpPr>
          <p:cNvPr id="5" name="Rounded Rectangular Callout 4"/>
          <p:cNvSpPr/>
          <p:nvPr/>
        </p:nvSpPr>
        <p:spPr bwMode="auto">
          <a:xfrm>
            <a:off x="107504" y="3933056"/>
            <a:ext cx="6353283" cy="1800200"/>
          </a:xfrm>
          <a:prstGeom prst="wedgeRoundRectCallout">
            <a:avLst>
              <a:gd name="adj1" fmla="val -5427"/>
              <a:gd name="adj2" fmla="val -71854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 w="12600">
            <a:solidFill>
              <a:srgbClr val="8064A2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360" tIns="44280" rIns="90360" bIns="44280" rtlCol="0" anchor="ctr"/>
          <a:lstStyle/>
          <a:p>
            <a:pPr indent="-57150"/>
            <a:r>
              <a:rPr lang="en-US" b="1" dirty="0" smtClean="0">
                <a:solidFill>
                  <a:schemeClr val="tx1"/>
                </a:solidFill>
                <a:latin typeface="Courier New"/>
                <a:cs typeface="Courier New"/>
              </a:rPr>
              <a:t>new </a:t>
            </a:r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Processor(){</a:t>
            </a:r>
            <a:b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</a:br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  </a:t>
            </a:r>
            <a:r>
              <a:rPr lang="en-US" b="1" dirty="0">
                <a:solidFill>
                  <a:schemeClr val="tx1"/>
                </a:solidFill>
                <a:latin typeface="Courier New" charset="0"/>
              </a:rPr>
              <a:t>public void handle(Object </a:t>
            </a:r>
            <a:r>
              <a:rPr lang="en-US" b="1" dirty="0" smtClean="0">
                <a:solidFill>
                  <a:schemeClr val="tx1"/>
                </a:solidFill>
                <a:latin typeface="Courier New" charset="0"/>
              </a:rPr>
              <a:t>o )</a:t>
            </a:r>
            <a:r>
              <a:rPr lang="en-US" b="1" dirty="0">
                <a:solidFill>
                  <a:schemeClr val="tx1"/>
                </a:solidFill>
                <a:latin typeface="Courier New" charset="0"/>
              </a:rPr>
              <a:t>{</a:t>
            </a:r>
            <a:br>
              <a:rPr lang="en-US" b="1" dirty="0">
                <a:solidFill>
                  <a:schemeClr val="tx1"/>
                </a:solidFill>
                <a:latin typeface="Courier New" charset="0"/>
              </a:rPr>
            </a:br>
            <a:r>
              <a:rPr lang="en-US" b="1" dirty="0">
                <a:solidFill>
                  <a:schemeClr val="tx1"/>
                </a:solidFill>
                <a:latin typeface="Courier New" charset="0"/>
              </a:rPr>
              <a:t>    </a:t>
            </a:r>
            <a:r>
              <a:rPr lang="en-US" b="1" dirty="0" err="1">
                <a:solidFill>
                  <a:schemeClr val="tx1"/>
                </a:solidFill>
                <a:latin typeface="Courier New" charset="0"/>
              </a:rPr>
              <a:t>System.out.println</a:t>
            </a:r>
            <a:r>
              <a:rPr lang="en-US" b="1" dirty="0">
                <a:solidFill>
                  <a:schemeClr val="tx1"/>
                </a:solidFill>
                <a:latin typeface="Courier New" charset="0"/>
              </a:rPr>
              <a:t>(o);</a:t>
            </a:r>
            <a:br>
              <a:rPr lang="en-US" b="1" dirty="0">
                <a:solidFill>
                  <a:schemeClr val="tx1"/>
                </a:solidFill>
                <a:latin typeface="Courier New" charset="0"/>
              </a:rPr>
            </a:br>
            <a:r>
              <a:rPr lang="en-US" b="1" dirty="0">
                <a:solidFill>
                  <a:schemeClr val="tx1"/>
                </a:solidFill>
                <a:latin typeface="Courier New" charset="0"/>
              </a:rPr>
              <a:t>  }</a:t>
            </a:r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};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 bwMode="auto">
          <a:xfrm>
            <a:off x="899592" y="4869160"/>
            <a:ext cx="4176464" cy="432048"/>
          </a:xfrm>
          <a:prstGeom prst="roundRect">
            <a:avLst/>
          </a:prstGeom>
          <a:noFill/>
          <a:ln w="28575" cmpd="sng">
            <a:solidFill>
              <a:schemeClr val="accent4"/>
            </a:solidFill>
            <a:miter lim="800000"/>
            <a:headEnd/>
            <a:tailEnd/>
          </a:ln>
          <a:effectLst/>
        </p:spPr>
        <p:txBody>
          <a:bodyPr lIns="90360" tIns="44280" rIns="90360" bIns="44280" rtlCol="0" anchor="ctr"/>
          <a:lstStyle/>
          <a:p>
            <a:pPr algn="ctr"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000" b="1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8" name="Rounded Rectangle 7"/>
          <p:cNvSpPr/>
          <p:nvPr/>
        </p:nvSpPr>
        <p:spPr bwMode="auto">
          <a:xfrm>
            <a:off x="3923928" y="3068960"/>
            <a:ext cx="4824536" cy="432048"/>
          </a:xfrm>
          <a:prstGeom prst="roundRect">
            <a:avLst/>
          </a:prstGeom>
          <a:noFill/>
          <a:ln w="28575" cmpd="sng">
            <a:solidFill>
              <a:schemeClr val="accent4"/>
            </a:solidFill>
            <a:miter lim="800000"/>
            <a:headEnd/>
            <a:tailEnd/>
          </a:ln>
          <a:effectLst/>
        </p:spPr>
        <p:txBody>
          <a:bodyPr lIns="90360" tIns="44280" rIns="90360" bIns="44280" rtlCol="0" anchor="ctr"/>
          <a:lstStyle/>
          <a:p>
            <a:pPr algn="ctr"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000" b="1">
              <a:solidFill>
                <a:srgbClr val="000000"/>
              </a:solidFill>
              <a:latin typeface="Courier New" charset="0"/>
            </a:endParaRPr>
          </a:p>
        </p:txBody>
      </p:sp>
      <p:cxnSp>
        <p:nvCxnSpPr>
          <p:cNvPr id="10" name="Curved Connector 9"/>
          <p:cNvCxnSpPr>
            <a:endCxn id="7" idx="3"/>
          </p:cNvCxnSpPr>
          <p:nvPr/>
        </p:nvCxnSpPr>
        <p:spPr bwMode="auto">
          <a:xfrm rot="10800000" flipV="1">
            <a:off x="5076056" y="3501008"/>
            <a:ext cx="2160240" cy="1584176"/>
          </a:xfrm>
          <a:prstGeom prst="curvedConnector3">
            <a:avLst>
              <a:gd name="adj1" fmla="val -1441"/>
            </a:avLst>
          </a:prstGeom>
          <a:noFill/>
          <a:ln w="28575" cmpd="sng">
            <a:solidFill>
              <a:schemeClr val="accent4"/>
            </a:solidFill>
            <a:miter lim="800000"/>
            <a:headEnd type="arrow"/>
            <a:tailEnd type="arrow"/>
          </a:ln>
          <a:effectLst/>
        </p:spPr>
      </p:cxnSp>
      <p:sp>
        <p:nvSpPr>
          <p:cNvPr id="14" name="Rounded Rectangle 13"/>
          <p:cNvSpPr/>
          <p:nvPr/>
        </p:nvSpPr>
        <p:spPr bwMode="auto">
          <a:xfrm>
            <a:off x="5292080" y="4509120"/>
            <a:ext cx="432048" cy="432048"/>
          </a:xfrm>
          <a:prstGeom prst="roundRect">
            <a:avLst/>
          </a:prstGeom>
          <a:noFill/>
          <a:ln w="28575" cmpd="sng">
            <a:solidFill>
              <a:schemeClr val="accent4"/>
            </a:solidFill>
            <a:miter lim="800000"/>
            <a:headEnd/>
            <a:tailEnd/>
          </a:ln>
          <a:effectLst/>
        </p:spPr>
        <p:txBody>
          <a:bodyPr lIns="90360" tIns="44280" rIns="90360" bIns="44280" rtlCol="0" anchor="ctr"/>
          <a:lstStyle/>
          <a:p>
            <a:pPr algn="ctr"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000" b="1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5" name="Rounded Rectangle 14"/>
          <p:cNvSpPr/>
          <p:nvPr/>
        </p:nvSpPr>
        <p:spPr bwMode="auto">
          <a:xfrm>
            <a:off x="2843808" y="3068960"/>
            <a:ext cx="504056" cy="432048"/>
          </a:xfrm>
          <a:prstGeom prst="roundRect">
            <a:avLst/>
          </a:prstGeom>
          <a:noFill/>
          <a:ln w="28575" cmpd="sng">
            <a:solidFill>
              <a:schemeClr val="accent4"/>
            </a:solidFill>
            <a:miter lim="800000"/>
            <a:headEnd/>
            <a:tailEnd/>
          </a:ln>
          <a:effectLst/>
        </p:spPr>
        <p:txBody>
          <a:bodyPr lIns="90360" tIns="44280" rIns="90360" bIns="44280" rtlCol="0" anchor="ctr"/>
          <a:lstStyle/>
          <a:p>
            <a:pPr algn="ctr"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000" b="1">
              <a:solidFill>
                <a:srgbClr val="000000"/>
              </a:solidFill>
              <a:latin typeface="Courier New" charset="0"/>
            </a:endParaRPr>
          </a:p>
        </p:txBody>
      </p:sp>
      <p:cxnSp>
        <p:nvCxnSpPr>
          <p:cNvPr id="17" name="Curved Connector 16"/>
          <p:cNvCxnSpPr>
            <a:stCxn id="15" idx="2"/>
            <a:endCxn id="14" idx="0"/>
          </p:cNvCxnSpPr>
          <p:nvPr/>
        </p:nvCxnSpPr>
        <p:spPr bwMode="auto">
          <a:xfrm rot="16200000" flipH="1">
            <a:off x="3797914" y="2798930"/>
            <a:ext cx="1008112" cy="2412268"/>
          </a:xfrm>
          <a:prstGeom prst="curvedConnector3">
            <a:avLst/>
          </a:prstGeom>
          <a:noFill/>
          <a:ln w="28575" cmpd="sng">
            <a:solidFill>
              <a:schemeClr val="accent4"/>
            </a:solidFill>
            <a:miter lim="800000"/>
            <a:headEnd type="arrow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72240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4" grpId="0" animBg="1"/>
      <p:bldP spid="15" grpId="0" animBg="1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Tito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Lucida Sans Unicode" charset="0"/>
                <a:cs typeface="Lucida Sans Unicode" charset="0"/>
              </a:rPr>
              <a:t>Lambda </a:t>
            </a:r>
            <a:r>
              <a:rPr lang="en-US" dirty="0" smtClean="0">
                <a:latin typeface="Lucida Sans Unicode" charset="0"/>
                <a:cs typeface="Lucida Sans Unicode" charset="0"/>
              </a:rPr>
              <a:t>expression syntax</a:t>
            </a:r>
            <a:endParaRPr lang="en-US" dirty="0">
              <a:latin typeface="Lucida Sans Unicode" charset="0"/>
              <a:cs typeface="Lucida Sans Unicode" charset="0"/>
            </a:endParaRPr>
          </a:p>
        </p:txBody>
      </p:sp>
      <p:sp>
        <p:nvSpPr>
          <p:cNvPr id="2" name="Segnaposto contenuto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ctr">
              <a:buNone/>
              <a:defRPr/>
            </a:pPr>
            <a:r>
              <a:rPr lang="en-US" b="1" i="1" dirty="0" smtClean="0">
                <a:solidFill>
                  <a:srgbClr val="7F7F7F"/>
                </a:solidFill>
                <a:latin typeface="Courier New"/>
                <a:cs typeface="Courier New"/>
              </a:rPr>
              <a:t>parameters</a:t>
            </a:r>
            <a:r>
              <a:rPr lang="en-US" b="1" dirty="0" smtClean="0">
                <a:solidFill>
                  <a:srgbClr val="7F7F7F"/>
                </a:solidFill>
                <a:latin typeface="Courier New"/>
                <a:cs typeface="Courier New"/>
              </a:rPr>
              <a:t> </a:t>
            </a:r>
            <a:r>
              <a:rPr lang="en-US" b="1" dirty="0" smtClean="0">
                <a:solidFill>
                  <a:srgbClr val="FF6600"/>
                </a:solidFill>
                <a:latin typeface="Courier New"/>
                <a:cs typeface="Courier New"/>
              </a:rPr>
              <a:t>-&gt;</a:t>
            </a:r>
            <a:r>
              <a:rPr lang="en-US" b="1" dirty="0" smtClean="0">
                <a:latin typeface="Courier New"/>
                <a:cs typeface="Courier New"/>
              </a:rPr>
              <a:t> </a:t>
            </a:r>
            <a:r>
              <a:rPr lang="en-US" b="1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ourier New"/>
                <a:cs typeface="Courier New"/>
              </a:rPr>
              <a:t>body</a:t>
            </a:r>
            <a:endParaRPr lang="en-US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defRPr/>
            </a:pPr>
            <a:r>
              <a:rPr lang="en-US" dirty="0" smtClean="0"/>
              <a:t>Parameters</a:t>
            </a:r>
          </a:p>
          <a:p>
            <a:pPr lvl="1">
              <a:defRPr/>
            </a:pPr>
            <a:r>
              <a:rPr lang="en-US" dirty="0"/>
              <a:t>N</a:t>
            </a:r>
            <a:r>
              <a:rPr lang="en-US" dirty="0" smtClean="0"/>
              <a:t>one: </a:t>
            </a:r>
            <a:r>
              <a:rPr lang="en-US" b="1" dirty="0" smtClean="0">
                <a:latin typeface="Courier New"/>
                <a:cs typeface="Courier New"/>
              </a:rPr>
              <a:t>()</a:t>
            </a:r>
          </a:p>
          <a:p>
            <a:pPr lvl="1">
              <a:defRPr/>
            </a:pPr>
            <a:r>
              <a:rPr lang="en-US" dirty="0"/>
              <a:t>O</a:t>
            </a:r>
            <a:r>
              <a:rPr lang="en-US" dirty="0" smtClean="0"/>
              <a:t>ne: </a:t>
            </a:r>
            <a:r>
              <a:rPr lang="en-US" b="1" dirty="0">
                <a:latin typeface="Courier New"/>
                <a:cs typeface="Courier New"/>
              </a:rPr>
              <a:t>x</a:t>
            </a:r>
          </a:p>
          <a:p>
            <a:pPr lvl="1">
              <a:defRPr/>
            </a:pPr>
            <a:r>
              <a:rPr lang="en-US" dirty="0" smtClean="0"/>
              <a:t>Two or more: </a:t>
            </a:r>
            <a:r>
              <a:rPr lang="en-US" b="1" dirty="0">
                <a:latin typeface="Courier New"/>
                <a:cs typeface="Courier New"/>
              </a:rPr>
              <a:t>(x, y)</a:t>
            </a:r>
          </a:p>
          <a:p>
            <a:pPr lvl="1"/>
            <a:r>
              <a:rPr lang="en-US" dirty="0"/>
              <a:t>Types can be omitted</a:t>
            </a:r>
          </a:p>
          <a:p>
            <a:pPr lvl="2"/>
            <a:r>
              <a:rPr lang="en-US" dirty="0"/>
              <a:t>Inferred from assignee reference </a:t>
            </a:r>
            <a:r>
              <a:rPr lang="en-US" dirty="0" smtClean="0"/>
              <a:t>type</a:t>
            </a:r>
          </a:p>
          <a:p>
            <a:r>
              <a:rPr lang="en-US" dirty="0" smtClean="0"/>
              <a:t>Body</a:t>
            </a:r>
            <a:endParaRPr lang="en-US" dirty="0"/>
          </a:p>
          <a:p>
            <a:pPr lvl="1">
              <a:defRPr/>
            </a:pPr>
            <a:r>
              <a:rPr lang="en-US" dirty="0" smtClean="0"/>
              <a:t>Expression: </a:t>
            </a:r>
            <a:r>
              <a:rPr lang="en-US" b="1" dirty="0" smtClean="0">
                <a:latin typeface="Courier New"/>
                <a:cs typeface="Courier New"/>
              </a:rPr>
              <a:t>x + y</a:t>
            </a:r>
            <a:endParaRPr lang="en-US" b="1" dirty="0">
              <a:latin typeface="Courier New"/>
              <a:cs typeface="Courier New"/>
            </a:endParaRPr>
          </a:p>
          <a:p>
            <a:pPr lvl="1">
              <a:defRPr/>
            </a:pPr>
            <a:r>
              <a:rPr lang="en-US" dirty="0" smtClean="0"/>
              <a:t>Code Block:</a:t>
            </a:r>
            <a:r>
              <a:rPr lang="en-US" dirty="0"/>
              <a:t> </a:t>
            </a:r>
            <a:r>
              <a:rPr lang="en-US" b="1" dirty="0" smtClean="0">
                <a:latin typeface="Courier New"/>
                <a:cs typeface="Courier New"/>
              </a:rPr>
              <a:t>{ return </a:t>
            </a:r>
            <a:r>
              <a:rPr lang="en-US" b="1" dirty="0">
                <a:latin typeface="Courier New"/>
                <a:cs typeface="Courier New"/>
              </a:rPr>
              <a:t>x + y</a:t>
            </a:r>
            <a:r>
              <a:rPr lang="en-US" b="1" dirty="0" smtClean="0">
                <a:latin typeface="Courier New"/>
                <a:cs typeface="Courier New"/>
              </a:rPr>
              <a:t>; }</a:t>
            </a:r>
            <a:endParaRPr lang="en-US" b="1" dirty="0">
              <a:latin typeface="Courier New"/>
              <a:cs typeface="Courier New"/>
            </a:endParaRP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</p:txBody>
      </p:sp>
      <p:sp>
        <p:nvSpPr>
          <p:cNvPr id="98308" name="Segnaposto numero diapositiva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673930" indent="-259204" eaLnBrk="0" hangingPunct="0">
              <a:defRPr sz="22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036815" indent="-207363" eaLnBrk="0" hangingPunct="0">
              <a:defRPr sz="22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451541" indent="-207363" eaLnBrk="0" hangingPunct="0">
              <a:defRPr sz="22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1866268" indent="-207363" eaLnBrk="0" hangingPunct="0">
              <a:defRPr sz="22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280994" indent="-207363" defTabSz="413287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2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695720" indent="-207363" defTabSz="413287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2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110446" indent="-207363" defTabSz="413287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2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525172" indent="-207363" defTabSz="413287" eaLnBrk="0" fontAlgn="base" hangingPunct="0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2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defTabSz="413287" eaLnBrk="1" hangingPunct="1"/>
            <a:fld id="{C6593787-F785-C843-BDEE-613456E5702A}" type="slidenum">
              <a:rPr lang="it-IT" sz="1100">
                <a:solidFill>
                  <a:srgbClr val="000000"/>
                </a:solidFill>
                <a:cs typeface="Lucida Sans Unicode" charset="0"/>
              </a:rPr>
              <a:pPr defTabSz="413287" eaLnBrk="1" hangingPunct="1"/>
              <a:t>137</a:t>
            </a:fld>
            <a:endParaRPr lang="it-IT" sz="1100">
              <a:solidFill>
                <a:srgbClr val="000000"/>
              </a:solidFill>
              <a:cs typeface="Lucida Sans Unicod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9216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 inference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Lambda parameter types are usually omitted</a:t>
            </a:r>
          </a:p>
          <a:p>
            <a:pPr lvl="1"/>
            <a:r>
              <a:rPr lang="en-US" dirty="0" smtClean="0"/>
              <a:t>Compiler can infer the correct type from the context</a:t>
            </a:r>
          </a:p>
          <a:p>
            <a:pPr lvl="1"/>
            <a:r>
              <a:rPr lang="en-US" dirty="0" smtClean="0"/>
              <a:t>Typically they match the parameter types of the only method in the functional interface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399362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auto">
          <a:xfrm>
            <a:off x="611560" y="3501008"/>
            <a:ext cx="8280920" cy="20162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360" tIns="44280" rIns="90360" bIns="44280" rtlCol="0" anchor="ctr"/>
          <a:lstStyle/>
          <a:p>
            <a:endParaRPr lang="en-US" b="1" dirty="0">
              <a:solidFill>
                <a:schemeClr val="tx1"/>
              </a:solidFill>
              <a:latin typeface="Courier New"/>
              <a:cs typeface="Courier New"/>
            </a:endParaRPr>
          </a:p>
        </p:txBody>
      </p:sp>
      <p:sp>
        <p:nvSpPr>
          <p:cNvPr id="4" name="Rectangle 3"/>
          <p:cNvSpPr/>
          <p:nvPr/>
        </p:nvSpPr>
        <p:spPr bwMode="auto">
          <a:xfrm>
            <a:off x="539552" y="1340768"/>
            <a:ext cx="8280920" cy="14401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360" tIns="44280" rIns="90360" bIns="44280" rtlCol="0" anchor="ctr"/>
          <a:lstStyle/>
          <a:p>
            <a:endParaRPr lang="en-US" b="1" dirty="0">
              <a:solidFill>
                <a:schemeClr val="tx1"/>
              </a:solidFill>
              <a:latin typeface="Courier New"/>
              <a:cs typeface="Courier New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Comparator w/lambda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 err="1" smtClean="0">
                <a:latin typeface="Courier New"/>
                <a:cs typeface="Courier New"/>
              </a:rPr>
              <a:t>Arrays.sort</a:t>
            </a:r>
            <a:r>
              <a:rPr lang="en-US" sz="2400" b="1" dirty="0" smtClean="0">
                <a:latin typeface="Courier New"/>
                <a:cs typeface="Courier New"/>
              </a:rPr>
              <a:t>(</a:t>
            </a:r>
            <a:r>
              <a:rPr lang="en-US" sz="2400" b="1" dirty="0" err="1" smtClean="0">
                <a:latin typeface="Courier New"/>
                <a:cs typeface="Courier New"/>
              </a:rPr>
              <a:t>sv</a:t>
            </a:r>
            <a:r>
              <a:rPr lang="en-US" sz="2400" b="1" dirty="0" smtClean="0">
                <a:latin typeface="Courier New"/>
                <a:cs typeface="Courier New"/>
              </a:rPr>
              <a:t>, </a:t>
            </a:r>
          </a:p>
          <a:p>
            <a:pPr marL="0" indent="0">
              <a:buNone/>
            </a:pPr>
            <a:r>
              <a:rPr lang="en-US" sz="2400" b="1" dirty="0" smtClean="0">
                <a:latin typeface="Courier New"/>
                <a:cs typeface="Courier New"/>
              </a:rPr>
              <a:t>  (</a:t>
            </a:r>
            <a:r>
              <a:rPr lang="en-US" sz="2400" b="1" dirty="0" err="1">
                <a:latin typeface="Courier New"/>
                <a:cs typeface="Courier New"/>
              </a:rPr>
              <a:t>a,b</a:t>
            </a:r>
            <a:r>
              <a:rPr lang="en-US" sz="2400" b="1" dirty="0">
                <a:latin typeface="Courier New"/>
                <a:cs typeface="Courier New"/>
              </a:rPr>
              <a:t>) </a:t>
            </a:r>
            <a:r>
              <a:rPr lang="en-US" sz="2400" b="1" dirty="0">
                <a:solidFill>
                  <a:schemeClr val="tx1"/>
                </a:solidFill>
                <a:latin typeface="Courier New"/>
                <a:cs typeface="Courier New"/>
              </a:rPr>
              <a:t>-</a:t>
            </a:r>
            <a:r>
              <a:rPr lang="en-US" sz="2400" b="1" dirty="0" smtClean="0">
                <a:solidFill>
                  <a:schemeClr val="tx1"/>
                </a:solidFill>
                <a:latin typeface="Courier New"/>
                <a:cs typeface="Courier New"/>
              </a:rPr>
              <a:t>&gt; ((</a:t>
            </a:r>
            <a:r>
              <a:rPr lang="en-US" sz="2400" b="1" dirty="0">
                <a:solidFill>
                  <a:schemeClr val="tx1"/>
                </a:solidFill>
                <a:latin typeface="Courier New"/>
                <a:cs typeface="Courier New"/>
              </a:rPr>
              <a:t>Student)</a:t>
            </a:r>
            <a:r>
              <a:rPr lang="en-US" sz="2400" b="1" dirty="0" smtClean="0">
                <a:solidFill>
                  <a:schemeClr val="tx1"/>
                </a:solidFill>
                <a:latin typeface="Courier New"/>
                <a:cs typeface="Courier New"/>
              </a:rPr>
              <a:t>a).id –(</a:t>
            </a:r>
            <a:r>
              <a:rPr lang="en-US" sz="2400" b="1" dirty="0">
                <a:solidFill>
                  <a:schemeClr val="tx1"/>
                </a:solidFill>
                <a:latin typeface="Courier New"/>
                <a:cs typeface="Courier New"/>
              </a:rPr>
              <a:t>(Student)b</a:t>
            </a:r>
            <a:r>
              <a:rPr lang="en-US" sz="2400" b="1" dirty="0" smtClean="0">
                <a:solidFill>
                  <a:schemeClr val="tx1"/>
                </a:solidFill>
                <a:latin typeface="Courier New"/>
                <a:cs typeface="Courier New"/>
              </a:rPr>
              <a:t>).id</a:t>
            </a:r>
          </a:p>
          <a:p>
            <a:pPr marL="0" indent="0">
              <a:buNone/>
            </a:pPr>
            <a:r>
              <a:rPr lang="en-US" sz="2400" b="1" dirty="0" smtClean="0">
                <a:latin typeface="Courier New"/>
                <a:cs typeface="Courier New"/>
              </a:rPr>
              <a:t>);</a:t>
            </a:r>
          </a:p>
          <a:p>
            <a:pPr marL="0" indent="0" algn="ctr">
              <a:buNone/>
            </a:pPr>
            <a:r>
              <a:rPr lang="en-US" dirty="0" smtClean="0"/>
              <a:t>Vs.</a:t>
            </a:r>
          </a:p>
          <a:p>
            <a:pPr marL="0" indent="0">
              <a:buNone/>
            </a:pPr>
            <a:r>
              <a:rPr lang="en-US" sz="2400" b="1" dirty="0" err="1">
                <a:latin typeface="Courier New"/>
                <a:cs typeface="Courier New"/>
              </a:rPr>
              <a:t>Arrays.sort</a:t>
            </a:r>
            <a:r>
              <a:rPr lang="en-US" sz="2400" b="1" dirty="0">
                <a:latin typeface="Courier New"/>
                <a:cs typeface="Courier New"/>
              </a:rPr>
              <a:t>(</a:t>
            </a:r>
            <a:r>
              <a:rPr lang="en-US" sz="2400" b="1" dirty="0" err="1">
                <a:latin typeface="Courier New"/>
                <a:cs typeface="Courier New"/>
              </a:rPr>
              <a:t>sv,new</a:t>
            </a:r>
            <a:r>
              <a:rPr lang="en-US" sz="2400" b="1" dirty="0">
                <a:latin typeface="Courier New"/>
                <a:cs typeface="Courier New"/>
              </a:rPr>
              <a:t> Comparator(){</a:t>
            </a:r>
          </a:p>
          <a:p>
            <a:pPr marL="0" indent="0">
              <a:buNone/>
            </a:pPr>
            <a:r>
              <a:rPr lang="en-US" sz="2400" b="1" dirty="0">
                <a:latin typeface="Courier New"/>
                <a:cs typeface="Courier New"/>
              </a:rPr>
              <a:t> </a:t>
            </a:r>
            <a:r>
              <a:rPr lang="en-US" sz="2400" b="1" dirty="0" smtClean="0">
                <a:latin typeface="Courier New"/>
                <a:cs typeface="Courier New"/>
              </a:rPr>
              <a:t>public </a:t>
            </a:r>
            <a:r>
              <a:rPr lang="en-US" sz="2400" b="1" dirty="0" err="1">
                <a:latin typeface="Courier New"/>
                <a:cs typeface="Courier New"/>
              </a:rPr>
              <a:t>int</a:t>
            </a:r>
            <a:r>
              <a:rPr lang="en-US" sz="2400" b="1" dirty="0">
                <a:latin typeface="Courier New"/>
                <a:cs typeface="Courier New"/>
              </a:rPr>
              <a:t> compare(Object a, Object b){</a:t>
            </a:r>
          </a:p>
          <a:p>
            <a:pPr marL="0" indent="0">
              <a:buNone/>
            </a:pPr>
            <a:r>
              <a:rPr lang="en-US" sz="2400" b="1" dirty="0">
                <a:latin typeface="Courier New"/>
                <a:cs typeface="Courier New"/>
              </a:rPr>
              <a:t>	</a:t>
            </a:r>
            <a:r>
              <a:rPr lang="en-US" sz="2400" b="1" dirty="0" smtClean="0">
                <a:latin typeface="Courier New"/>
                <a:cs typeface="Courier New"/>
              </a:rPr>
              <a:t>return </a:t>
            </a:r>
            <a:r>
              <a:rPr lang="en-US" sz="2400" b="1" dirty="0">
                <a:solidFill>
                  <a:schemeClr val="tx1"/>
                </a:solidFill>
                <a:latin typeface="Courier New"/>
                <a:cs typeface="Courier New"/>
              </a:rPr>
              <a:t>((Student)a).id –((Student)b).</a:t>
            </a:r>
            <a:r>
              <a:rPr lang="en-US" sz="2400" b="1" dirty="0" smtClean="0">
                <a:solidFill>
                  <a:schemeClr val="tx1"/>
                </a:solidFill>
                <a:latin typeface="Courier New"/>
                <a:cs typeface="Courier New"/>
              </a:rPr>
              <a:t>id</a:t>
            </a:r>
            <a:r>
              <a:rPr lang="en-US" sz="2400" b="1" dirty="0" smtClean="0">
                <a:latin typeface="Courier New"/>
                <a:cs typeface="Courier New"/>
              </a:rPr>
              <a:t>; </a:t>
            </a:r>
            <a:endParaRPr lang="en-US" sz="2400" b="1" dirty="0"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2400" b="1" dirty="0">
                <a:latin typeface="Courier New"/>
                <a:cs typeface="Courier New"/>
              </a:rPr>
              <a:t> </a:t>
            </a:r>
            <a:r>
              <a:rPr lang="en-US" sz="2400" b="1" dirty="0" smtClean="0">
                <a:latin typeface="Courier New"/>
                <a:cs typeface="Courier New"/>
              </a:rPr>
              <a:t>}}</a:t>
            </a:r>
            <a:r>
              <a:rPr lang="en-US" sz="2400" b="1" dirty="0">
                <a:latin typeface="Courier New"/>
                <a:cs typeface="Courier New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45900426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auto">
          <a:xfrm>
            <a:off x="467544" y="3212976"/>
            <a:ext cx="8352928" cy="19442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360" tIns="44280" rIns="90360" bIns="44280" rtlCol="0" anchor="ctr"/>
          <a:lstStyle/>
          <a:p>
            <a:pPr marL="184150"/>
            <a:endParaRPr lang="en-US" sz="2400" b="1" dirty="0">
              <a:solidFill>
                <a:srgbClr val="000000"/>
              </a:solidFill>
              <a:latin typeface="Courier New"/>
              <a:cs typeface="Courier New"/>
            </a:endParaRPr>
          </a:p>
        </p:txBody>
      </p:sp>
      <p:sp>
        <p:nvSpPr>
          <p:cNvPr id="6" name="Rounded Rectangle 5"/>
          <p:cNvSpPr/>
          <p:nvPr/>
        </p:nvSpPr>
        <p:spPr bwMode="auto">
          <a:xfrm>
            <a:off x="2699792" y="3933056"/>
            <a:ext cx="4392488" cy="504056"/>
          </a:xfrm>
          <a:prstGeom prst="roundRect">
            <a:avLst/>
          </a:prstGeom>
          <a:solidFill>
            <a:srgbClr val="E6E0EC"/>
          </a:solidFill>
          <a:ln w="12600">
            <a:solidFill>
              <a:srgbClr val="8064A2"/>
            </a:solidFill>
            <a:miter lim="800000"/>
            <a:headEnd/>
            <a:tailEnd/>
          </a:ln>
          <a:effectLst/>
        </p:spPr>
        <p:txBody>
          <a:bodyPr lIns="90360" tIns="44280" rIns="90360" bIns="44280" rtlCol="0" anchor="ctr"/>
          <a:lstStyle/>
          <a:p>
            <a:pPr algn="ctr">
              <a:lnSpc>
                <a:spcPct val="100000"/>
              </a:lnSpc>
              <a:spcAft>
                <a:spcPts val="125"/>
              </a:spcAft>
              <a:buFont typeface="Wingdings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000" b="1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 reference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Represent a compact representation of an instance of a functional interface that invoke single method.</a:t>
            </a:r>
          </a:p>
          <a:p>
            <a:pPr lvl="3"/>
            <a:endParaRPr lang="en-US" dirty="0"/>
          </a:p>
          <a:p>
            <a:pPr marL="0" indent="0">
              <a:buNone/>
            </a:pPr>
            <a:r>
              <a:rPr lang="en-US" sz="2800" b="1" dirty="0" smtClean="0">
                <a:latin typeface="Courier New"/>
                <a:cs typeface="Courier New"/>
              </a:rPr>
              <a:t>Consumer printer;</a:t>
            </a:r>
          </a:p>
          <a:p>
            <a:pPr marL="0" indent="0">
              <a:buNone/>
            </a:pPr>
            <a:r>
              <a:rPr lang="en-US" sz="2800" b="1" dirty="0" smtClean="0">
                <a:latin typeface="Courier New"/>
                <a:cs typeface="Courier New"/>
              </a:rPr>
              <a:t>printer = </a:t>
            </a:r>
            <a:r>
              <a:rPr lang="en-US" sz="2800" b="1" dirty="0" err="1" smtClean="0">
                <a:latin typeface="Courier New"/>
                <a:cs typeface="Courier New"/>
              </a:rPr>
              <a:t>System.out</a:t>
            </a:r>
            <a:r>
              <a:rPr lang="en-US" sz="2800" b="1" dirty="0" smtClean="0">
                <a:latin typeface="Courier New"/>
                <a:cs typeface="Courier New"/>
              </a:rPr>
              <a:t>::</a:t>
            </a:r>
            <a:r>
              <a:rPr lang="en-US" sz="2800" b="1" dirty="0" err="1" smtClean="0">
                <a:latin typeface="Courier New"/>
                <a:cs typeface="Courier New"/>
              </a:rPr>
              <a:t>println</a:t>
            </a:r>
            <a:r>
              <a:rPr lang="en-US" sz="2800" b="1" dirty="0" smtClean="0">
                <a:latin typeface="Courier New"/>
                <a:cs typeface="Courier New"/>
              </a:rPr>
              <a:t>;</a:t>
            </a:r>
          </a:p>
          <a:p>
            <a:pPr marL="0" indent="0">
              <a:buNone/>
            </a:pPr>
            <a:r>
              <a:rPr lang="en-US" sz="2800" b="1" dirty="0" err="1">
                <a:latin typeface="Courier New"/>
                <a:cs typeface="Courier New"/>
              </a:rPr>
              <a:t>p</a:t>
            </a:r>
            <a:r>
              <a:rPr lang="en-US" sz="2800" b="1" dirty="0" err="1" smtClean="0">
                <a:latin typeface="Courier New"/>
                <a:cs typeface="Courier New"/>
              </a:rPr>
              <a:t>rinter.consume</a:t>
            </a:r>
            <a:r>
              <a:rPr lang="en-US" sz="2800" b="1" dirty="0" smtClean="0">
                <a:latin typeface="Courier New"/>
                <a:cs typeface="Courier New"/>
              </a:rPr>
              <a:t>(“Hello!”);</a:t>
            </a:r>
            <a:endParaRPr lang="en-US" sz="2800" b="1" dirty="0">
              <a:latin typeface="Courier New"/>
              <a:cs typeface="Courier New"/>
            </a:endParaRPr>
          </a:p>
        </p:txBody>
      </p:sp>
      <p:sp>
        <p:nvSpPr>
          <p:cNvPr id="4" name="Rounded Rectangular Callout 3"/>
          <p:cNvSpPr/>
          <p:nvPr/>
        </p:nvSpPr>
        <p:spPr bwMode="auto">
          <a:xfrm>
            <a:off x="3347864" y="5445224"/>
            <a:ext cx="5688632" cy="864096"/>
          </a:xfrm>
          <a:prstGeom prst="wedgeRoundRectCallout">
            <a:avLst>
              <a:gd name="adj1" fmla="val 398"/>
              <a:gd name="adj2" fmla="val -166488"/>
              <a:gd name="adj3" fmla="val 16667"/>
            </a:avLst>
          </a:prstGeom>
          <a:solidFill>
            <a:srgbClr val="E6E0EC"/>
          </a:solidFill>
          <a:ln w="12600">
            <a:solidFill>
              <a:srgbClr val="8064A2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360" tIns="44280" rIns="90360" bIns="44280" rtlCol="0" anchor="ctr"/>
          <a:lstStyle/>
          <a:p>
            <a:pPr marL="400050" lvl="1" indent="0">
              <a:buNone/>
            </a:pPr>
            <a:r>
              <a:rPr lang="en-US" b="1" dirty="0" smtClean="0">
                <a:solidFill>
                  <a:srgbClr val="000000"/>
                </a:solidFill>
                <a:latin typeface="+mn-lt"/>
                <a:cs typeface="Courier New"/>
              </a:rPr>
              <a:t>Equivalent to:</a:t>
            </a:r>
          </a:p>
          <a:p>
            <a:pPr marL="400050" lvl="1" indent="0">
              <a:buNone/>
            </a:pPr>
            <a:r>
              <a:rPr lang="en-US" b="1" dirty="0" smtClean="0">
                <a:solidFill>
                  <a:srgbClr val="000000"/>
                </a:solidFill>
                <a:latin typeface="Courier New"/>
                <a:cs typeface="Courier New"/>
              </a:rPr>
              <a:t>o </a:t>
            </a:r>
            <a:r>
              <a:rPr lang="en-US" b="1" dirty="0">
                <a:solidFill>
                  <a:srgbClr val="000000"/>
                </a:solidFill>
                <a:latin typeface="Courier New"/>
                <a:cs typeface="Courier New"/>
              </a:rPr>
              <a:t>-&gt; </a:t>
            </a:r>
            <a:r>
              <a:rPr lang="en-US" b="1" dirty="0" err="1">
                <a:solidFill>
                  <a:srgbClr val="000000"/>
                </a:solidFill>
                <a:latin typeface="Courier New"/>
                <a:cs typeface="Courier New"/>
              </a:rPr>
              <a:t>System.out.println</a:t>
            </a:r>
            <a:r>
              <a:rPr lang="en-US" b="1" dirty="0">
                <a:solidFill>
                  <a:srgbClr val="000000"/>
                </a:solidFill>
                <a:latin typeface="Courier New"/>
                <a:cs typeface="Courier New"/>
              </a:rPr>
              <a:t>(o);</a:t>
            </a:r>
          </a:p>
        </p:txBody>
      </p:sp>
    </p:spTree>
    <p:extLst>
      <p:ext uri="{BB962C8B-B14F-4D97-AF65-F5344CB8AC3E}">
        <p14:creationId xmlns:p14="http://schemas.microsoft.com/office/powerpoint/2010/main" val="83212494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 reference syntax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7495568"/>
              </p:ext>
            </p:extLst>
          </p:nvPr>
        </p:nvGraphicFramePr>
        <p:xfrm>
          <a:off x="327450" y="1844824"/>
          <a:ext cx="8784976" cy="4476274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3744416"/>
                <a:gridCol w="5040560"/>
              </a:tblGrid>
              <a:tr h="552795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 dirty="0">
                          <a:effectLst/>
                        </a:rPr>
                        <a:t>Kind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1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Example</a:t>
                      </a:r>
                    </a:p>
                  </a:txBody>
                  <a:tcPr marL="12700" marR="12700" marT="12700" marB="0" anchor="b"/>
                </a:tc>
              </a:tr>
              <a:tr h="587842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 dirty="0" smtClean="0">
                          <a:effectLst/>
                        </a:rPr>
                        <a:t>Static </a:t>
                      </a:r>
                      <a:r>
                        <a:rPr lang="en-US" sz="2400" u="none" strike="noStrike" dirty="0">
                          <a:effectLst/>
                        </a:rPr>
                        <a:t>method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1" i="0" u="none" strike="noStrike" dirty="0" smtClean="0">
                          <a:effectLst/>
                          <a:latin typeface="Courier New"/>
                          <a:cs typeface="Courier New"/>
                        </a:rPr>
                        <a:t>Class</a:t>
                      </a:r>
                      <a:r>
                        <a:rPr lang="en-US" sz="2400" b="1" i="0" u="none" strike="noStrike" dirty="0" smtClean="0">
                          <a:solidFill>
                            <a:srgbClr val="FF6600"/>
                          </a:solidFill>
                          <a:effectLst/>
                          <a:latin typeface="Courier New"/>
                          <a:cs typeface="Courier New"/>
                        </a:rPr>
                        <a:t>:</a:t>
                      </a:r>
                      <a:r>
                        <a:rPr lang="en-US" sz="2400" b="1" i="0" u="none" strike="noStrike" dirty="0">
                          <a:solidFill>
                            <a:srgbClr val="FF6600"/>
                          </a:solidFill>
                          <a:effectLst/>
                          <a:latin typeface="Courier New"/>
                          <a:cs typeface="Courier New"/>
                        </a:rPr>
                        <a:t>:</a:t>
                      </a:r>
                      <a:r>
                        <a:rPr lang="en-US" sz="2400" b="1" i="0" u="none" strike="noStrike" dirty="0" err="1">
                          <a:effectLst/>
                          <a:latin typeface="Courier New"/>
                          <a:cs typeface="Courier New"/>
                        </a:rPr>
                        <a:t>staticMethodName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ourier New"/>
                        <a:cs typeface="Courier New"/>
                      </a:endParaRPr>
                    </a:p>
                  </a:txBody>
                  <a:tcPr marL="12700" marR="12700" marT="12700" marB="0" anchor="ctr"/>
                </a:tc>
              </a:tr>
              <a:tr h="1155959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 dirty="0" smtClean="0">
                          <a:effectLst/>
                        </a:rPr>
                        <a:t>Instance </a:t>
                      </a:r>
                      <a:r>
                        <a:rPr lang="en-US" sz="2400" u="none" strike="noStrike" dirty="0">
                          <a:effectLst/>
                        </a:rPr>
                        <a:t>method of a particular object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1" i="0" u="none" strike="noStrike" dirty="0" smtClean="0">
                          <a:effectLst/>
                          <a:latin typeface="Courier New"/>
                          <a:cs typeface="Courier New"/>
                        </a:rPr>
                        <a:t>object</a:t>
                      </a:r>
                      <a:r>
                        <a:rPr lang="en-US" sz="2400" b="1" i="0" u="none" strike="noStrike" dirty="0" smtClean="0">
                          <a:solidFill>
                            <a:srgbClr val="FF6600"/>
                          </a:solidFill>
                          <a:effectLst/>
                          <a:latin typeface="Courier New"/>
                          <a:cs typeface="Courier New"/>
                        </a:rPr>
                        <a:t>:</a:t>
                      </a:r>
                      <a:r>
                        <a:rPr lang="en-US" sz="2400" b="1" i="0" u="none" strike="noStrike" dirty="0">
                          <a:solidFill>
                            <a:srgbClr val="FF6600"/>
                          </a:solidFill>
                          <a:effectLst/>
                          <a:latin typeface="Courier New"/>
                          <a:cs typeface="Courier New"/>
                        </a:rPr>
                        <a:t>:</a:t>
                      </a:r>
                      <a:r>
                        <a:rPr lang="en-US" sz="2400" b="1" i="0" u="none" strike="noStrike" dirty="0" err="1">
                          <a:effectLst/>
                          <a:latin typeface="Courier New"/>
                          <a:cs typeface="Courier New"/>
                        </a:rPr>
                        <a:t>instanceMethodName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ourier New"/>
                        <a:cs typeface="Courier New"/>
                      </a:endParaRPr>
                    </a:p>
                  </a:txBody>
                  <a:tcPr marL="12700" marR="12700" marT="12700" marB="0" anchor="ctr"/>
                </a:tc>
              </a:tr>
              <a:tr h="1591836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 dirty="0" smtClean="0">
                          <a:effectLst/>
                        </a:rPr>
                        <a:t>Instance </a:t>
                      </a:r>
                      <a:r>
                        <a:rPr lang="en-US" sz="2400" u="none" strike="noStrike" dirty="0">
                          <a:effectLst/>
                        </a:rPr>
                        <a:t>method of an arbitrary object of a particular type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1" i="0" u="none" strike="noStrike" dirty="0" smtClean="0">
                          <a:effectLst/>
                          <a:latin typeface="Courier New"/>
                          <a:cs typeface="Courier New"/>
                        </a:rPr>
                        <a:t>Type</a:t>
                      </a:r>
                      <a:r>
                        <a:rPr lang="en-US" sz="2400" b="1" i="0" u="none" strike="noStrike" dirty="0">
                          <a:solidFill>
                            <a:srgbClr val="FF6600"/>
                          </a:solidFill>
                          <a:effectLst/>
                          <a:latin typeface="Courier New"/>
                          <a:cs typeface="Courier New"/>
                        </a:rPr>
                        <a:t>::</a:t>
                      </a:r>
                      <a:r>
                        <a:rPr lang="en-US" sz="2400" b="1" i="0" u="none" strike="noStrike" dirty="0" err="1">
                          <a:effectLst/>
                          <a:latin typeface="Courier New"/>
                          <a:cs typeface="Courier New"/>
                        </a:rPr>
                        <a:t>methodName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ourier New"/>
                        <a:cs typeface="Courier New"/>
                      </a:endParaRPr>
                    </a:p>
                  </a:txBody>
                  <a:tcPr marL="12700" marR="12700" marT="12700" marB="0" anchor="ctr"/>
                </a:tc>
              </a:tr>
              <a:tr h="587842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 dirty="0" smtClean="0">
                          <a:effectLst/>
                        </a:rPr>
                        <a:t>Constructor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1" i="0" u="none" strike="noStrike" dirty="0" smtClean="0">
                          <a:effectLst/>
                          <a:latin typeface="Courier New"/>
                          <a:cs typeface="Courier New"/>
                        </a:rPr>
                        <a:t>Class</a:t>
                      </a:r>
                      <a:r>
                        <a:rPr lang="en-US" sz="2400" b="1" i="0" u="none" strike="noStrike" dirty="0" smtClean="0">
                          <a:solidFill>
                            <a:srgbClr val="FF6600"/>
                          </a:solidFill>
                          <a:effectLst/>
                          <a:latin typeface="Courier New"/>
                          <a:cs typeface="Courier New"/>
                        </a:rPr>
                        <a:t>:</a:t>
                      </a:r>
                      <a:r>
                        <a:rPr lang="en-US" sz="2400" b="1" i="0" u="none" strike="noStrike" dirty="0">
                          <a:solidFill>
                            <a:srgbClr val="FF6600"/>
                          </a:solidFill>
                          <a:effectLst/>
                          <a:latin typeface="Courier New"/>
                          <a:cs typeface="Courier New"/>
                        </a:rPr>
                        <a:t>:new</a:t>
                      </a:r>
                    </a:p>
                  </a:txBody>
                  <a:tcPr marL="12700" marR="12700" marT="12700" marB="0"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267744" y="1196752"/>
            <a:ext cx="4709718" cy="533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chemeClr val="accent4"/>
                </a:solidFill>
                <a:latin typeface="Courier New"/>
                <a:cs typeface="Courier New"/>
              </a:rPr>
              <a:t>Container</a:t>
            </a:r>
            <a:r>
              <a:rPr lang="en-US" sz="2800" b="1" dirty="0" smtClean="0">
                <a:solidFill>
                  <a:srgbClr val="FF6600"/>
                </a:solidFill>
                <a:latin typeface="Courier New"/>
                <a:cs typeface="Courier New"/>
              </a:rPr>
              <a:t>::</a:t>
            </a:r>
            <a:r>
              <a:rPr lang="en-US" sz="2800" b="1" dirty="0" err="1" smtClean="0">
                <a:solidFill>
                  <a:srgbClr val="8064A2"/>
                </a:solidFill>
                <a:latin typeface="Courier New"/>
                <a:cs typeface="Courier New"/>
              </a:rPr>
              <a:t>methodName</a:t>
            </a:r>
            <a:endParaRPr lang="en-US" sz="2800" b="1" dirty="0" smtClean="0">
              <a:solidFill>
                <a:srgbClr val="8064A2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56201068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Static method reference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Similar to a C function</a:t>
            </a:r>
          </a:p>
          <a:p>
            <a:pPr lvl="1"/>
            <a:r>
              <a:rPr lang="en-US" dirty="0" smtClean="0"/>
              <a:t>The parameters are the same as the method parameters</a:t>
            </a:r>
          </a:p>
          <a:p>
            <a:pPr lvl="3"/>
            <a:endParaRPr lang="en-US" dirty="0" smtClean="0"/>
          </a:p>
          <a:p>
            <a:pPr marL="457200" lvl="1" indent="0">
              <a:buNone/>
            </a:pPr>
            <a:r>
              <a:rPr lang="en-US" sz="2400" b="1" dirty="0" err="1" smtClean="0">
                <a:latin typeface="Courier New"/>
                <a:cs typeface="Courier New"/>
              </a:rPr>
              <a:t>DoubleBinaryOperator</a:t>
            </a:r>
            <a:r>
              <a:rPr lang="en-US" sz="2400" b="1" dirty="0" smtClean="0">
                <a:latin typeface="Courier New"/>
                <a:cs typeface="Courier New"/>
              </a:rPr>
              <a:t> </a:t>
            </a:r>
            <a:r>
              <a:rPr lang="en-US" sz="2400" b="1" dirty="0">
                <a:latin typeface="Courier New"/>
                <a:cs typeface="Courier New"/>
              </a:rPr>
              <a:t>combine = Math::max;</a:t>
            </a:r>
          </a:p>
          <a:p>
            <a:pPr marL="457200" lvl="1" indent="0">
              <a:buNone/>
            </a:pPr>
            <a:r>
              <a:rPr lang="en-US" sz="2400" b="1" dirty="0" smtClean="0">
                <a:latin typeface="Courier New"/>
                <a:cs typeface="Courier New"/>
              </a:rPr>
              <a:t>double d=</a:t>
            </a:r>
            <a:r>
              <a:rPr lang="en-US" sz="2400" b="1" dirty="0" err="1" smtClean="0">
                <a:latin typeface="Courier New"/>
                <a:cs typeface="Courier New"/>
              </a:rPr>
              <a:t>combine.applyAsDouble</a:t>
            </a:r>
            <a:r>
              <a:rPr lang="en-US" sz="2400" b="1" dirty="0">
                <a:latin typeface="Courier New"/>
                <a:cs typeface="Courier New"/>
              </a:rPr>
              <a:t>(1.0, 3.1);</a:t>
            </a:r>
          </a:p>
          <a:p>
            <a:pPr marL="457200" lvl="1" indent="0">
              <a:buNone/>
            </a:pPr>
            <a:endParaRPr lang="en-US" sz="2400" b="1" dirty="0">
              <a:latin typeface="Courier New"/>
              <a:cs typeface="Courier New"/>
            </a:endParaRP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 bwMode="auto">
          <a:xfrm>
            <a:off x="683568" y="4725144"/>
            <a:ext cx="8064896" cy="165618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rgbClr val="E46C0A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360" tIns="44280" rIns="90360" bIns="44280" rtlCol="0" anchor="ctr"/>
          <a:lstStyle/>
          <a:p>
            <a:pPr indent="-57150"/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package </a:t>
            </a:r>
            <a:r>
              <a:rPr lang="en-US" b="1" dirty="0" err="1">
                <a:solidFill>
                  <a:schemeClr val="tx1"/>
                </a:solidFill>
                <a:latin typeface="Courier New"/>
                <a:cs typeface="Courier New"/>
              </a:rPr>
              <a:t>java.util.function</a:t>
            </a:r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;</a:t>
            </a:r>
          </a:p>
          <a:p>
            <a:pPr indent="-57150"/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interface </a:t>
            </a:r>
            <a:r>
              <a:rPr lang="en-US" b="1" dirty="0" err="1">
                <a:solidFill>
                  <a:schemeClr val="tx1"/>
                </a:solidFill>
                <a:latin typeface="Courier New"/>
                <a:cs typeface="Courier New"/>
              </a:rPr>
              <a:t>DoubleBinaryOperator</a:t>
            </a:r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 {</a:t>
            </a:r>
          </a:p>
          <a:p>
            <a:pPr indent="-57150"/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  double </a:t>
            </a:r>
            <a:r>
              <a:rPr lang="en-US" b="1" dirty="0" err="1">
                <a:solidFill>
                  <a:srgbClr val="FF6600"/>
                </a:solidFill>
                <a:latin typeface="Courier New"/>
                <a:cs typeface="Courier New"/>
              </a:rPr>
              <a:t>applyAsDouble</a:t>
            </a:r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(double a, double b);</a:t>
            </a:r>
          </a:p>
          <a:p>
            <a:pPr indent="-57150"/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}</a:t>
            </a:r>
          </a:p>
        </p:txBody>
      </p:sp>
      <p:sp>
        <p:nvSpPr>
          <p:cNvPr id="6" name="Rounded Rectangular Callout 5"/>
          <p:cNvSpPr/>
          <p:nvPr/>
        </p:nvSpPr>
        <p:spPr bwMode="auto">
          <a:xfrm>
            <a:off x="5004048" y="2492896"/>
            <a:ext cx="3996952" cy="576064"/>
          </a:xfrm>
          <a:prstGeom prst="wedgeRoundRectCallout">
            <a:avLst>
              <a:gd name="adj1" fmla="val -1022"/>
              <a:gd name="adj2" fmla="val 101407"/>
              <a:gd name="adj3" fmla="val 16667"/>
            </a:avLst>
          </a:prstGeom>
          <a:solidFill>
            <a:srgbClr val="FDEADA"/>
          </a:solidFill>
          <a:ln w="12600">
            <a:solidFill>
              <a:srgbClr val="E46C0A"/>
            </a:solidFill>
            <a:miter lim="800000"/>
            <a:headEnd/>
            <a:tailEnd/>
          </a:ln>
          <a:effectLst>
            <a:outerShdw dist="107933" dir="2700000" algn="ctr" rotWithShape="0">
              <a:srgbClr val="808080"/>
            </a:outerShdw>
          </a:effectLst>
        </p:spPr>
        <p:txBody>
          <a:bodyPr lIns="90360" tIns="44280" rIns="90360" bIns="44280" rtlCol="0" anchor="ctr"/>
          <a:lstStyle/>
          <a:p>
            <a:pPr indent="-57150" algn="ctr"/>
            <a:r>
              <a:rPr lang="en-US" b="1" dirty="0" err="1" smtClean="0">
                <a:solidFill>
                  <a:schemeClr val="tx1"/>
                </a:solidFill>
                <a:latin typeface="Courier New"/>
                <a:cs typeface="Courier New"/>
              </a:rPr>
              <a:t>a,b</a:t>
            </a:r>
            <a:r>
              <a:rPr lang="en-US" b="1" dirty="0" smtClean="0">
                <a:solidFill>
                  <a:schemeClr val="tx1"/>
                </a:solidFill>
                <a:latin typeface="Courier New"/>
                <a:cs typeface="Courier New"/>
              </a:rPr>
              <a:t> -&gt; </a:t>
            </a:r>
            <a:r>
              <a:rPr lang="en-US" b="1" dirty="0" err="1" smtClean="0">
                <a:solidFill>
                  <a:schemeClr val="tx1"/>
                </a:solidFill>
                <a:latin typeface="Courier New"/>
                <a:cs typeface="Courier New"/>
              </a:rPr>
              <a:t>Math.max</a:t>
            </a:r>
            <a:r>
              <a:rPr lang="en-US" b="1" dirty="0" smtClean="0">
                <a:solidFill>
                  <a:schemeClr val="tx1"/>
                </a:solidFill>
                <a:latin typeface="Courier New"/>
                <a:cs typeface="Courier New"/>
              </a:rPr>
              <a:t>(</a:t>
            </a:r>
            <a:r>
              <a:rPr lang="en-US" b="1" dirty="0" err="1" smtClean="0">
                <a:solidFill>
                  <a:schemeClr val="tx1"/>
                </a:solidFill>
                <a:latin typeface="Courier New"/>
                <a:cs typeface="Courier New"/>
              </a:rPr>
              <a:t>a,b</a:t>
            </a:r>
            <a:r>
              <a:rPr lang="en-US" b="1" dirty="0" smtClean="0">
                <a:solidFill>
                  <a:schemeClr val="tx1"/>
                </a:solidFill>
                <a:latin typeface="Courier New"/>
                <a:cs typeface="Courier New"/>
              </a:rPr>
              <a:t>)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5918088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Instance method of object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Method is invoked on the object</a:t>
            </a:r>
          </a:p>
          <a:p>
            <a:pPr lvl="1"/>
            <a:r>
              <a:rPr lang="en-US" dirty="0" smtClean="0"/>
              <a:t>Parameters are those of the method</a:t>
            </a:r>
          </a:p>
          <a:p>
            <a:pPr lvl="1"/>
            <a:endParaRPr lang="en-US" sz="2000" b="1" dirty="0" smtClean="0">
              <a:latin typeface="Courier New"/>
              <a:cs typeface="Courier New"/>
            </a:endParaRPr>
          </a:p>
          <a:p>
            <a:pPr lvl="1"/>
            <a:endParaRPr lang="en-US" sz="2000" b="1" dirty="0"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2400" b="1" dirty="0" smtClean="0">
                <a:latin typeface="Courier New"/>
                <a:cs typeface="Courier New"/>
              </a:rPr>
              <a:t>String </a:t>
            </a:r>
            <a:r>
              <a:rPr lang="en-US" sz="2400" b="1" dirty="0" err="1">
                <a:latin typeface="Courier New"/>
                <a:cs typeface="Courier New"/>
              </a:rPr>
              <a:t>hexDigits</a:t>
            </a:r>
            <a:r>
              <a:rPr lang="en-US" sz="2400" b="1" dirty="0">
                <a:latin typeface="Courier New"/>
                <a:cs typeface="Courier New"/>
              </a:rPr>
              <a:t> = "0123456789ABCDEF";</a:t>
            </a:r>
          </a:p>
          <a:p>
            <a:pPr marL="0" indent="0">
              <a:buNone/>
            </a:pPr>
            <a:r>
              <a:rPr lang="en-US" sz="2400" b="1" dirty="0" smtClean="0">
                <a:latin typeface="Courier New"/>
                <a:cs typeface="Courier New"/>
              </a:rPr>
              <a:t>Radix </a:t>
            </a:r>
            <a:r>
              <a:rPr lang="en-US" sz="2400" b="1" dirty="0">
                <a:latin typeface="Courier New"/>
                <a:cs typeface="Courier New"/>
              </a:rPr>
              <a:t>hex = </a:t>
            </a:r>
            <a:r>
              <a:rPr lang="en-US" sz="2400" b="1" dirty="0" err="1">
                <a:latin typeface="Courier New"/>
                <a:cs typeface="Courier New"/>
              </a:rPr>
              <a:t>hexDigits</a:t>
            </a:r>
            <a:r>
              <a:rPr lang="en-US" sz="2400" b="1" dirty="0">
                <a:latin typeface="Courier New"/>
                <a:cs typeface="Courier New"/>
              </a:rPr>
              <a:t>::</a:t>
            </a:r>
            <a:r>
              <a:rPr lang="en-US" sz="2400" b="1" dirty="0" err="1">
                <a:latin typeface="Courier New"/>
                <a:cs typeface="Courier New"/>
              </a:rPr>
              <a:t>charAt</a:t>
            </a:r>
            <a:r>
              <a:rPr lang="en-US" sz="2400" b="1" dirty="0">
                <a:latin typeface="Courier New"/>
                <a:cs typeface="Courier New"/>
              </a:rPr>
              <a:t>;</a:t>
            </a:r>
          </a:p>
          <a:p>
            <a:pPr marL="0" indent="0">
              <a:buNone/>
            </a:pPr>
            <a:r>
              <a:rPr lang="en-US" sz="2400" b="1" dirty="0" err="1" smtClean="0">
                <a:latin typeface="Courier New"/>
                <a:cs typeface="Courier New"/>
              </a:rPr>
              <a:t>System.out.println</a:t>
            </a:r>
            <a:r>
              <a:rPr lang="en-US" sz="2400" b="1" dirty="0">
                <a:latin typeface="Courier New"/>
                <a:cs typeface="Courier New"/>
              </a:rPr>
              <a:t>("Hex for 10 : " </a:t>
            </a:r>
            <a:endParaRPr lang="en-US" sz="2400" b="1" dirty="0" smtClean="0"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2400" b="1" dirty="0">
                <a:latin typeface="Courier New"/>
                <a:cs typeface="Courier New"/>
              </a:rPr>
              <a:t>	</a:t>
            </a:r>
            <a:r>
              <a:rPr lang="en-US" sz="2400" b="1" dirty="0" smtClean="0">
                <a:latin typeface="Courier New"/>
                <a:cs typeface="Courier New"/>
              </a:rPr>
              <a:t>							+ </a:t>
            </a:r>
            <a:r>
              <a:rPr lang="en-US" sz="2400" b="1" dirty="0" err="1" smtClean="0">
                <a:latin typeface="Courier New"/>
                <a:cs typeface="Courier New"/>
              </a:rPr>
              <a:t>hex.convert</a:t>
            </a:r>
            <a:r>
              <a:rPr lang="en-US" sz="2400" b="1" dirty="0">
                <a:latin typeface="Courier New"/>
                <a:cs typeface="Courier New"/>
              </a:rPr>
              <a:t>(10) )</a:t>
            </a:r>
            <a:r>
              <a:rPr lang="en-US" sz="2400" b="1" dirty="0" smtClean="0">
                <a:latin typeface="Courier New"/>
                <a:cs typeface="Courier New"/>
              </a:rPr>
              <a:t>;</a:t>
            </a:r>
            <a:endParaRPr lang="en-US" sz="2400" b="1" dirty="0">
              <a:latin typeface="Courier New"/>
              <a:cs typeface="Courier New"/>
            </a:endParaRPr>
          </a:p>
        </p:txBody>
      </p:sp>
      <p:sp>
        <p:nvSpPr>
          <p:cNvPr id="4" name="Rectangle 3"/>
          <p:cNvSpPr/>
          <p:nvPr/>
        </p:nvSpPr>
        <p:spPr bwMode="auto">
          <a:xfrm>
            <a:off x="467544" y="5373216"/>
            <a:ext cx="5040560" cy="129614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rgbClr val="E46C0A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360" tIns="44280" rIns="90360" bIns="44280" rtlCol="0" anchor="ctr"/>
          <a:lstStyle/>
          <a:p>
            <a:pPr indent="-57150"/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interface Radix {</a:t>
            </a:r>
          </a:p>
          <a:p>
            <a:pPr indent="-57150"/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  char </a:t>
            </a:r>
            <a:r>
              <a:rPr lang="en-US" b="1" dirty="0">
                <a:solidFill>
                  <a:srgbClr val="FF6600"/>
                </a:solidFill>
                <a:latin typeface="Courier New"/>
                <a:cs typeface="Courier New"/>
              </a:rPr>
              <a:t>convert</a:t>
            </a:r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(</a:t>
            </a:r>
            <a:r>
              <a:rPr lang="en-US" b="1" dirty="0" err="1">
                <a:solidFill>
                  <a:schemeClr val="tx1"/>
                </a:solidFill>
                <a:latin typeface="Courier New"/>
                <a:cs typeface="Courier New"/>
              </a:rPr>
              <a:t>int</a:t>
            </a:r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 value);</a:t>
            </a:r>
          </a:p>
          <a:p>
            <a:pPr indent="-57150"/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}</a:t>
            </a:r>
          </a:p>
        </p:txBody>
      </p:sp>
      <p:sp>
        <p:nvSpPr>
          <p:cNvPr id="6" name="Rounded Rectangular Callout 5"/>
          <p:cNvSpPr/>
          <p:nvPr/>
        </p:nvSpPr>
        <p:spPr bwMode="auto">
          <a:xfrm>
            <a:off x="4211960" y="2420888"/>
            <a:ext cx="4717032" cy="576064"/>
          </a:xfrm>
          <a:prstGeom prst="wedgeRoundRectCallout">
            <a:avLst>
              <a:gd name="adj1" fmla="val -59140"/>
              <a:gd name="adj2" fmla="val 198206"/>
              <a:gd name="adj3" fmla="val 16667"/>
            </a:avLst>
          </a:prstGeom>
          <a:solidFill>
            <a:srgbClr val="FDEADA">
              <a:alpha val="63000"/>
            </a:srgbClr>
          </a:solidFill>
          <a:ln w="12600">
            <a:solidFill>
              <a:srgbClr val="E46C0A"/>
            </a:solidFill>
            <a:miter lim="800000"/>
            <a:headEnd/>
            <a:tailEnd/>
          </a:ln>
          <a:effectLst/>
        </p:spPr>
        <p:txBody>
          <a:bodyPr lIns="90360" tIns="44280" rIns="90360" bIns="44280" rtlCol="0" anchor="ctr"/>
          <a:lstStyle/>
          <a:p>
            <a:pPr indent="-57150" algn="ctr"/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v</a:t>
            </a:r>
            <a:r>
              <a:rPr lang="en-US" b="1" dirty="0" smtClean="0">
                <a:solidFill>
                  <a:schemeClr val="tx1"/>
                </a:solidFill>
                <a:latin typeface="Courier New"/>
                <a:cs typeface="Courier New"/>
              </a:rPr>
              <a:t> -&gt; </a:t>
            </a:r>
            <a:r>
              <a:rPr lang="en-US" b="1" dirty="0" err="1" smtClean="0">
                <a:solidFill>
                  <a:schemeClr val="tx1"/>
                </a:solidFill>
                <a:latin typeface="Courier New"/>
                <a:cs typeface="Courier New"/>
              </a:rPr>
              <a:t>hexDigits.charAt</a:t>
            </a:r>
            <a:r>
              <a:rPr lang="en-US" b="1" dirty="0" smtClean="0">
                <a:solidFill>
                  <a:schemeClr val="tx1"/>
                </a:solidFill>
                <a:latin typeface="Courier New"/>
                <a:cs typeface="Courier New"/>
              </a:rPr>
              <a:t>(v)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078097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Instance method reference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first argument is the object on which the method is invoked</a:t>
            </a:r>
          </a:p>
          <a:p>
            <a:pPr lvl="1"/>
            <a:r>
              <a:rPr lang="en-US" dirty="0" smtClean="0"/>
              <a:t>The remaining arguments are mapped to the method arguments</a:t>
            </a:r>
          </a:p>
          <a:p>
            <a:pPr lvl="1"/>
            <a:endParaRPr lang="en-US" sz="2000" b="1" dirty="0"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2400" b="1" dirty="0" err="1" smtClean="0">
                <a:latin typeface="Courier New"/>
                <a:cs typeface="Courier New"/>
              </a:rPr>
              <a:t>StringValue</a:t>
            </a:r>
            <a:r>
              <a:rPr lang="en-US" sz="2400" b="1" dirty="0" smtClean="0">
                <a:latin typeface="Courier New"/>
                <a:cs typeface="Courier New"/>
              </a:rPr>
              <a:t> </a:t>
            </a:r>
            <a:r>
              <a:rPr lang="en-US" sz="2400" b="1" dirty="0">
                <a:latin typeface="Courier New"/>
                <a:cs typeface="Courier New"/>
              </a:rPr>
              <a:t>f = String:</a:t>
            </a:r>
            <a:r>
              <a:rPr lang="en-US" sz="2400" b="1" dirty="0" smtClean="0">
                <a:latin typeface="Courier New"/>
                <a:cs typeface="Courier New"/>
              </a:rPr>
              <a:t>:</a:t>
            </a:r>
            <a:r>
              <a:rPr lang="en-US" sz="2400" b="1" dirty="0" err="1" smtClean="0">
                <a:latin typeface="Courier New"/>
                <a:cs typeface="Courier New"/>
              </a:rPr>
              <a:t>charAt</a:t>
            </a:r>
            <a:r>
              <a:rPr lang="en-US" sz="2400" b="1" dirty="0" smtClean="0">
                <a:latin typeface="Courier New"/>
                <a:cs typeface="Courier New"/>
              </a:rPr>
              <a:t>;</a:t>
            </a:r>
            <a:endParaRPr lang="en-US" sz="2400" b="1" dirty="0"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2400" b="1" dirty="0" smtClean="0">
                <a:latin typeface="Courier New"/>
                <a:cs typeface="Courier New"/>
              </a:rPr>
              <a:t>for</a:t>
            </a:r>
            <a:r>
              <a:rPr lang="en-US" sz="2400" b="1" dirty="0">
                <a:latin typeface="Courier New"/>
                <a:cs typeface="Courier New"/>
              </a:rPr>
              <a:t>(String e : v){</a:t>
            </a:r>
          </a:p>
          <a:p>
            <a:pPr marL="0" indent="0">
              <a:buNone/>
            </a:pPr>
            <a:r>
              <a:rPr lang="en-US" sz="2400" b="1" dirty="0">
                <a:latin typeface="Courier New"/>
                <a:cs typeface="Courier New"/>
              </a:rPr>
              <a:t> </a:t>
            </a:r>
            <a:r>
              <a:rPr lang="en-US" sz="2400" b="1" dirty="0" smtClean="0">
                <a:latin typeface="Courier New"/>
                <a:cs typeface="Courier New"/>
              </a:rPr>
              <a:t> </a:t>
            </a:r>
            <a:r>
              <a:rPr lang="en-US" sz="2400" b="1" dirty="0" err="1" smtClean="0">
                <a:latin typeface="Courier New"/>
                <a:cs typeface="Courier New"/>
              </a:rPr>
              <a:t>System.out.println</a:t>
            </a:r>
            <a:r>
              <a:rPr lang="en-US" sz="2400" b="1" dirty="0">
                <a:latin typeface="Courier New"/>
                <a:cs typeface="Courier New"/>
              </a:rPr>
              <a:t>(</a:t>
            </a:r>
            <a:r>
              <a:rPr lang="en-US" sz="2400" b="1" dirty="0" err="1">
                <a:latin typeface="Courier New"/>
                <a:cs typeface="Courier New"/>
              </a:rPr>
              <a:t>f.apply</a:t>
            </a:r>
            <a:r>
              <a:rPr lang="en-US" sz="2400" b="1" dirty="0">
                <a:latin typeface="Courier New"/>
                <a:cs typeface="Courier New"/>
              </a:rPr>
              <a:t>(</a:t>
            </a:r>
            <a:r>
              <a:rPr lang="en-US" sz="2400" b="1" dirty="0" smtClean="0">
                <a:latin typeface="Courier New"/>
                <a:cs typeface="Courier New"/>
              </a:rPr>
              <a:t>e,0)</a:t>
            </a:r>
            <a:r>
              <a:rPr lang="en-US" sz="2400" b="1" dirty="0">
                <a:latin typeface="Courier New"/>
                <a:cs typeface="Courier New"/>
              </a:rPr>
              <a:t>);</a:t>
            </a:r>
          </a:p>
          <a:p>
            <a:pPr marL="0" indent="0">
              <a:buNone/>
            </a:pPr>
            <a:r>
              <a:rPr lang="en-US" sz="2400" b="1" dirty="0" smtClean="0">
                <a:latin typeface="Courier New"/>
                <a:cs typeface="Courier New"/>
              </a:rPr>
              <a:t>}</a:t>
            </a:r>
            <a:endParaRPr lang="en-US" sz="2400" b="1" dirty="0">
              <a:latin typeface="Courier New"/>
              <a:cs typeface="Courier New"/>
            </a:endParaRPr>
          </a:p>
        </p:txBody>
      </p:sp>
      <p:sp>
        <p:nvSpPr>
          <p:cNvPr id="4" name="Rectangle 3"/>
          <p:cNvSpPr/>
          <p:nvPr/>
        </p:nvSpPr>
        <p:spPr bwMode="auto">
          <a:xfrm>
            <a:off x="2699792" y="5373216"/>
            <a:ext cx="5904656" cy="129614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rgbClr val="E46C0A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360" tIns="44280" rIns="90360" bIns="44280" rtlCol="0" anchor="ctr"/>
          <a:lstStyle/>
          <a:p>
            <a:pPr indent="-57150"/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interface </a:t>
            </a:r>
            <a:r>
              <a:rPr lang="en-US" b="1" dirty="0" err="1">
                <a:solidFill>
                  <a:schemeClr val="tx1"/>
                </a:solidFill>
                <a:latin typeface="Courier New"/>
                <a:cs typeface="Courier New"/>
              </a:rPr>
              <a:t>StringValue</a:t>
            </a:r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 {</a:t>
            </a:r>
          </a:p>
          <a:p>
            <a:pPr indent="-57150"/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	</a:t>
            </a:r>
            <a:r>
              <a:rPr lang="en-US" b="1" dirty="0" smtClean="0">
                <a:solidFill>
                  <a:schemeClr val="tx1"/>
                </a:solidFill>
                <a:latin typeface="Courier New"/>
                <a:cs typeface="Courier New"/>
              </a:rPr>
              <a:t>char </a:t>
            </a:r>
            <a:r>
              <a:rPr lang="en-US" b="1" dirty="0" smtClean="0">
                <a:solidFill>
                  <a:srgbClr val="FF6600"/>
                </a:solidFill>
                <a:latin typeface="Courier New"/>
                <a:cs typeface="Courier New"/>
              </a:rPr>
              <a:t>apply</a:t>
            </a:r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(String </a:t>
            </a:r>
            <a:r>
              <a:rPr lang="en-US" b="1" dirty="0" smtClean="0">
                <a:solidFill>
                  <a:schemeClr val="tx1"/>
                </a:solidFill>
                <a:latin typeface="Courier New"/>
                <a:cs typeface="Courier New"/>
              </a:rPr>
              <a:t>s, </a:t>
            </a:r>
            <a:r>
              <a:rPr lang="en-US" b="1" dirty="0" err="1" smtClean="0">
                <a:solidFill>
                  <a:schemeClr val="tx1"/>
                </a:solidFill>
                <a:latin typeface="Courier New"/>
                <a:cs typeface="Courier New"/>
              </a:rPr>
              <a:t>int</a:t>
            </a:r>
            <a:r>
              <a:rPr lang="en-US" b="1" dirty="0" smtClean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lang="en-US" b="1" dirty="0" err="1" smtClean="0">
                <a:solidFill>
                  <a:schemeClr val="tx1"/>
                </a:solidFill>
                <a:latin typeface="Courier New"/>
                <a:cs typeface="Courier New"/>
              </a:rPr>
              <a:t>i</a:t>
            </a:r>
            <a:r>
              <a:rPr lang="en-US" b="1" dirty="0" smtClean="0">
                <a:solidFill>
                  <a:schemeClr val="tx1"/>
                </a:solidFill>
                <a:latin typeface="Courier New"/>
                <a:cs typeface="Courier New"/>
              </a:rPr>
              <a:t>);</a:t>
            </a:r>
          </a:p>
          <a:p>
            <a:pPr indent="-57150"/>
            <a:r>
              <a:rPr lang="en-US" b="1" dirty="0" smtClean="0">
                <a:solidFill>
                  <a:schemeClr val="tx1"/>
                </a:solidFill>
                <a:latin typeface="Courier New"/>
                <a:cs typeface="Courier New"/>
              </a:rPr>
              <a:t>}</a:t>
            </a:r>
            <a:endParaRPr lang="en-US" b="1" dirty="0">
              <a:solidFill>
                <a:schemeClr val="tx1"/>
              </a:solidFill>
              <a:latin typeface="Courier New"/>
              <a:cs typeface="Courier New"/>
            </a:endParaRPr>
          </a:p>
        </p:txBody>
      </p:sp>
      <p:sp>
        <p:nvSpPr>
          <p:cNvPr id="6" name="Rounded Rectangular Callout 5"/>
          <p:cNvSpPr/>
          <p:nvPr/>
        </p:nvSpPr>
        <p:spPr bwMode="auto">
          <a:xfrm>
            <a:off x="5580112" y="3140968"/>
            <a:ext cx="3528392" cy="432048"/>
          </a:xfrm>
          <a:prstGeom prst="wedgeRoundRectCallout">
            <a:avLst>
              <a:gd name="adj1" fmla="val -44743"/>
              <a:gd name="adj2" fmla="val 136322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rgbClr val="E46C0A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360" tIns="44280" rIns="90360" bIns="44280" rtlCol="0" anchor="ctr"/>
          <a:lstStyle/>
          <a:p>
            <a:pPr indent="-57150" algn="ctr"/>
            <a:r>
              <a:rPr lang="en-US" b="1" dirty="0" err="1">
                <a:solidFill>
                  <a:schemeClr val="tx1"/>
                </a:solidFill>
                <a:latin typeface="Courier New"/>
                <a:cs typeface="Courier New"/>
              </a:rPr>
              <a:t>s</a:t>
            </a:r>
            <a:r>
              <a:rPr lang="en-US" b="1" dirty="0" err="1" smtClean="0">
                <a:solidFill>
                  <a:schemeClr val="tx1"/>
                </a:solidFill>
                <a:latin typeface="Courier New"/>
                <a:cs typeface="Courier New"/>
              </a:rPr>
              <a:t>,i</a:t>
            </a:r>
            <a:r>
              <a:rPr lang="en-US" b="1" dirty="0" smtClean="0">
                <a:solidFill>
                  <a:schemeClr val="tx1"/>
                </a:solidFill>
                <a:latin typeface="Courier New"/>
                <a:cs typeface="Courier New"/>
              </a:rPr>
              <a:t> -&gt; </a:t>
            </a:r>
            <a:r>
              <a:rPr lang="en-US" b="1" dirty="0" err="1" smtClean="0">
                <a:solidFill>
                  <a:schemeClr val="tx1"/>
                </a:solidFill>
                <a:latin typeface="Courier New"/>
                <a:cs typeface="Courier New"/>
              </a:rPr>
              <a:t>s.charAt</a:t>
            </a:r>
            <a:r>
              <a:rPr lang="en-US" b="1" dirty="0" smtClean="0">
                <a:solidFill>
                  <a:schemeClr val="tx1"/>
                </a:solidFill>
                <a:latin typeface="Courier New"/>
                <a:cs typeface="Courier New"/>
              </a:rPr>
              <a:t>(</a:t>
            </a:r>
            <a:r>
              <a:rPr lang="en-US" b="1" dirty="0" err="1" smtClean="0">
                <a:solidFill>
                  <a:schemeClr val="tx1"/>
                </a:solidFill>
                <a:latin typeface="Courier New"/>
                <a:cs typeface="Courier New"/>
              </a:rPr>
              <a:t>i</a:t>
            </a:r>
            <a:r>
              <a:rPr lang="en-US" b="1" dirty="0" smtClean="0">
                <a:solidFill>
                  <a:schemeClr val="tx1"/>
                </a:solidFill>
                <a:latin typeface="Courier New"/>
                <a:cs typeface="Courier New"/>
              </a:rPr>
              <a:t>)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021725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Constructor reference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return type is a new object</a:t>
            </a:r>
          </a:p>
          <a:p>
            <a:pPr lvl="1"/>
            <a:r>
              <a:rPr lang="en-US" dirty="0"/>
              <a:t>Parameters are the constructor’s </a:t>
            </a:r>
            <a:r>
              <a:rPr lang="en-US" dirty="0" smtClean="0"/>
              <a:t>parameters</a:t>
            </a:r>
            <a:endParaRPr lang="en-US" sz="2000" b="1" dirty="0" smtClean="0">
              <a:latin typeface="Courier New"/>
              <a:cs typeface="Courier New"/>
            </a:endParaRPr>
          </a:p>
          <a:p>
            <a:pPr marL="0" indent="0">
              <a:buNone/>
            </a:pPr>
            <a:endParaRPr lang="en-US" sz="2400" b="1" dirty="0"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2400" b="1" dirty="0" err="1" smtClean="0">
                <a:latin typeface="Courier New"/>
                <a:cs typeface="Courier New"/>
              </a:rPr>
              <a:t>IntegerBuilder</a:t>
            </a:r>
            <a:r>
              <a:rPr lang="en-US" sz="2400" b="1" dirty="0" smtClean="0">
                <a:latin typeface="Courier New"/>
                <a:cs typeface="Courier New"/>
              </a:rPr>
              <a:t> </a:t>
            </a:r>
            <a:r>
              <a:rPr lang="en-US" sz="2400" b="1" dirty="0">
                <a:latin typeface="Courier New"/>
                <a:cs typeface="Courier New"/>
              </a:rPr>
              <a:t>builder = Integer::new;</a:t>
            </a:r>
          </a:p>
          <a:p>
            <a:pPr marL="0" indent="0">
              <a:buNone/>
            </a:pPr>
            <a:r>
              <a:rPr lang="en-US" sz="2400" b="1" dirty="0" smtClean="0">
                <a:latin typeface="Courier New"/>
                <a:cs typeface="Courier New"/>
              </a:rPr>
              <a:t>Integer </a:t>
            </a:r>
            <a:r>
              <a:rPr lang="en-US" sz="2400" b="1" dirty="0" err="1">
                <a:latin typeface="Courier New"/>
                <a:cs typeface="Courier New"/>
              </a:rPr>
              <a:t>i</a:t>
            </a:r>
            <a:r>
              <a:rPr lang="en-US" sz="2400" b="1" dirty="0">
                <a:latin typeface="Courier New"/>
                <a:cs typeface="Courier New"/>
              </a:rPr>
              <a:t> = </a:t>
            </a:r>
            <a:r>
              <a:rPr lang="en-US" sz="2400" b="1" dirty="0" err="1">
                <a:latin typeface="Courier New"/>
                <a:cs typeface="Courier New"/>
              </a:rPr>
              <a:t>builder.build</a:t>
            </a:r>
            <a:r>
              <a:rPr lang="en-US" sz="2400" b="1" dirty="0">
                <a:latin typeface="Courier New"/>
                <a:cs typeface="Courier New"/>
              </a:rPr>
              <a:t>(1);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3131840" y="5013176"/>
            <a:ext cx="5760640" cy="129614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rgbClr val="E46C0A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360" tIns="44280" rIns="90360" bIns="44280" rtlCol="0" anchor="ctr"/>
          <a:lstStyle/>
          <a:p>
            <a:pPr indent="-57150"/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interface </a:t>
            </a:r>
            <a:r>
              <a:rPr lang="en-US" b="1" dirty="0" err="1">
                <a:solidFill>
                  <a:schemeClr val="tx1"/>
                </a:solidFill>
                <a:latin typeface="Courier New"/>
                <a:cs typeface="Courier New"/>
              </a:rPr>
              <a:t>IntegerBuilder</a:t>
            </a:r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{</a:t>
            </a:r>
          </a:p>
          <a:p>
            <a:pPr indent="-57150"/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		Integer </a:t>
            </a:r>
            <a:r>
              <a:rPr lang="en-US" b="1" dirty="0">
                <a:solidFill>
                  <a:srgbClr val="FF6600"/>
                </a:solidFill>
                <a:latin typeface="Courier New"/>
                <a:cs typeface="Courier New"/>
              </a:rPr>
              <a:t>build</a:t>
            </a:r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(</a:t>
            </a:r>
            <a:r>
              <a:rPr lang="en-US" b="1" dirty="0" err="1">
                <a:solidFill>
                  <a:schemeClr val="tx1"/>
                </a:solidFill>
                <a:latin typeface="Courier New"/>
                <a:cs typeface="Courier New"/>
              </a:rPr>
              <a:t>int</a:t>
            </a:r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 value);  </a:t>
            </a:r>
          </a:p>
          <a:p>
            <a:pPr indent="-57150"/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}</a:t>
            </a:r>
          </a:p>
        </p:txBody>
      </p:sp>
      <p:sp>
        <p:nvSpPr>
          <p:cNvPr id="6" name="Rounded Rectangular Callout 5"/>
          <p:cNvSpPr/>
          <p:nvPr/>
        </p:nvSpPr>
        <p:spPr bwMode="auto">
          <a:xfrm>
            <a:off x="5148064" y="2636912"/>
            <a:ext cx="3888432" cy="432048"/>
          </a:xfrm>
          <a:prstGeom prst="wedgeRoundRectCallout">
            <a:avLst>
              <a:gd name="adj1" fmla="val -44743"/>
              <a:gd name="adj2" fmla="val 136322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rgbClr val="E46C0A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360" tIns="44280" rIns="90360" bIns="44280" rtlCol="0" anchor="ctr"/>
          <a:lstStyle/>
          <a:p>
            <a:pPr indent="-57150" algn="ctr"/>
            <a:r>
              <a:rPr lang="en-US" b="1" dirty="0" err="1">
                <a:solidFill>
                  <a:schemeClr val="tx1"/>
                </a:solidFill>
                <a:latin typeface="Courier New"/>
                <a:cs typeface="Courier New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 -&gt; new Integer(</a:t>
            </a:r>
            <a:r>
              <a:rPr lang="en-US" b="1" dirty="0" err="1">
                <a:solidFill>
                  <a:schemeClr val="tx1"/>
                </a:solidFill>
                <a:latin typeface="Courier New"/>
                <a:cs typeface="Courier New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89928844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Lucida Sans Unicode" charset="0"/>
                <a:cs typeface="Lucida Sans Unicode" charset="0"/>
              </a:rPr>
              <a:t>Wrap-up session</a:t>
            </a:r>
          </a:p>
        </p:txBody>
      </p:sp>
      <p:sp>
        <p:nvSpPr>
          <p:cNvPr id="16793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defRPr/>
            </a:pPr>
            <a:r>
              <a:rPr lang="en-US" sz="2800">
                <a:latin typeface="Lucida Sans Unicode" charset="0"/>
                <a:cs typeface="Lucida Sans Unicode" charset="0"/>
              </a:rPr>
              <a:t>Inheritance </a:t>
            </a:r>
          </a:p>
          <a:p>
            <a:pPr lvl="1">
              <a:lnSpc>
                <a:spcPct val="90000"/>
              </a:lnSpc>
              <a:defRPr/>
            </a:pPr>
            <a:r>
              <a:rPr lang="en-US" sz="2400">
                <a:latin typeface="Lucida Sans Unicode" charset="0"/>
                <a:ea typeface="ＭＳ Ｐゴシック" charset="0"/>
                <a:cs typeface="ＭＳ Ｐゴシック" charset="0"/>
              </a:rPr>
              <a:t>Objects defined as sub-types of already</a:t>
            </a:r>
            <a:r>
              <a:rPr lang="en-GB" sz="2400">
                <a:latin typeface="Lucida Sans Unicode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400">
                <a:latin typeface="Lucida Sans Unicode" charset="0"/>
                <a:ea typeface="ＭＳ Ｐゴシック" charset="0"/>
                <a:cs typeface="ＭＳ Ｐゴシック" charset="0"/>
              </a:rPr>
              <a:t>existing objects</a:t>
            </a:r>
            <a:r>
              <a:rPr lang="en-GB" sz="2400">
                <a:latin typeface="Lucida Sans Unicode" charset="0"/>
                <a:ea typeface="ＭＳ Ｐゴシック" charset="0"/>
                <a:cs typeface="ＭＳ Ｐゴシック" charset="0"/>
              </a:rPr>
              <a:t>. </a:t>
            </a:r>
            <a:r>
              <a:rPr lang="en-US" sz="2400">
                <a:latin typeface="Lucida Sans Unicode" charset="0"/>
                <a:ea typeface="ＭＳ Ｐゴシック" charset="0"/>
                <a:cs typeface="ＭＳ Ｐゴシック" charset="0"/>
              </a:rPr>
              <a:t>They share the parent</a:t>
            </a:r>
            <a:r>
              <a:rPr lang="en-GB" sz="2400">
                <a:latin typeface="Lucida Sans Unicode" charset="0"/>
                <a:ea typeface="ＭＳ Ｐゴシック" charset="0"/>
                <a:cs typeface="ＭＳ Ｐゴシック" charset="0"/>
              </a:rPr>
              <a:t> data/methods</a:t>
            </a:r>
            <a:r>
              <a:rPr lang="en-US" sz="2400">
                <a:latin typeface="Lucida Sans Unicode" charset="0"/>
                <a:ea typeface="ＭＳ Ｐゴシック" charset="0"/>
                <a:cs typeface="ＭＳ Ｐゴシック" charset="0"/>
              </a:rPr>
              <a:t> without having to re</a:t>
            </a:r>
            <a:r>
              <a:rPr lang="en-GB" sz="2400">
                <a:latin typeface="Lucida Sans Unicode" charset="0"/>
                <a:ea typeface="ＭＳ Ｐゴシック" charset="0"/>
                <a:cs typeface="ＭＳ Ｐゴシック" charset="0"/>
              </a:rPr>
              <a:t>-</a:t>
            </a:r>
            <a:r>
              <a:rPr lang="en-US" sz="2400">
                <a:latin typeface="Lucida Sans Unicode" charset="0"/>
                <a:ea typeface="ＭＳ Ｐゴシック" charset="0"/>
                <a:cs typeface="ＭＳ Ｐゴシック" charset="0"/>
              </a:rPr>
              <a:t>implement</a:t>
            </a:r>
          </a:p>
          <a:p>
            <a:pPr>
              <a:lnSpc>
                <a:spcPct val="90000"/>
              </a:lnSpc>
              <a:defRPr/>
            </a:pPr>
            <a:r>
              <a:rPr lang="en-GB" sz="2800">
                <a:latin typeface="Lucida Sans Unicode" charset="0"/>
                <a:cs typeface="Times New Roman" charset="0"/>
              </a:rPr>
              <a:t>Specialization</a:t>
            </a:r>
          </a:p>
          <a:p>
            <a:pPr lvl="1">
              <a:lnSpc>
                <a:spcPct val="90000"/>
              </a:lnSpc>
              <a:defRPr/>
            </a:pPr>
            <a:r>
              <a:rPr lang="en-GB" sz="2400">
                <a:latin typeface="Lucida Sans Unicode" charset="0"/>
                <a:ea typeface="ＭＳ Ｐゴシック" charset="0"/>
                <a:cs typeface="ＭＳ Ｐゴシック" charset="0"/>
              </a:rPr>
              <a:t>C</a:t>
            </a:r>
            <a:r>
              <a:rPr lang="en-US" sz="2400">
                <a:latin typeface="Lucida Sans Unicode" charset="0"/>
                <a:ea typeface="ＭＳ Ｐゴシック" charset="0"/>
                <a:cs typeface="ＭＳ Ｐゴシック" charset="0"/>
              </a:rPr>
              <a:t>hild class </a:t>
            </a:r>
            <a:r>
              <a:rPr lang="en-GB" sz="2400">
                <a:latin typeface="Lucida Sans Unicode" charset="0"/>
                <a:ea typeface="ＭＳ Ｐゴシック" charset="0"/>
                <a:cs typeface="ＭＳ Ｐゴシック" charset="0"/>
              </a:rPr>
              <a:t>augments</a:t>
            </a:r>
            <a:r>
              <a:rPr lang="en-US" sz="2400">
                <a:latin typeface="Lucida Sans Unicode" charset="0"/>
                <a:ea typeface="ＭＳ Ｐゴシック" charset="0"/>
                <a:cs typeface="ＭＳ Ｐゴシック" charset="0"/>
              </a:rPr>
              <a:t> parent </a:t>
            </a:r>
            <a:r>
              <a:rPr lang="en-GB" sz="2400">
                <a:latin typeface="Lucida Sans Unicode" charset="0"/>
                <a:ea typeface="ＭＳ Ｐゴシック" charset="0"/>
                <a:cs typeface="ＭＳ Ｐゴシック" charset="0"/>
              </a:rPr>
              <a:t>(e.g. adds an attribute/method)</a:t>
            </a:r>
            <a:endParaRPr lang="en-US" sz="2400">
              <a:latin typeface="Lucida Sans Unicode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90000"/>
              </a:lnSpc>
              <a:defRPr/>
            </a:pPr>
            <a:r>
              <a:rPr lang="en-GB" sz="2800">
                <a:latin typeface="Lucida Sans Unicode" charset="0"/>
                <a:cs typeface="Times New Roman" charset="0"/>
              </a:rPr>
              <a:t>Overriding</a:t>
            </a:r>
          </a:p>
          <a:p>
            <a:pPr lvl="1">
              <a:lnSpc>
                <a:spcPct val="90000"/>
              </a:lnSpc>
              <a:defRPr/>
            </a:pPr>
            <a:r>
              <a:rPr lang="en-GB" sz="2400">
                <a:latin typeface="Lucida Sans Unicode" charset="0"/>
                <a:ea typeface="ＭＳ Ｐゴシック" charset="0"/>
                <a:cs typeface="ＭＳ Ｐゴシック" charset="0"/>
              </a:rPr>
              <a:t>C</a:t>
            </a:r>
            <a:r>
              <a:rPr lang="en-US" sz="2400">
                <a:latin typeface="Lucida Sans Unicode" charset="0"/>
                <a:ea typeface="ＭＳ Ｐゴシック" charset="0"/>
                <a:cs typeface="ＭＳ Ｐゴシック" charset="0"/>
              </a:rPr>
              <a:t>hild class re</a:t>
            </a:r>
            <a:r>
              <a:rPr lang="en-GB" sz="2400">
                <a:latin typeface="Lucida Sans Unicode" charset="0"/>
                <a:ea typeface="ＭＳ Ｐゴシック" charset="0"/>
                <a:cs typeface="ＭＳ Ｐゴシック" charset="0"/>
              </a:rPr>
              <a:t>de</a:t>
            </a:r>
            <a:r>
              <a:rPr lang="en-US" sz="2400">
                <a:latin typeface="Lucida Sans Unicode" charset="0"/>
                <a:ea typeface="ＭＳ Ｐゴシック" charset="0"/>
                <a:cs typeface="ＭＳ Ｐゴシック" charset="0"/>
              </a:rPr>
              <a:t>fines parent </a:t>
            </a:r>
            <a:r>
              <a:rPr lang="en-GB" sz="2400">
                <a:latin typeface="Lucida Sans Unicode" charset="0"/>
                <a:ea typeface="ＭＳ Ｐゴシック" charset="0"/>
                <a:cs typeface="ＭＳ Ｐゴシック" charset="0"/>
              </a:rPr>
              <a:t>method</a:t>
            </a:r>
          </a:p>
          <a:p>
            <a:pPr>
              <a:lnSpc>
                <a:spcPct val="90000"/>
              </a:lnSpc>
              <a:defRPr/>
            </a:pPr>
            <a:r>
              <a:rPr lang="en-GB" sz="2800">
                <a:latin typeface="Lucida Sans Unicode" charset="0"/>
                <a:cs typeface="Lucida Sans Unicode" charset="0"/>
              </a:rPr>
              <a:t>Implementation/</a:t>
            </a:r>
            <a:r>
              <a:rPr lang="en-GB" sz="2800">
                <a:latin typeface="Lucida Sans Unicode" charset="0"/>
                <a:cs typeface="Times New Roman" charset="0"/>
              </a:rPr>
              <a:t>reification</a:t>
            </a:r>
            <a:endParaRPr lang="en-GB" sz="2800">
              <a:latin typeface="Lucida Sans Unicode" charset="0"/>
              <a:cs typeface="Lucida Sans Unicode" charset="0"/>
            </a:endParaRPr>
          </a:p>
          <a:p>
            <a:pPr lvl="1">
              <a:lnSpc>
                <a:spcPct val="90000"/>
              </a:lnSpc>
              <a:defRPr/>
            </a:pPr>
            <a:r>
              <a:rPr lang="en-GB" sz="2400">
                <a:latin typeface="Lucida Sans Unicode" charset="0"/>
                <a:ea typeface="ＭＳ Ｐゴシック" charset="0"/>
                <a:cs typeface="ＭＳ Ｐゴシック" charset="0"/>
              </a:rPr>
              <a:t>C</a:t>
            </a:r>
            <a:r>
              <a:rPr lang="en-US" sz="2400">
                <a:latin typeface="Lucida Sans Unicode" charset="0"/>
                <a:ea typeface="ＭＳ Ｐゴシック" charset="0"/>
                <a:cs typeface="ＭＳ Ｐゴシック" charset="0"/>
              </a:rPr>
              <a:t>hild class </a:t>
            </a:r>
            <a:r>
              <a:rPr lang="en-GB" sz="2400">
                <a:latin typeface="Lucida Sans Unicode" charset="0"/>
                <a:ea typeface="ＭＳ Ｐゴシック" charset="0"/>
                <a:cs typeface="ＭＳ Ｐゴシック" charset="0"/>
              </a:rPr>
              <a:t>provides the actual behaviour of a</a:t>
            </a:r>
            <a:r>
              <a:rPr lang="en-US" sz="2400">
                <a:latin typeface="Lucida Sans Unicode" charset="0"/>
                <a:ea typeface="ＭＳ Ｐゴシック" charset="0"/>
                <a:cs typeface="ＭＳ Ｐゴシック" charset="0"/>
              </a:rPr>
              <a:t> parent </a:t>
            </a:r>
            <a:r>
              <a:rPr lang="en-GB" sz="2400">
                <a:latin typeface="Lucida Sans Unicode" charset="0"/>
                <a:ea typeface="ＭＳ Ｐゴシック" charset="0"/>
                <a:cs typeface="ＭＳ Ｐゴシック" charset="0"/>
              </a:rPr>
              <a:t>method</a:t>
            </a:r>
            <a:endParaRPr lang="en-US" sz="2400">
              <a:latin typeface="Lucida Sans Unicode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5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Lucida Sans Unicode" charset="0"/>
                <a:cs typeface="Lucida Sans Unicode" charset="0"/>
              </a:rPr>
              <a:t>Wrap-up session</a:t>
            </a:r>
          </a:p>
        </p:txBody>
      </p:sp>
      <p:sp>
        <p:nvSpPr>
          <p:cNvPr id="180226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>
                <a:latin typeface="Lucida Sans Unicode" charset="0"/>
                <a:cs typeface="Lucida Sans Unicode" charset="0"/>
              </a:rPr>
              <a:t>Polymorphism</a:t>
            </a:r>
          </a:p>
          <a:p>
            <a:pPr lvl="1"/>
            <a:r>
              <a:rPr lang="en-US" dirty="0">
                <a:latin typeface="Lucida Sans Unicode" charset="0"/>
                <a:ea typeface="ＭＳ Ｐゴシック" charset="0"/>
                <a:cs typeface="ＭＳ Ｐゴシック" charset="0"/>
              </a:rPr>
              <a:t>The same message can produce different behavior depending on the actual type of the receiver objects</a:t>
            </a:r>
            <a:r>
              <a:rPr lang="en-GB" dirty="0">
                <a:latin typeface="Lucida Sans Unicode" charset="0"/>
                <a:ea typeface="ＭＳ Ｐゴシック" charset="0"/>
                <a:cs typeface="ＭＳ Ｐゴシック" charset="0"/>
              </a:rPr>
              <a:t> (late binding of message/method</a:t>
            </a:r>
            <a:r>
              <a:rPr lang="en-GB" dirty="0" smtClean="0">
                <a:latin typeface="Lucida Sans Unicode" charset="0"/>
                <a:ea typeface="ＭＳ Ｐゴシック" charset="0"/>
                <a:cs typeface="ＭＳ Ｐゴシック" charset="0"/>
              </a:rPr>
              <a:t>)</a:t>
            </a:r>
          </a:p>
          <a:p>
            <a:r>
              <a:rPr lang="en-US" dirty="0" smtClean="0">
                <a:latin typeface="Lucida Sans Unicode" charset="0"/>
                <a:ea typeface="Lucida Sans Unicode" charset="0"/>
                <a:cs typeface="Lucida Sans Unicode" charset="0"/>
              </a:rPr>
              <a:t>Interfaces provide a mechanism for</a:t>
            </a:r>
          </a:p>
          <a:p>
            <a:pPr lvl="1"/>
            <a:r>
              <a:rPr lang="en-US" dirty="0" smtClean="0">
                <a:latin typeface="Lucida Sans Unicode" charset="0"/>
                <a:ea typeface="Lucida Sans Unicode" charset="0"/>
                <a:cs typeface="Lucida Sans Unicode" charset="0"/>
              </a:rPr>
              <a:t>Constraining alternative implementations</a:t>
            </a:r>
          </a:p>
          <a:p>
            <a:pPr lvl="1"/>
            <a:r>
              <a:rPr lang="en-US" dirty="0" smtClean="0">
                <a:latin typeface="Lucida Sans Unicode" charset="0"/>
                <a:ea typeface="Lucida Sans Unicode" charset="0"/>
                <a:cs typeface="Lucida Sans Unicode" charset="0"/>
              </a:rPr>
              <a:t>Defining a common behavior</a:t>
            </a:r>
          </a:p>
          <a:p>
            <a:pPr lvl="1"/>
            <a:r>
              <a:rPr lang="en-US" dirty="0" smtClean="0">
                <a:latin typeface="Lucida Sans Unicode" charset="0"/>
                <a:ea typeface="Lucida Sans Unicode" charset="0"/>
                <a:cs typeface="Lucida Sans Unicode" charset="0"/>
              </a:rPr>
              <a:t>Behavioral parameterization</a:t>
            </a:r>
          </a:p>
          <a:p>
            <a:r>
              <a:rPr lang="en-US" dirty="0" smtClean="0">
                <a:latin typeface="Lucida Sans Unicode" charset="0"/>
                <a:ea typeface="Lucida Sans Unicode" charset="0"/>
                <a:cs typeface="Lucida Sans Unicode" charset="0"/>
              </a:rPr>
              <a:t>Functional interfaces and lambda simplify the syntax for behavioral parameterization</a:t>
            </a:r>
            <a:endParaRPr lang="en-US" dirty="0">
              <a:latin typeface="Lucida Sans Unicode" charset="0"/>
              <a:ea typeface="Lucida Sans Unicode" charset="0"/>
              <a:cs typeface="Lucida Sans Unicode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ema di Office">
      <a:majorFont>
        <a:latin typeface="Lucida Sans Unicode"/>
        <a:ea typeface=""/>
        <a:cs typeface="Lucida Sans Unicode"/>
      </a:majorFont>
      <a:minorFont>
        <a:latin typeface="Lucida Sans Unicode"/>
        <a:ea typeface=""/>
        <a:cs typeface="Lucida Sans Unicod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6">
            <a:lumMod val="20000"/>
            <a:lumOff val="80000"/>
          </a:schemeClr>
        </a:solidFill>
        <a:ln w="12600">
          <a:solidFill>
            <a:schemeClr val="accent6">
              <a:lumMod val="75000"/>
            </a:schemeClr>
          </a:solidFill>
          <a:miter lim="800000"/>
          <a:headEnd/>
          <a:tailEnd/>
        </a:ln>
        <a:effectLst/>
      </a:spPr>
      <a:bodyPr lIns="90360" tIns="44280" rIns="90360" bIns="44280" rtlCol="0" anchor="ctr"/>
      <a:lstStyle>
        <a:defPPr algn="ctr">
          <a:lnSpc>
            <a:spcPct val="100000"/>
          </a:lnSpc>
          <a:spcAft>
            <a:spcPts val="125"/>
          </a:spcAft>
          <a:buFont typeface="Wingdings" charset="0"/>
          <a:buNone/>
          <a:tabLst>
            <a:tab pos="0" algn="l"/>
            <a:tab pos="457200" algn="l"/>
            <a:tab pos="914400" algn="l"/>
            <a:tab pos="1371600" algn="l"/>
            <a:tab pos="1828800" algn="l"/>
            <a:tab pos="2286000" algn="l"/>
            <a:tab pos="2743200" algn="l"/>
            <a:tab pos="3200400" algn="l"/>
            <a:tab pos="3657600" algn="l"/>
            <a:tab pos="4114800" algn="l"/>
            <a:tab pos="4572000" algn="l"/>
            <a:tab pos="5029200" algn="l"/>
            <a:tab pos="5486400" algn="l"/>
            <a:tab pos="5943600" algn="l"/>
            <a:tab pos="6400800" algn="l"/>
            <a:tab pos="6858000" algn="l"/>
            <a:tab pos="7315200" algn="l"/>
            <a:tab pos="7772400" algn="l"/>
            <a:tab pos="8229600" algn="l"/>
            <a:tab pos="8686800" algn="l"/>
            <a:tab pos="9144000" algn="l"/>
          </a:tabLst>
          <a:defRPr sz="2000" b="1">
            <a:solidFill>
              <a:srgbClr val="000000"/>
            </a:solidFill>
            <a:latin typeface="Courier New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ct val="10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Lucida Sans Unicode" pitchFamily="34" charset="0"/>
            <a:cs typeface="Lucida Sans Unicode" pitchFamily="34" charset="0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dirty="0" err="1" smtClean="0">
            <a:solidFill>
              <a:schemeClr val="tx1"/>
            </a:solidFill>
            <a:latin typeface="+mj-lt"/>
          </a:defRPr>
        </a:defPPr>
      </a:lstStyle>
    </a:txDef>
  </a:objectDefaults>
  <a:extraClrSchemeLst>
    <a:extraClrScheme>
      <a:clrScheme name="Tema di Offic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i Offic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a di Offic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i Offic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i Offic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i Offic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i Offic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ema di Office">
      <a:majorFont>
        <a:latin typeface="Lucida Sans Unicode"/>
        <a:ea typeface=""/>
        <a:cs typeface="Lucida Sans Unicode"/>
      </a:majorFont>
      <a:minorFont>
        <a:latin typeface="Lucida Sans Unicode"/>
        <a:ea typeface=""/>
        <a:cs typeface="Lucida Sans Unicod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ct val="10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Lucida Sans Unicode" pitchFamily="34" charset="0"/>
            <a:cs typeface="Lucida Sans Unicode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ct val="10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Lucida Sans Unicode" pitchFamily="34" charset="0"/>
            <a:cs typeface="Lucida Sans Unicode" pitchFamily="34" charset="0"/>
          </a:defRPr>
        </a:defPPr>
      </a:lstStyle>
    </a:lnDef>
  </a:objectDefaults>
  <a:extraClrSchemeLst>
    <a:extraClrScheme>
      <a:clrScheme name="Tema di Offic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i Offic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a di Offic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i Offic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i Offic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i Offic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i Offic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36784</TotalTime>
  <Words>5686</Words>
  <Application>Microsoft Macintosh PowerPoint</Application>
  <PresentationFormat>On-screen Show (4:3)</PresentationFormat>
  <Paragraphs>1250</Paragraphs>
  <Slides>147</Slides>
  <Notes>80</Notes>
  <HiddenSlides>10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147</vt:i4>
      </vt:variant>
    </vt:vector>
  </HeadingPairs>
  <TitlesOfParts>
    <vt:vector size="149" baseType="lpstr">
      <vt:lpstr>Tema di Office</vt:lpstr>
      <vt:lpstr>1_Tema di Office</vt:lpstr>
      <vt:lpstr>Inheritance</vt:lpstr>
      <vt:lpstr>Licensing Note</vt:lpstr>
      <vt:lpstr>Inheritance</vt:lpstr>
      <vt:lpstr>Addition</vt:lpstr>
      <vt:lpstr>Override</vt:lpstr>
      <vt:lpstr>Inheritance and polymorphism</vt:lpstr>
      <vt:lpstr>Inheritance and polymorphism</vt:lpstr>
      <vt:lpstr>Why inheritance - Reuse</vt:lpstr>
      <vt:lpstr>Why inheritance - Flexibility</vt:lpstr>
      <vt:lpstr>Inheritance in a few words</vt:lpstr>
      <vt:lpstr>Inheritance syntax: extends</vt:lpstr>
      <vt:lpstr>ElectricCar</vt:lpstr>
      <vt:lpstr>Terminology</vt:lpstr>
      <vt:lpstr>Multi-level inheritance</vt:lpstr>
      <vt:lpstr>Inheritance tree</vt:lpstr>
      <vt:lpstr>Depth of Inheritance Tree</vt:lpstr>
      <vt:lpstr>Casting</vt:lpstr>
      <vt:lpstr>Types</vt:lpstr>
      <vt:lpstr>Cast</vt:lpstr>
      <vt:lpstr>Cast - Generalization</vt:lpstr>
      <vt:lpstr>Generalization</vt:lpstr>
      <vt:lpstr>Upcast</vt:lpstr>
      <vt:lpstr>Upcast</vt:lpstr>
      <vt:lpstr>Cast and conversion</vt:lpstr>
      <vt:lpstr>Downcast</vt:lpstr>
      <vt:lpstr>Downcast</vt:lpstr>
      <vt:lpstr>Downcast - Warning</vt:lpstr>
      <vt:lpstr>Down cast safety</vt:lpstr>
      <vt:lpstr>Polymorphism and Dynamic bindinG</vt:lpstr>
      <vt:lpstr>Polymorphism</vt:lpstr>
      <vt:lpstr>Polymorphism</vt:lpstr>
      <vt:lpstr>Static type checking</vt:lpstr>
      <vt:lpstr>Dynamic Binding</vt:lpstr>
      <vt:lpstr>Dynamic binding procedure</vt:lpstr>
      <vt:lpstr>Why dynamic binding</vt:lpstr>
      <vt:lpstr>Substitutability principle</vt:lpstr>
      <vt:lpstr>Inheritance vs. Duck typing</vt:lpstr>
      <vt:lpstr>Masked overridden methods </vt:lpstr>
      <vt:lpstr>Super (reference)</vt:lpstr>
      <vt:lpstr>Super (reference)</vt:lpstr>
      <vt:lpstr>Attributes redefinition</vt:lpstr>
      <vt:lpstr>Improper override</vt:lpstr>
      <vt:lpstr>Visibility (scope)</vt:lpstr>
      <vt:lpstr>Example</vt:lpstr>
      <vt:lpstr>Protected</vt:lpstr>
      <vt:lpstr>In summary</vt:lpstr>
      <vt:lpstr>Inheritance and constructors</vt:lpstr>
      <vt:lpstr>Construction of child’s objects</vt:lpstr>
      <vt:lpstr>Construction of child objects</vt:lpstr>
      <vt:lpstr>Example</vt:lpstr>
      <vt:lpstr>Example (cont’d)</vt:lpstr>
      <vt:lpstr>A word of advice</vt:lpstr>
      <vt:lpstr>Super</vt:lpstr>
      <vt:lpstr>Super</vt:lpstr>
      <vt:lpstr>Example</vt:lpstr>
      <vt:lpstr>Example</vt:lpstr>
      <vt:lpstr>Final method</vt:lpstr>
      <vt:lpstr>Object class</vt:lpstr>
      <vt:lpstr>Class Object</vt:lpstr>
      <vt:lpstr>Class Object</vt:lpstr>
      <vt:lpstr>Objects’ collections</vt:lpstr>
      <vt:lpstr>Company Employees</vt:lpstr>
      <vt:lpstr>Upcast to Object</vt:lpstr>
      <vt:lpstr>Object class methods</vt:lpstr>
      <vt:lpstr>Object.toString()</vt:lpstr>
      <vt:lpstr>Object.equals()</vt:lpstr>
      <vt:lpstr>The equals() Contract</vt:lpstr>
      <vt:lpstr>The hashCode() contract</vt:lpstr>
      <vt:lpstr>hashCode() vs. equals()</vt:lpstr>
      <vt:lpstr>hashCode example</vt:lpstr>
      <vt:lpstr>System.out.print( Object )</vt:lpstr>
      <vt:lpstr>Variable arguments- example</vt:lpstr>
      <vt:lpstr>Abstract classes</vt:lpstr>
      <vt:lpstr>Abstract class</vt:lpstr>
      <vt:lpstr>Abstract modifier</vt:lpstr>
      <vt:lpstr>Abstract modifier</vt:lpstr>
      <vt:lpstr>Abstract modifier</vt:lpstr>
      <vt:lpstr>Abstract Expression Tree</vt:lpstr>
      <vt:lpstr>Abstract modifier</vt:lpstr>
      <vt:lpstr>Abstract modifier</vt:lpstr>
      <vt:lpstr>Composite Pattern</vt:lpstr>
      <vt:lpstr>Composite Pattern</vt:lpstr>
      <vt:lpstr>Example: Sorter</vt:lpstr>
      <vt:lpstr>Example: StringSorter</vt:lpstr>
      <vt:lpstr>Template Method Example</vt:lpstr>
      <vt:lpstr>Template Method Pattern</vt:lpstr>
      <vt:lpstr>Template Method</vt:lpstr>
      <vt:lpstr>Interfaces</vt:lpstr>
      <vt:lpstr>Java interface</vt:lpstr>
      <vt:lpstr>Interface implementation</vt:lpstr>
      <vt:lpstr>Interfaces and inheritance</vt:lpstr>
      <vt:lpstr>Class implementations</vt:lpstr>
      <vt:lpstr>Inheritance Classes &amp; Interfaces</vt:lpstr>
      <vt:lpstr>Anonymous Classes</vt:lpstr>
      <vt:lpstr>Purpose of interfaces</vt:lpstr>
      <vt:lpstr>Alternative implementations</vt:lpstr>
      <vt:lpstr>Alternative implementations</vt:lpstr>
      <vt:lpstr>Common behavior: sorting</vt:lpstr>
      <vt:lpstr>Comparable</vt:lpstr>
      <vt:lpstr>Example Comparable usage</vt:lpstr>
      <vt:lpstr>Common behavior idiom</vt:lpstr>
      <vt:lpstr>Common behavior: iteration</vt:lpstr>
      <vt:lpstr>Common behavior: iteration</vt:lpstr>
      <vt:lpstr>Iterable example</vt:lpstr>
      <vt:lpstr>Iterable example</vt:lpstr>
      <vt:lpstr>Iterable example</vt:lpstr>
      <vt:lpstr>Iterable example</vt:lpstr>
      <vt:lpstr>Iterator pattern</vt:lpstr>
      <vt:lpstr>Behavioral parameterization</vt:lpstr>
      <vt:lpstr>Behavioral parameterization</vt:lpstr>
      <vt:lpstr>Strategy Pattern</vt:lpstr>
      <vt:lpstr>Strategy Pattern</vt:lpstr>
      <vt:lpstr>Strategy Pattern</vt:lpstr>
      <vt:lpstr>Comparator</vt:lpstr>
      <vt:lpstr>Comparator</vt:lpstr>
      <vt:lpstr>Strategy Example: Comparator</vt:lpstr>
      <vt:lpstr>Strategy Consequences</vt:lpstr>
      <vt:lpstr>Comparator w/anonymous class</vt:lpstr>
      <vt:lpstr>Communication decoupling</vt:lpstr>
      <vt:lpstr>Observer-Observable</vt:lpstr>
      <vt:lpstr>Observer-Observable</vt:lpstr>
      <vt:lpstr>Observer-Observable</vt:lpstr>
      <vt:lpstr>Observer-Observable</vt:lpstr>
      <vt:lpstr>Observer Pattern</vt:lpstr>
      <vt:lpstr>Observer Pattern</vt:lpstr>
      <vt:lpstr>Observer - Consequences</vt:lpstr>
      <vt:lpstr>A word of advice</vt:lpstr>
      <vt:lpstr>Default methods</vt:lpstr>
      <vt:lpstr>Default methods motivation</vt:lpstr>
      <vt:lpstr>Default method - Example</vt:lpstr>
      <vt:lpstr>Functional Interfaces</vt:lpstr>
      <vt:lpstr>Functional interface</vt:lpstr>
      <vt:lpstr>Functional interface</vt:lpstr>
      <vt:lpstr>Functions (int versions)</vt:lpstr>
      <vt:lpstr>Anonymous Inner class</vt:lpstr>
      <vt:lpstr>Lambda function</vt:lpstr>
      <vt:lpstr>Lambda expression syntax</vt:lpstr>
      <vt:lpstr>Type inference</vt:lpstr>
      <vt:lpstr>Comparator w/lambda</vt:lpstr>
      <vt:lpstr>Method reference</vt:lpstr>
      <vt:lpstr>Method reference syntax</vt:lpstr>
      <vt:lpstr>Static method reference</vt:lpstr>
      <vt:lpstr>Instance method of object</vt:lpstr>
      <vt:lpstr>Instance method reference</vt:lpstr>
      <vt:lpstr>Constructor reference</vt:lpstr>
      <vt:lpstr>Wrap-up session</vt:lpstr>
      <vt:lpstr>Wrap-up session</vt:lpstr>
    </vt:vector>
  </TitlesOfParts>
  <Company>Marco Torchiano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Inheritance</dc:title>
  <cp:lastModifiedBy>Marco Torchiano</cp:lastModifiedBy>
  <cp:revision>289</cp:revision>
  <cp:lastPrinted>2016-04-06T11:16:30Z</cp:lastPrinted>
  <dcterms:created xsi:type="dcterms:W3CDTF">2010-11-29T09:01:24Z</dcterms:created>
  <dcterms:modified xsi:type="dcterms:W3CDTF">2017-04-11T11:10:06Z</dcterms:modified>
</cp:coreProperties>
</file>