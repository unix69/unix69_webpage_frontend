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2aab929d9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 name="Google Shape;35;g2aab929d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2b1bcebe0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2b1bcebe0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2b1bcebe0b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2b1bcebe0b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b1bcebe0b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b1bcebe0b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b1bcebe0b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b1bcebe0b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b1bcebe0b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b1bcebe0b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b1bcebe0b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b1bcebe0b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b1bcebe0b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b1bcebe0b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b1bcebe0b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b1bcebe0b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c82bb689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c82bb689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ab91b9cbe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2ab91b9cbe5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b91b9cbe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2ab91b9cbe5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b8afb9d8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2b8afb9d8c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b8afb9d8c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2b8afb9d8ca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ab91b9cbe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2ab91b9cbe5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b8afb9d8c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2b8afb9d8ca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b8afb9d8c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2b8afb9d8ca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b8afb9d8c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2b8afb9d8ca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bc82bb689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bc82bb689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b8afb9d8c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2b8afb9d8ca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b8afb9d8c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2b8afb9d8ca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bc82bb689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2bc82bb689c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aab929d93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aab929d93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45700" lIns="91425" spcFirstLastPara="1" rIns="91425" wrap="square" tIns="45700">
            <a:normAutofit/>
          </a:bodyPr>
          <a:lstStyle>
            <a:lvl1pPr lvl="0" algn="ctr">
              <a:lnSpc>
                <a:spcPct val="100000"/>
              </a:lnSpc>
              <a:spcBef>
                <a:spcPts val="600"/>
              </a:spcBef>
              <a:spcAft>
                <a:spcPts val="0"/>
              </a:spcAft>
              <a:buSzPts val="2800"/>
              <a:buNone/>
              <a:defRPr sz="2800"/>
            </a:lvl1pPr>
            <a:lvl2pPr lvl="1" algn="ctr">
              <a:lnSpc>
                <a:spcPct val="100000"/>
              </a:lnSpc>
              <a:spcBef>
                <a:spcPts val="30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17" name="Google Shape;17;p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18" name="Google Shape;18;p3"/>
          <p:cNvSpPr txBox="1"/>
          <p:nvPr>
            <p:ph idx="1" type="body"/>
          </p:nvPr>
        </p:nvSpPr>
        <p:spPr>
          <a:xfrm>
            <a:off x="311150" y="1244204"/>
            <a:ext cx="8521800" cy="3393300"/>
          </a:xfrm>
          <a:prstGeom prst="rect">
            <a:avLst/>
          </a:prstGeom>
          <a:noFill/>
          <a:ln>
            <a:noFill/>
          </a:ln>
        </p:spPr>
        <p:txBody>
          <a:bodyPr anchorCtr="0" anchor="t" bIns="45700" lIns="91425" spcFirstLastPara="1" rIns="91425" wrap="square" tIns="45700">
            <a:normAutofit/>
          </a:bodyPr>
          <a:lstStyle>
            <a:lvl1pPr indent="-355600" lvl="0" marL="457200" rtl="0" algn="l">
              <a:lnSpc>
                <a:spcPct val="115000"/>
              </a:lnSpc>
              <a:spcBef>
                <a:spcPts val="600"/>
              </a:spcBef>
              <a:spcAft>
                <a:spcPts val="0"/>
              </a:spcAft>
              <a:buSzPts val="2000"/>
              <a:buFont typeface="Calibri"/>
              <a:buChar char="•"/>
              <a:defRPr sz="2000">
                <a:latin typeface="Calibri"/>
                <a:ea typeface="Calibri"/>
                <a:cs typeface="Calibri"/>
                <a:sym typeface="Calibri"/>
              </a:defRPr>
            </a:lvl1pPr>
            <a:lvl2pPr indent="-330200" lvl="1" marL="914400" rtl="0" algn="l">
              <a:lnSpc>
                <a:spcPct val="110000"/>
              </a:lnSpc>
              <a:spcBef>
                <a:spcPts val="300"/>
              </a:spcBef>
              <a:spcAft>
                <a:spcPts val="0"/>
              </a:spcAft>
              <a:buSzPts val="1600"/>
              <a:buChar char="○"/>
              <a:defRPr sz="1600">
                <a:latin typeface="Calibri"/>
                <a:ea typeface="Calibri"/>
                <a:cs typeface="Calibri"/>
                <a:sym typeface="Calibri"/>
              </a:defRPr>
            </a:lvl2pPr>
            <a:lvl3pPr indent="-317500" lvl="2" marL="1371600" rtl="0" algn="l">
              <a:lnSpc>
                <a:spcPct val="100000"/>
              </a:lnSpc>
              <a:spcBef>
                <a:spcPts val="0"/>
              </a:spcBef>
              <a:spcAft>
                <a:spcPts val="0"/>
              </a:spcAft>
              <a:buSzPts val="1400"/>
              <a:buFont typeface="Calibri"/>
              <a:buChar char="▪"/>
              <a:defRPr>
                <a:latin typeface="Calibri"/>
                <a:ea typeface="Calibri"/>
                <a:cs typeface="Calibri"/>
                <a:sym typeface="Calibri"/>
              </a:defRPr>
            </a:lvl3pPr>
            <a:lvl4pPr indent="-330200" lvl="3" marL="1828800" rtl="0" algn="l">
              <a:lnSpc>
                <a:spcPct val="100000"/>
              </a:lnSpc>
              <a:spcBef>
                <a:spcPts val="0"/>
              </a:spcBef>
              <a:spcAft>
                <a:spcPts val="0"/>
              </a:spcAft>
              <a:buSzPts val="1600"/>
              <a:buFont typeface="Calibri"/>
              <a:buChar char="•"/>
              <a:defRPr sz="1200">
                <a:latin typeface="Calibri"/>
                <a:ea typeface="Calibri"/>
                <a:cs typeface="Calibri"/>
                <a:sym typeface="Calibri"/>
              </a:defRPr>
            </a:lvl4pPr>
            <a:lvl5pPr indent="-330200" lvl="4" marL="2286000" rtl="0" algn="l">
              <a:lnSpc>
                <a:spcPct val="100000"/>
              </a:lnSpc>
              <a:spcBef>
                <a:spcPts val="0"/>
              </a:spcBef>
              <a:spcAft>
                <a:spcPts val="0"/>
              </a:spcAft>
              <a:buSzPts val="1600"/>
              <a:buFont typeface="Calibri"/>
              <a:buChar char="•"/>
              <a:defRPr sz="1200">
                <a:latin typeface="Calibri"/>
                <a:ea typeface="Calibri"/>
                <a:cs typeface="Calibri"/>
                <a:sym typeface="Calibri"/>
              </a:defRPr>
            </a:lvl5pPr>
            <a:lvl6pPr indent="-228600" lvl="5" marL="2743200" rtl="0" algn="l">
              <a:lnSpc>
                <a:spcPct val="100000"/>
              </a:lnSpc>
              <a:spcBef>
                <a:spcPts val="0"/>
              </a:spcBef>
              <a:spcAft>
                <a:spcPts val="0"/>
              </a:spcAft>
              <a:buSzPts val="1200"/>
              <a:buFont typeface="Calibri"/>
              <a:buNone/>
              <a:defRPr sz="1200">
                <a:latin typeface="Calibri"/>
                <a:ea typeface="Calibri"/>
                <a:cs typeface="Calibri"/>
                <a:sym typeface="Calibri"/>
              </a:defRPr>
            </a:lvl6pPr>
            <a:lvl7pPr indent="-228600" lvl="6" marL="3200400" rtl="0" algn="l">
              <a:lnSpc>
                <a:spcPct val="100000"/>
              </a:lnSpc>
              <a:spcBef>
                <a:spcPts val="0"/>
              </a:spcBef>
              <a:spcAft>
                <a:spcPts val="0"/>
              </a:spcAft>
              <a:buSzPts val="1200"/>
              <a:buFont typeface="Calibri"/>
              <a:buNone/>
              <a:defRPr sz="1200">
                <a:latin typeface="Calibri"/>
                <a:ea typeface="Calibri"/>
                <a:cs typeface="Calibri"/>
                <a:sym typeface="Calibri"/>
              </a:defRPr>
            </a:lvl7pPr>
            <a:lvl8pPr indent="-228600" lvl="7" marL="3657600" rtl="0" algn="l">
              <a:lnSpc>
                <a:spcPct val="100000"/>
              </a:lnSpc>
              <a:spcBef>
                <a:spcPts val="0"/>
              </a:spcBef>
              <a:spcAft>
                <a:spcPts val="0"/>
              </a:spcAft>
              <a:buSzPts val="1200"/>
              <a:buFont typeface="Calibri"/>
              <a:buNone/>
              <a:defRPr sz="1200">
                <a:latin typeface="Calibri"/>
                <a:ea typeface="Calibri"/>
                <a:cs typeface="Calibri"/>
                <a:sym typeface="Calibri"/>
              </a:defRPr>
            </a:lvl8pPr>
            <a:lvl9pPr indent="-228600" lvl="8" marL="4114800" rtl="0" algn="l">
              <a:lnSpc>
                <a:spcPct val="100000"/>
              </a:lnSpc>
              <a:spcBef>
                <a:spcPts val="0"/>
              </a:spcBef>
              <a:spcAft>
                <a:spcPts val="0"/>
              </a:spcAft>
              <a:buSzPts val="1200"/>
              <a:buFont typeface="Calibri"/>
              <a:buNone/>
              <a:defRPr sz="1200">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3200" y="1152475"/>
            <a:ext cx="3999900" cy="3416400"/>
          </a:xfrm>
          <a:prstGeom prst="rect">
            <a:avLst/>
          </a:prstGeom>
        </p:spPr>
        <p:txBody>
          <a:bodyPr anchorCtr="0" anchor="t" bIns="45700" lIns="91425" spcFirstLastPara="1" rIns="91425" wrap="square" tIns="45700">
            <a:normAutofit/>
          </a:bodyPr>
          <a:lstStyle>
            <a:lvl1pPr indent="-330200" lvl="0" marL="457200">
              <a:spcBef>
                <a:spcPts val="600"/>
              </a:spcBef>
              <a:spcAft>
                <a:spcPts val="0"/>
              </a:spcAft>
              <a:buSzPts val="1600"/>
              <a:buChar char="•"/>
              <a:defRPr sz="1600"/>
            </a:lvl1pPr>
            <a:lvl2pPr indent="-317500" lvl="1" marL="914400">
              <a:spcBef>
                <a:spcPts val="300"/>
              </a:spcBef>
              <a:spcAft>
                <a:spcPts val="0"/>
              </a:spcAft>
              <a:buSzPts val="1400"/>
              <a:buChar char="○"/>
              <a:defRPr sz="1400"/>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228600" lvl="5" marL="2743200">
              <a:spcBef>
                <a:spcPts val="0"/>
              </a:spcBef>
              <a:spcAft>
                <a:spcPts val="0"/>
              </a:spcAft>
              <a:buSzPts val="1400"/>
              <a:buNone/>
              <a:defRPr sz="1400"/>
            </a:lvl6pPr>
            <a:lvl7pPr indent="-228600" lvl="6" marL="3200400">
              <a:spcBef>
                <a:spcPts val="0"/>
              </a:spcBef>
              <a:spcAft>
                <a:spcPts val="0"/>
              </a:spcAft>
              <a:buSzPts val="1400"/>
              <a:buNone/>
              <a:defRPr sz="1400"/>
            </a:lvl7pPr>
            <a:lvl8pPr indent="-228600" lvl="7" marL="3657600">
              <a:spcBef>
                <a:spcPts val="0"/>
              </a:spcBef>
              <a:spcAft>
                <a:spcPts val="0"/>
              </a:spcAft>
              <a:buSzPts val="1400"/>
              <a:buNone/>
              <a:defRPr sz="1400"/>
            </a:lvl8pPr>
            <a:lvl9pPr indent="-228600" lvl="8" marL="4114800">
              <a:spcBef>
                <a:spcPts val="0"/>
              </a:spcBef>
              <a:spcAft>
                <a:spcPts val="0"/>
              </a:spcAft>
              <a:buSzPts val="1400"/>
              <a:buNone/>
              <a:defRPr sz="1400"/>
            </a:lvl9pPr>
          </a:lstStyle>
          <a:p/>
        </p:txBody>
      </p:sp>
      <p:sp>
        <p:nvSpPr>
          <p:cNvPr id="22" name="Google Shape;22;p4"/>
          <p:cNvSpPr txBox="1"/>
          <p:nvPr>
            <p:ph idx="2" type="body"/>
          </p:nvPr>
        </p:nvSpPr>
        <p:spPr>
          <a:xfrm>
            <a:off x="4832400" y="1152475"/>
            <a:ext cx="3999900" cy="3416400"/>
          </a:xfrm>
          <a:prstGeom prst="rect">
            <a:avLst/>
          </a:prstGeom>
        </p:spPr>
        <p:txBody>
          <a:bodyPr anchorCtr="0" anchor="t" bIns="45700" lIns="91425" spcFirstLastPara="1" rIns="91425" wrap="square" tIns="45700">
            <a:normAutofit/>
          </a:bodyPr>
          <a:lstStyle>
            <a:lvl1pPr indent="-330200" lvl="0" marL="457200">
              <a:spcBef>
                <a:spcPts val="600"/>
              </a:spcBef>
              <a:spcAft>
                <a:spcPts val="0"/>
              </a:spcAft>
              <a:buSzPts val="1600"/>
              <a:buChar char="•"/>
              <a:defRPr sz="1600"/>
            </a:lvl1pPr>
            <a:lvl2pPr indent="-317500" lvl="1" marL="914400">
              <a:spcBef>
                <a:spcPts val="300"/>
              </a:spcBef>
              <a:spcAft>
                <a:spcPts val="0"/>
              </a:spcAft>
              <a:buSzPts val="1400"/>
              <a:buChar char="○"/>
              <a:defRPr sz="1400"/>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228600" lvl="5" marL="2743200">
              <a:spcBef>
                <a:spcPts val="0"/>
              </a:spcBef>
              <a:spcAft>
                <a:spcPts val="0"/>
              </a:spcAft>
              <a:buSzPts val="1400"/>
              <a:buNone/>
              <a:defRPr sz="1400"/>
            </a:lvl6pPr>
            <a:lvl7pPr indent="-228600" lvl="6" marL="3200400">
              <a:spcBef>
                <a:spcPts val="0"/>
              </a:spcBef>
              <a:spcAft>
                <a:spcPts val="0"/>
              </a:spcAft>
              <a:buSzPts val="1400"/>
              <a:buNone/>
              <a:defRPr sz="1400"/>
            </a:lvl7pPr>
            <a:lvl8pPr indent="-228600" lvl="7" marL="3657600">
              <a:spcBef>
                <a:spcPts val="0"/>
              </a:spcBef>
              <a:spcAft>
                <a:spcPts val="0"/>
              </a:spcAft>
              <a:buSzPts val="1400"/>
              <a:buNone/>
              <a:defRPr sz="1400"/>
            </a:lvl8pPr>
            <a:lvl9pPr indent="-228600" lvl="8" marL="4114800">
              <a:spcBef>
                <a:spcPts val="0"/>
              </a:spcBef>
              <a:spcAft>
                <a:spcPts val="0"/>
              </a:spcAft>
              <a:buSzPts val="1400"/>
              <a:buNone/>
              <a:defRPr sz="1400"/>
            </a:lvl9pPr>
          </a:lstStyle>
          <a:p/>
        </p:txBody>
      </p:sp>
      <p:sp>
        <p:nvSpPr>
          <p:cNvPr id="23" name="Google Shape;23;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1pPr>
            <a:lvl2pPr lvl="1">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2pPr>
            <a:lvl3pPr lvl="2">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3pPr>
            <a:lvl4pPr lvl="3">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4pPr>
            <a:lvl5pPr lvl="4">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5pPr>
            <a:lvl6pPr lvl="5">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6pPr>
            <a:lvl7pPr lvl="6">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7pPr>
            <a:lvl8pPr lvl="7">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8pPr>
            <a:lvl9pPr lvl="8">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9" name="Shape 29"/>
        <p:cNvGrpSpPr/>
        <p:nvPr/>
      </p:nvGrpSpPr>
      <p:grpSpPr>
        <a:xfrm>
          <a:off x="0" y="0"/>
          <a:ext cx="0" cy="0"/>
          <a:chOff x="0" y="0"/>
          <a:chExt cx="0" cy="0"/>
        </a:xfrm>
      </p:grpSpPr>
      <p:sp>
        <p:nvSpPr>
          <p:cNvPr id="30" name="Google Shape;30;p7"/>
          <p:cNvSpPr txBox="1"/>
          <p:nvPr>
            <p:ph type="title"/>
          </p:nvPr>
        </p:nvSpPr>
        <p:spPr>
          <a:xfrm>
            <a:off x="311700" y="139638"/>
            <a:ext cx="8520600" cy="994200"/>
          </a:xfrm>
          <a:prstGeom prst="rect">
            <a:avLst/>
          </a:prstGeom>
          <a:noFill/>
          <a:ln>
            <a:noFill/>
          </a:ln>
        </p:spPr>
        <p:txBody>
          <a:bodyPr anchorCtr="0" anchor="ctr" bIns="45700" lIns="91425" spcFirstLastPara="1" rIns="91425" wrap="square" tIns="45700">
            <a:normAutofit/>
          </a:bodyPr>
          <a:lstStyle>
            <a:lvl1pPr lvl="0" rtl="0" algn="l">
              <a:lnSpc>
                <a:spcPct val="100000"/>
              </a:lnSpc>
              <a:spcBef>
                <a:spcPts val="0"/>
              </a:spcBef>
              <a:spcAft>
                <a:spcPts val="0"/>
              </a:spcAft>
              <a:buSzPts val="1400"/>
              <a:buNone/>
              <a:defRPr>
                <a:highlight>
                  <a:schemeClr val="accent6"/>
                </a:highlight>
              </a:defRPr>
            </a:lvl1pPr>
            <a:lvl2pPr lvl="1" rtl="0" algn="l">
              <a:lnSpc>
                <a:spcPct val="100000"/>
              </a:lnSpc>
              <a:spcBef>
                <a:spcPts val="0"/>
              </a:spcBef>
              <a:spcAft>
                <a:spcPts val="0"/>
              </a:spcAft>
              <a:buSzPts val="1400"/>
              <a:buNone/>
              <a:defRPr>
                <a:highlight>
                  <a:schemeClr val="accent6"/>
                </a:highlight>
              </a:defRPr>
            </a:lvl2pPr>
            <a:lvl3pPr lvl="2" rtl="0" algn="l">
              <a:lnSpc>
                <a:spcPct val="100000"/>
              </a:lnSpc>
              <a:spcBef>
                <a:spcPts val="0"/>
              </a:spcBef>
              <a:spcAft>
                <a:spcPts val="0"/>
              </a:spcAft>
              <a:buSzPts val="1400"/>
              <a:buNone/>
              <a:defRPr>
                <a:highlight>
                  <a:schemeClr val="accent6"/>
                </a:highlight>
              </a:defRPr>
            </a:lvl3pPr>
            <a:lvl4pPr lvl="3" rtl="0" algn="l">
              <a:lnSpc>
                <a:spcPct val="100000"/>
              </a:lnSpc>
              <a:spcBef>
                <a:spcPts val="0"/>
              </a:spcBef>
              <a:spcAft>
                <a:spcPts val="0"/>
              </a:spcAft>
              <a:buSzPts val="1400"/>
              <a:buNone/>
              <a:defRPr>
                <a:highlight>
                  <a:schemeClr val="accent6"/>
                </a:highlight>
              </a:defRPr>
            </a:lvl4pPr>
            <a:lvl5pPr lvl="4" rtl="0" algn="l">
              <a:lnSpc>
                <a:spcPct val="100000"/>
              </a:lnSpc>
              <a:spcBef>
                <a:spcPts val="0"/>
              </a:spcBef>
              <a:spcAft>
                <a:spcPts val="0"/>
              </a:spcAft>
              <a:buSzPts val="1400"/>
              <a:buNone/>
              <a:defRPr>
                <a:highlight>
                  <a:schemeClr val="accent6"/>
                </a:highlight>
              </a:defRPr>
            </a:lvl5pPr>
            <a:lvl6pPr lvl="5" rtl="0" algn="l">
              <a:lnSpc>
                <a:spcPct val="100000"/>
              </a:lnSpc>
              <a:spcBef>
                <a:spcPts val="0"/>
              </a:spcBef>
              <a:spcAft>
                <a:spcPts val="0"/>
              </a:spcAft>
              <a:buSzPts val="1400"/>
              <a:buNone/>
              <a:defRPr>
                <a:highlight>
                  <a:schemeClr val="accent6"/>
                </a:highlight>
              </a:defRPr>
            </a:lvl6pPr>
            <a:lvl7pPr lvl="6" rtl="0" algn="l">
              <a:lnSpc>
                <a:spcPct val="100000"/>
              </a:lnSpc>
              <a:spcBef>
                <a:spcPts val="0"/>
              </a:spcBef>
              <a:spcAft>
                <a:spcPts val="0"/>
              </a:spcAft>
              <a:buSzPts val="1400"/>
              <a:buNone/>
              <a:defRPr>
                <a:highlight>
                  <a:schemeClr val="accent6"/>
                </a:highlight>
              </a:defRPr>
            </a:lvl7pPr>
            <a:lvl8pPr lvl="7" rtl="0" algn="l">
              <a:lnSpc>
                <a:spcPct val="100000"/>
              </a:lnSpc>
              <a:spcBef>
                <a:spcPts val="0"/>
              </a:spcBef>
              <a:spcAft>
                <a:spcPts val="0"/>
              </a:spcAft>
              <a:buSzPts val="1400"/>
              <a:buNone/>
              <a:defRPr>
                <a:highlight>
                  <a:schemeClr val="accent6"/>
                </a:highlight>
              </a:defRPr>
            </a:lvl8pPr>
            <a:lvl9pPr lvl="8" rtl="0" algn="l">
              <a:lnSpc>
                <a:spcPct val="100000"/>
              </a:lnSpc>
              <a:spcBef>
                <a:spcPts val="0"/>
              </a:spcBef>
              <a:spcAft>
                <a:spcPts val="0"/>
              </a:spcAft>
              <a:buSzPts val="1400"/>
              <a:buNone/>
              <a:defRPr>
                <a:highlight>
                  <a:schemeClr val="accent6"/>
                </a:highlight>
              </a:defRPr>
            </a:lvl9pPr>
          </a:lstStyle>
          <a:p/>
        </p:txBody>
      </p:sp>
      <p:sp>
        <p:nvSpPr>
          <p:cNvPr id="31" name="Google Shape;31;p7"/>
          <p:cNvSpPr txBox="1"/>
          <p:nvPr>
            <p:ph idx="12" type="sldNum"/>
          </p:nvPr>
        </p:nvSpPr>
        <p:spPr>
          <a:xfrm>
            <a:off x="8472458" y="4768505"/>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lt1"/>
              </a:buClr>
              <a:buSzPts val="1000"/>
              <a:buFont typeface="Times New Roman"/>
              <a:buNone/>
              <a:defRPr b="0" i="0" sz="10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it"/>
              <a:t>‹#›</a:t>
            </a:fld>
            <a:endParaRPr/>
          </a:p>
        </p:txBody>
      </p:sp>
      <p:sp>
        <p:nvSpPr>
          <p:cNvPr id="32" name="Google Shape;32;p7"/>
          <p:cNvSpPr txBox="1"/>
          <p:nvPr>
            <p:ph idx="1" type="body"/>
          </p:nvPr>
        </p:nvSpPr>
        <p:spPr>
          <a:xfrm>
            <a:off x="311150" y="1244204"/>
            <a:ext cx="8521800" cy="3393300"/>
          </a:xfrm>
          <a:prstGeom prst="rect">
            <a:avLst/>
          </a:prstGeom>
          <a:noFill/>
          <a:ln>
            <a:noFill/>
          </a:ln>
        </p:spPr>
        <p:txBody>
          <a:bodyPr anchorCtr="0" anchor="t" bIns="45700" lIns="91425" spcFirstLastPara="1" rIns="91425" wrap="square" tIns="45700">
            <a:normAutofit/>
          </a:bodyPr>
          <a:lstStyle>
            <a:lvl1pPr indent="-381000" lvl="0" marL="457200" rtl="0" algn="l">
              <a:lnSpc>
                <a:spcPct val="100000"/>
              </a:lnSpc>
              <a:spcBef>
                <a:spcPts val="0"/>
              </a:spcBef>
              <a:spcAft>
                <a:spcPts val="0"/>
              </a:spcAft>
              <a:buSzPts val="2400"/>
              <a:buChar char="•"/>
              <a:defRPr/>
            </a:lvl1pPr>
            <a:lvl2pPr indent="-323850" lvl="1" marL="914400" rtl="0" algn="l">
              <a:lnSpc>
                <a:spcPct val="100000"/>
              </a:lnSpc>
              <a:spcBef>
                <a:spcPts val="600"/>
              </a:spcBef>
              <a:spcAft>
                <a:spcPts val="0"/>
              </a:spcAft>
              <a:buSzPts val="1500"/>
              <a:buChar char="○"/>
              <a:defRPr>
                <a:latin typeface="Calibri"/>
                <a:ea typeface="Calibri"/>
                <a:cs typeface="Calibri"/>
                <a:sym typeface="Calibri"/>
              </a:defRPr>
            </a:lvl2pPr>
            <a:lvl3pPr indent="-330200" lvl="2" marL="1371600" rtl="0" algn="l">
              <a:lnSpc>
                <a:spcPct val="100000"/>
              </a:lnSpc>
              <a:spcBef>
                <a:spcPts val="600"/>
              </a:spcBef>
              <a:spcAft>
                <a:spcPts val="0"/>
              </a:spcAft>
              <a:buSzPts val="1600"/>
              <a:buFont typeface="Noto Sans Symbols"/>
              <a:buChar char="▪"/>
              <a:defRPr sz="1600">
                <a:latin typeface="Calibri"/>
                <a:ea typeface="Calibri"/>
                <a:cs typeface="Calibri"/>
                <a:sym typeface="Calibri"/>
              </a:defRPr>
            </a:lvl3pPr>
            <a:lvl4pPr indent="-342900" lvl="3" marL="1828800" rtl="0" algn="l">
              <a:lnSpc>
                <a:spcPct val="100000"/>
              </a:lnSpc>
              <a:spcBef>
                <a:spcPts val="0"/>
              </a:spcBef>
              <a:spcAft>
                <a:spcPts val="0"/>
              </a:spcAft>
              <a:buSzPts val="1800"/>
              <a:buChar char="•"/>
              <a:defRPr/>
            </a:lvl4pPr>
            <a:lvl5pPr indent="-342900" lvl="4" marL="2286000" rtl="0" algn="l">
              <a:lnSpc>
                <a:spcPct val="100000"/>
              </a:lnSpc>
              <a:spcBef>
                <a:spcPts val="0"/>
              </a:spcBef>
              <a:spcAft>
                <a:spcPts val="0"/>
              </a:spcAft>
              <a:buSzPts val="1800"/>
              <a:buChar char="•"/>
              <a:defRPr/>
            </a:lvl5pPr>
            <a:lvl6pPr indent="-228600" lvl="5" marL="2743200" rtl="0" algn="l">
              <a:lnSpc>
                <a:spcPct val="100000"/>
              </a:lnSpc>
              <a:spcBef>
                <a:spcPts val="0"/>
              </a:spcBef>
              <a:spcAft>
                <a:spcPts val="0"/>
              </a:spcAft>
              <a:buSzPts val="1400"/>
              <a:buNone/>
              <a:defRPr/>
            </a:lvl6pPr>
            <a:lvl7pPr indent="-228600" lvl="6" marL="3200400" rtl="0" algn="l">
              <a:lnSpc>
                <a:spcPct val="100000"/>
              </a:lnSpc>
              <a:spcBef>
                <a:spcPts val="0"/>
              </a:spcBef>
              <a:spcAft>
                <a:spcPts val="0"/>
              </a:spcAft>
              <a:buSzPts val="1400"/>
              <a:buNone/>
              <a:defRPr/>
            </a:lvl7pPr>
            <a:lvl8pPr indent="-228600" lvl="7" marL="3657600" rtl="0" algn="l">
              <a:lnSpc>
                <a:spcPct val="100000"/>
              </a:lnSpc>
              <a:spcBef>
                <a:spcPts val="0"/>
              </a:spcBef>
              <a:spcAft>
                <a:spcPts val="0"/>
              </a:spcAft>
              <a:buSzPts val="1400"/>
              <a:buNone/>
              <a:defRPr/>
            </a:lvl8pPr>
            <a:lvl9pPr indent="-228600" lvl="8" marL="4114800"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1pPr>
            <a:lvl2pPr lvl="1">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2pPr>
            <a:lvl3pPr lvl="2">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3pPr>
            <a:lvl4pPr lvl="3">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4pPr>
            <a:lvl5pPr lvl="4">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5pPr>
            <a:lvl6pPr lvl="5">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6pPr>
            <a:lvl7pPr lvl="6">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7pPr>
            <a:lvl8pPr lvl="7">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8pPr>
            <a:lvl9pPr lvl="8">
              <a:spcBef>
                <a:spcPts val="0"/>
              </a:spcBef>
              <a:spcAft>
                <a:spcPts val="0"/>
              </a:spcAft>
              <a:buClr>
                <a:srgbClr val="0B5394"/>
              </a:buClr>
              <a:buSzPts val="3200"/>
              <a:buFont typeface="Calibri"/>
              <a:buNone/>
              <a:defRPr b="1" sz="3200">
                <a:solidFill>
                  <a:srgbClr val="0B5394"/>
                </a:solidFill>
                <a:latin typeface="Calibri"/>
                <a:ea typeface="Calibri"/>
                <a:cs typeface="Calibri"/>
                <a:sym typeface="Calibri"/>
              </a:defRPr>
            </a:lvl9pPr>
          </a:lstStyle>
          <a:p/>
        </p:txBody>
      </p:sp>
      <p:sp>
        <p:nvSpPr>
          <p:cNvPr id="8" name="Google Shape;8;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A. Rabino, 2021-24</a:t>
            </a:r>
            <a:endParaRPr i="1" sz="1100">
              <a:solidFill>
                <a:schemeClr val="lt1"/>
              </a:solidFill>
            </a:endParaRPr>
          </a:p>
        </p:txBody>
      </p:sp>
      <p:sp>
        <p:nvSpPr>
          <p:cNvPr id="10" name="Google Shape;10;p1"/>
          <p:cNvSpPr txBox="1"/>
          <p:nvPr>
            <p:ph idx="1" type="body"/>
          </p:nvPr>
        </p:nvSpPr>
        <p:spPr>
          <a:xfrm>
            <a:off x="311150" y="1244204"/>
            <a:ext cx="8521800" cy="3393300"/>
          </a:xfrm>
          <a:prstGeom prst="rect">
            <a:avLst/>
          </a:prstGeom>
          <a:noFill/>
          <a:ln>
            <a:noFill/>
          </a:ln>
        </p:spPr>
        <p:txBody>
          <a:bodyPr anchorCtr="0" anchor="t" bIns="45700" lIns="91425" spcFirstLastPara="1" rIns="91425" wrap="square" tIns="45700">
            <a:normAutofit/>
          </a:bodyPr>
          <a:lstStyle>
            <a:lvl1pPr indent="-355600" lvl="0" marL="457200" rtl="0" algn="l">
              <a:lnSpc>
                <a:spcPct val="115000"/>
              </a:lnSpc>
              <a:spcBef>
                <a:spcPts val="600"/>
              </a:spcBef>
              <a:spcAft>
                <a:spcPts val="0"/>
              </a:spcAft>
              <a:buSzPts val="2000"/>
              <a:buFont typeface="Calibri"/>
              <a:buChar char="•"/>
              <a:defRPr sz="2000">
                <a:latin typeface="Calibri"/>
                <a:ea typeface="Calibri"/>
                <a:cs typeface="Calibri"/>
                <a:sym typeface="Calibri"/>
              </a:defRPr>
            </a:lvl1pPr>
            <a:lvl2pPr indent="-330200" lvl="1" marL="914400" rtl="0" algn="l">
              <a:lnSpc>
                <a:spcPct val="110000"/>
              </a:lnSpc>
              <a:spcBef>
                <a:spcPts val="300"/>
              </a:spcBef>
              <a:spcAft>
                <a:spcPts val="0"/>
              </a:spcAft>
              <a:buSzPts val="1600"/>
              <a:buFont typeface="Calibri"/>
              <a:buChar char="○"/>
              <a:defRPr sz="1600">
                <a:latin typeface="Calibri"/>
                <a:ea typeface="Calibri"/>
                <a:cs typeface="Calibri"/>
                <a:sym typeface="Calibri"/>
              </a:defRPr>
            </a:lvl2pPr>
            <a:lvl3pPr indent="-317500" lvl="2" marL="1371600" rtl="0" algn="l">
              <a:lnSpc>
                <a:spcPct val="100000"/>
              </a:lnSpc>
              <a:spcBef>
                <a:spcPts val="0"/>
              </a:spcBef>
              <a:spcAft>
                <a:spcPts val="0"/>
              </a:spcAft>
              <a:buSzPts val="1400"/>
              <a:buFont typeface="Calibri"/>
              <a:buChar char="▪"/>
              <a:defRPr>
                <a:latin typeface="Calibri"/>
                <a:ea typeface="Calibri"/>
                <a:cs typeface="Calibri"/>
                <a:sym typeface="Calibri"/>
              </a:defRPr>
            </a:lvl3pPr>
            <a:lvl4pPr indent="-330200" lvl="3" marL="1828800" rtl="0" algn="l">
              <a:lnSpc>
                <a:spcPct val="100000"/>
              </a:lnSpc>
              <a:spcBef>
                <a:spcPts val="0"/>
              </a:spcBef>
              <a:spcAft>
                <a:spcPts val="0"/>
              </a:spcAft>
              <a:buSzPts val="1600"/>
              <a:buFont typeface="Calibri"/>
              <a:buChar char="•"/>
              <a:defRPr sz="1200">
                <a:latin typeface="Calibri"/>
                <a:ea typeface="Calibri"/>
                <a:cs typeface="Calibri"/>
                <a:sym typeface="Calibri"/>
              </a:defRPr>
            </a:lvl4pPr>
            <a:lvl5pPr indent="-330200" lvl="4" marL="2286000" rtl="0" algn="l">
              <a:lnSpc>
                <a:spcPct val="100000"/>
              </a:lnSpc>
              <a:spcBef>
                <a:spcPts val="0"/>
              </a:spcBef>
              <a:spcAft>
                <a:spcPts val="0"/>
              </a:spcAft>
              <a:buSzPts val="1600"/>
              <a:buFont typeface="Calibri"/>
              <a:buChar char="•"/>
              <a:defRPr sz="1200">
                <a:latin typeface="Calibri"/>
                <a:ea typeface="Calibri"/>
                <a:cs typeface="Calibri"/>
                <a:sym typeface="Calibri"/>
              </a:defRPr>
            </a:lvl5pPr>
            <a:lvl6pPr indent="-228600" lvl="5" marL="2743200" rtl="0" algn="l">
              <a:lnSpc>
                <a:spcPct val="100000"/>
              </a:lnSpc>
              <a:spcBef>
                <a:spcPts val="0"/>
              </a:spcBef>
              <a:spcAft>
                <a:spcPts val="0"/>
              </a:spcAft>
              <a:buSzPts val="1200"/>
              <a:buFont typeface="Calibri"/>
              <a:buNone/>
              <a:defRPr sz="1200">
                <a:latin typeface="Calibri"/>
                <a:ea typeface="Calibri"/>
                <a:cs typeface="Calibri"/>
                <a:sym typeface="Calibri"/>
              </a:defRPr>
            </a:lvl6pPr>
            <a:lvl7pPr indent="-228600" lvl="6" marL="3200400" rtl="0" algn="l">
              <a:lnSpc>
                <a:spcPct val="100000"/>
              </a:lnSpc>
              <a:spcBef>
                <a:spcPts val="0"/>
              </a:spcBef>
              <a:spcAft>
                <a:spcPts val="0"/>
              </a:spcAft>
              <a:buSzPts val="1200"/>
              <a:buFont typeface="Calibri"/>
              <a:buNone/>
              <a:defRPr sz="1200">
                <a:latin typeface="Calibri"/>
                <a:ea typeface="Calibri"/>
                <a:cs typeface="Calibri"/>
                <a:sym typeface="Calibri"/>
              </a:defRPr>
            </a:lvl7pPr>
            <a:lvl8pPr indent="-228600" lvl="7" marL="3657600" rtl="0" algn="l">
              <a:lnSpc>
                <a:spcPct val="100000"/>
              </a:lnSpc>
              <a:spcBef>
                <a:spcPts val="0"/>
              </a:spcBef>
              <a:spcAft>
                <a:spcPts val="0"/>
              </a:spcAft>
              <a:buSzPts val="1200"/>
              <a:buFont typeface="Calibri"/>
              <a:buNone/>
              <a:defRPr sz="1200">
                <a:latin typeface="Calibri"/>
                <a:ea typeface="Calibri"/>
                <a:cs typeface="Calibri"/>
                <a:sym typeface="Calibri"/>
              </a:defRPr>
            </a:lvl8pPr>
            <a:lvl9pPr indent="-228600" lvl="8" marL="4114800" rtl="0" algn="l">
              <a:lnSpc>
                <a:spcPct val="100000"/>
              </a:lnSpc>
              <a:spcBef>
                <a:spcPts val="0"/>
              </a:spcBef>
              <a:spcAft>
                <a:spcPts val="0"/>
              </a:spcAft>
              <a:buSzPts val="1200"/>
              <a:buFont typeface="Calibri"/>
              <a:buNone/>
              <a:defRPr sz="1200">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4">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medium.com/@2018.itsuki/android-kotlin-jetpack-compose-navigation-2e74d782328c" TargetMode="External"/><Relationship Id="rId4" Type="http://schemas.openxmlformats.org/officeDocument/2006/relationships/hyperlink" Target="https://itnext.io/compose-navigation-a-great-choice-for-large-android-apps-94c02984acd5" TargetMode="External"/><Relationship Id="rId5" Type="http://schemas.openxmlformats.org/officeDocument/2006/relationships/hyperlink" Target="https://proandroiddev.com/best-practices-for-compose-navigation-in-multi-module-project-eec79ddcef4d" TargetMode="External"/><Relationship Id="rId6" Type="http://schemas.openxmlformats.org/officeDocument/2006/relationships/hyperlink" Target="https://medium.com/@auroraanirudh/navigation-drawer-in-jetpack-compose-with-material-design-3-components-2c7775fa2bce" TargetMode="External"/><Relationship Id="rId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type="ctrTitle"/>
          </p:nvPr>
        </p:nvSpPr>
        <p:spPr>
          <a:xfrm>
            <a:off x="311708" y="15827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Navigation</a:t>
            </a:r>
            <a:endParaRPr/>
          </a:p>
        </p:txBody>
      </p:sp>
      <p:sp>
        <p:nvSpPr>
          <p:cNvPr id="38" name="Google Shape;38;p8"/>
          <p:cNvSpPr txBox="1"/>
          <p:nvPr>
            <p:ph idx="1" type="subTitle"/>
          </p:nvPr>
        </p:nvSpPr>
        <p:spPr>
          <a:xfrm>
            <a:off x="311700" y="3672325"/>
            <a:ext cx="8520600" cy="792600"/>
          </a:xfrm>
          <a:prstGeom prst="rect">
            <a:avLst/>
          </a:prstGeom>
        </p:spPr>
        <p:txBody>
          <a:bodyPr anchorCtr="0" anchor="t" bIns="45700" lIns="91425" spcFirstLastPara="1" rIns="91425" wrap="square" tIns="45700">
            <a:normAutofit/>
          </a:bodyPr>
          <a:lstStyle/>
          <a:p>
            <a:pPr indent="0" lvl="0" marL="0" rtl="0" algn="ctr">
              <a:spcBef>
                <a:spcPts val="600"/>
              </a:spcBef>
              <a:spcAft>
                <a:spcPts val="0"/>
              </a:spcAft>
              <a:buNone/>
            </a:pPr>
            <a:r>
              <a:rPr lang="it"/>
              <a:t>2023-24</a:t>
            </a:r>
            <a:endParaRPr/>
          </a:p>
        </p:txBody>
      </p:sp>
      <p:pic>
        <p:nvPicPr>
          <p:cNvPr id="39" name="Google Shape;39;p8"/>
          <p:cNvPicPr preferRelativeResize="0"/>
          <p:nvPr/>
        </p:nvPicPr>
        <p:blipFill>
          <a:blip r:embed="rId3">
            <a:alphaModFix/>
          </a:blip>
          <a:stretch>
            <a:fillRect/>
          </a:stretch>
        </p:blipFill>
        <p:spPr>
          <a:xfrm>
            <a:off x="3670738" y="602575"/>
            <a:ext cx="1802526" cy="18025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Navigation</a:t>
            </a:r>
            <a:endParaRPr/>
          </a:p>
        </p:txBody>
      </p:sp>
      <p:sp>
        <p:nvSpPr>
          <p:cNvPr id="45" name="Google Shape;45;p9"/>
          <p:cNvSpPr txBox="1"/>
          <p:nvPr>
            <p:ph idx="1" type="body"/>
          </p:nvPr>
        </p:nvSpPr>
        <p:spPr>
          <a:xfrm>
            <a:off x="311150" y="1244204"/>
            <a:ext cx="8521800" cy="3393300"/>
          </a:xfrm>
          <a:prstGeom prst="rect">
            <a:avLst/>
          </a:prstGeom>
        </p:spPr>
        <p:txBody>
          <a:bodyPr anchorCtr="0" anchor="t" bIns="45700" lIns="91425" spcFirstLastPara="1" rIns="91425" wrap="square" tIns="45700">
            <a:normAutofit/>
          </a:bodyPr>
          <a:lstStyle/>
          <a:p>
            <a:pPr indent="-355600" lvl="0" marL="457200" rtl="0" algn="l">
              <a:spcBef>
                <a:spcPts val="600"/>
              </a:spcBef>
              <a:spcAft>
                <a:spcPts val="0"/>
              </a:spcAft>
              <a:buSzPts val="2000"/>
              <a:buChar char="•"/>
            </a:pPr>
            <a:r>
              <a:rPr lang="it"/>
              <a:t>The set of </a:t>
            </a:r>
            <a:r>
              <a:rPr lang="it"/>
              <a:t>information</a:t>
            </a:r>
            <a:r>
              <a:rPr lang="it"/>
              <a:t> that an application deals with is usually split into several screens, each devoted to portray a subset it and to allow specific kinds of user interactions</a:t>
            </a:r>
            <a:endParaRPr/>
          </a:p>
          <a:p>
            <a:pPr indent="-330200" lvl="1" marL="914400" rtl="0" algn="l">
              <a:spcBef>
                <a:spcPts val="0"/>
              </a:spcBef>
              <a:spcAft>
                <a:spcPts val="0"/>
              </a:spcAft>
              <a:buSzPts val="1600"/>
              <a:buChar char="○"/>
            </a:pPr>
            <a:r>
              <a:rPr lang="it"/>
              <a:t>Users can move among these screens, according to a given set of routes, supported both by specific widgets in each screen as well as by other general purpose navigation items scaffolding the application, like the drawer menu or the top and bottom bars</a:t>
            </a:r>
            <a:endParaRPr/>
          </a:p>
          <a:p>
            <a:pPr indent="-355600" lvl="0" marL="457200" rtl="0" algn="l">
              <a:spcBef>
                <a:spcPts val="0"/>
              </a:spcBef>
              <a:spcAft>
                <a:spcPts val="0"/>
              </a:spcAft>
              <a:buSzPts val="2000"/>
              <a:buChar char="•"/>
            </a:pPr>
            <a:r>
              <a:rPr lang="it"/>
              <a:t>In order to support this behaviour, the Jetpack Navigation library provides a set of basic components which can be assembled together to create the desired navigation experience </a:t>
            </a:r>
            <a:endParaRPr/>
          </a:p>
          <a:p>
            <a:pPr indent="-330200" lvl="1" marL="914400" rtl="0" algn="l">
              <a:spcBef>
                <a:spcPts val="0"/>
              </a:spcBef>
              <a:spcAft>
                <a:spcPts val="0"/>
              </a:spcAft>
              <a:buSzPts val="1600"/>
              <a:buChar char="○"/>
            </a:pPr>
            <a:r>
              <a:rPr lang="it"/>
              <a:t>Supporting transitions and animations, deep linking, as well as </a:t>
            </a:r>
            <a:r>
              <a:rPr lang="it"/>
              <a:t>several</a:t>
            </a:r>
            <a:r>
              <a:rPr lang="it"/>
              <a:t> typical UI patterns</a:t>
            </a:r>
            <a:endParaRPr/>
          </a:p>
        </p:txBody>
      </p:sp>
      <p:sp>
        <p:nvSpPr>
          <p:cNvPr id="46" name="Google Shape;46;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Required dependencies</a:t>
            </a:r>
            <a:endParaRPr/>
          </a:p>
        </p:txBody>
      </p:sp>
      <p:sp>
        <p:nvSpPr>
          <p:cNvPr id="52" name="Google Shape;52;p1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3" name="Google Shape;53;p10"/>
          <p:cNvSpPr txBox="1"/>
          <p:nvPr>
            <p:ph idx="1" type="body"/>
          </p:nvPr>
        </p:nvSpPr>
        <p:spPr>
          <a:xfrm>
            <a:off x="311150" y="1244204"/>
            <a:ext cx="8521800" cy="3393300"/>
          </a:xfrm>
          <a:prstGeom prst="rect">
            <a:avLst/>
          </a:prstGeom>
        </p:spPr>
        <p:txBody>
          <a:bodyPr anchorCtr="0" anchor="t" bIns="45700" lIns="91425" spcFirstLastPara="1" rIns="91425" wrap="square" tIns="45700">
            <a:normAutofit/>
          </a:bodyPr>
          <a:lstStyle/>
          <a:p>
            <a:pPr indent="-355600" lvl="0" marL="457200" rtl="0" algn="l">
              <a:spcBef>
                <a:spcPts val="600"/>
              </a:spcBef>
              <a:spcAft>
                <a:spcPts val="0"/>
              </a:spcAft>
              <a:buSzPts val="2000"/>
              <a:buChar char="•"/>
            </a:pPr>
            <a:r>
              <a:rPr lang="it"/>
              <a:t>The navigation library provides supports both for standard views and for Jetpack Compose ones</a:t>
            </a:r>
            <a:endParaRPr/>
          </a:p>
          <a:p>
            <a:pPr indent="-330200" lvl="1" marL="914400" rtl="0" algn="l">
              <a:spcBef>
                <a:spcPts val="0"/>
              </a:spcBef>
              <a:spcAft>
                <a:spcPts val="0"/>
              </a:spcAft>
              <a:buSzPts val="1600"/>
              <a:buChar char="○"/>
            </a:pPr>
            <a:r>
              <a:rPr lang="it"/>
              <a:t>Leveraging on similar abstractions and conceptual models, but relying on different implementations</a:t>
            </a:r>
            <a:endParaRPr/>
          </a:p>
          <a:p>
            <a:pPr indent="0" lvl="0" marL="457200" rtl="0" algn="l">
              <a:spcBef>
                <a:spcPts val="600"/>
              </a:spcBef>
              <a:spcAft>
                <a:spcPts val="0"/>
              </a:spcAft>
              <a:buNone/>
            </a:pPr>
            <a:r>
              <a:t/>
            </a:r>
            <a:endParaRPr/>
          </a:p>
        </p:txBody>
      </p:sp>
      <p:sp>
        <p:nvSpPr>
          <p:cNvPr id="54" name="Google Shape;54;p10"/>
          <p:cNvSpPr txBox="1"/>
          <p:nvPr/>
        </p:nvSpPr>
        <p:spPr>
          <a:xfrm>
            <a:off x="504225" y="2540350"/>
            <a:ext cx="8106600" cy="2031900"/>
          </a:xfrm>
          <a:prstGeom prst="rect">
            <a:avLst/>
          </a:prstGeom>
          <a:solidFill>
            <a:srgbClr val="FFFDCF"/>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dependencies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val navVersion = "2.7.6"</a:t>
            </a:r>
            <a:endParaRPr sz="1200">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 Kotlin standard views</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r>
              <a:rPr lang="it" sz="1200">
                <a:solidFill>
                  <a:schemeClr val="dk1"/>
                </a:solidFill>
                <a:latin typeface="Consolas"/>
                <a:ea typeface="Consolas"/>
                <a:cs typeface="Consolas"/>
                <a:sym typeface="Consolas"/>
              </a:rPr>
              <a:t>implementation("androidx.navigation:navigation-fragment-ktx:$navVersion")</a:t>
            </a:r>
            <a:endParaRPr sz="12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implementation("androidx.navigation:navigation-ui-ktx:$navVersion")</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 Jetpack Compose Integration</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implementation("androidx.navigation:navigation-compose:$navVersion")</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Basic abstractions</a:t>
            </a:r>
            <a:endParaRPr/>
          </a:p>
        </p:txBody>
      </p:sp>
      <p:sp>
        <p:nvSpPr>
          <p:cNvPr id="60" name="Google Shape;60;p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1" name="Google Shape;61;p11"/>
          <p:cNvSpPr txBox="1"/>
          <p:nvPr>
            <p:ph idx="1" type="body"/>
          </p:nvPr>
        </p:nvSpPr>
        <p:spPr>
          <a:xfrm>
            <a:off x="311150" y="1244204"/>
            <a:ext cx="8521800" cy="3393300"/>
          </a:xfrm>
          <a:prstGeom prst="rect">
            <a:avLst/>
          </a:prstGeom>
        </p:spPr>
        <p:txBody>
          <a:bodyPr anchorCtr="0" anchor="t" bIns="45700" lIns="91425" spcFirstLastPara="1" rIns="91425" wrap="square" tIns="45700">
            <a:normAutofit lnSpcReduction="20000"/>
          </a:bodyPr>
          <a:lstStyle/>
          <a:p>
            <a:pPr indent="-355600" lvl="0" marL="457200" rtl="0" algn="l">
              <a:spcBef>
                <a:spcPts val="600"/>
              </a:spcBef>
              <a:spcAft>
                <a:spcPts val="0"/>
              </a:spcAft>
              <a:buSzPts val="2000"/>
              <a:buChar char="•"/>
            </a:pPr>
            <a:r>
              <a:rPr lang="it"/>
              <a:t>The </a:t>
            </a:r>
            <a:r>
              <a:rPr b="1" lang="it">
                <a:solidFill>
                  <a:srgbClr val="0B5394"/>
                </a:solidFill>
                <a:latin typeface="Consolas"/>
                <a:ea typeface="Consolas"/>
                <a:cs typeface="Consolas"/>
                <a:sym typeface="Consolas"/>
              </a:rPr>
              <a:t>NavController</a:t>
            </a:r>
            <a:r>
              <a:rPr lang="it"/>
              <a:t> is the main abstraction offered by the library</a:t>
            </a:r>
            <a:endParaRPr/>
          </a:p>
          <a:p>
            <a:pPr indent="-330200" lvl="1" marL="914400" rtl="0" algn="l">
              <a:spcBef>
                <a:spcPts val="0"/>
              </a:spcBef>
              <a:spcAft>
                <a:spcPts val="0"/>
              </a:spcAft>
              <a:buSzPts val="1600"/>
              <a:buChar char="○"/>
            </a:pPr>
            <a:r>
              <a:rPr lang="it"/>
              <a:t>It is a stateful component that keeps track of the back stack of screens as well as of the state of each screen</a:t>
            </a:r>
            <a:endParaRPr/>
          </a:p>
          <a:p>
            <a:pPr indent="-330200" lvl="1" marL="914400" rtl="0" algn="l">
              <a:spcBef>
                <a:spcPts val="0"/>
              </a:spcBef>
              <a:spcAft>
                <a:spcPts val="0"/>
              </a:spcAft>
              <a:buSzPts val="1600"/>
              <a:buChar char="○"/>
            </a:pPr>
            <a:r>
              <a:rPr lang="it"/>
              <a:t>It offers a set of methods to navigate to a new screen, go back to a previous one, create a deep link, access the current route or those currently in the back stack</a:t>
            </a:r>
            <a:endParaRPr/>
          </a:p>
          <a:p>
            <a:pPr indent="-355600" lvl="0" marL="457200" marR="0" rtl="0" algn="l">
              <a:lnSpc>
                <a:spcPct val="115000"/>
              </a:lnSpc>
              <a:spcBef>
                <a:spcPts val="0"/>
              </a:spcBef>
              <a:spcAft>
                <a:spcPts val="0"/>
              </a:spcAft>
              <a:buSzPts val="2000"/>
              <a:buChar char="•"/>
            </a:pPr>
            <a:r>
              <a:rPr lang="it"/>
              <a:t>The </a:t>
            </a:r>
            <a:r>
              <a:rPr b="1" lang="it">
                <a:solidFill>
                  <a:srgbClr val="0B5394"/>
                </a:solidFill>
                <a:latin typeface="Consolas"/>
                <a:ea typeface="Consolas"/>
                <a:cs typeface="Consolas"/>
                <a:sym typeface="Consolas"/>
              </a:rPr>
              <a:t>NavHost</a:t>
            </a:r>
            <a:r>
              <a:rPr lang="it"/>
              <a:t> is a composable that hosts the screen associated to the current </a:t>
            </a:r>
            <a:r>
              <a:rPr b="1" i="1" lang="it">
                <a:solidFill>
                  <a:srgbClr val="0B5394"/>
                </a:solidFill>
              </a:rPr>
              <a:t>route</a:t>
            </a:r>
            <a:r>
              <a:rPr lang="it"/>
              <a:t> contained in the </a:t>
            </a:r>
            <a:r>
              <a:rPr b="1" lang="it">
                <a:solidFill>
                  <a:srgbClr val="0B5394"/>
                </a:solidFill>
                <a:latin typeface="Consolas"/>
                <a:ea typeface="Consolas"/>
                <a:cs typeface="Consolas"/>
                <a:sym typeface="Consolas"/>
              </a:rPr>
              <a:t>NavController</a:t>
            </a:r>
            <a:endParaRPr/>
          </a:p>
          <a:p>
            <a:pPr indent="-330200" lvl="1" marL="914400" rtl="0" algn="l">
              <a:spcBef>
                <a:spcPts val="0"/>
              </a:spcBef>
              <a:spcAft>
                <a:spcPts val="0"/>
              </a:spcAft>
              <a:buSzPts val="1600"/>
              <a:buChar char="○"/>
            </a:pPr>
            <a:r>
              <a:rPr lang="it"/>
              <a:t>Whenever a navigation occurs, the content of the </a:t>
            </a:r>
            <a:r>
              <a:rPr b="1" lang="it">
                <a:solidFill>
                  <a:srgbClr val="0B5394"/>
                </a:solidFill>
                <a:latin typeface="Consolas"/>
                <a:ea typeface="Consolas"/>
                <a:cs typeface="Consolas"/>
                <a:sym typeface="Consolas"/>
              </a:rPr>
              <a:t>NavHost</a:t>
            </a:r>
            <a:r>
              <a:rPr lang="it"/>
              <a:t> is automatically recomposed to reflect the new route</a:t>
            </a:r>
            <a:endParaRPr/>
          </a:p>
          <a:p>
            <a:pPr indent="-355600" lvl="0" marL="457200" rtl="0" algn="l">
              <a:spcBef>
                <a:spcPts val="0"/>
              </a:spcBef>
              <a:spcAft>
                <a:spcPts val="0"/>
              </a:spcAft>
              <a:buSzPts val="2000"/>
              <a:buChar char="•"/>
            </a:pPr>
            <a:r>
              <a:rPr lang="it"/>
              <a:t>The </a:t>
            </a:r>
            <a:r>
              <a:rPr b="1" i="1" lang="it">
                <a:solidFill>
                  <a:srgbClr val="0B5394"/>
                </a:solidFill>
              </a:rPr>
              <a:t>navigation graph</a:t>
            </a:r>
            <a:r>
              <a:rPr lang="it"/>
              <a:t> is a resource that describes the set of routes the applications support with their </a:t>
            </a:r>
            <a:r>
              <a:rPr lang="it"/>
              <a:t>parameters</a:t>
            </a:r>
            <a:r>
              <a:rPr lang="it"/>
              <a:t> and associated screens</a:t>
            </a:r>
            <a:endParaRPr/>
          </a:p>
          <a:p>
            <a:pPr indent="-330200" lvl="1" marL="914400" rtl="0" algn="l">
              <a:spcBef>
                <a:spcPts val="0"/>
              </a:spcBef>
              <a:spcAft>
                <a:spcPts val="0"/>
              </a:spcAft>
              <a:buSzPts val="1600"/>
              <a:buChar char="○"/>
            </a:pPr>
            <a:r>
              <a:rPr lang="it"/>
              <a:t>A Domain Specific Language (DSL) is provided to build the graph that the NavHost manages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Defining routes</a:t>
            </a:r>
            <a:endParaRPr/>
          </a:p>
        </p:txBody>
      </p:sp>
      <p:sp>
        <p:nvSpPr>
          <p:cNvPr id="67" name="Google Shape;67;p1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8" name="Google Shape;68;p12"/>
          <p:cNvSpPr txBox="1"/>
          <p:nvPr>
            <p:ph idx="1" type="body"/>
          </p:nvPr>
        </p:nvSpPr>
        <p:spPr>
          <a:xfrm>
            <a:off x="311150" y="1244204"/>
            <a:ext cx="8521800" cy="3393300"/>
          </a:xfrm>
          <a:prstGeom prst="rect">
            <a:avLst/>
          </a:prstGeom>
        </p:spPr>
        <p:txBody>
          <a:bodyPr anchorCtr="0" anchor="t" bIns="45700" lIns="91425" spcFirstLastPara="1" rIns="91425" wrap="square" tIns="45700">
            <a:normAutofit lnSpcReduction="10000"/>
          </a:bodyPr>
          <a:lstStyle/>
          <a:p>
            <a:pPr indent="-355600" lvl="0" marL="457200" rtl="0" algn="l">
              <a:spcBef>
                <a:spcPts val="600"/>
              </a:spcBef>
              <a:spcAft>
                <a:spcPts val="0"/>
              </a:spcAft>
              <a:buSzPts val="2000"/>
              <a:buChar char="•"/>
            </a:pPr>
            <a:r>
              <a:rPr lang="it"/>
              <a:t>Each screen in the application is identified by a </a:t>
            </a:r>
            <a:r>
              <a:rPr b="1" i="1" lang="it">
                <a:solidFill>
                  <a:srgbClr val="0B5394"/>
                </a:solidFill>
              </a:rPr>
              <a:t>route</a:t>
            </a:r>
            <a:endParaRPr b="1" i="1">
              <a:solidFill>
                <a:srgbClr val="0B5394"/>
              </a:solidFill>
            </a:endParaRPr>
          </a:p>
          <a:p>
            <a:pPr indent="-330200" lvl="1" marL="914400" rtl="0" algn="l">
              <a:spcBef>
                <a:spcPts val="0"/>
              </a:spcBef>
              <a:spcAft>
                <a:spcPts val="0"/>
              </a:spcAft>
              <a:buSzPts val="1600"/>
              <a:buChar char="○"/>
            </a:pPr>
            <a:r>
              <a:rPr lang="it"/>
              <a:t>A unique path-like string, made of one or more segments separated by "</a:t>
            </a:r>
            <a:r>
              <a:rPr b="1" lang="it">
                <a:solidFill>
                  <a:srgbClr val="0B5394"/>
                </a:solidFill>
                <a:latin typeface="Consolas"/>
                <a:ea typeface="Consolas"/>
                <a:cs typeface="Consolas"/>
                <a:sym typeface="Consolas"/>
              </a:rPr>
              <a:t>/</a:t>
            </a:r>
            <a:r>
              <a:rPr lang="it"/>
              <a:t>"</a:t>
            </a:r>
            <a:endParaRPr/>
          </a:p>
          <a:p>
            <a:pPr indent="-330200" lvl="1" marL="914400" rtl="0" algn="l">
              <a:spcBef>
                <a:spcPts val="0"/>
              </a:spcBef>
              <a:spcAft>
                <a:spcPts val="0"/>
              </a:spcAft>
              <a:buSzPts val="1600"/>
              <a:buChar char="○"/>
            </a:pPr>
            <a:r>
              <a:rPr lang="it"/>
              <a:t>Route segments may consists of constants or variables (</a:t>
            </a:r>
            <a:r>
              <a:rPr b="1" lang="it">
                <a:solidFill>
                  <a:srgbClr val="0B5394"/>
                </a:solidFill>
                <a:latin typeface="Consolas"/>
                <a:ea typeface="Consolas"/>
                <a:cs typeface="Consolas"/>
                <a:sym typeface="Consolas"/>
              </a:rPr>
              <a:t>"taskDetail/{taskId}"</a:t>
            </a:r>
            <a:r>
              <a:rPr lang="it"/>
              <a:t>), similarly to placeholders in URLs</a:t>
            </a:r>
            <a:endParaRPr/>
          </a:p>
          <a:p>
            <a:pPr indent="-330200" lvl="1" marL="914400" rtl="0" algn="l">
              <a:spcBef>
                <a:spcPts val="0"/>
              </a:spcBef>
              <a:spcAft>
                <a:spcPts val="0"/>
              </a:spcAft>
              <a:buSzPts val="1600"/>
              <a:buChar char="○"/>
            </a:pPr>
            <a:r>
              <a:rPr lang="it"/>
              <a:t>Routes can also contain optional parameters, using the query string notations </a:t>
            </a:r>
            <a:br>
              <a:rPr lang="it"/>
            </a:br>
            <a:r>
              <a:rPr lang="it"/>
              <a:t>(</a:t>
            </a:r>
            <a:r>
              <a:rPr b="1" lang="it">
                <a:solidFill>
                  <a:srgbClr val="0B5394"/>
                </a:solidFill>
                <a:latin typeface="Consolas"/>
                <a:ea typeface="Consolas"/>
                <a:cs typeface="Consolas"/>
                <a:sym typeface="Consolas"/>
              </a:rPr>
              <a:t>"taskDetail?taskId={taskId}"</a:t>
            </a:r>
            <a:r>
              <a:rPr lang="it"/>
              <a:t>)</a:t>
            </a:r>
            <a:endParaRPr/>
          </a:p>
          <a:p>
            <a:pPr indent="-355600" lvl="0" marL="457200" rtl="0" algn="l">
              <a:spcBef>
                <a:spcPts val="0"/>
              </a:spcBef>
              <a:spcAft>
                <a:spcPts val="0"/>
              </a:spcAft>
              <a:buSzPts val="2000"/>
              <a:buChar char="•"/>
            </a:pPr>
            <a:r>
              <a:rPr lang="it"/>
              <a:t>The NavHost composable offers a DSL to describe the navigation graph</a:t>
            </a:r>
            <a:endParaRPr/>
          </a:p>
          <a:p>
            <a:pPr indent="-330200" lvl="1" marL="914400" rtl="0" algn="l">
              <a:spcBef>
                <a:spcPts val="0"/>
              </a:spcBef>
              <a:spcAft>
                <a:spcPts val="0"/>
              </a:spcAft>
              <a:buSzPts val="1600"/>
              <a:buChar char="○"/>
            </a:pPr>
            <a:r>
              <a:rPr lang="it"/>
              <a:t>Each vertex in the graph consists of a destination type enclosing the corresponding route and the associated composable</a:t>
            </a:r>
            <a:endParaRPr/>
          </a:p>
          <a:p>
            <a:pPr indent="-355600" lvl="0" marL="457200" rtl="0" algn="l">
              <a:spcBef>
                <a:spcPts val="0"/>
              </a:spcBef>
              <a:spcAft>
                <a:spcPts val="0"/>
              </a:spcAft>
              <a:buSzPts val="2000"/>
              <a:buChar char="•"/>
            </a:pPr>
            <a:r>
              <a:rPr lang="it"/>
              <a:t>Three types of destinations are possible:</a:t>
            </a:r>
            <a:endParaRPr/>
          </a:p>
          <a:p>
            <a:pPr indent="-330200" lvl="1" marL="914400" marR="0" rtl="0" algn="l">
              <a:lnSpc>
                <a:spcPct val="110000"/>
              </a:lnSpc>
              <a:spcBef>
                <a:spcPts val="0"/>
              </a:spcBef>
              <a:spcAft>
                <a:spcPts val="0"/>
              </a:spcAft>
              <a:buSzPts val="1600"/>
              <a:buChar char="○"/>
            </a:pPr>
            <a:r>
              <a:rPr b="1" lang="it">
                <a:solidFill>
                  <a:srgbClr val="0B5394"/>
                </a:solidFill>
                <a:latin typeface="Consolas"/>
                <a:ea typeface="Consolas"/>
                <a:cs typeface="Consolas"/>
                <a:sym typeface="Consolas"/>
              </a:rPr>
              <a:t>c</a:t>
            </a:r>
            <a:r>
              <a:rPr b="1" lang="it">
                <a:solidFill>
                  <a:srgbClr val="0B5394"/>
                </a:solidFill>
                <a:latin typeface="Consolas"/>
                <a:ea typeface="Consolas"/>
                <a:cs typeface="Consolas"/>
                <a:sym typeface="Consolas"/>
              </a:rPr>
              <a:t>omposable</a:t>
            </a:r>
            <a:r>
              <a:rPr lang="it"/>
              <a:t> (displayed inside the </a:t>
            </a:r>
            <a:r>
              <a:rPr b="1" lang="it">
                <a:solidFill>
                  <a:srgbClr val="0B5394"/>
                </a:solidFill>
                <a:latin typeface="Consolas"/>
                <a:ea typeface="Consolas"/>
                <a:cs typeface="Consolas"/>
                <a:sym typeface="Consolas"/>
              </a:rPr>
              <a:t>NavHost</a:t>
            </a:r>
            <a:r>
              <a:rPr lang="it"/>
              <a:t>), </a:t>
            </a:r>
            <a:r>
              <a:rPr b="1" lang="it">
                <a:solidFill>
                  <a:srgbClr val="0B5394"/>
                </a:solidFill>
                <a:latin typeface="Consolas"/>
                <a:ea typeface="Consolas"/>
                <a:cs typeface="Consolas"/>
                <a:sym typeface="Consolas"/>
              </a:rPr>
              <a:t>dialog</a:t>
            </a:r>
            <a:r>
              <a:rPr lang="it"/>
              <a:t> (overlayed to the </a:t>
            </a:r>
            <a:r>
              <a:rPr b="1" lang="it">
                <a:solidFill>
                  <a:srgbClr val="0B5394"/>
                </a:solidFill>
                <a:latin typeface="Consolas"/>
                <a:ea typeface="Consolas"/>
                <a:cs typeface="Consolas"/>
                <a:sym typeface="Consolas"/>
              </a:rPr>
              <a:t>NavHost</a:t>
            </a:r>
            <a:r>
              <a:rPr lang="it"/>
              <a:t>), </a:t>
            </a:r>
            <a:r>
              <a:rPr b="1" lang="it">
                <a:solidFill>
                  <a:srgbClr val="0B5394"/>
                </a:solidFill>
                <a:latin typeface="Consolas"/>
                <a:ea typeface="Consolas"/>
                <a:cs typeface="Consolas"/>
                <a:sym typeface="Consolas"/>
              </a:rPr>
              <a:t>activity</a:t>
            </a:r>
            <a:r>
              <a:rPr lang="it"/>
              <a:t> (managed by a different activity)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Defining routes</a:t>
            </a:r>
            <a:endParaRPr/>
          </a:p>
        </p:txBody>
      </p:sp>
      <p:sp>
        <p:nvSpPr>
          <p:cNvPr id="74" name="Google Shape;74;p13"/>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5" name="Google Shape;75;p13"/>
          <p:cNvSpPr txBox="1"/>
          <p:nvPr/>
        </p:nvSpPr>
        <p:spPr>
          <a:xfrm>
            <a:off x="448300" y="1187375"/>
            <a:ext cx="8151300" cy="3324600"/>
          </a:xfrm>
          <a:prstGeom prst="rect">
            <a:avLst/>
          </a:prstGeom>
          <a:solidFill>
            <a:srgbClr val="FFFDCF"/>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it" sz="1200">
                <a:latin typeface="Consolas"/>
                <a:ea typeface="Consolas"/>
                <a:cs typeface="Consolas"/>
                <a:sym typeface="Consolas"/>
              </a:rPr>
              <a:t>@Composable</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fun SomeApp()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val navController = rememberNavController()</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r>
              <a:rPr b="1" lang="it" sz="1200">
                <a:solidFill>
                  <a:srgbClr val="0B5394"/>
                </a:solidFill>
                <a:latin typeface="Consolas"/>
                <a:ea typeface="Consolas"/>
                <a:cs typeface="Consolas"/>
                <a:sym typeface="Consolas"/>
              </a:rPr>
              <a:t>NavHost</a:t>
            </a:r>
            <a:r>
              <a:rPr lang="it" sz="1200">
                <a:latin typeface="Consolas"/>
                <a:ea typeface="Consolas"/>
                <a:cs typeface="Consolas"/>
                <a:sym typeface="Consolas"/>
              </a:rPr>
              <a:t>(navController = navController, startDestination = "home")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r>
              <a:rPr b="1" lang="it" sz="1200">
                <a:solidFill>
                  <a:srgbClr val="0B5394"/>
                </a:solidFill>
                <a:latin typeface="Consolas"/>
                <a:ea typeface="Consolas"/>
                <a:cs typeface="Consolas"/>
                <a:sym typeface="Consolas"/>
              </a:rPr>
              <a:t>composable("home")</a:t>
            </a: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HomeScreen( /* params */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r>
              <a:rPr b="1" lang="it" sz="1200">
                <a:solidFill>
                  <a:srgbClr val="0B5394"/>
                </a:solidFill>
                <a:latin typeface="Consolas"/>
                <a:ea typeface="Consolas"/>
                <a:cs typeface="Consolas"/>
                <a:sym typeface="Consolas"/>
              </a:rPr>
              <a:t>dialog("addProject")</a:t>
            </a: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AddProjectDialog( /* params */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r>
              <a:rPr b="1" lang="it" sz="1200">
                <a:solidFill>
                  <a:srgbClr val="0B5394"/>
                </a:solidFill>
                <a:latin typeface="Consolas"/>
                <a:ea typeface="Consolas"/>
                <a:cs typeface="Consolas"/>
                <a:sym typeface="Consolas"/>
              </a:rPr>
              <a:t>composable</a:t>
            </a:r>
            <a:r>
              <a:rPr b="1" lang="it" sz="1200">
                <a:solidFill>
                  <a:srgbClr val="0B5394"/>
                </a:solidFill>
                <a:latin typeface="Consolas"/>
                <a:ea typeface="Consolas"/>
                <a:cs typeface="Consolas"/>
                <a:sym typeface="Consolas"/>
              </a:rPr>
              <a:t>("editProject/{projectId}", </a:t>
            </a:r>
            <a:endParaRPr b="1" sz="1200">
              <a:solidFill>
                <a:srgbClr val="0B5394"/>
              </a:solidFill>
              <a:latin typeface="Consolas"/>
              <a:ea typeface="Consolas"/>
              <a:cs typeface="Consolas"/>
              <a:sym typeface="Consolas"/>
            </a:endParaRPr>
          </a:p>
          <a:p>
            <a:pPr indent="0" lvl="0" marL="0" rtl="0" algn="l">
              <a:spcBef>
                <a:spcPts val="0"/>
              </a:spcBef>
              <a:spcAft>
                <a:spcPts val="0"/>
              </a:spcAft>
              <a:buNone/>
            </a:pPr>
            <a:r>
              <a:rPr b="1" lang="it" sz="1200">
                <a:solidFill>
                  <a:srgbClr val="0B5394"/>
                </a:solidFill>
                <a:latin typeface="Consolas"/>
                <a:ea typeface="Consolas"/>
                <a:cs typeface="Consolas"/>
                <a:sym typeface="Consolas"/>
              </a:rPr>
              <a:t>               arguments = listOf( navArgument("projectId"){type=NavType.IntType}</a:t>
            </a:r>
            <a:endParaRPr b="1" sz="1200">
              <a:solidFill>
                <a:srgbClr val="0B5394"/>
              </a:solidFill>
              <a:latin typeface="Consolas"/>
              <a:ea typeface="Consolas"/>
              <a:cs typeface="Consolas"/>
              <a:sym typeface="Consolas"/>
            </a:endParaRPr>
          </a:p>
          <a:p>
            <a:pPr indent="0" lvl="0" marL="0" rtl="0" algn="l">
              <a:spcBef>
                <a:spcPts val="0"/>
              </a:spcBef>
              <a:spcAft>
                <a:spcPts val="0"/>
              </a:spcAft>
              <a:buNone/>
            </a:pPr>
            <a:r>
              <a:rPr b="1" lang="it" sz="1200">
                <a:solidFill>
                  <a:srgbClr val="0B5394"/>
                </a:solidFill>
                <a:latin typeface="Consolas"/>
                <a:ea typeface="Consolas"/>
                <a:cs typeface="Consolas"/>
                <a:sym typeface="Consolas"/>
              </a:rPr>
              <a:t>    )</a:t>
            </a:r>
            <a:r>
              <a:rPr lang="it" sz="1200">
                <a:latin typeface="Consolas"/>
                <a:ea typeface="Consolas"/>
                <a:cs typeface="Consolas"/>
                <a:sym typeface="Consolas"/>
              </a:rPr>
              <a:t> { entry -&gt;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EditProjectScreen( projectId = entry.arguments?.getInt("projectId"), /</a:t>
            </a:r>
            <a:r>
              <a:rPr i="1" lang="it" sz="1200">
                <a:latin typeface="Consolas"/>
                <a:ea typeface="Consolas"/>
                <a:cs typeface="Consolas"/>
                <a:sym typeface="Consolas"/>
              </a:rPr>
              <a:t>…</a:t>
            </a: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Navigating between screens</a:t>
            </a:r>
            <a:endParaRPr/>
          </a:p>
        </p:txBody>
      </p:sp>
      <p:sp>
        <p:nvSpPr>
          <p:cNvPr id="81" name="Google Shape;81;p1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2" name="Google Shape;82;p14"/>
          <p:cNvSpPr txBox="1"/>
          <p:nvPr>
            <p:ph idx="1" type="body"/>
          </p:nvPr>
        </p:nvSpPr>
        <p:spPr>
          <a:xfrm>
            <a:off x="313200" y="1152475"/>
            <a:ext cx="3999900" cy="3416400"/>
          </a:xfrm>
          <a:prstGeom prst="rect">
            <a:avLst/>
          </a:prstGeom>
        </p:spPr>
        <p:txBody>
          <a:bodyPr anchorCtr="0" anchor="t" bIns="45700" lIns="91425" spcFirstLastPara="1" rIns="91425" wrap="square" tIns="45700">
            <a:normAutofit/>
          </a:bodyPr>
          <a:lstStyle/>
          <a:p>
            <a:pPr indent="-330200" lvl="0" marL="457200" rtl="0" algn="l">
              <a:spcBef>
                <a:spcPts val="600"/>
              </a:spcBef>
              <a:spcAft>
                <a:spcPts val="0"/>
              </a:spcAft>
              <a:buSzPts val="1600"/>
              <a:buChar char="•"/>
            </a:pPr>
            <a:r>
              <a:rPr b="1" lang="it" sz="1600">
                <a:solidFill>
                  <a:srgbClr val="0B5394"/>
                </a:solidFill>
                <a:latin typeface="Consolas"/>
                <a:ea typeface="Consolas"/>
                <a:cs typeface="Consolas"/>
                <a:sym typeface="Consolas"/>
              </a:rPr>
              <a:t>NavController</a:t>
            </a:r>
            <a:r>
              <a:rPr lang="it" sz="1600"/>
              <a:t> offers a set of methods to move to a new route or go back to a previous one</a:t>
            </a:r>
            <a:endParaRPr sz="1600"/>
          </a:p>
          <a:p>
            <a:pPr indent="-317500" lvl="1" marL="914400" rtl="0" algn="l">
              <a:spcBef>
                <a:spcPts val="0"/>
              </a:spcBef>
              <a:spcAft>
                <a:spcPts val="0"/>
              </a:spcAft>
              <a:buSzPts val="1400"/>
              <a:buChar char="○"/>
            </a:pPr>
            <a:r>
              <a:rPr lang="it" sz="1400"/>
              <a:t>It is often convenient not to access it directly, but to encapsulate the expected navigation actions into functions, to reduce mistakes</a:t>
            </a:r>
            <a:endParaRPr/>
          </a:p>
          <a:p>
            <a:pPr indent="-317500" lvl="1" marL="914400" rtl="0" algn="l">
              <a:spcBef>
                <a:spcPts val="0"/>
              </a:spcBef>
              <a:spcAft>
                <a:spcPts val="0"/>
              </a:spcAft>
              <a:buSzPts val="1400"/>
              <a:buChar char="○"/>
            </a:pPr>
            <a:r>
              <a:rPr lang="it"/>
              <a:t>These functions can be propagated as properties to children composable, guaranteeing the correct addressing of routes and their parameters</a:t>
            </a:r>
            <a:endParaRPr/>
          </a:p>
        </p:txBody>
      </p:sp>
      <p:sp>
        <p:nvSpPr>
          <p:cNvPr id="83" name="Google Shape;83;p14"/>
          <p:cNvSpPr txBox="1"/>
          <p:nvPr/>
        </p:nvSpPr>
        <p:spPr>
          <a:xfrm>
            <a:off x="4572000" y="1131475"/>
            <a:ext cx="4260300" cy="3416400"/>
          </a:xfrm>
          <a:prstGeom prst="rect">
            <a:avLst/>
          </a:prstGeom>
          <a:solidFill>
            <a:srgbClr val="FFFDCF"/>
          </a:solid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it" sz="1200">
                <a:latin typeface="Consolas"/>
                <a:ea typeface="Consolas"/>
                <a:cs typeface="Consolas"/>
                <a:sym typeface="Consolas"/>
              </a:rPr>
              <a:t>class Actions(val navCont: NavHostController){</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val </a:t>
            </a:r>
            <a:r>
              <a:rPr b="1" lang="it" sz="1200">
                <a:solidFill>
                  <a:srgbClr val="0B5394"/>
                </a:solidFill>
                <a:latin typeface="Consolas"/>
                <a:ea typeface="Consolas"/>
                <a:cs typeface="Consolas"/>
                <a:sym typeface="Consolas"/>
              </a:rPr>
              <a:t>addProject</a:t>
            </a:r>
            <a:r>
              <a:rPr lang="it" sz="1200">
                <a:latin typeface="Consolas"/>
                <a:ea typeface="Consolas"/>
                <a:cs typeface="Consolas"/>
                <a:sym typeface="Consolas"/>
              </a:rPr>
              <a:t>: ()-&gt;Unit =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navCont.navigate("addProject")</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val </a:t>
            </a:r>
            <a:r>
              <a:rPr b="1" lang="it" sz="1200">
                <a:solidFill>
                  <a:srgbClr val="0B5394"/>
                </a:solidFill>
                <a:latin typeface="Consolas"/>
                <a:ea typeface="Consolas"/>
                <a:cs typeface="Consolas"/>
                <a:sym typeface="Consolas"/>
              </a:rPr>
              <a:t>editProject</a:t>
            </a:r>
            <a:r>
              <a:rPr lang="it" sz="1200">
                <a:latin typeface="Consolas"/>
                <a:ea typeface="Consolas"/>
                <a:cs typeface="Consolas"/>
                <a:sym typeface="Consolas"/>
              </a:rPr>
              <a:t>:(Int)-&gt;Unit = { id -&gt;</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navCont.navigate("editProject/${id}")</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val </a:t>
            </a:r>
            <a:r>
              <a:rPr b="1" lang="it" sz="1200">
                <a:solidFill>
                  <a:srgbClr val="0B5394"/>
                </a:solidFill>
                <a:latin typeface="Consolas"/>
                <a:ea typeface="Consolas"/>
                <a:cs typeface="Consolas"/>
                <a:sym typeface="Consolas"/>
              </a:rPr>
              <a:t>navigateBack</a:t>
            </a:r>
            <a:r>
              <a:rPr lang="it" sz="1200">
                <a:latin typeface="Consolas"/>
                <a:ea typeface="Consolas"/>
                <a:cs typeface="Consolas"/>
                <a:sym typeface="Consolas"/>
              </a:rPr>
              <a:t>: ()-&gt;Unit =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navCont.popBackStack()</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@Composable</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fun SomeApp()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val navController = rememberNavController()</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val actions = remember(navController)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Actions(navController)</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 /* … */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a:t>
            </a:r>
            <a:endParaRPr sz="1200">
              <a:latin typeface="Consolas"/>
              <a:ea typeface="Consolas"/>
              <a:cs typeface="Consolas"/>
              <a:sym typeface="Consolas"/>
            </a:endParaRPr>
          </a:p>
          <a:p>
            <a:pPr indent="0" lvl="0" marL="0" marR="0" rtl="0" algn="l">
              <a:lnSpc>
                <a:spcPct val="100000"/>
              </a:lnSpc>
              <a:spcBef>
                <a:spcPts val="0"/>
              </a:spcBef>
              <a:spcAft>
                <a:spcPts val="0"/>
              </a:spcAft>
              <a:buNone/>
            </a:pPr>
            <a:r>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t>
            </a:r>
            <a:endParaRPr sz="1200">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Navigating between screens</a:t>
            </a:r>
            <a:endParaRPr/>
          </a:p>
        </p:txBody>
      </p:sp>
      <p:sp>
        <p:nvSpPr>
          <p:cNvPr id="89" name="Google Shape;89;p15"/>
          <p:cNvSpPr txBox="1"/>
          <p:nvPr>
            <p:ph idx="1" type="body"/>
          </p:nvPr>
        </p:nvSpPr>
        <p:spPr>
          <a:xfrm>
            <a:off x="313200" y="1152475"/>
            <a:ext cx="3999900" cy="3416400"/>
          </a:xfrm>
          <a:prstGeom prst="rect">
            <a:avLst/>
          </a:prstGeom>
        </p:spPr>
        <p:txBody>
          <a:bodyPr anchorCtr="0" anchor="t" bIns="45700" lIns="91425" spcFirstLastPara="1" rIns="91425" wrap="square" tIns="45700">
            <a:normAutofit/>
          </a:bodyPr>
          <a:lstStyle/>
          <a:p>
            <a:pPr indent="-330200" lvl="0" marL="457200" rtl="0" algn="l">
              <a:spcBef>
                <a:spcPts val="600"/>
              </a:spcBef>
              <a:spcAft>
                <a:spcPts val="0"/>
              </a:spcAft>
              <a:buSzPts val="1600"/>
              <a:buChar char="•"/>
            </a:pPr>
            <a:r>
              <a:rPr lang="it"/>
              <a:t>The </a:t>
            </a:r>
            <a:r>
              <a:rPr b="1" lang="it">
                <a:solidFill>
                  <a:srgbClr val="0B5394"/>
                </a:solidFill>
                <a:latin typeface="Consolas"/>
                <a:ea typeface="Consolas"/>
                <a:cs typeface="Consolas"/>
                <a:sym typeface="Consolas"/>
              </a:rPr>
              <a:t>NavController</a:t>
            </a:r>
            <a:r>
              <a:rPr lang="it"/>
              <a:t> manages visited routes through a </a:t>
            </a:r>
            <a:r>
              <a:rPr b="1" i="1" lang="it">
                <a:solidFill>
                  <a:srgbClr val="0B5394"/>
                </a:solidFill>
              </a:rPr>
              <a:t>Back Stack</a:t>
            </a:r>
            <a:endParaRPr b="1" i="1">
              <a:solidFill>
                <a:srgbClr val="0B5394"/>
              </a:solidFill>
            </a:endParaRPr>
          </a:p>
          <a:p>
            <a:pPr indent="-317500" lvl="1" marL="914400" marR="0" rtl="0" algn="l">
              <a:lnSpc>
                <a:spcPct val="110000"/>
              </a:lnSpc>
              <a:spcBef>
                <a:spcPts val="0"/>
              </a:spcBef>
              <a:spcAft>
                <a:spcPts val="0"/>
              </a:spcAft>
              <a:buSzPts val="1400"/>
              <a:buChar char="○"/>
            </a:pPr>
            <a:r>
              <a:rPr lang="it"/>
              <a:t>Each time a </a:t>
            </a:r>
            <a:r>
              <a:rPr b="1" lang="it">
                <a:solidFill>
                  <a:srgbClr val="0B5394"/>
                </a:solidFill>
                <a:latin typeface="Consolas"/>
                <a:ea typeface="Consolas"/>
                <a:cs typeface="Consolas"/>
                <a:sym typeface="Consolas"/>
              </a:rPr>
              <a:t>navigation(...)</a:t>
            </a:r>
            <a:r>
              <a:rPr lang="it"/>
              <a:t> action takes place, a new entry is pushed onto the stack, causing the </a:t>
            </a:r>
            <a:r>
              <a:rPr b="1" lang="it">
                <a:solidFill>
                  <a:srgbClr val="0B5394"/>
                </a:solidFill>
                <a:latin typeface="Consolas"/>
                <a:ea typeface="Consolas"/>
                <a:cs typeface="Consolas"/>
                <a:sym typeface="Consolas"/>
              </a:rPr>
              <a:t>NavHost</a:t>
            </a:r>
            <a:r>
              <a:rPr lang="it"/>
              <a:t> to recompose</a:t>
            </a:r>
            <a:endParaRPr/>
          </a:p>
          <a:p>
            <a:pPr indent="-330200" lvl="0" marL="457200" marR="0" rtl="0" algn="l">
              <a:lnSpc>
                <a:spcPct val="115000"/>
              </a:lnSpc>
              <a:spcBef>
                <a:spcPts val="0"/>
              </a:spcBef>
              <a:spcAft>
                <a:spcPts val="0"/>
              </a:spcAft>
              <a:buSzPts val="1600"/>
              <a:buChar char="•"/>
            </a:pPr>
            <a:r>
              <a:rPr lang="it"/>
              <a:t>The </a:t>
            </a:r>
            <a:r>
              <a:rPr b="1" lang="it">
                <a:solidFill>
                  <a:srgbClr val="0B5394"/>
                </a:solidFill>
                <a:latin typeface="Consolas"/>
                <a:ea typeface="Consolas"/>
                <a:cs typeface="Consolas"/>
                <a:sym typeface="Consolas"/>
              </a:rPr>
              <a:t>popBackStack(route, inclusive)</a:t>
            </a:r>
            <a:r>
              <a:rPr lang="it"/>
              <a:t> method is used to navigate back to a specific route</a:t>
            </a:r>
            <a:endParaRPr/>
          </a:p>
          <a:p>
            <a:pPr indent="-317500" lvl="1" marL="914400" marR="0" rtl="0" algn="l">
              <a:lnSpc>
                <a:spcPct val="115000"/>
              </a:lnSpc>
              <a:spcBef>
                <a:spcPts val="0"/>
              </a:spcBef>
              <a:spcAft>
                <a:spcPts val="0"/>
              </a:spcAft>
              <a:buSzPts val="1400"/>
              <a:buChar char="○"/>
            </a:pPr>
            <a:r>
              <a:rPr lang="it"/>
              <a:t>The </a:t>
            </a:r>
            <a:r>
              <a:rPr lang="it"/>
              <a:t>physical</a:t>
            </a:r>
            <a:r>
              <a:rPr lang="it"/>
              <a:t> back key (or its corresponding gesture) is automatically mapped to the </a:t>
            </a:r>
            <a:r>
              <a:rPr b="1" lang="it">
                <a:solidFill>
                  <a:srgbClr val="0B5394"/>
                </a:solidFill>
                <a:latin typeface="Consolas"/>
                <a:ea typeface="Consolas"/>
                <a:cs typeface="Consolas"/>
                <a:sym typeface="Consolas"/>
              </a:rPr>
              <a:t>popBackStack()</a:t>
            </a:r>
            <a:r>
              <a:rPr lang="it"/>
              <a:t> method</a:t>
            </a:r>
            <a:endParaRPr/>
          </a:p>
        </p:txBody>
      </p:sp>
      <p:sp>
        <p:nvSpPr>
          <p:cNvPr id="90" name="Google Shape;90;p1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1" name="Google Shape;91;p15"/>
          <p:cNvSpPr/>
          <p:nvPr/>
        </p:nvSpPr>
        <p:spPr>
          <a:xfrm>
            <a:off x="4820275" y="1578750"/>
            <a:ext cx="860975" cy="2180375"/>
          </a:xfrm>
          <a:custGeom>
            <a:rect b="b" l="l" r="r" t="t"/>
            <a:pathLst>
              <a:path extrusionOk="0" h="87215" w="34439">
                <a:moveTo>
                  <a:pt x="0" y="0"/>
                </a:moveTo>
                <a:lnTo>
                  <a:pt x="0" y="87215"/>
                </a:lnTo>
                <a:lnTo>
                  <a:pt x="34439" y="87215"/>
                </a:lnTo>
                <a:lnTo>
                  <a:pt x="34439" y="0"/>
                </a:lnTo>
              </a:path>
            </a:pathLst>
          </a:custGeom>
          <a:noFill/>
          <a:ln cap="flat" cmpd="sng" w="28575">
            <a:solidFill>
              <a:schemeClr val="dk2"/>
            </a:solidFill>
            <a:prstDash val="solid"/>
            <a:round/>
            <a:headEnd len="med" w="med" type="none"/>
            <a:tailEnd len="med" w="med" type="none"/>
          </a:ln>
        </p:spPr>
      </p:sp>
      <p:sp>
        <p:nvSpPr>
          <p:cNvPr id="92" name="Google Shape;92;p15"/>
          <p:cNvSpPr/>
          <p:nvPr/>
        </p:nvSpPr>
        <p:spPr>
          <a:xfrm>
            <a:off x="4898563" y="3188875"/>
            <a:ext cx="704400" cy="4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alibri"/>
                <a:ea typeface="Calibri"/>
                <a:cs typeface="Calibri"/>
                <a:sym typeface="Calibri"/>
              </a:rPr>
              <a:t>Home</a:t>
            </a:r>
            <a:endParaRPr>
              <a:latin typeface="Calibri"/>
              <a:ea typeface="Calibri"/>
              <a:cs typeface="Calibri"/>
              <a:sym typeface="Calibri"/>
            </a:endParaRPr>
          </a:p>
        </p:txBody>
      </p:sp>
      <p:sp>
        <p:nvSpPr>
          <p:cNvPr id="93" name="Google Shape;93;p15"/>
          <p:cNvSpPr/>
          <p:nvPr/>
        </p:nvSpPr>
        <p:spPr>
          <a:xfrm>
            <a:off x="6312925" y="2518038"/>
            <a:ext cx="603900" cy="301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 name="Google Shape;94;p15"/>
          <p:cNvSpPr txBox="1"/>
          <p:nvPr/>
        </p:nvSpPr>
        <p:spPr>
          <a:xfrm>
            <a:off x="5664175" y="2920525"/>
            <a:ext cx="190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a:latin typeface="Consolas"/>
                <a:ea typeface="Consolas"/>
                <a:cs typeface="Consolas"/>
                <a:sym typeface="Consolas"/>
              </a:rPr>
              <a:t>navController</a:t>
            </a:r>
            <a:endParaRPr sz="1000">
              <a:latin typeface="Consolas"/>
              <a:ea typeface="Consolas"/>
              <a:cs typeface="Consolas"/>
              <a:sym typeface="Consolas"/>
            </a:endParaRPr>
          </a:p>
          <a:p>
            <a:pPr indent="0" lvl="0" marL="0" rtl="0" algn="l">
              <a:spcBef>
                <a:spcPts val="0"/>
              </a:spcBef>
              <a:spcAft>
                <a:spcPts val="0"/>
              </a:spcAft>
              <a:buNone/>
            </a:pPr>
            <a:r>
              <a:rPr lang="it" sz="1000">
                <a:latin typeface="Consolas"/>
                <a:ea typeface="Consolas"/>
                <a:cs typeface="Consolas"/>
                <a:sym typeface="Consolas"/>
              </a:rPr>
              <a:t> .navigate("addProject")</a:t>
            </a:r>
            <a:endParaRPr sz="1000">
              <a:latin typeface="Consolas"/>
              <a:ea typeface="Consolas"/>
              <a:cs typeface="Consolas"/>
              <a:sym typeface="Consolas"/>
            </a:endParaRPr>
          </a:p>
        </p:txBody>
      </p:sp>
      <p:sp>
        <p:nvSpPr>
          <p:cNvPr id="95" name="Google Shape;95;p15"/>
          <p:cNvSpPr/>
          <p:nvPr/>
        </p:nvSpPr>
        <p:spPr>
          <a:xfrm>
            <a:off x="7563475" y="1578750"/>
            <a:ext cx="860975" cy="2180375"/>
          </a:xfrm>
          <a:custGeom>
            <a:rect b="b" l="l" r="r" t="t"/>
            <a:pathLst>
              <a:path extrusionOk="0" h="87215" w="34439">
                <a:moveTo>
                  <a:pt x="0" y="0"/>
                </a:moveTo>
                <a:lnTo>
                  <a:pt x="0" y="87215"/>
                </a:lnTo>
                <a:lnTo>
                  <a:pt x="34439" y="87215"/>
                </a:lnTo>
                <a:lnTo>
                  <a:pt x="34439" y="0"/>
                </a:lnTo>
              </a:path>
            </a:pathLst>
          </a:custGeom>
          <a:noFill/>
          <a:ln cap="flat" cmpd="sng" w="28575">
            <a:solidFill>
              <a:schemeClr val="dk2"/>
            </a:solidFill>
            <a:prstDash val="solid"/>
            <a:round/>
            <a:headEnd len="med" w="med" type="none"/>
            <a:tailEnd len="med" w="med" type="none"/>
          </a:ln>
        </p:spPr>
      </p:sp>
      <p:sp>
        <p:nvSpPr>
          <p:cNvPr id="96" name="Google Shape;96;p15"/>
          <p:cNvSpPr/>
          <p:nvPr/>
        </p:nvSpPr>
        <p:spPr>
          <a:xfrm>
            <a:off x="7641763" y="3188875"/>
            <a:ext cx="704400" cy="4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latin typeface="Calibri"/>
                <a:ea typeface="Calibri"/>
                <a:cs typeface="Calibri"/>
                <a:sym typeface="Calibri"/>
              </a:rPr>
              <a:t>h</a:t>
            </a:r>
            <a:r>
              <a:rPr lang="it">
                <a:latin typeface="Calibri"/>
                <a:ea typeface="Calibri"/>
                <a:cs typeface="Calibri"/>
                <a:sym typeface="Calibri"/>
              </a:rPr>
              <a:t>ome</a:t>
            </a:r>
            <a:endParaRPr>
              <a:latin typeface="Calibri"/>
              <a:ea typeface="Calibri"/>
              <a:cs typeface="Calibri"/>
              <a:sym typeface="Calibri"/>
            </a:endParaRPr>
          </a:p>
        </p:txBody>
      </p:sp>
      <p:sp>
        <p:nvSpPr>
          <p:cNvPr id="97" name="Google Shape;97;p15"/>
          <p:cNvSpPr/>
          <p:nvPr/>
        </p:nvSpPr>
        <p:spPr>
          <a:xfrm>
            <a:off x="7641763" y="2614675"/>
            <a:ext cx="704400" cy="492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54000" spcFirstLastPara="1" rIns="54000" wrap="square" tIns="91425">
            <a:noAutofit/>
          </a:bodyPr>
          <a:lstStyle/>
          <a:p>
            <a:pPr indent="0" lvl="0" marL="0" rtl="0" algn="ctr">
              <a:spcBef>
                <a:spcPts val="0"/>
              </a:spcBef>
              <a:spcAft>
                <a:spcPts val="0"/>
              </a:spcAft>
              <a:buNone/>
            </a:pPr>
            <a:r>
              <a:rPr lang="it">
                <a:latin typeface="Calibri"/>
                <a:ea typeface="Calibri"/>
                <a:cs typeface="Calibri"/>
                <a:sym typeface="Calibri"/>
              </a:rPr>
              <a:t>add</a:t>
            </a:r>
            <a:br>
              <a:rPr lang="it">
                <a:latin typeface="Calibri"/>
                <a:ea typeface="Calibri"/>
                <a:cs typeface="Calibri"/>
                <a:sym typeface="Calibri"/>
              </a:rPr>
            </a:br>
            <a:r>
              <a:rPr lang="it">
                <a:latin typeface="Calibri"/>
                <a:ea typeface="Calibri"/>
                <a:cs typeface="Calibri"/>
                <a:sym typeface="Calibri"/>
              </a:rPr>
              <a:t>Project</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Managing navigation state</a:t>
            </a:r>
            <a:endParaRPr/>
          </a:p>
        </p:txBody>
      </p:sp>
      <p:sp>
        <p:nvSpPr>
          <p:cNvPr id="103" name="Google Shape;103;p16"/>
          <p:cNvSpPr txBox="1"/>
          <p:nvPr>
            <p:ph idx="1" type="body"/>
          </p:nvPr>
        </p:nvSpPr>
        <p:spPr>
          <a:xfrm>
            <a:off x="311150" y="1244204"/>
            <a:ext cx="8521800" cy="3393300"/>
          </a:xfrm>
          <a:prstGeom prst="rect">
            <a:avLst/>
          </a:prstGeom>
        </p:spPr>
        <p:txBody>
          <a:bodyPr anchorCtr="0" anchor="t" bIns="45700" lIns="91425" spcFirstLastPara="1" rIns="91425" wrap="square" tIns="45700">
            <a:normAutofit/>
          </a:bodyPr>
          <a:lstStyle/>
          <a:p>
            <a:pPr indent="-355600" lvl="0" marL="457200" rtl="0" algn="l">
              <a:spcBef>
                <a:spcPts val="600"/>
              </a:spcBef>
              <a:spcAft>
                <a:spcPts val="0"/>
              </a:spcAft>
              <a:buSzPts val="2000"/>
              <a:buChar char="•"/>
            </a:pPr>
            <a:r>
              <a:rPr lang="it"/>
              <a:t>Each</a:t>
            </a:r>
            <a:r>
              <a:rPr lang="it"/>
              <a:t> entry in the stack may contain a </a:t>
            </a:r>
            <a:r>
              <a:rPr b="1" lang="it">
                <a:solidFill>
                  <a:srgbClr val="0B5394"/>
                </a:solidFill>
                <a:latin typeface="Consolas"/>
                <a:ea typeface="Consolas"/>
                <a:cs typeface="Consolas"/>
                <a:sym typeface="Consolas"/>
              </a:rPr>
              <a:t>SavedStateHandle</a:t>
            </a:r>
            <a:r>
              <a:rPr lang="it">
                <a:solidFill>
                  <a:schemeClr val="dk1"/>
                </a:solidFill>
              </a:rPr>
              <a:t> instance</a:t>
            </a:r>
            <a:endParaRPr b="1">
              <a:solidFill>
                <a:srgbClr val="0B5394"/>
              </a:solidFill>
              <a:latin typeface="Consolas"/>
              <a:ea typeface="Consolas"/>
              <a:cs typeface="Consolas"/>
              <a:sym typeface="Consolas"/>
            </a:endParaRPr>
          </a:p>
          <a:p>
            <a:pPr indent="-330200" lvl="1" marL="914400" rtl="0" algn="l">
              <a:spcBef>
                <a:spcPts val="0"/>
              </a:spcBef>
              <a:spcAft>
                <a:spcPts val="0"/>
              </a:spcAft>
              <a:buSzPts val="1600"/>
              <a:buChar char="○"/>
            </a:pPr>
            <a:r>
              <a:rPr lang="it"/>
              <a:t>It consists of a key-value map where custom data may be written and retrieved </a:t>
            </a:r>
            <a:endParaRPr/>
          </a:p>
          <a:p>
            <a:pPr indent="-330200" lvl="1" marL="914400" rtl="0" algn="l">
              <a:spcBef>
                <a:spcPts val="0"/>
              </a:spcBef>
              <a:spcAft>
                <a:spcPts val="0"/>
              </a:spcAft>
              <a:buSzPts val="1600"/>
              <a:buChar char="○"/>
            </a:pPr>
            <a:r>
              <a:rPr lang="it"/>
              <a:t>These values will persist after the process is killed by the system and remain available via the same object until the entry is specifically removed from the stack</a:t>
            </a:r>
            <a:endParaRPr/>
          </a:p>
          <a:p>
            <a:pPr indent="-355600" lvl="0" marL="457200" rtl="0" algn="l">
              <a:spcBef>
                <a:spcPts val="0"/>
              </a:spcBef>
              <a:spcAft>
                <a:spcPts val="0"/>
              </a:spcAft>
              <a:buSzPts val="2000"/>
              <a:buChar char="•"/>
            </a:pPr>
            <a:r>
              <a:rPr lang="it"/>
              <a:t>This feature may be used to return a result to a previous destination</a:t>
            </a:r>
            <a:endParaRPr/>
          </a:p>
          <a:p>
            <a:pPr indent="-330200" lvl="1" marL="914400" rtl="0" algn="l">
              <a:spcBef>
                <a:spcPts val="0"/>
              </a:spcBef>
              <a:spcAft>
                <a:spcPts val="0"/>
              </a:spcAft>
              <a:buSzPts val="1600"/>
              <a:buChar char="○"/>
            </a:pPr>
            <a:r>
              <a:rPr lang="it"/>
              <a:t>When a component (like an input form or a dialog asking for feedback) collects information to be returned to the previous screen, such piece of information can be stored in the navigation state </a:t>
            </a:r>
            <a:endParaRPr/>
          </a:p>
          <a:p>
            <a:pPr indent="0" lvl="0" marL="0" rtl="0" algn="l">
              <a:spcBef>
                <a:spcPts val="600"/>
              </a:spcBef>
              <a:spcAft>
                <a:spcPts val="0"/>
              </a:spcAft>
              <a:buNone/>
            </a:pPr>
            <a:r>
              <a:t/>
            </a:r>
            <a:endParaRPr/>
          </a:p>
        </p:txBody>
      </p:sp>
      <p:sp>
        <p:nvSpPr>
          <p:cNvPr id="104" name="Google Shape;104;p1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05" name="Google Shape;105;p16"/>
          <p:cNvSpPr txBox="1"/>
          <p:nvPr/>
        </p:nvSpPr>
        <p:spPr>
          <a:xfrm>
            <a:off x="923625" y="3731900"/>
            <a:ext cx="7607400" cy="981600"/>
          </a:xfrm>
          <a:prstGeom prst="rect">
            <a:avLst/>
          </a:prstGeom>
          <a:solidFill>
            <a:srgbClr val="FFFDCF"/>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it" sz="1200">
                <a:latin typeface="Consolas"/>
                <a:ea typeface="Consolas"/>
                <a:cs typeface="Consolas"/>
                <a:sym typeface="Consolas"/>
              </a:rPr>
              <a:t>Button(onClick = { </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navController.previousBackStackEntry?.saveStateHandle?.set("someKey",someValue)</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navController.popBackStack()</a:t>
            </a:r>
            <a:endParaRPr sz="1200">
              <a:latin typeface="Consolas"/>
              <a:ea typeface="Consolas"/>
              <a:cs typeface="Consolas"/>
              <a:sym typeface="Consolas"/>
            </a:endParaRPr>
          </a:p>
          <a:p>
            <a:pPr indent="0" lvl="0" marL="0" rtl="0" algn="l">
              <a:spcBef>
                <a:spcPts val="0"/>
              </a:spcBef>
              <a:spcAft>
                <a:spcPts val="0"/>
              </a:spcAft>
              <a:buNone/>
            </a:pPr>
            <a:r>
              <a:rPr lang="it" sz="1200">
                <a:latin typeface="Consolas"/>
                <a:ea typeface="Consolas"/>
                <a:cs typeface="Consolas"/>
                <a:sym typeface="Consolas"/>
              </a:rPr>
              <a:t>}) { Text("Ok") }</a:t>
            </a:r>
            <a:endParaRPr sz="1200">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Triggering the navigation</a:t>
            </a:r>
            <a:endParaRPr/>
          </a:p>
        </p:txBody>
      </p:sp>
      <p:sp>
        <p:nvSpPr>
          <p:cNvPr id="111" name="Google Shape;111;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2" name="Google Shape;112;p17"/>
          <p:cNvSpPr txBox="1"/>
          <p:nvPr>
            <p:ph idx="1" type="body"/>
          </p:nvPr>
        </p:nvSpPr>
        <p:spPr>
          <a:xfrm>
            <a:off x="311150" y="1244204"/>
            <a:ext cx="8521800" cy="3393300"/>
          </a:xfrm>
          <a:prstGeom prst="rect">
            <a:avLst/>
          </a:prstGeom>
        </p:spPr>
        <p:txBody>
          <a:bodyPr anchorCtr="0" anchor="t" bIns="45700" lIns="91425" spcFirstLastPara="1" rIns="91425" wrap="square" tIns="45700">
            <a:normAutofit/>
          </a:bodyPr>
          <a:lstStyle/>
          <a:p>
            <a:pPr indent="-355600" lvl="0" marL="457200" marR="0" rtl="0" algn="l">
              <a:lnSpc>
                <a:spcPct val="115000"/>
              </a:lnSpc>
              <a:spcBef>
                <a:spcPts val="600"/>
              </a:spcBef>
              <a:spcAft>
                <a:spcPts val="0"/>
              </a:spcAft>
              <a:buSzPts val="2000"/>
              <a:buChar char="•"/>
            </a:pPr>
            <a:r>
              <a:rPr lang="it"/>
              <a:t>The </a:t>
            </a:r>
            <a:r>
              <a:rPr b="1" lang="it">
                <a:solidFill>
                  <a:srgbClr val="0B5394"/>
                </a:solidFill>
                <a:latin typeface="Consolas"/>
                <a:ea typeface="Consolas"/>
                <a:cs typeface="Consolas"/>
                <a:sym typeface="Consolas"/>
              </a:rPr>
              <a:t>NavHost</a:t>
            </a:r>
            <a:r>
              <a:rPr lang="it"/>
              <a:t>/</a:t>
            </a:r>
            <a:r>
              <a:rPr b="1" lang="it">
                <a:solidFill>
                  <a:srgbClr val="0B5394"/>
                </a:solidFill>
                <a:latin typeface="Consolas"/>
                <a:ea typeface="Consolas"/>
                <a:cs typeface="Consolas"/>
                <a:sym typeface="Consolas"/>
              </a:rPr>
              <a:t>NavController</a:t>
            </a:r>
            <a:r>
              <a:rPr lang="it"/>
              <a:t> pair offers a convenient solution for displaying the current screen and handling navigation events, however these </a:t>
            </a:r>
            <a:r>
              <a:rPr lang="it"/>
              <a:t>events</a:t>
            </a:r>
            <a:r>
              <a:rPr lang="it"/>
              <a:t> need to originate somewhere in the user interface</a:t>
            </a:r>
            <a:endParaRPr/>
          </a:p>
          <a:p>
            <a:pPr indent="-330200" lvl="1" marL="914400" marR="0" rtl="0" algn="l">
              <a:lnSpc>
                <a:spcPct val="115000"/>
              </a:lnSpc>
              <a:spcBef>
                <a:spcPts val="0"/>
              </a:spcBef>
              <a:spcAft>
                <a:spcPts val="0"/>
              </a:spcAft>
              <a:buSzPts val="1600"/>
              <a:buChar char="○"/>
            </a:pPr>
            <a:r>
              <a:rPr lang="it"/>
              <a:t>Compose offers a </a:t>
            </a:r>
            <a:r>
              <a:rPr lang="it">
                <a:solidFill>
                  <a:schemeClr val="dk1"/>
                </a:solidFill>
              </a:rPr>
              <a:t>convenient </a:t>
            </a:r>
            <a:r>
              <a:rPr lang="it"/>
              <a:t>set of composables aimed at presenting potential destinations and trigger navigation events</a:t>
            </a:r>
            <a:endParaRPr/>
          </a:p>
          <a:p>
            <a:pPr indent="-355600" lvl="0" marL="457200" marR="0" rtl="0" algn="l">
              <a:lnSpc>
                <a:spcPct val="115000"/>
              </a:lnSpc>
              <a:spcBef>
                <a:spcPts val="0"/>
              </a:spcBef>
              <a:spcAft>
                <a:spcPts val="0"/>
              </a:spcAft>
              <a:buSzPts val="2000"/>
              <a:buChar char="•"/>
            </a:pPr>
            <a:r>
              <a:rPr lang="it"/>
              <a:t>Depending on the requirements of the application, some screen should be reachable from any other page or just be accessible under some </a:t>
            </a:r>
            <a:r>
              <a:rPr lang="it"/>
              <a:t>constraint</a:t>
            </a:r>
            <a:endParaRPr/>
          </a:p>
          <a:p>
            <a:pPr indent="-330200" lvl="1" marL="914400" marR="0" rtl="0" algn="l">
              <a:lnSpc>
                <a:spcPct val="115000"/>
              </a:lnSpc>
              <a:spcBef>
                <a:spcPts val="0"/>
              </a:spcBef>
              <a:spcAft>
                <a:spcPts val="0"/>
              </a:spcAft>
              <a:buSzPts val="1600"/>
              <a:buChar char="○"/>
            </a:pPr>
            <a:r>
              <a:rPr lang="it"/>
              <a:t>The former can be hosted on the top or the bottom of the screen, via a </a:t>
            </a:r>
            <a:r>
              <a:rPr b="1" lang="it">
                <a:solidFill>
                  <a:srgbClr val="0B5394"/>
                </a:solidFill>
                <a:latin typeface="Consolas"/>
                <a:ea typeface="Consolas"/>
                <a:cs typeface="Consolas"/>
                <a:sym typeface="Consolas"/>
              </a:rPr>
              <a:t>TopAppBar</a:t>
            </a:r>
            <a:r>
              <a:rPr lang="it"/>
              <a:t> or a </a:t>
            </a:r>
            <a:r>
              <a:rPr b="1" lang="it">
                <a:solidFill>
                  <a:srgbClr val="0B5394"/>
                </a:solidFill>
                <a:latin typeface="Consolas"/>
                <a:ea typeface="Consolas"/>
                <a:cs typeface="Consolas"/>
                <a:sym typeface="Consolas"/>
              </a:rPr>
              <a:t>BottomAppBar</a:t>
            </a:r>
            <a:r>
              <a:rPr lang="it"/>
              <a:t> </a:t>
            </a:r>
            <a:endParaRPr/>
          </a:p>
          <a:p>
            <a:pPr indent="-330200" lvl="1" marL="914400" marR="0" rtl="0" algn="l">
              <a:lnSpc>
                <a:spcPct val="115000"/>
              </a:lnSpc>
              <a:spcBef>
                <a:spcPts val="0"/>
              </a:spcBef>
              <a:spcAft>
                <a:spcPts val="0"/>
              </a:spcAft>
              <a:buSzPts val="1600"/>
              <a:buChar char="○"/>
            </a:pPr>
            <a:r>
              <a:rPr lang="it"/>
              <a:t>The latter may be listed in a </a:t>
            </a:r>
            <a:r>
              <a:rPr b="1" lang="it">
                <a:solidFill>
                  <a:srgbClr val="0B5394"/>
                </a:solidFill>
                <a:latin typeface="Consolas"/>
                <a:ea typeface="Consolas"/>
                <a:cs typeface="Consolas"/>
                <a:sym typeface="Consolas"/>
              </a:rPr>
              <a:t>NavigationDrawer</a:t>
            </a:r>
            <a:r>
              <a:rPr lang="it"/>
              <a:t> or in a set of </a:t>
            </a:r>
            <a:r>
              <a:rPr b="1" lang="it">
                <a:solidFill>
                  <a:srgbClr val="0B5394"/>
                </a:solidFill>
                <a:latin typeface="Consolas"/>
                <a:ea typeface="Consolas"/>
                <a:cs typeface="Consolas"/>
                <a:sym typeface="Consolas"/>
              </a:rPr>
              <a:t>Tab</a:t>
            </a:r>
            <a:r>
              <a:rPr lang="it"/>
              <a: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The Scaffold composable</a:t>
            </a:r>
            <a:endParaRPr/>
          </a:p>
        </p:txBody>
      </p:sp>
      <p:sp>
        <p:nvSpPr>
          <p:cNvPr id="118" name="Google Shape;118;p18"/>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9" name="Google Shape;119;p18"/>
          <p:cNvSpPr txBox="1"/>
          <p:nvPr>
            <p:ph idx="1" type="body"/>
          </p:nvPr>
        </p:nvSpPr>
        <p:spPr>
          <a:xfrm>
            <a:off x="313200" y="1152475"/>
            <a:ext cx="3999900" cy="34164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it"/>
              <a:t>Component that implements the basic material design visual layout structure, managing several sub-components</a:t>
            </a:r>
            <a:endParaRPr/>
          </a:p>
          <a:p>
            <a:pPr indent="-323850" lvl="1" marL="914400" rtl="0" algn="l">
              <a:lnSpc>
                <a:spcPct val="100000"/>
              </a:lnSpc>
              <a:spcBef>
                <a:spcPts val="600"/>
              </a:spcBef>
              <a:spcAft>
                <a:spcPts val="0"/>
              </a:spcAft>
              <a:buSzPts val="1500"/>
              <a:buChar char="○"/>
            </a:pPr>
            <a:r>
              <a:rPr lang="it"/>
              <a:t>Top App Bar (a.k.a. Toolbar)</a:t>
            </a:r>
            <a:endParaRPr/>
          </a:p>
          <a:p>
            <a:pPr indent="-323850" lvl="1" marL="914400" rtl="0" algn="l">
              <a:lnSpc>
                <a:spcPct val="100000"/>
              </a:lnSpc>
              <a:spcBef>
                <a:spcPts val="600"/>
              </a:spcBef>
              <a:spcAft>
                <a:spcPts val="0"/>
              </a:spcAft>
              <a:buSzPts val="1500"/>
              <a:buChar char="○"/>
            </a:pPr>
            <a:r>
              <a:rPr lang="it"/>
              <a:t>Floating Action Button</a:t>
            </a:r>
            <a:endParaRPr/>
          </a:p>
          <a:p>
            <a:pPr indent="-323850" lvl="1" marL="914400" rtl="0" algn="l">
              <a:lnSpc>
                <a:spcPct val="100000"/>
              </a:lnSpc>
              <a:spcBef>
                <a:spcPts val="600"/>
              </a:spcBef>
              <a:spcAft>
                <a:spcPts val="0"/>
              </a:spcAft>
              <a:buSzPts val="1500"/>
              <a:buChar char="○"/>
            </a:pPr>
            <a:r>
              <a:rPr lang="it"/>
              <a:t>Bottom Navigation</a:t>
            </a:r>
            <a:endParaRPr/>
          </a:p>
          <a:p>
            <a:pPr indent="-381000" lvl="0" marL="457200" rtl="0" algn="l">
              <a:lnSpc>
                <a:spcPct val="100000"/>
              </a:lnSpc>
              <a:spcBef>
                <a:spcPts val="0"/>
              </a:spcBef>
              <a:spcAft>
                <a:spcPts val="0"/>
              </a:spcAft>
              <a:buSzPts val="2400"/>
              <a:buChar char="•"/>
            </a:pPr>
            <a:r>
              <a:rPr lang="it"/>
              <a:t>Each of these sub-components is expressed via a composable lambda</a:t>
            </a:r>
            <a:endParaRPr/>
          </a:p>
        </p:txBody>
      </p:sp>
      <p:sp>
        <p:nvSpPr>
          <p:cNvPr id="120" name="Google Shape;120;p18"/>
          <p:cNvSpPr txBox="1"/>
          <p:nvPr/>
        </p:nvSpPr>
        <p:spPr>
          <a:xfrm>
            <a:off x="4607225" y="1366450"/>
            <a:ext cx="3865200" cy="21240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it" sz="1200" u="none" cap="none" strike="noStrike">
                <a:solidFill>
                  <a:srgbClr val="000000"/>
                </a:solidFill>
                <a:latin typeface="Consolas"/>
                <a:ea typeface="Consolas"/>
                <a:cs typeface="Consolas"/>
                <a:sym typeface="Consolas"/>
              </a:rPr>
              <a:t>Scaffold(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t>
            </a:r>
            <a:r>
              <a:rPr b="0" i="0" lang="it" sz="1200" u="none" cap="none" strike="noStrike">
                <a:solidFill>
                  <a:srgbClr val="000000"/>
                </a:solidFill>
                <a:latin typeface="Consolas"/>
                <a:ea typeface="Consolas"/>
                <a:cs typeface="Consolas"/>
                <a:sym typeface="Consolas"/>
              </a:rPr>
              <a:t>topBar = { MyTopBar() }, </a:t>
            </a:r>
            <a:br>
              <a:rPr b="0" i="0" lang="it" sz="1200" u="none" cap="none" strike="noStrike">
                <a:solidFill>
                  <a:srgbClr val="000000"/>
                </a:solidFill>
                <a:latin typeface="Consolas"/>
                <a:ea typeface="Consolas"/>
                <a:cs typeface="Consolas"/>
                <a:sym typeface="Consolas"/>
              </a:rPr>
            </a:br>
            <a:r>
              <a:rPr b="0" i="0" lang="it" sz="1200" u="none" cap="none" strike="noStrike">
                <a:solidFill>
                  <a:srgbClr val="000000"/>
                </a:solidFill>
                <a:latin typeface="Consolas"/>
                <a:ea typeface="Consolas"/>
                <a:cs typeface="Consolas"/>
                <a:sym typeface="Consolas"/>
              </a:rPr>
              <a:t>    bottomBar = { MyBottomBar() },</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snackBarHost = { MySnackBarHost() }</a:t>
            </a:r>
            <a:r>
              <a:rPr b="0" i="0" lang="it" sz="1200" u="none" cap="none" strike="noStrike">
                <a:solidFill>
                  <a:srgbClr val="000000"/>
                </a:solidFill>
                <a:latin typeface="Consolas"/>
                <a:ea typeface="Consolas"/>
                <a:cs typeface="Consolas"/>
                <a:sym typeface="Consolas"/>
              </a:rPr>
              <a:t> </a:t>
            </a:r>
            <a:br>
              <a:rPr b="0" i="0" lang="it" sz="1200" u="none" cap="none" strike="noStrike">
                <a:solidFill>
                  <a:srgbClr val="000000"/>
                </a:solidFill>
                <a:latin typeface="Consolas"/>
                <a:ea typeface="Consolas"/>
                <a:cs typeface="Consolas"/>
                <a:sym typeface="Consolas"/>
              </a:rPr>
            </a:br>
            <a:r>
              <a:rPr b="0" i="0" lang="it" sz="1200" u="none" cap="none" strike="noStrike">
                <a:solidFill>
                  <a:srgbClr val="000000"/>
                </a:solidFill>
                <a:latin typeface="Consolas"/>
                <a:ea typeface="Consolas"/>
                <a:cs typeface="Consolas"/>
                <a:sym typeface="Consolas"/>
              </a:rPr>
              <a:t>    floatingActionButton = { MyFAB() } </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None/>
            </a:pPr>
            <a:r>
              <a:rPr b="0" i="0" lang="it" sz="1200" u="none" cap="none" strike="noStrike">
                <a:solidFill>
                  <a:srgbClr val="000000"/>
                </a:solidFill>
                <a:latin typeface="Consolas"/>
                <a:ea typeface="Consolas"/>
                <a:cs typeface="Consolas"/>
                <a:sym typeface="Consolas"/>
              </a:rPr>
              <a:t>) { </a:t>
            </a:r>
            <a:endParaRPr b="0" i="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paddingValues: PaddinValues -&gt;</a:t>
            </a:r>
            <a:endParaRPr sz="1200">
              <a:latin typeface="Consolas"/>
              <a:ea typeface="Consolas"/>
              <a:cs typeface="Consolas"/>
              <a:sym typeface="Consolas"/>
            </a:endParaRPr>
          </a:p>
          <a:p>
            <a:pPr indent="0" lvl="0" marL="0" marR="0" rtl="0" algn="l">
              <a:lnSpc>
                <a:spcPct val="100000"/>
              </a:lnSpc>
              <a:spcBef>
                <a:spcPts val="0"/>
              </a:spcBef>
              <a:spcAft>
                <a:spcPts val="0"/>
              </a:spcAft>
              <a:buNone/>
            </a:pPr>
            <a:r>
              <a:t/>
            </a:r>
            <a:endParaRPr sz="1200">
              <a:latin typeface="Consolas"/>
              <a:ea typeface="Consolas"/>
              <a:cs typeface="Consolas"/>
              <a:sym typeface="Consolas"/>
            </a:endParaRPr>
          </a:p>
          <a:p>
            <a:pPr indent="0" lvl="0" marL="0" marR="0" rtl="0" algn="l">
              <a:lnSpc>
                <a:spcPct val="100000"/>
              </a:lnSpc>
              <a:spcBef>
                <a:spcPts val="0"/>
              </a:spcBef>
              <a:spcAft>
                <a:spcPts val="0"/>
              </a:spcAft>
              <a:buNone/>
            </a:pPr>
            <a:r>
              <a:rPr lang="it" sz="1200">
                <a:latin typeface="Consolas"/>
                <a:ea typeface="Consolas"/>
                <a:cs typeface="Consolas"/>
                <a:sym typeface="Consolas"/>
              </a:rPr>
              <a:t>   </a:t>
            </a:r>
            <a:r>
              <a:rPr b="0" i="0" lang="it" sz="1200" u="none" cap="none" strike="noStrike">
                <a:solidFill>
                  <a:srgbClr val="000000"/>
                </a:solidFill>
                <a:latin typeface="Consolas"/>
                <a:ea typeface="Consolas"/>
                <a:cs typeface="Consolas"/>
                <a:sym typeface="Consolas"/>
              </a:rPr>
              <a:t>//Here goes the main page content</a:t>
            </a:r>
            <a:r>
              <a:rPr lang="it" sz="1200"/>
              <a:t> </a:t>
            </a:r>
            <a:endParaRPr sz="1200"/>
          </a:p>
          <a:p>
            <a:pPr indent="0" lvl="0" marL="0" marR="0" rtl="0" algn="l">
              <a:lnSpc>
                <a:spcPct val="100000"/>
              </a:lnSpc>
              <a:spcBef>
                <a:spcPts val="0"/>
              </a:spcBef>
              <a:spcAft>
                <a:spcPts val="0"/>
              </a:spcAft>
              <a:buNone/>
            </a:pPr>
            <a:r>
              <a:t/>
            </a:r>
            <a:endParaRPr sz="1200"/>
          </a:p>
          <a:p>
            <a:pPr indent="0" lvl="0" marL="0" marR="0" rtl="0" algn="l">
              <a:lnSpc>
                <a:spcPct val="100000"/>
              </a:lnSpc>
              <a:spcBef>
                <a:spcPts val="0"/>
              </a:spcBef>
              <a:spcAft>
                <a:spcPts val="0"/>
              </a:spcAft>
              <a:buNone/>
            </a:pPr>
            <a:r>
              <a:rPr lang="it" sz="1200"/>
              <a:t> </a:t>
            </a:r>
            <a:r>
              <a:rPr b="0" i="0" lang="it" sz="1200" u="none" cap="none" strike="noStrike">
                <a:solidFill>
                  <a:srgbClr val="000000"/>
                </a:solidFill>
                <a:latin typeface="Consolas"/>
                <a:ea typeface="Consolas"/>
                <a:cs typeface="Consolas"/>
                <a:sym typeface="Consolas"/>
              </a:rPr>
              <a:t>}</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9"/>
          <p:cNvPicPr preferRelativeResize="0"/>
          <p:nvPr/>
        </p:nvPicPr>
        <p:blipFill>
          <a:blip r:embed="rId3">
            <a:alphaModFix/>
          </a:blip>
          <a:stretch>
            <a:fillRect/>
          </a:stretch>
        </p:blipFill>
        <p:spPr>
          <a:xfrm>
            <a:off x="5914175" y="846681"/>
            <a:ext cx="2000325" cy="3925418"/>
          </a:xfrm>
          <a:prstGeom prst="rect">
            <a:avLst/>
          </a:prstGeom>
          <a:noFill/>
          <a:ln>
            <a:noFill/>
          </a:ln>
        </p:spPr>
      </p:pic>
      <p:sp>
        <p:nvSpPr>
          <p:cNvPr id="126" name="Google Shape;126;p1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Scaffold</a:t>
            </a:r>
            <a:endParaRPr/>
          </a:p>
        </p:txBody>
      </p:sp>
      <p:sp>
        <p:nvSpPr>
          <p:cNvPr id="127" name="Google Shape;127;p19"/>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
        <p:nvSpPr>
          <p:cNvPr id="128" name="Google Shape;128;p19"/>
          <p:cNvSpPr txBox="1"/>
          <p:nvPr/>
        </p:nvSpPr>
        <p:spPr>
          <a:xfrm>
            <a:off x="564700" y="1046094"/>
            <a:ext cx="5322300" cy="34356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@Composable</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fun Material3Demo()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Scaffold(</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topBar = { MyTopBar()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floatingActionButtonPosition = FabPosition.End,</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floatingActionButton =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FloatingActionButton(onClick = { /*TODO*/ })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Icon(Icons.Outlined.Create, "Create")</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bottomBar = { MyBottomBar()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content = { paddingValues -&gt;</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MyContent(paddingValues = paddingValues)</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indent="0" lvl="0" marL="0" rtl="0" algn="l">
              <a:lnSpc>
                <a:spcPct val="114000"/>
              </a:lnSpc>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129" name="Google Shape;129;p19"/>
          <p:cNvSpPr txBox="1"/>
          <p:nvPr/>
        </p:nvSpPr>
        <p:spPr>
          <a:xfrm>
            <a:off x="7914500" y="1411200"/>
            <a:ext cx="883500" cy="338700"/>
          </a:xfrm>
          <a:prstGeom prst="rect">
            <a:avLst/>
          </a:prstGeom>
          <a:noFill/>
          <a:ln cap="flat" cmpd="sng" w="190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rtl="0" algn="ctr">
              <a:spcBef>
                <a:spcPts val="0"/>
              </a:spcBef>
              <a:spcAft>
                <a:spcPts val="0"/>
              </a:spcAft>
              <a:buNone/>
            </a:pPr>
            <a:r>
              <a:rPr lang="it" sz="1000">
                <a:latin typeface="Calibri"/>
                <a:ea typeface="Calibri"/>
                <a:cs typeface="Calibri"/>
                <a:sym typeface="Calibri"/>
              </a:rPr>
              <a:t>topBar</a:t>
            </a:r>
            <a:endParaRPr sz="1000">
              <a:latin typeface="Calibri"/>
              <a:ea typeface="Calibri"/>
              <a:cs typeface="Calibri"/>
              <a:sym typeface="Calibri"/>
            </a:endParaRPr>
          </a:p>
        </p:txBody>
      </p:sp>
      <p:sp>
        <p:nvSpPr>
          <p:cNvPr id="130" name="Google Shape;130;p19"/>
          <p:cNvSpPr txBox="1"/>
          <p:nvPr/>
        </p:nvSpPr>
        <p:spPr>
          <a:xfrm>
            <a:off x="7914500" y="2594550"/>
            <a:ext cx="883500" cy="338700"/>
          </a:xfrm>
          <a:prstGeom prst="rect">
            <a:avLst/>
          </a:prstGeom>
          <a:noFill/>
          <a:ln cap="flat" cmpd="sng" w="190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rtl="0" algn="ctr">
              <a:spcBef>
                <a:spcPts val="0"/>
              </a:spcBef>
              <a:spcAft>
                <a:spcPts val="0"/>
              </a:spcAft>
              <a:buNone/>
            </a:pPr>
            <a:r>
              <a:rPr lang="it" sz="1000">
                <a:latin typeface="Calibri"/>
                <a:ea typeface="Calibri"/>
                <a:cs typeface="Calibri"/>
                <a:sym typeface="Calibri"/>
              </a:rPr>
              <a:t>content</a:t>
            </a:r>
            <a:endParaRPr sz="1000">
              <a:latin typeface="Calibri"/>
              <a:ea typeface="Calibri"/>
              <a:cs typeface="Calibri"/>
              <a:sym typeface="Calibri"/>
            </a:endParaRPr>
          </a:p>
        </p:txBody>
      </p:sp>
      <p:sp>
        <p:nvSpPr>
          <p:cNvPr id="131" name="Google Shape;131;p19"/>
          <p:cNvSpPr txBox="1"/>
          <p:nvPr/>
        </p:nvSpPr>
        <p:spPr>
          <a:xfrm>
            <a:off x="7914500" y="3907875"/>
            <a:ext cx="883500" cy="323100"/>
          </a:xfrm>
          <a:prstGeom prst="rect">
            <a:avLst/>
          </a:prstGeom>
          <a:noFill/>
          <a:ln cap="flat" cmpd="sng" w="190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rtl="0" algn="ctr">
              <a:spcBef>
                <a:spcPts val="0"/>
              </a:spcBef>
              <a:spcAft>
                <a:spcPts val="0"/>
              </a:spcAft>
              <a:buNone/>
            </a:pPr>
            <a:r>
              <a:rPr lang="it" sz="900">
                <a:latin typeface="Calibri"/>
                <a:ea typeface="Calibri"/>
                <a:cs typeface="Calibri"/>
                <a:sym typeface="Calibri"/>
              </a:rPr>
              <a:t>bottomBar</a:t>
            </a:r>
            <a:endParaRPr sz="900">
              <a:latin typeface="Calibri"/>
              <a:ea typeface="Calibri"/>
              <a:cs typeface="Calibri"/>
              <a:sym typeface="Calibri"/>
            </a:endParaRPr>
          </a:p>
        </p:txBody>
      </p:sp>
      <p:cxnSp>
        <p:nvCxnSpPr>
          <p:cNvPr id="132" name="Google Shape;132;p19"/>
          <p:cNvCxnSpPr>
            <a:stCxn id="131" idx="1"/>
          </p:cNvCxnSpPr>
          <p:nvPr/>
        </p:nvCxnSpPr>
        <p:spPr>
          <a:xfrm rot="10800000">
            <a:off x="7659500" y="4068825"/>
            <a:ext cx="255000" cy="600"/>
          </a:xfrm>
          <a:prstGeom prst="straightConnector1">
            <a:avLst/>
          </a:prstGeom>
          <a:noFill/>
          <a:ln cap="flat" cmpd="sng" w="19050">
            <a:solidFill>
              <a:srgbClr val="0B5394"/>
            </a:solidFill>
            <a:prstDash val="solid"/>
            <a:round/>
            <a:headEnd len="med" w="med" type="none"/>
            <a:tailEnd len="med" w="med" type="triangle"/>
          </a:ln>
        </p:spPr>
      </p:cxnSp>
      <p:cxnSp>
        <p:nvCxnSpPr>
          <p:cNvPr id="133" name="Google Shape;133;p19"/>
          <p:cNvCxnSpPr>
            <a:stCxn id="130" idx="1"/>
          </p:cNvCxnSpPr>
          <p:nvPr/>
        </p:nvCxnSpPr>
        <p:spPr>
          <a:xfrm rot="10800000">
            <a:off x="7684400" y="2763300"/>
            <a:ext cx="230100" cy="600"/>
          </a:xfrm>
          <a:prstGeom prst="straightConnector1">
            <a:avLst/>
          </a:prstGeom>
          <a:noFill/>
          <a:ln cap="flat" cmpd="sng" w="19050">
            <a:solidFill>
              <a:srgbClr val="0B5394"/>
            </a:solidFill>
            <a:prstDash val="solid"/>
            <a:round/>
            <a:headEnd len="med" w="med" type="none"/>
            <a:tailEnd len="med" w="med" type="triangle"/>
          </a:ln>
        </p:spPr>
      </p:cxnSp>
      <p:cxnSp>
        <p:nvCxnSpPr>
          <p:cNvPr id="134" name="Google Shape;134;p19"/>
          <p:cNvCxnSpPr>
            <a:stCxn id="129" idx="1"/>
          </p:cNvCxnSpPr>
          <p:nvPr/>
        </p:nvCxnSpPr>
        <p:spPr>
          <a:xfrm rot="10800000">
            <a:off x="7684400" y="1579950"/>
            <a:ext cx="230100" cy="600"/>
          </a:xfrm>
          <a:prstGeom prst="straightConnector1">
            <a:avLst/>
          </a:prstGeom>
          <a:noFill/>
          <a:ln cap="flat" cmpd="sng" w="19050">
            <a:solidFill>
              <a:srgbClr val="0B5394"/>
            </a:solidFill>
            <a:prstDash val="solid"/>
            <a:round/>
            <a:headEnd len="med" w="med" type="none"/>
            <a:tailEnd len="med" w="med" type="triangle"/>
          </a:ln>
        </p:spPr>
      </p:cxnSp>
      <p:sp>
        <p:nvSpPr>
          <p:cNvPr id="135" name="Google Shape;135;p19"/>
          <p:cNvSpPr txBox="1"/>
          <p:nvPr/>
        </p:nvSpPr>
        <p:spPr>
          <a:xfrm>
            <a:off x="7914500" y="3478575"/>
            <a:ext cx="883500" cy="323100"/>
          </a:xfrm>
          <a:prstGeom prst="rect">
            <a:avLst/>
          </a:prstGeom>
          <a:noFill/>
          <a:ln cap="flat" cmpd="sng" w="19050">
            <a:solidFill>
              <a:srgbClr val="0B5394"/>
            </a:solidFill>
            <a:prstDash val="solid"/>
            <a:round/>
            <a:headEnd len="sm" w="sm" type="none"/>
            <a:tailEnd len="sm" w="sm" type="none"/>
          </a:ln>
        </p:spPr>
        <p:txBody>
          <a:bodyPr anchorCtr="0" anchor="ctr" bIns="91425" lIns="91425" spcFirstLastPara="1" rIns="91425" wrap="square" tIns="91425">
            <a:spAutoFit/>
          </a:bodyPr>
          <a:lstStyle/>
          <a:p>
            <a:pPr indent="0" lvl="0" marL="0" rtl="0" algn="ctr">
              <a:spcBef>
                <a:spcPts val="0"/>
              </a:spcBef>
              <a:spcAft>
                <a:spcPts val="0"/>
              </a:spcAft>
              <a:buNone/>
            </a:pPr>
            <a:r>
              <a:rPr lang="it" sz="900">
                <a:latin typeface="Calibri"/>
                <a:ea typeface="Calibri"/>
                <a:cs typeface="Calibri"/>
                <a:sym typeface="Calibri"/>
              </a:rPr>
              <a:t>FAB</a:t>
            </a:r>
            <a:endParaRPr sz="900">
              <a:latin typeface="Calibri"/>
              <a:ea typeface="Calibri"/>
              <a:cs typeface="Calibri"/>
              <a:sym typeface="Calibri"/>
            </a:endParaRPr>
          </a:p>
        </p:txBody>
      </p:sp>
      <p:cxnSp>
        <p:nvCxnSpPr>
          <p:cNvPr id="136" name="Google Shape;136;p19"/>
          <p:cNvCxnSpPr>
            <a:stCxn id="135" idx="1"/>
          </p:cNvCxnSpPr>
          <p:nvPr/>
        </p:nvCxnSpPr>
        <p:spPr>
          <a:xfrm rot="10800000">
            <a:off x="7654700" y="3639525"/>
            <a:ext cx="259800" cy="600"/>
          </a:xfrm>
          <a:prstGeom prst="straightConnector1">
            <a:avLst/>
          </a:prstGeom>
          <a:noFill/>
          <a:ln cap="flat" cmpd="sng" w="19050">
            <a:solidFill>
              <a:srgbClr val="0B5394"/>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TopAppBar</a:t>
            </a:r>
            <a:endParaRPr/>
          </a:p>
        </p:txBody>
      </p:sp>
      <p:sp>
        <p:nvSpPr>
          <p:cNvPr id="142" name="Google Shape;142;p20"/>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43" name="Google Shape;143;p20"/>
          <p:cNvSpPr txBox="1"/>
          <p:nvPr>
            <p:ph idx="4294967295" type="body"/>
          </p:nvPr>
        </p:nvSpPr>
        <p:spPr>
          <a:xfrm>
            <a:off x="311150" y="1091804"/>
            <a:ext cx="8521800" cy="3393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0"/>
              </a:spcBef>
              <a:spcAft>
                <a:spcPts val="0"/>
              </a:spcAft>
              <a:buClr>
                <a:schemeClr val="dk1"/>
              </a:buClr>
              <a:buSzPts val="2000"/>
              <a:buChar char="•"/>
            </a:pPr>
            <a:r>
              <a:rPr lang="it">
                <a:solidFill>
                  <a:schemeClr val="dk1"/>
                </a:solidFill>
              </a:rPr>
              <a:t>TopAppBar displays navigation, actions, and text at the top of a screen</a:t>
            </a:r>
            <a:endParaRPr/>
          </a:p>
        </p:txBody>
      </p:sp>
      <p:sp>
        <p:nvSpPr>
          <p:cNvPr id="144" name="Google Shape;144;p20"/>
          <p:cNvSpPr txBox="1"/>
          <p:nvPr/>
        </p:nvSpPr>
        <p:spPr>
          <a:xfrm>
            <a:off x="341300" y="1601650"/>
            <a:ext cx="5280300" cy="27930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@Composable @OptIn(ExperimentalMaterial3Api::class)</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fun SimpleTopAppBar()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Scaffold(topBar =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TopAppBar(</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title = {Text("Material 3")},</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navigationIcon =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IconButton(onClick = {/*doSomething()*/})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Icon(imageVector = Icons.Filled.Favorite,</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contentDescription = "Favorite")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colors = TopAppBarDefaults.smallTopAppBarColors(</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containerColor = Color.cyan)	</a:t>
            </a:r>
            <a:endParaRPr sz="1100">
              <a:solidFill>
                <a:schemeClr val="dk1"/>
              </a:solidFill>
              <a:latin typeface="Consolas"/>
              <a:ea typeface="Consolas"/>
              <a:cs typeface="Consolas"/>
              <a:sym typeface="Consolas"/>
            </a:endParaRPr>
          </a:p>
          <a:p>
            <a:pPr indent="457200" lvl="0" marL="45720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a:p>
            <a:pPr indent="0" lvl="0" marL="45720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 /* content here */</a:t>
            </a:r>
            <a:endParaRPr sz="1100">
              <a:solidFill>
                <a:schemeClr val="dk1"/>
              </a:solidFill>
              <a:latin typeface="Consolas"/>
              <a:ea typeface="Consolas"/>
              <a:cs typeface="Consolas"/>
              <a:sym typeface="Consolas"/>
            </a:endParaRPr>
          </a:p>
        </p:txBody>
      </p:sp>
      <p:pic>
        <p:nvPicPr>
          <p:cNvPr id="145" name="Google Shape;145;p20"/>
          <p:cNvPicPr preferRelativeResize="0"/>
          <p:nvPr/>
        </p:nvPicPr>
        <p:blipFill>
          <a:blip r:embed="rId3">
            <a:alphaModFix/>
          </a:blip>
          <a:stretch>
            <a:fillRect/>
          </a:stretch>
        </p:blipFill>
        <p:spPr>
          <a:xfrm>
            <a:off x="6149650" y="1789225"/>
            <a:ext cx="2401650" cy="1891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TopAppBar</a:t>
            </a:r>
            <a:endParaRPr/>
          </a:p>
        </p:txBody>
      </p:sp>
      <p:sp>
        <p:nvSpPr>
          <p:cNvPr id="151" name="Google Shape;151;p2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52" name="Google Shape;152;p21"/>
          <p:cNvSpPr txBox="1"/>
          <p:nvPr>
            <p:ph idx="4294967295" type="body"/>
          </p:nvPr>
        </p:nvSpPr>
        <p:spPr>
          <a:xfrm>
            <a:off x="311150" y="1244200"/>
            <a:ext cx="5105100" cy="3393300"/>
          </a:xfrm>
          <a:prstGeom prst="rect">
            <a:avLst/>
          </a:prstGeom>
          <a:noFill/>
          <a:ln>
            <a:noFill/>
          </a:ln>
        </p:spPr>
        <p:txBody>
          <a:bodyPr anchorCtr="0" anchor="t" bIns="45700" lIns="91425" spcFirstLastPara="1" rIns="91425" wrap="square" tIns="45700">
            <a:normAutofit lnSpcReduction="10000"/>
          </a:bodyPr>
          <a:lstStyle/>
          <a:p>
            <a:pPr indent="-381000" lvl="0" marL="457200" rtl="0" algn="l">
              <a:lnSpc>
                <a:spcPct val="100000"/>
              </a:lnSpc>
              <a:spcBef>
                <a:spcPts val="0"/>
              </a:spcBef>
              <a:spcAft>
                <a:spcPts val="0"/>
              </a:spcAft>
              <a:buSzPts val="2400"/>
              <a:buChar char="•"/>
            </a:pPr>
            <a:r>
              <a:rPr lang="it"/>
              <a:t>There are several versions of the TopAppBar that differ in the </a:t>
            </a:r>
            <a:r>
              <a:rPr lang="it"/>
              <a:t>disposition</a:t>
            </a:r>
            <a:r>
              <a:rPr lang="it"/>
              <a:t> of the elements: </a:t>
            </a:r>
            <a:endParaRPr/>
          </a:p>
          <a:p>
            <a:pPr indent="-330200" lvl="1" marL="914400" rtl="0" algn="l">
              <a:lnSpc>
                <a:spcPct val="100000"/>
              </a:lnSpc>
              <a:spcBef>
                <a:spcPts val="600"/>
              </a:spcBef>
              <a:spcAft>
                <a:spcPts val="0"/>
              </a:spcAft>
              <a:buClr>
                <a:schemeClr val="dk1"/>
              </a:buClr>
              <a:buSzPts val="1600"/>
              <a:buChar char="○"/>
            </a:pPr>
            <a:r>
              <a:rPr lang="it">
                <a:solidFill>
                  <a:schemeClr val="dk1"/>
                </a:solidFill>
              </a:rPr>
              <a:t>The </a:t>
            </a:r>
            <a:r>
              <a:rPr b="1" lang="it">
                <a:solidFill>
                  <a:srgbClr val="0B5394"/>
                </a:solidFill>
                <a:latin typeface="Consolas"/>
                <a:ea typeface="Consolas"/>
                <a:cs typeface="Consolas"/>
                <a:sym typeface="Consolas"/>
              </a:rPr>
              <a:t>CenterAlignedTopAppBar</a:t>
            </a:r>
            <a:r>
              <a:rPr b="1" lang="it">
                <a:solidFill>
                  <a:schemeClr val="dk1"/>
                </a:solidFill>
              </a:rPr>
              <a:t> </a:t>
            </a:r>
            <a:r>
              <a:rPr lang="it">
                <a:solidFill>
                  <a:schemeClr val="dk1"/>
                </a:solidFill>
              </a:rPr>
              <a:t>has a header title that is horizontally aligned to the center. (1)</a:t>
            </a:r>
            <a:endParaRPr>
              <a:solidFill>
                <a:schemeClr val="dk1"/>
              </a:solidFill>
            </a:endParaRPr>
          </a:p>
          <a:p>
            <a:pPr indent="-330200" lvl="1" marL="914400" rtl="0" algn="l">
              <a:lnSpc>
                <a:spcPct val="100000"/>
              </a:lnSpc>
              <a:spcBef>
                <a:spcPts val="600"/>
              </a:spcBef>
              <a:spcAft>
                <a:spcPts val="0"/>
              </a:spcAft>
              <a:buClr>
                <a:schemeClr val="dk1"/>
              </a:buClr>
              <a:buSzPts val="1600"/>
              <a:buChar char="○"/>
            </a:pPr>
            <a:r>
              <a:rPr lang="it">
                <a:solidFill>
                  <a:schemeClr val="dk1"/>
                </a:solidFill>
              </a:rPr>
              <a:t>The </a:t>
            </a:r>
            <a:r>
              <a:rPr b="1" lang="it">
                <a:solidFill>
                  <a:srgbClr val="0B5394"/>
                </a:solidFill>
                <a:latin typeface="Consolas"/>
                <a:ea typeface="Consolas"/>
                <a:cs typeface="Consolas"/>
                <a:sym typeface="Consolas"/>
              </a:rPr>
              <a:t>SmallTopAppBar</a:t>
            </a:r>
            <a:r>
              <a:rPr b="1" lang="it">
                <a:solidFill>
                  <a:schemeClr val="dk1"/>
                </a:solidFill>
              </a:rPr>
              <a:t> </a:t>
            </a:r>
            <a:r>
              <a:rPr lang="it">
                <a:solidFill>
                  <a:schemeClr val="dk1"/>
                </a:solidFill>
              </a:rPr>
              <a:t>has a header title that is horizontally aligned to the right and on the same line as icons and actions.  (2)</a:t>
            </a:r>
            <a:endParaRPr>
              <a:solidFill>
                <a:schemeClr val="dk1"/>
              </a:solidFill>
            </a:endParaRPr>
          </a:p>
          <a:p>
            <a:pPr indent="-330200" lvl="1" marL="914400" rtl="0" algn="l">
              <a:lnSpc>
                <a:spcPct val="100000"/>
              </a:lnSpc>
              <a:spcBef>
                <a:spcPts val="600"/>
              </a:spcBef>
              <a:spcAft>
                <a:spcPts val="0"/>
              </a:spcAft>
              <a:buClr>
                <a:schemeClr val="dk1"/>
              </a:buClr>
              <a:buSzPts val="1600"/>
              <a:buChar char="○"/>
            </a:pPr>
            <a:r>
              <a:rPr lang="it">
                <a:solidFill>
                  <a:schemeClr val="dk1"/>
                </a:solidFill>
              </a:rPr>
              <a:t>The </a:t>
            </a:r>
            <a:r>
              <a:rPr b="1" lang="it">
                <a:solidFill>
                  <a:srgbClr val="0B5394"/>
                </a:solidFill>
                <a:latin typeface="Consolas"/>
                <a:ea typeface="Consolas"/>
                <a:cs typeface="Consolas"/>
                <a:sym typeface="Consolas"/>
              </a:rPr>
              <a:t>LargeTopAppBar</a:t>
            </a:r>
            <a:r>
              <a:rPr b="1" lang="it">
                <a:solidFill>
                  <a:schemeClr val="dk1"/>
                </a:solidFill>
              </a:rPr>
              <a:t> </a:t>
            </a:r>
            <a:r>
              <a:rPr lang="it">
                <a:solidFill>
                  <a:schemeClr val="dk1"/>
                </a:solidFill>
              </a:rPr>
              <a:t>and </a:t>
            </a:r>
            <a:r>
              <a:rPr b="1" lang="it">
                <a:solidFill>
                  <a:srgbClr val="0B5394"/>
                </a:solidFill>
                <a:latin typeface="Consolas"/>
                <a:ea typeface="Consolas"/>
                <a:cs typeface="Consolas"/>
                <a:sym typeface="Consolas"/>
              </a:rPr>
              <a:t>MediumTopAppBar</a:t>
            </a:r>
            <a:r>
              <a:rPr b="1" lang="it">
                <a:solidFill>
                  <a:schemeClr val="dk1"/>
                </a:solidFill>
              </a:rPr>
              <a:t> </a:t>
            </a:r>
            <a:r>
              <a:rPr lang="it">
                <a:solidFill>
                  <a:schemeClr val="dk1"/>
                </a:solidFill>
              </a:rPr>
              <a:t>display the title in a second row below the navigation and actions when in its default expanded state. The title has more or less line spacing, respectively. (3 , 4)</a:t>
            </a:r>
            <a:endParaRPr/>
          </a:p>
        </p:txBody>
      </p:sp>
      <p:pic>
        <p:nvPicPr>
          <p:cNvPr id="153" name="Google Shape;153;p21"/>
          <p:cNvPicPr preferRelativeResize="0"/>
          <p:nvPr/>
        </p:nvPicPr>
        <p:blipFill rotWithShape="1">
          <a:blip r:embed="rId3">
            <a:alphaModFix/>
          </a:blip>
          <a:srcRect b="0" l="19103" r="26515" t="0"/>
          <a:stretch/>
        </p:blipFill>
        <p:spPr>
          <a:xfrm>
            <a:off x="5494625" y="1269825"/>
            <a:ext cx="3101773" cy="33420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311700" y="2926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FloatingActionButton (FAB)</a:t>
            </a:r>
            <a:endParaRPr/>
          </a:p>
        </p:txBody>
      </p:sp>
      <p:sp>
        <p:nvSpPr>
          <p:cNvPr id="159" name="Google Shape;159;p22"/>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
        <p:nvSpPr>
          <p:cNvPr id="160" name="Google Shape;160;p22"/>
          <p:cNvSpPr txBox="1"/>
          <p:nvPr>
            <p:ph idx="1" type="body"/>
          </p:nvPr>
        </p:nvSpPr>
        <p:spPr>
          <a:xfrm>
            <a:off x="311150" y="1091804"/>
            <a:ext cx="8521800" cy="33933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it"/>
              <a:t>A </a:t>
            </a:r>
            <a:r>
              <a:rPr b="1" lang="it">
                <a:solidFill>
                  <a:srgbClr val="0B5394"/>
                </a:solidFill>
                <a:latin typeface="Consolas"/>
                <a:ea typeface="Consolas"/>
                <a:cs typeface="Consolas"/>
                <a:sym typeface="Consolas"/>
              </a:rPr>
              <a:t>FloatingActionButton</a:t>
            </a:r>
            <a:r>
              <a:rPr lang="it"/>
              <a:t> allow users to execute a fast action or go to the next screen</a:t>
            </a:r>
            <a:endParaRPr/>
          </a:p>
        </p:txBody>
      </p:sp>
      <p:sp>
        <p:nvSpPr>
          <p:cNvPr id="161" name="Google Shape;161;p22"/>
          <p:cNvSpPr txBox="1"/>
          <p:nvPr/>
        </p:nvSpPr>
        <p:spPr>
          <a:xfrm>
            <a:off x="569900" y="1899294"/>
            <a:ext cx="4749600" cy="24036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@Composable</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fun ShowFABSample()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Scaffold(</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topBar = { /**/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content = { /**/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floatingActionButton =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FloatingActionButton(onClick = { /**/ }) {</a:t>
            </a:r>
            <a:endParaRPr sz="1100">
              <a:solidFill>
                <a:srgbClr val="333333"/>
              </a:solidFill>
              <a:latin typeface="Consolas"/>
              <a:ea typeface="Consolas"/>
              <a:cs typeface="Consolas"/>
              <a:sym typeface="Consolas"/>
            </a:endParaRPr>
          </a:p>
          <a:p>
            <a:pPr indent="457200" lvl="0" marL="91440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Icon(Icons.Filled.Add, "Add") </a:t>
            </a:r>
            <a:endParaRPr sz="1100">
              <a:solidFill>
                <a:schemeClr val="dk1"/>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chemeClr val="dk1"/>
                </a:solidFill>
                <a:latin typeface="Consolas"/>
                <a:ea typeface="Consolas"/>
                <a:cs typeface="Consolas"/>
                <a:sym typeface="Consolas"/>
              </a:rPr>
              <a:t>           }</a:t>
            </a:r>
            <a:r>
              <a:rPr lang="it" sz="1100">
                <a:solidFill>
                  <a:srgbClr val="333333"/>
                </a:solidFill>
                <a:latin typeface="Consolas"/>
                <a:ea typeface="Consolas"/>
                <a:cs typeface="Consolas"/>
                <a:sym typeface="Consolas"/>
              </a:rPr>
              <a:t>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a:t>
            </a:r>
            <a:endParaRPr sz="1100">
              <a:solidFill>
                <a:srgbClr val="333333"/>
              </a:solidFill>
              <a:latin typeface="Consolas"/>
              <a:ea typeface="Consolas"/>
              <a:cs typeface="Consolas"/>
              <a:sym typeface="Consolas"/>
            </a:endParaRPr>
          </a:p>
        </p:txBody>
      </p:sp>
      <p:pic>
        <p:nvPicPr>
          <p:cNvPr id="162" name="Google Shape;162;p22"/>
          <p:cNvPicPr preferRelativeResize="0"/>
          <p:nvPr/>
        </p:nvPicPr>
        <p:blipFill>
          <a:blip r:embed="rId3">
            <a:alphaModFix/>
          </a:blip>
          <a:stretch>
            <a:fillRect/>
          </a:stretch>
        </p:blipFill>
        <p:spPr>
          <a:xfrm>
            <a:off x="5589850" y="2388575"/>
            <a:ext cx="3313275" cy="1841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311700" y="2926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BottomAppBar</a:t>
            </a:r>
            <a:endParaRPr/>
          </a:p>
        </p:txBody>
      </p:sp>
      <p:sp>
        <p:nvSpPr>
          <p:cNvPr id="168" name="Google Shape;168;p23"/>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
        <p:nvSpPr>
          <p:cNvPr id="169" name="Google Shape;169;p23"/>
          <p:cNvSpPr txBox="1"/>
          <p:nvPr>
            <p:ph idx="1" type="body"/>
          </p:nvPr>
        </p:nvSpPr>
        <p:spPr>
          <a:xfrm>
            <a:off x="311150" y="1091804"/>
            <a:ext cx="8521800" cy="3393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600"/>
              </a:spcBef>
              <a:spcAft>
                <a:spcPts val="0"/>
              </a:spcAft>
              <a:buClr>
                <a:schemeClr val="dk1"/>
              </a:buClr>
              <a:buSzPts val="1800"/>
              <a:buChar char="•"/>
            </a:pPr>
            <a:r>
              <a:rPr lang="it" sz="1800">
                <a:solidFill>
                  <a:schemeClr val="dk1"/>
                </a:solidFill>
              </a:rPr>
              <a:t>Bottom Navigation displays navigation and key actions at the bottom of mobile and tablet screens that are easy to reach on a mobile device</a:t>
            </a:r>
            <a:endParaRPr sz="1800"/>
          </a:p>
        </p:txBody>
      </p:sp>
      <p:sp>
        <p:nvSpPr>
          <p:cNvPr id="170" name="Google Shape;170;p23"/>
          <p:cNvSpPr txBox="1"/>
          <p:nvPr/>
        </p:nvSpPr>
        <p:spPr>
          <a:xfrm>
            <a:off x="205300" y="1732425"/>
            <a:ext cx="6062400" cy="27243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@Composable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fun BottomAppBarWithFAB()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BottomAppBar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actions =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IconButton(onClick = {}) {Icon(Icons.Outlined.Search, "Search")}</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IconButton(onClick = {}) {Icon(Icons.Outlined.Delete, "Delete")}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IconButton(onClick = {}) {Icon(Icons.Outlined.AccountBox, "Account")}</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floatingActionButton =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FloatingActionButton(onClick = { /*TODO*/ })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Icon(Icons.Filled.Add, "Add")</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a:t>
            </a:r>
            <a:endParaRPr sz="1000">
              <a:solidFill>
                <a:srgbClr val="333333"/>
              </a:solidFill>
              <a:latin typeface="Consolas"/>
              <a:ea typeface="Consolas"/>
              <a:cs typeface="Consolas"/>
              <a:sym typeface="Consolas"/>
            </a:endParaRPr>
          </a:p>
        </p:txBody>
      </p:sp>
      <p:pic>
        <p:nvPicPr>
          <p:cNvPr id="171" name="Google Shape;171;p23"/>
          <p:cNvPicPr preferRelativeResize="0"/>
          <p:nvPr/>
        </p:nvPicPr>
        <p:blipFill>
          <a:blip r:embed="rId3">
            <a:alphaModFix/>
          </a:blip>
          <a:stretch>
            <a:fillRect/>
          </a:stretch>
        </p:blipFill>
        <p:spPr>
          <a:xfrm>
            <a:off x="6267700" y="2571750"/>
            <a:ext cx="2817450" cy="1740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4"/>
          <p:cNvSpPr txBox="1"/>
          <p:nvPr>
            <p:ph type="title"/>
          </p:nvPr>
        </p:nvSpPr>
        <p:spPr>
          <a:xfrm>
            <a:off x="311700" y="2926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NavigationBar</a:t>
            </a:r>
            <a:endParaRPr/>
          </a:p>
        </p:txBody>
      </p:sp>
      <p:sp>
        <p:nvSpPr>
          <p:cNvPr id="177" name="Google Shape;177;p24"/>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
        <p:nvSpPr>
          <p:cNvPr id="178" name="Google Shape;178;p24"/>
          <p:cNvSpPr txBox="1"/>
          <p:nvPr>
            <p:ph idx="1" type="body"/>
          </p:nvPr>
        </p:nvSpPr>
        <p:spPr>
          <a:xfrm>
            <a:off x="311150" y="1091804"/>
            <a:ext cx="8521800" cy="3393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Clr>
                <a:schemeClr val="dk1"/>
              </a:buClr>
              <a:buSzPts val="1800"/>
              <a:buChar char="•"/>
            </a:pPr>
            <a:r>
              <a:rPr lang="it">
                <a:solidFill>
                  <a:schemeClr val="dk1"/>
                </a:solidFill>
              </a:rPr>
              <a:t>Navigation bars let people switch between UI views on smaller devices</a:t>
            </a:r>
            <a:endParaRPr sz="1800">
              <a:solidFill>
                <a:schemeClr val="dk1"/>
              </a:solidFill>
            </a:endParaRPr>
          </a:p>
        </p:txBody>
      </p:sp>
      <p:sp>
        <p:nvSpPr>
          <p:cNvPr id="179" name="Google Shape;179;p24"/>
          <p:cNvSpPr txBox="1"/>
          <p:nvPr/>
        </p:nvSpPr>
        <p:spPr>
          <a:xfrm>
            <a:off x="352750" y="1542550"/>
            <a:ext cx="5895900" cy="31824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@Composable</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fun NavigationBarSample()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var selectedItem by remember { mutableIntStateOf(0)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val items = listOf("Account", "Cart", "For you", "Settings")</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val icons = listOf(Icons.Filled.AccountBox, Icons.Filled.ShoppingCart,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Icons.Filled.Star, Icons.Filled.Settings)</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NavigationBar ()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items.forEachIndexed { index, item -&gt;</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NavigationBarItem(</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selected = index == selectedItem,</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onClick = { selectedItem = index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icon = { Icon(icons[index], item)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label = { Text(item) }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100">
                <a:solidFill>
                  <a:srgbClr val="333333"/>
                </a:solidFill>
                <a:latin typeface="Consolas"/>
                <a:ea typeface="Consolas"/>
                <a:cs typeface="Consolas"/>
                <a:sym typeface="Consolas"/>
              </a:rPr>
              <a:t>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    }</a:t>
            </a:r>
            <a:endParaRPr sz="11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100">
                <a:solidFill>
                  <a:srgbClr val="333333"/>
                </a:solidFill>
                <a:latin typeface="Consolas"/>
                <a:ea typeface="Consolas"/>
                <a:cs typeface="Consolas"/>
                <a:sym typeface="Consolas"/>
              </a:rPr>
              <a:t>}</a:t>
            </a:r>
            <a:endParaRPr sz="1100">
              <a:solidFill>
                <a:srgbClr val="333333"/>
              </a:solidFill>
              <a:latin typeface="Consolas"/>
              <a:ea typeface="Consolas"/>
              <a:cs typeface="Consolas"/>
              <a:sym typeface="Consolas"/>
            </a:endParaRPr>
          </a:p>
        </p:txBody>
      </p:sp>
      <p:pic>
        <p:nvPicPr>
          <p:cNvPr id="180" name="Google Shape;180;p24"/>
          <p:cNvPicPr preferRelativeResize="0"/>
          <p:nvPr/>
        </p:nvPicPr>
        <p:blipFill>
          <a:blip r:embed="rId3">
            <a:alphaModFix/>
          </a:blip>
          <a:stretch>
            <a:fillRect/>
          </a:stretch>
        </p:blipFill>
        <p:spPr>
          <a:xfrm>
            <a:off x="6473950" y="2835975"/>
            <a:ext cx="2547200" cy="1284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311700" y="2926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NavigationRails</a:t>
            </a:r>
            <a:endParaRPr/>
          </a:p>
        </p:txBody>
      </p:sp>
      <p:sp>
        <p:nvSpPr>
          <p:cNvPr id="186" name="Google Shape;186;p25"/>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
        <p:nvSpPr>
          <p:cNvPr id="187" name="Google Shape;187;p25"/>
          <p:cNvSpPr txBox="1"/>
          <p:nvPr>
            <p:ph idx="1" type="body"/>
          </p:nvPr>
        </p:nvSpPr>
        <p:spPr>
          <a:xfrm>
            <a:off x="311150" y="1091804"/>
            <a:ext cx="8521800" cy="3393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600"/>
              </a:spcBef>
              <a:spcAft>
                <a:spcPts val="0"/>
              </a:spcAft>
              <a:buClr>
                <a:schemeClr val="dk1"/>
              </a:buClr>
              <a:buSzPts val="1800"/>
              <a:buChar char="•"/>
            </a:pPr>
            <a:r>
              <a:rPr lang="it">
                <a:solidFill>
                  <a:schemeClr val="dk1"/>
                </a:solidFill>
              </a:rPr>
              <a:t>Navigation Rails let people switch between UI views on mid-sized devices</a:t>
            </a:r>
            <a:endParaRPr sz="1800">
              <a:solidFill>
                <a:schemeClr val="dk1"/>
              </a:solidFill>
            </a:endParaRPr>
          </a:p>
        </p:txBody>
      </p:sp>
      <p:sp>
        <p:nvSpPr>
          <p:cNvPr id="188" name="Google Shape;188;p25"/>
          <p:cNvSpPr txBox="1"/>
          <p:nvPr/>
        </p:nvSpPr>
        <p:spPr>
          <a:xfrm>
            <a:off x="855038" y="1562625"/>
            <a:ext cx="5345700" cy="29013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@Composable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fun NavigationRailSample(visible: Boolean)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var selectedItem by remember { mutableIntStateOf(0)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val items = listOf("Home", "Search", "Settings")</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val icons = listOf(Icons.Filled.Home, Icons.Filled.Search,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Icons.Filled.Settings)</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Row()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AnimatedVisibility(visible = visible)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NavigationRail(containerColor = Color.White)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items.forEachIndexed { index, item -&gt;</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NavigationRailItem(</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icon = { Icon(icons[index], item)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label = { Text(item)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selected = selectedItem == index,</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onClick = { selectedItem = index } )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    }   </a:t>
            </a:r>
            <a:r>
              <a:rPr lang="it" sz="1000">
                <a:solidFill>
                  <a:srgbClr val="333333"/>
                </a:solidFill>
                <a:latin typeface="Consolas"/>
                <a:ea typeface="Consolas"/>
                <a:cs typeface="Consolas"/>
                <a:sym typeface="Consolas"/>
              </a:rPr>
              <a:t>}</a:t>
            </a:r>
            <a:endParaRPr sz="1000">
              <a:solidFill>
                <a:srgbClr val="333333"/>
              </a:solidFill>
              <a:latin typeface="Consolas"/>
              <a:ea typeface="Consolas"/>
              <a:cs typeface="Consolas"/>
              <a:sym typeface="Consolas"/>
            </a:endParaRPr>
          </a:p>
        </p:txBody>
      </p:sp>
      <p:pic>
        <p:nvPicPr>
          <p:cNvPr id="189" name="Google Shape;189;p25"/>
          <p:cNvPicPr preferRelativeResize="0"/>
          <p:nvPr/>
        </p:nvPicPr>
        <p:blipFill>
          <a:blip r:embed="rId3">
            <a:alphaModFix/>
          </a:blip>
          <a:stretch>
            <a:fillRect/>
          </a:stretch>
        </p:blipFill>
        <p:spPr>
          <a:xfrm>
            <a:off x="6924100" y="1562625"/>
            <a:ext cx="1257968" cy="29013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Navigation Drawer</a:t>
            </a:r>
            <a:endParaRPr/>
          </a:p>
        </p:txBody>
      </p:sp>
      <p:sp>
        <p:nvSpPr>
          <p:cNvPr id="195" name="Google Shape;195;p2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96" name="Google Shape;196;p26"/>
          <p:cNvSpPr txBox="1"/>
          <p:nvPr>
            <p:ph idx="1" type="body"/>
          </p:nvPr>
        </p:nvSpPr>
        <p:spPr>
          <a:xfrm>
            <a:off x="311150" y="1244204"/>
            <a:ext cx="8521800" cy="3393300"/>
          </a:xfrm>
          <a:prstGeom prst="rect">
            <a:avLst/>
          </a:prstGeom>
        </p:spPr>
        <p:txBody>
          <a:bodyPr anchorCtr="0" anchor="t" bIns="45700" lIns="91425" spcFirstLastPara="1" rIns="91425" wrap="square" tIns="45700">
            <a:normAutofit/>
          </a:bodyPr>
          <a:lstStyle/>
          <a:p>
            <a:pPr indent="-355600" lvl="0" marL="457200" rtl="0" algn="l">
              <a:spcBef>
                <a:spcPts val="600"/>
              </a:spcBef>
              <a:spcAft>
                <a:spcPts val="0"/>
              </a:spcAft>
              <a:buSzPts val="2000"/>
              <a:buChar char="•"/>
            </a:pPr>
            <a:r>
              <a:rPr lang="it"/>
              <a:t>The navigation drawer component is a slide-in menu that lets users navigate to various sections of your app</a:t>
            </a:r>
            <a:endParaRPr/>
          </a:p>
          <a:p>
            <a:pPr indent="-330200" lvl="1" marL="914400" rtl="0" algn="l">
              <a:spcBef>
                <a:spcPts val="0"/>
              </a:spcBef>
              <a:spcAft>
                <a:spcPts val="0"/>
              </a:spcAft>
              <a:buSzPts val="1600"/>
              <a:buChar char="○"/>
            </a:pPr>
            <a:r>
              <a:rPr lang="it"/>
              <a:t>Users can activate it by swiping from the side or tapping a menu icon</a:t>
            </a:r>
            <a:endParaRPr/>
          </a:p>
          <a:p>
            <a:pPr indent="-355600" lvl="0" marL="457200" rtl="0" algn="l">
              <a:spcBef>
                <a:spcPts val="0"/>
              </a:spcBef>
              <a:spcAft>
                <a:spcPts val="0"/>
              </a:spcAft>
              <a:buSzPts val="2000"/>
              <a:buChar char="•"/>
            </a:pPr>
            <a:r>
              <a:rPr lang="it"/>
              <a:t>Drawers help organizing navigation destinations in different categories</a:t>
            </a:r>
            <a:endParaRPr/>
          </a:p>
          <a:p>
            <a:pPr indent="-330200" lvl="1" marL="914400" rtl="0" algn="l">
              <a:spcBef>
                <a:spcPts val="0"/>
              </a:spcBef>
              <a:spcAft>
                <a:spcPts val="0"/>
              </a:spcAft>
              <a:buSzPts val="1600"/>
              <a:buChar char="○"/>
            </a:pPr>
            <a:r>
              <a:rPr lang="it"/>
              <a:t>As well as facilitating users to discover features provided by </a:t>
            </a:r>
            <a:r>
              <a:rPr lang="it"/>
              <a:t>complex</a:t>
            </a:r>
            <a:r>
              <a:rPr lang="it"/>
              <a:t> apps</a:t>
            </a:r>
            <a:endParaRPr/>
          </a:p>
          <a:p>
            <a:pPr indent="-330200" lvl="1" marL="914400" rtl="0" algn="l">
              <a:spcBef>
                <a:spcPts val="0"/>
              </a:spcBef>
              <a:spcAft>
                <a:spcPts val="0"/>
              </a:spcAft>
              <a:buSzPts val="1600"/>
              <a:buChar char="○"/>
            </a:pPr>
            <a:r>
              <a:rPr lang="it"/>
              <a:t>Or getting quick links to special sections of the app, like the user profile or the setting screen</a:t>
            </a:r>
            <a:endParaRPr/>
          </a:p>
          <a:p>
            <a:pPr indent="-355600" lvl="0" marL="457200" rtl="0" algn="l">
              <a:spcBef>
                <a:spcPts val="0"/>
              </a:spcBef>
              <a:spcAft>
                <a:spcPts val="0"/>
              </a:spcAft>
              <a:buSzPts val="2000"/>
              <a:buChar char="•"/>
            </a:pPr>
            <a:r>
              <a:rPr lang="it"/>
              <a:t>Material Design supports two types of drawers</a:t>
            </a:r>
            <a:endParaRPr/>
          </a:p>
          <a:p>
            <a:pPr indent="-330200" lvl="1" marL="914400" rtl="0" algn="l">
              <a:spcBef>
                <a:spcPts val="0"/>
              </a:spcBef>
              <a:spcAft>
                <a:spcPts val="0"/>
              </a:spcAft>
              <a:buSzPts val="1600"/>
              <a:buChar char="○"/>
            </a:pPr>
            <a:r>
              <a:rPr b="1" lang="it">
                <a:solidFill>
                  <a:srgbClr val="0B5394"/>
                </a:solidFill>
              </a:rPr>
              <a:t>Standard</a:t>
            </a:r>
            <a:r>
              <a:rPr lang="it"/>
              <a:t> drawers, that share space within a screen with other content</a:t>
            </a:r>
            <a:endParaRPr/>
          </a:p>
          <a:p>
            <a:pPr indent="-330200" lvl="1" marL="914400" rtl="0" algn="l">
              <a:spcBef>
                <a:spcPts val="0"/>
              </a:spcBef>
              <a:spcAft>
                <a:spcPts val="0"/>
              </a:spcAft>
              <a:buSzPts val="1600"/>
              <a:buChar char="○"/>
            </a:pPr>
            <a:r>
              <a:rPr b="1" lang="it">
                <a:solidFill>
                  <a:srgbClr val="0B5394"/>
                </a:solidFill>
              </a:rPr>
              <a:t>Modal</a:t>
            </a:r>
            <a:r>
              <a:rPr lang="it"/>
              <a:t> drawers, that appear over the top of other content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NavigationDrawer</a:t>
            </a:r>
            <a:endParaRPr/>
          </a:p>
        </p:txBody>
      </p:sp>
      <p:sp>
        <p:nvSpPr>
          <p:cNvPr id="202" name="Google Shape;202;p27"/>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03" name="Google Shape;203;p27"/>
          <p:cNvSpPr txBox="1"/>
          <p:nvPr/>
        </p:nvSpPr>
        <p:spPr>
          <a:xfrm>
            <a:off x="265575" y="1019400"/>
            <a:ext cx="6469800" cy="34326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@Composable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fun NavDrawerSample(drawerState: DrawerState, scope: CoroutineScope)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None/>
            </a:pPr>
            <a:r>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var selectedItem by remember { mutableIntStateOf(0)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val items = listOf("Home", "Search", "Settings")</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ModalNavigationDrawer(</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drawerState = drawerState,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drawerContent =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ModalDrawerSheet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Spacer(modifier = Modifier.height(12.dp))</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items.forEachIndexed { index, item -&gt;</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NavigationDrawerItem(</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label = { Text(item)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selected = index==selectedItem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onClick = { selectedItem = index</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scope.launch { drawerState.close() }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modifier = Modifier.padding(</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it" sz="1000">
                <a:solidFill>
                  <a:srgbClr val="333333"/>
                </a:solidFill>
                <a:latin typeface="Consolas"/>
                <a:ea typeface="Consolas"/>
                <a:cs typeface="Consolas"/>
                <a:sym typeface="Consolas"/>
              </a:rPr>
              <a:t>                         NavigationDrawerItemDefaults.ItemPadding))</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 } ) { /* page content goes here */ </a:t>
            </a:r>
            <a:r>
              <a:rPr lang="it" sz="1000">
                <a:solidFill>
                  <a:srgbClr val="333333"/>
                </a:solidFill>
                <a:latin typeface="Consolas"/>
                <a:ea typeface="Consolas"/>
                <a:cs typeface="Consolas"/>
                <a:sym typeface="Consolas"/>
              </a:rPr>
              <a:t>}</a:t>
            </a: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p:txBody>
      </p:sp>
      <p:pic>
        <p:nvPicPr>
          <p:cNvPr id="204" name="Google Shape;204;p27"/>
          <p:cNvPicPr preferRelativeResize="0"/>
          <p:nvPr/>
        </p:nvPicPr>
        <p:blipFill>
          <a:blip r:embed="rId3">
            <a:alphaModFix/>
          </a:blip>
          <a:stretch>
            <a:fillRect/>
          </a:stretch>
        </p:blipFill>
        <p:spPr>
          <a:xfrm>
            <a:off x="6891425" y="1019400"/>
            <a:ext cx="1900285" cy="34326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type="title"/>
          </p:nvPr>
        </p:nvSpPr>
        <p:spPr>
          <a:xfrm>
            <a:off x="311700" y="2926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Tabs</a:t>
            </a:r>
            <a:endParaRPr/>
          </a:p>
        </p:txBody>
      </p:sp>
      <p:sp>
        <p:nvSpPr>
          <p:cNvPr id="210" name="Google Shape;210;p28"/>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latin typeface="Arial"/>
                <a:ea typeface="Arial"/>
                <a:cs typeface="Arial"/>
                <a:sym typeface="Arial"/>
              </a:rPr>
              <a:t>‹#›</a:t>
            </a:fld>
            <a:endParaRPr>
              <a:latin typeface="Arial"/>
              <a:ea typeface="Arial"/>
              <a:cs typeface="Arial"/>
              <a:sym typeface="Arial"/>
            </a:endParaRPr>
          </a:p>
        </p:txBody>
      </p:sp>
      <p:sp>
        <p:nvSpPr>
          <p:cNvPr id="211" name="Google Shape;211;p28"/>
          <p:cNvSpPr txBox="1"/>
          <p:nvPr>
            <p:ph idx="1" type="body"/>
          </p:nvPr>
        </p:nvSpPr>
        <p:spPr>
          <a:xfrm>
            <a:off x="311150" y="1091804"/>
            <a:ext cx="8521800" cy="3393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600"/>
              </a:spcBef>
              <a:spcAft>
                <a:spcPts val="0"/>
              </a:spcAft>
              <a:buClr>
                <a:schemeClr val="dk1"/>
              </a:buClr>
              <a:buSzPts val="2000"/>
              <a:buChar char="•"/>
            </a:pPr>
            <a:r>
              <a:rPr lang="it">
                <a:solidFill>
                  <a:schemeClr val="dk1"/>
                </a:solidFill>
              </a:rPr>
              <a:t>Tabs are used to group content into useful categories</a:t>
            </a:r>
            <a:r>
              <a:rPr lang="it" sz="1800">
                <a:solidFill>
                  <a:schemeClr val="dk1"/>
                </a:solidFill>
              </a:rPr>
              <a:t> </a:t>
            </a:r>
            <a:endParaRPr sz="1800">
              <a:solidFill>
                <a:schemeClr val="dk1"/>
              </a:solidFill>
            </a:endParaRPr>
          </a:p>
          <a:p>
            <a:pPr indent="-330200" lvl="1" marL="914400" rtl="0" algn="l">
              <a:lnSpc>
                <a:spcPct val="100000"/>
              </a:lnSpc>
              <a:spcBef>
                <a:spcPts val="0"/>
              </a:spcBef>
              <a:spcAft>
                <a:spcPts val="0"/>
              </a:spcAft>
              <a:buClr>
                <a:schemeClr val="dk1"/>
              </a:buClr>
              <a:buSzPts val="1600"/>
              <a:buChar char="○"/>
            </a:pPr>
            <a:r>
              <a:rPr lang="it">
                <a:solidFill>
                  <a:schemeClr val="dk1"/>
                </a:solidFill>
              </a:rPr>
              <a:t>They are of two types (primary and secondary) and can scroll horizontally, so the user interface can have as many tabs as needed</a:t>
            </a:r>
            <a:endParaRPr>
              <a:solidFill>
                <a:schemeClr val="dk1"/>
              </a:solidFill>
            </a:endParaRPr>
          </a:p>
          <a:p>
            <a:pPr indent="-355600" lvl="0" marL="457200" rtl="0" algn="l">
              <a:lnSpc>
                <a:spcPct val="100000"/>
              </a:lnSpc>
              <a:spcBef>
                <a:spcPts val="0"/>
              </a:spcBef>
              <a:spcAft>
                <a:spcPts val="0"/>
              </a:spcAft>
              <a:buClr>
                <a:schemeClr val="dk1"/>
              </a:buClr>
              <a:buSzPts val="2000"/>
              <a:buChar char="•"/>
            </a:pPr>
            <a:r>
              <a:rPr lang="it">
                <a:solidFill>
                  <a:schemeClr val="dk1"/>
                </a:solidFill>
              </a:rPr>
              <a:t>Primary tabs are typically placed at the top of the content pane under a top app bar</a:t>
            </a:r>
            <a:endParaRPr>
              <a:solidFill>
                <a:schemeClr val="dk1"/>
              </a:solidFill>
            </a:endParaRPr>
          </a:p>
          <a:p>
            <a:pPr indent="-330200" lvl="1" marL="914400" rtl="0" algn="l">
              <a:lnSpc>
                <a:spcPct val="100000"/>
              </a:lnSpc>
              <a:spcBef>
                <a:spcPts val="0"/>
              </a:spcBef>
              <a:spcAft>
                <a:spcPts val="0"/>
              </a:spcAft>
              <a:buClr>
                <a:schemeClr val="dk1"/>
              </a:buClr>
              <a:buSzPts val="1600"/>
              <a:buChar char="○"/>
            </a:pPr>
            <a:r>
              <a:rPr lang="it">
                <a:solidFill>
                  <a:schemeClr val="dk1"/>
                </a:solidFill>
              </a:rPr>
              <a:t>They allow to quickly switch between related content destinations</a:t>
            </a:r>
            <a:endParaRPr>
              <a:solidFill>
                <a:schemeClr val="dk1"/>
              </a:solidFill>
            </a:endParaRPr>
          </a:p>
          <a:p>
            <a:pPr indent="-330200" lvl="1" marL="914400" rtl="0" algn="l">
              <a:lnSpc>
                <a:spcPct val="100000"/>
              </a:lnSpc>
              <a:spcBef>
                <a:spcPts val="0"/>
              </a:spcBef>
              <a:spcAft>
                <a:spcPts val="0"/>
              </a:spcAft>
              <a:buClr>
                <a:schemeClr val="dk1"/>
              </a:buClr>
              <a:buSzPts val="1600"/>
              <a:buChar char="○"/>
            </a:pPr>
            <a:r>
              <a:rPr lang="it">
                <a:solidFill>
                  <a:schemeClr val="dk1"/>
                </a:solidFill>
              </a:rPr>
              <a:t>Tabs contained in a </a:t>
            </a:r>
            <a:r>
              <a:rPr b="1" lang="it">
                <a:solidFill>
                  <a:srgbClr val="0B5394"/>
                </a:solidFill>
                <a:latin typeface="Consolas"/>
                <a:ea typeface="Consolas"/>
                <a:cs typeface="Consolas"/>
                <a:sym typeface="Consolas"/>
              </a:rPr>
              <a:t>PrimaryTabRow</a:t>
            </a:r>
            <a:r>
              <a:rPr lang="it">
                <a:solidFill>
                  <a:schemeClr val="dk1"/>
                </a:solidFill>
              </a:rPr>
              <a:t> are evenly spaced and fill the entire available space</a:t>
            </a:r>
            <a:br>
              <a:rPr lang="it">
                <a:solidFill>
                  <a:schemeClr val="dk1"/>
                </a:solidFill>
              </a:rPr>
            </a:br>
            <a:br>
              <a:rPr lang="it">
                <a:solidFill>
                  <a:schemeClr val="dk1"/>
                </a:solidFill>
              </a:rPr>
            </a:br>
            <a:endParaRPr>
              <a:solidFill>
                <a:schemeClr val="dk1"/>
              </a:solidFill>
            </a:endParaRPr>
          </a:p>
          <a:p>
            <a:pPr indent="-355600" lvl="0" marL="457200" rtl="0" algn="l">
              <a:lnSpc>
                <a:spcPct val="100000"/>
              </a:lnSpc>
              <a:spcBef>
                <a:spcPts val="0"/>
              </a:spcBef>
              <a:spcAft>
                <a:spcPts val="0"/>
              </a:spcAft>
              <a:buClr>
                <a:schemeClr val="dk1"/>
              </a:buClr>
              <a:buSzPts val="2000"/>
              <a:buChar char="•"/>
            </a:pPr>
            <a:r>
              <a:rPr lang="it">
                <a:solidFill>
                  <a:schemeClr val="dk1"/>
                </a:solidFill>
              </a:rPr>
              <a:t>Secondary tabs tabs are used within a content area to further separate related content and establish hierarchy</a:t>
            </a:r>
            <a:endParaRPr>
              <a:solidFill>
                <a:schemeClr val="dk1"/>
              </a:solidFill>
            </a:endParaRPr>
          </a:p>
        </p:txBody>
      </p:sp>
      <p:pic>
        <p:nvPicPr>
          <p:cNvPr id="212" name="Google Shape;212;p28"/>
          <p:cNvPicPr preferRelativeResize="0"/>
          <p:nvPr/>
        </p:nvPicPr>
        <p:blipFill rotWithShape="1">
          <a:blip r:embed="rId3">
            <a:alphaModFix/>
          </a:blip>
          <a:srcRect b="2981" l="0" r="1029" t="2366"/>
          <a:stretch/>
        </p:blipFill>
        <p:spPr>
          <a:xfrm>
            <a:off x="1367000" y="3069075"/>
            <a:ext cx="2432500" cy="427925"/>
          </a:xfrm>
          <a:prstGeom prst="rect">
            <a:avLst/>
          </a:prstGeom>
          <a:noFill/>
          <a:ln cap="flat" cmpd="sng" w="9525">
            <a:solidFill>
              <a:srgbClr val="D9D9D9"/>
            </a:solidFill>
            <a:prstDash val="solid"/>
            <a:round/>
            <a:headEnd len="sm" w="sm" type="none"/>
            <a:tailEnd len="sm" w="sm" type="none"/>
          </a:ln>
        </p:spPr>
      </p:pic>
      <p:pic>
        <p:nvPicPr>
          <p:cNvPr id="213" name="Google Shape;213;p28"/>
          <p:cNvPicPr preferRelativeResize="0"/>
          <p:nvPr/>
        </p:nvPicPr>
        <p:blipFill rotWithShape="1">
          <a:blip r:embed="rId4">
            <a:alphaModFix/>
          </a:blip>
          <a:srcRect b="0" l="0" r="606" t="0"/>
          <a:stretch/>
        </p:blipFill>
        <p:spPr>
          <a:xfrm>
            <a:off x="5415300" y="3900800"/>
            <a:ext cx="2432499" cy="320303"/>
          </a:xfrm>
          <a:prstGeom prst="rect">
            <a:avLst/>
          </a:prstGeom>
          <a:noFill/>
          <a:ln cap="flat" cmpd="sng" w="9525">
            <a:solidFill>
              <a:srgbClr val="D9D9D9"/>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43750"/>
              <a:buNone/>
            </a:pPr>
            <a:r>
              <a:rPr lang="it"/>
              <a:t>Tabs</a:t>
            </a:r>
            <a:endParaRPr/>
          </a:p>
        </p:txBody>
      </p:sp>
      <p:sp>
        <p:nvSpPr>
          <p:cNvPr id="219" name="Google Shape;219;p29"/>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20" name="Google Shape;220;p29"/>
          <p:cNvSpPr txBox="1"/>
          <p:nvPr/>
        </p:nvSpPr>
        <p:spPr>
          <a:xfrm>
            <a:off x="265575" y="1019400"/>
            <a:ext cx="6973200" cy="3609600"/>
          </a:xfrm>
          <a:prstGeom prst="rect">
            <a:avLst/>
          </a:prstGeom>
          <a:solidFill>
            <a:srgbClr val="FFFDCF"/>
          </a:solid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@Composable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@OptIn(ExperimentalMaterial3Api::class)</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fun TabDemo(modifier: Modifier)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var state by remember { mutableStateOf(0)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val icons = listOf(Icons.Filled.Home, Icons.Filled.ShoppingCart, Icons.Filled.AccountCircle)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val titles = listOf("Home", "Shopping Cart", "Profile")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Column(modifier = modifier)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TabRow(selectedTabIndex = state)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titles.forEachIndexed { index, title -&gt;</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Tab(selected = state == index,</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onClick = { state = index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text = { Text(text = title)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icon = { Icon(icons[index],title)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Text(modifier = Modifier.align(Alignment.CenterHorizontally.padding(8.dp),</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text = titles[state],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style = MaterialTheme.typography.headlineLarge)</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    }</a:t>
            </a:r>
            <a:endParaRPr sz="1000">
              <a:solidFill>
                <a:srgbClr val="333333"/>
              </a:solidFill>
              <a:latin typeface="Consolas"/>
              <a:ea typeface="Consolas"/>
              <a:cs typeface="Consolas"/>
              <a:sym typeface="Consolas"/>
            </a:endParaRPr>
          </a:p>
          <a:p>
            <a:pPr indent="0" lvl="0" marL="0" rtl="0" algn="l">
              <a:lnSpc>
                <a:spcPct val="115000"/>
              </a:lnSpc>
              <a:spcBef>
                <a:spcPts val="0"/>
              </a:spcBef>
              <a:spcAft>
                <a:spcPts val="0"/>
              </a:spcAft>
              <a:buSzPts val="1100"/>
              <a:buNone/>
            </a:pPr>
            <a:r>
              <a:rPr lang="it" sz="1000">
                <a:solidFill>
                  <a:srgbClr val="333333"/>
                </a:solidFill>
                <a:latin typeface="Consolas"/>
                <a:ea typeface="Consolas"/>
                <a:cs typeface="Consolas"/>
                <a:sym typeface="Consolas"/>
              </a:rPr>
              <a:t>}</a:t>
            </a:r>
            <a:endParaRPr sz="1000">
              <a:solidFill>
                <a:srgbClr val="333333"/>
              </a:solidFill>
              <a:latin typeface="Consolas"/>
              <a:ea typeface="Consolas"/>
              <a:cs typeface="Consolas"/>
              <a:sym typeface="Consolas"/>
            </a:endParaRPr>
          </a:p>
        </p:txBody>
      </p:sp>
      <p:pic>
        <p:nvPicPr>
          <p:cNvPr id="221" name="Google Shape;221;p29"/>
          <p:cNvPicPr preferRelativeResize="0"/>
          <p:nvPr/>
        </p:nvPicPr>
        <p:blipFill rotWithShape="1">
          <a:blip r:embed="rId3">
            <a:alphaModFix/>
          </a:blip>
          <a:srcRect b="0" l="0" r="0" t="813"/>
          <a:stretch/>
        </p:blipFill>
        <p:spPr>
          <a:xfrm>
            <a:off x="6325332" y="2663990"/>
            <a:ext cx="2506961" cy="21181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Learning more</a:t>
            </a:r>
            <a:endParaRPr/>
          </a:p>
        </p:txBody>
      </p:sp>
      <p:sp>
        <p:nvSpPr>
          <p:cNvPr id="227" name="Google Shape;227;p3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28" name="Google Shape;228;p30"/>
          <p:cNvSpPr txBox="1"/>
          <p:nvPr>
            <p:ph idx="1" type="body"/>
          </p:nvPr>
        </p:nvSpPr>
        <p:spPr>
          <a:xfrm>
            <a:off x="311150" y="1244204"/>
            <a:ext cx="8521800" cy="3393300"/>
          </a:xfrm>
          <a:prstGeom prst="rect">
            <a:avLst/>
          </a:prstGeom>
        </p:spPr>
        <p:txBody>
          <a:bodyPr anchorCtr="0" anchor="t" bIns="45700" lIns="91425" spcFirstLastPara="1" rIns="91425" wrap="square" tIns="45700">
            <a:normAutofit fontScale="92500" lnSpcReduction="20000"/>
          </a:bodyPr>
          <a:lstStyle/>
          <a:p>
            <a:pPr indent="-346075" lvl="0" marL="457200" rtl="0" algn="l">
              <a:spcBef>
                <a:spcPts val="600"/>
              </a:spcBef>
              <a:spcAft>
                <a:spcPts val="0"/>
              </a:spcAft>
              <a:buSzPct val="100000"/>
              <a:buChar char="•"/>
            </a:pPr>
            <a:r>
              <a:rPr lang="it"/>
              <a:t>Android/Kotlin/Jetpack Compose: Navigation</a:t>
            </a:r>
            <a:endParaRPr/>
          </a:p>
          <a:p>
            <a:pPr indent="-322580" lvl="1" marL="914400" rtl="0" algn="l">
              <a:spcBef>
                <a:spcPts val="0"/>
              </a:spcBef>
              <a:spcAft>
                <a:spcPts val="0"/>
              </a:spcAft>
              <a:buSzPct val="100000"/>
              <a:buChar char="○"/>
            </a:pPr>
            <a:r>
              <a:rPr lang="it" u="sng">
                <a:solidFill>
                  <a:schemeClr val="hlink"/>
                </a:solidFill>
                <a:hlinkClick r:id="rId3"/>
              </a:rPr>
              <a:t>https://medium.com/@2018.itsuki/android-kotlin-jetpack-compose-navigation-2e74d782328c</a:t>
            </a:r>
            <a:r>
              <a:rPr lang="it"/>
              <a:t> </a:t>
            </a:r>
            <a:endParaRPr/>
          </a:p>
          <a:p>
            <a:pPr indent="-322580" lvl="1" marL="914400" rtl="0" algn="l">
              <a:spcBef>
                <a:spcPts val="0"/>
              </a:spcBef>
              <a:spcAft>
                <a:spcPts val="0"/>
              </a:spcAft>
              <a:buSzPct val="100000"/>
              <a:buChar char="○"/>
            </a:pPr>
            <a:r>
              <a:rPr lang="it"/>
              <a:t>Step by step guide for implementing navigation in Jetpack Compose</a:t>
            </a:r>
            <a:endParaRPr/>
          </a:p>
          <a:p>
            <a:pPr indent="-346075" lvl="0" marL="457200" rtl="0" algn="l">
              <a:spcBef>
                <a:spcPts val="0"/>
              </a:spcBef>
              <a:spcAft>
                <a:spcPts val="0"/>
              </a:spcAft>
              <a:buSzPct val="100000"/>
              <a:buChar char="•"/>
            </a:pPr>
            <a:r>
              <a:rPr lang="it"/>
              <a:t>Compose Navigation — A great choice for large Android apps</a:t>
            </a:r>
            <a:endParaRPr/>
          </a:p>
          <a:p>
            <a:pPr indent="-322580" lvl="1" marL="914400" rtl="0" algn="l">
              <a:spcBef>
                <a:spcPts val="0"/>
              </a:spcBef>
              <a:spcAft>
                <a:spcPts val="0"/>
              </a:spcAft>
              <a:buSzPct val="100000"/>
              <a:buChar char="○"/>
            </a:pPr>
            <a:r>
              <a:rPr lang="it" u="sng">
                <a:solidFill>
                  <a:schemeClr val="hlink"/>
                </a:solidFill>
                <a:hlinkClick r:id="rId4"/>
              </a:rPr>
              <a:t>https://itnext.io/compose-navigation-a-great-choice-for-large-android-apps-94c02984acd5</a:t>
            </a:r>
            <a:endParaRPr/>
          </a:p>
          <a:p>
            <a:pPr indent="-322580" lvl="1" marL="914400" rtl="0" algn="l">
              <a:spcBef>
                <a:spcPts val="0"/>
              </a:spcBef>
              <a:spcAft>
                <a:spcPts val="0"/>
              </a:spcAft>
              <a:buSzPct val="100000"/>
              <a:buChar char="○"/>
            </a:pPr>
            <a:r>
              <a:rPr lang="it"/>
              <a:t>An in-depth discussion of how to handle navigation in larger application</a:t>
            </a:r>
            <a:endParaRPr/>
          </a:p>
          <a:p>
            <a:pPr indent="-346075" lvl="0" marL="457200" rtl="0" algn="l">
              <a:spcBef>
                <a:spcPts val="0"/>
              </a:spcBef>
              <a:spcAft>
                <a:spcPts val="0"/>
              </a:spcAft>
              <a:buSzPct val="100000"/>
              <a:buChar char="•"/>
            </a:pPr>
            <a:r>
              <a:rPr lang="it"/>
              <a:t>Best Practices for Compose Navigation in Multi-Module Project</a:t>
            </a:r>
            <a:endParaRPr/>
          </a:p>
          <a:p>
            <a:pPr indent="-322580" lvl="1" marL="914400" rtl="0" algn="l">
              <a:spcBef>
                <a:spcPts val="0"/>
              </a:spcBef>
              <a:spcAft>
                <a:spcPts val="0"/>
              </a:spcAft>
              <a:buSzPct val="100000"/>
              <a:buChar char="○"/>
            </a:pPr>
            <a:r>
              <a:rPr lang="it" u="sng">
                <a:solidFill>
                  <a:schemeClr val="hlink"/>
                </a:solidFill>
                <a:hlinkClick r:id="rId5"/>
              </a:rPr>
              <a:t>https://proandroiddev.com/best-practices-for-compose-navigation-in-multi-module-project-eec79ddcef4d</a:t>
            </a:r>
            <a:r>
              <a:rPr lang="it"/>
              <a:t> </a:t>
            </a:r>
            <a:endParaRPr/>
          </a:p>
          <a:p>
            <a:pPr indent="-322580" lvl="1" marL="914400" rtl="0" algn="l">
              <a:spcBef>
                <a:spcPts val="0"/>
              </a:spcBef>
              <a:spcAft>
                <a:spcPts val="0"/>
              </a:spcAft>
              <a:buSzPct val="100000"/>
              <a:buChar char="○"/>
            </a:pPr>
            <a:r>
              <a:rPr lang="it"/>
              <a:t>Another useful article discussing navigation best practices in large projects  </a:t>
            </a:r>
            <a:endParaRPr/>
          </a:p>
          <a:p>
            <a:pPr indent="-346075" lvl="0" marL="457200" rtl="0" algn="l">
              <a:spcBef>
                <a:spcPts val="0"/>
              </a:spcBef>
              <a:spcAft>
                <a:spcPts val="0"/>
              </a:spcAft>
              <a:buSzPct val="100000"/>
              <a:buChar char="•"/>
            </a:pPr>
            <a:r>
              <a:rPr lang="it"/>
              <a:t>Navigation drawer in JetPack Compose with Material Design 3 components</a:t>
            </a:r>
            <a:endParaRPr/>
          </a:p>
          <a:p>
            <a:pPr indent="-322580" lvl="1" marL="914400" rtl="0" algn="l">
              <a:spcBef>
                <a:spcPts val="0"/>
              </a:spcBef>
              <a:spcAft>
                <a:spcPts val="0"/>
              </a:spcAft>
              <a:buSzPct val="100000"/>
              <a:buChar char="○"/>
            </a:pPr>
            <a:r>
              <a:rPr lang="it" u="sng">
                <a:solidFill>
                  <a:schemeClr val="hlink"/>
                </a:solidFill>
                <a:hlinkClick r:id="rId6"/>
              </a:rPr>
              <a:t>https://medium.com/@auroraanirudh/navigation-drawer-in-jetpack-compose-with-material-design-3-components-2c7775fa2bce</a:t>
            </a:r>
            <a:r>
              <a:rPr lang="it"/>
              <a:t> </a:t>
            </a:r>
            <a:endParaRPr/>
          </a:p>
          <a:p>
            <a:pPr indent="-322580" lvl="1" marL="914400" rtl="0" algn="l">
              <a:spcBef>
                <a:spcPts val="0"/>
              </a:spcBef>
              <a:spcAft>
                <a:spcPts val="0"/>
              </a:spcAft>
              <a:buSzPct val="100000"/>
              <a:buChar char="○"/>
            </a:pPr>
            <a:r>
              <a:rPr lang="it"/>
              <a:t>Further details for implementing a consistent navigation drawer</a:t>
            </a:r>
            <a:endParaRPr/>
          </a:p>
        </p:txBody>
      </p:sp>
      <p:pic>
        <p:nvPicPr>
          <p:cNvPr id="229" name="Google Shape;229;p30"/>
          <p:cNvPicPr preferRelativeResize="0"/>
          <p:nvPr/>
        </p:nvPicPr>
        <p:blipFill rotWithShape="1">
          <a:blip r:embed="rId7">
            <a:alphaModFix/>
          </a:blip>
          <a:srcRect b="18805" l="17234" r="17234" t="18799"/>
          <a:stretch/>
        </p:blipFill>
        <p:spPr>
          <a:xfrm>
            <a:off x="7771925" y="156614"/>
            <a:ext cx="1249224" cy="118948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