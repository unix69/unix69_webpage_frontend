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5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CF54494-A9E9-4999-98D3-2F55860463A6}">
  <a:tblStyle styleId="{7CF54494-A9E9-4999-98D3-2F55860463A6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AF1"/>
          </a:solidFill>
        </a:fill>
      </a:tcStyle>
    </a:wholeTbl>
    <a:band1H>
      <a:tcTxStyle/>
      <a:tcStyle>
        <a:tcBdr/>
        <a:fill>
          <a:solidFill>
            <a:srgbClr val="CED2E2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ED2E2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65"/>
  </p:normalViewPr>
  <p:slideViewPr>
    <p:cSldViewPr snapToGrid="0">
      <p:cViewPr varScale="1">
        <p:scale>
          <a:sx n="160" d="100"/>
          <a:sy n="160" d="100"/>
        </p:scale>
        <p:origin x="480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2aae2663370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g2aae2663370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g2aae2663370_2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aae2663370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g2aae2663370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g2aae2663370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aae2663370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2aae2663370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2aae2663370_2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aae2663370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2aae2663370_2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2aae2663370_2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aae2663370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g2aae2663370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2aae2663370_2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ae2663370_2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2aae2663370_2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2aae2663370_2_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aae2663370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2aae2663370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2aae2663370_2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ae2663370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2aae2663370_2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2aae2663370_2_7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aae2663370_2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aae2663370_2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g2aae2663370_2_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aae2663370_2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2aae2663370_2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2aae2663370_2_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aae2663370_2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2aae2663370_2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2aae2663370_2_1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ae2663370_2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g2aae2663370_2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2aae2663370_2_1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aae2663370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g2aae2663370_2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g2aae2663370_2_1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aae2663370_2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g2aae2663370_2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aae2663370_2_1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aae2663370_2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2aae2663370_2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2aae2663370_2_1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aae2663370_2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2aae2663370_2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2aae2663370_2_1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aae2663370_2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2aae2663370_2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2aae2663370_2_1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aae2663370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2aae2663370_2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2aae2663370_2_16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aae2663370_2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2aae2663370_2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g2aae2663370_2_1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aae2663370_2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g2aae2663370_2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2aae2663370_2_1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aae2663370_2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2aae2663370_2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2aae2663370_2_18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aae2663370_2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5" name="Google Shape;245;g2aae2663370_2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2aae2663370_2_2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aae2663370_2_8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aae2663370_2_8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aae2663370_2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2aae2663370_2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2aae2663370_2_19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aae2663370_2_2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9" name="Google Shape;329;g2aae2663370_2_2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g2aae2663370_2_2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aae2663370_2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g2aae2663370_2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g2aae2663370_2_2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aae2663370_2_2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5" name="Google Shape;345;g2aae2663370_2_2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2aae2663370_2_2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aae2663370_2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g2aae2663370_2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2aae2663370_2_2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aae2663370_2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2" name="Google Shape;362;g2aae2663370_2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2aae2663370_2_3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aae2663370_2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g2aae2663370_2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aae2663370_2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g2aae2663370_2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2aae2663370_2_3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aae2663370_2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7" name="Google Shape;387;g2aae2663370_2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g2aae2663370_2_3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aae2663370_2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g2aae2663370_2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g2aae2663370_2_3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aae2663370_2_3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g2aae2663370_2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aae2663370_2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g2aae2663370_2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aae2663370_2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g2aae2663370_2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g2aae2663370_2_3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aae2663370_2_8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2aae2663370_2_8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aae2663370_2_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g2aae2663370_2_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g2aae2663370_2_3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aae2663370_2_9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2aae2663370_2_9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2aae2663370_2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g2aae2663370_2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g2aae2663370_2_3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aae2663370_2_9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aae2663370_2_9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aae2663370_2_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3" name="Google Shape;463;g2aae2663370_2_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g2aae2663370_2_3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2aae2663370_2_4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g2aae2663370_2_4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g2aae2663370_2_40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aae2663370_2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2aae2663370_2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g2aae2663370_2_4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aae2663370_2_4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1" name="Google Shape;501;g2aae2663370_2_4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2aae2663370_2_4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aae2663370_2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0" name="Google Shape;610;g2aae2663370_2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g2aae2663370_2_5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2aae2663370_2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2aae2663370_2_6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g2aae2663370_2_6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it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aae2663370_2_6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5" name="Google Shape;695;g2aae2663370_2_6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g2aae2663370_2_6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aae2663370_2_7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5" name="Google Shape;795;g2aae2663370_2_7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g2aae2663370_2_7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aae2663370_2_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g2aae2663370_2_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g2aae2663370_2_7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aae2663370_2_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g2aae2663370_2_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aae2663370_2_7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g2aae2663370_2_7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aae2663370_2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8" name="Google Shape;828;g2aae2663370_2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g2aae2663370_2_7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aae2663370_2_7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6" name="Google Shape;836;g2aae2663370_2_7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g2aae2663370_2_7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aae2663370_2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g2aae2663370_2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aae2663370_2_7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7" name="Google Shape;877;g2aae2663370_2_7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g2aae2663370_2_7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aae2663370_2_9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aae2663370_2_9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aae2663370_2_8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4" name="Google Shape;894;g2aae2663370_2_8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g2aae2663370_2_8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12017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3291325"/>
            <a:ext cx="8520600" cy="79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3200" y="1152475"/>
            <a:ext cx="3999900" cy="341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04800"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04800">
              <a:spcBef>
                <a:spcPts val="3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▪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>
  <p:cSld name="Titolo e contenuto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0" y="4787168"/>
            <a:ext cx="9144000" cy="35633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3200"/>
              <a:buFont typeface="Calibri"/>
              <a:buNone/>
              <a:defRPr sz="32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</a:defRPr>
            </a:lvl1pPr>
            <a:lvl2pPr lvl="1" algn="r">
              <a:buNone/>
              <a:defRPr sz="1000">
                <a:solidFill>
                  <a:schemeClr val="lt1"/>
                </a:solidFill>
              </a:defRPr>
            </a:lvl2pPr>
            <a:lvl3pPr lvl="2" algn="r">
              <a:buNone/>
              <a:defRPr sz="1000">
                <a:solidFill>
                  <a:schemeClr val="lt1"/>
                </a:solidFill>
              </a:defRPr>
            </a:lvl3pPr>
            <a:lvl4pPr lvl="3" algn="r">
              <a:buNone/>
              <a:defRPr sz="1000">
                <a:solidFill>
                  <a:schemeClr val="lt1"/>
                </a:solidFill>
              </a:defRPr>
            </a:lvl4pPr>
            <a:lvl5pPr lvl="4" algn="r">
              <a:buNone/>
              <a:defRPr sz="1000">
                <a:solidFill>
                  <a:schemeClr val="lt1"/>
                </a:solidFill>
              </a:defRPr>
            </a:lvl5pPr>
            <a:lvl6pPr lvl="5" algn="r">
              <a:buNone/>
              <a:defRPr sz="1000">
                <a:solidFill>
                  <a:schemeClr val="lt1"/>
                </a:solidFill>
              </a:defRPr>
            </a:lvl6pPr>
            <a:lvl7pPr lvl="6" algn="r">
              <a:buNone/>
              <a:defRPr sz="1000">
                <a:solidFill>
                  <a:schemeClr val="lt1"/>
                </a:solidFill>
              </a:defRPr>
            </a:lvl7pPr>
            <a:lvl8pPr lvl="7" algn="r">
              <a:buNone/>
              <a:defRPr sz="1000">
                <a:solidFill>
                  <a:schemeClr val="lt1"/>
                </a:solidFill>
              </a:defRPr>
            </a:lvl8pPr>
            <a:lvl9pPr lvl="8" algn="r">
              <a:buNone/>
              <a:defRPr sz="10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019175" y="4806045"/>
            <a:ext cx="66771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i="1">
                <a:solidFill>
                  <a:schemeClr val="lt1"/>
                </a:solidFill>
              </a:rPr>
              <a:t>© G. Malnati, C. Barberis, 2012-24</a:t>
            </a:r>
            <a:endParaRPr sz="1100" i="1">
              <a:solidFill>
                <a:schemeClr val="lt1"/>
              </a:solidFill>
            </a:endParaRPr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Calibri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3020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600"/>
              <a:buFont typeface="Calibri"/>
              <a:buChar char="○"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▪"/>
              <a:defRPr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libri"/>
              <a:buChar char="•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ctrTitle"/>
          </p:nvPr>
        </p:nvSpPr>
        <p:spPr>
          <a:xfrm>
            <a:off x="311708" y="2044331"/>
            <a:ext cx="8520600" cy="15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Activities</a:t>
            </a:r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311700" y="3611494"/>
            <a:ext cx="8520600" cy="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/>
          <a:p>
            <a:pPr marL="27432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2023-24</a:t>
            </a:r>
            <a:endParaRPr/>
          </a:p>
        </p:txBody>
      </p:sp>
      <p:pic>
        <p:nvPicPr>
          <p:cNvPr id="43" name="Google Shape;4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77067" y="567445"/>
            <a:ext cx="3589867" cy="1910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2</a:t>
            </a:fld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 apps</a:t>
            </a:r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app is made of one or more components that are declared in the manifest file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Different types of components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Activities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Services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Broadcast receivers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Content providers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Components are automatically created by the operating system in response to requests containing an intent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3</a:t>
            </a:fld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android.app.Activity</a:t>
            </a:r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Base class that provides a GUI with which users can interact in order to do something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Applications extend this class to implement specific functionalities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name of the derived class is specified in the manifest-file 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operating system creates the activity and manages its life cycle invoking some specific methods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onCreate(…)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onStart()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onResume()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onPause()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onStop()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onDestroy()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4</a:t>
            </a:fld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Role and responsibilities</a:t>
            </a:r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activity manages user interaction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Acquires the required </a:t>
            </a:r>
            <a:r>
              <a:rPr lang="it" b="1">
                <a:solidFill>
                  <a:srgbClr val="1E5F9F"/>
                </a:solidFill>
              </a:rPr>
              <a:t>resources</a:t>
            </a:r>
            <a:r>
              <a:rPr lang="it"/>
              <a:t> (requires the use of sensors, loads contents, …)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Builds and configures a </a:t>
            </a:r>
            <a:r>
              <a:rPr lang="it" b="1">
                <a:solidFill>
                  <a:srgbClr val="1E5F9F"/>
                </a:solidFill>
              </a:rPr>
              <a:t>graphical user interface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Reacts to the </a:t>
            </a:r>
            <a:r>
              <a:rPr lang="it" b="1">
                <a:solidFill>
                  <a:srgbClr val="1E5F9F"/>
                </a:solidFill>
              </a:rPr>
              <a:t>events</a:t>
            </a:r>
            <a:r>
              <a:rPr lang="it"/>
              <a:t> triggered by user interactions with widgets to implement the desired behavior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Manages the notifications regarding its own </a:t>
            </a:r>
            <a:r>
              <a:rPr lang="it" b="1">
                <a:solidFill>
                  <a:srgbClr val="1E5F9F"/>
                </a:solidFill>
              </a:rPr>
              <a:t>life cycle</a:t>
            </a:r>
            <a:r>
              <a:rPr lang="it"/>
              <a:t>, storing data collected by the interface and releasing resources when the operating system asks so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5</a:t>
            </a:fld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Activity (1)</a:t>
            </a:r>
            <a:endParaRPr/>
          </a:p>
        </p:txBody>
      </p:sp>
      <p:sp>
        <p:nvSpPr>
          <p:cNvPr id="75" name="Google Shape;75;p13"/>
          <p:cNvSpPr/>
          <p:nvPr/>
        </p:nvSpPr>
        <p:spPr>
          <a:xfrm>
            <a:off x="3213500" y="891124"/>
            <a:ext cx="3504000" cy="1116000"/>
          </a:xfrm>
          <a:prstGeom prst="uturnArrow">
            <a:avLst>
              <a:gd name="adj1" fmla="val 15085"/>
              <a:gd name="adj2" fmla="val 13676"/>
              <a:gd name="adj3" fmla="val 14536"/>
              <a:gd name="adj4" fmla="val 57826"/>
              <a:gd name="adj5" fmla="val 86185"/>
            </a:avLst>
          </a:prstGeom>
          <a:solidFill>
            <a:srgbClr val="DEEAF5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" name="Google Shape;76;p13"/>
          <p:cNvGrpSpPr/>
          <p:nvPr/>
        </p:nvGrpSpPr>
        <p:grpSpPr>
          <a:xfrm>
            <a:off x="6231406" y="1880412"/>
            <a:ext cx="1414394" cy="2630929"/>
            <a:chOff x="6912381" y="2496251"/>
            <a:chExt cx="1414394" cy="3507905"/>
          </a:xfrm>
        </p:grpSpPr>
        <p:grpSp>
          <p:nvGrpSpPr>
            <p:cNvPr id="77" name="Google Shape;77;p13"/>
            <p:cNvGrpSpPr/>
            <p:nvPr/>
          </p:nvGrpSpPr>
          <p:grpSpPr>
            <a:xfrm>
              <a:off x="6912381" y="2496251"/>
              <a:ext cx="1414394" cy="2809086"/>
              <a:chOff x="6912381" y="2496251"/>
              <a:chExt cx="1414394" cy="2809086"/>
            </a:xfrm>
          </p:grpSpPr>
          <p:sp>
            <p:nvSpPr>
              <p:cNvPr id="78" name="Google Shape;78;p13"/>
              <p:cNvSpPr/>
              <p:nvPr/>
            </p:nvSpPr>
            <p:spPr>
              <a:xfrm>
                <a:off x="6912575" y="2496437"/>
                <a:ext cx="1414200" cy="28089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7056881" y="4117319"/>
                <a:ext cx="1096800" cy="231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rPr lang="it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…</a:t>
                </a:r>
                <a:endParaRPr sz="105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13"/>
              <p:cNvSpPr txBox="1"/>
              <p:nvPr/>
            </p:nvSpPr>
            <p:spPr>
              <a:xfrm>
                <a:off x="6970293" y="3799852"/>
                <a:ext cx="7473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2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Address</a:t>
                </a:r>
                <a:endParaRPr/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7749575" y="4593542"/>
                <a:ext cx="418500" cy="291900"/>
              </a:xfrm>
              <a:prstGeom prst="roundRect">
                <a:avLst>
                  <a:gd name="adj" fmla="val 16667"/>
                </a:avLst>
              </a:prstGeom>
              <a:solidFill>
                <a:srgbClr val="B45F06"/>
              </a:solidFill>
              <a:ln w="9525" cap="flat" cmpd="sng">
                <a:solidFill>
                  <a:srgbClr val="783F04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400"/>
                  <a:buFont typeface="Arial"/>
                  <a:buNone/>
                </a:pPr>
                <a:r>
                  <a:rPr lang="it" sz="140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ok</a:t>
                </a:r>
                <a:endParaRPr/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6912381" y="2496251"/>
                <a:ext cx="1414263" cy="235715"/>
              </a:xfrm>
              <a:custGeom>
                <a:avLst/>
                <a:gdLst/>
                <a:ahLst/>
                <a:cxnLst/>
                <a:rect l="l" t="t" r="r" b="b"/>
                <a:pathLst>
                  <a:path w="1414263" h="235715" extrusionOk="0">
                    <a:moveTo>
                      <a:pt x="0" y="235715"/>
                    </a:moveTo>
                    <a:cubicBezTo>
                      <a:pt x="0" y="105533"/>
                      <a:pt x="105533" y="0"/>
                      <a:pt x="235715" y="0"/>
                    </a:cubicBezTo>
                    <a:lnTo>
                      <a:pt x="1178548" y="0"/>
                    </a:lnTo>
                    <a:cubicBezTo>
                      <a:pt x="1308730" y="0"/>
                      <a:pt x="1414263" y="105533"/>
                      <a:pt x="1414263" y="235715"/>
                    </a:cubicBezTo>
                    <a:lnTo>
                      <a:pt x="0" y="235715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rgbClr val="BABABA"/>
                  </a:gs>
                </a:gsLst>
                <a:lin ang="16200038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endParaRPr sz="1600">
                  <a:solidFill>
                    <a:srgbClr val="A5A5A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3" name="Google Shape;83;p13"/>
              <p:cNvGrpSpPr/>
              <p:nvPr/>
            </p:nvGrpSpPr>
            <p:grpSpPr>
              <a:xfrm>
                <a:off x="7752611" y="2547433"/>
                <a:ext cx="301804" cy="140003"/>
                <a:chOff x="5700342" y="5295920"/>
                <a:chExt cx="1399831" cy="649364"/>
              </a:xfrm>
            </p:grpSpPr>
            <p:sp>
              <p:nvSpPr>
                <p:cNvPr id="84" name="Google Shape;84;p13"/>
                <p:cNvSpPr/>
                <p:nvPr/>
              </p:nvSpPr>
              <p:spPr>
                <a:xfrm>
                  <a:off x="5700342" y="5295920"/>
                  <a:ext cx="1399831" cy="6493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831" h="649364" extrusionOk="0">
                      <a:moveTo>
                        <a:pt x="163650" y="649364"/>
                      </a:moveTo>
                      <a:lnTo>
                        <a:pt x="1399831" y="649364"/>
                      </a:lnTo>
                      <a:lnTo>
                        <a:pt x="1399831" y="0"/>
                      </a:lnTo>
                      <a:lnTo>
                        <a:pt x="174332" y="3175"/>
                      </a:lnTo>
                      <a:cubicBezTo>
                        <a:pt x="175390" y="50794"/>
                        <a:pt x="173274" y="98414"/>
                        <a:pt x="174332" y="146033"/>
                      </a:cubicBezTo>
                      <a:lnTo>
                        <a:pt x="0" y="144303"/>
                      </a:lnTo>
                      <a:lnTo>
                        <a:pt x="0" y="533921"/>
                      </a:lnTo>
                      <a:lnTo>
                        <a:pt x="164807" y="530746"/>
                      </a:lnTo>
                      <a:cubicBezTo>
                        <a:pt x="164421" y="570285"/>
                        <a:pt x="164036" y="609825"/>
                        <a:pt x="163650" y="64936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0475" tIns="44450" rIns="90475" bIns="4445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Arial"/>
                    <a:buNone/>
                  </a:pPr>
                  <a:endParaRPr sz="1600">
                    <a:solidFill>
                      <a:srgbClr val="A5A5A5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5" name="Google Shape;85;p13"/>
                <p:cNvGrpSpPr/>
                <p:nvPr/>
              </p:nvGrpSpPr>
              <p:grpSpPr>
                <a:xfrm>
                  <a:off x="5940152" y="5380143"/>
                  <a:ext cx="1106085" cy="480818"/>
                  <a:chOff x="6205883" y="495774"/>
                  <a:chExt cx="1106085" cy="480818"/>
                </a:xfrm>
              </p:grpSpPr>
              <p:sp>
                <p:nvSpPr>
                  <p:cNvPr id="86" name="Google Shape;86;p13"/>
                  <p:cNvSpPr/>
                  <p:nvPr/>
                </p:nvSpPr>
                <p:spPr>
                  <a:xfrm>
                    <a:off x="6439129" y="500492"/>
                    <a:ext cx="173100" cy="47610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00FF00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0475" tIns="44450" rIns="90475" bIns="4445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Arial"/>
                      <a:buNone/>
                    </a:pPr>
                    <a:endParaRPr sz="1600">
                      <a:solidFill>
                        <a:srgbClr val="A5A5A5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7" name="Google Shape;87;p13"/>
                  <p:cNvSpPr/>
                  <p:nvPr/>
                </p:nvSpPr>
                <p:spPr>
                  <a:xfrm>
                    <a:off x="6672375" y="500492"/>
                    <a:ext cx="173100" cy="47610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00FF00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0475" tIns="44450" rIns="90475" bIns="4445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Arial"/>
                      <a:buNone/>
                    </a:pPr>
                    <a:endParaRPr sz="1600">
                      <a:solidFill>
                        <a:srgbClr val="A5A5A5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8" name="Google Shape;88;p13"/>
                  <p:cNvSpPr/>
                  <p:nvPr/>
                </p:nvSpPr>
                <p:spPr>
                  <a:xfrm>
                    <a:off x="6905621" y="500492"/>
                    <a:ext cx="173100" cy="47610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00FF00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0475" tIns="44450" rIns="90475" bIns="4445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Arial"/>
                      <a:buNone/>
                    </a:pPr>
                    <a:endParaRPr sz="1600">
                      <a:solidFill>
                        <a:srgbClr val="A5A5A5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9" name="Google Shape;89;p13"/>
                  <p:cNvSpPr/>
                  <p:nvPr/>
                </p:nvSpPr>
                <p:spPr>
                  <a:xfrm>
                    <a:off x="7138868" y="500492"/>
                    <a:ext cx="173100" cy="47610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00FF00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0475" tIns="44450" rIns="90475" bIns="4445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Arial"/>
                      <a:buNone/>
                    </a:pPr>
                    <a:endParaRPr sz="1600">
                      <a:solidFill>
                        <a:srgbClr val="A5A5A5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" name="Google Shape;90;p13"/>
                  <p:cNvSpPr/>
                  <p:nvPr/>
                </p:nvSpPr>
                <p:spPr>
                  <a:xfrm>
                    <a:off x="6205883" y="495774"/>
                    <a:ext cx="173100" cy="476100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00FF00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0475" tIns="44450" rIns="90475" bIns="4445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Arial"/>
                      <a:buNone/>
                    </a:pPr>
                    <a:endParaRPr sz="1600">
                      <a:solidFill>
                        <a:srgbClr val="A5A5A5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91" name="Google Shape;91;p13"/>
            <p:cNvSpPr txBox="1"/>
            <p:nvPr/>
          </p:nvSpPr>
          <p:spPr>
            <a:xfrm>
              <a:off x="7201193" y="5306356"/>
              <a:ext cx="822900" cy="69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GUI</a:t>
              </a:r>
              <a:endParaRPr/>
            </a:p>
          </p:txBody>
        </p:sp>
      </p:grpSp>
      <p:sp>
        <p:nvSpPr>
          <p:cNvPr id="92" name="Google Shape;92;p13"/>
          <p:cNvSpPr/>
          <p:nvPr/>
        </p:nvSpPr>
        <p:spPr>
          <a:xfrm>
            <a:off x="2459249" y="2032056"/>
            <a:ext cx="1731900" cy="1147200"/>
          </a:xfrm>
          <a:prstGeom prst="rect">
            <a:avLst/>
          </a:prstGeom>
          <a:solidFill>
            <a:srgbClr val="D9EAD3"/>
          </a:solidFill>
          <a:ln w="25400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it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3935056" y="460182"/>
            <a:ext cx="283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Creates and configures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4277605" y="2519100"/>
            <a:ext cx="939000" cy="281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DEEAF5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414874" y="2700082"/>
            <a:ext cx="1495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interactions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 flipH="1">
            <a:off x="1716819" y="2514347"/>
            <a:ext cx="649500" cy="2814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DEEAF5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78222" y="2795738"/>
            <a:ext cx="1609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Life cycle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notifications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 rot="5400000">
            <a:off x="3267854" y="2712585"/>
            <a:ext cx="108600" cy="2304000"/>
          </a:xfrm>
          <a:prstGeom prst="leftBrace">
            <a:avLst>
              <a:gd name="adj1" fmla="val 63162"/>
              <a:gd name="adj2" fmla="val 50000"/>
            </a:avLst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500050" y="3457825"/>
            <a:ext cx="2689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Acquires</a:t>
            </a:r>
            <a:r>
              <a:rPr lang="it"/>
              <a:t> </a:t>
            </a:r>
            <a:r>
              <a:rPr lang="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releases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3155553" y="3244225"/>
            <a:ext cx="328200" cy="498000"/>
          </a:xfrm>
          <a:prstGeom prst="upDownArrow">
            <a:avLst>
              <a:gd name="adj1" fmla="val 50000"/>
              <a:gd name="adj2" fmla="val 50000"/>
            </a:avLst>
          </a:prstGeom>
          <a:solidFill>
            <a:srgbClr val="DEEAF5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534" y="3987188"/>
            <a:ext cx="642488" cy="642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738" y="3987187"/>
            <a:ext cx="642487" cy="6424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71088" y="3941457"/>
            <a:ext cx="682238" cy="6822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13"/>
          <p:cNvGrpSpPr/>
          <p:nvPr/>
        </p:nvGrpSpPr>
        <p:grpSpPr>
          <a:xfrm>
            <a:off x="6289318" y="2324713"/>
            <a:ext cx="1183388" cy="411350"/>
            <a:chOff x="6970293" y="3799852"/>
            <a:chExt cx="1183388" cy="548467"/>
          </a:xfrm>
        </p:grpSpPr>
        <p:sp>
          <p:nvSpPr>
            <p:cNvPr id="105" name="Google Shape;105;p13"/>
            <p:cNvSpPr/>
            <p:nvPr/>
          </p:nvSpPr>
          <p:spPr>
            <a:xfrm>
              <a:off x="7056881" y="4117319"/>
              <a:ext cx="1096800" cy="231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rPr lang="it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 sz="10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3"/>
            <p:cNvSpPr txBox="1"/>
            <p:nvPr/>
          </p:nvSpPr>
          <p:spPr>
            <a:xfrm>
              <a:off x="6970293" y="3799852"/>
              <a:ext cx="747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200">
                  <a:solidFill>
                    <a:schemeClr val="dk1"/>
                  </a:solidFill>
                </a:rPr>
                <a:t>Name</a:t>
              </a:r>
              <a:endParaRPr/>
            </a:p>
          </p:txBody>
        </p:sp>
      </p:grpSp>
      <p:pic>
        <p:nvPicPr>
          <p:cNvPr id="107" name="Google Shape;10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92800" y="2261750"/>
            <a:ext cx="939000" cy="93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49575" y="2111750"/>
            <a:ext cx="708000" cy="7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6</a:t>
            </a:fld>
            <a:endParaRPr/>
          </a:p>
        </p:txBody>
      </p:sp>
      <p:sp>
        <p:nvSpPr>
          <p:cNvPr id="115" name="Google Shape;11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Activity (2)</a:t>
            </a:r>
            <a:endParaRPr/>
          </a:p>
        </p:txBody>
      </p:sp>
      <p:sp>
        <p:nvSpPr>
          <p:cNvPr id="116" name="Google Shape;116;p14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activity typically shows a single user interface that allows only some types of user interaction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application may contain several activities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Each one typically supports a single task (e.g., create a new message, read a received message, manage the received messages, …)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One of them is marked in the manifest file to be the first to be shown to the user, when the application is started by the launcher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activity may start another activity, by creating an </a:t>
            </a:r>
            <a:r>
              <a:rPr lang="it" b="1">
                <a:solidFill>
                  <a:srgbClr val="1E5F9F"/>
                </a:solidFill>
              </a:rPr>
              <a:t>Intent</a:t>
            </a:r>
            <a:r>
              <a:rPr lang="it"/>
              <a:t> object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called activity may be either part of the same application or may belong to a different 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7</a:t>
            </a:fld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Activity stack</a:t>
            </a: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For each task started in the “home” screen of the device, the operating system builds an </a:t>
            </a:r>
            <a:r>
              <a:rPr lang="it" b="1">
                <a:solidFill>
                  <a:srgbClr val="1E5F9F"/>
                </a:solidFill>
              </a:rPr>
              <a:t>activity stack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Initialized with the default activity of the corresponding task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During its life cycle, an activity may request the system to start a new activity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latter will be created and inserted at the top of the stack, and will become visible and interactive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previous activity is shifted one position and will remain in background until the new one is alive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If the new activity explicitly terminates or if the user presses the Back button, the previous activity reaches the top of the stack and becomes visible and interactive again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Activity stack</a:t>
            </a:r>
            <a:endParaRPr/>
          </a:p>
        </p:txBody>
      </p:sp>
      <p:sp>
        <p:nvSpPr>
          <p:cNvPr id="131" name="Google Shape;131;p16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8</a:t>
            </a:fld>
            <a:endParaRPr/>
          </a:p>
        </p:txBody>
      </p:sp>
      <p:grpSp>
        <p:nvGrpSpPr>
          <p:cNvPr id="132" name="Google Shape;132;p16"/>
          <p:cNvGrpSpPr/>
          <p:nvPr/>
        </p:nvGrpSpPr>
        <p:grpSpPr>
          <a:xfrm>
            <a:off x="622351" y="1315325"/>
            <a:ext cx="7679615" cy="3191825"/>
            <a:chOff x="1571625" y="1862913"/>
            <a:chExt cx="6680250" cy="4254632"/>
          </a:xfrm>
        </p:grpSpPr>
        <p:pic>
          <p:nvPicPr>
            <p:cNvPr id="133" name="Google Shape;133;p1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71625" y="1862913"/>
              <a:ext cx="2000250" cy="42546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" name="Google Shape;134;p16"/>
            <p:cNvSpPr txBox="1"/>
            <p:nvPr/>
          </p:nvSpPr>
          <p:spPr>
            <a:xfrm>
              <a:off x="3571875" y="4988205"/>
              <a:ext cx="468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Last activity: if the others activities require too many resources, this one can be terminated</a:t>
              </a:r>
              <a:endParaRPr sz="1300"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3571875" y="4149093"/>
              <a:ext cx="468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Users can not see and interact with these activities until the preceding ones are alive</a:t>
              </a:r>
              <a:endParaRPr sz="1300"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3571875" y="3256430"/>
              <a:ext cx="4680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Second activity: it is visualized if the user uses the back button or if the first activity terminates</a:t>
              </a:r>
              <a:endParaRPr sz="1300"/>
            </a:p>
          </p:txBody>
        </p:sp>
        <p:sp>
          <p:nvSpPr>
            <p:cNvPr id="137" name="Google Shape;137;p16"/>
            <p:cNvSpPr txBox="1"/>
            <p:nvPr/>
          </p:nvSpPr>
          <p:spPr>
            <a:xfrm>
              <a:off x="3571875" y="2548118"/>
              <a:ext cx="4680000" cy="4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First activity: the user can see and interact with it</a:t>
              </a:r>
              <a:endParaRPr sz="13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9</a:t>
            </a:fld>
            <a:endParaRPr/>
          </a:p>
        </p:txBody>
      </p:sp>
      <p:sp>
        <p:nvSpPr>
          <p:cNvPr id="144" name="Google Shape;14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Activity life cycle</a:t>
            </a:r>
            <a:endParaRPr/>
          </a:p>
        </p:txBody>
      </p:sp>
      <p:sp>
        <p:nvSpPr>
          <p:cNvPr id="145" name="Google Shape;145;p17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Android operating system allows the execution of several tasks at the same time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Provided that there is enough memory space and energy charge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Each task consists of one or more components (activities, services, …) and of all the related classes and resources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activity can be interrupted and paused when given events are triggered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For example, if a phone call is received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8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10</a:t>
            </a:fld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Activity life cycle</a:t>
            </a:r>
            <a:endParaRPr/>
          </a:p>
        </p:txBody>
      </p:sp>
      <p:sp>
        <p:nvSpPr>
          <p:cNvPr id="153" name="Google Shape;153;p18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Android sends different notifications to track the status of an application and its evolution according to user interaction, system-level events, and resource availability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programmer has to react to these notifications, performing the actions that are needed to guarantee the correct management of all the application resources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Releasing and re-acquiring them whenever it is necessary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addition to obvious events, the management of the life cycle also includes less obvious situations, often source of confusion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you rotate a device, the current activity is destroyed and recreated with new parameters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same happens if you set a different language on the control panel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11</a:t>
            </a:fld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Activity life cycle</a:t>
            </a:r>
            <a:endParaRPr/>
          </a:p>
        </p:txBody>
      </p:sp>
      <p:pic>
        <p:nvPicPr>
          <p:cNvPr id="161" name="Google Shape;161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4645" y="1281351"/>
            <a:ext cx="7434710" cy="3160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12</a:t>
            </a:fld>
            <a:endParaRPr/>
          </a:p>
        </p:txBody>
      </p:sp>
      <p:sp>
        <p:nvSpPr>
          <p:cNvPr id="168" name="Google Shape;16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Activity life cycle and visibility</a:t>
            </a:r>
            <a:endParaRPr/>
          </a:p>
        </p:txBody>
      </p:sp>
      <p:sp>
        <p:nvSpPr>
          <p:cNvPr id="169" name="Google Shape;169;p20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operating system notifications indicate the different phases of the application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onCreate(…)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onDestroy()</a:t>
            </a:r>
            <a:r>
              <a:rPr lang="it"/>
              <a:t> – The activity exists but is not visible to the user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onStart()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onStop()</a:t>
            </a:r>
            <a:r>
              <a:rPr lang="it"/>
              <a:t> – The activity is visible, but the user can not interact directly with it (another partially obscuring window is on top of it)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onResume()</a:t>
            </a:r>
            <a:r>
              <a:rPr lang="it"/>
              <a:t> /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onPause()</a:t>
            </a:r>
            <a:r>
              <a:rPr lang="it"/>
              <a:t> – The activity is in the foreground and the user can interact with it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13</a:t>
            </a:fld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Managing the activity life cycle</a:t>
            </a:r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If overridden, the methods related to the life cycle notifications should call the implementation of the </a:t>
            </a:r>
            <a:r>
              <a:rPr lang="it" b="1">
                <a:solidFill>
                  <a:srgbClr val="1E5F9F"/>
                </a:solidFill>
              </a:rPr>
              <a:t>superclass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Failing that, the system will throw an exception and exit the application</a:t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>
            <a:off x="931850" y="2571750"/>
            <a:ext cx="7280400" cy="2065800"/>
          </a:xfrm>
          <a:prstGeom prst="foldedCorner">
            <a:avLst>
              <a:gd name="adj" fmla="val 12500"/>
            </a:avLst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1425" tIns="4570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MainActivity : AppCompatActivity()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override fun onCreate(savedInstanceState: Bundle?)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600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super.onCreate</a:t>
            </a: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(savedInstanceState)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other actions</a:t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rgbClr val="CC66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14</a:t>
            </a:fld>
            <a:endParaRPr/>
          </a:p>
        </p:txBody>
      </p:sp>
      <p:sp>
        <p:nvSpPr>
          <p:cNvPr id="185" name="Google Shape;185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onCreate()</a:t>
            </a:r>
            <a:endParaRPr/>
          </a:p>
        </p:txBody>
      </p:sp>
      <p:sp>
        <p:nvSpPr>
          <p:cNvPr id="186" name="Google Shape;186;p2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method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onCreate(b: Bundle?)</a:t>
            </a:r>
            <a:r>
              <a:rPr lang="it"/>
              <a:t> is called in two different scenarios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the activity is run for the first time</a:t>
            </a:r>
            <a:endParaRPr/>
          </a:p>
          <a:p>
            <a:pPr marL="715962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</a:pPr>
            <a:r>
              <a:rPr lang="it"/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Bundle</a:t>
            </a:r>
            <a:r>
              <a:rPr lang="it"/>
              <a:t> parameter is null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the activity is launched again after being terminated (due to lack of resources or for other reasons)</a:t>
            </a:r>
            <a:endParaRPr/>
          </a:p>
          <a:p>
            <a:pPr marL="715962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</a:pPr>
            <a:r>
              <a:rPr lang="it"/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Bundle</a:t>
            </a:r>
            <a:r>
              <a:rPr lang="it"/>
              <a:t> parameter contains status information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this method, it is appropriate to perform most resource allocation and data initializations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Such as those related to the management of the active screen and the data link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15</a:t>
            </a:fld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Example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0" anchor="t" anchorCtr="0">
            <a:normAutofit fontScale="85000" lnSpcReduction="20000"/>
          </a:bodyPr>
          <a:lstStyle/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ExampleActivity: AppCompatActivity() {</a:t>
            </a:r>
            <a:endParaRPr/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2000" b="0" i="0" u="none" strike="noStrike" cap="none">
              <a:solidFill>
                <a:srgbClr val="00009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override fun onCreate(b: Bundle?) {</a:t>
            </a:r>
            <a:endParaRPr/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2000" b="0" i="0" u="none" strike="noStrike" cap="none">
                <a:solidFill>
                  <a:srgbClr val="000090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.onCreate(b)</a:t>
            </a:r>
            <a:endParaRPr/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2000" b="0" i="0" u="none" strike="noStrike" cap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//Programmatically create and initialize a view</a:t>
            </a:r>
            <a:endParaRPr sz="2000" b="0" i="0" u="none" strike="noStrike" cap="none">
              <a:solidFill>
                <a:srgbClr val="008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tv = TextView(</a:t>
            </a:r>
            <a:r>
              <a:rPr lang="it" sz="2000" b="0" i="0" u="none" strike="noStrike" cap="none">
                <a:solidFill>
                  <a:srgbClr val="000090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tv.text = "Hello, Android!"</a:t>
            </a:r>
            <a:endParaRPr/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tv.gravity = Gravity.CENTER</a:t>
            </a: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2000" b="0" i="0" u="none" strike="noStrike" cap="none">
                <a:solidFill>
                  <a:srgbClr val="008000"/>
                </a:solidFill>
                <a:latin typeface="Consolas"/>
                <a:ea typeface="Consolas"/>
                <a:cs typeface="Consolas"/>
                <a:sym typeface="Consolas"/>
              </a:rPr>
              <a:t>//show the view content</a:t>
            </a:r>
            <a:endParaRPr sz="20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setContentView(tv) </a:t>
            </a:r>
            <a:endParaRPr/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/>
          </a:p>
          <a:p>
            <a:pPr marL="8255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Noto Sans Symbols"/>
              <a:buNone/>
            </a:pPr>
            <a:r>
              <a:rPr lang="it" sz="2000" b="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16</a:t>
            </a:fld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onStart()</a:t>
            </a:r>
            <a:endParaRPr/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Method called when the application becomes visible to the user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If the activity has been previously visible, this method is preceded by the call to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onRestart()</a:t>
            </a:r>
            <a:r>
              <a:rPr lang="it"/>
              <a:t> one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most common cases, it is not necessary to redefine this method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17</a:t>
            </a:fld>
            <a:endParaRPr/>
          </a:p>
        </p:txBody>
      </p:sp>
      <p:sp>
        <p:nvSpPr>
          <p:cNvPr id="209" name="Google Shape;20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onResume()</a:t>
            </a:r>
            <a:endParaRPr/>
          </a:p>
        </p:txBody>
      </p:sp>
      <p:sp>
        <p:nvSpPr>
          <p:cNvPr id="210" name="Google Shape;210;p2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onResume()</a:t>
            </a:r>
            <a:r>
              <a:rPr lang="it"/>
              <a:t> method is called when the activity reaches the top of the activity stack and becomes interactive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 this method, it is possible to start animations, videos, sounds, ... , and to acquire temporary resources (like sensors and cameras)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18</a:t>
            </a:fld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onPause()</a:t>
            </a:r>
            <a:endParaRPr/>
          </a:p>
        </p:txBody>
      </p:sp>
      <p:sp>
        <p:nvSpPr>
          <p:cNvPr id="218" name="Google Shape;218;p26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5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69875" lvl="0" indent="-2635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it" sz="1900"/>
              <a:t>The </a:t>
            </a:r>
            <a:r>
              <a:rPr lang="it" sz="19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onPause()</a:t>
            </a:r>
            <a:r>
              <a:rPr lang="it" sz="1900"/>
              <a:t> method is called when the activity has to be moved to the second position of the activity stack </a:t>
            </a:r>
            <a:endParaRPr sz="1900"/>
          </a:p>
          <a:p>
            <a:pPr marL="541337" lvl="1" indent="-2000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it" sz="1500"/>
              <a:t>Here, sounds, videos and animations are usually stopped</a:t>
            </a:r>
            <a:endParaRPr sz="1500"/>
          </a:p>
          <a:p>
            <a:pPr marL="269875" lvl="0" indent="-2635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it" sz="1900"/>
              <a:t>In this method it is appropriate to release all resources that are not needed while the application is in the background</a:t>
            </a:r>
            <a:endParaRPr sz="1900"/>
          </a:p>
          <a:p>
            <a:pPr marL="541337" lvl="1" indent="-2000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it" sz="1500"/>
              <a:t>If the application handles persistent information (databases, files, preferences, ...), </a:t>
            </a:r>
            <a:r>
              <a:rPr lang="it" sz="1500" b="1">
                <a:solidFill>
                  <a:srgbClr val="0B5394"/>
                </a:solidFill>
              </a:rPr>
              <a:t>here</a:t>
            </a:r>
            <a:r>
              <a:rPr lang="it" sz="1500">
                <a:solidFill>
                  <a:srgbClr val="3366FF"/>
                </a:solidFill>
              </a:rPr>
              <a:t> </a:t>
            </a:r>
            <a:r>
              <a:rPr lang="it" sz="1500"/>
              <a:t>data is usually </a:t>
            </a:r>
            <a:r>
              <a:rPr lang="it" sz="1500" b="1">
                <a:solidFill>
                  <a:srgbClr val="0B5394"/>
                </a:solidFill>
              </a:rPr>
              <a:t>committed</a:t>
            </a:r>
            <a:endParaRPr sz="1500">
              <a:solidFill>
                <a:srgbClr val="0B5394"/>
              </a:solidFill>
            </a:endParaRPr>
          </a:p>
          <a:p>
            <a:pPr marL="541337" lvl="1" indent="-2000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it" sz="1500"/>
              <a:t>If the activity has registered any listener of system events, sensors, services, ..., </a:t>
            </a:r>
            <a:r>
              <a:rPr lang="it" sz="1500" b="1">
                <a:solidFill>
                  <a:srgbClr val="0B5394"/>
                </a:solidFill>
              </a:rPr>
              <a:t>here</a:t>
            </a:r>
            <a:r>
              <a:rPr lang="it" sz="1500">
                <a:solidFill>
                  <a:srgbClr val="3366FF"/>
                </a:solidFill>
              </a:rPr>
              <a:t> </a:t>
            </a:r>
            <a:r>
              <a:rPr lang="it" sz="1500"/>
              <a:t>they are </a:t>
            </a:r>
            <a:r>
              <a:rPr lang="it" sz="1500" b="1">
                <a:solidFill>
                  <a:srgbClr val="0B5394"/>
                </a:solidFill>
              </a:rPr>
              <a:t>unregistered</a:t>
            </a:r>
            <a:endParaRPr sz="1500"/>
          </a:p>
          <a:p>
            <a:pPr marL="269875" lvl="0" indent="-2635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00"/>
              <a:buChar char="•"/>
            </a:pPr>
            <a:r>
              <a:rPr lang="it" sz="1900"/>
              <a:t>Warning: the next activity will not start until the </a:t>
            </a:r>
            <a:r>
              <a:rPr lang="it" sz="19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onPause()</a:t>
            </a:r>
            <a:r>
              <a:rPr lang="it" sz="1900"/>
              <a:t> method is running </a:t>
            </a:r>
            <a:endParaRPr sz="1900"/>
          </a:p>
          <a:p>
            <a:pPr marL="541337" lvl="1" indent="-2000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Char char="○"/>
            </a:pPr>
            <a:r>
              <a:rPr lang="it" sz="1500"/>
              <a:t>Thus, it is necessary to limit the duration of the operations carried out here</a:t>
            </a:r>
            <a:endParaRPr sz="1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7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19</a:t>
            </a:fld>
            <a:endParaRPr/>
          </a:p>
        </p:txBody>
      </p:sp>
      <p:sp>
        <p:nvSpPr>
          <p:cNvPr id="225" name="Google Shape;225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onStop()</a:t>
            </a:r>
            <a:endParaRPr/>
          </a:p>
        </p:txBody>
      </p:sp>
      <p:sp>
        <p:nvSpPr>
          <p:cNvPr id="226" name="Google Shape;226;p27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Called when the application is no longer visible to the user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next possible notification can be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onRestart()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onDestroy()</a:t>
            </a:r>
            <a:r>
              <a:rPr lang="it"/>
              <a:t>, or nothing at all depending on user's interactions and system's resource management needs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20</a:t>
            </a:fld>
            <a:endParaRPr/>
          </a:p>
        </p:txBody>
      </p:sp>
      <p:sp>
        <p:nvSpPr>
          <p:cNvPr id="233" name="Google Shape;23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onDestroy()</a:t>
            </a:r>
            <a:endParaRPr/>
          </a:p>
        </p:txBody>
      </p:sp>
      <p:sp>
        <p:nvSpPr>
          <p:cNvPr id="234" name="Google Shape;234;p28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activity has been terminated and will be removed from memory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invocation may be the result of an explicit request of the application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Having invoked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finish(...)</a:t>
            </a:r>
            <a:r>
              <a:rPr lang="it"/>
              <a:t> method... 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Or of the need of the system to free resources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isFinishing()</a:t>
            </a:r>
            <a:r>
              <a:rPr lang="it"/>
              <a:t> method allows us to distinguish between the two situations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21</a:t>
            </a:fld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Preparing the GUI</a:t>
            </a:r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onCreate(…)</a:t>
            </a:r>
            <a:r>
              <a:rPr lang="it"/>
              <a:t> method, you have to prepare a </a:t>
            </a:r>
            <a:r>
              <a:rPr lang="it" b="1">
                <a:solidFill>
                  <a:srgbClr val="0B5394"/>
                </a:solidFill>
              </a:rPr>
              <a:t>GUI</a:t>
            </a:r>
            <a:r>
              <a:rPr lang="it"/>
              <a:t> and make it visible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is in charge of presenting content to the user and allow interaction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Two different approaches are available: creating a set of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it"/>
              <a:t> objects or invoking a set of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@Composable</a:t>
            </a:r>
            <a:r>
              <a:rPr lang="it"/>
              <a:t> functions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any case, the GUI is conceptually modelled as a tree of widgets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hierarchical structure of the tree reflects the usage of space inside the display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If a widget is a "child of" another widget, it is usually contained in the space of the parent one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22</a:t>
            </a:fld>
            <a:endParaRPr/>
          </a:p>
        </p:txBody>
      </p:sp>
      <p:sp>
        <p:nvSpPr>
          <p:cNvPr id="249" name="Google Shape;249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visual tree</a:t>
            </a:r>
            <a:endParaRPr/>
          </a:p>
        </p:txBody>
      </p:sp>
      <p:sp>
        <p:nvSpPr>
          <p:cNvPr id="250" name="Google Shape;250;p30"/>
          <p:cNvSpPr/>
          <p:nvPr/>
        </p:nvSpPr>
        <p:spPr>
          <a:xfrm>
            <a:off x="1026168" y="1350325"/>
            <a:ext cx="2540100" cy="3266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0"/>
          <p:cNvSpPr/>
          <p:nvPr/>
        </p:nvSpPr>
        <p:spPr>
          <a:xfrm>
            <a:off x="1231435" y="1614896"/>
            <a:ext cx="2129700" cy="2395500"/>
          </a:xfrm>
          <a:prstGeom prst="rect">
            <a:avLst/>
          </a:prstGeom>
          <a:solidFill>
            <a:srgbClr val="EDF4FD"/>
          </a:solidFill>
          <a:ln w="2540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30" descr="j0185206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19758" y="1747588"/>
            <a:ext cx="1357418" cy="920782"/>
          </a:xfrm>
          <a:prstGeom prst="rect">
            <a:avLst/>
          </a:prstGeom>
          <a:noFill/>
          <a:ln w="127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3" name="Google Shape;253;p30"/>
          <p:cNvSpPr/>
          <p:nvPr/>
        </p:nvSpPr>
        <p:spPr>
          <a:xfrm>
            <a:off x="1380119" y="2768239"/>
            <a:ext cx="1817100" cy="352500"/>
          </a:xfrm>
          <a:prstGeom prst="rect">
            <a:avLst/>
          </a:prstGeom>
          <a:solidFill>
            <a:srgbClr val="DEEAF5"/>
          </a:solidFill>
          <a:ln w="25400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Panorama</a:t>
            </a:r>
            <a:endParaRPr/>
          </a:p>
        </p:txBody>
      </p:sp>
      <p:sp>
        <p:nvSpPr>
          <p:cNvPr id="254" name="Google Shape;254;p30"/>
          <p:cNvSpPr/>
          <p:nvPr/>
        </p:nvSpPr>
        <p:spPr>
          <a:xfrm>
            <a:off x="1391158" y="3303340"/>
            <a:ext cx="1809900" cy="288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519EE1"/>
              </a:gs>
              <a:gs pos="100000">
                <a:srgbClr val="95D1FF"/>
              </a:gs>
            </a:gsLst>
            <a:lin ang="16200038" scaled="0"/>
          </a:gradFill>
          <a:ln w="9525" cap="flat" cmpd="sng">
            <a:solidFill>
              <a:srgbClr val="5C99C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it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send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0"/>
          <p:cNvSpPr/>
          <p:nvPr/>
        </p:nvSpPr>
        <p:spPr>
          <a:xfrm>
            <a:off x="5358287" y="1457250"/>
            <a:ext cx="1817100" cy="324900"/>
          </a:xfrm>
          <a:prstGeom prst="rect">
            <a:avLst/>
          </a:prstGeom>
          <a:solidFill>
            <a:srgbClr val="0B5394"/>
          </a:solidFill>
          <a:ln w="25400" cap="flat" cmpd="sng">
            <a:solidFill>
              <a:srgbClr val="364A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it" sz="2000">
                <a:solidFill>
                  <a:srgbClr val="FFFFFF"/>
                </a:solidFill>
              </a:rPr>
              <a:t>Container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4295963" y="2350833"/>
            <a:ext cx="1527000" cy="324900"/>
          </a:xfrm>
          <a:prstGeom prst="rect">
            <a:avLst/>
          </a:prstGeom>
          <a:solidFill>
            <a:srgbClr val="674EA7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it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0"/>
          <p:cNvSpPr/>
          <p:nvPr/>
        </p:nvSpPr>
        <p:spPr>
          <a:xfrm>
            <a:off x="5496977" y="2920507"/>
            <a:ext cx="1527000" cy="324900"/>
          </a:xfrm>
          <a:prstGeom prst="rect">
            <a:avLst/>
          </a:prstGeom>
          <a:solidFill>
            <a:srgbClr val="674EA7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it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0"/>
          <p:cNvSpPr/>
          <p:nvPr/>
        </p:nvSpPr>
        <p:spPr>
          <a:xfrm>
            <a:off x="6822668" y="3591963"/>
            <a:ext cx="1527000" cy="324900"/>
          </a:xfrm>
          <a:prstGeom prst="rect">
            <a:avLst/>
          </a:prstGeom>
          <a:solidFill>
            <a:srgbClr val="674EA7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it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Button</a:t>
            </a:r>
            <a:endParaRPr/>
          </a:p>
        </p:txBody>
      </p:sp>
      <p:cxnSp>
        <p:nvCxnSpPr>
          <p:cNvPr id="259" name="Google Shape;259;p30"/>
          <p:cNvCxnSpPr>
            <a:stCxn id="256" idx="0"/>
            <a:endCxn id="255" idx="2"/>
          </p:cNvCxnSpPr>
          <p:nvPr/>
        </p:nvCxnSpPr>
        <p:spPr>
          <a:xfrm rot="-5400000">
            <a:off x="5378813" y="1462683"/>
            <a:ext cx="568800" cy="1207500"/>
          </a:xfrm>
          <a:prstGeom prst="bentConnector3">
            <a:avLst>
              <a:gd name="adj1" fmla="val 50009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60" name="Google Shape;260;p30"/>
          <p:cNvCxnSpPr>
            <a:stCxn id="257" idx="0"/>
            <a:endCxn id="255" idx="2"/>
          </p:cNvCxnSpPr>
          <p:nvPr/>
        </p:nvCxnSpPr>
        <p:spPr>
          <a:xfrm rot="-5400000">
            <a:off x="5694377" y="2348107"/>
            <a:ext cx="1138500" cy="6300"/>
          </a:xfrm>
          <a:prstGeom prst="bentConnector3">
            <a:avLst>
              <a:gd name="adj1" fmla="val 50004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61" name="Google Shape;261;p30"/>
          <p:cNvCxnSpPr>
            <a:stCxn id="258" idx="0"/>
            <a:endCxn id="255" idx="2"/>
          </p:cNvCxnSpPr>
          <p:nvPr/>
        </p:nvCxnSpPr>
        <p:spPr>
          <a:xfrm rot="5400000" flipH="1">
            <a:off x="6021518" y="2027313"/>
            <a:ext cx="1809900" cy="1319400"/>
          </a:xfrm>
          <a:prstGeom prst="bentConnector3">
            <a:avLst>
              <a:gd name="adj1" fmla="val 84021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62" name="Google Shape;262;p30"/>
          <p:cNvCxnSpPr>
            <a:stCxn id="251" idx="0"/>
            <a:endCxn id="255" idx="1"/>
          </p:cNvCxnSpPr>
          <p:nvPr/>
        </p:nvCxnSpPr>
        <p:spPr>
          <a:xfrm rot="-5400000" flipH="1">
            <a:off x="3824935" y="86246"/>
            <a:ext cx="4800" cy="3062100"/>
          </a:xfrm>
          <a:prstGeom prst="curvedConnector4">
            <a:avLst>
              <a:gd name="adj1" fmla="val -3779762"/>
              <a:gd name="adj2" fmla="val 67386"/>
            </a:avLst>
          </a:prstGeom>
          <a:noFill/>
          <a:ln w="25400" cap="flat" cmpd="sng">
            <a:solidFill>
              <a:schemeClr val="accent4"/>
            </a:solidFill>
            <a:prstDash val="dash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63" name="Google Shape;263;p30"/>
          <p:cNvCxnSpPr>
            <a:stCxn id="253" idx="3"/>
            <a:endCxn id="257" idx="1"/>
          </p:cNvCxnSpPr>
          <p:nvPr/>
        </p:nvCxnSpPr>
        <p:spPr>
          <a:xfrm>
            <a:off x="3197219" y="2944489"/>
            <a:ext cx="2299800" cy="138600"/>
          </a:xfrm>
          <a:prstGeom prst="curvedConnector3">
            <a:avLst>
              <a:gd name="adj1" fmla="val 50003"/>
            </a:avLst>
          </a:prstGeom>
          <a:noFill/>
          <a:ln w="25400" cap="flat" cmpd="sng">
            <a:solidFill>
              <a:schemeClr val="accent4"/>
            </a:solidFill>
            <a:prstDash val="dash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64" name="Google Shape;264;p30"/>
          <p:cNvCxnSpPr>
            <a:stCxn id="254" idx="3"/>
            <a:endCxn id="258" idx="2"/>
          </p:cNvCxnSpPr>
          <p:nvPr/>
        </p:nvCxnSpPr>
        <p:spPr>
          <a:xfrm>
            <a:off x="3201058" y="3447640"/>
            <a:ext cx="4385100" cy="469200"/>
          </a:xfrm>
          <a:prstGeom prst="curvedConnector4">
            <a:avLst>
              <a:gd name="adj1" fmla="val 41295"/>
              <a:gd name="adj2" fmla="val 136567"/>
            </a:avLst>
          </a:prstGeom>
          <a:noFill/>
          <a:ln w="25400" cap="flat" cmpd="sng">
            <a:solidFill>
              <a:schemeClr val="accent4"/>
            </a:solidFill>
            <a:prstDash val="dash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cxnSp>
        <p:nvCxnSpPr>
          <p:cNvPr id="265" name="Google Shape;265;p30"/>
          <p:cNvCxnSpPr>
            <a:stCxn id="255" idx="0"/>
          </p:cNvCxnSpPr>
          <p:nvPr/>
        </p:nvCxnSpPr>
        <p:spPr>
          <a:xfrm rot="5400000" flipH="1">
            <a:off x="6101837" y="1292250"/>
            <a:ext cx="323400" cy="6600"/>
          </a:xfrm>
          <a:prstGeom prst="bentConnector3">
            <a:avLst>
              <a:gd name="adj1" fmla="val 50000"/>
            </a:avLst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266" name="Google Shape;266;p30"/>
          <p:cNvSpPr/>
          <p:nvPr/>
        </p:nvSpPr>
        <p:spPr>
          <a:xfrm>
            <a:off x="2079472" y="4173769"/>
            <a:ext cx="418500" cy="3138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0"/>
          <p:cNvSpPr/>
          <p:nvPr/>
        </p:nvSpPr>
        <p:spPr>
          <a:xfrm>
            <a:off x="2175080" y="4234069"/>
            <a:ext cx="227292" cy="170618"/>
          </a:xfrm>
          <a:custGeom>
            <a:avLst/>
            <a:gdLst/>
            <a:ahLst/>
            <a:cxnLst/>
            <a:rect l="l" t="t" r="r" b="b"/>
            <a:pathLst>
              <a:path w="227292" h="227490" extrusionOk="0">
                <a:moveTo>
                  <a:pt x="113646" y="198"/>
                </a:moveTo>
                <a:lnTo>
                  <a:pt x="0" y="113844"/>
                </a:lnTo>
                <a:lnTo>
                  <a:pt x="28412" y="113844"/>
                </a:lnTo>
                <a:lnTo>
                  <a:pt x="28412" y="227490"/>
                </a:lnTo>
                <a:lnTo>
                  <a:pt x="198881" y="227490"/>
                </a:lnTo>
                <a:lnTo>
                  <a:pt x="198881" y="113844"/>
                </a:lnTo>
                <a:lnTo>
                  <a:pt x="227292" y="113844"/>
                </a:lnTo>
                <a:lnTo>
                  <a:pt x="184675" y="71227"/>
                </a:lnTo>
                <a:lnTo>
                  <a:pt x="184675" y="14404"/>
                </a:lnTo>
                <a:lnTo>
                  <a:pt x="156263" y="14404"/>
                </a:lnTo>
                <a:lnTo>
                  <a:pt x="156263" y="42815"/>
                </a:lnTo>
                <a:lnTo>
                  <a:pt x="113646" y="198"/>
                </a:lnTo>
                <a:close/>
              </a:path>
              <a:path w="227292" h="227490" fill="darkenLess" extrusionOk="0">
                <a:moveTo>
                  <a:pt x="184675" y="71227"/>
                </a:moveTo>
                <a:lnTo>
                  <a:pt x="184675" y="14404"/>
                </a:lnTo>
                <a:lnTo>
                  <a:pt x="156263" y="14404"/>
                </a:lnTo>
                <a:lnTo>
                  <a:pt x="156263" y="42815"/>
                </a:lnTo>
                <a:lnTo>
                  <a:pt x="184675" y="71227"/>
                </a:lnTo>
                <a:close/>
                <a:moveTo>
                  <a:pt x="28412" y="113844"/>
                </a:moveTo>
                <a:lnTo>
                  <a:pt x="28412" y="227490"/>
                </a:lnTo>
                <a:lnTo>
                  <a:pt x="99440" y="227490"/>
                </a:lnTo>
                <a:lnTo>
                  <a:pt x="99440" y="170667"/>
                </a:lnTo>
                <a:lnTo>
                  <a:pt x="127852" y="170667"/>
                </a:lnTo>
                <a:lnTo>
                  <a:pt x="127852" y="227490"/>
                </a:lnTo>
                <a:lnTo>
                  <a:pt x="198881" y="227490"/>
                </a:lnTo>
                <a:lnTo>
                  <a:pt x="198881" y="113844"/>
                </a:lnTo>
                <a:lnTo>
                  <a:pt x="28412" y="113844"/>
                </a:lnTo>
                <a:close/>
              </a:path>
              <a:path w="227292" h="227490" fill="darken" extrusionOk="0">
                <a:moveTo>
                  <a:pt x="113646" y="198"/>
                </a:moveTo>
                <a:lnTo>
                  <a:pt x="0" y="113844"/>
                </a:lnTo>
                <a:lnTo>
                  <a:pt x="227292" y="113844"/>
                </a:lnTo>
                <a:lnTo>
                  <a:pt x="113646" y="198"/>
                </a:lnTo>
                <a:close/>
                <a:moveTo>
                  <a:pt x="99440" y="170667"/>
                </a:moveTo>
                <a:lnTo>
                  <a:pt x="127852" y="170667"/>
                </a:lnTo>
                <a:lnTo>
                  <a:pt x="127852" y="227490"/>
                </a:lnTo>
                <a:lnTo>
                  <a:pt x="99440" y="227490"/>
                </a:lnTo>
                <a:lnTo>
                  <a:pt x="99440" y="170667"/>
                </a:lnTo>
                <a:close/>
              </a:path>
              <a:path w="227292" h="227490" fill="none" extrusionOk="0">
                <a:moveTo>
                  <a:pt x="113646" y="198"/>
                </a:moveTo>
                <a:lnTo>
                  <a:pt x="156263" y="42815"/>
                </a:lnTo>
                <a:lnTo>
                  <a:pt x="156263" y="14404"/>
                </a:lnTo>
                <a:lnTo>
                  <a:pt x="184675" y="14404"/>
                </a:lnTo>
                <a:lnTo>
                  <a:pt x="184675" y="71227"/>
                </a:lnTo>
                <a:lnTo>
                  <a:pt x="227292" y="113844"/>
                </a:lnTo>
                <a:lnTo>
                  <a:pt x="198881" y="113844"/>
                </a:lnTo>
                <a:lnTo>
                  <a:pt x="198881" y="227490"/>
                </a:lnTo>
                <a:lnTo>
                  <a:pt x="28412" y="227490"/>
                </a:lnTo>
                <a:lnTo>
                  <a:pt x="28412" y="113844"/>
                </a:lnTo>
                <a:lnTo>
                  <a:pt x="0" y="113844"/>
                </a:lnTo>
                <a:lnTo>
                  <a:pt x="113646" y="198"/>
                </a:lnTo>
                <a:close/>
                <a:moveTo>
                  <a:pt x="156263" y="42815"/>
                </a:moveTo>
                <a:lnTo>
                  <a:pt x="184675" y="71227"/>
                </a:lnTo>
                <a:moveTo>
                  <a:pt x="198881" y="113844"/>
                </a:moveTo>
                <a:lnTo>
                  <a:pt x="28412" y="113844"/>
                </a:lnTo>
                <a:moveTo>
                  <a:pt x="99440" y="227490"/>
                </a:moveTo>
                <a:lnTo>
                  <a:pt x="99440" y="170667"/>
                </a:lnTo>
                <a:lnTo>
                  <a:pt x="127852" y="170667"/>
                </a:lnTo>
                <a:lnTo>
                  <a:pt x="127852" y="227490"/>
                </a:lnTo>
              </a:path>
              <a:path w="227292" h="227490" fill="none" extrusionOk="0">
                <a:moveTo>
                  <a:pt x="3846" y="117016"/>
                </a:moveTo>
                <a:lnTo>
                  <a:pt x="112251" y="0"/>
                </a:lnTo>
              </a:path>
            </a:pathLst>
          </a:cu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30"/>
          <p:cNvCxnSpPr>
            <a:stCxn id="252" idx="3"/>
            <a:endCxn id="256" idx="1"/>
          </p:cNvCxnSpPr>
          <p:nvPr/>
        </p:nvCxnSpPr>
        <p:spPr>
          <a:xfrm>
            <a:off x="2977176" y="2207979"/>
            <a:ext cx="1318800" cy="305400"/>
          </a:xfrm>
          <a:prstGeom prst="curvedConnector3">
            <a:avLst>
              <a:gd name="adj1" fmla="val 50000"/>
            </a:avLst>
          </a:prstGeom>
          <a:noFill/>
          <a:ln w="25400" cap="flat" cmpd="sng">
            <a:solidFill>
              <a:schemeClr val="accent4"/>
            </a:solidFill>
            <a:prstDash val="dash"/>
            <a:round/>
            <a:headEnd type="stealth" w="med" len="med"/>
            <a:tailEnd type="stealth" w="med" len="med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1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23</a:t>
            </a:fld>
            <a:endParaRPr/>
          </a:p>
        </p:txBody>
      </p:sp>
      <p:sp>
        <p:nvSpPr>
          <p:cNvPr id="274" name="Google Shape;274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Modelling the GUI as a set of objects</a:t>
            </a:r>
            <a:endParaRPr/>
          </a:p>
        </p:txBody>
      </p:sp>
      <p:sp>
        <p:nvSpPr>
          <p:cNvPr id="275" name="Google Shape;275;p3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Android has been offering, since its inception, a set of classes aimed at modelling the widgets of the GUI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These classes are part of an inheritance hierarchy rooted at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android.view.View</a:t>
            </a:r>
            <a:r>
              <a:rPr lang="it"/>
              <a:t> class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hierarchy is built according to the composite pattern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Its aim  is to organize objects into tree structures to represent part-whole hierarchies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Class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android.view.View</a:t>
            </a:r>
            <a:r>
              <a:rPr lang="it">
                <a:solidFill>
                  <a:schemeClr val="dk1"/>
                </a:solidFill>
              </a:rPr>
              <a:t> represents any widget that may be displayed onto the screen</a:t>
            </a:r>
            <a:endParaRPr>
              <a:solidFill>
                <a:schemeClr val="dk1"/>
              </a:solidFill>
            </a:endParaRPr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Its subclass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android.view.ViewGroup</a:t>
            </a:r>
            <a:r>
              <a:rPr lang="it">
                <a:solidFill>
                  <a:schemeClr val="dk1"/>
                </a:solidFill>
              </a:rPr>
              <a:t> represents the subset of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it">
                <a:solidFill>
                  <a:schemeClr val="dk1"/>
                </a:solidFill>
              </a:rPr>
              <a:t> that may act as a visual container, i.e., have children</a:t>
            </a: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2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24</a:t>
            </a:fld>
            <a:endParaRPr/>
          </a:p>
        </p:txBody>
      </p:sp>
      <p:sp>
        <p:nvSpPr>
          <p:cNvPr id="282" name="Google Shape;282;p32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 composite pattern</a:t>
            </a:r>
            <a:endParaRPr/>
          </a:p>
        </p:txBody>
      </p:sp>
      <p:grpSp>
        <p:nvGrpSpPr>
          <p:cNvPr id="283" name="Google Shape;283;p32"/>
          <p:cNvGrpSpPr/>
          <p:nvPr/>
        </p:nvGrpSpPr>
        <p:grpSpPr>
          <a:xfrm>
            <a:off x="5000137" y="2571750"/>
            <a:ext cx="1581135" cy="551032"/>
            <a:chOff x="5578550" y="4149593"/>
            <a:chExt cx="2409900" cy="734710"/>
          </a:xfrm>
        </p:grpSpPr>
        <p:sp>
          <p:nvSpPr>
            <p:cNvPr id="284" name="Google Shape;284;p32"/>
            <p:cNvSpPr/>
            <p:nvPr/>
          </p:nvSpPr>
          <p:spPr>
            <a:xfrm>
              <a:off x="5578550" y="4149593"/>
              <a:ext cx="2409900" cy="476100"/>
            </a:xfrm>
            <a:prstGeom prst="rect">
              <a:avLst/>
            </a:prstGeom>
            <a:solidFill>
              <a:srgbClr val="674EA7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it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ImageView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32"/>
            <p:cNvSpPr/>
            <p:nvPr/>
          </p:nvSpPr>
          <p:spPr>
            <a:xfrm>
              <a:off x="5578550" y="4625792"/>
              <a:ext cx="2409900" cy="1293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32"/>
            <p:cNvSpPr/>
            <p:nvPr/>
          </p:nvSpPr>
          <p:spPr>
            <a:xfrm>
              <a:off x="5578550" y="4755003"/>
              <a:ext cx="2409900" cy="1293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7" name="Google Shape;287;p32"/>
          <p:cNvCxnSpPr>
            <a:stCxn id="284" idx="0"/>
            <a:endCxn id="288" idx="3"/>
          </p:cNvCxnSpPr>
          <p:nvPr/>
        </p:nvCxnSpPr>
        <p:spPr>
          <a:xfrm rot="5400000" flipH="1">
            <a:off x="4705155" y="1486200"/>
            <a:ext cx="290700" cy="18804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289" name="Google Shape;289;p32"/>
          <p:cNvCxnSpPr>
            <a:stCxn id="290" idx="0"/>
            <a:endCxn id="288" idx="3"/>
          </p:cNvCxnSpPr>
          <p:nvPr/>
        </p:nvCxnSpPr>
        <p:spPr>
          <a:xfrm rot="5400000" flipH="1">
            <a:off x="5649381" y="542100"/>
            <a:ext cx="290700" cy="3768600"/>
          </a:xfrm>
          <a:prstGeom prst="bentConnector3">
            <a:avLst>
              <a:gd name="adj1" fmla="val 49994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291" name="Google Shape;291;p32"/>
          <p:cNvCxnSpPr>
            <a:stCxn id="292" idx="0"/>
            <a:endCxn id="288" idx="3"/>
          </p:cNvCxnSpPr>
          <p:nvPr/>
        </p:nvCxnSpPr>
        <p:spPr>
          <a:xfrm rot="-5400000">
            <a:off x="3419402" y="2080950"/>
            <a:ext cx="290700" cy="690900"/>
          </a:xfrm>
          <a:prstGeom prst="bentConnector3">
            <a:avLst>
              <a:gd name="adj1" fmla="val 49994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grpSp>
        <p:nvGrpSpPr>
          <p:cNvPr id="293" name="Google Shape;293;p32"/>
          <p:cNvGrpSpPr/>
          <p:nvPr/>
        </p:nvGrpSpPr>
        <p:grpSpPr>
          <a:xfrm>
            <a:off x="970372" y="4215938"/>
            <a:ext cx="2409901" cy="513278"/>
            <a:chOff x="3016131" y="1904800"/>
            <a:chExt cx="2409901" cy="684371"/>
          </a:xfrm>
        </p:grpSpPr>
        <p:sp>
          <p:nvSpPr>
            <p:cNvPr id="294" name="Google Shape;294;p32"/>
            <p:cNvSpPr/>
            <p:nvPr/>
          </p:nvSpPr>
          <p:spPr>
            <a:xfrm>
              <a:off x="3016131" y="1904800"/>
              <a:ext cx="2409900" cy="476100"/>
            </a:xfrm>
            <a:prstGeom prst="rect">
              <a:avLst/>
            </a:prstGeom>
            <a:solidFill>
              <a:srgbClr val="0B5394"/>
            </a:solidFill>
            <a:ln w="2540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it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LinearLayout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32"/>
            <p:cNvSpPr/>
            <p:nvPr/>
          </p:nvSpPr>
          <p:spPr>
            <a:xfrm rot="10800000" flipH="1">
              <a:off x="3016132" y="2380971"/>
              <a:ext cx="2409900" cy="1092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32"/>
            <p:cNvSpPr/>
            <p:nvPr/>
          </p:nvSpPr>
          <p:spPr>
            <a:xfrm>
              <a:off x="3016132" y="2490171"/>
              <a:ext cx="2409900" cy="99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97" name="Google Shape;297;p32"/>
          <p:cNvCxnSpPr>
            <a:stCxn id="294" idx="0"/>
            <a:endCxn id="298" idx="3"/>
          </p:cNvCxnSpPr>
          <p:nvPr/>
        </p:nvCxnSpPr>
        <p:spPr>
          <a:xfrm rot="-5400000">
            <a:off x="2569972" y="3566588"/>
            <a:ext cx="254700" cy="1044000"/>
          </a:xfrm>
          <a:prstGeom prst="bentConnector3">
            <a:avLst>
              <a:gd name="adj1" fmla="val 49995"/>
            </a:avLst>
          </a:prstGeom>
          <a:noFill/>
          <a:ln w="3810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grpSp>
        <p:nvGrpSpPr>
          <p:cNvPr id="299" name="Google Shape;299;p32"/>
          <p:cNvGrpSpPr/>
          <p:nvPr/>
        </p:nvGrpSpPr>
        <p:grpSpPr>
          <a:xfrm>
            <a:off x="3794853" y="4215938"/>
            <a:ext cx="2409901" cy="513278"/>
            <a:chOff x="3016131" y="1904800"/>
            <a:chExt cx="2409901" cy="684371"/>
          </a:xfrm>
        </p:grpSpPr>
        <p:sp>
          <p:nvSpPr>
            <p:cNvPr id="300" name="Google Shape;300;p32"/>
            <p:cNvSpPr/>
            <p:nvPr/>
          </p:nvSpPr>
          <p:spPr>
            <a:xfrm>
              <a:off x="3016131" y="1904800"/>
              <a:ext cx="2409900" cy="476100"/>
            </a:xfrm>
            <a:prstGeom prst="rect">
              <a:avLst/>
            </a:prstGeom>
            <a:solidFill>
              <a:srgbClr val="0B5394"/>
            </a:solidFill>
            <a:ln w="2540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it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RelativeLayout</a:t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32"/>
            <p:cNvSpPr/>
            <p:nvPr/>
          </p:nvSpPr>
          <p:spPr>
            <a:xfrm rot="10800000" flipH="1">
              <a:off x="3016132" y="2380971"/>
              <a:ext cx="2409900" cy="1092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32"/>
            <p:cNvSpPr/>
            <p:nvPr/>
          </p:nvSpPr>
          <p:spPr>
            <a:xfrm>
              <a:off x="3016132" y="2490171"/>
              <a:ext cx="2409900" cy="99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03" name="Google Shape;303;p32"/>
          <p:cNvCxnSpPr>
            <a:stCxn id="300" idx="0"/>
            <a:endCxn id="298" idx="3"/>
          </p:cNvCxnSpPr>
          <p:nvPr/>
        </p:nvCxnSpPr>
        <p:spPr>
          <a:xfrm rot="5400000" flipH="1">
            <a:off x="3982203" y="3198338"/>
            <a:ext cx="254700" cy="1780500"/>
          </a:xfrm>
          <a:prstGeom prst="bentConnector3">
            <a:avLst>
              <a:gd name="adj1" fmla="val 49995"/>
            </a:avLst>
          </a:prstGeom>
          <a:noFill/>
          <a:ln w="3810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grpSp>
        <p:nvGrpSpPr>
          <p:cNvPr id="304" name="Google Shape;304;p32"/>
          <p:cNvGrpSpPr/>
          <p:nvPr/>
        </p:nvGrpSpPr>
        <p:grpSpPr>
          <a:xfrm>
            <a:off x="6891637" y="3528304"/>
            <a:ext cx="1581137" cy="509371"/>
            <a:chOff x="5578548" y="4149593"/>
            <a:chExt cx="2409902" cy="679162"/>
          </a:xfrm>
        </p:grpSpPr>
        <p:sp>
          <p:nvSpPr>
            <p:cNvPr id="305" name="Google Shape;305;p32"/>
            <p:cNvSpPr/>
            <p:nvPr/>
          </p:nvSpPr>
          <p:spPr>
            <a:xfrm>
              <a:off x="5578548" y="4149593"/>
              <a:ext cx="2409900" cy="476100"/>
            </a:xfrm>
            <a:prstGeom prst="rect">
              <a:avLst/>
            </a:prstGeom>
            <a:solidFill>
              <a:srgbClr val="674EA7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it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Button</a:t>
              </a:r>
              <a:endParaRPr sz="10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32"/>
            <p:cNvSpPr/>
            <p:nvPr/>
          </p:nvSpPr>
          <p:spPr>
            <a:xfrm>
              <a:off x="5578550" y="4625793"/>
              <a:ext cx="2409900" cy="1011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32"/>
            <p:cNvSpPr/>
            <p:nvPr/>
          </p:nvSpPr>
          <p:spPr>
            <a:xfrm>
              <a:off x="5578550" y="4727655"/>
              <a:ext cx="2409900" cy="1011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308" name="Google Shape;308;p32"/>
          <p:cNvCxnSpPr>
            <a:stCxn id="305" idx="0"/>
            <a:endCxn id="309" idx="3"/>
          </p:cNvCxnSpPr>
          <p:nvPr/>
        </p:nvCxnSpPr>
        <p:spPr>
          <a:xfrm rot="-5400000">
            <a:off x="7576005" y="3421504"/>
            <a:ext cx="213000" cy="600"/>
          </a:xfrm>
          <a:prstGeom prst="bentConnector3">
            <a:avLst>
              <a:gd name="adj1" fmla="val 50018"/>
            </a:avLst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310" name="Google Shape;310;p32"/>
          <p:cNvCxnSpPr>
            <a:stCxn id="311" idx="1"/>
            <a:endCxn id="312" idx="1"/>
          </p:cNvCxnSpPr>
          <p:nvPr/>
        </p:nvCxnSpPr>
        <p:spPr>
          <a:xfrm rot="10800000" flipH="1">
            <a:off x="1675870" y="1049877"/>
            <a:ext cx="1035900" cy="1927500"/>
          </a:xfrm>
          <a:prstGeom prst="bentConnector3">
            <a:avLst>
              <a:gd name="adj1" fmla="val -22068"/>
            </a:avLst>
          </a:prstGeom>
          <a:noFill/>
          <a:ln w="2540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sp>
        <p:nvSpPr>
          <p:cNvPr id="313" name="Google Shape;313;p32"/>
          <p:cNvSpPr txBox="1"/>
          <p:nvPr/>
        </p:nvSpPr>
        <p:spPr>
          <a:xfrm>
            <a:off x="676701" y="2720831"/>
            <a:ext cx="10440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2"/>
          <p:cNvSpPr txBox="1"/>
          <p:nvPr/>
        </p:nvSpPr>
        <p:spPr>
          <a:xfrm>
            <a:off x="1797239" y="794973"/>
            <a:ext cx="9144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0..*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child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5" name="Google Shape;315;p32"/>
          <p:cNvGrpSpPr/>
          <p:nvPr/>
        </p:nvGrpSpPr>
        <p:grpSpPr>
          <a:xfrm>
            <a:off x="2711638" y="871316"/>
            <a:ext cx="2409901" cy="1409619"/>
            <a:chOff x="3210364" y="1217379"/>
            <a:chExt cx="2409901" cy="1879492"/>
          </a:xfrm>
        </p:grpSpPr>
        <p:grpSp>
          <p:nvGrpSpPr>
            <p:cNvPr id="316" name="Google Shape;316;p32"/>
            <p:cNvGrpSpPr/>
            <p:nvPr/>
          </p:nvGrpSpPr>
          <p:grpSpPr>
            <a:xfrm>
              <a:off x="3210364" y="1217379"/>
              <a:ext cx="2409901" cy="1625400"/>
              <a:chOff x="3016131" y="1904800"/>
              <a:chExt cx="2409901" cy="1625400"/>
            </a:xfrm>
          </p:grpSpPr>
          <p:sp>
            <p:nvSpPr>
              <p:cNvPr id="312" name="Google Shape;312;p32"/>
              <p:cNvSpPr/>
              <p:nvPr/>
            </p:nvSpPr>
            <p:spPr>
              <a:xfrm>
                <a:off x="3016131" y="1904800"/>
                <a:ext cx="2409900" cy="476100"/>
              </a:xfrm>
              <a:prstGeom prst="rect">
                <a:avLst/>
              </a:prstGeom>
              <a:solidFill>
                <a:srgbClr val="674EA7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Arial"/>
                  <a:buNone/>
                </a:pPr>
                <a:r>
                  <a:rPr lang="it" sz="16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View</a:t>
                </a:r>
                <a:endParaRPr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32"/>
              <p:cNvSpPr/>
              <p:nvPr/>
            </p:nvSpPr>
            <p:spPr>
              <a:xfrm>
                <a:off x="3016131" y="2381000"/>
                <a:ext cx="2409900" cy="1536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32"/>
              <p:cNvSpPr/>
              <p:nvPr/>
            </p:nvSpPr>
            <p:spPr>
              <a:xfrm>
                <a:off x="3016132" y="2534500"/>
                <a:ext cx="2409900" cy="9957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it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 onDraw(…)</a:t>
                </a:r>
                <a:endParaRPr sz="100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it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 onMeasure(…)</a:t>
                </a:r>
                <a:endParaRPr sz="100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it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sz="1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8" name="Google Shape;288;p32"/>
            <p:cNvSpPr/>
            <p:nvPr/>
          </p:nvSpPr>
          <p:spPr>
            <a:xfrm>
              <a:off x="4261466" y="2842771"/>
              <a:ext cx="295200" cy="2541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32"/>
          <p:cNvGrpSpPr/>
          <p:nvPr/>
        </p:nvGrpSpPr>
        <p:grpSpPr>
          <a:xfrm>
            <a:off x="6888463" y="2571750"/>
            <a:ext cx="1581137" cy="743703"/>
            <a:chOff x="7387189" y="3723680"/>
            <a:chExt cx="1581137" cy="991604"/>
          </a:xfrm>
        </p:grpSpPr>
        <p:grpSp>
          <p:nvGrpSpPr>
            <p:cNvPr id="320" name="Google Shape;320;p32"/>
            <p:cNvGrpSpPr/>
            <p:nvPr/>
          </p:nvGrpSpPr>
          <p:grpSpPr>
            <a:xfrm>
              <a:off x="7387189" y="3723680"/>
              <a:ext cx="1581137" cy="734710"/>
              <a:chOff x="5578550" y="4149593"/>
              <a:chExt cx="2409902" cy="734710"/>
            </a:xfrm>
          </p:grpSpPr>
          <p:sp>
            <p:nvSpPr>
              <p:cNvPr id="290" name="Google Shape;290;p32"/>
              <p:cNvSpPr/>
              <p:nvPr/>
            </p:nvSpPr>
            <p:spPr>
              <a:xfrm>
                <a:off x="5578550" y="4149593"/>
                <a:ext cx="2409900" cy="476100"/>
              </a:xfrm>
              <a:prstGeom prst="rect">
                <a:avLst/>
              </a:prstGeom>
              <a:solidFill>
                <a:srgbClr val="674EA7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Arial"/>
                  <a:buNone/>
                </a:pPr>
                <a:r>
                  <a:rPr lang="it" sz="16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TextView</a:t>
                </a:r>
                <a:endParaRPr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32"/>
              <p:cNvSpPr/>
              <p:nvPr/>
            </p:nvSpPr>
            <p:spPr>
              <a:xfrm>
                <a:off x="5578550" y="4625792"/>
                <a:ext cx="2409900" cy="1293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32"/>
              <p:cNvSpPr/>
              <p:nvPr/>
            </p:nvSpPr>
            <p:spPr>
              <a:xfrm>
                <a:off x="5578552" y="4755003"/>
                <a:ext cx="2409900" cy="1293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9" name="Google Shape;309;p32"/>
            <p:cNvSpPr/>
            <p:nvPr/>
          </p:nvSpPr>
          <p:spPr>
            <a:xfrm>
              <a:off x="8033000" y="4461184"/>
              <a:ext cx="295200" cy="2541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3" name="Google Shape;323;p32"/>
          <p:cNvGrpSpPr/>
          <p:nvPr/>
        </p:nvGrpSpPr>
        <p:grpSpPr>
          <a:xfrm>
            <a:off x="1675870" y="2571750"/>
            <a:ext cx="2748382" cy="1389587"/>
            <a:chOff x="2174596" y="3723680"/>
            <a:chExt cx="2748382" cy="1852783"/>
          </a:xfrm>
        </p:grpSpPr>
        <p:grpSp>
          <p:nvGrpSpPr>
            <p:cNvPr id="324" name="Google Shape;324;p32"/>
            <p:cNvGrpSpPr/>
            <p:nvPr/>
          </p:nvGrpSpPr>
          <p:grpSpPr>
            <a:xfrm>
              <a:off x="2513078" y="3723680"/>
              <a:ext cx="2409900" cy="1601110"/>
              <a:chOff x="3016131" y="1904800"/>
              <a:chExt cx="2409900" cy="1601110"/>
            </a:xfrm>
          </p:grpSpPr>
          <p:sp>
            <p:nvSpPr>
              <p:cNvPr id="292" name="Google Shape;292;p32"/>
              <p:cNvSpPr/>
              <p:nvPr/>
            </p:nvSpPr>
            <p:spPr>
              <a:xfrm>
                <a:off x="3016131" y="1904800"/>
                <a:ext cx="2409900" cy="476100"/>
              </a:xfrm>
              <a:prstGeom prst="rect">
                <a:avLst/>
              </a:prstGeom>
              <a:solidFill>
                <a:srgbClr val="0B5394"/>
              </a:solidFill>
              <a:ln w="25400" cap="flat" cmpd="sng">
                <a:solidFill>
                  <a:srgbClr val="0B5394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000"/>
                  <a:buFont typeface="Arial"/>
                  <a:buNone/>
                </a:pPr>
                <a:r>
                  <a:rPr lang="it" sz="16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ViewGroup</a:t>
                </a:r>
                <a:endParaRPr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32"/>
              <p:cNvSpPr/>
              <p:nvPr/>
            </p:nvSpPr>
            <p:spPr>
              <a:xfrm>
                <a:off x="3016131" y="2380999"/>
                <a:ext cx="2409900" cy="1293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B5394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endParaRPr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32"/>
              <p:cNvSpPr/>
              <p:nvPr/>
            </p:nvSpPr>
            <p:spPr>
              <a:xfrm>
                <a:off x="3016131" y="2510210"/>
                <a:ext cx="2409900" cy="9957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rgbClr val="0B5394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it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 addView(…)</a:t>
                </a:r>
                <a:endParaRPr sz="100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it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 removeView(…)</a:t>
                </a:r>
                <a:endParaRPr sz="100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None/>
                </a:pPr>
                <a:r>
                  <a:rPr lang="it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 getChildAt(…)</a:t>
                </a:r>
                <a:endParaRPr sz="10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1" name="Google Shape;311;p32"/>
            <p:cNvSpPr/>
            <p:nvPr/>
          </p:nvSpPr>
          <p:spPr>
            <a:xfrm>
              <a:off x="2174596" y="4163866"/>
              <a:ext cx="338400" cy="201300"/>
            </a:xfrm>
            <a:prstGeom prst="diamond">
              <a:avLst/>
            </a:prstGeom>
            <a:solidFill>
              <a:schemeClr val="lt1"/>
            </a:solidFill>
            <a:ln w="2540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32"/>
            <p:cNvSpPr/>
            <p:nvPr/>
          </p:nvSpPr>
          <p:spPr>
            <a:xfrm>
              <a:off x="3570450" y="5322363"/>
              <a:ext cx="295200" cy="2541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2540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25</a:t>
            </a:fld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Create the View display hierarchy</a:t>
            </a:r>
            <a:endParaRPr/>
          </a:p>
        </p:txBody>
      </p:sp>
      <p:sp>
        <p:nvSpPr>
          <p:cNvPr id="334" name="Google Shape;334;p33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While it is possible to manually instantiate the single widgets and configure their parameters,  this is not convenient except in trivial cases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view tree is most often defined in a layout XML file, which is later transformed in a view tree by an </a:t>
            </a:r>
            <a:r>
              <a:rPr lang="it" b="1" i="1">
                <a:solidFill>
                  <a:srgbClr val="1E5F9F"/>
                </a:solidFill>
              </a:rPr>
              <a:t>inflater</a:t>
            </a:r>
            <a:r>
              <a:rPr lang="it"/>
              <a:t>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Activity method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setContentView(...)</a:t>
            </a:r>
            <a:r>
              <a:rPr lang="it"/>
              <a:t> is used to instantiate such a tree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 the first approach, the various visual components are directly instantiated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And they are connect to each other so as to form the desired hierarchy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content are configured and event handlers are registered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26</a:t>
            </a:fld>
            <a:endParaRPr/>
          </a:p>
        </p:txBody>
      </p:sp>
      <p:sp>
        <p:nvSpPr>
          <p:cNvPr id="341" name="Google Shape;341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Programmatic view creation</a:t>
            </a:r>
            <a:endParaRPr/>
          </a:p>
        </p:txBody>
      </p:sp>
      <p:sp>
        <p:nvSpPr>
          <p:cNvPr id="342" name="Google Shape;342;p34"/>
          <p:cNvSpPr txBox="1"/>
          <p:nvPr/>
        </p:nvSpPr>
        <p:spPr>
          <a:xfrm>
            <a:off x="982662" y="1059940"/>
            <a:ext cx="7178700" cy="3565200"/>
          </a:xfrm>
          <a:prstGeom prst="rect">
            <a:avLst/>
          </a:prstGeom>
          <a:solidFill>
            <a:srgbClr val="FFFFE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override fun onCreate(savedInstanceState: Bundle?) {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super.onCreate(savedInstanceState)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// create and configure the main container</a:t>
            </a:r>
            <a:endParaRPr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ll = LinearLayout(this)               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ll.orientation = LinearLayout.VERTICAL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// create and configure the parts it contains</a:t>
            </a:r>
            <a:endParaRPr sz="1200" b="1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iv = ImageView(this)                   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iv.setImageResource(R.mipmap.ic_launcher)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tv = TextView(this)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tv.text = "Panorama"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tv.gravity = Gravity.CENTER_HORIZONTAL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b = Button(this)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b.text = "Send"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ll.addView(iv)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ll.addView(tv)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ll.addView(b)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// show the hierarchy</a:t>
            </a:r>
            <a:endParaRPr sz="1200"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setContentView(ll)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27</a:t>
            </a:fld>
            <a:endParaRPr/>
          </a:p>
        </p:txBody>
      </p:sp>
      <p:sp>
        <p:nvSpPr>
          <p:cNvPr id="349" name="Google Shape;349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Programmatic view creation</a:t>
            </a:r>
            <a:endParaRPr/>
          </a:p>
        </p:txBody>
      </p:sp>
      <p:sp>
        <p:nvSpPr>
          <p:cNvPr id="350" name="Google Shape;350;p3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Pros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Flexibility:  You can insert/configure each component on the basis of the data processed by the application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Control: everything that is created has been done explicitly by the programmer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Cons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Maintenance is difficult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Poor support for internationalization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28</a:t>
            </a:fld>
            <a:endParaRPr/>
          </a:p>
        </p:txBody>
      </p:sp>
      <p:sp>
        <p:nvSpPr>
          <p:cNvPr id="357" name="Google Shape;357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Create a view via XML </a:t>
            </a:r>
            <a:endParaRPr/>
          </a:p>
        </p:txBody>
      </p:sp>
      <p:sp>
        <p:nvSpPr>
          <p:cNvPr id="358" name="Google Shape;358;p36"/>
          <p:cNvSpPr txBox="1">
            <a:spLocks noGrp="1"/>
          </p:cNvSpPr>
          <p:nvPr>
            <p:ph type="body" idx="1"/>
          </p:nvPr>
        </p:nvSpPr>
        <p:spPr>
          <a:xfrm>
            <a:off x="311150" y="1244200"/>
            <a:ext cx="8521800" cy="35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XML files in the folder "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res/layout</a:t>
            </a:r>
            <a:r>
              <a:rPr lang="it"/>
              <a:t>" describe the visual hierarchy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build environment automatically associates, to each such file, an integer constant in the class R.layout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name of the constant is the name of the file, the value is automatically selected in order to make it unique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overloaded version of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setContentView(…)</a:t>
            </a:r>
            <a:r>
              <a:rPr lang="it"/>
              <a:t> method accepts an integer as a parameter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is used to identify and load the XML file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For each element described in the file, </a:t>
            </a:r>
            <a:br>
              <a:rPr lang="it"/>
            </a:br>
            <a:r>
              <a:rPr lang="it"/>
              <a:t>the corresponding Kotlin object is created </a:t>
            </a:r>
            <a:br>
              <a:rPr lang="it"/>
            </a:br>
            <a:r>
              <a:rPr lang="it"/>
              <a:t>and initialized with all its attributes</a:t>
            </a:r>
            <a:endParaRPr/>
          </a:p>
        </p:txBody>
      </p:sp>
      <p:sp>
        <p:nvSpPr>
          <p:cNvPr id="359" name="Google Shape;359;p36"/>
          <p:cNvSpPr txBox="1"/>
          <p:nvPr/>
        </p:nvSpPr>
        <p:spPr>
          <a:xfrm>
            <a:off x="4659600" y="3698450"/>
            <a:ext cx="4172700" cy="831000"/>
          </a:xfrm>
          <a:prstGeom prst="rect">
            <a:avLst/>
          </a:prstGeom>
          <a:solidFill>
            <a:srgbClr val="FFFFE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override fun onCreate(b: Bundle?) {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super.onCreate(b)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2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setContentView(R.layout.activity_main)</a:t>
            </a:r>
            <a:endParaRPr sz="1200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7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29</a:t>
            </a:fld>
            <a:endParaRPr/>
          </a:p>
        </p:txBody>
      </p:sp>
      <p:sp>
        <p:nvSpPr>
          <p:cNvPr id="366" name="Google Shape;366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Create a view via XML</a:t>
            </a:r>
            <a:endParaRPr/>
          </a:p>
        </p:txBody>
      </p:sp>
      <p:sp>
        <p:nvSpPr>
          <p:cNvPr id="367" name="Google Shape;367;p37"/>
          <p:cNvSpPr txBox="1"/>
          <p:nvPr/>
        </p:nvSpPr>
        <p:spPr>
          <a:xfrm>
            <a:off x="777934" y="1072166"/>
            <a:ext cx="7518600" cy="3570000"/>
          </a:xfrm>
          <a:prstGeom prst="rect">
            <a:avLst/>
          </a:prstGeom>
          <a:solidFill>
            <a:srgbClr val="FFFFE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&lt;?xml version="1.0" encoding="utf-8"?&gt;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it" sz="1200" b="1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xmlns:android=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"http://schemas.android.com/apk/res/android"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android:orientation="vertical"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android:layout_width="match_parent"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android:layout_height="match_parent"&gt;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&lt;</a:t>
            </a:r>
            <a:r>
              <a:rPr lang="it" sz="1200" b="1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ImageView</a:t>
            </a:r>
            <a:endParaRPr sz="1200" b="1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android:layout_width="match_parent"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android:layout_height="wrap_content"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android:src="@drawable/panorama"/&gt;   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&lt;</a:t>
            </a:r>
            <a:r>
              <a:rPr lang="it" sz="1200" b="1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endParaRPr sz="1200" b="1">
              <a:solidFill>
                <a:srgbClr val="7030A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android:layout_width="match_parent"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android:layout_height="wrap_content"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android:text="@string/picture_text"/&gt; 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&lt;</a:t>
            </a:r>
            <a:r>
              <a:rPr lang="it" sz="1200" b="1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 sz="1200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android:id="@+id/button1"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android:text="@string/button_label"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android:layout_width="match_parent"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android:layout_height="wrap_content"/&gt;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it" sz="1200" b="1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p37"/>
          <p:cNvSpPr/>
          <p:nvPr/>
        </p:nvSpPr>
        <p:spPr>
          <a:xfrm>
            <a:off x="5483608" y="931636"/>
            <a:ext cx="2581500" cy="2811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res/layout/main.xml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8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30</a:t>
            </a:fld>
            <a:endParaRPr/>
          </a:p>
        </p:txBody>
      </p:sp>
      <p:sp>
        <p:nvSpPr>
          <p:cNvPr id="374" name="Google Shape;374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Create a view via XML</a:t>
            </a:r>
            <a:endParaRPr/>
          </a:p>
        </p:txBody>
      </p:sp>
      <p:sp>
        <p:nvSpPr>
          <p:cNvPr id="375" name="Google Shape;375;p38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 powerful layout editor is available to make it easy to create the XML content</a:t>
            </a:r>
            <a:endParaRPr/>
          </a:p>
        </p:txBody>
      </p:sp>
      <p:pic>
        <p:nvPicPr>
          <p:cNvPr id="376" name="Google Shape;376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0617" y="1907113"/>
            <a:ext cx="5087070" cy="2705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9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31</a:t>
            </a:fld>
            <a:endParaRPr/>
          </a:p>
        </p:txBody>
      </p:sp>
      <p:sp>
        <p:nvSpPr>
          <p:cNvPr id="383" name="Google Shape;38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Create a view via XML</a:t>
            </a:r>
            <a:endParaRPr/>
          </a:p>
        </p:txBody>
      </p:sp>
      <p:sp>
        <p:nvSpPr>
          <p:cNvPr id="384" name="Google Shape;384;p3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While the hierarchy is described via XML, customizations can be made via code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Each element of the display tree has to be identified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Each element has an attribute named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it"/>
              <a:t>, which can be assigned a unique value using the syntax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android: id = "@+id/element_name"</a:t>
            </a:r>
            <a:r>
              <a:rPr lang="it"/>
              <a:t> 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compiler automatically creates a constant named </a:t>
            </a:r>
            <a:r>
              <a:rPr lang="it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R.id.element_name</a:t>
            </a:r>
            <a:r>
              <a:rPr lang="it"/>
              <a:t>, and associates a unique value to it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After loading the XML file, you can get the reference to each widget using the generic method</a:t>
            </a:r>
            <a:endParaRPr/>
          </a:p>
          <a:p>
            <a:pPr marL="540000" lvl="1" indent="-23659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findViewById&lt;T: View&gt;(id: Int):  T?</a:t>
            </a:r>
            <a:r>
              <a:rPr lang="it"/>
              <a:t> </a:t>
            </a:r>
            <a:endParaRPr b="1">
              <a:solidFill>
                <a:srgbClr val="1E5F9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Create a view via XML</a:t>
            </a:r>
            <a:endParaRPr/>
          </a:p>
        </p:txBody>
      </p:sp>
      <p:sp>
        <p:nvSpPr>
          <p:cNvPr id="391" name="Google Shape;391;p4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32</a:t>
            </a:fld>
            <a:endParaRPr/>
          </a:p>
        </p:txBody>
      </p:sp>
      <p:sp>
        <p:nvSpPr>
          <p:cNvPr id="392" name="Google Shape;392;p40"/>
          <p:cNvSpPr txBox="1"/>
          <p:nvPr/>
        </p:nvSpPr>
        <p:spPr>
          <a:xfrm>
            <a:off x="982662" y="1212979"/>
            <a:ext cx="7178700" cy="3140100"/>
          </a:xfrm>
          <a:prstGeom prst="rect">
            <a:avLst/>
          </a:prstGeom>
          <a:solidFill>
            <a:srgbClr val="FFFFE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override fun onCreate(savedInstanceState: Bundle?)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super.onCreate(savedInstanceState)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setContentView(R.layout.activity_main)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it" sz="1800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val button : Button = findViewById(R.id.button1)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button.setOnClickListener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// … do something when button is pressed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1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33</a:t>
            </a:fld>
            <a:endParaRPr/>
          </a:p>
        </p:txBody>
      </p:sp>
      <p:sp>
        <p:nvSpPr>
          <p:cNvPr id="399" name="Google Shape;399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Create a view via XML</a:t>
            </a:r>
            <a:endParaRPr/>
          </a:p>
        </p:txBody>
      </p:sp>
      <p:sp>
        <p:nvSpPr>
          <p:cNvPr id="400" name="Google Shape;400;p4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Pros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Easy to maintain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You can use the visual editor provided in Android Studio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supports  string internationalization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Cons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is necessary to uniquely identify elements in the view in order to access them in code, in order to customize their behavior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Ids must be kept in sync between the XML representation and the Kotlin code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2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34</a:t>
            </a:fld>
            <a:endParaRPr/>
          </a:p>
        </p:txBody>
      </p:sp>
      <p:sp>
        <p:nvSpPr>
          <p:cNvPr id="406" name="Google Shape;406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Using the Jetpack Compose library</a:t>
            </a:r>
            <a:endParaRPr/>
          </a:p>
        </p:txBody>
      </p:sp>
      <p:sp>
        <p:nvSpPr>
          <p:cNvPr id="407" name="Google Shape;407;p42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Modern approach to describe GUIs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Inspired from the javascript React library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Views are described as functions labelled with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@Composable</a:t>
            </a:r>
            <a:r>
              <a:rPr lang="it"/>
              <a:t> annotation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Their body consist of invocations to other composable functions, leveraging on a concise and idiomatic use of the Kotlin programming language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entire composition is hosted in a canvas where each single item is rendered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35</a:t>
            </a:fld>
            <a:endParaRPr/>
          </a:p>
        </p:txBody>
      </p:sp>
      <p:sp>
        <p:nvSpPr>
          <p:cNvPr id="413" name="Google Shape;413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Using the Jetpack Compose library</a:t>
            </a:r>
            <a:endParaRPr/>
          </a:p>
        </p:txBody>
      </p:sp>
      <p:sp>
        <p:nvSpPr>
          <p:cNvPr id="414" name="Google Shape;414;p43"/>
          <p:cNvSpPr txBox="1"/>
          <p:nvPr/>
        </p:nvSpPr>
        <p:spPr>
          <a:xfrm>
            <a:off x="405125" y="1096969"/>
            <a:ext cx="8206500" cy="3528000"/>
          </a:xfrm>
          <a:prstGeom prst="rect">
            <a:avLst/>
          </a:prstGeom>
          <a:solidFill>
            <a:srgbClr val="FFFFE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 i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@Composable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fun Panorama(name: String) {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it" sz="1200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Modifier.padding(16.dp),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horizontalAlignment = Alignment.CenterHorizontally,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) {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it" sz="1200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Image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      painter = painterResource(R.drawable.ic_launcher_background),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contentDescription = null,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modifier = Modifier.fillMaxSize(0.8f)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it" sz="1200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("$name!")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it" sz="1200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(onClick = { /* TODO */ }) {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Text("Send")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000"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4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36</a:t>
            </a:fld>
            <a:endParaRPr/>
          </a:p>
        </p:txBody>
      </p:sp>
      <p:sp>
        <p:nvSpPr>
          <p:cNvPr id="421" name="Google Shape;421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Using the Jetpack Compose library</a:t>
            </a:r>
            <a:endParaRPr/>
          </a:p>
        </p:txBody>
      </p:sp>
      <p:sp>
        <p:nvSpPr>
          <p:cNvPr id="422" name="Google Shape;422;p44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Pros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One codebase consisting of concise and idiomatic Kotlin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Declarative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Compatible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Designed for and with Material Design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Fewer tools required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Cons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Requires programming skills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Designers find the layout editor more intuitive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5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37</a:t>
            </a:fld>
            <a:endParaRPr/>
          </a:p>
        </p:txBody>
      </p:sp>
      <p:sp>
        <p:nvSpPr>
          <p:cNvPr id="428" name="Google Shape;428;p4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Differently from what happens in most other operating systems, process boundaries in Android look more "liquid"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process that host an app is created and terminated at the system will, rather than at the user's one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Most of the times, closing an app does not terminate the corresponding process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Sometimes, a process is terminated even if the corresponding app has not been closed and it will be later recreated when the user starts interacting again with the app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Moreover, what is perceived as a single app, may actually be the composed of components belonging to different apps, hosted in their own process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articulated nature of component life cycles makes it possible to create such kind of mix-ins, provided that they are correctly implemented</a:t>
            </a:r>
            <a:endParaRPr/>
          </a:p>
        </p:txBody>
      </p:sp>
      <p:sp>
        <p:nvSpPr>
          <p:cNvPr id="429" name="Google Shape;429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Processes in Android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6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38</a:t>
            </a:fld>
            <a:endParaRPr/>
          </a:p>
        </p:txBody>
      </p:sp>
      <p:sp>
        <p:nvSpPr>
          <p:cNvPr id="436" name="Google Shape;436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4000"/>
              <a:t>Saving the state of an activity</a:t>
            </a:r>
            <a:endParaRPr/>
          </a:p>
        </p:txBody>
      </p:sp>
      <p:sp>
        <p:nvSpPr>
          <p:cNvPr id="437" name="Google Shape;437;p46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When  the operating system needs to terminate the process that hosts an activity, it notifies it by invoking </a:t>
            </a:r>
            <a:r>
              <a:rPr lang="it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onSaveInstanceState(b: Bundle)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 method is usually overridden in order to save the activity state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In the Bundle object it is possible to save simple objects (integers, boolean, String) or objects that implement the Serializable or Parcelable interfaces 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When the operating system will recreate the process, it will restore the content of the bundle and pass it to the methods </a:t>
            </a:r>
            <a:r>
              <a:rPr lang="it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onCreate(…)</a:t>
            </a:r>
            <a:r>
              <a:rPr lang="it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it"/>
              <a:t>and </a:t>
            </a:r>
            <a:r>
              <a:rPr lang="it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onRestoreInstanceState(…)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This is overridden as well in order to restore the state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If the application terminates by calling the method </a:t>
            </a:r>
            <a:r>
              <a:rPr lang="it" b="1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finish()</a:t>
            </a:r>
            <a:r>
              <a:rPr lang="it"/>
              <a:t>, nothing will be saved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Since this is interpreted as the user will to definitely terminate the process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7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39</a:t>
            </a:fld>
            <a:endParaRPr/>
          </a:p>
        </p:txBody>
      </p:sp>
      <p:sp>
        <p:nvSpPr>
          <p:cNvPr id="443" name="Google Shape;443;p47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If the application logic requires to create a new Android component (activity, service) or to notify a broadcast receiver, an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android.content.Intent</a:t>
            </a:r>
            <a:r>
              <a:rPr lang="it"/>
              <a:t> object is created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And delivered to the expected target via the intermediation of the operating system</a:t>
            </a:r>
            <a:endParaRPr/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Activities offer a set of dedicated methods, accepting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Intent</a:t>
            </a:r>
            <a:r>
              <a:rPr lang="it"/>
              <a:t> parameters, to carry out this task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startActivity(…)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startService(…)</a:t>
            </a:r>
            <a:r>
              <a:rPr lang="it"/>
              <a:t>,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sendBroadcast(…)</a:t>
            </a:r>
            <a:r>
              <a:rPr lang="it"/>
              <a:t>, …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Intents may be implicit or explicit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An </a:t>
            </a:r>
            <a:r>
              <a:rPr lang="it" b="1">
                <a:solidFill>
                  <a:srgbClr val="0B5394"/>
                </a:solidFill>
              </a:rPr>
              <a:t>implicit intent</a:t>
            </a:r>
            <a:r>
              <a:rPr lang="it"/>
              <a:t> describes an intended action (dialing a number, sending an e-mail, …) leaving to the OS the responsibility to choose what component of what apps will be in charge of performing the requested task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An </a:t>
            </a:r>
            <a:r>
              <a:rPr lang="it" b="1">
                <a:solidFill>
                  <a:srgbClr val="0B5394"/>
                </a:solidFill>
              </a:rPr>
              <a:t>explicit intent</a:t>
            </a:r>
            <a:r>
              <a:rPr lang="it"/>
              <a:t> indicates the specific component that must be activated</a:t>
            </a:r>
            <a:endParaRPr/>
          </a:p>
        </p:txBody>
      </p:sp>
      <p:sp>
        <p:nvSpPr>
          <p:cNvPr id="444" name="Google Shape;444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Intents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8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40</a:t>
            </a:fld>
            <a:endParaRPr/>
          </a:p>
        </p:txBody>
      </p:sp>
      <p:sp>
        <p:nvSpPr>
          <p:cNvPr id="451" name="Google Shape;451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Implicit Intents</a:t>
            </a:r>
            <a:endParaRPr/>
          </a:p>
        </p:txBody>
      </p:sp>
      <p:sp>
        <p:nvSpPr>
          <p:cNvPr id="452" name="Google Shape;452;p48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Indicate the action to be performed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Letting the operating system finding the component that is able to handle it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Defined in terms of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</a:rPr>
              <a:t>Action</a:t>
            </a:r>
            <a:r>
              <a:rPr lang="it"/>
              <a:t> - an unique string taken from a predefined list or specified by the programmer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</a:rPr>
              <a:t>URI</a:t>
            </a:r>
            <a:r>
              <a:rPr lang="it"/>
              <a:t> - a resource identifier whose schema can be used to identify possible recipients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 b="1">
                <a:solidFill>
                  <a:srgbClr val="0B5394"/>
                </a:solidFill>
              </a:rPr>
              <a:t>Category</a:t>
            </a:r>
            <a:r>
              <a:rPr lang="it"/>
              <a:t> - a string that provides additional details on the requested action</a:t>
            </a:r>
            <a:endParaRPr/>
          </a:p>
          <a:p>
            <a:pPr marL="715962" lvl="2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▪"/>
            </a:pPr>
            <a:r>
              <a:rPr lang="it"/>
              <a:t>If an intent refers to one or more categories, only the components that declare to manage all the listed categories in the manifest file are considered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9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41</a:t>
            </a:fld>
            <a:endParaRPr/>
          </a:p>
        </p:txBody>
      </p:sp>
      <p:sp>
        <p:nvSpPr>
          <p:cNvPr id="458" name="Google Shape;458;p4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When a well-known action must be executed by the default app in charge of it, an implicit intent is created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And delivered via method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startActivity(…)</a:t>
            </a:r>
            <a:r>
              <a:rPr lang="it"/>
              <a:t> </a:t>
            </a:r>
            <a:br>
              <a:rPr lang="it"/>
            </a:br>
            <a:br>
              <a:rPr lang="it"/>
            </a:br>
            <a:br>
              <a:rPr lang="it"/>
            </a:br>
            <a:br>
              <a:rPr lang="it"/>
            </a:br>
            <a:br>
              <a:rPr lang="it"/>
            </a:b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If necessary, extra data may be provided, storing them inside a Bundle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Since the OS is in charge of delivering the event possibly to a different process, only serializable or parcelizable data can be stored inside it</a:t>
            </a:r>
            <a:endParaRPr/>
          </a:p>
        </p:txBody>
      </p:sp>
      <p:sp>
        <p:nvSpPr>
          <p:cNvPr id="459" name="Google Shape;459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Implicit intents</a:t>
            </a:r>
            <a:endParaRPr/>
          </a:p>
        </p:txBody>
      </p:sp>
      <p:sp>
        <p:nvSpPr>
          <p:cNvPr id="460" name="Google Shape;460;p49"/>
          <p:cNvSpPr txBox="1"/>
          <p:nvPr/>
        </p:nvSpPr>
        <p:spPr>
          <a:xfrm>
            <a:off x="1790300" y="2309800"/>
            <a:ext cx="5563500" cy="12621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action:String = Intent.ACTION_DIAL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uri:URI = Uri.parse("tel:+390110905555")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dialer = Intent(action, uri)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startActivity(dialer)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42</a:t>
            </a:fld>
            <a:endParaRPr/>
          </a:p>
        </p:txBody>
      </p:sp>
      <p:sp>
        <p:nvSpPr>
          <p:cNvPr id="467" name="Google Shape;467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Explicit Intents</a:t>
            </a:r>
            <a:endParaRPr/>
          </a:p>
        </p:txBody>
      </p:sp>
      <p:sp>
        <p:nvSpPr>
          <p:cNvPr id="468" name="Google Shape;468;p50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explicit intent references the class of the component to be activated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As such, it does not need neither an action not a uri</a:t>
            </a:r>
            <a:endParaRPr/>
          </a:p>
          <a:p>
            <a:pPr marL="91440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But it is much more common to pass extra values which will be used to customize the behavior of the invoked component</a:t>
            </a:r>
            <a:endParaRPr/>
          </a:p>
        </p:txBody>
      </p:sp>
      <p:sp>
        <p:nvSpPr>
          <p:cNvPr id="469" name="Google Shape;469;p50"/>
          <p:cNvSpPr txBox="1"/>
          <p:nvPr/>
        </p:nvSpPr>
        <p:spPr>
          <a:xfrm>
            <a:off x="1726350" y="2551675"/>
            <a:ext cx="5563500" cy="12621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intent = Intent(this, SomeActivity::class.java);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intent.putExtra("someParameter", "foo")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intent.putExtra("somethingElse", 42 )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startActivity(intent);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1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43</a:t>
            </a:fld>
            <a:endParaRPr/>
          </a:p>
        </p:txBody>
      </p:sp>
      <p:sp>
        <p:nvSpPr>
          <p:cNvPr id="476" name="Google Shape;476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Transitions between activities</a:t>
            </a:r>
            <a:endParaRPr/>
          </a:p>
        </p:txBody>
      </p:sp>
      <p:sp>
        <p:nvSpPr>
          <p:cNvPr id="477" name="Google Shape;477;p5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When an activity starts another one, the latter is created and pushed on top of the activity stack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Its user interface will usually hide the previous one and the corresponding callback notifications will be issued</a:t>
            </a:r>
            <a:endParaRPr/>
          </a:p>
          <a:p>
            <a:pPr marL="541337" lvl="1" indent="-2127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It the new activity is supplied by a different app, a new process will also be started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the requested activity finishes, it will be popped from the stack, revealing the previous one that will simply be notified of being again resumed</a:t>
            </a:r>
            <a:endParaRPr/>
          </a:p>
          <a:p>
            <a:pPr marL="269875" lvl="0" indent="-244475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it">
                <a:solidFill>
                  <a:schemeClr val="dk1"/>
                </a:solidFill>
              </a:rPr>
              <a:t>Some variations on this basic pattern exist</a:t>
            </a:r>
            <a:endParaRPr>
              <a:solidFill>
                <a:schemeClr val="dk1"/>
              </a:solidFill>
            </a:endParaRPr>
          </a:p>
          <a:p>
            <a:pPr marL="541337" lvl="1" indent="-212725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The new activity might replace the former one in the activity stack</a:t>
            </a:r>
            <a:endParaRPr>
              <a:solidFill>
                <a:schemeClr val="dk1"/>
              </a:solidFill>
            </a:endParaRPr>
          </a:p>
          <a:p>
            <a:pPr marL="541337" lvl="1" indent="-212725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it">
                <a:solidFill>
                  <a:schemeClr val="dk1"/>
                </a:solidFill>
              </a:rPr>
              <a:t>The new activity might provide some kind of result to the former one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2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44</a:t>
            </a:fld>
            <a:endParaRPr/>
          </a:p>
        </p:txBody>
      </p:sp>
      <p:sp>
        <p:nvSpPr>
          <p:cNvPr id="484" name="Google Shape;484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Transitions between activities</a:t>
            </a:r>
            <a:endParaRPr/>
          </a:p>
        </p:txBody>
      </p:sp>
      <p:sp>
        <p:nvSpPr>
          <p:cNvPr id="485" name="Google Shape;485;p52"/>
          <p:cNvSpPr/>
          <p:nvPr/>
        </p:nvSpPr>
        <p:spPr>
          <a:xfrm>
            <a:off x="700225" y="2692706"/>
            <a:ext cx="1472700" cy="704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/>
              <a:t>Activity A</a:t>
            </a:r>
            <a:endParaRPr sz="2000"/>
          </a:p>
        </p:txBody>
      </p:sp>
      <p:sp>
        <p:nvSpPr>
          <p:cNvPr id="486" name="Google Shape;486;p52"/>
          <p:cNvSpPr/>
          <p:nvPr/>
        </p:nvSpPr>
        <p:spPr>
          <a:xfrm>
            <a:off x="7054325" y="2692706"/>
            <a:ext cx="1472700" cy="704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/>
              <a:t>Activity B</a:t>
            </a:r>
            <a:endParaRPr sz="2000"/>
          </a:p>
        </p:txBody>
      </p:sp>
      <p:sp>
        <p:nvSpPr>
          <p:cNvPr id="487" name="Google Shape;487;p52"/>
          <p:cNvSpPr/>
          <p:nvPr/>
        </p:nvSpPr>
        <p:spPr>
          <a:xfrm>
            <a:off x="3877275" y="2692706"/>
            <a:ext cx="1472700" cy="704700"/>
          </a:xfrm>
          <a:prstGeom prst="rect">
            <a:avLst/>
          </a:prstGeom>
          <a:solidFill>
            <a:srgbClr val="EAD1D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/>
              <a:t>Android </a:t>
            </a:r>
            <a:endParaRPr sz="2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000"/>
              <a:t>OS</a:t>
            </a:r>
            <a:endParaRPr sz="2000"/>
          </a:p>
        </p:txBody>
      </p:sp>
      <p:sp>
        <p:nvSpPr>
          <p:cNvPr id="488" name="Google Shape;488;p52"/>
          <p:cNvSpPr/>
          <p:nvPr/>
        </p:nvSpPr>
        <p:spPr>
          <a:xfrm>
            <a:off x="1071925" y="3513150"/>
            <a:ext cx="729300" cy="3936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b="1"/>
              <a:t>1</a:t>
            </a:r>
            <a:endParaRPr sz="1700" b="1"/>
          </a:p>
        </p:txBody>
      </p:sp>
      <p:sp>
        <p:nvSpPr>
          <p:cNvPr id="489" name="Google Shape;489;p52"/>
          <p:cNvSpPr/>
          <p:nvPr/>
        </p:nvSpPr>
        <p:spPr>
          <a:xfrm>
            <a:off x="4248975" y="3513150"/>
            <a:ext cx="729300" cy="3936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b="1"/>
              <a:t>2</a:t>
            </a:r>
            <a:endParaRPr sz="1700" b="1"/>
          </a:p>
        </p:txBody>
      </p:sp>
      <p:sp>
        <p:nvSpPr>
          <p:cNvPr id="490" name="Google Shape;490;p52"/>
          <p:cNvSpPr/>
          <p:nvPr/>
        </p:nvSpPr>
        <p:spPr>
          <a:xfrm>
            <a:off x="7426025" y="3538856"/>
            <a:ext cx="729300" cy="39360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b="1"/>
              <a:t>3</a:t>
            </a:r>
            <a:endParaRPr sz="1700" b="1"/>
          </a:p>
        </p:txBody>
      </p:sp>
      <p:cxnSp>
        <p:nvCxnSpPr>
          <p:cNvPr id="491" name="Google Shape;491;p52"/>
          <p:cNvCxnSpPr>
            <a:stCxn id="485" idx="0"/>
            <a:endCxn id="487" idx="0"/>
          </p:cNvCxnSpPr>
          <p:nvPr/>
        </p:nvCxnSpPr>
        <p:spPr>
          <a:xfrm rot="-5400000" flipH="1">
            <a:off x="3024775" y="1104506"/>
            <a:ext cx="600" cy="3177000"/>
          </a:xfrm>
          <a:prstGeom prst="curvedConnector3">
            <a:avLst>
              <a:gd name="adj1" fmla="val -252441667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492" name="Google Shape;492;p52"/>
          <p:cNvSpPr/>
          <p:nvPr/>
        </p:nvSpPr>
        <p:spPr>
          <a:xfrm>
            <a:off x="616975" y="1982006"/>
            <a:ext cx="1639200" cy="3936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b="1"/>
              <a:t>startActivity()</a:t>
            </a:r>
            <a:endParaRPr sz="1700" b="1"/>
          </a:p>
        </p:txBody>
      </p:sp>
      <p:sp>
        <p:nvSpPr>
          <p:cNvPr id="493" name="Google Shape;493;p52"/>
          <p:cNvSpPr/>
          <p:nvPr/>
        </p:nvSpPr>
        <p:spPr>
          <a:xfrm>
            <a:off x="2256175" y="1360013"/>
            <a:ext cx="1639200" cy="3936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Intent</a:t>
            </a:r>
            <a:endParaRPr sz="1700"/>
          </a:p>
        </p:txBody>
      </p:sp>
      <p:cxnSp>
        <p:nvCxnSpPr>
          <p:cNvPr id="494" name="Google Shape;494;p52"/>
          <p:cNvCxnSpPr/>
          <p:nvPr/>
        </p:nvCxnSpPr>
        <p:spPr>
          <a:xfrm rot="-5400000" flipH="1">
            <a:off x="6201775" y="1104506"/>
            <a:ext cx="600" cy="3177000"/>
          </a:xfrm>
          <a:prstGeom prst="curvedConnector3">
            <a:avLst>
              <a:gd name="adj1" fmla="val -252441667"/>
            </a:avLst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495" name="Google Shape;495;p52"/>
          <p:cNvSpPr/>
          <p:nvPr/>
        </p:nvSpPr>
        <p:spPr>
          <a:xfrm>
            <a:off x="6971075" y="1982006"/>
            <a:ext cx="1639200" cy="3936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 b="1"/>
              <a:t>onCreate()</a:t>
            </a:r>
            <a:endParaRPr sz="1700" b="1"/>
          </a:p>
        </p:txBody>
      </p:sp>
      <p:sp>
        <p:nvSpPr>
          <p:cNvPr id="496" name="Google Shape;496;p52"/>
          <p:cNvSpPr/>
          <p:nvPr/>
        </p:nvSpPr>
        <p:spPr>
          <a:xfrm>
            <a:off x="5349975" y="1361081"/>
            <a:ext cx="1639200" cy="3936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700"/>
              <a:t>Intent</a:t>
            </a:r>
            <a:endParaRPr sz="1700"/>
          </a:p>
        </p:txBody>
      </p:sp>
      <p:sp>
        <p:nvSpPr>
          <p:cNvPr id="497" name="Google Shape;497;p52"/>
          <p:cNvSpPr/>
          <p:nvPr/>
        </p:nvSpPr>
        <p:spPr>
          <a:xfrm>
            <a:off x="308550" y="1809169"/>
            <a:ext cx="8512875" cy="2829450"/>
          </a:xfrm>
          <a:custGeom>
            <a:avLst/>
            <a:gdLst/>
            <a:ahLst/>
            <a:cxnLst/>
            <a:rect l="l" t="t" r="r" b="b"/>
            <a:pathLst>
              <a:path w="340515" h="150904" extrusionOk="0">
                <a:moveTo>
                  <a:pt x="561" y="10098"/>
                </a:moveTo>
                <a:lnTo>
                  <a:pt x="16829" y="0"/>
                </a:lnTo>
                <a:lnTo>
                  <a:pt x="78537" y="0"/>
                </a:lnTo>
                <a:lnTo>
                  <a:pt x="90318" y="10658"/>
                </a:lnTo>
                <a:lnTo>
                  <a:pt x="90879" y="120611"/>
                </a:lnTo>
                <a:lnTo>
                  <a:pt x="242905" y="120611"/>
                </a:lnTo>
                <a:lnTo>
                  <a:pt x="249636" y="120611"/>
                </a:lnTo>
                <a:lnTo>
                  <a:pt x="255807" y="120611"/>
                </a:lnTo>
                <a:lnTo>
                  <a:pt x="255807" y="9537"/>
                </a:lnTo>
                <a:lnTo>
                  <a:pt x="268710" y="0"/>
                </a:lnTo>
                <a:lnTo>
                  <a:pt x="330979" y="0"/>
                </a:lnTo>
                <a:lnTo>
                  <a:pt x="340515" y="8976"/>
                </a:lnTo>
                <a:lnTo>
                  <a:pt x="340515" y="150904"/>
                </a:lnTo>
                <a:lnTo>
                  <a:pt x="0" y="149782"/>
                </a:lnTo>
                <a:close/>
              </a:path>
            </a:pathLst>
          </a:cu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IT"/>
          </a:p>
        </p:txBody>
      </p:sp>
      <p:sp>
        <p:nvSpPr>
          <p:cNvPr id="498" name="Google Shape;498;p52"/>
          <p:cNvSpPr txBox="1"/>
          <p:nvPr/>
        </p:nvSpPr>
        <p:spPr>
          <a:xfrm>
            <a:off x="1071925" y="4217888"/>
            <a:ext cx="6745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Calibri"/>
                <a:ea typeface="Calibri"/>
                <a:cs typeface="Calibri"/>
                <a:sym typeface="Calibri"/>
              </a:rPr>
              <a:t>same or different processes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3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45</a:t>
            </a:fld>
            <a:endParaRPr/>
          </a:p>
        </p:txBody>
      </p:sp>
      <p:sp>
        <p:nvSpPr>
          <p:cNvPr id="505" name="Google Shape;505;p5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Simple invocation</a:t>
            </a:r>
            <a:endParaRPr/>
          </a:p>
        </p:txBody>
      </p:sp>
      <p:grpSp>
        <p:nvGrpSpPr>
          <p:cNvPr id="506" name="Google Shape;506;p53"/>
          <p:cNvGrpSpPr/>
          <p:nvPr/>
        </p:nvGrpSpPr>
        <p:grpSpPr>
          <a:xfrm>
            <a:off x="1266777" y="845885"/>
            <a:ext cx="968100" cy="872241"/>
            <a:chOff x="1574251" y="1731211"/>
            <a:chExt cx="968100" cy="1162988"/>
          </a:xfrm>
        </p:grpSpPr>
        <p:sp>
          <p:nvSpPr>
            <p:cNvPr id="507" name="Google Shape;507;p53"/>
            <p:cNvSpPr/>
            <p:nvPr/>
          </p:nvSpPr>
          <p:spPr>
            <a:xfrm rot="5400000">
              <a:off x="1818097" y="1510561"/>
              <a:ext cx="481200" cy="922500"/>
            </a:xfrm>
            <a:prstGeom prst="parallelogram">
              <a:avLst>
                <a:gd name="adj" fmla="val 28208"/>
              </a:avLst>
            </a:prstGeom>
            <a:solidFill>
              <a:srgbClr val="C3BCC5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53"/>
            <p:cNvSpPr txBox="1"/>
            <p:nvPr/>
          </p:nvSpPr>
          <p:spPr>
            <a:xfrm>
              <a:off x="1782803" y="1827875"/>
              <a:ext cx="552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3"/>
            <p:cNvSpPr/>
            <p:nvPr/>
          </p:nvSpPr>
          <p:spPr>
            <a:xfrm rot="5400000">
              <a:off x="1650995" y="2025249"/>
              <a:ext cx="815400" cy="922500"/>
            </a:xfrm>
            <a:prstGeom prst="parallelogram">
              <a:avLst>
                <a:gd name="adj" fmla="val 16596"/>
              </a:avLst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3"/>
            <p:cNvSpPr txBox="1"/>
            <p:nvPr/>
          </p:nvSpPr>
          <p:spPr>
            <a:xfrm rot="485414">
              <a:off x="1601051" y="1844454"/>
              <a:ext cx="914501" cy="4454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11" name="Google Shape;511;p53"/>
            <p:cNvSpPr txBox="1"/>
            <p:nvPr/>
          </p:nvSpPr>
          <p:spPr>
            <a:xfrm>
              <a:off x="1587725" y="1751268"/>
              <a:ext cx="914400" cy="32760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One</a:t>
              </a:r>
              <a:endParaRPr sz="1300"/>
            </a:p>
          </p:txBody>
        </p:sp>
      </p:grpSp>
      <p:sp>
        <p:nvSpPr>
          <p:cNvPr id="512" name="Google Shape;512;p53"/>
          <p:cNvSpPr/>
          <p:nvPr/>
        </p:nvSpPr>
        <p:spPr>
          <a:xfrm>
            <a:off x="3422303" y="845884"/>
            <a:ext cx="1122900" cy="2607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endParaRPr/>
          </a:p>
        </p:txBody>
      </p:sp>
      <p:cxnSp>
        <p:nvCxnSpPr>
          <p:cNvPr id="513" name="Google Shape;513;p53"/>
          <p:cNvCxnSpPr>
            <a:stCxn id="512" idx="2"/>
          </p:cNvCxnSpPr>
          <p:nvPr/>
        </p:nvCxnSpPr>
        <p:spPr>
          <a:xfrm>
            <a:off x="3983753" y="1106585"/>
            <a:ext cx="0" cy="3529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grpSp>
        <p:nvGrpSpPr>
          <p:cNvPr id="514" name="Google Shape;514;p53"/>
          <p:cNvGrpSpPr/>
          <p:nvPr/>
        </p:nvGrpSpPr>
        <p:grpSpPr>
          <a:xfrm>
            <a:off x="3642799" y="1206827"/>
            <a:ext cx="681777" cy="133078"/>
            <a:chOff x="4585368" y="2282351"/>
            <a:chExt cx="868948" cy="354875"/>
          </a:xfrm>
        </p:grpSpPr>
        <p:sp>
          <p:nvSpPr>
            <p:cNvPr id="515" name="Google Shape;515;p53"/>
            <p:cNvSpPr/>
            <p:nvPr/>
          </p:nvSpPr>
          <p:spPr>
            <a:xfrm>
              <a:off x="4799265" y="2282351"/>
              <a:ext cx="468000" cy="314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3"/>
            <p:cNvSpPr/>
            <p:nvPr/>
          </p:nvSpPr>
          <p:spPr>
            <a:xfrm>
              <a:off x="4585368" y="2282352"/>
              <a:ext cx="868948" cy="177437"/>
            </a:xfrm>
            <a:custGeom>
              <a:avLst/>
              <a:gdLst/>
              <a:ahLst/>
              <a:cxnLst/>
              <a:rect l="l" t="t" r="r" b="b"/>
              <a:pathLst>
                <a:path w="868948" h="177437" extrusionOk="0">
                  <a:moveTo>
                    <a:pt x="0" y="137332"/>
                  </a:moveTo>
                  <a:cubicBezTo>
                    <a:pt x="120316" y="67148"/>
                    <a:pt x="240632" y="-3036"/>
                    <a:pt x="334211" y="3648"/>
                  </a:cubicBezTo>
                  <a:cubicBezTo>
                    <a:pt x="427790" y="10332"/>
                    <a:pt x="472351" y="177437"/>
                    <a:pt x="561474" y="177437"/>
                  </a:cubicBezTo>
                  <a:cubicBezTo>
                    <a:pt x="650597" y="177437"/>
                    <a:pt x="831071" y="-29773"/>
                    <a:pt x="868948" y="3648"/>
                  </a:cubicBez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3"/>
            <p:cNvSpPr/>
            <p:nvPr/>
          </p:nvSpPr>
          <p:spPr>
            <a:xfrm>
              <a:off x="4585368" y="2459789"/>
              <a:ext cx="868948" cy="177437"/>
            </a:xfrm>
            <a:custGeom>
              <a:avLst/>
              <a:gdLst/>
              <a:ahLst/>
              <a:cxnLst/>
              <a:rect l="l" t="t" r="r" b="b"/>
              <a:pathLst>
                <a:path w="868948" h="177437" extrusionOk="0">
                  <a:moveTo>
                    <a:pt x="0" y="137332"/>
                  </a:moveTo>
                  <a:cubicBezTo>
                    <a:pt x="120316" y="67148"/>
                    <a:pt x="240632" y="-3036"/>
                    <a:pt x="334211" y="3648"/>
                  </a:cubicBezTo>
                  <a:cubicBezTo>
                    <a:pt x="427790" y="10332"/>
                    <a:pt x="472351" y="177437"/>
                    <a:pt x="561474" y="177437"/>
                  </a:cubicBezTo>
                  <a:cubicBezTo>
                    <a:pt x="650597" y="177437"/>
                    <a:pt x="831071" y="-29773"/>
                    <a:pt x="868948" y="3648"/>
                  </a:cubicBez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8" name="Google Shape;518;p53"/>
          <p:cNvGrpSpPr/>
          <p:nvPr/>
        </p:nvGrpSpPr>
        <p:grpSpPr>
          <a:xfrm>
            <a:off x="2687053" y="1324350"/>
            <a:ext cx="3309922" cy="524134"/>
            <a:chOff x="2687053" y="2228800"/>
            <a:chExt cx="3309922" cy="698845"/>
          </a:xfrm>
        </p:grpSpPr>
        <p:sp>
          <p:nvSpPr>
            <p:cNvPr id="519" name="Google Shape;519;p53"/>
            <p:cNvSpPr/>
            <p:nvPr/>
          </p:nvSpPr>
          <p:spPr>
            <a:xfrm flipH="1">
              <a:off x="3922550" y="2352845"/>
              <a:ext cx="144000" cy="5748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0" name="Google Shape;520;p53"/>
            <p:cNvCxnSpPr/>
            <p:nvPr/>
          </p:nvCxnSpPr>
          <p:spPr>
            <a:xfrm>
              <a:off x="2687053" y="2352845"/>
              <a:ext cx="13074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cxnSp>
          <p:nvCxnSpPr>
            <p:cNvPr id="521" name="Google Shape;521;p53"/>
            <p:cNvCxnSpPr>
              <a:stCxn id="519" idx="2"/>
            </p:cNvCxnSpPr>
            <p:nvPr/>
          </p:nvCxnSpPr>
          <p:spPr>
            <a:xfrm rot="10800000">
              <a:off x="2687150" y="2927645"/>
              <a:ext cx="13074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dash"/>
              <a:round/>
              <a:headEnd type="none" w="sm" len="sm"/>
              <a:tailEnd type="stealth" w="med" len="med"/>
            </a:ln>
          </p:spPr>
        </p:cxnSp>
        <p:cxnSp>
          <p:nvCxnSpPr>
            <p:cNvPr id="522" name="Google Shape;522;p53"/>
            <p:cNvCxnSpPr>
              <a:stCxn id="519" idx="1"/>
              <a:endCxn id="523" idx="1"/>
            </p:cNvCxnSpPr>
            <p:nvPr/>
          </p:nvCxnSpPr>
          <p:spPr>
            <a:xfrm>
              <a:off x="4066550" y="2640245"/>
              <a:ext cx="72300" cy="93300"/>
            </a:xfrm>
            <a:prstGeom prst="bentConnector3">
              <a:avLst>
                <a:gd name="adj1" fmla="val 416656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sp>
          <p:nvSpPr>
            <p:cNvPr id="523" name="Google Shape;523;p53"/>
            <p:cNvSpPr/>
            <p:nvPr/>
          </p:nvSpPr>
          <p:spPr>
            <a:xfrm flipH="1">
              <a:off x="3994742" y="2625557"/>
              <a:ext cx="144000" cy="21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3"/>
            <p:cNvSpPr txBox="1"/>
            <p:nvPr/>
          </p:nvSpPr>
          <p:spPr>
            <a:xfrm>
              <a:off x="4165475" y="2228800"/>
              <a:ext cx="1831500" cy="354900"/>
            </a:xfrm>
            <a:prstGeom prst="rect">
              <a:avLst/>
            </a:prstGeom>
            <a:solidFill>
              <a:srgbClr val="FFFFE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startActivity(…)</a:t>
              </a:r>
              <a:endParaRPr/>
            </a:p>
          </p:txBody>
        </p:sp>
      </p:grpSp>
      <p:grpSp>
        <p:nvGrpSpPr>
          <p:cNvPr id="525" name="Google Shape;525;p53"/>
          <p:cNvGrpSpPr/>
          <p:nvPr/>
        </p:nvGrpSpPr>
        <p:grpSpPr>
          <a:xfrm>
            <a:off x="2687053" y="1844814"/>
            <a:ext cx="1379497" cy="361826"/>
            <a:chOff x="2687053" y="2459752"/>
            <a:chExt cx="1379497" cy="482435"/>
          </a:xfrm>
        </p:grpSpPr>
        <p:cxnSp>
          <p:nvCxnSpPr>
            <p:cNvPr id="526" name="Google Shape;526;p53"/>
            <p:cNvCxnSpPr/>
            <p:nvPr/>
          </p:nvCxnSpPr>
          <p:spPr>
            <a:xfrm>
              <a:off x="2687053" y="2794887"/>
              <a:ext cx="13074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cxnSp>
          <p:nvCxnSpPr>
            <p:cNvPr id="527" name="Google Shape;527;p53"/>
            <p:cNvCxnSpPr>
              <a:stCxn id="528" idx="2"/>
            </p:cNvCxnSpPr>
            <p:nvPr/>
          </p:nvCxnSpPr>
          <p:spPr>
            <a:xfrm flipH="1">
              <a:off x="2704250" y="2938887"/>
              <a:ext cx="1290300" cy="330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dash"/>
              <a:round/>
              <a:headEnd type="none" w="sm" len="sm"/>
              <a:tailEnd type="stealth" w="med" len="med"/>
            </a:ln>
          </p:spPr>
        </p:cxnSp>
        <p:sp>
          <p:nvSpPr>
            <p:cNvPr id="528" name="Google Shape;528;p53"/>
            <p:cNvSpPr/>
            <p:nvPr/>
          </p:nvSpPr>
          <p:spPr>
            <a:xfrm flipH="1">
              <a:off x="3922550" y="2794887"/>
              <a:ext cx="144000" cy="144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53"/>
            <p:cNvSpPr/>
            <p:nvPr/>
          </p:nvSpPr>
          <p:spPr>
            <a:xfrm>
              <a:off x="2691383" y="2459752"/>
              <a:ext cx="1073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onPause()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0" name="Google Shape;530;p53"/>
          <p:cNvGrpSpPr/>
          <p:nvPr/>
        </p:nvGrpSpPr>
        <p:grpSpPr>
          <a:xfrm>
            <a:off x="2687053" y="2172371"/>
            <a:ext cx="3650746" cy="1785740"/>
            <a:chOff x="2687053" y="2896495"/>
            <a:chExt cx="3650746" cy="2380987"/>
          </a:xfrm>
        </p:grpSpPr>
        <p:cxnSp>
          <p:nvCxnSpPr>
            <p:cNvPr id="531" name="Google Shape;531;p53"/>
            <p:cNvCxnSpPr>
              <a:stCxn id="532" idx="2"/>
              <a:endCxn id="533" idx="0"/>
            </p:cNvCxnSpPr>
            <p:nvPr/>
          </p:nvCxnSpPr>
          <p:spPr>
            <a:xfrm>
              <a:off x="5780492" y="3388082"/>
              <a:ext cx="10800" cy="18894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grpSp>
          <p:nvGrpSpPr>
            <p:cNvPr id="534" name="Google Shape;534;p53"/>
            <p:cNvGrpSpPr/>
            <p:nvPr/>
          </p:nvGrpSpPr>
          <p:grpSpPr>
            <a:xfrm>
              <a:off x="2687053" y="2896495"/>
              <a:ext cx="3650746" cy="491587"/>
              <a:chOff x="2272645" y="3908927"/>
              <a:chExt cx="3650746" cy="491587"/>
            </a:xfrm>
          </p:grpSpPr>
          <p:sp>
            <p:nvSpPr>
              <p:cNvPr id="535" name="Google Shape;535;p53"/>
              <p:cNvSpPr/>
              <p:nvPr/>
            </p:nvSpPr>
            <p:spPr>
              <a:xfrm>
                <a:off x="4800491" y="3908927"/>
                <a:ext cx="1122900" cy="347700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lang="it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Two</a:t>
                </a:r>
                <a:endParaRPr/>
              </a:p>
            </p:txBody>
          </p:sp>
          <p:cxnSp>
            <p:nvCxnSpPr>
              <p:cNvPr id="536" name="Google Shape;536;p53"/>
              <p:cNvCxnSpPr/>
              <p:nvPr/>
            </p:nvCxnSpPr>
            <p:spPr>
              <a:xfrm>
                <a:off x="2272645" y="4082721"/>
                <a:ext cx="2527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sp>
            <p:nvSpPr>
              <p:cNvPr id="532" name="Google Shape;532;p53"/>
              <p:cNvSpPr/>
              <p:nvPr/>
            </p:nvSpPr>
            <p:spPr>
              <a:xfrm flipH="1">
                <a:off x="5294084" y="4256514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37" name="Google Shape;537;p53"/>
              <p:cNvCxnSpPr/>
              <p:nvPr/>
            </p:nvCxnSpPr>
            <p:spPr>
              <a:xfrm rot="10800000">
                <a:off x="2272787" y="4400514"/>
                <a:ext cx="30933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</p:grpSp>
      <p:grpSp>
        <p:nvGrpSpPr>
          <p:cNvPr id="538" name="Google Shape;538;p53"/>
          <p:cNvGrpSpPr/>
          <p:nvPr/>
        </p:nvGrpSpPr>
        <p:grpSpPr>
          <a:xfrm>
            <a:off x="1155379" y="2482190"/>
            <a:ext cx="1061676" cy="966484"/>
            <a:chOff x="1195483" y="3334087"/>
            <a:chExt cx="1061676" cy="1288646"/>
          </a:xfrm>
        </p:grpSpPr>
        <p:grpSp>
          <p:nvGrpSpPr>
            <p:cNvPr id="539" name="Google Shape;539;p53"/>
            <p:cNvGrpSpPr/>
            <p:nvPr/>
          </p:nvGrpSpPr>
          <p:grpSpPr>
            <a:xfrm>
              <a:off x="1289059" y="3334087"/>
              <a:ext cx="968100" cy="1162988"/>
              <a:chOff x="1574251" y="1731211"/>
              <a:chExt cx="968100" cy="1162988"/>
            </a:xfrm>
          </p:grpSpPr>
          <p:sp>
            <p:nvSpPr>
              <p:cNvPr id="540" name="Google Shape;540;p53"/>
              <p:cNvSpPr/>
              <p:nvPr/>
            </p:nvSpPr>
            <p:spPr>
              <a:xfrm rot="5400000">
                <a:off x="1818097" y="1510561"/>
                <a:ext cx="481200" cy="922500"/>
              </a:xfrm>
              <a:prstGeom prst="parallelogram">
                <a:avLst>
                  <a:gd name="adj" fmla="val 28208"/>
                </a:avLst>
              </a:prstGeom>
              <a:solidFill>
                <a:srgbClr val="C3BCC5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53"/>
              <p:cNvSpPr txBox="1"/>
              <p:nvPr/>
            </p:nvSpPr>
            <p:spPr>
              <a:xfrm>
                <a:off x="1782803" y="1827875"/>
                <a:ext cx="5520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53"/>
              <p:cNvSpPr/>
              <p:nvPr/>
            </p:nvSpPr>
            <p:spPr>
              <a:xfrm rot="5400000">
                <a:off x="1650995" y="2025249"/>
                <a:ext cx="815400" cy="922500"/>
              </a:xfrm>
              <a:prstGeom prst="parallelogram">
                <a:avLst>
                  <a:gd name="adj" fmla="val 16596"/>
                </a:avLst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53"/>
              <p:cNvSpPr txBox="1"/>
              <p:nvPr/>
            </p:nvSpPr>
            <p:spPr>
              <a:xfrm rot="485414">
                <a:off x="1601051" y="1844454"/>
                <a:ext cx="914501" cy="44543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44" name="Google Shape;544;p53"/>
              <p:cNvSpPr txBox="1"/>
              <p:nvPr/>
            </p:nvSpPr>
            <p:spPr>
              <a:xfrm>
                <a:off x="1587725" y="1751268"/>
                <a:ext cx="914400" cy="327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One</a:t>
                </a:r>
                <a:endParaRPr/>
              </a:p>
            </p:txBody>
          </p:sp>
        </p:grpSp>
        <p:grpSp>
          <p:nvGrpSpPr>
            <p:cNvPr id="545" name="Google Shape;545;p53"/>
            <p:cNvGrpSpPr/>
            <p:nvPr/>
          </p:nvGrpSpPr>
          <p:grpSpPr>
            <a:xfrm>
              <a:off x="1195483" y="3459745"/>
              <a:ext cx="968100" cy="1162988"/>
              <a:chOff x="1574251" y="1731211"/>
              <a:chExt cx="968100" cy="1162988"/>
            </a:xfrm>
          </p:grpSpPr>
          <p:sp>
            <p:nvSpPr>
              <p:cNvPr id="546" name="Google Shape;546;p53"/>
              <p:cNvSpPr/>
              <p:nvPr/>
            </p:nvSpPr>
            <p:spPr>
              <a:xfrm rot="5400000">
                <a:off x="1818097" y="1510561"/>
                <a:ext cx="481200" cy="922500"/>
              </a:xfrm>
              <a:prstGeom prst="parallelogram">
                <a:avLst>
                  <a:gd name="adj" fmla="val 28208"/>
                </a:avLst>
              </a:prstGeom>
              <a:solidFill>
                <a:srgbClr val="C3BCC5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53"/>
              <p:cNvSpPr txBox="1"/>
              <p:nvPr/>
            </p:nvSpPr>
            <p:spPr>
              <a:xfrm>
                <a:off x="1782803" y="1827875"/>
                <a:ext cx="5520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53"/>
              <p:cNvSpPr/>
              <p:nvPr/>
            </p:nvSpPr>
            <p:spPr>
              <a:xfrm rot="5400000">
                <a:off x="1650995" y="2025249"/>
                <a:ext cx="815400" cy="922500"/>
              </a:xfrm>
              <a:prstGeom prst="parallelogram">
                <a:avLst>
                  <a:gd name="adj" fmla="val 16596"/>
                </a:avLst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53"/>
              <p:cNvSpPr txBox="1"/>
              <p:nvPr/>
            </p:nvSpPr>
            <p:spPr>
              <a:xfrm rot="485414">
                <a:off x="1601051" y="1844454"/>
                <a:ext cx="914501" cy="44543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50" name="Google Shape;550;p53"/>
              <p:cNvSpPr txBox="1"/>
              <p:nvPr/>
            </p:nvSpPr>
            <p:spPr>
              <a:xfrm>
                <a:off x="1587725" y="1751268"/>
                <a:ext cx="914400" cy="327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7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Two</a:t>
                </a:r>
                <a:endParaRPr sz="1300"/>
              </a:p>
            </p:txBody>
          </p:sp>
        </p:grpSp>
      </p:grpSp>
      <p:grpSp>
        <p:nvGrpSpPr>
          <p:cNvPr id="551" name="Google Shape;551;p53"/>
          <p:cNvGrpSpPr/>
          <p:nvPr/>
        </p:nvGrpSpPr>
        <p:grpSpPr>
          <a:xfrm>
            <a:off x="2687053" y="3328455"/>
            <a:ext cx="1375941" cy="363306"/>
            <a:chOff x="2276201" y="2993679"/>
            <a:chExt cx="1375941" cy="484408"/>
          </a:xfrm>
        </p:grpSpPr>
        <p:grpSp>
          <p:nvGrpSpPr>
            <p:cNvPr id="552" name="Google Shape;552;p53"/>
            <p:cNvGrpSpPr/>
            <p:nvPr/>
          </p:nvGrpSpPr>
          <p:grpSpPr>
            <a:xfrm>
              <a:off x="2276201" y="3334087"/>
              <a:ext cx="1375941" cy="144000"/>
              <a:chOff x="2428601" y="2505245"/>
              <a:chExt cx="1375941" cy="144000"/>
            </a:xfrm>
          </p:grpSpPr>
          <p:sp>
            <p:nvSpPr>
              <p:cNvPr id="553" name="Google Shape;553;p53"/>
              <p:cNvSpPr/>
              <p:nvPr/>
            </p:nvSpPr>
            <p:spPr>
              <a:xfrm flipH="1">
                <a:off x="3660542" y="2505245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54" name="Google Shape;554;p53"/>
              <p:cNvCxnSpPr/>
              <p:nvPr/>
            </p:nvCxnSpPr>
            <p:spPr>
              <a:xfrm>
                <a:off x="2428601" y="2505245"/>
                <a:ext cx="1303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cxnSp>
            <p:nvCxnSpPr>
              <p:cNvPr id="555" name="Google Shape;555;p53"/>
              <p:cNvCxnSpPr>
                <a:stCxn id="553" idx="2"/>
              </p:cNvCxnSpPr>
              <p:nvPr/>
            </p:nvCxnSpPr>
            <p:spPr>
              <a:xfrm rot="10800000">
                <a:off x="2428742" y="2649245"/>
                <a:ext cx="1303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556" name="Google Shape;556;p53"/>
            <p:cNvSpPr/>
            <p:nvPr/>
          </p:nvSpPr>
          <p:spPr>
            <a:xfrm>
              <a:off x="2290343" y="2993679"/>
              <a:ext cx="974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onStop()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7" name="Google Shape;557;p53"/>
          <p:cNvSpPr/>
          <p:nvPr/>
        </p:nvSpPr>
        <p:spPr>
          <a:xfrm>
            <a:off x="5679089" y="4067651"/>
            <a:ext cx="200400" cy="1503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8" name="Google Shape;558;p53"/>
          <p:cNvGrpSpPr/>
          <p:nvPr/>
        </p:nvGrpSpPr>
        <p:grpSpPr>
          <a:xfrm>
            <a:off x="2679669" y="4044000"/>
            <a:ext cx="1624237" cy="676048"/>
            <a:chOff x="2679669" y="5702600"/>
            <a:chExt cx="1624237" cy="901397"/>
          </a:xfrm>
        </p:grpSpPr>
        <p:grpSp>
          <p:nvGrpSpPr>
            <p:cNvPr id="559" name="Google Shape;559;p53"/>
            <p:cNvGrpSpPr/>
            <p:nvPr/>
          </p:nvGrpSpPr>
          <p:grpSpPr>
            <a:xfrm>
              <a:off x="2679669" y="5702600"/>
              <a:ext cx="1375941" cy="465767"/>
              <a:chOff x="2276201" y="3012320"/>
              <a:chExt cx="1375941" cy="465767"/>
            </a:xfrm>
          </p:grpSpPr>
          <p:grpSp>
            <p:nvGrpSpPr>
              <p:cNvPr id="560" name="Google Shape;560;p53"/>
              <p:cNvGrpSpPr/>
              <p:nvPr/>
            </p:nvGrpSpPr>
            <p:grpSpPr>
              <a:xfrm>
                <a:off x="2276201" y="3334087"/>
                <a:ext cx="1375941" cy="144000"/>
                <a:chOff x="2428601" y="2505245"/>
                <a:chExt cx="1375941" cy="144000"/>
              </a:xfrm>
            </p:grpSpPr>
            <p:sp>
              <p:nvSpPr>
                <p:cNvPr id="561" name="Google Shape;561;p53"/>
                <p:cNvSpPr/>
                <p:nvPr/>
              </p:nvSpPr>
              <p:spPr>
                <a:xfrm flipH="1">
                  <a:off x="3660542" y="2505245"/>
                  <a:ext cx="144000" cy="144000"/>
                </a:xfrm>
                <a:prstGeom prst="rect">
                  <a:avLst/>
                </a:prstGeom>
                <a:solidFill>
                  <a:schemeClr val="lt1"/>
                </a:solidFill>
                <a:ln w="25400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srgbClr val="000000">
                      <a:alpha val="42750"/>
                    </a:srgbClr>
                  </a:outerShdw>
                </a:effectLst>
              </p:spPr>
              <p:txBody>
                <a:bodyPr spcFirstLastPara="1" wrap="square" lIns="90475" tIns="44450" rIns="90475" bIns="4445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2000"/>
                    <a:buFont typeface="Arial"/>
                    <a:buNone/>
                  </a:pPr>
                  <a:endParaRPr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562" name="Google Shape;562;p53"/>
                <p:cNvCxnSpPr/>
                <p:nvPr/>
              </p:nvCxnSpPr>
              <p:spPr>
                <a:xfrm>
                  <a:off x="2428601" y="2505245"/>
                  <a:ext cx="130380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stealth" w="med" len="med"/>
                </a:ln>
                <a:effectLst>
                  <a:outerShdw blurRad="40000" dist="20000" dir="5400000" rotWithShape="0">
                    <a:srgbClr val="000000">
                      <a:alpha val="37650"/>
                    </a:srgbClr>
                  </a:outerShdw>
                </a:effectLst>
              </p:spPr>
            </p:cxnSp>
            <p:cxnSp>
              <p:nvCxnSpPr>
                <p:cNvPr id="563" name="Google Shape;563;p53"/>
                <p:cNvCxnSpPr>
                  <a:stCxn id="561" idx="2"/>
                </p:cNvCxnSpPr>
                <p:nvPr/>
              </p:nvCxnSpPr>
              <p:spPr>
                <a:xfrm rot="10800000">
                  <a:off x="2428742" y="2649245"/>
                  <a:ext cx="1303800" cy="0"/>
                </a:xfrm>
                <a:prstGeom prst="straightConnector1">
                  <a:avLst/>
                </a:prstGeom>
                <a:noFill/>
                <a:ln w="25400" cap="flat" cmpd="sng">
                  <a:solidFill>
                    <a:schemeClr val="accent1"/>
                  </a:solidFill>
                  <a:prstDash val="dash"/>
                  <a:round/>
                  <a:headEnd type="none" w="sm" len="sm"/>
                  <a:tailEnd type="stealth" w="med" len="med"/>
                </a:ln>
              </p:spPr>
            </p:cxnSp>
          </p:grpSp>
          <p:sp>
            <p:nvSpPr>
              <p:cNvPr id="564" name="Google Shape;564;p53"/>
              <p:cNvSpPr/>
              <p:nvPr/>
            </p:nvSpPr>
            <p:spPr>
              <a:xfrm>
                <a:off x="2290343" y="3012320"/>
                <a:ext cx="12705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4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onRestart()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5" name="Google Shape;565;p53"/>
            <p:cNvGrpSpPr/>
            <p:nvPr/>
          </p:nvGrpSpPr>
          <p:grpSpPr>
            <a:xfrm>
              <a:off x="3622130" y="6426560"/>
              <a:ext cx="681777" cy="177438"/>
              <a:chOff x="4585368" y="2282351"/>
              <a:chExt cx="868948" cy="354875"/>
            </a:xfrm>
          </p:grpSpPr>
          <p:sp>
            <p:nvSpPr>
              <p:cNvPr id="566" name="Google Shape;566;p53"/>
              <p:cNvSpPr/>
              <p:nvPr/>
            </p:nvSpPr>
            <p:spPr>
              <a:xfrm>
                <a:off x="4799265" y="2282351"/>
                <a:ext cx="468000" cy="314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7" name="Google Shape;567;p53"/>
              <p:cNvSpPr/>
              <p:nvPr/>
            </p:nvSpPr>
            <p:spPr>
              <a:xfrm>
                <a:off x="4585368" y="2282352"/>
                <a:ext cx="868948" cy="177437"/>
              </a:xfrm>
              <a:custGeom>
                <a:avLst/>
                <a:gdLst/>
                <a:ahLst/>
                <a:cxnLst/>
                <a:rect l="l" t="t" r="r" b="b"/>
                <a:pathLst>
                  <a:path w="868948" h="177437" extrusionOk="0">
                    <a:moveTo>
                      <a:pt x="0" y="137332"/>
                    </a:moveTo>
                    <a:cubicBezTo>
                      <a:pt x="120316" y="67148"/>
                      <a:pt x="240632" y="-3036"/>
                      <a:pt x="334211" y="3648"/>
                    </a:cubicBezTo>
                    <a:cubicBezTo>
                      <a:pt x="427790" y="10332"/>
                      <a:pt x="472351" y="177437"/>
                      <a:pt x="561474" y="177437"/>
                    </a:cubicBezTo>
                    <a:cubicBezTo>
                      <a:pt x="650597" y="177437"/>
                      <a:pt x="831071" y="-29773"/>
                      <a:pt x="868948" y="3648"/>
                    </a:cubicBezTo>
                  </a:path>
                </a:pathLst>
              </a:cu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8" name="Google Shape;568;p53"/>
              <p:cNvSpPr/>
              <p:nvPr/>
            </p:nvSpPr>
            <p:spPr>
              <a:xfrm>
                <a:off x="4585368" y="2459789"/>
                <a:ext cx="868948" cy="177437"/>
              </a:xfrm>
              <a:custGeom>
                <a:avLst/>
                <a:gdLst/>
                <a:ahLst/>
                <a:cxnLst/>
                <a:rect l="l" t="t" r="r" b="b"/>
                <a:pathLst>
                  <a:path w="868948" h="177437" extrusionOk="0">
                    <a:moveTo>
                      <a:pt x="0" y="137332"/>
                    </a:moveTo>
                    <a:cubicBezTo>
                      <a:pt x="120316" y="67148"/>
                      <a:pt x="240632" y="-3036"/>
                      <a:pt x="334211" y="3648"/>
                    </a:cubicBezTo>
                    <a:cubicBezTo>
                      <a:pt x="427790" y="10332"/>
                      <a:pt x="472351" y="177437"/>
                      <a:pt x="561474" y="177437"/>
                    </a:cubicBezTo>
                    <a:cubicBezTo>
                      <a:pt x="650597" y="177437"/>
                      <a:pt x="831071" y="-29773"/>
                      <a:pt x="868948" y="3648"/>
                    </a:cubicBezTo>
                  </a:path>
                </a:pathLst>
              </a:cu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69" name="Google Shape;569;p53"/>
          <p:cNvGrpSpPr/>
          <p:nvPr/>
        </p:nvGrpSpPr>
        <p:grpSpPr>
          <a:xfrm>
            <a:off x="1231133" y="3806437"/>
            <a:ext cx="968100" cy="872241"/>
            <a:chOff x="1574251" y="1731211"/>
            <a:chExt cx="968100" cy="1162988"/>
          </a:xfrm>
        </p:grpSpPr>
        <p:sp>
          <p:nvSpPr>
            <p:cNvPr id="570" name="Google Shape;570;p53"/>
            <p:cNvSpPr/>
            <p:nvPr/>
          </p:nvSpPr>
          <p:spPr>
            <a:xfrm rot="5400000">
              <a:off x="1818097" y="1510561"/>
              <a:ext cx="481200" cy="922500"/>
            </a:xfrm>
            <a:prstGeom prst="parallelogram">
              <a:avLst>
                <a:gd name="adj" fmla="val 28208"/>
              </a:avLst>
            </a:prstGeom>
            <a:solidFill>
              <a:srgbClr val="C3BCC5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571" name="Google Shape;571;p53"/>
            <p:cNvSpPr txBox="1"/>
            <p:nvPr/>
          </p:nvSpPr>
          <p:spPr>
            <a:xfrm>
              <a:off x="1782803" y="1827875"/>
              <a:ext cx="552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53"/>
            <p:cNvSpPr/>
            <p:nvPr/>
          </p:nvSpPr>
          <p:spPr>
            <a:xfrm rot="5400000">
              <a:off x="1650995" y="2025249"/>
              <a:ext cx="815400" cy="922500"/>
            </a:xfrm>
            <a:prstGeom prst="parallelogram">
              <a:avLst>
                <a:gd name="adj" fmla="val 16596"/>
              </a:avLst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53"/>
            <p:cNvSpPr txBox="1"/>
            <p:nvPr/>
          </p:nvSpPr>
          <p:spPr>
            <a:xfrm rot="485414">
              <a:off x="1601051" y="1844454"/>
              <a:ext cx="914501" cy="4454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74" name="Google Shape;574;p53"/>
            <p:cNvSpPr txBox="1"/>
            <p:nvPr/>
          </p:nvSpPr>
          <p:spPr>
            <a:xfrm>
              <a:off x="1587725" y="1751268"/>
              <a:ext cx="914400" cy="32760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7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One</a:t>
              </a:r>
              <a:endParaRPr sz="1300"/>
            </a:p>
          </p:txBody>
        </p:sp>
      </p:grpSp>
      <p:grpSp>
        <p:nvGrpSpPr>
          <p:cNvPr id="575" name="Google Shape;575;p53"/>
          <p:cNvGrpSpPr/>
          <p:nvPr/>
        </p:nvGrpSpPr>
        <p:grpSpPr>
          <a:xfrm>
            <a:off x="3642783" y="3557050"/>
            <a:ext cx="3659526" cy="286920"/>
            <a:chOff x="3642799" y="4781839"/>
            <a:chExt cx="3589178" cy="382560"/>
          </a:xfrm>
        </p:grpSpPr>
        <p:grpSp>
          <p:nvGrpSpPr>
            <p:cNvPr id="576" name="Google Shape;576;p53"/>
            <p:cNvGrpSpPr/>
            <p:nvPr/>
          </p:nvGrpSpPr>
          <p:grpSpPr>
            <a:xfrm>
              <a:off x="5439515" y="4986962"/>
              <a:ext cx="681777" cy="177438"/>
              <a:chOff x="4585368" y="2282351"/>
              <a:chExt cx="868948" cy="354875"/>
            </a:xfrm>
          </p:grpSpPr>
          <p:sp>
            <p:nvSpPr>
              <p:cNvPr id="577" name="Google Shape;577;p53"/>
              <p:cNvSpPr/>
              <p:nvPr/>
            </p:nvSpPr>
            <p:spPr>
              <a:xfrm>
                <a:off x="4799265" y="2282351"/>
                <a:ext cx="468000" cy="314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53"/>
              <p:cNvSpPr/>
              <p:nvPr/>
            </p:nvSpPr>
            <p:spPr>
              <a:xfrm>
                <a:off x="4585368" y="2282352"/>
                <a:ext cx="868948" cy="177437"/>
              </a:xfrm>
              <a:custGeom>
                <a:avLst/>
                <a:gdLst/>
                <a:ahLst/>
                <a:cxnLst/>
                <a:rect l="l" t="t" r="r" b="b"/>
                <a:pathLst>
                  <a:path w="868948" h="177437" extrusionOk="0">
                    <a:moveTo>
                      <a:pt x="0" y="137332"/>
                    </a:moveTo>
                    <a:cubicBezTo>
                      <a:pt x="120316" y="67148"/>
                      <a:pt x="240632" y="-3036"/>
                      <a:pt x="334211" y="3648"/>
                    </a:cubicBezTo>
                    <a:cubicBezTo>
                      <a:pt x="427790" y="10332"/>
                      <a:pt x="472351" y="177437"/>
                      <a:pt x="561474" y="177437"/>
                    </a:cubicBezTo>
                    <a:cubicBezTo>
                      <a:pt x="650597" y="177437"/>
                      <a:pt x="831071" y="-29773"/>
                      <a:pt x="868948" y="3648"/>
                    </a:cubicBezTo>
                  </a:path>
                </a:pathLst>
              </a:cu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53"/>
              <p:cNvSpPr/>
              <p:nvPr/>
            </p:nvSpPr>
            <p:spPr>
              <a:xfrm>
                <a:off x="4585368" y="2459789"/>
                <a:ext cx="868948" cy="177437"/>
              </a:xfrm>
              <a:custGeom>
                <a:avLst/>
                <a:gdLst/>
                <a:ahLst/>
                <a:cxnLst/>
                <a:rect l="l" t="t" r="r" b="b"/>
                <a:pathLst>
                  <a:path w="868948" h="177437" extrusionOk="0">
                    <a:moveTo>
                      <a:pt x="0" y="137332"/>
                    </a:moveTo>
                    <a:cubicBezTo>
                      <a:pt x="120316" y="67148"/>
                      <a:pt x="240632" y="-3036"/>
                      <a:pt x="334211" y="3648"/>
                    </a:cubicBezTo>
                    <a:cubicBezTo>
                      <a:pt x="427790" y="10332"/>
                      <a:pt x="472351" y="177437"/>
                      <a:pt x="561474" y="177437"/>
                    </a:cubicBezTo>
                    <a:cubicBezTo>
                      <a:pt x="650597" y="177437"/>
                      <a:pt x="831071" y="-29773"/>
                      <a:pt x="868948" y="3648"/>
                    </a:cubicBezTo>
                  </a:path>
                </a:pathLst>
              </a:cu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0" name="Google Shape;580;p53"/>
            <p:cNvGrpSpPr/>
            <p:nvPr/>
          </p:nvGrpSpPr>
          <p:grpSpPr>
            <a:xfrm>
              <a:off x="3642799" y="4986962"/>
              <a:ext cx="681777" cy="177438"/>
              <a:chOff x="4585368" y="2282351"/>
              <a:chExt cx="868948" cy="354875"/>
            </a:xfrm>
          </p:grpSpPr>
          <p:sp>
            <p:nvSpPr>
              <p:cNvPr id="581" name="Google Shape;581;p53"/>
              <p:cNvSpPr/>
              <p:nvPr/>
            </p:nvSpPr>
            <p:spPr>
              <a:xfrm>
                <a:off x="4799265" y="2282351"/>
                <a:ext cx="468000" cy="314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53"/>
              <p:cNvSpPr/>
              <p:nvPr/>
            </p:nvSpPr>
            <p:spPr>
              <a:xfrm>
                <a:off x="4585368" y="2282352"/>
                <a:ext cx="868948" cy="177437"/>
              </a:xfrm>
              <a:custGeom>
                <a:avLst/>
                <a:gdLst/>
                <a:ahLst/>
                <a:cxnLst/>
                <a:rect l="l" t="t" r="r" b="b"/>
                <a:pathLst>
                  <a:path w="868948" h="177437" extrusionOk="0">
                    <a:moveTo>
                      <a:pt x="0" y="137332"/>
                    </a:moveTo>
                    <a:cubicBezTo>
                      <a:pt x="120316" y="67148"/>
                      <a:pt x="240632" y="-3036"/>
                      <a:pt x="334211" y="3648"/>
                    </a:cubicBezTo>
                    <a:cubicBezTo>
                      <a:pt x="427790" y="10332"/>
                      <a:pt x="472351" y="177437"/>
                      <a:pt x="561474" y="177437"/>
                    </a:cubicBezTo>
                    <a:cubicBezTo>
                      <a:pt x="650597" y="177437"/>
                      <a:pt x="831071" y="-29773"/>
                      <a:pt x="868948" y="3648"/>
                    </a:cubicBezTo>
                  </a:path>
                </a:pathLst>
              </a:cu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53"/>
              <p:cNvSpPr/>
              <p:nvPr/>
            </p:nvSpPr>
            <p:spPr>
              <a:xfrm>
                <a:off x="4585368" y="2459789"/>
                <a:ext cx="868948" cy="177437"/>
              </a:xfrm>
              <a:custGeom>
                <a:avLst/>
                <a:gdLst/>
                <a:ahLst/>
                <a:cxnLst/>
                <a:rect l="l" t="t" r="r" b="b"/>
                <a:pathLst>
                  <a:path w="868948" h="177437" extrusionOk="0">
                    <a:moveTo>
                      <a:pt x="0" y="137332"/>
                    </a:moveTo>
                    <a:cubicBezTo>
                      <a:pt x="120316" y="67148"/>
                      <a:pt x="240632" y="-3036"/>
                      <a:pt x="334211" y="3648"/>
                    </a:cubicBezTo>
                    <a:cubicBezTo>
                      <a:pt x="427790" y="10332"/>
                      <a:pt x="472351" y="177437"/>
                      <a:pt x="561474" y="177437"/>
                    </a:cubicBezTo>
                    <a:cubicBezTo>
                      <a:pt x="650597" y="177437"/>
                      <a:pt x="831071" y="-29773"/>
                      <a:pt x="868948" y="3648"/>
                    </a:cubicBezTo>
                  </a:path>
                </a:pathLst>
              </a:cu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4" name="Google Shape;584;p53"/>
            <p:cNvSpPr txBox="1"/>
            <p:nvPr/>
          </p:nvSpPr>
          <p:spPr>
            <a:xfrm>
              <a:off x="6214977" y="4781839"/>
              <a:ext cx="1017000" cy="354900"/>
            </a:xfrm>
            <a:prstGeom prst="rect">
              <a:avLst/>
            </a:prstGeom>
            <a:solidFill>
              <a:srgbClr val="FFFFE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finish()</a:t>
              </a:r>
              <a:endParaRPr/>
            </a:p>
          </p:txBody>
        </p:sp>
      </p:grpSp>
      <p:grpSp>
        <p:nvGrpSpPr>
          <p:cNvPr id="585" name="Google Shape;585;p53"/>
          <p:cNvGrpSpPr/>
          <p:nvPr/>
        </p:nvGrpSpPr>
        <p:grpSpPr>
          <a:xfrm>
            <a:off x="2687144" y="2445721"/>
            <a:ext cx="5217606" cy="424804"/>
            <a:chOff x="2687144" y="3952561"/>
            <a:chExt cx="5217606" cy="566406"/>
          </a:xfrm>
        </p:grpSpPr>
        <p:grpSp>
          <p:nvGrpSpPr>
            <p:cNvPr id="586" name="Google Shape;586;p53"/>
            <p:cNvGrpSpPr/>
            <p:nvPr/>
          </p:nvGrpSpPr>
          <p:grpSpPr>
            <a:xfrm>
              <a:off x="2687144" y="3952561"/>
              <a:ext cx="3192481" cy="493409"/>
              <a:chOff x="2272736" y="4300129"/>
              <a:chExt cx="3192481" cy="493409"/>
            </a:xfrm>
          </p:grpSpPr>
          <p:sp>
            <p:nvSpPr>
              <p:cNvPr id="587" name="Google Shape;587;p53"/>
              <p:cNvSpPr/>
              <p:nvPr/>
            </p:nvSpPr>
            <p:spPr>
              <a:xfrm flipH="1">
                <a:off x="5299436" y="4649538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88" name="Google Shape;588;p53"/>
              <p:cNvCxnSpPr>
                <a:endCxn id="587" idx="0"/>
              </p:cNvCxnSpPr>
              <p:nvPr/>
            </p:nvCxnSpPr>
            <p:spPr>
              <a:xfrm>
                <a:off x="2272736" y="4649538"/>
                <a:ext cx="30987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sp>
            <p:nvSpPr>
              <p:cNvPr id="589" name="Google Shape;589;p53"/>
              <p:cNvSpPr/>
              <p:nvPr/>
            </p:nvSpPr>
            <p:spPr>
              <a:xfrm>
                <a:off x="3973917" y="4300129"/>
                <a:ext cx="14913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4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onCreate(...)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90" name="Google Shape;590;p53"/>
              <p:cNvCxnSpPr/>
              <p:nvPr/>
            </p:nvCxnSpPr>
            <p:spPr>
              <a:xfrm rot="10800000">
                <a:off x="2272736" y="4793538"/>
                <a:ext cx="30987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591" name="Google Shape;591;p53"/>
            <p:cNvSpPr txBox="1"/>
            <p:nvPr/>
          </p:nvSpPr>
          <p:spPr>
            <a:xfrm>
              <a:off x="5974550" y="4164067"/>
              <a:ext cx="1930200" cy="354900"/>
            </a:xfrm>
            <a:prstGeom prst="rect">
              <a:avLst/>
            </a:prstGeom>
            <a:solidFill>
              <a:srgbClr val="FFFFE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setContentView(…)</a:t>
              </a:r>
              <a:endParaRPr/>
            </a:p>
          </p:txBody>
        </p:sp>
      </p:grpSp>
      <p:sp>
        <p:nvSpPr>
          <p:cNvPr id="592" name="Google Shape;592;p53"/>
          <p:cNvSpPr/>
          <p:nvPr/>
        </p:nvSpPr>
        <p:spPr>
          <a:xfrm rot="-5400000">
            <a:off x="856761" y="2716262"/>
            <a:ext cx="3332400" cy="313500"/>
          </a:xfrm>
          <a:prstGeom prst="rect">
            <a:avLst/>
          </a:prstGeom>
          <a:solidFill>
            <a:srgbClr val="FFFFE0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 loop</a:t>
            </a:r>
            <a:endParaRPr/>
          </a:p>
        </p:txBody>
      </p:sp>
      <p:grpSp>
        <p:nvGrpSpPr>
          <p:cNvPr id="593" name="Google Shape;593;p53"/>
          <p:cNvGrpSpPr/>
          <p:nvPr/>
        </p:nvGrpSpPr>
        <p:grpSpPr>
          <a:xfrm>
            <a:off x="2687144" y="2739204"/>
            <a:ext cx="3170700" cy="362324"/>
            <a:chOff x="2272736" y="4310439"/>
            <a:chExt cx="3170700" cy="483099"/>
          </a:xfrm>
        </p:grpSpPr>
        <p:sp>
          <p:nvSpPr>
            <p:cNvPr id="594" name="Google Shape;594;p53"/>
            <p:cNvSpPr/>
            <p:nvPr/>
          </p:nvSpPr>
          <p:spPr>
            <a:xfrm flipH="1">
              <a:off x="5299436" y="4649538"/>
              <a:ext cx="144000" cy="144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5" name="Google Shape;595;p53"/>
            <p:cNvCxnSpPr>
              <a:endCxn id="594" idx="0"/>
            </p:cNvCxnSpPr>
            <p:nvPr/>
          </p:nvCxnSpPr>
          <p:spPr>
            <a:xfrm>
              <a:off x="2272736" y="4649538"/>
              <a:ext cx="30987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sp>
          <p:nvSpPr>
            <p:cNvPr id="596" name="Google Shape;596;p53"/>
            <p:cNvSpPr/>
            <p:nvPr/>
          </p:nvSpPr>
          <p:spPr>
            <a:xfrm>
              <a:off x="3973922" y="4310439"/>
              <a:ext cx="1171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</a:t>
              </a: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Start</a:t>
              </a: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97" name="Google Shape;597;p53"/>
            <p:cNvCxnSpPr/>
            <p:nvPr/>
          </p:nvCxnSpPr>
          <p:spPr>
            <a:xfrm rot="10800000">
              <a:off x="2272736" y="4793538"/>
              <a:ext cx="30987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dash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598" name="Google Shape;598;p53"/>
          <p:cNvGrpSpPr/>
          <p:nvPr/>
        </p:nvGrpSpPr>
        <p:grpSpPr>
          <a:xfrm>
            <a:off x="2687144" y="3024954"/>
            <a:ext cx="3170700" cy="362324"/>
            <a:chOff x="2272736" y="4310439"/>
            <a:chExt cx="3170700" cy="483099"/>
          </a:xfrm>
        </p:grpSpPr>
        <p:sp>
          <p:nvSpPr>
            <p:cNvPr id="599" name="Google Shape;599;p53"/>
            <p:cNvSpPr/>
            <p:nvPr/>
          </p:nvSpPr>
          <p:spPr>
            <a:xfrm flipH="1">
              <a:off x="5299436" y="4649538"/>
              <a:ext cx="144000" cy="144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0" name="Google Shape;600;p53"/>
            <p:cNvCxnSpPr>
              <a:endCxn id="599" idx="0"/>
            </p:cNvCxnSpPr>
            <p:nvPr/>
          </p:nvCxnSpPr>
          <p:spPr>
            <a:xfrm>
              <a:off x="2272736" y="4649538"/>
              <a:ext cx="30987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sp>
          <p:nvSpPr>
            <p:cNvPr id="601" name="Google Shape;601;p53"/>
            <p:cNvSpPr/>
            <p:nvPr/>
          </p:nvSpPr>
          <p:spPr>
            <a:xfrm>
              <a:off x="3973922" y="4310439"/>
              <a:ext cx="1171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onResume</a:t>
              </a: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02" name="Google Shape;602;p53"/>
            <p:cNvCxnSpPr/>
            <p:nvPr/>
          </p:nvCxnSpPr>
          <p:spPr>
            <a:xfrm rot="10800000">
              <a:off x="2272736" y="4793538"/>
              <a:ext cx="30987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dash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603" name="Google Shape;603;p53"/>
          <p:cNvGrpSpPr/>
          <p:nvPr/>
        </p:nvGrpSpPr>
        <p:grpSpPr>
          <a:xfrm>
            <a:off x="2687093" y="3705394"/>
            <a:ext cx="3176100" cy="360736"/>
            <a:chOff x="2687093" y="4940526"/>
            <a:chExt cx="3176100" cy="480982"/>
          </a:xfrm>
        </p:grpSpPr>
        <p:grpSp>
          <p:nvGrpSpPr>
            <p:cNvPr id="604" name="Google Shape;604;p53"/>
            <p:cNvGrpSpPr/>
            <p:nvPr/>
          </p:nvGrpSpPr>
          <p:grpSpPr>
            <a:xfrm>
              <a:off x="2687093" y="4940526"/>
              <a:ext cx="3176100" cy="480982"/>
              <a:chOff x="2267336" y="4312556"/>
              <a:chExt cx="3176100" cy="480982"/>
            </a:xfrm>
          </p:grpSpPr>
          <p:sp>
            <p:nvSpPr>
              <p:cNvPr id="533" name="Google Shape;533;p53"/>
              <p:cNvSpPr/>
              <p:nvPr/>
            </p:nvSpPr>
            <p:spPr>
              <a:xfrm flipH="1">
                <a:off x="5299436" y="4649538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53"/>
              <p:cNvSpPr/>
              <p:nvPr/>
            </p:nvSpPr>
            <p:spPr>
              <a:xfrm>
                <a:off x="3952890" y="4312556"/>
                <a:ext cx="12705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4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onDestroy()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06" name="Google Shape;606;p53"/>
              <p:cNvCxnSpPr/>
              <p:nvPr/>
            </p:nvCxnSpPr>
            <p:spPr>
              <a:xfrm rot="10800000">
                <a:off x="2267336" y="4793538"/>
                <a:ext cx="31041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  <p:cxnSp>
          <p:nvCxnSpPr>
            <p:cNvPr id="607" name="Google Shape;607;p53"/>
            <p:cNvCxnSpPr/>
            <p:nvPr/>
          </p:nvCxnSpPr>
          <p:spPr>
            <a:xfrm>
              <a:off x="2687144" y="5277245"/>
              <a:ext cx="30987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4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46</a:t>
            </a:fld>
            <a:endParaRPr/>
          </a:p>
        </p:txBody>
      </p:sp>
      <p:sp>
        <p:nvSpPr>
          <p:cNvPr id="614" name="Google Shape;614;p54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Activity replacement</a:t>
            </a:r>
            <a:endParaRPr/>
          </a:p>
        </p:txBody>
      </p:sp>
      <p:grpSp>
        <p:nvGrpSpPr>
          <p:cNvPr id="615" name="Google Shape;615;p54"/>
          <p:cNvGrpSpPr/>
          <p:nvPr/>
        </p:nvGrpSpPr>
        <p:grpSpPr>
          <a:xfrm>
            <a:off x="1266777" y="889291"/>
            <a:ext cx="968100" cy="872241"/>
            <a:chOff x="1574251" y="1731211"/>
            <a:chExt cx="968100" cy="1162988"/>
          </a:xfrm>
        </p:grpSpPr>
        <p:sp>
          <p:nvSpPr>
            <p:cNvPr id="616" name="Google Shape;616;p54"/>
            <p:cNvSpPr/>
            <p:nvPr/>
          </p:nvSpPr>
          <p:spPr>
            <a:xfrm rot="5400000">
              <a:off x="1818097" y="1510561"/>
              <a:ext cx="481200" cy="922500"/>
            </a:xfrm>
            <a:prstGeom prst="parallelogram">
              <a:avLst>
                <a:gd name="adj" fmla="val 28208"/>
              </a:avLst>
            </a:prstGeom>
            <a:solidFill>
              <a:srgbClr val="C3BCC5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54"/>
            <p:cNvSpPr txBox="1"/>
            <p:nvPr/>
          </p:nvSpPr>
          <p:spPr>
            <a:xfrm>
              <a:off x="1782803" y="1827875"/>
              <a:ext cx="552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54"/>
            <p:cNvSpPr/>
            <p:nvPr/>
          </p:nvSpPr>
          <p:spPr>
            <a:xfrm rot="5400000">
              <a:off x="1650995" y="2025249"/>
              <a:ext cx="815400" cy="922500"/>
            </a:xfrm>
            <a:prstGeom prst="parallelogram">
              <a:avLst>
                <a:gd name="adj" fmla="val 16596"/>
              </a:avLst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54"/>
            <p:cNvSpPr txBox="1"/>
            <p:nvPr/>
          </p:nvSpPr>
          <p:spPr>
            <a:xfrm rot="485414">
              <a:off x="1601051" y="1844454"/>
              <a:ext cx="914501" cy="4454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20" name="Google Shape;620;p54"/>
            <p:cNvSpPr txBox="1"/>
            <p:nvPr/>
          </p:nvSpPr>
          <p:spPr>
            <a:xfrm>
              <a:off x="1587725" y="1751268"/>
              <a:ext cx="914400" cy="32760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One</a:t>
              </a:r>
              <a:endParaRPr/>
            </a:p>
          </p:txBody>
        </p:sp>
      </p:grpSp>
      <p:sp>
        <p:nvSpPr>
          <p:cNvPr id="621" name="Google Shape;621;p54"/>
          <p:cNvSpPr/>
          <p:nvPr/>
        </p:nvSpPr>
        <p:spPr>
          <a:xfrm>
            <a:off x="3422303" y="889291"/>
            <a:ext cx="1122900" cy="2607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endParaRPr/>
          </a:p>
        </p:txBody>
      </p:sp>
      <p:cxnSp>
        <p:nvCxnSpPr>
          <p:cNvPr id="622" name="Google Shape;622;p54"/>
          <p:cNvCxnSpPr>
            <a:stCxn id="621" idx="2"/>
          </p:cNvCxnSpPr>
          <p:nvPr/>
        </p:nvCxnSpPr>
        <p:spPr>
          <a:xfrm>
            <a:off x="3983753" y="1149991"/>
            <a:ext cx="0" cy="2334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grpSp>
        <p:nvGrpSpPr>
          <p:cNvPr id="623" name="Google Shape;623;p54"/>
          <p:cNvGrpSpPr/>
          <p:nvPr/>
        </p:nvGrpSpPr>
        <p:grpSpPr>
          <a:xfrm>
            <a:off x="3642799" y="1250233"/>
            <a:ext cx="681777" cy="133078"/>
            <a:chOff x="4585368" y="2282351"/>
            <a:chExt cx="868948" cy="354875"/>
          </a:xfrm>
        </p:grpSpPr>
        <p:sp>
          <p:nvSpPr>
            <p:cNvPr id="624" name="Google Shape;624;p54"/>
            <p:cNvSpPr/>
            <p:nvPr/>
          </p:nvSpPr>
          <p:spPr>
            <a:xfrm>
              <a:off x="4799265" y="2282351"/>
              <a:ext cx="468000" cy="314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54"/>
            <p:cNvSpPr/>
            <p:nvPr/>
          </p:nvSpPr>
          <p:spPr>
            <a:xfrm>
              <a:off x="4585368" y="2282352"/>
              <a:ext cx="868948" cy="177437"/>
            </a:xfrm>
            <a:custGeom>
              <a:avLst/>
              <a:gdLst/>
              <a:ahLst/>
              <a:cxnLst/>
              <a:rect l="l" t="t" r="r" b="b"/>
              <a:pathLst>
                <a:path w="868948" h="177437" extrusionOk="0">
                  <a:moveTo>
                    <a:pt x="0" y="137332"/>
                  </a:moveTo>
                  <a:cubicBezTo>
                    <a:pt x="120316" y="67148"/>
                    <a:pt x="240632" y="-3036"/>
                    <a:pt x="334211" y="3648"/>
                  </a:cubicBezTo>
                  <a:cubicBezTo>
                    <a:pt x="427790" y="10332"/>
                    <a:pt x="472351" y="177437"/>
                    <a:pt x="561474" y="177437"/>
                  </a:cubicBezTo>
                  <a:cubicBezTo>
                    <a:pt x="650597" y="177437"/>
                    <a:pt x="831071" y="-29773"/>
                    <a:pt x="868948" y="3648"/>
                  </a:cubicBez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54"/>
            <p:cNvSpPr/>
            <p:nvPr/>
          </p:nvSpPr>
          <p:spPr>
            <a:xfrm>
              <a:off x="4585368" y="2459789"/>
              <a:ext cx="868948" cy="177437"/>
            </a:xfrm>
            <a:custGeom>
              <a:avLst/>
              <a:gdLst/>
              <a:ahLst/>
              <a:cxnLst/>
              <a:rect l="l" t="t" r="r" b="b"/>
              <a:pathLst>
                <a:path w="868948" h="177437" extrusionOk="0">
                  <a:moveTo>
                    <a:pt x="0" y="137332"/>
                  </a:moveTo>
                  <a:cubicBezTo>
                    <a:pt x="120316" y="67148"/>
                    <a:pt x="240632" y="-3036"/>
                    <a:pt x="334211" y="3648"/>
                  </a:cubicBezTo>
                  <a:cubicBezTo>
                    <a:pt x="427790" y="10332"/>
                    <a:pt x="472351" y="177437"/>
                    <a:pt x="561474" y="177437"/>
                  </a:cubicBezTo>
                  <a:cubicBezTo>
                    <a:pt x="650597" y="177437"/>
                    <a:pt x="831071" y="-29773"/>
                    <a:pt x="868948" y="3648"/>
                  </a:cubicBez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7" name="Google Shape;627;p54"/>
          <p:cNvGrpSpPr/>
          <p:nvPr/>
        </p:nvGrpSpPr>
        <p:grpSpPr>
          <a:xfrm>
            <a:off x="2687053" y="1389300"/>
            <a:ext cx="3629272" cy="566025"/>
            <a:chOff x="2687053" y="2257525"/>
            <a:chExt cx="3629272" cy="754700"/>
          </a:xfrm>
        </p:grpSpPr>
        <p:sp>
          <p:nvSpPr>
            <p:cNvPr id="628" name="Google Shape;628;p54"/>
            <p:cNvSpPr/>
            <p:nvPr/>
          </p:nvSpPr>
          <p:spPr>
            <a:xfrm flipH="1">
              <a:off x="3922550" y="2352845"/>
              <a:ext cx="144000" cy="5748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9" name="Google Shape;629;p54"/>
            <p:cNvCxnSpPr/>
            <p:nvPr/>
          </p:nvCxnSpPr>
          <p:spPr>
            <a:xfrm>
              <a:off x="2687053" y="2352845"/>
              <a:ext cx="13074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cxnSp>
          <p:nvCxnSpPr>
            <p:cNvPr id="630" name="Google Shape;630;p54"/>
            <p:cNvCxnSpPr>
              <a:stCxn id="628" idx="2"/>
            </p:cNvCxnSpPr>
            <p:nvPr/>
          </p:nvCxnSpPr>
          <p:spPr>
            <a:xfrm rot="10800000">
              <a:off x="2687150" y="2927645"/>
              <a:ext cx="13074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dash"/>
              <a:round/>
              <a:headEnd type="none" w="sm" len="sm"/>
              <a:tailEnd type="stealth" w="med" len="med"/>
            </a:ln>
          </p:spPr>
        </p:cxnSp>
        <p:sp>
          <p:nvSpPr>
            <p:cNvPr id="631" name="Google Shape;631;p54"/>
            <p:cNvSpPr/>
            <p:nvPr/>
          </p:nvSpPr>
          <p:spPr>
            <a:xfrm flipH="1">
              <a:off x="3994742" y="2408368"/>
              <a:ext cx="144000" cy="21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4"/>
            <p:cNvSpPr txBox="1"/>
            <p:nvPr/>
          </p:nvSpPr>
          <p:spPr>
            <a:xfrm>
              <a:off x="4479425" y="2257525"/>
              <a:ext cx="1836900" cy="354900"/>
            </a:xfrm>
            <a:prstGeom prst="rect">
              <a:avLst/>
            </a:prstGeom>
            <a:solidFill>
              <a:srgbClr val="FFFFE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startActivity(…)</a:t>
              </a:r>
              <a:endParaRPr/>
            </a:p>
          </p:txBody>
        </p:sp>
        <p:sp>
          <p:nvSpPr>
            <p:cNvPr id="633" name="Google Shape;633;p54"/>
            <p:cNvSpPr txBox="1"/>
            <p:nvPr/>
          </p:nvSpPr>
          <p:spPr>
            <a:xfrm>
              <a:off x="4479425" y="2657325"/>
              <a:ext cx="968100" cy="354900"/>
            </a:xfrm>
            <a:prstGeom prst="rect">
              <a:avLst/>
            </a:prstGeom>
            <a:solidFill>
              <a:srgbClr val="FFFFE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finish()</a:t>
              </a:r>
              <a:endParaRPr/>
            </a:p>
          </p:txBody>
        </p:sp>
        <p:sp>
          <p:nvSpPr>
            <p:cNvPr id="634" name="Google Shape;634;p54"/>
            <p:cNvSpPr/>
            <p:nvPr/>
          </p:nvSpPr>
          <p:spPr>
            <a:xfrm flipH="1">
              <a:off x="3986726" y="2669174"/>
              <a:ext cx="144000" cy="21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5" name="Google Shape;635;p54"/>
          <p:cNvGrpSpPr/>
          <p:nvPr/>
        </p:nvGrpSpPr>
        <p:grpSpPr>
          <a:xfrm>
            <a:off x="2687053" y="1945370"/>
            <a:ext cx="1379497" cy="359351"/>
            <a:chOff x="2272645" y="2998952"/>
            <a:chExt cx="1379497" cy="479135"/>
          </a:xfrm>
        </p:grpSpPr>
        <p:grpSp>
          <p:nvGrpSpPr>
            <p:cNvPr id="636" name="Google Shape;636;p54"/>
            <p:cNvGrpSpPr/>
            <p:nvPr/>
          </p:nvGrpSpPr>
          <p:grpSpPr>
            <a:xfrm>
              <a:off x="2272645" y="3334087"/>
              <a:ext cx="1379497" cy="144000"/>
              <a:chOff x="2425045" y="2505245"/>
              <a:chExt cx="1379497" cy="144000"/>
            </a:xfrm>
          </p:grpSpPr>
          <p:sp>
            <p:nvSpPr>
              <p:cNvPr id="637" name="Google Shape;637;p54"/>
              <p:cNvSpPr/>
              <p:nvPr/>
            </p:nvSpPr>
            <p:spPr>
              <a:xfrm flipH="1">
                <a:off x="3660542" y="2505245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38" name="Google Shape;638;p54"/>
              <p:cNvCxnSpPr/>
              <p:nvPr/>
            </p:nvCxnSpPr>
            <p:spPr>
              <a:xfrm>
                <a:off x="2425045" y="2505245"/>
                <a:ext cx="13074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cxnSp>
            <p:nvCxnSpPr>
              <p:cNvPr id="639" name="Google Shape;639;p54"/>
              <p:cNvCxnSpPr>
                <a:stCxn id="637" idx="2"/>
              </p:cNvCxnSpPr>
              <p:nvPr/>
            </p:nvCxnSpPr>
            <p:spPr>
              <a:xfrm rot="10800000">
                <a:off x="2425142" y="2649245"/>
                <a:ext cx="13074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640" name="Google Shape;640;p54"/>
            <p:cNvSpPr/>
            <p:nvPr/>
          </p:nvSpPr>
          <p:spPr>
            <a:xfrm>
              <a:off x="2276975" y="2998952"/>
              <a:ext cx="1073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onPause()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1" name="Google Shape;641;p54"/>
          <p:cNvGrpSpPr/>
          <p:nvPr/>
        </p:nvGrpSpPr>
        <p:grpSpPr>
          <a:xfrm>
            <a:off x="2687053" y="3398846"/>
            <a:ext cx="3650746" cy="1151915"/>
            <a:chOff x="2687053" y="3588095"/>
            <a:chExt cx="3650746" cy="1535887"/>
          </a:xfrm>
        </p:grpSpPr>
        <p:cxnSp>
          <p:nvCxnSpPr>
            <p:cNvPr id="642" name="Google Shape;642;p54"/>
            <p:cNvCxnSpPr>
              <a:stCxn id="643" idx="2"/>
            </p:cNvCxnSpPr>
            <p:nvPr/>
          </p:nvCxnSpPr>
          <p:spPr>
            <a:xfrm>
              <a:off x="5780492" y="4079682"/>
              <a:ext cx="0" cy="1044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grpSp>
          <p:nvGrpSpPr>
            <p:cNvPr id="644" name="Google Shape;644;p54"/>
            <p:cNvGrpSpPr/>
            <p:nvPr/>
          </p:nvGrpSpPr>
          <p:grpSpPr>
            <a:xfrm>
              <a:off x="2687053" y="3588095"/>
              <a:ext cx="3650746" cy="491587"/>
              <a:chOff x="2272645" y="3908927"/>
              <a:chExt cx="3650746" cy="491587"/>
            </a:xfrm>
          </p:grpSpPr>
          <p:sp>
            <p:nvSpPr>
              <p:cNvPr id="645" name="Google Shape;645;p54"/>
              <p:cNvSpPr/>
              <p:nvPr/>
            </p:nvSpPr>
            <p:spPr>
              <a:xfrm>
                <a:off x="4800491" y="3908927"/>
                <a:ext cx="1122900" cy="347700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lang="it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Two</a:t>
                </a:r>
                <a:endParaRPr/>
              </a:p>
            </p:txBody>
          </p:sp>
          <p:cxnSp>
            <p:nvCxnSpPr>
              <p:cNvPr id="646" name="Google Shape;646;p54"/>
              <p:cNvCxnSpPr/>
              <p:nvPr/>
            </p:nvCxnSpPr>
            <p:spPr>
              <a:xfrm>
                <a:off x="2272645" y="4082721"/>
                <a:ext cx="2527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sp>
            <p:nvSpPr>
              <p:cNvPr id="643" name="Google Shape;643;p54"/>
              <p:cNvSpPr/>
              <p:nvPr/>
            </p:nvSpPr>
            <p:spPr>
              <a:xfrm flipH="1">
                <a:off x="5294084" y="4256514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47" name="Google Shape;647;p54"/>
              <p:cNvCxnSpPr/>
              <p:nvPr/>
            </p:nvCxnSpPr>
            <p:spPr>
              <a:xfrm rot="10800000">
                <a:off x="2272787" y="4400514"/>
                <a:ext cx="30933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</p:grpSp>
      <p:grpSp>
        <p:nvGrpSpPr>
          <p:cNvPr id="648" name="Google Shape;648;p54"/>
          <p:cNvGrpSpPr/>
          <p:nvPr/>
        </p:nvGrpSpPr>
        <p:grpSpPr>
          <a:xfrm>
            <a:off x="2687053" y="2389859"/>
            <a:ext cx="1375941" cy="349325"/>
            <a:chOff x="2276201" y="3012320"/>
            <a:chExt cx="1375941" cy="465767"/>
          </a:xfrm>
        </p:grpSpPr>
        <p:grpSp>
          <p:nvGrpSpPr>
            <p:cNvPr id="649" name="Google Shape;649;p54"/>
            <p:cNvGrpSpPr/>
            <p:nvPr/>
          </p:nvGrpSpPr>
          <p:grpSpPr>
            <a:xfrm>
              <a:off x="2276201" y="3334087"/>
              <a:ext cx="1375941" cy="144000"/>
              <a:chOff x="2428601" y="2505245"/>
              <a:chExt cx="1375941" cy="144000"/>
            </a:xfrm>
          </p:grpSpPr>
          <p:sp>
            <p:nvSpPr>
              <p:cNvPr id="650" name="Google Shape;650;p54"/>
              <p:cNvSpPr/>
              <p:nvPr/>
            </p:nvSpPr>
            <p:spPr>
              <a:xfrm flipH="1">
                <a:off x="3660542" y="2505245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51" name="Google Shape;651;p54"/>
              <p:cNvCxnSpPr/>
              <p:nvPr/>
            </p:nvCxnSpPr>
            <p:spPr>
              <a:xfrm>
                <a:off x="2428601" y="2505245"/>
                <a:ext cx="1303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cxnSp>
            <p:nvCxnSpPr>
              <p:cNvPr id="652" name="Google Shape;652;p54"/>
              <p:cNvCxnSpPr>
                <a:stCxn id="650" idx="2"/>
              </p:cNvCxnSpPr>
              <p:nvPr/>
            </p:nvCxnSpPr>
            <p:spPr>
              <a:xfrm rot="10800000">
                <a:off x="2428742" y="2649245"/>
                <a:ext cx="1303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653" name="Google Shape;653;p54"/>
            <p:cNvSpPr/>
            <p:nvPr/>
          </p:nvSpPr>
          <p:spPr>
            <a:xfrm>
              <a:off x="2290343" y="3012320"/>
              <a:ext cx="974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onStop()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4" name="Google Shape;654;p54"/>
          <p:cNvSpPr/>
          <p:nvPr/>
        </p:nvSpPr>
        <p:spPr>
          <a:xfrm>
            <a:off x="3894479" y="3313625"/>
            <a:ext cx="200400" cy="1503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5" name="Google Shape;655;p54"/>
          <p:cNvGrpSpPr/>
          <p:nvPr/>
        </p:nvGrpSpPr>
        <p:grpSpPr>
          <a:xfrm>
            <a:off x="2701195" y="2808017"/>
            <a:ext cx="1375941" cy="349325"/>
            <a:chOff x="2276201" y="3012320"/>
            <a:chExt cx="1375941" cy="465767"/>
          </a:xfrm>
        </p:grpSpPr>
        <p:grpSp>
          <p:nvGrpSpPr>
            <p:cNvPr id="656" name="Google Shape;656;p54"/>
            <p:cNvGrpSpPr/>
            <p:nvPr/>
          </p:nvGrpSpPr>
          <p:grpSpPr>
            <a:xfrm>
              <a:off x="2276201" y="3334087"/>
              <a:ext cx="1375941" cy="144000"/>
              <a:chOff x="2428601" y="2505245"/>
              <a:chExt cx="1375941" cy="144000"/>
            </a:xfrm>
          </p:grpSpPr>
          <p:sp>
            <p:nvSpPr>
              <p:cNvPr id="657" name="Google Shape;657;p54"/>
              <p:cNvSpPr/>
              <p:nvPr/>
            </p:nvSpPr>
            <p:spPr>
              <a:xfrm flipH="1">
                <a:off x="3660542" y="2505245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58" name="Google Shape;658;p54"/>
              <p:cNvCxnSpPr/>
              <p:nvPr/>
            </p:nvCxnSpPr>
            <p:spPr>
              <a:xfrm>
                <a:off x="2428601" y="2505245"/>
                <a:ext cx="1303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cxnSp>
            <p:nvCxnSpPr>
              <p:cNvPr id="659" name="Google Shape;659;p54"/>
              <p:cNvCxnSpPr>
                <a:stCxn id="657" idx="2"/>
              </p:cNvCxnSpPr>
              <p:nvPr/>
            </p:nvCxnSpPr>
            <p:spPr>
              <a:xfrm rot="10800000">
                <a:off x="2428742" y="2649245"/>
                <a:ext cx="1303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660" name="Google Shape;660;p54"/>
            <p:cNvSpPr/>
            <p:nvPr/>
          </p:nvSpPr>
          <p:spPr>
            <a:xfrm>
              <a:off x="2290343" y="3012320"/>
              <a:ext cx="1270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onDestroy()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1" name="Google Shape;661;p54"/>
          <p:cNvGrpSpPr/>
          <p:nvPr/>
        </p:nvGrpSpPr>
        <p:grpSpPr>
          <a:xfrm>
            <a:off x="1231133" y="3849843"/>
            <a:ext cx="968100" cy="872241"/>
            <a:chOff x="1574251" y="1731211"/>
            <a:chExt cx="968100" cy="1162988"/>
          </a:xfrm>
        </p:grpSpPr>
        <p:sp>
          <p:nvSpPr>
            <p:cNvPr id="662" name="Google Shape;662;p54"/>
            <p:cNvSpPr/>
            <p:nvPr/>
          </p:nvSpPr>
          <p:spPr>
            <a:xfrm rot="5400000">
              <a:off x="1818097" y="1510561"/>
              <a:ext cx="481200" cy="922500"/>
            </a:xfrm>
            <a:prstGeom prst="parallelogram">
              <a:avLst>
                <a:gd name="adj" fmla="val 28208"/>
              </a:avLst>
            </a:prstGeom>
            <a:solidFill>
              <a:srgbClr val="C3BCC5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54"/>
            <p:cNvSpPr txBox="1"/>
            <p:nvPr/>
          </p:nvSpPr>
          <p:spPr>
            <a:xfrm>
              <a:off x="1782803" y="1827875"/>
              <a:ext cx="552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4"/>
            <p:cNvSpPr/>
            <p:nvPr/>
          </p:nvSpPr>
          <p:spPr>
            <a:xfrm rot="5400000">
              <a:off x="1650995" y="2025249"/>
              <a:ext cx="815400" cy="922500"/>
            </a:xfrm>
            <a:prstGeom prst="parallelogram">
              <a:avLst>
                <a:gd name="adj" fmla="val 16596"/>
              </a:avLst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54"/>
            <p:cNvSpPr txBox="1"/>
            <p:nvPr/>
          </p:nvSpPr>
          <p:spPr>
            <a:xfrm rot="485414">
              <a:off x="1601051" y="1844454"/>
              <a:ext cx="914501" cy="4454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66" name="Google Shape;666;p54"/>
            <p:cNvSpPr txBox="1"/>
            <p:nvPr/>
          </p:nvSpPr>
          <p:spPr>
            <a:xfrm>
              <a:off x="1587725" y="1751268"/>
              <a:ext cx="914400" cy="32760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Two</a:t>
              </a:r>
              <a:endParaRPr/>
            </a:p>
          </p:txBody>
        </p:sp>
      </p:grpSp>
      <p:grpSp>
        <p:nvGrpSpPr>
          <p:cNvPr id="667" name="Google Shape;667;p54"/>
          <p:cNvGrpSpPr/>
          <p:nvPr/>
        </p:nvGrpSpPr>
        <p:grpSpPr>
          <a:xfrm>
            <a:off x="5444867" y="4459037"/>
            <a:ext cx="681777" cy="133078"/>
            <a:chOff x="4585368" y="2282351"/>
            <a:chExt cx="868948" cy="354875"/>
          </a:xfrm>
        </p:grpSpPr>
        <p:sp>
          <p:nvSpPr>
            <p:cNvPr id="668" name="Google Shape;668;p54"/>
            <p:cNvSpPr/>
            <p:nvPr/>
          </p:nvSpPr>
          <p:spPr>
            <a:xfrm>
              <a:off x="4799265" y="2282351"/>
              <a:ext cx="468000" cy="314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4"/>
            <p:cNvSpPr/>
            <p:nvPr/>
          </p:nvSpPr>
          <p:spPr>
            <a:xfrm>
              <a:off x="4585368" y="2282352"/>
              <a:ext cx="868948" cy="177437"/>
            </a:xfrm>
            <a:custGeom>
              <a:avLst/>
              <a:gdLst/>
              <a:ahLst/>
              <a:cxnLst/>
              <a:rect l="l" t="t" r="r" b="b"/>
              <a:pathLst>
                <a:path w="868948" h="177437" extrusionOk="0">
                  <a:moveTo>
                    <a:pt x="0" y="137332"/>
                  </a:moveTo>
                  <a:cubicBezTo>
                    <a:pt x="120316" y="67148"/>
                    <a:pt x="240632" y="-3036"/>
                    <a:pt x="334211" y="3648"/>
                  </a:cubicBezTo>
                  <a:cubicBezTo>
                    <a:pt x="427790" y="10332"/>
                    <a:pt x="472351" y="177437"/>
                    <a:pt x="561474" y="177437"/>
                  </a:cubicBezTo>
                  <a:cubicBezTo>
                    <a:pt x="650597" y="177437"/>
                    <a:pt x="831071" y="-29773"/>
                    <a:pt x="868948" y="3648"/>
                  </a:cubicBez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4"/>
            <p:cNvSpPr/>
            <p:nvPr/>
          </p:nvSpPr>
          <p:spPr>
            <a:xfrm>
              <a:off x="4585368" y="2459789"/>
              <a:ext cx="868948" cy="177437"/>
            </a:xfrm>
            <a:custGeom>
              <a:avLst/>
              <a:gdLst/>
              <a:ahLst/>
              <a:cxnLst/>
              <a:rect l="l" t="t" r="r" b="b"/>
              <a:pathLst>
                <a:path w="868948" h="177437" extrusionOk="0">
                  <a:moveTo>
                    <a:pt x="0" y="137332"/>
                  </a:moveTo>
                  <a:cubicBezTo>
                    <a:pt x="120316" y="67148"/>
                    <a:pt x="240632" y="-3036"/>
                    <a:pt x="334211" y="3648"/>
                  </a:cubicBezTo>
                  <a:cubicBezTo>
                    <a:pt x="427790" y="10332"/>
                    <a:pt x="472351" y="177437"/>
                    <a:pt x="561474" y="177437"/>
                  </a:cubicBezTo>
                  <a:cubicBezTo>
                    <a:pt x="650597" y="177437"/>
                    <a:pt x="831071" y="-29773"/>
                    <a:pt x="868948" y="3648"/>
                  </a:cubicBez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1" name="Google Shape;671;p54"/>
          <p:cNvGrpSpPr/>
          <p:nvPr/>
        </p:nvGrpSpPr>
        <p:grpSpPr>
          <a:xfrm>
            <a:off x="2687144" y="3749025"/>
            <a:ext cx="5231106" cy="376000"/>
            <a:chOff x="2687144" y="4017628"/>
            <a:chExt cx="5231106" cy="501333"/>
          </a:xfrm>
        </p:grpSpPr>
        <p:grpSp>
          <p:nvGrpSpPr>
            <p:cNvPr id="672" name="Google Shape;672;p54"/>
            <p:cNvGrpSpPr/>
            <p:nvPr/>
          </p:nvGrpSpPr>
          <p:grpSpPr>
            <a:xfrm>
              <a:off x="2687144" y="4017628"/>
              <a:ext cx="3170700" cy="428342"/>
              <a:chOff x="2272736" y="4365196"/>
              <a:chExt cx="3170700" cy="428342"/>
            </a:xfrm>
          </p:grpSpPr>
          <p:sp>
            <p:nvSpPr>
              <p:cNvPr id="673" name="Google Shape;673;p54"/>
              <p:cNvSpPr/>
              <p:nvPr/>
            </p:nvSpPr>
            <p:spPr>
              <a:xfrm flipH="1">
                <a:off x="5299436" y="4649538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4" name="Google Shape;674;p54"/>
              <p:cNvCxnSpPr>
                <a:endCxn id="673" idx="0"/>
              </p:cNvCxnSpPr>
              <p:nvPr/>
            </p:nvCxnSpPr>
            <p:spPr>
              <a:xfrm>
                <a:off x="2272736" y="4649538"/>
                <a:ext cx="30987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sp>
            <p:nvSpPr>
              <p:cNvPr id="675" name="Google Shape;675;p54"/>
              <p:cNvSpPr/>
              <p:nvPr/>
            </p:nvSpPr>
            <p:spPr>
              <a:xfrm>
                <a:off x="2312742" y="4365196"/>
                <a:ext cx="15975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4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onCreate(...)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76" name="Google Shape;676;p54"/>
              <p:cNvCxnSpPr/>
              <p:nvPr/>
            </p:nvCxnSpPr>
            <p:spPr>
              <a:xfrm rot="10800000">
                <a:off x="2272736" y="4793538"/>
                <a:ext cx="30987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677" name="Google Shape;677;p54"/>
            <p:cNvSpPr txBox="1"/>
            <p:nvPr/>
          </p:nvSpPr>
          <p:spPr>
            <a:xfrm>
              <a:off x="5974550" y="4164061"/>
              <a:ext cx="1943700" cy="354900"/>
            </a:xfrm>
            <a:prstGeom prst="rect">
              <a:avLst/>
            </a:prstGeom>
            <a:solidFill>
              <a:srgbClr val="FFFFE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setContentView(…)</a:t>
              </a:r>
              <a:endParaRPr/>
            </a:p>
          </p:txBody>
        </p:sp>
      </p:grpSp>
      <p:sp>
        <p:nvSpPr>
          <p:cNvPr id="678" name="Google Shape;678;p54"/>
          <p:cNvSpPr/>
          <p:nvPr/>
        </p:nvSpPr>
        <p:spPr>
          <a:xfrm rot="-5400000">
            <a:off x="856761" y="2759668"/>
            <a:ext cx="3332400" cy="313500"/>
          </a:xfrm>
          <a:prstGeom prst="rect">
            <a:avLst/>
          </a:prstGeom>
          <a:solidFill>
            <a:srgbClr val="FFFFE0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 loop</a:t>
            </a:r>
            <a:endParaRPr/>
          </a:p>
        </p:txBody>
      </p:sp>
      <p:grpSp>
        <p:nvGrpSpPr>
          <p:cNvPr id="679" name="Google Shape;679;p54"/>
          <p:cNvGrpSpPr/>
          <p:nvPr/>
        </p:nvGrpSpPr>
        <p:grpSpPr>
          <a:xfrm>
            <a:off x="2687144" y="4034783"/>
            <a:ext cx="3170700" cy="321249"/>
            <a:chOff x="2272736" y="4365206"/>
            <a:chExt cx="3170700" cy="428332"/>
          </a:xfrm>
        </p:grpSpPr>
        <p:sp>
          <p:nvSpPr>
            <p:cNvPr id="680" name="Google Shape;680;p54"/>
            <p:cNvSpPr/>
            <p:nvPr/>
          </p:nvSpPr>
          <p:spPr>
            <a:xfrm flipH="1">
              <a:off x="5299436" y="4649538"/>
              <a:ext cx="144000" cy="144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1" name="Google Shape;681;p54"/>
            <p:cNvCxnSpPr>
              <a:endCxn id="680" idx="0"/>
            </p:cNvCxnSpPr>
            <p:nvPr/>
          </p:nvCxnSpPr>
          <p:spPr>
            <a:xfrm>
              <a:off x="2272736" y="4649538"/>
              <a:ext cx="30987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sp>
          <p:nvSpPr>
            <p:cNvPr id="682" name="Google Shape;682;p54"/>
            <p:cNvSpPr/>
            <p:nvPr/>
          </p:nvSpPr>
          <p:spPr>
            <a:xfrm>
              <a:off x="2312751" y="4365206"/>
              <a:ext cx="11718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onStart</a:t>
              </a: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3" name="Google Shape;683;p54"/>
            <p:cNvCxnSpPr/>
            <p:nvPr/>
          </p:nvCxnSpPr>
          <p:spPr>
            <a:xfrm rot="10800000">
              <a:off x="2272736" y="4793538"/>
              <a:ext cx="30987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dash"/>
              <a:round/>
              <a:headEnd type="none" w="sm" len="sm"/>
              <a:tailEnd type="stealth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5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47</a:t>
            </a:fld>
            <a:endParaRPr/>
          </a:p>
        </p:txBody>
      </p:sp>
      <p:sp>
        <p:nvSpPr>
          <p:cNvPr id="690" name="Google Shape;690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Requesting a value</a:t>
            </a:r>
            <a:endParaRPr/>
          </a:p>
        </p:txBody>
      </p:sp>
      <p:sp>
        <p:nvSpPr>
          <p:cNvPr id="691" name="Google Shape;691;p55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249290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 dirty="0"/>
              <a:t>An activity may start another one in order to collect some value from the user</a:t>
            </a:r>
            <a:endParaRPr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dirty="0"/>
              <a:t>When the second activity terminates, the value must be returned back to the one that invoked it</a:t>
            </a:r>
            <a:endParaRPr dirty="0"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dirty="0"/>
              <a:t>Since the second activity can potentially be invoked from many different invokers, hardwiring its name in the intent is not an option</a:t>
            </a:r>
            <a:endParaRPr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it" dirty="0"/>
              <a:t>The invoker must define a property of type ActivityResultLauncher&lt;Intent&gt; and initialize it with the following block of code:</a:t>
            </a:r>
            <a:endParaRPr dirty="0"/>
          </a:p>
          <a:p>
            <a:pPr marL="4572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92" name="Google Shape;692;p55"/>
          <p:cNvSpPr/>
          <p:nvPr/>
        </p:nvSpPr>
        <p:spPr>
          <a:xfrm>
            <a:off x="671550" y="3633748"/>
            <a:ext cx="7800900" cy="1110646"/>
          </a:xfrm>
          <a:prstGeom prst="foldedCorner">
            <a:avLst>
              <a:gd name="adj" fmla="val 12500"/>
            </a:avLst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val </a:t>
            </a:r>
            <a:r>
              <a:rPr lang="it" sz="1000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launcher</a:t>
            </a: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registerForActivityResult(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ActivityResultContracts.StartActivityForResult()) { </a:t>
            </a:r>
            <a:r>
              <a:rPr lang="it" sz="1000">
                <a:solidFill>
                  <a:schemeClr val="dk1"/>
                </a:solidFill>
                <a:highlight>
                  <a:srgbClr val="D7FC00"/>
                </a:highlight>
                <a:latin typeface="Consolas"/>
                <a:ea typeface="Consolas"/>
                <a:cs typeface="Consolas"/>
                <a:sym typeface="Consolas"/>
              </a:rPr>
              <a:t>processResponse(it)</a:t>
            </a: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}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fun </a:t>
            </a:r>
            <a:r>
              <a:rPr lang="it" sz="1000">
                <a:solidFill>
                  <a:schemeClr val="dk1"/>
                </a:solidFill>
                <a:highlight>
                  <a:srgbClr val="D7FC00"/>
                </a:highlight>
                <a:latin typeface="Consolas"/>
                <a:ea typeface="Consolas"/>
                <a:cs typeface="Consolas"/>
                <a:sym typeface="Consolas"/>
              </a:rPr>
              <a:t>processResponse</a:t>
            </a: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(res: ActivityResult) { 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if (res.resultCode == RESULT_OK) 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data: Intent? = res.data // response intent   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6"/>
          <p:cNvSpPr txBox="1">
            <a:spLocks noGrp="1"/>
          </p:cNvSpPr>
          <p:nvPr>
            <p:ph type="title"/>
          </p:nvPr>
        </p:nvSpPr>
        <p:spPr>
          <a:xfrm>
            <a:off x="311700" y="157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Requesting a value</a:t>
            </a:r>
            <a:endParaRPr/>
          </a:p>
        </p:txBody>
      </p:sp>
      <p:sp>
        <p:nvSpPr>
          <p:cNvPr id="699" name="Google Shape;699;p56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48</a:t>
            </a:fld>
            <a:endParaRPr/>
          </a:p>
        </p:txBody>
      </p:sp>
      <p:grpSp>
        <p:nvGrpSpPr>
          <p:cNvPr id="700" name="Google Shape;700;p56"/>
          <p:cNvGrpSpPr/>
          <p:nvPr/>
        </p:nvGrpSpPr>
        <p:grpSpPr>
          <a:xfrm>
            <a:off x="1266777" y="845885"/>
            <a:ext cx="968100" cy="872241"/>
            <a:chOff x="1574251" y="1731211"/>
            <a:chExt cx="968100" cy="1162988"/>
          </a:xfrm>
        </p:grpSpPr>
        <p:sp>
          <p:nvSpPr>
            <p:cNvPr id="701" name="Google Shape;701;p56"/>
            <p:cNvSpPr/>
            <p:nvPr/>
          </p:nvSpPr>
          <p:spPr>
            <a:xfrm rot="5400000">
              <a:off x="1818097" y="1510561"/>
              <a:ext cx="481200" cy="922500"/>
            </a:xfrm>
            <a:prstGeom prst="parallelogram">
              <a:avLst>
                <a:gd name="adj" fmla="val 28208"/>
              </a:avLst>
            </a:prstGeom>
            <a:solidFill>
              <a:srgbClr val="C3BCC5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56"/>
            <p:cNvSpPr txBox="1"/>
            <p:nvPr/>
          </p:nvSpPr>
          <p:spPr>
            <a:xfrm>
              <a:off x="1782803" y="1827875"/>
              <a:ext cx="552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56"/>
            <p:cNvSpPr/>
            <p:nvPr/>
          </p:nvSpPr>
          <p:spPr>
            <a:xfrm rot="5400000">
              <a:off x="1650995" y="2025249"/>
              <a:ext cx="815400" cy="922500"/>
            </a:xfrm>
            <a:prstGeom prst="parallelogram">
              <a:avLst>
                <a:gd name="adj" fmla="val 16596"/>
              </a:avLst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56"/>
            <p:cNvSpPr txBox="1"/>
            <p:nvPr/>
          </p:nvSpPr>
          <p:spPr>
            <a:xfrm rot="485414">
              <a:off x="1601051" y="1844454"/>
              <a:ext cx="914501" cy="4454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05" name="Google Shape;705;p56"/>
            <p:cNvSpPr txBox="1"/>
            <p:nvPr/>
          </p:nvSpPr>
          <p:spPr>
            <a:xfrm>
              <a:off x="1587725" y="1751268"/>
              <a:ext cx="914400" cy="32760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One</a:t>
              </a:r>
              <a:endParaRPr/>
            </a:p>
          </p:txBody>
        </p:sp>
      </p:grpSp>
      <p:sp>
        <p:nvSpPr>
          <p:cNvPr id="706" name="Google Shape;706;p56"/>
          <p:cNvSpPr/>
          <p:nvPr/>
        </p:nvSpPr>
        <p:spPr>
          <a:xfrm>
            <a:off x="3422303" y="845884"/>
            <a:ext cx="1122900" cy="260700"/>
          </a:xfrm>
          <a:prstGeom prst="roundRect">
            <a:avLst>
              <a:gd name="adj" fmla="val 16667"/>
            </a:avLst>
          </a:prstGeom>
          <a:solidFill>
            <a:srgbClr val="CCFFCC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it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endParaRPr/>
          </a:p>
        </p:txBody>
      </p:sp>
      <p:cxnSp>
        <p:nvCxnSpPr>
          <p:cNvPr id="707" name="Google Shape;707;p56"/>
          <p:cNvCxnSpPr>
            <a:stCxn id="706" idx="2"/>
          </p:cNvCxnSpPr>
          <p:nvPr/>
        </p:nvCxnSpPr>
        <p:spPr>
          <a:xfrm>
            <a:off x="3983753" y="1106585"/>
            <a:ext cx="0" cy="3529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7650"/>
              </a:srgbClr>
            </a:outerShdw>
          </a:effectLst>
        </p:spPr>
      </p:cxnSp>
      <p:grpSp>
        <p:nvGrpSpPr>
          <p:cNvPr id="708" name="Google Shape;708;p56"/>
          <p:cNvGrpSpPr/>
          <p:nvPr/>
        </p:nvGrpSpPr>
        <p:grpSpPr>
          <a:xfrm>
            <a:off x="3642799" y="1206827"/>
            <a:ext cx="681777" cy="133078"/>
            <a:chOff x="4585368" y="2282351"/>
            <a:chExt cx="868948" cy="354875"/>
          </a:xfrm>
        </p:grpSpPr>
        <p:sp>
          <p:nvSpPr>
            <p:cNvPr id="709" name="Google Shape;709;p56"/>
            <p:cNvSpPr/>
            <p:nvPr/>
          </p:nvSpPr>
          <p:spPr>
            <a:xfrm>
              <a:off x="4799265" y="2282351"/>
              <a:ext cx="468000" cy="314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56"/>
            <p:cNvSpPr/>
            <p:nvPr/>
          </p:nvSpPr>
          <p:spPr>
            <a:xfrm>
              <a:off x="4585368" y="2282352"/>
              <a:ext cx="868948" cy="177437"/>
            </a:xfrm>
            <a:custGeom>
              <a:avLst/>
              <a:gdLst/>
              <a:ahLst/>
              <a:cxnLst/>
              <a:rect l="l" t="t" r="r" b="b"/>
              <a:pathLst>
                <a:path w="868948" h="177437" extrusionOk="0">
                  <a:moveTo>
                    <a:pt x="0" y="137332"/>
                  </a:moveTo>
                  <a:cubicBezTo>
                    <a:pt x="120316" y="67148"/>
                    <a:pt x="240632" y="-3036"/>
                    <a:pt x="334211" y="3648"/>
                  </a:cubicBezTo>
                  <a:cubicBezTo>
                    <a:pt x="427790" y="10332"/>
                    <a:pt x="472351" y="177437"/>
                    <a:pt x="561474" y="177437"/>
                  </a:cubicBezTo>
                  <a:cubicBezTo>
                    <a:pt x="650597" y="177437"/>
                    <a:pt x="831071" y="-29773"/>
                    <a:pt x="868948" y="3648"/>
                  </a:cubicBez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56"/>
            <p:cNvSpPr/>
            <p:nvPr/>
          </p:nvSpPr>
          <p:spPr>
            <a:xfrm>
              <a:off x="4585368" y="2459789"/>
              <a:ext cx="868948" cy="177437"/>
            </a:xfrm>
            <a:custGeom>
              <a:avLst/>
              <a:gdLst/>
              <a:ahLst/>
              <a:cxnLst/>
              <a:rect l="l" t="t" r="r" b="b"/>
              <a:pathLst>
                <a:path w="868948" h="177437" extrusionOk="0">
                  <a:moveTo>
                    <a:pt x="0" y="137332"/>
                  </a:moveTo>
                  <a:cubicBezTo>
                    <a:pt x="120316" y="67148"/>
                    <a:pt x="240632" y="-3036"/>
                    <a:pt x="334211" y="3648"/>
                  </a:cubicBezTo>
                  <a:cubicBezTo>
                    <a:pt x="427790" y="10332"/>
                    <a:pt x="472351" y="177437"/>
                    <a:pt x="561474" y="177437"/>
                  </a:cubicBezTo>
                  <a:cubicBezTo>
                    <a:pt x="650597" y="177437"/>
                    <a:pt x="831071" y="-29773"/>
                    <a:pt x="868948" y="3648"/>
                  </a:cubicBezTo>
                </a:path>
              </a:pathLst>
            </a:cu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2" name="Google Shape;712;p56"/>
          <p:cNvGrpSpPr/>
          <p:nvPr/>
        </p:nvGrpSpPr>
        <p:grpSpPr>
          <a:xfrm>
            <a:off x="2687053" y="1324350"/>
            <a:ext cx="3971722" cy="524134"/>
            <a:chOff x="2687053" y="2228800"/>
            <a:chExt cx="3971722" cy="698845"/>
          </a:xfrm>
        </p:grpSpPr>
        <p:sp>
          <p:nvSpPr>
            <p:cNvPr id="713" name="Google Shape;713;p56"/>
            <p:cNvSpPr/>
            <p:nvPr/>
          </p:nvSpPr>
          <p:spPr>
            <a:xfrm flipH="1">
              <a:off x="3922550" y="2352845"/>
              <a:ext cx="144000" cy="5748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4" name="Google Shape;714;p56"/>
            <p:cNvCxnSpPr/>
            <p:nvPr/>
          </p:nvCxnSpPr>
          <p:spPr>
            <a:xfrm>
              <a:off x="2687053" y="2352845"/>
              <a:ext cx="13074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cxnSp>
          <p:nvCxnSpPr>
            <p:cNvPr id="715" name="Google Shape;715;p56"/>
            <p:cNvCxnSpPr>
              <a:stCxn id="713" idx="2"/>
            </p:cNvCxnSpPr>
            <p:nvPr/>
          </p:nvCxnSpPr>
          <p:spPr>
            <a:xfrm rot="10800000">
              <a:off x="2687150" y="2927645"/>
              <a:ext cx="13074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dash"/>
              <a:round/>
              <a:headEnd type="none" w="sm" len="sm"/>
              <a:tailEnd type="stealth" w="med" len="med"/>
            </a:ln>
          </p:spPr>
        </p:cxnSp>
        <p:cxnSp>
          <p:nvCxnSpPr>
            <p:cNvPr id="716" name="Google Shape;716;p56"/>
            <p:cNvCxnSpPr>
              <a:stCxn id="713" idx="1"/>
              <a:endCxn id="717" idx="1"/>
            </p:cNvCxnSpPr>
            <p:nvPr/>
          </p:nvCxnSpPr>
          <p:spPr>
            <a:xfrm>
              <a:off x="4066550" y="2640245"/>
              <a:ext cx="72300" cy="93300"/>
            </a:xfrm>
            <a:prstGeom prst="bentConnector3">
              <a:avLst>
                <a:gd name="adj1" fmla="val 416656"/>
              </a:avLst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sp>
          <p:nvSpPr>
            <p:cNvPr id="717" name="Google Shape;717;p56"/>
            <p:cNvSpPr/>
            <p:nvPr/>
          </p:nvSpPr>
          <p:spPr>
            <a:xfrm flipH="1">
              <a:off x="3994742" y="2625557"/>
              <a:ext cx="144000" cy="216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56"/>
            <p:cNvSpPr txBox="1"/>
            <p:nvPr/>
          </p:nvSpPr>
          <p:spPr>
            <a:xfrm>
              <a:off x="4165475" y="2228800"/>
              <a:ext cx="2493300" cy="354900"/>
            </a:xfrm>
            <a:prstGeom prst="rect">
              <a:avLst/>
            </a:prstGeom>
            <a:solidFill>
              <a:srgbClr val="FFFFE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launcher.launch(intent)</a:t>
              </a:r>
              <a:endParaRPr/>
            </a:p>
          </p:txBody>
        </p:sp>
      </p:grpSp>
      <p:grpSp>
        <p:nvGrpSpPr>
          <p:cNvPr id="719" name="Google Shape;719;p56"/>
          <p:cNvGrpSpPr/>
          <p:nvPr/>
        </p:nvGrpSpPr>
        <p:grpSpPr>
          <a:xfrm>
            <a:off x="2687053" y="1901964"/>
            <a:ext cx="1379497" cy="359351"/>
            <a:chOff x="2272645" y="2998952"/>
            <a:chExt cx="1379497" cy="479135"/>
          </a:xfrm>
        </p:grpSpPr>
        <p:grpSp>
          <p:nvGrpSpPr>
            <p:cNvPr id="720" name="Google Shape;720;p56"/>
            <p:cNvGrpSpPr/>
            <p:nvPr/>
          </p:nvGrpSpPr>
          <p:grpSpPr>
            <a:xfrm>
              <a:off x="2272645" y="3334087"/>
              <a:ext cx="1379497" cy="144000"/>
              <a:chOff x="2425045" y="2505245"/>
              <a:chExt cx="1379497" cy="144000"/>
            </a:xfrm>
          </p:grpSpPr>
          <p:sp>
            <p:nvSpPr>
              <p:cNvPr id="721" name="Google Shape;721;p56"/>
              <p:cNvSpPr/>
              <p:nvPr/>
            </p:nvSpPr>
            <p:spPr>
              <a:xfrm flipH="1">
                <a:off x="3660542" y="2505245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22" name="Google Shape;722;p56"/>
              <p:cNvCxnSpPr/>
              <p:nvPr/>
            </p:nvCxnSpPr>
            <p:spPr>
              <a:xfrm>
                <a:off x="2425045" y="2505245"/>
                <a:ext cx="13074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cxnSp>
            <p:nvCxnSpPr>
              <p:cNvPr id="723" name="Google Shape;723;p56"/>
              <p:cNvCxnSpPr>
                <a:stCxn id="721" idx="2"/>
              </p:cNvCxnSpPr>
              <p:nvPr/>
            </p:nvCxnSpPr>
            <p:spPr>
              <a:xfrm rot="10800000">
                <a:off x="2425142" y="2649245"/>
                <a:ext cx="13074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724" name="Google Shape;724;p56"/>
            <p:cNvSpPr/>
            <p:nvPr/>
          </p:nvSpPr>
          <p:spPr>
            <a:xfrm>
              <a:off x="2276975" y="2998952"/>
              <a:ext cx="1073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onPause()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5" name="Google Shape;725;p56"/>
          <p:cNvGrpSpPr/>
          <p:nvPr/>
        </p:nvGrpSpPr>
        <p:grpSpPr>
          <a:xfrm>
            <a:off x="2687053" y="2273639"/>
            <a:ext cx="3650746" cy="1700465"/>
            <a:chOff x="2687053" y="3588095"/>
            <a:chExt cx="3650746" cy="2267287"/>
          </a:xfrm>
        </p:grpSpPr>
        <p:cxnSp>
          <p:nvCxnSpPr>
            <p:cNvPr id="726" name="Google Shape;726;p56"/>
            <p:cNvCxnSpPr>
              <a:stCxn id="727" idx="2"/>
            </p:cNvCxnSpPr>
            <p:nvPr/>
          </p:nvCxnSpPr>
          <p:spPr>
            <a:xfrm>
              <a:off x="5780492" y="4079682"/>
              <a:ext cx="0" cy="17757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grpSp>
          <p:nvGrpSpPr>
            <p:cNvPr id="728" name="Google Shape;728;p56"/>
            <p:cNvGrpSpPr/>
            <p:nvPr/>
          </p:nvGrpSpPr>
          <p:grpSpPr>
            <a:xfrm>
              <a:off x="2687053" y="3588095"/>
              <a:ext cx="3650746" cy="491587"/>
              <a:chOff x="2272645" y="3908927"/>
              <a:chExt cx="3650746" cy="491587"/>
            </a:xfrm>
          </p:grpSpPr>
          <p:sp>
            <p:nvSpPr>
              <p:cNvPr id="729" name="Google Shape;729;p56"/>
              <p:cNvSpPr/>
              <p:nvPr/>
            </p:nvSpPr>
            <p:spPr>
              <a:xfrm>
                <a:off x="4800491" y="3908927"/>
                <a:ext cx="1122900" cy="347700"/>
              </a:xfrm>
              <a:prstGeom prst="roundRect">
                <a:avLst>
                  <a:gd name="adj" fmla="val 16667"/>
                </a:avLst>
              </a:prstGeom>
              <a:solidFill>
                <a:srgbClr val="CCFFCC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lang="it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Two</a:t>
                </a:r>
                <a:endParaRPr/>
              </a:p>
            </p:txBody>
          </p:sp>
          <p:cxnSp>
            <p:nvCxnSpPr>
              <p:cNvPr id="730" name="Google Shape;730;p56"/>
              <p:cNvCxnSpPr/>
              <p:nvPr/>
            </p:nvCxnSpPr>
            <p:spPr>
              <a:xfrm>
                <a:off x="2272645" y="4082721"/>
                <a:ext cx="2527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sp>
            <p:nvSpPr>
              <p:cNvPr id="727" name="Google Shape;727;p56"/>
              <p:cNvSpPr/>
              <p:nvPr/>
            </p:nvSpPr>
            <p:spPr>
              <a:xfrm flipH="1">
                <a:off x="5294084" y="4256514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31" name="Google Shape;731;p56"/>
              <p:cNvCxnSpPr/>
              <p:nvPr/>
            </p:nvCxnSpPr>
            <p:spPr>
              <a:xfrm rot="10800000">
                <a:off x="2272787" y="4400514"/>
                <a:ext cx="30933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</p:grpSp>
      <p:grpSp>
        <p:nvGrpSpPr>
          <p:cNvPr id="732" name="Google Shape;732;p56"/>
          <p:cNvGrpSpPr/>
          <p:nvPr/>
        </p:nvGrpSpPr>
        <p:grpSpPr>
          <a:xfrm>
            <a:off x="2687093" y="3382907"/>
            <a:ext cx="3176100" cy="321249"/>
            <a:chOff x="2267336" y="4365206"/>
            <a:chExt cx="3176100" cy="428332"/>
          </a:xfrm>
        </p:grpSpPr>
        <p:sp>
          <p:nvSpPr>
            <p:cNvPr id="733" name="Google Shape;733;p56"/>
            <p:cNvSpPr/>
            <p:nvPr/>
          </p:nvSpPr>
          <p:spPr>
            <a:xfrm flipH="1">
              <a:off x="5299436" y="4649538"/>
              <a:ext cx="144000" cy="144000"/>
            </a:xfrm>
            <a:prstGeom prst="rect">
              <a:avLst/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4" name="Google Shape;734;p56"/>
            <p:cNvCxnSpPr>
              <a:endCxn id="733" idx="0"/>
            </p:cNvCxnSpPr>
            <p:nvPr/>
          </p:nvCxnSpPr>
          <p:spPr>
            <a:xfrm>
              <a:off x="2267336" y="4649538"/>
              <a:ext cx="31041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stealth" w="med" len="med"/>
            </a:ln>
            <a:effectLst>
              <a:outerShdw blurRad="40000" dist="20000" dir="5400000" rotWithShape="0">
                <a:srgbClr val="000000">
                  <a:alpha val="37650"/>
                </a:srgbClr>
              </a:outerShdw>
            </a:effectLst>
          </p:spPr>
        </p:cxnSp>
        <p:sp>
          <p:nvSpPr>
            <p:cNvPr id="735" name="Google Shape;735;p56"/>
            <p:cNvSpPr/>
            <p:nvPr/>
          </p:nvSpPr>
          <p:spPr>
            <a:xfrm>
              <a:off x="2286015" y="4365206"/>
              <a:ext cx="1270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onDestroy()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6" name="Google Shape;736;p56"/>
            <p:cNvCxnSpPr/>
            <p:nvPr/>
          </p:nvCxnSpPr>
          <p:spPr>
            <a:xfrm rot="10800000">
              <a:off x="2267336" y="4793538"/>
              <a:ext cx="31041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1"/>
              </a:solidFill>
              <a:prstDash val="dash"/>
              <a:round/>
              <a:headEnd type="none" w="sm" len="sm"/>
              <a:tailEnd type="stealth" w="med" len="med"/>
            </a:ln>
          </p:spPr>
        </p:cxnSp>
      </p:grpSp>
      <p:grpSp>
        <p:nvGrpSpPr>
          <p:cNvPr id="737" name="Google Shape;737;p56"/>
          <p:cNvGrpSpPr/>
          <p:nvPr/>
        </p:nvGrpSpPr>
        <p:grpSpPr>
          <a:xfrm>
            <a:off x="1155379" y="2482190"/>
            <a:ext cx="1061676" cy="966484"/>
            <a:chOff x="1195483" y="3334087"/>
            <a:chExt cx="1061676" cy="1288646"/>
          </a:xfrm>
        </p:grpSpPr>
        <p:grpSp>
          <p:nvGrpSpPr>
            <p:cNvPr id="738" name="Google Shape;738;p56"/>
            <p:cNvGrpSpPr/>
            <p:nvPr/>
          </p:nvGrpSpPr>
          <p:grpSpPr>
            <a:xfrm>
              <a:off x="1289059" y="3334087"/>
              <a:ext cx="968100" cy="1162988"/>
              <a:chOff x="1574251" y="1731211"/>
              <a:chExt cx="968100" cy="1162988"/>
            </a:xfrm>
          </p:grpSpPr>
          <p:sp>
            <p:nvSpPr>
              <p:cNvPr id="739" name="Google Shape;739;p56"/>
              <p:cNvSpPr/>
              <p:nvPr/>
            </p:nvSpPr>
            <p:spPr>
              <a:xfrm rot="5400000">
                <a:off x="1818097" y="1510561"/>
                <a:ext cx="481200" cy="922500"/>
              </a:xfrm>
              <a:prstGeom prst="parallelogram">
                <a:avLst>
                  <a:gd name="adj" fmla="val 28208"/>
                </a:avLst>
              </a:prstGeom>
              <a:solidFill>
                <a:srgbClr val="C3BCC5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56"/>
              <p:cNvSpPr txBox="1"/>
              <p:nvPr/>
            </p:nvSpPr>
            <p:spPr>
              <a:xfrm>
                <a:off x="1782803" y="1827875"/>
                <a:ext cx="5520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56"/>
              <p:cNvSpPr/>
              <p:nvPr/>
            </p:nvSpPr>
            <p:spPr>
              <a:xfrm rot="5400000">
                <a:off x="1650995" y="2025249"/>
                <a:ext cx="815400" cy="922500"/>
              </a:xfrm>
              <a:prstGeom prst="parallelogram">
                <a:avLst>
                  <a:gd name="adj" fmla="val 16596"/>
                </a:avLst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56"/>
              <p:cNvSpPr txBox="1"/>
              <p:nvPr/>
            </p:nvSpPr>
            <p:spPr>
              <a:xfrm rot="485414">
                <a:off x="1601051" y="1844454"/>
                <a:ext cx="914501" cy="44543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743" name="Google Shape;743;p56"/>
              <p:cNvSpPr txBox="1"/>
              <p:nvPr/>
            </p:nvSpPr>
            <p:spPr>
              <a:xfrm>
                <a:off x="1587725" y="1751268"/>
                <a:ext cx="914400" cy="327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One</a:t>
                </a:r>
                <a:endParaRPr/>
              </a:p>
            </p:txBody>
          </p:sp>
        </p:grpSp>
        <p:grpSp>
          <p:nvGrpSpPr>
            <p:cNvPr id="744" name="Google Shape;744;p56"/>
            <p:cNvGrpSpPr/>
            <p:nvPr/>
          </p:nvGrpSpPr>
          <p:grpSpPr>
            <a:xfrm>
              <a:off x="1195483" y="3459745"/>
              <a:ext cx="968100" cy="1162988"/>
              <a:chOff x="1574251" y="1731211"/>
              <a:chExt cx="968100" cy="1162988"/>
            </a:xfrm>
          </p:grpSpPr>
          <p:sp>
            <p:nvSpPr>
              <p:cNvPr id="745" name="Google Shape;745;p56"/>
              <p:cNvSpPr/>
              <p:nvPr/>
            </p:nvSpPr>
            <p:spPr>
              <a:xfrm rot="5400000">
                <a:off x="1818097" y="1510561"/>
                <a:ext cx="481200" cy="922500"/>
              </a:xfrm>
              <a:prstGeom prst="parallelogram">
                <a:avLst>
                  <a:gd name="adj" fmla="val 28208"/>
                </a:avLst>
              </a:prstGeom>
              <a:solidFill>
                <a:srgbClr val="C3BCC5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56"/>
              <p:cNvSpPr txBox="1"/>
              <p:nvPr/>
            </p:nvSpPr>
            <p:spPr>
              <a:xfrm>
                <a:off x="1782803" y="1827875"/>
                <a:ext cx="5520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56"/>
              <p:cNvSpPr/>
              <p:nvPr/>
            </p:nvSpPr>
            <p:spPr>
              <a:xfrm rot="5400000">
                <a:off x="1650995" y="2025249"/>
                <a:ext cx="815400" cy="922500"/>
              </a:xfrm>
              <a:prstGeom prst="parallelogram">
                <a:avLst>
                  <a:gd name="adj" fmla="val 16596"/>
                </a:avLst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56"/>
              <p:cNvSpPr txBox="1"/>
              <p:nvPr/>
            </p:nvSpPr>
            <p:spPr>
              <a:xfrm rot="485414">
                <a:off x="1601051" y="1844454"/>
                <a:ext cx="914501" cy="44543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749" name="Google Shape;749;p56"/>
              <p:cNvSpPr txBox="1"/>
              <p:nvPr/>
            </p:nvSpPr>
            <p:spPr>
              <a:xfrm>
                <a:off x="1587725" y="1751268"/>
                <a:ext cx="914400" cy="3276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8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Two</a:t>
                </a:r>
                <a:endParaRPr/>
              </a:p>
            </p:txBody>
          </p:sp>
        </p:grpSp>
      </p:grpSp>
      <p:grpSp>
        <p:nvGrpSpPr>
          <p:cNvPr id="750" name="Google Shape;750;p56"/>
          <p:cNvGrpSpPr/>
          <p:nvPr/>
        </p:nvGrpSpPr>
        <p:grpSpPr>
          <a:xfrm>
            <a:off x="2687053" y="2942386"/>
            <a:ext cx="1375941" cy="349325"/>
            <a:chOff x="2276201" y="3012320"/>
            <a:chExt cx="1375941" cy="465767"/>
          </a:xfrm>
        </p:grpSpPr>
        <p:grpSp>
          <p:nvGrpSpPr>
            <p:cNvPr id="751" name="Google Shape;751;p56"/>
            <p:cNvGrpSpPr/>
            <p:nvPr/>
          </p:nvGrpSpPr>
          <p:grpSpPr>
            <a:xfrm>
              <a:off x="2276201" y="3334087"/>
              <a:ext cx="1375941" cy="144000"/>
              <a:chOff x="2428601" y="2505245"/>
              <a:chExt cx="1375941" cy="144000"/>
            </a:xfrm>
          </p:grpSpPr>
          <p:sp>
            <p:nvSpPr>
              <p:cNvPr id="752" name="Google Shape;752;p56"/>
              <p:cNvSpPr/>
              <p:nvPr/>
            </p:nvSpPr>
            <p:spPr>
              <a:xfrm flipH="1">
                <a:off x="3660542" y="2505245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53" name="Google Shape;753;p56"/>
              <p:cNvCxnSpPr/>
              <p:nvPr/>
            </p:nvCxnSpPr>
            <p:spPr>
              <a:xfrm>
                <a:off x="2428601" y="2505245"/>
                <a:ext cx="1303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cxnSp>
            <p:nvCxnSpPr>
              <p:cNvPr id="754" name="Google Shape;754;p56"/>
              <p:cNvCxnSpPr>
                <a:stCxn id="752" idx="2"/>
              </p:cNvCxnSpPr>
              <p:nvPr/>
            </p:nvCxnSpPr>
            <p:spPr>
              <a:xfrm rot="10800000">
                <a:off x="2428742" y="2649245"/>
                <a:ext cx="1303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755" name="Google Shape;755;p56"/>
            <p:cNvSpPr/>
            <p:nvPr/>
          </p:nvSpPr>
          <p:spPr>
            <a:xfrm>
              <a:off x="2290343" y="3012320"/>
              <a:ext cx="9744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onStop()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6" name="Google Shape;756;p56"/>
          <p:cNvSpPr/>
          <p:nvPr/>
        </p:nvSpPr>
        <p:spPr>
          <a:xfrm>
            <a:off x="5679089" y="3853778"/>
            <a:ext cx="200400" cy="1503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7" name="Google Shape;757;p56"/>
          <p:cNvGrpSpPr/>
          <p:nvPr/>
        </p:nvGrpSpPr>
        <p:grpSpPr>
          <a:xfrm>
            <a:off x="2679669" y="3759258"/>
            <a:ext cx="1375941" cy="349325"/>
            <a:chOff x="2276201" y="3012320"/>
            <a:chExt cx="1375941" cy="465767"/>
          </a:xfrm>
        </p:grpSpPr>
        <p:grpSp>
          <p:nvGrpSpPr>
            <p:cNvPr id="758" name="Google Shape;758;p56"/>
            <p:cNvGrpSpPr/>
            <p:nvPr/>
          </p:nvGrpSpPr>
          <p:grpSpPr>
            <a:xfrm>
              <a:off x="2276201" y="3334087"/>
              <a:ext cx="1375941" cy="144000"/>
              <a:chOff x="2428601" y="2505245"/>
              <a:chExt cx="1375941" cy="144000"/>
            </a:xfrm>
          </p:grpSpPr>
          <p:sp>
            <p:nvSpPr>
              <p:cNvPr id="759" name="Google Shape;759;p56"/>
              <p:cNvSpPr/>
              <p:nvPr/>
            </p:nvSpPr>
            <p:spPr>
              <a:xfrm flipH="1">
                <a:off x="3660542" y="2505245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60" name="Google Shape;760;p56"/>
              <p:cNvCxnSpPr/>
              <p:nvPr/>
            </p:nvCxnSpPr>
            <p:spPr>
              <a:xfrm>
                <a:off x="2428601" y="2505245"/>
                <a:ext cx="1303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cxnSp>
            <p:nvCxnSpPr>
              <p:cNvPr id="761" name="Google Shape;761;p56"/>
              <p:cNvCxnSpPr>
                <a:stCxn id="759" idx="2"/>
              </p:cNvCxnSpPr>
              <p:nvPr/>
            </p:nvCxnSpPr>
            <p:spPr>
              <a:xfrm rot="10800000">
                <a:off x="2428742" y="2649245"/>
                <a:ext cx="1303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762" name="Google Shape;762;p56"/>
            <p:cNvSpPr/>
            <p:nvPr/>
          </p:nvSpPr>
          <p:spPr>
            <a:xfrm>
              <a:off x="2290343" y="3012320"/>
              <a:ext cx="12705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onRestart()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3" name="Google Shape;763;p56"/>
          <p:cNvGrpSpPr/>
          <p:nvPr/>
        </p:nvGrpSpPr>
        <p:grpSpPr>
          <a:xfrm>
            <a:off x="1231133" y="3806437"/>
            <a:ext cx="968100" cy="872241"/>
            <a:chOff x="1574251" y="1731211"/>
            <a:chExt cx="968100" cy="1162988"/>
          </a:xfrm>
        </p:grpSpPr>
        <p:sp>
          <p:nvSpPr>
            <p:cNvPr id="764" name="Google Shape;764;p56"/>
            <p:cNvSpPr/>
            <p:nvPr/>
          </p:nvSpPr>
          <p:spPr>
            <a:xfrm rot="5400000">
              <a:off x="1818097" y="1510561"/>
              <a:ext cx="481200" cy="922500"/>
            </a:xfrm>
            <a:prstGeom prst="parallelogram">
              <a:avLst>
                <a:gd name="adj" fmla="val 28208"/>
              </a:avLst>
            </a:prstGeom>
            <a:solidFill>
              <a:srgbClr val="C3BCC5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56"/>
            <p:cNvSpPr txBox="1"/>
            <p:nvPr/>
          </p:nvSpPr>
          <p:spPr>
            <a:xfrm>
              <a:off x="1782803" y="1827875"/>
              <a:ext cx="5520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6"/>
            <p:cNvSpPr/>
            <p:nvPr/>
          </p:nvSpPr>
          <p:spPr>
            <a:xfrm rot="5400000">
              <a:off x="1650995" y="2025249"/>
              <a:ext cx="815400" cy="922500"/>
            </a:xfrm>
            <a:prstGeom prst="parallelogram">
              <a:avLst>
                <a:gd name="adj" fmla="val 16596"/>
              </a:avLst>
            </a:prstGeom>
            <a:solidFill>
              <a:schemeClr val="lt1"/>
            </a:solidFill>
            <a:ln w="254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275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56"/>
            <p:cNvSpPr txBox="1"/>
            <p:nvPr/>
          </p:nvSpPr>
          <p:spPr>
            <a:xfrm rot="485414">
              <a:off x="1601051" y="1844454"/>
              <a:ext cx="914501" cy="44543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68" name="Google Shape;768;p56"/>
            <p:cNvSpPr txBox="1"/>
            <p:nvPr/>
          </p:nvSpPr>
          <p:spPr>
            <a:xfrm>
              <a:off x="1587725" y="1751268"/>
              <a:ext cx="914400" cy="32760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8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One</a:t>
              </a:r>
              <a:endParaRPr/>
            </a:p>
          </p:txBody>
        </p:sp>
      </p:grpSp>
      <p:grpSp>
        <p:nvGrpSpPr>
          <p:cNvPr id="769" name="Google Shape;769;p56"/>
          <p:cNvGrpSpPr/>
          <p:nvPr/>
        </p:nvGrpSpPr>
        <p:grpSpPr>
          <a:xfrm>
            <a:off x="3642514" y="3108900"/>
            <a:ext cx="4312038" cy="477450"/>
            <a:chOff x="3642799" y="4701631"/>
            <a:chExt cx="4358676" cy="636600"/>
          </a:xfrm>
        </p:grpSpPr>
        <p:grpSp>
          <p:nvGrpSpPr>
            <p:cNvPr id="770" name="Google Shape;770;p56"/>
            <p:cNvGrpSpPr/>
            <p:nvPr/>
          </p:nvGrpSpPr>
          <p:grpSpPr>
            <a:xfrm>
              <a:off x="5439515" y="4986962"/>
              <a:ext cx="681777" cy="177438"/>
              <a:chOff x="4585368" y="2282351"/>
              <a:chExt cx="868948" cy="354875"/>
            </a:xfrm>
          </p:grpSpPr>
          <p:sp>
            <p:nvSpPr>
              <p:cNvPr id="771" name="Google Shape;771;p56"/>
              <p:cNvSpPr/>
              <p:nvPr/>
            </p:nvSpPr>
            <p:spPr>
              <a:xfrm>
                <a:off x="4799265" y="2282351"/>
                <a:ext cx="468000" cy="314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56"/>
              <p:cNvSpPr/>
              <p:nvPr/>
            </p:nvSpPr>
            <p:spPr>
              <a:xfrm>
                <a:off x="4585368" y="2282352"/>
                <a:ext cx="868948" cy="177437"/>
              </a:xfrm>
              <a:custGeom>
                <a:avLst/>
                <a:gdLst/>
                <a:ahLst/>
                <a:cxnLst/>
                <a:rect l="l" t="t" r="r" b="b"/>
                <a:pathLst>
                  <a:path w="868948" h="177437" extrusionOk="0">
                    <a:moveTo>
                      <a:pt x="0" y="137332"/>
                    </a:moveTo>
                    <a:cubicBezTo>
                      <a:pt x="120316" y="67148"/>
                      <a:pt x="240632" y="-3036"/>
                      <a:pt x="334211" y="3648"/>
                    </a:cubicBezTo>
                    <a:cubicBezTo>
                      <a:pt x="427790" y="10332"/>
                      <a:pt x="472351" y="177437"/>
                      <a:pt x="561474" y="177437"/>
                    </a:cubicBezTo>
                    <a:cubicBezTo>
                      <a:pt x="650597" y="177437"/>
                      <a:pt x="831071" y="-29773"/>
                      <a:pt x="868948" y="3648"/>
                    </a:cubicBezTo>
                  </a:path>
                </a:pathLst>
              </a:cu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56"/>
              <p:cNvSpPr/>
              <p:nvPr/>
            </p:nvSpPr>
            <p:spPr>
              <a:xfrm>
                <a:off x="4585368" y="2459789"/>
                <a:ext cx="868948" cy="177437"/>
              </a:xfrm>
              <a:custGeom>
                <a:avLst/>
                <a:gdLst/>
                <a:ahLst/>
                <a:cxnLst/>
                <a:rect l="l" t="t" r="r" b="b"/>
                <a:pathLst>
                  <a:path w="868948" h="177437" extrusionOk="0">
                    <a:moveTo>
                      <a:pt x="0" y="137332"/>
                    </a:moveTo>
                    <a:cubicBezTo>
                      <a:pt x="120316" y="67148"/>
                      <a:pt x="240632" y="-3036"/>
                      <a:pt x="334211" y="3648"/>
                    </a:cubicBezTo>
                    <a:cubicBezTo>
                      <a:pt x="427790" y="10332"/>
                      <a:pt x="472351" y="177437"/>
                      <a:pt x="561474" y="177437"/>
                    </a:cubicBezTo>
                    <a:cubicBezTo>
                      <a:pt x="650597" y="177437"/>
                      <a:pt x="831071" y="-29773"/>
                      <a:pt x="868948" y="3648"/>
                    </a:cubicBezTo>
                  </a:path>
                </a:pathLst>
              </a:cu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4" name="Google Shape;774;p56"/>
            <p:cNvGrpSpPr/>
            <p:nvPr/>
          </p:nvGrpSpPr>
          <p:grpSpPr>
            <a:xfrm>
              <a:off x="3642799" y="4986962"/>
              <a:ext cx="681777" cy="177438"/>
              <a:chOff x="4585368" y="2282351"/>
              <a:chExt cx="868948" cy="354875"/>
            </a:xfrm>
          </p:grpSpPr>
          <p:sp>
            <p:nvSpPr>
              <p:cNvPr id="775" name="Google Shape;775;p56"/>
              <p:cNvSpPr/>
              <p:nvPr/>
            </p:nvSpPr>
            <p:spPr>
              <a:xfrm>
                <a:off x="4799265" y="2282351"/>
                <a:ext cx="468000" cy="3147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56"/>
              <p:cNvSpPr/>
              <p:nvPr/>
            </p:nvSpPr>
            <p:spPr>
              <a:xfrm>
                <a:off x="4585368" y="2282352"/>
                <a:ext cx="868948" cy="177437"/>
              </a:xfrm>
              <a:custGeom>
                <a:avLst/>
                <a:gdLst/>
                <a:ahLst/>
                <a:cxnLst/>
                <a:rect l="l" t="t" r="r" b="b"/>
                <a:pathLst>
                  <a:path w="868948" h="177437" extrusionOk="0">
                    <a:moveTo>
                      <a:pt x="0" y="137332"/>
                    </a:moveTo>
                    <a:cubicBezTo>
                      <a:pt x="120316" y="67148"/>
                      <a:pt x="240632" y="-3036"/>
                      <a:pt x="334211" y="3648"/>
                    </a:cubicBezTo>
                    <a:cubicBezTo>
                      <a:pt x="427790" y="10332"/>
                      <a:pt x="472351" y="177437"/>
                      <a:pt x="561474" y="177437"/>
                    </a:cubicBezTo>
                    <a:cubicBezTo>
                      <a:pt x="650597" y="177437"/>
                      <a:pt x="831071" y="-29773"/>
                      <a:pt x="868948" y="3648"/>
                    </a:cubicBezTo>
                  </a:path>
                </a:pathLst>
              </a:cu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56"/>
              <p:cNvSpPr/>
              <p:nvPr/>
            </p:nvSpPr>
            <p:spPr>
              <a:xfrm>
                <a:off x="4585368" y="2459789"/>
                <a:ext cx="868948" cy="177437"/>
              </a:xfrm>
              <a:custGeom>
                <a:avLst/>
                <a:gdLst/>
                <a:ahLst/>
                <a:cxnLst/>
                <a:rect l="l" t="t" r="r" b="b"/>
                <a:pathLst>
                  <a:path w="868948" h="177437" extrusionOk="0">
                    <a:moveTo>
                      <a:pt x="0" y="137332"/>
                    </a:moveTo>
                    <a:cubicBezTo>
                      <a:pt x="120316" y="67148"/>
                      <a:pt x="240632" y="-3036"/>
                      <a:pt x="334211" y="3648"/>
                    </a:cubicBezTo>
                    <a:cubicBezTo>
                      <a:pt x="427790" y="10332"/>
                      <a:pt x="472351" y="177437"/>
                      <a:pt x="561474" y="177437"/>
                    </a:cubicBezTo>
                    <a:cubicBezTo>
                      <a:pt x="650597" y="177437"/>
                      <a:pt x="831071" y="-29773"/>
                      <a:pt x="868948" y="3648"/>
                    </a:cubicBezTo>
                  </a:path>
                </a:pathLst>
              </a:cu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78" name="Google Shape;778;p56"/>
            <p:cNvSpPr txBox="1"/>
            <p:nvPr/>
          </p:nvSpPr>
          <p:spPr>
            <a:xfrm>
              <a:off x="6214974" y="4701631"/>
              <a:ext cx="1786500" cy="636600"/>
            </a:xfrm>
            <a:prstGeom prst="rect">
              <a:avLst/>
            </a:prstGeom>
            <a:solidFill>
              <a:srgbClr val="FFFFE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setResult(…)</a:t>
              </a:r>
              <a:endParaRPr/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finish()</a:t>
              </a:r>
              <a:endParaRPr/>
            </a:p>
          </p:txBody>
        </p:sp>
      </p:grpSp>
      <p:grpSp>
        <p:nvGrpSpPr>
          <p:cNvPr id="779" name="Google Shape;779;p56"/>
          <p:cNvGrpSpPr/>
          <p:nvPr/>
        </p:nvGrpSpPr>
        <p:grpSpPr>
          <a:xfrm>
            <a:off x="2633583" y="2595796"/>
            <a:ext cx="5321267" cy="375979"/>
            <a:chOff x="2633583" y="4017638"/>
            <a:chExt cx="5321267" cy="501305"/>
          </a:xfrm>
        </p:grpSpPr>
        <p:grpSp>
          <p:nvGrpSpPr>
            <p:cNvPr id="780" name="Google Shape;780;p56"/>
            <p:cNvGrpSpPr/>
            <p:nvPr/>
          </p:nvGrpSpPr>
          <p:grpSpPr>
            <a:xfrm>
              <a:off x="2633583" y="4017638"/>
              <a:ext cx="3224261" cy="428332"/>
              <a:chOff x="2219175" y="4365206"/>
              <a:chExt cx="3224261" cy="428332"/>
            </a:xfrm>
          </p:grpSpPr>
          <p:sp>
            <p:nvSpPr>
              <p:cNvPr id="781" name="Google Shape;781;p56"/>
              <p:cNvSpPr/>
              <p:nvPr/>
            </p:nvSpPr>
            <p:spPr>
              <a:xfrm flipH="1">
                <a:off x="5299436" y="4649538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82" name="Google Shape;782;p56"/>
              <p:cNvCxnSpPr>
                <a:endCxn id="781" idx="0"/>
              </p:cNvCxnSpPr>
              <p:nvPr/>
            </p:nvCxnSpPr>
            <p:spPr>
              <a:xfrm>
                <a:off x="2272736" y="4649538"/>
                <a:ext cx="30987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sp>
            <p:nvSpPr>
              <p:cNvPr id="783" name="Google Shape;783;p56"/>
              <p:cNvSpPr/>
              <p:nvPr/>
            </p:nvSpPr>
            <p:spPr>
              <a:xfrm>
                <a:off x="2219175" y="4365206"/>
                <a:ext cx="11718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4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onCreate()</a:t>
                </a: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84" name="Google Shape;784;p56"/>
              <p:cNvCxnSpPr/>
              <p:nvPr/>
            </p:nvCxnSpPr>
            <p:spPr>
              <a:xfrm rot="10800000">
                <a:off x="2272736" y="4793538"/>
                <a:ext cx="30987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785" name="Google Shape;785;p56"/>
            <p:cNvSpPr txBox="1"/>
            <p:nvPr/>
          </p:nvSpPr>
          <p:spPr>
            <a:xfrm>
              <a:off x="5974550" y="4164043"/>
              <a:ext cx="1980300" cy="354900"/>
            </a:xfrm>
            <a:prstGeom prst="rect">
              <a:avLst/>
            </a:prstGeom>
            <a:solidFill>
              <a:srgbClr val="FFFFE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setContentView(…)</a:t>
              </a:r>
              <a:endParaRPr/>
            </a:p>
          </p:txBody>
        </p:sp>
      </p:grpSp>
      <p:sp>
        <p:nvSpPr>
          <p:cNvPr id="786" name="Google Shape;786;p56"/>
          <p:cNvSpPr/>
          <p:nvPr/>
        </p:nvSpPr>
        <p:spPr>
          <a:xfrm rot="-5400000">
            <a:off x="856761" y="2716262"/>
            <a:ext cx="3332400" cy="313500"/>
          </a:xfrm>
          <a:prstGeom prst="rect">
            <a:avLst/>
          </a:prstGeom>
          <a:solidFill>
            <a:srgbClr val="FFFFE0"/>
          </a:solidFill>
          <a:ln w="254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50"/>
              </a:srgbClr>
            </a:outerShdw>
          </a:effectLst>
        </p:spPr>
        <p:txBody>
          <a:bodyPr spcFirstLastPara="1" wrap="square" lIns="90475" tIns="44450" rIns="90475" bIns="44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it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 loop</a:t>
            </a:r>
            <a:endParaRPr/>
          </a:p>
        </p:txBody>
      </p:sp>
      <p:grpSp>
        <p:nvGrpSpPr>
          <p:cNvPr id="787" name="Google Shape;787;p56"/>
          <p:cNvGrpSpPr/>
          <p:nvPr/>
        </p:nvGrpSpPr>
        <p:grpSpPr>
          <a:xfrm>
            <a:off x="2687053" y="4167375"/>
            <a:ext cx="2188847" cy="349331"/>
            <a:chOff x="2276201" y="3012312"/>
            <a:chExt cx="2188847" cy="465775"/>
          </a:xfrm>
        </p:grpSpPr>
        <p:grpSp>
          <p:nvGrpSpPr>
            <p:cNvPr id="788" name="Google Shape;788;p56"/>
            <p:cNvGrpSpPr/>
            <p:nvPr/>
          </p:nvGrpSpPr>
          <p:grpSpPr>
            <a:xfrm>
              <a:off x="2276201" y="3334087"/>
              <a:ext cx="1375941" cy="144000"/>
              <a:chOff x="2428601" y="2505245"/>
              <a:chExt cx="1375941" cy="144000"/>
            </a:xfrm>
          </p:grpSpPr>
          <p:sp>
            <p:nvSpPr>
              <p:cNvPr id="789" name="Google Shape;789;p56"/>
              <p:cNvSpPr/>
              <p:nvPr/>
            </p:nvSpPr>
            <p:spPr>
              <a:xfrm flipH="1">
                <a:off x="3660542" y="2505245"/>
                <a:ext cx="144000" cy="144000"/>
              </a:xfrm>
              <a:prstGeom prst="rect">
                <a:avLst/>
              </a:prstGeom>
              <a:solidFill>
                <a:schemeClr val="lt1"/>
              </a:solidFill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50800" dist="38100" dir="2700000" algn="tl" rotWithShape="0">
                  <a:srgbClr val="000000">
                    <a:alpha val="42750"/>
                  </a:srgbClr>
                </a:outerShdw>
              </a:effectLst>
            </p:spPr>
            <p:txBody>
              <a:bodyPr spcFirstLastPara="1" wrap="square" lIns="90475" tIns="44450" rIns="90475" bIns="444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90" name="Google Shape;790;p56"/>
              <p:cNvCxnSpPr/>
              <p:nvPr/>
            </p:nvCxnSpPr>
            <p:spPr>
              <a:xfrm>
                <a:off x="2428601" y="2505245"/>
                <a:ext cx="1303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stealth" w="med" len="med"/>
              </a:ln>
              <a:effectLst>
                <a:outerShdw blurRad="40000" dist="20000" dir="5400000" rotWithShape="0">
                  <a:srgbClr val="000000">
                    <a:alpha val="37650"/>
                  </a:srgbClr>
                </a:outerShdw>
              </a:effectLst>
            </p:spPr>
          </p:cxnSp>
          <p:cxnSp>
            <p:nvCxnSpPr>
              <p:cNvPr id="791" name="Google Shape;791;p56"/>
              <p:cNvCxnSpPr>
                <a:stCxn id="789" idx="2"/>
              </p:cNvCxnSpPr>
              <p:nvPr/>
            </p:nvCxnSpPr>
            <p:spPr>
              <a:xfrm rot="10800000">
                <a:off x="2428742" y="2649245"/>
                <a:ext cx="1303800" cy="0"/>
              </a:xfrm>
              <a:prstGeom prst="straightConnector1">
                <a:avLst/>
              </a:prstGeom>
              <a:noFill/>
              <a:ln w="25400" cap="flat" cmpd="sng">
                <a:solidFill>
                  <a:schemeClr val="accent1"/>
                </a:solidFill>
                <a:prstDash val="dash"/>
                <a:round/>
                <a:headEnd type="none" w="sm" len="sm"/>
                <a:tailEnd type="stealth" w="med" len="med"/>
              </a:ln>
            </p:spPr>
          </p:cxnSp>
        </p:grpSp>
        <p:sp>
          <p:nvSpPr>
            <p:cNvPr id="792" name="Google Shape;792;p56"/>
            <p:cNvSpPr/>
            <p:nvPr/>
          </p:nvSpPr>
          <p:spPr>
            <a:xfrm>
              <a:off x="2290348" y="3012312"/>
              <a:ext cx="21747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processResponse</a:t>
              </a:r>
              <a:r>
                <a:rPr lang="it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(…)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57"/>
          <p:cNvSpPr/>
          <p:nvPr/>
        </p:nvSpPr>
        <p:spPr>
          <a:xfrm>
            <a:off x="931811" y="1994710"/>
            <a:ext cx="7460100" cy="2694000"/>
          </a:xfrm>
          <a:prstGeom prst="foldedCorner">
            <a:avLst>
              <a:gd name="adj" fmla="val 12500"/>
            </a:avLst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&lt;activity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android:name=".MyMainActivity"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android:label="@string/app_name"&gt;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&lt;intent-filter&gt;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 i="0" u="none" strike="noStrike" cap="none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it" sz="1200" b="1" i="0" u="none" strike="noStrike" cap="none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&lt;action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4762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 i="0" u="none" strike="noStrike" cap="none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       android:name="android.intent.action.MAIN" /&gt;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4762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 i="0" u="none" strike="noStrike" cap="none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     &lt;category    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4762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 i="0" u="none" strike="noStrike" cap="none">
                <a:solidFill>
                  <a:srgbClr val="1E5F9F"/>
                </a:solidFill>
                <a:latin typeface="Consolas"/>
                <a:ea typeface="Consolas"/>
                <a:cs typeface="Consolas"/>
                <a:sym typeface="Consolas"/>
              </a:rPr>
              <a:t>        android:name="android.intent.category.LAUNCHER" /&gt;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i="0" u="none" strike="noStrike" cap="non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&lt;/intent-filter&gt;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&lt;/activity&gt;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…</a:t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9" name="Google Shape;799;p57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The activity to be launched at startup is defined in the AndroidManifest.xml file </a:t>
            </a:r>
            <a:endParaRPr/>
          </a:p>
        </p:txBody>
      </p:sp>
      <p:sp>
        <p:nvSpPr>
          <p:cNvPr id="800" name="Google Shape;800;p57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49</a:t>
            </a:fld>
            <a:endParaRPr/>
          </a:p>
        </p:txBody>
      </p:sp>
      <p:sp>
        <p:nvSpPr>
          <p:cNvPr id="801" name="Google Shape;801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Main activity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Broadcasting Intents</a:t>
            </a:r>
            <a:endParaRPr/>
          </a:p>
        </p:txBody>
      </p:sp>
      <p:sp>
        <p:nvSpPr>
          <p:cNvPr id="808" name="Google Shape;808;p58"/>
          <p:cNvSpPr txBox="1">
            <a:spLocks noGrp="1"/>
          </p:cNvSpPr>
          <p:nvPr>
            <p:ph type="body" idx="4294967295"/>
          </p:nvPr>
        </p:nvSpPr>
        <p:spPr>
          <a:xfrm>
            <a:off x="413199" y="1085850"/>
            <a:ext cx="8520600" cy="17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An activity can broadcast an Intent object, using the method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sendBroadcast(…)</a:t>
            </a:r>
            <a:endParaRPr b="1">
              <a:solidFill>
                <a:srgbClr val="0B539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541337" lvl="1" indent="-2063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it"/>
              <a:t>It will be received by all applications that registered a listener via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registerReceiver(…)</a:t>
            </a:r>
            <a:r>
              <a:rPr lang="it"/>
              <a:t> method of their context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Typical usage is for generating system wide notifications</a:t>
            </a:r>
            <a:endParaRPr/>
          </a:p>
        </p:txBody>
      </p:sp>
      <p:sp>
        <p:nvSpPr>
          <p:cNvPr id="809" name="Google Shape;809;p58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50</a:t>
            </a:fld>
            <a:endParaRPr/>
          </a:p>
        </p:txBody>
      </p:sp>
      <p:sp>
        <p:nvSpPr>
          <p:cNvPr id="810" name="Google Shape;810;p58"/>
          <p:cNvSpPr txBox="1"/>
          <p:nvPr/>
        </p:nvSpPr>
        <p:spPr>
          <a:xfrm>
            <a:off x="1189850" y="2912975"/>
            <a:ext cx="6862200" cy="1692000"/>
          </a:xfrm>
          <a:prstGeom prst="rect">
            <a:avLst/>
          </a:prstGeom>
          <a:solidFill>
            <a:srgbClr val="FFFFE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private fun sendNotification(info:String) {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val intent = Intent()   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intent.action = "com.example.Broadcast" 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intent.putExtra("MyData", info) 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intent.flags = Intent.FLAG_INCLUDE_STOPPED_PACKAGES 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sendBroadcast(intent)﻿</a:t>
            </a:r>
            <a:endParaRPr sz="11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59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51</a:t>
            </a:fld>
            <a:endParaRPr/>
          </a:p>
        </p:txBody>
      </p:sp>
      <p:sp>
        <p:nvSpPr>
          <p:cNvPr id="816" name="Google Shape;816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Receiving broadcast Intents</a:t>
            </a:r>
            <a:endParaRPr/>
          </a:p>
        </p:txBody>
      </p:sp>
      <p:sp>
        <p:nvSpPr>
          <p:cNvPr id="817" name="Google Shape;817;p59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Prior to version 8.0, a broadcast receiver had to be declared in the manifest file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 must extend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android.content.BroadcastReceiver </a:t>
            </a:r>
            <a:r>
              <a:rPr lang="it"/>
              <a:t>class and implement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onReceive(…)</a:t>
            </a:r>
            <a:r>
              <a:rPr lang="it"/>
              <a:t> method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On Android 8.0+ the receiver must be wired via code using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registerReceiver(…)</a:t>
            </a:r>
            <a:r>
              <a:rPr lang="it"/>
              <a:t> method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When it is no more needed, it can be removed via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unregisterReceiver(…)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Receiving broadcast Intents</a:t>
            </a:r>
            <a:endParaRPr/>
          </a:p>
        </p:txBody>
      </p:sp>
      <p:sp>
        <p:nvSpPr>
          <p:cNvPr id="823" name="Google Shape;823;p60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52</a:t>
            </a:fld>
            <a:endParaRPr/>
          </a:p>
        </p:txBody>
      </p:sp>
      <p:sp>
        <p:nvSpPr>
          <p:cNvPr id="824" name="Google Shape;824;p60"/>
          <p:cNvSpPr txBox="1"/>
          <p:nvPr/>
        </p:nvSpPr>
        <p:spPr>
          <a:xfrm>
            <a:off x="330075" y="934400"/>
            <a:ext cx="4381200" cy="3779700"/>
          </a:xfrm>
          <a:prstGeom prst="rect">
            <a:avLst/>
          </a:prstGeom>
          <a:solidFill>
            <a:srgbClr val="FFFFE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 MyActivity: AppCompatActivity()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var receiver: BroadcastReceiver? = null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override fun onCreate(b:Bundle?)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super.onCreate(b)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setContentView(…)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val filter = IntentFilter()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filter.addAction("com.acme.Broadcast")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receiver = MyReceiver()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registerReceiver(receiver, filter)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override fun onDestroy()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super.onDestroy()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unregisterReceiver(receiver)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5" name="Google Shape;825;p60"/>
          <p:cNvSpPr txBox="1"/>
          <p:nvPr/>
        </p:nvSpPr>
        <p:spPr>
          <a:xfrm>
            <a:off x="4871075" y="934400"/>
            <a:ext cx="4011600" cy="3755700"/>
          </a:xfrm>
          <a:prstGeom prst="rect">
            <a:avLst/>
          </a:prstGeom>
          <a:solidFill>
            <a:srgbClr val="FFFFE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class MyReceiver: BroadcastReceiver() 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override fun onReceive(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context: Context, 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intent: Intent) 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   Toast.makeText(</a:t>
            </a:r>
            <a:b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context, 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"Got a BroadcastIntent",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      Toast.LENGTH_LONG</a:t>
            </a:r>
            <a:b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).show()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 }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}﻿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61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53</a:t>
            </a:fld>
            <a:endParaRPr/>
          </a:p>
        </p:txBody>
      </p:sp>
      <p:sp>
        <p:nvSpPr>
          <p:cNvPr id="832" name="Google Shape;832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Inheritance hierarchy</a:t>
            </a:r>
            <a:endParaRPr/>
          </a:p>
        </p:txBody>
      </p:sp>
      <p:sp>
        <p:nvSpPr>
          <p:cNvPr id="833" name="Google Shape;833;p61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Activities, services and applications are modeled by the relative classes, that compose an inheritance hierarchy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They have a common root: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android.content.Context</a:t>
            </a:r>
            <a:r>
              <a:rPr lang="it"/>
              <a:t> class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Context provides the functionality needed to access resources and application-specific classes and to interact with the operating system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Start other activities, send and receive intent, access the file system, ...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Each active component form its context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Its life cycle coincides with that of the component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There is also a global context, relative to the entire application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Accessible via the method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getApplicationContext()</a:t>
            </a:r>
            <a:r>
              <a:rPr lang="it"/>
              <a:t>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Context class hierarchy</a:t>
            </a:r>
            <a:endParaRPr/>
          </a:p>
        </p:txBody>
      </p:sp>
      <p:sp>
        <p:nvSpPr>
          <p:cNvPr id="840" name="Google Shape;840;p62"/>
          <p:cNvSpPr txBox="1">
            <a:spLocks noGrp="1"/>
          </p:cNvSpPr>
          <p:nvPr>
            <p:ph type="sldNum" idx="12"/>
          </p:nvPr>
        </p:nvSpPr>
        <p:spPr>
          <a:xfrm>
            <a:off x="8472458" y="476850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54</a:t>
            </a:fld>
            <a:endParaRPr/>
          </a:p>
        </p:txBody>
      </p:sp>
      <p:grpSp>
        <p:nvGrpSpPr>
          <p:cNvPr id="841" name="Google Shape;841;p62"/>
          <p:cNvGrpSpPr/>
          <p:nvPr/>
        </p:nvGrpSpPr>
        <p:grpSpPr>
          <a:xfrm>
            <a:off x="4258836" y="1000609"/>
            <a:ext cx="2086083" cy="1646779"/>
            <a:chOff x="3120572" y="1527024"/>
            <a:chExt cx="2086500" cy="2195412"/>
          </a:xfrm>
        </p:grpSpPr>
        <p:grpSp>
          <p:nvGrpSpPr>
            <p:cNvPr id="842" name="Google Shape;842;p62"/>
            <p:cNvGrpSpPr/>
            <p:nvPr/>
          </p:nvGrpSpPr>
          <p:grpSpPr>
            <a:xfrm>
              <a:off x="3120572" y="1527024"/>
              <a:ext cx="2086500" cy="1941238"/>
              <a:chOff x="3229429" y="2013857"/>
              <a:chExt cx="2086500" cy="1941238"/>
            </a:xfrm>
          </p:grpSpPr>
          <p:sp>
            <p:nvSpPr>
              <p:cNvPr id="843" name="Google Shape;843;p62"/>
              <p:cNvSpPr/>
              <p:nvPr/>
            </p:nvSpPr>
            <p:spPr>
              <a:xfrm>
                <a:off x="3229429" y="2013857"/>
                <a:ext cx="2086500" cy="484200"/>
              </a:xfrm>
              <a:prstGeom prst="rect">
                <a:avLst/>
              </a:prstGeom>
              <a:solidFill>
                <a:srgbClr val="FFFF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10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abstract</a:t>
                </a:r>
                <a:br>
                  <a:rPr lang="it" sz="10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lang="it" sz="1800" b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Context</a:t>
                </a:r>
                <a:endParaRPr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62"/>
              <p:cNvSpPr/>
              <p:nvPr/>
            </p:nvSpPr>
            <p:spPr>
              <a:xfrm>
                <a:off x="3229429" y="2497995"/>
                <a:ext cx="2086500" cy="1457100"/>
              </a:xfrm>
              <a:prstGeom prst="rect">
                <a:avLst/>
              </a:prstGeom>
              <a:solidFill>
                <a:srgbClr val="FFFF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blurRad="40000" dist="23000" dir="5400000" rotWithShape="0">
                  <a:srgbClr val="000000">
                    <a:alpha val="34900"/>
                  </a:srgbClr>
                </a:outerShdw>
              </a:effectLst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getApplicationContext()</a:t>
                </a:r>
                <a:endParaRPr sz="110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bindService(…)</a:t>
                </a:r>
                <a:endParaRPr sz="110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unbindService(…)</a:t>
                </a:r>
                <a:endParaRPr sz="110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startActivity(…)</a:t>
                </a:r>
                <a:endParaRPr sz="110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sendBroadcast(…)</a:t>
                </a:r>
                <a:endParaRPr sz="110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registerReceiver(…)</a:t>
                </a:r>
                <a:endParaRPr sz="110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it" sz="9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unregisterReceiver(…)</a:t>
                </a:r>
                <a:endParaRPr sz="1100"/>
              </a:p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5" name="Google Shape;845;p62"/>
            <p:cNvSpPr/>
            <p:nvPr/>
          </p:nvSpPr>
          <p:spPr>
            <a:xfrm>
              <a:off x="4016116" y="3468336"/>
              <a:ext cx="295200" cy="2541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46" name="Google Shape;846;p62"/>
          <p:cNvCxnSpPr/>
          <p:nvPr/>
        </p:nvCxnSpPr>
        <p:spPr>
          <a:xfrm rot="-5400000" flipH="1">
            <a:off x="5176820" y="2772160"/>
            <a:ext cx="256200" cy="63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grpSp>
        <p:nvGrpSpPr>
          <p:cNvPr id="847" name="Google Shape;847;p62"/>
          <p:cNvGrpSpPr/>
          <p:nvPr/>
        </p:nvGrpSpPr>
        <p:grpSpPr>
          <a:xfrm>
            <a:off x="4265224" y="2902951"/>
            <a:ext cx="2086083" cy="510724"/>
            <a:chOff x="5315857" y="4458306"/>
            <a:chExt cx="2086500" cy="682148"/>
          </a:xfrm>
        </p:grpSpPr>
        <p:sp>
          <p:nvSpPr>
            <p:cNvPr id="848" name="Google Shape;848;p62"/>
            <p:cNvSpPr/>
            <p:nvPr/>
          </p:nvSpPr>
          <p:spPr>
            <a:xfrm>
              <a:off x="5315857" y="4458306"/>
              <a:ext cx="2086500" cy="427800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ContextWrapper</a:t>
              </a:r>
              <a:endParaRPr sz="2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62"/>
            <p:cNvSpPr/>
            <p:nvPr/>
          </p:nvSpPr>
          <p:spPr>
            <a:xfrm>
              <a:off x="6211401" y="4886054"/>
              <a:ext cx="295200" cy="254400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0" name="Google Shape;850;p62"/>
          <p:cNvSpPr/>
          <p:nvPr/>
        </p:nvSpPr>
        <p:spPr>
          <a:xfrm>
            <a:off x="6409845" y="3597329"/>
            <a:ext cx="1740000" cy="3216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/>
          </a:p>
        </p:txBody>
      </p:sp>
      <p:cxnSp>
        <p:nvCxnSpPr>
          <p:cNvPr id="851" name="Google Shape;851;p62"/>
          <p:cNvCxnSpPr>
            <a:stCxn id="852" idx="0"/>
          </p:cNvCxnSpPr>
          <p:nvPr/>
        </p:nvCxnSpPr>
        <p:spPr>
          <a:xfrm rot="-5400000">
            <a:off x="3902833" y="2191229"/>
            <a:ext cx="183300" cy="2628900"/>
          </a:xfrm>
          <a:prstGeom prst="bent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cxnSp>
        <p:nvCxnSpPr>
          <p:cNvPr id="853" name="Google Shape;853;p62"/>
          <p:cNvCxnSpPr>
            <a:stCxn id="850" idx="0"/>
          </p:cNvCxnSpPr>
          <p:nvPr/>
        </p:nvCxnSpPr>
        <p:spPr>
          <a:xfrm rot="5400000" flipH="1">
            <a:off x="6202395" y="2519879"/>
            <a:ext cx="183300" cy="1971600"/>
          </a:xfrm>
          <a:prstGeom prst="bent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sp>
        <p:nvSpPr>
          <p:cNvPr id="852" name="Google Shape;852;p62"/>
          <p:cNvSpPr/>
          <p:nvPr/>
        </p:nvSpPr>
        <p:spPr>
          <a:xfrm>
            <a:off x="1286983" y="3597329"/>
            <a:ext cx="2786100" cy="3216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ContextThemeWrapper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62"/>
          <p:cNvSpPr/>
          <p:nvPr/>
        </p:nvSpPr>
        <p:spPr>
          <a:xfrm>
            <a:off x="2533170" y="3918797"/>
            <a:ext cx="293700" cy="190500"/>
          </a:xfrm>
          <a:prstGeom prst="triangle">
            <a:avLst>
              <a:gd name="adj" fmla="val 50000"/>
            </a:avLst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62"/>
          <p:cNvSpPr/>
          <p:nvPr/>
        </p:nvSpPr>
        <p:spPr>
          <a:xfrm>
            <a:off x="1644170" y="4328372"/>
            <a:ext cx="2085900" cy="3216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</a:t>
            </a:r>
            <a:endParaRPr/>
          </a:p>
        </p:txBody>
      </p:sp>
      <p:cxnSp>
        <p:nvCxnSpPr>
          <p:cNvPr id="856" name="Google Shape;856;p62"/>
          <p:cNvCxnSpPr>
            <a:stCxn id="855" idx="0"/>
            <a:endCxn id="854" idx="3"/>
          </p:cNvCxnSpPr>
          <p:nvPr/>
        </p:nvCxnSpPr>
        <p:spPr>
          <a:xfrm rot="5400000" flipH="1">
            <a:off x="2574020" y="4215272"/>
            <a:ext cx="219000" cy="7200"/>
          </a:xfrm>
          <a:prstGeom prst="bentConnector3">
            <a:avLst>
              <a:gd name="adj1" fmla="val 49983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sp>
        <p:nvSpPr>
          <p:cNvPr id="857" name="Google Shape;857;p62"/>
          <p:cNvSpPr/>
          <p:nvPr/>
        </p:nvSpPr>
        <p:spPr>
          <a:xfrm>
            <a:off x="4436583" y="3597329"/>
            <a:ext cx="1740000" cy="3216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/>
          </a:p>
        </p:txBody>
      </p:sp>
      <p:cxnSp>
        <p:nvCxnSpPr>
          <p:cNvPr id="858" name="Google Shape;858;p62"/>
          <p:cNvCxnSpPr>
            <a:stCxn id="857" idx="0"/>
          </p:cNvCxnSpPr>
          <p:nvPr/>
        </p:nvCxnSpPr>
        <p:spPr>
          <a:xfrm rot="-5400000">
            <a:off x="5215683" y="3504929"/>
            <a:ext cx="183300" cy="1500"/>
          </a:xfrm>
          <a:prstGeom prst="bentConnector3">
            <a:avLst>
              <a:gd name="adj1" fmla="val 4999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grpSp>
        <p:nvGrpSpPr>
          <p:cNvPr id="859" name="Google Shape;859;p62"/>
          <p:cNvGrpSpPr/>
          <p:nvPr/>
        </p:nvGrpSpPr>
        <p:grpSpPr>
          <a:xfrm>
            <a:off x="921505" y="1412531"/>
            <a:ext cx="2638345" cy="321525"/>
            <a:chOff x="1222455" y="1987549"/>
            <a:chExt cx="2638345" cy="428700"/>
          </a:xfrm>
        </p:grpSpPr>
        <p:sp>
          <p:nvSpPr>
            <p:cNvPr id="860" name="Google Shape;860;p62"/>
            <p:cNvSpPr/>
            <p:nvPr/>
          </p:nvSpPr>
          <p:spPr>
            <a:xfrm>
              <a:off x="1222455" y="1987549"/>
              <a:ext cx="2322300" cy="428700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BroadcastReceiver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62"/>
            <p:cNvSpPr/>
            <p:nvPr/>
          </p:nvSpPr>
          <p:spPr>
            <a:xfrm>
              <a:off x="3556000" y="2049461"/>
              <a:ext cx="304800" cy="304800"/>
            </a:xfrm>
            <a:prstGeom prst="diamond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62" name="Google Shape;862;p62"/>
          <p:cNvCxnSpPr>
            <a:stCxn id="861" idx="3"/>
            <a:endCxn id="844" idx="1"/>
          </p:cNvCxnSpPr>
          <p:nvPr/>
        </p:nvCxnSpPr>
        <p:spPr>
          <a:xfrm>
            <a:off x="3559850" y="1573265"/>
            <a:ext cx="699000" cy="336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  <p:grpSp>
        <p:nvGrpSpPr>
          <p:cNvPr id="863" name="Google Shape;863;p62"/>
          <p:cNvGrpSpPr/>
          <p:nvPr/>
        </p:nvGrpSpPr>
        <p:grpSpPr>
          <a:xfrm>
            <a:off x="911002" y="2059372"/>
            <a:ext cx="2648848" cy="321525"/>
            <a:chOff x="1211952" y="2770981"/>
            <a:chExt cx="2648848" cy="428700"/>
          </a:xfrm>
        </p:grpSpPr>
        <p:sp>
          <p:nvSpPr>
            <p:cNvPr id="864" name="Google Shape;864;p62"/>
            <p:cNvSpPr/>
            <p:nvPr/>
          </p:nvSpPr>
          <p:spPr>
            <a:xfrm>
              <a:off x="1211952" y="2770981"/>
              <a:ext cx="2322300" cy="428700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" sz="18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ContentProvider</a:t>
              </a:r>
              <a:endParaRPr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62"/>
            <p:cNvSpPr/>
            <p:nvPr/>
          </p:nvSpPr>
          <p:spPr>
            <a:xfrm>
              <a:off x="3556000" y="2839640"/>
              <a:ext cx="304800" cy="304800"/>
            </a:xfrm>
            <a:prstGeom prst="diamond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0"/>
                </a:srgbClr>
              </a:outerShdw>
            </a:effectLst>
          </p:spPr>
          <p:txBody>
            <a:bodyPr spcFirstLastPara="1" wrap="square" lIns="90475" tIns="44450" rIns="90475" bIns="44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66" name="Google Shape;866;p62"/>
          <p:cNvCxnSpPr>
            <a:stCxn id="865" idx="3"/>
            <a:endCxn id="844" idx="1"/>
          </p:cNvCxnSpPr>
          <p:nvPr/>
        </p:nvCxnSpPr>
        <p:spPr>
          <a:xfrm rot="10800000" flipH="1">
            <a:off x="3559850" y="1910166"/>
            <a:ext cx="699000" cy="3150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63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55</a:t>
            </a:fld>
            <a:endParaRPr/>
          </a:p>
        </p:txBody>
      </p:sp>
      <p:sp>
        <p:nvSpPr>
          <p:cNvPr id="872" name="Google Shape;872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Differences in contexts</a:t>
            </a:r>
            <a:endParaRPr/>
          </a:p>
        </p:txBody>
      </p:sp>
      <p:graphicFrame>
        <p:nvGraphicFramePr>
          <p:cNvPr id="873" name="Google Shape;873;p63"/>
          <p:cNvGraphicFramePr/>
          <p:nvPr/>
        </p:nvGraphicFramePr>
        <p:xfrm>
          <a:off x="593724" y="887539"/>
          <a:ext cx="7956575" cy="3643425"/>
        </p:xfrm>
        <a:graphic>
          <a:graphicData uri="http://schemas.openxmlformats.org/drawingml/2006/table">
            <a:tbl>
              <a:tblPr firstRow="1" firstCol="1" bandRow="1">
                <a:noFill/>
                <a:tableStyleId>{7CF54494-A9E9-4999-98D3-2F55860463A6}</a:tableStyleId>
              </a:tblPr>
              <a:tblGrid>
                <a:gridCol w="131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6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6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Application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Activity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Service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Content</a:t>
                      </a:r>
                      <a:br>
                        <a:rPr lang="it" sz="1100" u="none" strike="noStrike" cap="none"/>
                      </a:br>
                      <a:r>
                        <a:rPr lang="it" sz="1100" u="none" strike="noStrike" cap="none"/>
                        <a:t>Provider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Broadcast</a:t>
                      </a:r>
                      <a:br>
                        <a:rPr lang="it" sz="1100" u="none" strike="noStrike" cap="none"/>
                      </a:br>
                      <a:r>
                        <a:rPr lang="it" sz="1100" u="none" strike="noStrike" cap="none"/>
                        <a:t>Receiver</a:t>
                      </a:r>
                      <a:endParaRPr sz="11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Show Dialog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No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No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No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No</a:t>
                      </a:r>
                      <a:endParaRPr sz="11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Start</a:t>
                      </a:r>
                      <a:br>
                        <a:rPr lang="it" sz="1100" u="none" strike="noStrike" cap="none"/>
                      </a:br>
                      <a:r>
                        <a:rPr lang="it" sz="1100" u="none" strike="noStrike" cap="none"/>
                        <a:t>Activity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No (*)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No (*)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No (*)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No (*)</a:t>
                      </a:r>
                      <a:endParaRPr sz="11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it" sz="1100" u="none" strike="noStrike" cap="none"/>
                        <a:t>Inflate </a:t>
                      </a:r>
                      <a:br>
                        <a:rPr lang="it" sz="1100" u="none" strike="noStrike" cap="none"/>
                      </a:br>
                      <a:r>
                        <a:rPr lang="it" sz="1100" u="none" strike="noStrike" cap="none"/>
                        <a:t>Layout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No (**)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No (**)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No (**)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No (**)</a:t>
                      </a:r>
                      <a:endParaRPr sz="11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Start</a:t>
                      </a:r>
                      <a:br>
                        <a:rPr lang="it" sz="1100" u="none" strike="noStrike" cap="none"/>
                      </a:br>
                      <a:r>
                        <a:rPr lang="it" sz="1100" u="none" strike="noStrike" cap="none"/>
                        <a:t>Service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Bind</a:t>
                      </a:r>
                      <a:br>
                        <a:rPr lang="it" sz="1100" u="none" strike="noStrike" cap="none"/>
                      </a:br>
                      <a:r>
                        <a:rPr lang="it" sz="1100" u="none" strike="noStrike" cap="none"/>
                        <a:t>Service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Send</a:t>
                      </a:r>
                      <a:br>
                        <a:rPr lang="it" sz="1100" u="none" strike="noStrike" cap="none"/>
                      </a:br>
                      <a:r>
                        <a:rPr lang="it" sz="1100" u="none" strike="noStrike" cap="none"/>
                        <a:t>Broadcast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Register</a:t>
                      </a:r>
                      <a:br>
                        <a:rPr lang="it" sz="1100" u="none" strike="noStrike" cap="none"/>
                      </a:br>
                      <a:r>
                        <a:rPr lang="it" sz="1100" u="none" strike="noStrike" cap="none"/>
                        <a:t>Receiver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Load</a:t>
                      </a:r>
                      <a:endParaRPr sz="110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Resources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100" u="none" strike="noStrike" cap="none"/>
                        <a:t>Yes</a:t>
                      </a:r>
                      <a:endParaRPr sz="11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74" name="Google Shape;874;p63"/>
          <p:cNvSpPr txBox="1"/>
          <p:nvPr/>
        </p:nvSpPr>
        <p:spPr>
          <a:xfrm>
            <a:off x="1077570" y="4530852"/>
            <a:ext cx="7254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(*): creates a new task; (**): No theme is applied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64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56</a:t>
            </a:fld>
            <a:endParaRPr/>
          </a:p>
        </p:txBody>
      </p:sp>
      <p:sp>
        <p:nvSpPr>
          <p:cNvPr id="881" name="Google Shape;881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Context and resources</a:t>
            </a:r>
            <a:endParaRPr/>
          </a:p>
        </p:txBody>
      </p:sp>
      <p:sp>
        <p:nvSpPr>
          <p:cNvPr id="882" name="Google Shape;882;p64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One of the main features offered by the context is the access to </a:t>
            </a:r>
            <a:r>
              <a:rPr lang="it" b="1">
                <a:solidFill>
                  <a:srgbClr val="1E5F9F"/>
                </a:solidFill>
              </a:rPr>
              <a:t>resources</a:t>
            </a:r>
            <a:endParaRPr sz="2000" b="1">
              <a:solidFill>
                <a:srgbClr val="1E5F9F"/>
              </a:solidFill>
            </a:endParaRPr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Set of strings, images, xml files, ..., which are aggregated to the executable file in order to be uniformly and independently accessible from the installation folder</a:t>
            </a:r>
            <a:endParaRPr/>
          </a:p>
          <a:p>
            <a:pPr marL="269875" lvl="0" indent="-2698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Each resource is identified by a unique number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Automatically generated at compile time and stored in a constant in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it"/>
              <a:t> class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65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57</a:t>
            </a:fld>
            <a:endParaRPr/>
          </a:p>
        </p:txBody>
      </p:sp>
      <p:sp>
        <p:nvSpPr>
          <p:cNvPr id="888" name="Google Shape;888;p65"/>
          <p:cNvSpPr txBox="1">
            <a:spLocks noGrp="1"/>
          </p:cNvSpPr>
          <p:nvPr>
            <p:ph type="body" idx="1"/>
          </p:nvPr>
        </p:nvSpPr>
        <p:spPr>
          <a:xfrm>
            <a:off x="311150" y="1244200"/>
            <a:ext cx="8521800" cy="2899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Resources stored in the application binary can be retrieved from a context using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getResources()</a:t>
            </a:r>
            <a:r>
              <a:rPr lang="it"/>
              <a:t> method 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returned object offers, for each category of resources, a specific method via which the specific resource may be accessed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457200" lvl="0" indent="-355600" algn="l" rtl="0">
              <a:spcBef>
                <a:spcPts val="600"/>
              </a:spcBef>
              <a:spcAft>
                <a:spcPts val="0"/>
              </a:spcAft>
              <a:buSzPts val="2000"/>
              <a:buChar char="•"/>
            </a:pPr>
            <a:r>
              <a:rPr lang="it"/>
              <a:t>An application can persist and retrieve a set of relevant key/values pairs via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getSharedPreferences()</a:t>
            </a:r>
            <a:r>
              <a:rPr lang="it"/>
              <a:t> method</a:t>
            </a:r>
            <a:endParaRPr/>
          </a:p>
          <a:p>
            <a:pPr marL="914400" lvl="1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/>
              <a:t>The returned object offer methods to retrieve a value, given its key, as well as 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edit()</a:t>
            </a:r>
            <a:r>
              <a:rPr lang="it"/>
              <a:t> method that allow to modify and persist the pairs</a:t>
            </a:r>
            <a:endParaRPr/>
          </a:p>
        </p:txBody>
      </p:sp>
      <p:sp>
        <p:nvSpPr>
          <p:cNvPr id="889" name="Google Shape;889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Accessing resources and preferences</a:t>
            </a:r>
            <a:endParaRPr/>
          </a:p>
        </p:txBody>
      </p:sp>
      <p:sp>
        <p:nvSpPr>
          <p:cNvPr id="890" name="Google Shape;890;p65"/>
          <p:cNvSpPr/>
          <p:nvPr/>
        </p:nvSpPr>
        <p:spPr>
          <a:xfrm>
            <a:off x="1280937" y="2494545"/>
            <a:ext cx="7280400" cy="288300"/>
          </a:xfrm>
          <a:prstGeom prst="foldedCorner">
            <a:avLst>
              <a:gd name="adj" fmla="val 12500"/>
            </a:avLst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greeting = context.getResources().getString(R.string.hello);</a:t>
            </a:r>
            <a:endParaRPr>
              <a:solidFill>
                <a:srgbClr val="CC66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1" name="Google Shape;891;p65"/>
          <p:cNvSpPr/>
          <p:nvPr/>
        </p:nvSpPr>
        <p:spPr>
          <a:xfrm>
            <a:off x="1279950" y="4124282"/>
            <a:ext cx="7280400" cy="536100"/>
          </a:xfrm>
          <a:prstGeom prst="foldedCorner">
            <a:avLst>
              <a:gd name="adj" fmla="val 12500"/>
            </a:avLst>
          </a:prstGeom>
          <a:solidFill>
            <a:srgbClr val="FFFF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 editor = context.getSharedPreferences("prefs", MODE_PRIVATE).edit()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editor.putInt("someData", 42).commit()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66"/>
          <p:cNvSpPr txBox="1">
            <a:spLocks noGrp="1"/>
          </p:cNvSpPr>
          <p:nvPr>
            <p:ph type="sldNum" idx="12"/>
          </p:nvPr>
        </p:nvSpPr>
        <p:spPr>
          <a:xfrm>
            <a:off x="8472458" y="476850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fld id="{00000000-1234-1234-1234-123412341234}" type="slidenum">
              <a:rPr lang="it"/>
              <a:t>58</a:t>
            </a:fld>
            <a:endParaRPr/>
          </a:p>
        </p:txBody>
      </p:sp>
      <p:sp>
        <p:nvSpPr>
          <p:cNvPr id="898" name="Google Shape;898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More features</a:t>
            </a:r>
            <a:endParaRPr/>
          </a:p>
        </p:txBody>
      </p:sp>
      <p:sp>
        <p:nvSpPr>
          <p:cNvPr id="899" name="Google Shape;899;p66"/>
          <p:cNvSpPr txBox="1">
            <a:spLocks noGrp="1"/>
          </p:cNvSpPr>
          <p:nvPr>
            <p:ph type="body" idx="1"/>
          </p:nvPr>
        </p:nvSpPr>
        <p:spPr>
          <a:xfrm>
            <a:off x="311150" y="1244204"/>
            <a:ext cx="8521800" cy="3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69875" lvl="0" indent="-269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it"/>
              <a:t>The </a:t>
            </a:r>
            <a:r>
              <a:rPr lang="it" b="1">
                <a:solidFill>
                  <a:srgbClr val="0B5394"/>
                </a:solidFill>
                <a:latin typeface="Consolas"/>
                <a:ea typeface="Consolas"/>
                <a:cs typeface="Consolas"/>
                <a:sym typeface="Consolas"/>
              </a:rPr>
              <a:t>Context</a:t>
            </a:r>
            <a:r>
              <a:rPr lang="it"/>
              <a:t> class also allows you to: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Getting assets included in the application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Request system services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Manage files, directories, and databases accessible only to the current application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Check and activate application authorizations</a:t>
            </a:r>
            <a:endParaRPr/>
          </a:p>
          <a:p>
            <a:pPr marL="541337" lvl="1" indent="-20637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500"/>
              <a:buChar char="○"/>
            </a:pPr>
            <a:r>
              <a:rPr lang="it"/>
              <a:t>…</a:t>
            </a:r>
            <a:endParaRPr/>
          </a:p>
        </p:txBody>
      </p:sp>
      <p:sp>
        <p:nvSpPr>
          <p:cNvPr id="900" name="Google Shape;900;p66"/>
          <p:cNvSpPr/>
          <p:nvPr/>
        </p:nvSpPr>
        <p:spPr>
          <a:xfrm>
            <a:off x="2735263" y="1720454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it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lit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4607</Words>
  <Application>Microsoft Macintosh PowerPoint</Application>
  <PresentationFormat>On-screen Show (16:9)</PresentationFormat>
  <Paragraphs>705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3" baseType="lpstr">
      <vt:lpstr>Arial</vt:lpstr>
      <vt:lpstr>Calibri</vt:lpstr>
      <vt:lpstr>Consolas</vt:lpstr>
      <vt:lpstr>Noto Sans Symbols</vt:lpstr>
      <vt:lpstr>Polito</vt:lpstr>
      <vt:lpstr>Activities</vt:lpstr>
      <vt:lpstr>Android apps</vt:lpstr>
      <vt:lpstr>android.app.Activity</vt:lpstr>
      <vt:lpstr>Role and responsibilities</vt:lpstr>
      <vt:lpstr>Activity (1)</vt:lpstr>
      <vt:lpstr>Activity (2)</vt:lpstr>
      <vt:lpstr>Activity stack</vt:lpstr>
      <vt:lpstr>Activity stack</vt:lpstr>
      <vt:lpstr>Activity life cycle</vt:lpstr>
      <vt:lpstr>Activity life cycle</vt:lpstr>
      <vt:lpstr>Activity life cycle</vt:lpstr>
      <vt:lpstr>Activity life cycle and visibility</vt:lpstr>
      <vt:lpstr>Managing the activity life cycle</vt:lpstr>
      <vt:lpstr>onCreate()</vt:lpstr>
      <vt:lpstr>Example</vt:lpstr>
      <vt:lpstr>onStart()</vt:lpstr>
      <vt:lpstr>onResume()</vt:lpstr>
      <vt:lpstr>onPause()</vt:lpstr>
      <vt:lpstr>onStop()</vt:lpstr>
      <vt:lpstr>onDestroy()</vt:lpstr>
      <vt:lpstr>Preparing the GUI</vt:lpstr>
      <vt:lpstr>The visual tree</vt:lpstr>
      <vt:lpstr>Modelling the GUI as a set of objects</vt:lpstr>
      <vt:lpstr>The composite pattern</vt:lpstr>
      <vt:lpstr>Create the View display hierarchy</vt:lpstr>
      <vt:lpstr>Programmatic view creation</vt:lpstr>
      <vt:lpstr>Programmatic view creation</vt:lpstr>
      <vt:lpstr>Create a view via XML </vt:lpstr>
      <vt:lpstr>Create a view via XML</vt:lpstr>
      <vt:lpstr>Create a view via XML</vt:lpstr>
      <vt:lpstr>Create a view via XML</vt:lpstr>
      <vt:lpstr>Create a view via XML</vt:lpstr>
      <vt:lpstr>Create a view via XML</vt:lpstr>
      <vt:lpstr>Using the Jetpack Compose library</vt:lpstr>
      <vt:lpstr>Using the Jetpack Compose library</vt:lpstr>
      <vt:lpstr>Using the Jetpack Compose library</vt:lpstr>
      <vt:lpstr>Processes in Android</vt:lpstr>
      <vt:lpstr>Saving the state of an activity</vt:lpstr>
      <vt:lpstr>Intents</vt:lpstr>
      <vt:lpstr>Implicit Intents</vt:lpstr>
      <vt:lpstr>Implicit intents</vt:lpstr>
      <vt:lpstr>Explicit Intents</vt:lpstr>
      <vt:lpstr>Transitions between activities</vt:lpstr>
      <vt:lpstr>Transitions between activities</vt:lpstr>
      <vt:lpstr>Simple invocation</vt:lpstr>
      <vt:lpstr>Activity replacement</vt:lpstr>
      <vt:lpstr>Requesting a value</vt:lpstr>
      <vt:lpstr>Requesting a value</vt:lpstr>
      <vt:lpstr>Main activity</vt:lpstr>
      <vt:lpstr>Broadcasting Intents</vt:lpstr>
      <vt:lpstr>Receiving broadcast Intents</vt:lpstr>
      <vt:lpstr>Receiving broadcast Intents</vt:lpstr>
      <vt:lpstr>Inheritance hierarchy</vt:lpstr>
      <vt:lpstr>Context class hierarchy</vt:lpstr>
      <vt:lpstr>Differences in contexts</vt:lpstr>
      <vt:lpstr>Context and resources</vt:lpstr>
      <vt:lpstr>Accessing resources and preferences</vt:lpstr>
      <vt:lpstr>More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Activities</dc:title>
  <cp:lastModifiedBy>Giovanni Malnati</cp:lastModifiedBy>
  <cp:revision>1</cp:revision>
  <dcterms:modified xsi:type="dcterms:W3CDTF">2024-03-01T15:58:55Z</dcterms:modified>
</cp:coreProperties>
</file>