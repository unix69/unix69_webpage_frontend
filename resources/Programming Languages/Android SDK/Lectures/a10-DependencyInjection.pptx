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abe7872200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abe78722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abe7872200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2abe78722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abe7872200_0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abe787220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abe7872200_0_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abe787220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be7872200_0_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be78722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be787220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abe787220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be7872200_0_4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be787220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be7872200_0_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be787220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be787220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be787220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be7872200_0_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be787220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be7872200_0_7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be787220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abe7872200_0_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abe787220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be7872200_0_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abe787220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be7872200_0_9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abe787220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be7872200_0_9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be787220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be7872200_0_10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be787220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be7872200_0_1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be787220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be7872200_0_1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be787220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be7872200_0_1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be787220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be7872200_0_1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abe787220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1pPr>
            <a:lvl2pPr indent="0" lvl="1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2pPr>
            <a:lvl3pPr indent="0" lvl="2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3pPr>
            <a:lvl4pPr indent="0" lvl="3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4pPr>
            <a:lvl5pPr indent="0" lvl="4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5pPr>
            <a:lvl6pPr indent="0" lvl="5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6pPr>
            <a:lvl7pPr indent="0" lvl="6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7pPr>
            <a:lvl8pPr indent="0" lvl="7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8pPr>
            <a:lvl9pPr indent="0" lvl="8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ourier New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A. Rabino, 2021-24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medium.com/huawei-developers/differences-and-advantages-of-hilt-dagger2-koin-1-3af44e9a0722" TargetMode="External"/><Relationship Id="rId4" Type="http://schemas.openxmlformats.org/officeDocument/2006/relationships/hyperlink" Target="https://write.agrevolution.in/dependency-injection-in-android-with-hilt-part-1-6c19d06ec2bd" TargetMode="External"/><Relationship Id="rId5" Type="http://schemas.openxmlformats.org/officeDocument/2006/relationships/hyperlink" Target="https://medium.com/codex/creating-viewmodel-dependencies-using-hilt-ff8005488910" TargetMode="External"/><Relationship Id="rId6" Type="http://schemas.openxmlformats.org/officeDocument/2006/relationships/hyperlink" Target="https://medium.com/codex/creating-the-network-module-with-hilt-3eefc54b72" TargetMode="External"/><Relationship Id="rId7" Type="http://schemas.openxmlformats.org/officeDocument/2006/relationships/hyperlink" Target="https://medium.com/dwarsoft/using-hilt-dependency-injection-to-provide-network-room-instance-6245172c5a57" TargetMode="External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311708" y="2463431"/>
            <a:ext cx="8520600" cy="15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Dependency Injection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311700" y="4030594"/>
            <a:ext cx="8520600" cy="5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39" name="Google Shape;3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091" y="114806"/>
            <a:ext cx="2377818" cy="237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131" y="3052239"/>
            <a:ext cx="3845737" cy="17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Dependencies</a:t>
            </a:r>
            <a:endParaRPr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Objects are often based on the delegation pattern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Part of their behaviour is delegated to some other objects they refer to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These objects, the behaviour is delegated to, are named dependencies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order to delegate, a suitable instance of the dependent class should be available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constructor of the delegating class is usually in charge of providing such instances</a:t>
            </a:r>
            <a:endParaRPr/>
          </a:p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Managing dependencies</a:t>
            </a:r>
            <a:endParaRPr/>
          </a:p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Having a class providing its own dependencies has several disadvantages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class-coupling level increases: it is not possible to compile, test, run one class if the other class is not available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 dependency need some configuration parameters, these must be provided where it is constructed, i.e., in the enclosing class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is cumbersome to make two different (possibly unrelated) objects share a common dependency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Code reuse is hampered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Class coupling can be mitigated by introducing a level of indirection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enclosing class may refer to its dependencies via interfaces, that abstract the actual behaviour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Constructor parameters may be used to provide the actual implementations</a:t>
            </a:r>
            <a:endParaRPr/>
          </a:p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Managing dependencies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467450" y="1133856"/>
            <a:ext cx="8157900" cy="1908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MyRepository(private val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: Context)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val myModel =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MyDatabaseImpl.getDb(context)</a:t>
            </a:r>
            <a:endParaRPr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myApi = </a:t>
            </a:r>
            <a:r>
              <a:rPr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MyApiImpl("https://myhost.com/api/v1")</a:t>
            </a:r>
            <a:endParaRPr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//… more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1"/>
          <p:cNvSpPr txBox="1"/>
          <p:nvPr>
            <p:ph idx="4294967295" type="body"/>
          </p:nvPr>
        </p:nvSpPr>
        <p:spPr>
          <a:xfrm>
            <a:off x="311150" y="3169664"/>
            <a:ext cx="8521800" cy="146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it"/>
              <a:t>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ontext</a:t>
            </a:r>
            <a:r>
              <a:rPr lang="it"/>
              <a:t> is needed to create the database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it"/>
              <a:t>A hard dependency on two concrete classes is introduced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MyDatabase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MyApiImpl</a:t>
            </a:r>
            <a:r>
              <a:rPr lang="it"/>
              <a:t>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it"/>
              <a:t>Details about the location of the API server need to be known here</a:t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5954325" y="1222025"/>
            <a:ext cx="290700" cy="2916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1</a:t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5954325" y="1640031"/>
            <a:ext cx="290700" cy="2916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5954325" y="2058038"/>
            <a:ext cx="290700" cy="2916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3</a:t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Refactoring to reduce class coupling</a:t>
            </a:r>
            <a:endParaRPr/>
          </a:p>
        </p:txBody>
      </p:sp>
      <p:sp>
        <p:nvSpPr>
          <p:cNvPr id="71" name="Google Shape;71;p12"/>
          <p:cNvSpPr txBox="1"/>
          <p:nvPr/>
        </p:nvSpPr>
        <p:spPr>
          <a:xfrm>
            <a:off x="416125" y="3571669"/>
            <a:ext cx="8157900" cy="104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MyRepository(val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myDb: MyDatabase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, val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myApi: MyApi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//… more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416125" y="1025006"/>
            <a:ext cx="8157900" cy="126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MyDatabase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{ …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@Database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MyDatabaseImpl(context: Context):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		RoomDatabase(context),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MyDatabase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{ …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2"/>
          <p:cNvSpPr txBox="1"/>
          <p:nvPr/>
        </p:nvSpPr>
        <p:spPr>
          <a:xfrm>
            <a:off x="416125" y="2384063"/>
            <a:ext cx="8157900" cy="104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interface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MyApi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{ …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@Database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MyApiImpl(baseURL: string):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MyApi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{ …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3379500" y="1095426"/>
            <a:ext cx="735300" cy="24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2"/>
          <p:cNvSpPr/>
          <p:nvPr/>
        </p:nvSpPr>
        <p:spPr>
          <a:xfrm>
            <a:off x="2659689" y="2462738"/>
            <a:ext cx="735300" cy="24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2"/>
          <p:cNvSpPr/>
          <p:nvPr/>
        </p:nvSpPr>
        <p:spPr>
          <a:xfrm>
            <a:off x="6420600" y="3654467"/>
            <a:ext cx="735300" cy="24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Injecting content</a:t>
            </a:r>
            <a:endParaRPr/>
          </a:p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While refactoring has reduced the static coupling between classes, a new issue is now present: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Who is responsible of providing the actual implementations of the two interfaces required by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MyRepository</a:t>
            </a:r>
            <a:r>
              <a:rPr lang="it"/>
              <a:t> class?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In these situations, dependency injection frameworks come to the rescue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Dependencies injection is a design pattern that aims to separate the concern of constructing objects from the one of  using them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Between the client class (the one that has dependencies) and the dependencies a third actor steps in: the </a:t>
            </a:r>
            <a:r>
              <a:rPr b="1" lang="it">
                <a:solidFill>
                  <a:srgbClr val="0B5394"/>
                </a:solidFill>
              </a:rPr>
              <a:t>dependency injection framework</a:t>
            </a:r>
            <a:endParaRPr b="1">
              <a:solidFill>
                <a:srgbClr val="0B5394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takes care to find out what concrete class should provided as a construction parameter to a client class and how to locate or construct actual instances of those classes</a:t>
            </a:r>
            <a:endParaRPr/>
          </a:p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Dependency injection in Android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Several DI frameworks exist for the Java/Kotlin ecosystem, some specifically aimed at Android and other at a more general programming environment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Spring </a:t>
            </a:r>
            <a:r>
              <a:rPr lang="it"/>
              <a:t> </a:t>
            </a:r>
            <a:r>
              <a:rPr lang="it">
                <a:solidFill>
                  <a:schemeClr val="dk1"/>
                </a:solidFill>
              </a:rPr>
              <a:t>— based on a central piece of software, the ApplicationContext, that is responsible for instantiating, configuring, and assembling objects at </a:t>
            </a:r>
            <a:r>
              <a:rPr b="1" lang="it">
                <a:solidFill>
                  <a:srgbClr val="0B5394"/>
                </a:solidFill>
              </a:rPr>
              <a:t>runtime</a:t>
            </a:r>
            <a:r>
              <a:rPr lang="it">
                <a:solidFill>
                  <a:schemeClr val="dk1"/>
                </a:solidFill>
              </a:rPr>
              <a:t>, as well as managing their life cycles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Dagger </a:t>
            </a:r>
            <a:r>
              <a:rPr lang="it"/>
              <a:t>— operates at </a:t>
            </a:r>
            <a:r>
              <a:rPr b="1" lang="it">
                <a:solidFill>
                  <a:srgbClr val="0B5394"/>
                </a:solidFill>
              </a:rPr>
              <a:t>compile time</a:t>
            </a:r>
            <a:r>
              <a:rPr lang="it"/>
              <a:t> and produces static code where dependencies are resolved and wired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Dagger2 </a:t>
            </a:r>
            <a:r>
              <a:rPr lang="it"/>
              <a:t>— Build on top of Dagger, created by Google Team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Koin </a:t>
            </a:r>
            <a:r>
              <a:rPr lang="it"/>
              <a:t>— A runtime DI framework, completely written in Kotlin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Hilt </a:t>
            </a:r>
            <a:r>
              <a:rPr lang="it"/>
              <a:t>— build on top of Dagger2, completely focused on Android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Frameworks often use annotations to label classes and their dependencies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Both to express the role played by a class and to mark the place where the dependency should be injected</a:t>
            </a:r>
            <a:endParaRPr/>
          </a:p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Hilt is a DI library that generates code at compile time relying on a set of annotations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requires several dependencies, both in the project build.gradle file and in the app module one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744975" y="4608094"/>
            <a:ext cx="54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15"/>
          <p:cNvGrpSpPr/>
          <p:nvPr/>
        </p:nvGrpSpPr>
        <p:grpSpPr>
          <a:xfrm>
            <a:off x="397900" y="2699307"/>
            <a:ext cx="8434500" cy="1908675"/>
            <a:chOff x="397900" y="3054500"/>
            <a:chExt cx="8434500" cy="2544900"/>
          </a:xfrm>
        </p:grpSpPr>
        <p:sp>
          <p:nvSpPr>
            <p:cNvPr id="100" name="Google Shape;100;p15"/>
            <p:cNvSpPr txBox="1"/>
            <p:nvPr/>
          </p:nvSpPr>
          <p:spPr>
            <a:xfrm>
              <a:off x="397900" y="3054500"/>
              <a:ext cx="8434500" cy="2544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buildscript { …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dependencies { …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classpath "com.google.dagger:hilt-android-gradle-plugin:2.44"</a:t>
              </a:r>
              <a:endParaRPr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br>
                <a:rPr lang="it"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plugins { …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id 'com.google.dagger.hilt.android' version '2.44' apply false</a:t>
              </a:r>
              <a:endParaRPr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5933475" y="3183750"/>
              <a:ext cx="2457600" cy="304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project: build.gradle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</a:t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109" name="Google Shape;109;p16"/>
          <p:cNvGrpSpPr/>
          <p:nvPr/>
        </p:nvGrpSpPr>
        <p:grpSpPr>
          <a:xfrm>
            <a:off x="401562" y="1415869"/>
            <a:ext cx="8434500" cy="2770650"/>
            <a:chOff x="397900" y="865600"/>
            <a:chExt cx="8434500" cy="3694200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397900" y="865600"/>
              <a:ext cx="8434500" cy="3694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plugins { …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  id 'kotlin-kapt'</a:t>
              </a:r>
              <a:endParaRPr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  id 'com.google.dagger.hilt.android'</a:t>
              </a:r>
              <a:endParaRPr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dependencies { …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implementation 'com.google.dagger:hilt-android:2.44'</a:t>
              </a:r>
              <a:endParaRPr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  kapt 'com.google.dagger:hilt-compiler:2.44'</a:t>
              </a:r>
              <a:endParaRPr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// Allow references to generated code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kapt {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lang="it">
                  <a:solidFill>
                    <a:srgbClr val="0B5394"/>
                  </a:solidFill>
                  <a:latin typeface="Consolas"/>
                  <a:ea typeface="Consolas"/>
                  <a:cs typeface="Consolas"/>
                  <a:sym typeface="Consolas"/>
                </a:rPr>
                <a:t>correctErrorTypes true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933475" y="1025300"/>
              <a:ext cx="2457600" cy="304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app: build.gradle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 annotations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project should define a custom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Application</a:t>
            </a:r>
            <a:r>
              <a:rPr lang="it"/>
              <a:t> subclass labelled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@HiltAndroidApp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triggers Hilt code generation and includes the base class for the application that serves as the application-level dependency container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will store a reference to all the singleton dependencies as well as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components (services, activities, fragments, views, broadcast receivers) relying on DI should be labelled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@AndroidEntryPoint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 annotations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397800" y="1133907"/>
            <a:ext cx="8434500" cy="1908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@HiltAndroidApp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MyHiltApp : Application()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@AndroidEntryPoint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MainActivity : AppCompatActivity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lateinit var player: MusicPlayer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97800" y="3232257"/>
            <a:ext cx="84345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MusicPlayer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constructor()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fun play(id: string) {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 annotations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Dependency injection can happen in two ways: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Via </a:t>
            </a:r>
            <a:r>
              <a:rPr b="1" lang="it">
                <a:solidFill>
                  <a:srgbClr val="0B5394"/>
                </a:solidFill>
              </a:rPr>
              <a:t>constructor injection</a:t>
            </a:r>
            <a:r>
              <a:rPr lang="it"/>
              <a:t> - In this case the dependency is provided to the constructor as a parameter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Via </a:t>
            </a:r>
            <a:r>
              <a:rPr b="1" lang="it">
                <a:solidFill>
                  <a:srgbClr val="0B5394"/>
                </a:solidFill>
              </a:rPr>
              <a:t>property injection</a:t>
            </a:r>
            <a:r>
              <a:rPr lang="it"/>
              <a:t> - This happens when a lateinit var property is declared and not initialized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To inject a dependency, the destination must be labelled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r>
              <a:rPr lang="it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In case of constructor injection, it is the constructor that must be annotated, independently of how many parameters it declares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Hilt selects what value to store in these variables using different criteria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If the variable has a </a:t>
            </a:r>
            <a:r>
              <a:rPr b="1" lang="it">
                <a:solidFill>
                  <a:srgbClr val="0B5394"/>
                </a:solidFill>
              </a:rPr>
              <a:t>concrete type</a:t>
            </a:r>
            <a:r>
              <a:rPr lang="it">
                <a:solidFill>
                  <a:schemeClr val="dk1"/>
                </a:solidFill>
              </a:rPr>
              <a:t>, and the type has a </a:t>
            </a:r>
            <a:r>
              <a:rPr b="1" lang="it">
                <a:solidFill>
                  <a:srgbClr val="0B5394"/>
                </a:solidFill>
              </a:rPr>
              <a:t>no-arg constructor</a:t>
            </a:r>
            <a:r>
              <a:rPr lang="it">
                <a:solidFill>
                  <a:schemeClr val="dk1"/>
                </a:solidFill>
              </a:rPr>
              <a:t>, it is possible to decorate the primary constructor of the dependency with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r>
              <a:rPr lang="it">
                <a:solidFill>
                  <a:schemeClr val="dk1"/>
                </a:solidFill>
              </a:rPr>
              <a:t> annotation (again!)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Otherwise,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@Module</a:t>
            </a:r>
            <a:r>
              <a:rPr lang="it">
                <a:solidFill>
                  <a:schemeClr val="dk1"/>
                </a:solidFill>
              </a:rPr>
              <a:t> class need to be defined</a:t>
            </a:r>
            <a:endParaRPr/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Scopes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Sometimes, an app need that the same dependency is used in all places where an object of that kind is required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can easily be achieved adding an extra annotation to the dependency class: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@Singleton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It is also possible to constrain creating different instances of a dependency per each high-level Android component (e.g, activity or service)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Via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@ActivityRetainedScoped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@ViewModelScoped</a:t>
            </a:r>
            <a:r>
              <a:rPr lang="it">
                <a:solidFill>
                  <a:schemeClr val="dk1"/>
                </a:solidFill>
              </a:rPr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@ActivityScoped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@ServiceScoped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Or to limit the scope of a dependency to each view or fragment instances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Via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@ViewScoped</a:t>
            </a:r>
            <a:r>
              <a:rPr lang="it">
                <a:solidFill>
                  <a:schemeClr val="dk1"/>
                </a:solidFill>
              </a:rPr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@FragmentScoped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If no scope is indicated, a new instance of the dependency will be created per each requesting client</a:t>
            </a:r>
            <a:endParaRPr/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Components lifecycle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lifecycle of a dependency varies according to its scope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@Singleton</a:t>
            </a:r>
            <a:r>
              <a:rPr lang="it"/>
              <a:t> - Application::onCreate() → Application::onTerminate()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@ActivityRetainedScoped</a:t>
            </a:r>
            <a:r>
              <a:rPr lang="it"/>
              <a:t> -</a:t>
            </a:r>
            <a:br>
              <a:rPr lang="it"/>
            </a:br>
            <a:r>
              <a:rPr lang="it"/>
              <a:t>Activity::onCreate(...) → Activity::onDestroy() </a:t>
            </a:r>
            <a:r>
              <a:rPr i="1" lang="it"/>
              <a:t>(objects survive the destructions due to configuration changes)</a:t>
            </a:r>
            <a:endParaRPr i="1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@ViewModelScoped</a:t>
            </a:r>
            <a:r>
              <a:rPr lang="it"/>
              <a:t> - ViewModel::&lt;init&gt; → ViewModel::onCleared()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@ActivityScoped</a:t>
            </a:r>
            <a:r>
              <a:rPr lang="it"/>
              <a:t> - </a:t>
            </a:r>
            <a:r>
              <a:rPr lang="it">
                <a:solidFill>
                  <a:schemeClr val="dk1"/>
                </a:solidFill>
              </a:rPr>
              <a:t>Activity::onCreate(...) → Activity::onDestroy()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@FragmentScoped</a:t>
            </a:r>
            <a:r>
              <a:rPr lang="it">
                <a:solidFill>
                  <a:schemeClr val="dk1"/>
                </a:solidFill>
              </a:rPr>
              <a:t> - Fragment::onAttach(...) → Fragment::onDetach()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@ViewScoped</a:t>
            </a:r>
            <a:r>
              <a:rPr lang="it">
                <a:solidFill>
                  <a:schemeClr val="dk1"/>
                </a:solidFill>
              </a:rPr>
              <a:t> - View construction → View destruction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@ServiceScoped</a:t>
            </a:r>
            <a:r>
              <a:rPr lang="it">
                <a:solidFill>
                  <a:schemeClr val="dk1"/>
                </a:solidFill>
              </a:rPr>
              <a:t> - Service::onCreate() → Service::onDestroy()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 modules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Hilt module is a class annotated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@Module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Methods annotated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@Provides</a:t>
            </a:r>
            <a:r>
              <a:rPr lang="it"/>
              <a:t> are used by the framework to provide instances of a given type (actual class or interfaces)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Function parameters are used to supply transitive dependencies needed by the instance to be provided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module is also annotated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@InstallIn</a:t>
            </a:r>
            <a:r>
              <a:rPr lang="it"/>
              <a:t>: this defines which dependency container will be used to store the provided instances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defines to what kind of Android component the provided instances will be available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Hilt defines 8 possible containers, reflecting the possible injection scopes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 dependency containers</a:t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076763"/>
            <a:ext cx="6629399" cy="36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Hilt module example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354750" y="1057707"/>
            <a:ext cx="8434500" cy="126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MusicPlayer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constructor(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private val db: MusicDatabase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//this is an interface! It prevents direct injection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) {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fun play(id: string) {  …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354750" y="2395536"/>
            <a:ext cx="8434500" cy="2339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@Module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@InstallIn(SingletonComponent::class)</a:t>
            </a:r>
            <a:endParaRPr b="1">
              <a:solidFill>
                <a:srgbClr val="0B5394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MusicModule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@Singleton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// any class needing this dependency will get the same instance</a:t>
            </a:r>
            <a:endParaRPr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@Provides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fun provideMusicDB(@ApplicationContext context: Context): MusicDatabase {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Room.databaseBuilder(context, MusicDatabase::class.java, "music.db")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			 .build()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Jetpack integration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Hilt offers integrations with several Jetpack libraries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ViewModel, Navigation, Compose, WorkManager, …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the case of ViewModels, classes must be annotated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@HiltViewModel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they need any dependency, their constructor should be annotated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495450" y="2921719"/>
            <a:ext cx="8434500" cy="169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@HiltViewModel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class MyViewModel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@Inject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constructor(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private val adapter: AnalyticsAdapter,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private val state: SavedStateHandle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): ViewModel() {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//...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Generated code</a:t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3">
            <a:alphaModFix/>
          </a:blip>
          <a:srcRect b="0" l="0" r="0" t="13201"/>
          <a:stretch/>
        </p:blipFill>
        <p:spPr>
          <a:xfrm>
            <a:off x="311688" y="949900"/>
            <a:ext cx="8520600" cy="33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1966125" y="4441313"/>
            <a:ext cx="7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https://medium.com/androiddevelopers/mad-skills-series-hilt-under-the-hood-9d89ee227059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more…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Differences and Advantages of Hilt, Dagger2, Koin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https://medium.com/huawei-developers/differences-and-advantages-of-hilt-dagger2-koin-1-3af44e9a0722</a:t>
            </a:r>
            <a:r>
              <a:rPr lang="it"/>
              <a:t>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Basics of Dependency Injection in Android using Hilt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https://write.agrevolution.in/dependency-injection-in-android-with-hilt-part-1-6c19d06ec2bd</a:t>
            </a:r>
            <a:r>
              <a:rPr lang="it"/>
              <a:t>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Creating ViewModel dependencies using Hilt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https://medium.com/codex/creating-viewmodel-dependencies-using-hilt-ff8005488910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Creating the Network Module with Hilt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https://medium.com/codex/creating-the-network-module-with-hilt-3eefc54b72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Using Hilt (Dependency Injection) To Provide Network &amp; Room Instance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7"/>
              </a:rPr>
              <a:t>https://medium.com/dwarsoft/using-hilt-dependency-injection-to-provide-network-room-instance-6245172c5a57</a:t>
            </a:r>
            <a:r>
              <a:rPr lang="it"/>
              <a:t> </a:t>
            </a:r>
            <a:endParaRPr/>
          </a:p>
        </p:txBody>
      </p:sp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 rotWithShape="1">
          <a:blip r:embed="rId8">
            <a:alphaModFix/>
          </a:blip>
          <a:srcRect b="18805" l="17234" r="17234" t="18799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