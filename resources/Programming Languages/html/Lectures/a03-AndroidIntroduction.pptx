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5143500" cx="9144000"/>
  <p:notesSz cx="6858000" cy="9144000"/>
  <p:embeddedFontLst>
    <p:embeddedFont>
      <p:font typeface="Gill Sans"/>
      <p:regular r:id="rId31"/>
      <p:bold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GillSans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GillSans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2aab8d197e5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g2aab8d197e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g2aab8d197e5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2aab8d197e5_0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g2aab8d197e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g2aab8d197e5_0_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2aab8d197e5_0_3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" name="Google Shape;51;g2aab8d197e5_0_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2aab8d197e5_0_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g2aab8d197e5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g2aab8d197e5_0_2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aab8d197e5_0_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g2aab8d197e5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g2aab8d197e5_0_4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aab8d197e5_0_4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g2aab8d197e5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g2aab8d197e5_0_4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aab8d197e5_0_9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g2aab8d197e5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2aab8d197e5_0_9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aab8d197e5_0_10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g2aab8d197e5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2aab8d197e5_0_10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aab8d197e5_0_1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2aab8d197e5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g2aab8d197e5_0_11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aab8d197e5_0_1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g2aab8d197e5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2aab8d197e5_0_12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aab8d197e5_0_1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g2aab8d197e5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2aab8d197e5_0_12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aab8d197e5_0_1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g2aab8d197e5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2aab8d197e5_0_13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aab8d197e5_0_1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g2aab8d197e5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2aab8d197e5_0_14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aab8d197e5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g2aab8d197e5_0_18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aab8d197e5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2aab8d197e5_0_18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aab8d197e5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g2aab8d197e5_0_19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aab8d197e5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2aab8d197e5_0_20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aab8d197e5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2aab8d197e5_0_20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2aab8d197e5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g2aab8d197e5_0_2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2aab8d197e5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g2aab8d197e5_0_2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2aab8d197e5_0_2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g2aab8d197e5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g2aab8d197e5_0_22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2aab8d197e5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g2aab8d197e5_0_26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2aab8d197e5_0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g2aab8d197e5_0_27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2aab8d197e5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g2aab8d197e5_0_28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2aab8d197e5_0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g2aab8d197e5_0_28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311708" y="1125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11700" y="3215125"/>
            <a:ext cx="8520600" cy="792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8" name="Google Shape;18;p3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Calibri"/>
              <a:buChar char="•"/>
              <a:defRPr sz="2000">
                <a:latin typeface="Calibri"/>
                <a:ea typeface="Calibri"/>
                <a:cs typeface="Calibri"/>
                <a:sym typeface="Calibri"/>
              </a:defRPr>
            </a:lvl1pPr>
            <a:lvl2pPr indent="-330200" lvl="1" marL="91440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Char char="○"/>
              <a:defRPr sz="1600"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•"/>
              <a:defRPr sz="1200"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•"/>
              <a:defRPr sz="1200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3200" y="1152475"/>
            <a:ext cx="3999900" cy="341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1pPr>
            <a:lvl2pPr indent="-304800" lvl="1" marL="914400">
              <a:spcBef>
                <a:spcPts val="3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▪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2" name="Google Shape;22;p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1pPr>
            <a:lvl2pPr indent="-304800" lvl="1" marL="914400">
              <a:spcBef>
                <a:spcPts val="3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▪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contenuto">
  <p:cSld name="Titolo e contenuto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rtl="0" algn="r"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0" algn="r"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0" algn="r"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0" algn="r"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0" algn="r"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0" algn="r"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0" algn="r"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0" algn="r"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0" algn="r"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Calibri"/>
              <a:buChar char="•"/>
              <a:defRPr sz="2000">
                <a:latin typeface="Calibri"/>
                <a:ea typeface="Calibri"/>
                <a:cs typeface="Calibri"/>
                <a:sym typeface="Calibri"/>
              </a:defRPr>
            </a:lvl1pPr>
            <a:lvl2pPr indent="-330200" lvl="1" marL="91440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Char char="○"/>
              <a:defRPr sz="1600"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•"/>
              <a:defRPr sz="1200"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•"/>
              <a:defRPr sz="1200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4787168"/>
            <a:ext cx="9144000" cy="356333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 sz="32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 sz="32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 sz="32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 sz="32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 sz="32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 sz="32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 sz="32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 sz="32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 sz="32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</a:defRPr>
            </a:lvl1pPr>
            <a:lvl2pPr lvl="1" algn="r">
              <a:buNone/>
              <a:defRPr sz="1000">
                <a:solidFill>
                  <a:schemeClr val="lt1"/>
                </a:solidFill>
              </a:defRPr>
            </a:lvl2pPr>
            <a:lvl3pPr lvl="2" algn="r">
              <a:buNone/>
              <a:defRPr sz="1000">
                <a:solidFill>
                  <a:schemeClr val="lt1"/>
                </a:solidFill>
              </a:defRPr>
            </a:lvl3pPr>
            <a:lvl4pPr lvl="3" algn="r">
              <a:buNone/>
              <a:defRPr sz="1000">
                <a:solidFill>
                  <a:schemeClr val="lt1"/>
                </a:solidFill>
              </a:defRPr>
            </a:lvl4pPr>
            <a:lvl5pPr lvl="4" algn="r">
              <a:buNone/>
              <a:defRPr sz="1000">
                <a:solidFill>
                  <a:schemeClr val="lt1"/>
                </a:solidFill>
              </a:defRPr>
            </a:lvl5pPr>
            <a:lvl6pPr lvl="5" algn="r">
              <a:buNone/>
              <a:defRPr sz="1000">
                <a:solidFill>
                  <a:schemeClr val="lt1"/>
                </a:solidFill>
              </a:defRPr>
            </a:lvl6pPr>
            <a:lvl7pPr lvl="6" algn="r">
              <a:buNone/>
              <a:defRPr sz="1000">
                <a:solidFill>
                  <a:schemeClr val="lt1"/>
                </a:solidFill>
              </a:defRPr>
            </a:lvl7pPr>
            <a:lvl8pPr lvl="7" algn="r">
              <a:buNone/>
              <a:defRPr sz="1000">
                <a:solidFill>
                  <a:schemeClr val="lt1"/>
                </a:solidFill>
              </a:defRPr>
            </a:lvl8pPr>
            <a:lvl9pPr lvl="8" algn="r">
              <a:buNone/>
              <a:defRPr sz="10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1019175" y="4806045"/>
            <a:ext cx="66771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it" sz="1100">
                <a:solidFill>
                  <a:schemeClr val="lt1"/>
                </a:solidFill>
              </a:rPr>
              <a:t>© G. Malnati, C. Barberis, 2012-24</a:t>
            </a:r>
            <a:endParaRPr i="1" sz="1100">
              <a:solidFill>
                <a:schemeClr val="lt1"/>
              </a:solidFill>
            </a:endParaRPr>
          </a:p>
        </p:txBody>
      </p:sp>
      <p:sp>
        <p:nvSpPr>
          <p:cNvPr id="10" name="Google Shape;10;p1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Calibri"/>
              <a:buChar char="•"/>
              <a:defRPr sz="2000">
                <a:latin typeface="Calibri"/>
                <a:ea typeface="Calibri"/>
                <a:cs typeface="Calibri"/>
                <a:sym typeface="Calibri"/>
              </a:defRPr>
            </a:lvl1pPr>
            <a:lvl2pPr indent="-330200" lvl="1" marL="91440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Font typeface="Calibri"/>
              <a:buChar char="○"/>
              <a:defRPr sz="1600"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•"/>
              <a:defRPr sz="1200"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•"/>
              <a:defRPr sz="1200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54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11" Type="http://schemas.openxmlformats.org/officeDocument/2006/relationships/image" Target="../media/image22.png"/><Relationship Id="rId10" Type="http://schemas.openxmlformats.org/officeDocument/2006/relationships/image" Target="../media/image10.jpg"/><Relationship Id="rId9" Type="http://schemas.openxmlformats.org/officeDocument/2006/relationships/image" Target="../media/image11.png"/><Relationship Id="rId5" Type="http://schemas.openxmlformats.org/officeDocument/2006/relationships/image" Target="../media/image6.png"/><Relationship Id="rId6" Type="http://schemas.openxmlformats.org/officeDocument/2006/relationships/image" Target="../media/image8.png"/><Relationship Id="rId7" Type="http://schemas.openxmlformats.org/officeDocument/2006/relationships/image" Target="../media/image2.png"/><Relationship Id="rId8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5.png"/><Relationship Id="rId4" Type="http://schemas.openxmlformats.org/officeDocument/2006/relationships/image" Target="../media/image14.png"/><Relationship Id="rId5" Type="http://schemas.openxmlformats.org/officeDocument/2006/relationships/image" Target="../media/image6.png"/><Relationship Id="rId6" Type="http://schemas.openxmlformats.org/officeDocument/2006/relationships/image" Target="../media/image21.png"/><Relationship Id="rId7" Type="http://schemas.openxmlformats.org/officeDocument/2006/relationships/image" Target="../media/image8.png"/><Relationship Id="rId8" Type="http://schemas.openxmlformats.org/officeDocument/2006/relationships/image" Target="../media/image2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type="ctrTitle"/>
          </p:nvPr>
        </p:nvSpPr>
        <p:spPr>
          <a:xfrm>
            <a:off x="311708" y="1125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Introduction to Android </a:t>
            </a:r>
            <a:endParaRPr/>
          </a:p>
        </p:txBody>
      </p:sp>
      <p:sp>
        <p:nvSpPr>
          <p:cNvPr id="39" name="Google Shape;39;p8"/>
          <p:cNvSpPr txBox="1"/>
          <p:nvPr>
            <p:ph idx="1" type="subTitle"/>
          </p:nvPr>
        </p:nvSpPr>
        <p:spPr>
          <a:xfrm>
            <a:off x="311700" y="3215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/>
          <a:p>
            <a:pPr indent="0" lvl="0" marL="2743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it"/>
              <a:t>2023-24</a:t>
            </a:r>
            <a:endParaRPr/>
          </a:p>
        </p:txBody>
      </p:sp>
      <p:pic>
        <p:nvPicPr>
          <p:cNvPr id="40" name="Google Shape;4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72831" y="467386"/>
            <a:ext cx="2598338" cy="19449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47" name="Google Shape;47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Summary</a:t>
            </a:r>
            <a:endParaRPr/>
          </a:p>
        </p:txBody>
      </p:sp>
      <p:sp>
        <p:nvSpPr>
          <p:cNvPr id="48" name="Google Shape;48;p9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69875" lvl="0" marL="2698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Android background</a:t>
            </a:r>
            <a:endParaRPr/>
          </a:p>
          <a:p>
            <a:pPr indent="-269875" lvl="0" marL="26987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Android architecture</a:t>
            </a:r>
            <a:endParaRPr/>
          </a:p>
          <a:p>
            <a:pPr indent="-269875" lvl="0" marL="26987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Android applications</a:t>
            </a:r>
            <a:endParaRPr/>
          </a:p>
          <a:p>
            <a:pPr indent="-269875" lvl="0" marL="26987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Application lifecycle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54" name="Google Shape;54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The Android Platform</a:t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Android is an open source and comprehensive platform for mobile handsets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It includes the best features of previous mobile platforms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Development Tools are free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Android applications are (mostly) written in the Kotlin or in the Java programming language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Alternatively, a C++ API is available, as well as support for Rust application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There is no distinction between native and third-party applications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All the applications use the same Software Development Kit (SDK)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All the applications can access the underlying hardware</a:t>
            </a:r>
            <a:endParaRPr/>
          </a:p>
        </p:txBody>
      </p:sp>
      <p:pic>
        <p:nvPicPr>
          <p:cNvPr id="56" name="Google Shape;5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91350" y="150019"/>
            <a:ext cx="1216819" cy="9108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grpSp>
        <p:nvGrpSpPr>
          <p:cNvPr id="63" name="Google Shape;63;p11"/>
          <p:cNvGrpSpPr/>
          <p:nvPr/>
        </p:nvGrpSpPr>
        <p:grpSpPr>
          <a:xfrm>
            <a:off x="1620838" y="2498293"/>
            <a:ext cx="6556425" cy="2109660"/>
            <a:chOff x="1620838" y="3492371"/>
            <a:chExt cx="6556425" cy="2812880"/>
          </a:xfrm>
        </p:grpSpPr>
        <p:sp>
          <p:nvSpPr>
            <p:cNvPr id="64" name="Google Shape;64;p11"/>
            <p:cNvSpPr/>
            <p:nvPr/>
          </p:nvSpPr>
          <p:spPr>
            <a:xfrm>
              <a:off x="4105275" y="4387702"/>
              <a:ext cx="1585609" cy="1099226"/>
            </a:xfrm>
            <a:custGeom>
              <a:rect b="b" l="l" r="r" t="t"/>
              <a:pathLst>
                <a:path extrusionOk="0" h="1099226" w="1585609">
                  <a:moveTo>
                    <a:pt x="2" y="419866"/>
                  </a:moveTo>
                  <a:lnTo>
                    <a:pt x="595764" y="409949"/>
                  </a:lnTo>
                  <a:lnTo>
                    <a:pt x="792805" y="0"/>
                  </a:lnTo>
                  <a:lnTo>
                    <a:pt x="989845" y="409949"/>
                  </a:lnTo>
                  <a:lnTo>
                    <a:pt x="1585607" y="419866"/>
                  </a:lnTo>
                  <a:lnTo>
                    <a:pt x="1111622" y="683145"/>
                  </a:lnTo>
                  <a:lnTo>
                    <a:pt x="1282785" y="1099222"/>
                  </a:lnTo>
                  <a:lnTo>
                    <a:pt x="792805" y="851990"/>
                  </a:lnTo>
                  <a:lnTo>
                    <a:pt x="302824" y="1099222"/>
                  </a:lnTo>
                  <a:lnTo>
                    <a:pt x="473987" y="683145"/>
                  </a:lnTo>
                  <a:close/>
                </a:path>
              </a:pathLst>
            </a:custGeom>
            <a:gradFill>
              <a:gsLst>
                <a:gs pos="0">
                  <a:srgbClr val="CFFFFF"/>
                </a:gs>
                <a:gs pos="35000">
                  <a:srgbClr val="DDFEFF"/>
                </a:gs>
                <a:gs pos="100000">
                  <a:srgbClr val="F0FFFF"/>
                </a:gs>
              </a:gsLst>
              <a:lin ang="16200038" scaled="0"/>
            </a:gradFill>
            <a:ln cap="flat" cmpd="sng" w="38100">
              <a:solidFill>
                <a:srgbClr val="0066FF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rotWithShape="0" dir="5400000" dist="20000">
                <a:srgbClr val="000000">
                  <a:alpha val="37650"/>
                </a:srgbClr>
              </a:outerShdw>
            </a:effectLst>
          </p:spPr>
          <p:txBody>
            <a:bodyPr anchorCtr="0" anchor="ctr" bIns="44450" lIns="90475" spcFirstLastPara="1" rIns="90475" wrap="square" tIns="444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it" sz="1600" u="none" cap="none" strike="noStrike">
                  <a:solidFill>
                    <a:schemeClr val="dk1"/>
                  </a:solidFill>
                </a:rPr>
                <a:t>OHA</a:t>
              </a:r>
              <a:endParaRPr b="1"/>
            </a:p>
          </p:txBody>
        </p:sp>
        <p:sp>
          <p:nvSpPr>
            <p:cNvPr id="65" name="Google Shape;65;p11"/>
            <p:cNvSpPr/>
            <p:nvPr/>
          </p:nvSpPr>
          <p:spPr>
            <a:xfrm>
              <a:off x="3968750" y="3492371"/>
              <a:ext cx="2268600" cy="3714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ACACE1"/>
                </a:gs>
                <a:gs pos="35000">
                  <a:srgbClr val="C5C5E9"/>
                </a:gs>
                <a:gs pos="100000">
                  <a:srgbClr val="E9E9F7"/>
                </a:gs>
              </a:gsLst>
              <a:lin ang="16200038" scaled="0"/>
            </a:gradFill>
            <a:ln cap="flat" cmpd="sng" w="9525">
              <a:solidFill>
                <a:srgbClr val="292989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63500" rotWithShape="0" dir="5400000" dist="20000">
                <a:srgbClr val="000000">
                  <a:alpha val="37650"/>
                </a:srgbClr>
              </a:outerShdw>
            </a:effectLst>
          </p:spPr>
          <p:txBody>
            <a:bodyPr anchorCtr="0" anchor="ctr" bIns="44450" lIns="90475" spcFirstLastPara="1" rIns="90475" wrap="square" tIns="444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it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Handset Manifacturers</a:t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6" name="Google Shape;66;p11"/>
            <p:cNvCxnSpPr/>
            <p:nvPr/>
          </p:nvCxnSpPr>
          <p:spPr>
            <a:xfrm rot="5400000">
              <a:off x="4704626" y="4193260"/>
              <a:ext cx="387300" cy="1500"/>
            </a:xfrm>
            <a:prstGeom prst="straightConnector1">
              <a:avLst/>
            </a:prstGeom>
            <a:noFill/>
            <a:ln cap="flat" cmpd="sng" w="28575">
              <a:solidFill>
                <a:srgbClr val="00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7" name="Google Shape;67;p11"/>
            <p:cNvSpPr/>
            <p:nvPr/>
          </p:nvSpPr>
          <p:spPr>
            <a:xfrm>
              <a:off x="1620838" y="4298804"/>
              <a:ext cx="1860600" cy="3714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ACACE1"/>
                </a:gs>
                <a:gs pos="35000">
                  <a:srgbClr val="C5C5E9"/>
                </a:gs>
                <a:gs pos="100000">
                  <a:srgbClr val="E9E9F7"/>
                </a:gs>
              </a:gsLst>
              <a:lin ang="16200038" scaled="0"/>
            </a:gradFill>
            <a:ln cap="flat" cmpd="sng" w="9525">
              <a:solidFill>
                <a:srgbClr val="292989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63500" rotWithShape="0" dir="5400000" dist="20000">
                <a:srgbClr val="000000">
                  <a:alpha val="37650"/>
                </a:srgbClr>
              </a:outerShdw>
            </a:effectLst>
          </p:spPr>
          <p:txBody>
            <a:bodyPr anchorCtr="0" anchor="ctr" bIns="44450" lIns="90475" spcFirstLastPara="1" rIns="90475" wrap="square" tIns="444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it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Mobile operators</a:t>
              </a:r>
              <a:endParaRPr/>
            </a:p>
          </p:txBody>
        </p:sp>
        <p:cxnSp>
          <p:nvCxnSpPr>
            <p:cNvPr id="68" name="Google Shape;68;p11"/>
            <p:cNvCxnSpPr/>
            <p:nvPr/>
          </p:nvCxnSpPr>
          <p:spPr>
            <a:xfrm>
              <a:off x="3481388" y="4484538"/>
              <a:ext cx="624000" cy="322200"/>
            </a:xfrm>
            <a:prstGeom prst="straightConnector1">
              <a:avLst/>
            </a:prstGeom>
            <a:noFill/>
            <a:ln cap="flat" cmpd="sng" w="28575">
              <a:solidFill>
                <a:srgbClr val="00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9" name="Google Shape;69;p11"/>
            <p:cNvSpPr/>
            <p:nvPr/>
          </p:nvSpPr>
          <p:spPr>
            <a:xfrm>
              <a:off x="6316663" y="4162282"/>
              <a:ext cx="1860600" cy="6444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ACACE1"/>
                </a:gs>
                <a:gs pos="35000">
                  <a:srgbClr val="C5C5E9"/>
                </a:gs>
                <a:gs pos="100000">
                  <a:srgbClr val="E9E9F7"/>
                </a:gs>
              </a:gsLst>
              <a:lin ang="16200038" scaled="0"/>
            </a:gradFill>
            <a:ln cap="flat" cmpd="sng" w="9525">
              <a:solidFill>
                <a:srgbClr val="292989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63500" rotWithShape="0" dir="5400000" dist="20000">
                <a:srgbClr val="000000">
                  <a:alpha val="37650"/>
                </a:srgbClr>
              </a:outerShdw>
            </a:effectLst>
          </p:spPr>
          <p:txBody>
            <a:bodyPr anchorCtr="0" anchor="ctr" bIns="44450" lIns="90475" spcFirstLastPara="1" rIns="90475" wrap="square" tIns="444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it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Semiconductors Companies</a:t>
              </a:r>
              <a:endParaRPr/>
            </a:p>
          </p:txBody>
        </p:sp>
        <p:cxnSp>
          <p:nvCxnSpPr>
            <p:cNvPr id="70" name="Google Shape;70;p11"/>
            <p:cNvCxnSpPr/>
            <p:nvPr/>
          </p:nvCxnSpPr>
          <p:spPr>
            <a:xfrm flipH="1">
              <a:off x="5691163" y="4484538"/>
              <a:ext cx="625500" cy="322200"/>
            </a:xfrm>
            <a:prstGeom prst="straightConnector1">
              <a:avLst/>
            </a:prstGeom>
            <a:noFill/>
            <a:ln cap="flat" cmpd="sng" w="28575">
              <a:solidFill>
                <a:srgbClr val="00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1" name="Google Shape;71;p11"/>
            <p:cNvSpPr/>
            <p:nvPr/>
          </p:nvSpPr>
          <p:spPr>
            <a:xfrm>
              <a:off x="1857375" y="5660851"/>
              <a:ext cx="2070000" cy="6444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ACACE1"/>
                </a:gs>
                <a:gs pos="35000">
                  <a:srgbClr val="C5C5E9"/>
                </a:gs>
                <a:gs pos="100000">
                  <a:srgbClr val="E9E9F7"/>
                </a:gs>
              </a:gsLst>
              <a:lin ang="16200038" scaled="0"/>
            </a:gradFill>
            <a:ln cap="flat" cmpd="sng" w="9525">
              <a:solidFill>
                <a:srgbClr val="292989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63500" rotWithShape="0" dir="5400000" dist="20000">
                <a:srgbClr val="000000">
                  <a:alpha val="37650"/>
                </a:srgbClr>
              </a:outerShdw>
            </a:effectLst>
          </p:spPr>
          <p:txBody>
            <a:bodyPr anchorCtr="0" anchor="ctr" bIns="44450" lIns="90475" spcFirstLastPara="1" rIns="90475" wrap="square" tIns="444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it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Software Companies</a:t>
              </a:r>
              <a:endParaRPr/>
            </a:p>
          </p:txBody>
        </p:sp>
        <p:cxnSp>
          <p:nvCxnSpPr>
            <p:cNvPr id="72" name="Google Shape;72;p11"/>
            <p:cNvCxnSpPr/>
            <p:nvPr/>
          </p:nvCxnSpPr>
          <p:spPr>
            <a:xfrm flipH="1" rot="10800000">
              <a:off x="3927475" y="5486307"/>
              <a:ext cx="480900" cy="496800"/>
            </a:xfrm>
            <a:prstGeom prst="straightConnector1">
              <a:avLst/>
            </a:prstGeom>
            <a:noFill/>
            <a:ln cap="flat" cmpd="sng" w="28575">
              <a:solidFill>
                <a:srgbClr val="00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3" name="Google Shape;73;p11"/>
            <p:cNvSpPr/>
            <p:nvPr/>
          </p:nvSpPr>
          <p:spPr>
            <a:xfrm>
              <a:off x="5829300" y="5660851"/>
              <a:ext cx="2320800" cy="6444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ACACE1"/>
                </a:gs>
                <a:gs pos="35000">
                  <a:srgbClr val="C5C5E9"/>
                </a:gs>
                <a:gs pos="100000">
                  <a:srgbClr val="E9E9F7"/>
                </a:gs>
              </a:gsLst>
              <a:lin ang="16200038" scaled="0"/>
            </a:gradFill>
            <a:ln cap="flat" cmpd="sng" w="9525">
              <a:solidFill>
                <a:srgbClr val="292989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63500" rotWithShape="0" dir="5400000" dist="20000">
                <a:srgbClr val="000000">
                  <a:alpha val="37650"/>
                </a:srgbClr>
              </a:outerShdw>
            </a:effectLst>
          </p:spPr>
          <p:txBody>
            <a:bodyPr anchorCtr="0" anchor="ctr" bIns="44450" lIns="90475" spcFirstLastPara="1" rIns="90475" wrap="square" tIns="444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it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Commercialization Companies</a:t>
              </a:r>
              <a:endParaRPr/>
            </a:p>
          </p:txBody>
        </p:sp>
        <p:cxnSp>
          <p:nvCxnSpPr>
            <p:cNvPr id="74" name="Google Shape;74;p11"/>
            <p:cNvCxnSpPr/>
            <p:nvPr/>
          </p:nvCxnSpPr>
          <p:spPr>
            <a:xfrm rot="10800000">
              <a:off x="5388000" y="5486307"/>
              <a:ext cx="441300" cy="496800"/>
            </a:xfrm>
            <a:prstGeom prst="straightConnector1">
              <a:avLst/>
            </a:prstGeom>
            <a:noFill/>
            <a:ln cap="flat" cmpd="sng" w="28575">
              <a:solidFill>
                <a:srgbClr val="0066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75" name="Google Shape;75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Open Handset Alliance (OHA)</a:t>
            </a:r>
            <a:endParaRPr/>
          </a:p>
        </p:txBody>
      </p:sp>
      <p:sp>
        <p:nvSpPr>
          <p:cNvPr id="76" name="Google Shape;76;p11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Born in 2007, it is a group of 84 technology and mobile companies who develop open standards for mobile handsets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Google is the leader</a:t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83" name="Google Shape;83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The Android architecture - 1</a:t>
            </a:r>
            <a:endParaRPr/>
          </a:p>
        </p:txBody>
      </p:sp>
      <p:sp>
        <p:nvSpPr>
          <p:cNvPr id="84" name="Google Shape;84;p12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44475" lvl="0" marL="269875" rtl="0" algn="l"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Android is composed of an operating system and a software platform for creating apps and games</a:t>
            </a:r>
            <a:endParaRPr/>
          </a:p>
          <a:p>
            <a:pPr indent="-212725" lvl="1" marL="541337" rtl="0" algn="l">
              <a:spcBef>
                <a:spcPts val="300"/>
              </a:spcBef>
              <a:spcAft>
                <a:spcPts val="0"/>
              </a:spcAft>
              <a:buSzPts val="1600"/>
              <a:buFont typeface="Calibri"/>
              <a:buChar char="○"/>
            </a:pPr>
            <a:r>
              <a:rPr lang="it"/>
              <a:t>It includes a set of minimal applications (browser, email client) </a:t>
            </a:r>
            <a:endParaRPr/>
          </a:p>
          <a:p>
            <a:pPr indent="-212725" lvl="1" marL="541337" rtl="0" algn="l">
              <a:spcBef>
                <a:spcPts val="300"/>
              </a:spcBef>
              <a:spcAft>
                <a:spcPts val="0"/>
              </a:spcAft>
              <a:buSzPts val="1600"/>
              <a:buFont typeface="Calibri"/>
              <a:buChar char="○"/>
            </a:pPr>
            <a:r>
              <a:rPr lang="it"/>
              <a:t>These basic features can be easily included in other applications</a:t>
            </a:r>
            <a:endParaRPr/>
          </a:p>
          <a:p>
            <a:pPr indent="-244475" lvl="0" marL="269875" rtl="0" algn="l"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Android has been designed to be robust</a:t>
            </a:r>
            <a:endParaRPr/>
          </a:p>
          <a:p>
            <a:pPr indent="-212725" lvl="1" marL="541337" rtl="0" algn="l">
              <a:spcBef>
                <a:spcPts val="300"/>
              </a:spcBef>
              <a:spcAft>
                <a:spcPts val="0"/>
              </a:spcAft>
              <a:buSzPts val="1600"/>
              <a:buFont typeface="Calibri"/>
              <a:buChar char="○"/>
            </a:pPr>
            <a:r>
              <a:rPr lang="it"/>
              <a:t>It is based on the Linux Operating System Kernel</a:t>
            </a:r>
            <a:endParaRPr/>
          </a:p>
          <a:p>
            <a:pPr indent="-212725" lvl="1" marL="541337" rtl="0" algn="l">
              <a:spcBef>
                <a:spcPts val="300"/>
              </a:spcBef>
              <a:spcAft>
                <a:spcPts val="0"/>
              </a:spcAft>
              <a:buSzPts val="1600"/>
              <a:buFont typeface="Calibri"/>
              <a:buChar char="○"/>
            </a:pPr>
            <a:r>
              <a:rPr lang="it"/>
              <a:t>Every Android application runs in its own process, with its own instance of the virtual machine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91" name="Google Shape;91;p13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The Android architecture - 2</a:t>
            </a:r>
            <a:endParaRPr/>
          </a:p>
        </p:txBody>
      </p:sp>
      <p:sp>
        <p:nvSpPr>
          <p:cNvPr id="92" name="Google Shape;92;p13"/>
          <p:cNvSpPr/>
          <p:nvPr/>
        </p:nvSpPr>
        <p:spPr>
          <a:xfrm>
            <a:off x="2547938" y="2547176"/>
            <a:ext cx="1389000" cy="227400"/>
          </a:xfrm>
          <a:prstGeom prst="roundRect">
            <a:avLst>
              <a:gd fmla="val 16667" name="adj"/>
            </a:avLst>
          </a:prstGeom>
          <a:solidFill>
            <a:srgbClr val="ACCCEF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Surface Manager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3"/>
          <p:cNvSpPr/>
          <p:nvPr/>
        </p:nvSpPr>
        <p:spPr>
          <a:xfrm>
            <a:off x="2544763" y="2819829"/>
            <a:ext cx="1397100" cy="227400"/>
          </a:xfrm>
          <a:prstGeom prst="roundRect">
            <a:avLst>
              <a:gd fmla="val 16667" name="adj"/>
            </a:avLst>
          </a:prstGeom>
          <a:solidFill>
            <a:srgbClr val="ACCCEF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OpenGL ES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3"/>
          <p:cNvSpPr/>
          <p:nvPr/>
        </p:nvSpPr>
        <p:spPr>
          <a:xfrm>
            <a:off x="4064000" y="2556701"/>
            <a:ext cx="1404900" cy="227400"/>
          </a:xfrm>
          <a:prstGeom prst="roundRect">
            <a:avLst>
              <a:gd fmla="val 16667" name="adj"/>
            </a:avLst>
          </a:prstGeom>
          <a:solidFill>
            <a:srgbClr val="ACCCEF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Media framework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3"/>
          <p:cNvSpPr/>
          <p:nvPr/>
        </p:nvSpPr>
        <p:spPr>
          <a:xfrm>
            <a:off x="4060825" y="2828163"/>
            <a:ext cx="1397100" cy="228600"/>
          </a:xfrm>
          <a:prstGeom prst="roundRect">
            <a:avLst>
              <a:gd fmla="val 16667" name="adj"/>
            </a:avLst>
          </a:prstGeom>
          <a:solidFill>
            <a:srgbClr val="ACCCEF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WebKit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3"/>
          <p:cNvSpPr/>
          <p:nvPr/>
        </p:nvSpPr>
        <p:spPr>
          <a:xfrm>
            <a:off x="5595938" y="2554319"/>
            <a:ext cx="1404900" cy="227400"/>
          </a:xfrm>
          <a:prstGeom prst="roundRect">
            <a:avLst>
              <a:gd fmla="val 16667" name="adj"/>
            </a:avLst>
          </a:prstGeom>
          <a:solidFill>
            <a:srgbClr val="ACCCEF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SQLite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3"/>
          <p:cNvSpPr/>
          <p:nvPr/>
        </p:nvSpPr>
        <p:spPr>
          <a:xfrm>
            <a:off x="5591175" y="2825782"/>
            <a:ext cx="1398600" cy="227400"/>
          </a:xfrm>
          <a:prstGeom prst="roundRect">
            <a:avLst>
              <a:gd fmla="val 16667" name="adj"/>
            </a:avLst>
          </a:prstGeom>
          <a:solidFill>
            <a:srgbClr val="ACCCEF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SSL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3"/>
          <p:cNvSpPr/>
          <p:nvPr/>
        </p:nvSpPr>
        <p:spPr>
          <a:xfrm>
            <a:off x="7115175" y="2688860"/>
            <a:ext cx="777900" cy="227400"/>
          </a:xfrm>
          <a:prstGeom prst="roundRect">
            <a:avLst>
              <a:gd fmla="val 16667" name="adj"/>
            </a:avLst>
          </a:prstGeom>
          <a:solidFill>
            <a:srgbClr val="ACCCEF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…other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3"/>
          <p:cNvSpPr/>
          <p:nvPr/>
        </p:nvSpPr>
        <p:spPr>
          <a:xfrm>
            <a:off x="1481138" y="3821740"/>
            <a:ext cx="4572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Linux Kernel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3"/>
          <p:cNvSpPr/>
          <p:nvPr/>
        </p:nvSpPr>
        <p:spPr>
          <a:xfrm>
            <a:off x="1561791" y="4447670"/>
            <a:ext cx="6309401" cy="278530"/>
          </a:xfrm>
          <a:prstGeom prst="roundRect">
            <a:avLst>
              <a:gd fmla="val 16667" name="adj"/>
            </a:avLst>
          </a:prstGeom>
          <a:solidFill>
            <a:srgbClr val="B45F06"/>
          </a:solidFill>
          <a:ln cap="flat" cmpd="sng" w="25400">
            <a:solidFill>
              <a:srgbClr val="783F0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Hardware</a:t>
            </a:r>
            <a:endParaRPr/>
          </a:p>
        </p:txBody>
      </p:sp>
      <p:sp>
        <p:nvSpPr>
          <p:cNvPr id="101" name="Google Shape;101;p13"/>
          <p:cNvSpPr/>
          <p:nvPr/>
        </p:nvSpPr>
        <p:spPr>
          <a:xfrm>
            <a:off x="960153" y="2361565"/>
            <a:ext cx="7512663" cy="178121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ACACE1"/>
              </a:gs>
              <a:gs pos="35000">
                <a:srgbClr val="C5C5E9"/>
              </a:gs>
              <a:gs pos="100000">
                <a:srgbClr val="E9E9F7"/>
              </a:gs>
            </a:gsLst>
            <a:lin ang="16200038" scaled="0"/>
          </a:gradFill>
          <a:ln cap="flat" cmpd="sng" w="9525">
            <a:solidFill>
              <a:srgbClr val="292989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3"/>
          <p:cNvSpPr/>
          <p:nvPr/>
        </p:nvSpPr>
        <p:spPr>
          <a:xfrm>
            <a:off x="1130818" y="3165797"/>
            <a:ext cx="7230280" cy="870913"/>
          </a:xfrm>
          <a:prstGeom prst="roundRect">
            <a:avLst>
              <a:gd fmla="val 16667" name="adj"/>
            </a:avLst>
          </a:prstGeom>
          <a:solidFill>
            <a:srgbClr val="D7D2D8"/>
          </a:solidFill>
          <a:ln cap="flat" cmpd="sng" w="9525">
            <a:solidFill>
              <a:srgbClr val="292989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Libraries</a:t>
            </a:r>
            <a:endParaRPr/>
          </a:p>
        </p:txBody>
      </p:sp>
      <p:sp>
        <p:nvSpPr>
          <p:cNvPr id="103" name="Google Shape;103;p13"/>
          <p:cNvSpPr/>
          <p:nvPr/>
        </p:nvSpPr>
        <p:spPr>
          <a:xfrm>
            <a:off x="1130818" y="2504262"/>
            <a:ext cx="7171540" cy="613293"/>
          </a:xfrm>
          <a:prstGeom prst="roundRect">
            <a:avLst>
              <a:gd fmla="val 16667" name="adj"/>
            </a:avLst>
          </a:prstGeom>
          <a:solidFill>
            <a:srgbClr val="75BDFF"/>
          </a:solidFill>
          <a:ln cap="flat" cmpd="sng" w="9525">
            <a:solidFill>
              <a:srgbClr val="292989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Libraries</a:t>
            </a:r>
            <a:endParaRPr sz="2300"/>
          </a:p>
        </p:txBody>
      </p:sp>
      <p:grpSp>
        <p:nvGrpSpPr>
          <p:cNvPr id="104" name="Google Shape;104;p13"/>
          <p:cNvGrpSpPr/>
          <p:nvPr/>
        </p:nvGrpSpPr>
        <p:grpSpPr>
          <a:xfrm>
            <a:off x="1262176" y="838636"/>
            <a:ext cx="6860967" cy="1532402"/>
            <a:chOff x="1331786" y="741091"/>
            <a:chExt cx="6806715" cy="2859967"/>
          </a:xfrm>
        </p:grpSpPr>
        <p:grpSp>
          <p:nvGrpSpPr>
            <p:cNvPr id="105" name="Google Shape;105;p13"/>
            <p:cNvGrpSpPr/>
            <p:nvPr/>
          </p:nvGrpSpPr>
          <p:grpSpPr>
            <a:xfrm>
              <a:off x="1331786" y="741091"/>
              <a:ext cx="1692867" cy="2826666"/>
              <a:chOff x="2008984" y="1308783"/>
              <a:chExt cx="1692867" cy="2826666"/>
            </a:xfrm>
          </p:grpSpPr>
          <p:sp>
            <p:nvSpPr>
              <p:cNvPr id="106" name="Google Shape;106;p13"/>
              <p:cNvSpPr/>
              <p:nvPr/>
            </p:nvSpPr>
            <p:spPr>
              <a:xfrm>
                <a:off x="2008984" y="3327003"/>
                <a:ext cx="1002000" cy="472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4450" lIns="90475" spcFirstLastPara="1" rIns="90475" wrap="square" tIns="4445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it" sz="11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Linux</a:t>
                </a:r>
                <a:endParaRPr/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it" sz="11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User A</a:t>
                </a:r>
                <a:endParaRPr/>
              </a:p>
            </p:txBody>
          </p:sp>
          <p:grpSp>
            <p:nvGrpSpPr>
              <p:cNvPr id="107" name="Google Shape;107;p13"/>
              <p:cNvGrpSpPr/>
              <p:nvPr/>
            </p:nvGrpSpPr>
            <p:grpSpPr>
              <a:xfrm>
                <a:off x="2135251" y="1308783"/>
                <a:ext cx="1566600" cy="2826666"/>
                <a:chOff x="1798971" y="1060901"/>
                <a:chExt cx="1566600" cy="2826666"/>
              </a:xfrm>
            </p:grpSpPr>
            <p:grpSp>
              <p:nvGrpSpPr>
                <p:cNvPr id="108" name="Google Shape;108;p13"/>
                <p:cNvGrpSpPr/>
                <p:nvPr/>
              </p:nvGrpSpPr>
              <p:grpSpPr>
                <a:xfrm>
                  <a:off x="1798971" y="1060901"/>
                  <a:ext cx="1566600" cy="1731000"/>
                  <a:chOff x="1798971" y="1060901"/>
                  <a:chExt cx="1566600" cy="1731000"/>
                </a:xfrm>
              </p:grpSpPr>
              <p:sp>
                <p:nvSpPr>
                  <p:cNvPr id="109" name="Google Shape;109;p13"/>
                  <p:cNvSpPr/>
                  <p:nvPr/>
                </p:nvSpPr>
                <p:spPr>
                  <a:xfrm>
                    <a:off x="1798971" y="1060901"/>
                    <a:ext cx="1566600" cy="1731000"/>
                  </a:xfrm>
                  <a:prstGeom prst="rect">
                    <a:avLst/>
                  </a:prstGeom>
                  <a:gradFill>
                    <a:gsLst>
                      <a:gs pos="0">
                        <a:srgbClr val="85AAAD"/>
                      </a:gs>
                      <a:gs pos="80000">
                        <a:srgbClr val="AFDEE2"/>
                      </a:gs>
                      <a:gs pos="100000">
                        <a:srgbClr val="AFE0E4"/>
                      </a:gs>
                    </a:gsLst>
                    <a:lin ang="16200038" scaled="0"/>
                  </a:gradFill>
                  <a:ln cap="flat" cmpd="sng" w="9525">
                    <a:solidFill>
                      <a:srgbClr val="B6DCD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  <a:effectLst>
                    <a:outerShdw blurRad="63500" rotWithShape="0" dir="5400000" dist="23000">
                      <a:srgbClr val="000000">
                        <a:alpha val="34900"/>
                      </a:srgbClr>
                    </a:outerShdw>
                  </a:effectLst>
                </p:spPr>
                <p:txBody>
                  <a:bodyPr anchorCtr="1" anchor="b" bIns="44450" lIns="90475" spcFirstLastPara="1" rIns="90475" wrap="square" tIns="4445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i="0" lang="it" sz="1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Art/Dalvik </a:t>
                    </a:r>
                    <a:br>
                      <a:rPr b="0" i="0" lang="it" sz="1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</a:br>
                    <a:r>
                      <a:rPr b="0" i="0" lang="it" sz="1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virtual machine</a:t>
                    </a:r>
                    <a:endParaRPr b="0" i="0" sz="1400" u="none" cap="none" strike="noStrike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0" name="Google Shape;110;p13"/>
                  <p:cNvSpPr/>
                  <p:nvPr/>
                </p:nvSpPr>
                <p:spPr>
                  <a:xfrm>
                    <a:off x="1877645" y="1198663"/>
                    <a:ext cx="1380300" cy="603000"/>
                  </a:xfrm>
                  <a:prstGeom prst="roundRect">
                    <a:avLst>
                      <a:gd fmla="val 16667" name="adj"/>
                    </a:avLst>
                  </a:prstGeom>
                  <a:gradFill>
                    <a:gsLst>
                      <a:gs pos="0">
                        <a:srgbClr val="CFFFFF"/>
                      </a:gs>
                      <a:gs pos="35000">
                        <a:srgbClr val="DDFEFF"/>
                      </a:gs>
                      <a:gs pos="100000">
                        <a:srgbClr val="F0FFFF"/>
                      </a:gs>
                    </a:gsLst>
                    <a:lin ang="16200038" scaled="0"/>
                  </a:gradFill>
                  <a:ln cap="flat" cmpd="sng" w="9525">
                    <a:solidFill>
                      <a:srgbClr val="B6DCDF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63500" rotWithShape="0" dir="5400000" dist="20000">
                      <a:srgbClr val="000000">
                        <a:alpha val="37650"/>
                      </a:srgbClr>
                    </a:outerShdw>
                  </a:effectLst>
                </p:spPr>
                <p:txBody>
                  <a:bodyPr anchorCtr="0" anchor="ctr" bIns="7200" lIns="90475" spcFirstLastPara="1" rIns="90475" wrap="square" tIns="72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i="0" lang="it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Android </a:t>
                    </a:r>
                    <a:endParaRPr sz="900"/>
                  </a:p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i="0" lang="it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App A</a:t>
                    </a:r>
                    <a:endParaRPr sz="900"/>
                  </a:p>
                </p:txBody>
              </p:sp>
            </p:grpSp>
            <p:sp>
              <p:nvSpPr>
                <p:cNvPr id="111" name="Google Shape;111;p13"/>
                <p:cNvSpPr/>
                <p:nvPr/>
              </p:nvSpPr>
              <p:spPr>
                <a:xfrm>
                  <a:off x="2455737" y="2743067"/>
                  <a:ext cx="253200" cy="1144500"/>
                </a:xfrm>
                <a:prstGeom prst="upDownArrow">
                  <a:avLst>
                    <a:gd fmla="val 50000" name="adj1"/>
                    <a:gd fmla="val 49996" name="adj2"/>
                  </a:avLst>
                </a:prstGeom>
                <a:gradFill>
                  <a:gsLst>
                    <a:gs pos="0">
                      <a:srgbClr val="14146F"/>
                    </a:gs>
                    <a:gs pos="80000">
                      <a:srgbClr val="1E1E93"/>
                    </a:gs>
                    <a:gs pos="100000">
                      <a:srgbClr val="1C1C96"/>
                    </a:gs>
                  </a:gsLst>
                  <a:lin ang="16200038" scaled="0"/>
                </a:gradFill>
                <a:ln cap="flat" cmpd="sng" w="9525">
                  <a:solidFill>
                    <a:srgbClr val="292989"/>
                  </a:solidFill>
                  <a:prstDash val="solid"/>
                  <a:miter lim="800000"/>
                  <a:headEnd len="sm" w="sm" type="none"/>
                  <a:tailEnd len="sm" w="sm" type="none"/>
                </a:ln>
                <a:effectLst>
                  <a:outerShdw blurRad="63500" rotWithShape="0" dir="5400000" dist="23000">
                    <a:srgbClr val="000000">
                      <a:alpha val="34900"/>
                    </a:srgbClr>
                  </a:outerShdw>
                </a:effectLst>
              </p:spPr>
              <p:txBody>
                <a:bodyPr anchorCtr="0" anchor="ctr" bIns="44450" lIns="90475" spcFirstLastPara="1" rIns="90475" wrap="square" tIns="4445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A5A5A5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12" name="Google Shape;112;p13"/>
            <p:cNvGrpSpPr/>
            <p:nvPr/>
          </p:nvGrpSpPr>
          <p:grpSpPr>
            <a:xfrm>
              <a:off x="3898562" y="787755"/>
              <a:ext cx="1683015" cy="2813300"/>
              <a:chOff x="2018781" y="1307947"/>
              <a:chExt cx="1683015" cy="2813300"/>
            </a:xfrm>
          </p:grpSpPr>
          <p:sp>
            <p:nvSpPr>
              <p:cNvPr id="113" name="Google Shape;113;p13"/>
              <p:cNvSpPr/>
              <p:nvPr/>
            </p:nvSpPr>
            <p:spPr>
              <a:xfrm>
                <a:off x="2018781" y="3279503"/>
                <a:ext cx="1002000" cy="472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4450" lIns="90475" spcFirstLastPara="1" rIns="90475" wrap="square" tIns="4445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it" sz="11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Linux</a:t>
                </a:r>
                <a:endParaRPr/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it" sz="11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User B</a:t>
                </a:r>
                <a:endParaRPr/>
              </a:p>
            </p:txBody>
          </p:sp>
          <p:grpSp>
            <p:nvGrpSpPr>
              <p:cNvPr id="114" name="Google Shape;114;p13"/>
              <p:cNvGrpSpPr/>
              <p:nvPr/>
            </p:nvGrpSpPr>
            <p:grpSpPr>
              <a:xfrm>
                <a:off x="2135196" y="1307947"/>
                <a:ext cx="1566600" cy="2813300"/>
                <a:chOff x="1798916" y="1060065"/>
                <a:chExt cx="1566600" cy="2813300"/>
              </a:xfrm>
            </p:grpSpPr>
            <p:grpSp>
              <p:nvGrpSpPr>
                <p:cNvPr id="115" name="Google Shape;115;p13"/>
                <p:cNvGrpSpPr/>
                <p:nvPr/>
              </p:nvGrpSpPr>
              <p:grpSpPr>
                <a:xfrm>
                  <a:off x="1798916" y="1060065"/>
                  <a:ext cx="1566600" cy="1731000"/>
                  <a:chOff x="1798916" y="1060065"/>
                  <a:chExt cx="1566600" cy="1731000"/>
                </a:xfrm>
              </p:grpSpPr>
              <p:sp>
                <p:nvSpPr>
                  <p:cNvPr id="116" name="Google Shape;116;p13"/>
                  <p:cNvSpPr/>
                  <p:nvPr/>
                </p:nvSpPr>
                <p:spPr>
                  <a:xfrm>
                    <a:off x="1798916" y="1060065"/>
                    <a:ext cx="1566600" cy="1731000"/>
                  </a:xfrm>
                  <a:prstGeom prst="rect">
                    <a:avLst/>
                  </a:prstGeom>
                  <a:gradFill>
                    <a:gsLst>
                      <a:gs pos="0">
                        <a:srgbClr val="85AAAD"/>
                      </a:gs>
                      <a:gs pos="80000">
                        <a:srgbClr val="AFDEE2"/>
                      </a:gs>
                      <a:gs pos="100000">
                        <a:srgbClr val="AFE0E4"/>
                      </a:gs>
                    </a:gsLst>
                    <a:lin ang="16200038" scaled="0"/>
                  </a:gradFill>
                  <a:ln cap="flat" cmpd="sng" w="9525">
                    <a:solidFill>
                      <a:srgbClr val="B6DCD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  <a:effectLst>
                    <a:outerShdw blurRad="63500" rotWithShape="0" dir="5400000" dist="23000">
                      <a:srgbClr val="000000">
                        <a:alpha val="34900"/>
                      </a:srgbClr>
                    </a:outerShdw>
                  </a:effectLst>
                </p:spPr>
                <p:txBody>
                  <a:bodyPr anchorCtr="1" anchor="b" bIns="44450" lIns="90475" spcFirstLastPara="1" rIns="90475" wrap="square" tIns="4445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i="0" lang="it" sz="1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Art/Dalvik </a:t>
                    </a:r>
                    <a:br>
                      <a:rPr b="0" i="0" lang="it" sz="1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</a:br>
                    <a:r>
                      <a:rPr b="0" i="0" lang="it" sz="1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virtual machine</a:t>
                    </a:r>
                    <a:endParaRPr/>
                  </a:p>
                </p:txBody>
              </p:sp>
              <p:sp>
                <p:nvSpPr>
                  <p:cNvPr id="117" name="Google Shape;117;p13"/>
                  <p:cNvSpPr/>
                  <p:nvPr/>
                </p:nvSpPr>
                <p:spPr>
                  <a:xfrm>
                    <a:off x="1877587" y="1183560"/>
                    <a:ext cx="1380300" cy="603000"/>
                  </a:xfrm>
                  <a:prstGeom prst="roundRect">
                    <a:avLst>
                      <a:gd fmla="val 16667" name="adj"/>
                    </a:avLst>
                  </a:prstGeom>
                  <a:gradFill>
                    <a:gsLst>
                      <a:gs pos="0">
                        <a:srgbClr val="CFFFFF"/>
                      </a:gs>
                      <a:gs pos="35000">
                        <a:srgbClr val="DDFEFF"/>
                      </a:gs>
                      <a:gs pos="100000">
                        <a:srgbClr val="F0FFFF"/>
                      </a:gs>
                    </a:gsLst>
                    <a:lin ang="16200038" scaled="0"/>
                  </a:gradFill>
                  <a:ln cap="flat" cmpd="sng" w="9525">
                    <a:solidFill>
                      <a:srgbClr val="B6DCDF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63500" rotWithShape="0" dir="5400000" dist="20000">
                      <a:srgbClr val="000000">
                        <a:alpha val="37650"/>
                      </a:srgbClr>
                    </a:outerShdw>
                  </a:effectLst>
                </p:spPr>
                <p:txBody>
                  <a:bodyPr anchorCtr="0" anchor="ctr" bIns="7200" lIns="90475" spcFirstLastPara="1" rIns="90475" wrap="square" tIns="72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i="0" lang="it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Android </a:t>
                    </a:r>
                    <a:endParaRPr sz="900"/>
                  </a:p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i="0" lang="it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App B</a:t>
                    </a:r>
                    <a:endParaRPr sz="900"/>
                  </a:p>
                </p:txBody>
              </p:sp>
            </p:grpSp>
            <p:sp>
              <p:nvSpPr>
                <p:cNvPr id="118" name="Google Shape;118;p13"/>
                <p:cNvSpPr/>
                <p:nvPr/>
              </p:nvSpPr>
              <p:spPr>
                <a:xfrm>
                  <a:off x="2455679" y="2728865"/>
                  <a:ext cx="253200" cy="1144500"/>
                </a:xfrm>
                <a:prstGeom prst="upDownArrow">
                  <a:avLst>
                    <a:gd fmla="val 50000" name="adj1"/>
                    <a:gd fmla="val 49996" name="adj2"/>
                  </a:avLst>
                </a:prstGeom>
                <a:gradFill>
                  <a:gsLst>
                    <a:gs pos="0">
                      <a:srgbClr val="14146F"/>
                    </a:gs>
                    <a:gs pos="80000">
                      <a:srgbClr val="1E1E93"/>
                    </a:gs>
                    <a:gs pos="100000">
                      <a:srgbClr val="1C1C96"/>
                    </a:gs>
                  </a:gsLst>
                  <a:lin ang="16200038" scaled="0"/>
                </a:gradFill>
                <a:ln cap="flat" cmpd="sng" w="9525">
                  <a:solidFill>
                    <a:srgbClr val="292989"/>
                  </a:solidFill>
                  <a:prstDash val="solid"/>
                  <a:miter lim="800000"/>
                  <a:headEnd len="sm" w="sm" type="none"/>
                  <a:tailEnd len="sm" w="sm" type="none"/>
                </a:ln>
                <a:effectLst>
                  <a:outerShdw blurRad="63500" rotWithShape="0" dir="5400000" dist="23000">
                    <a:srgbClr val="000000">
                      <a:alpha val="34900"/>
                    </a:srgbClr>
                  </a:outerShdw>
                </a:effectLst>
              </p:spPr>
              <p:txBody>
                <a:bodyPr anchorCtr="0" anchor="ctr" bIns="44450" lIns="90475" spcFirstLastPara="1" rIns="90475" wrap="square" tIns="4445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A5A5A5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19" name="Google Shape;119;p13"/>
            <p:cNvGrpSpPr/>
            <p:nvPr/>
          </p:nvGrpSpPr>
          <p:grpSpPr>
            <a:xfrm>
              <a:off x="6476771" y="741091"/>
              <a:ext cx="1661730" cy="2859967"/>
              <a:chOff x="2040012" y="1308783"/>
              <a:chExt cx="1661730" cy="2859967"/>
            </a:xfrm>
          </p:grpSpPr>
          <p:sp>
            <p:nvSpPr>
              <p:cNvPr id="120" name="Google Shape;120;p13"/>
              <p:cNvSpPr/>
              <p:nvPr/>
            </p:nvSpPr>
            <p:spPr>
              <a:xfrm>
                <a:off x="2040012" y="3327003"/>
                <a:ext cx="1002000" cy="472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4450" lIns="90475" spcFirstLastPara="1" rIns="90475" wrap="square" tIns="4445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it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Linux</a:t>
                </a:r>
                <a:endParaRPr/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it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User C</a:t>
                </a:r>
                <a:endParaRPr/>
              </a:p>
            </p:txBody>
          </p:sp>
          <p:grpSp>
            <p:nvGrpSpPr>
              <p:cNvPr id="121" name="Google Shape;121;p13"/>
              <p:cNvGrpSpPr/>
              <p:nvPr/>
            </p:nvGrpSpPr>
            <p:grpSpPr>
              <a:xfrm>
                <a:off x="2135142" y="1308783"/>
                <a:ext cx="1566600" cy="2859967"/>
                <a:chOff x="1798862" y="1060901"/>
                <a:chExt cx="1566600" cy="2859967"/>
              </a:xfrm>
            </p:grpSpPr>
            <p:grpSp>
              <p:nvGrpSpPr>
                <p:cNvPr id="122" name="Google Shape;122;p13"/>
                <p:cNvGrpSpPr/>
                <p:nvPr/>
              </p:nvGrpSpPr>
              <p:grpSpPr>
                <a:xfrm>
                  <a:off x="1798862" y="1060901"/>
                  <a:ext cx="1566600" cy="1731000"/>
                  <a:chOff x="1798862" y="1060901"/>
                  <a:chExt cx="1566600" cy="1731000"/>
                </a:xfrm>
              </p:grpSpPr>
              <p:sp>
                <p:nvSpPr>
                  <p:cNvPr id="123" name="Google Shape;123;p13"/>
                  <p:cNvSpPr/>
                  <p:nvPr/>
                </p:nvSpPr>
                <p:spPr>
                  <a:xfrm>
                    <a:off x="1798862" y="1060901"/>
                    <a:ext cx="1566600" cy="1731000"/>
                  </a:xfrm>
                  <a:prstGeom prst="rect">
                    <a:avLst/>
                  </a:prstGeom>
                  <a:gradFill>
                    <a:gsLst>
                      <a:gs pos="0">
                        <a:srgbClr val="85AAAD"/>
                      </a:gs>
                      <a:gs pos="80000">
                        <a:srgbClr val="AFDEE2"/>
                      </a:gs>
                      <a:gs pos="100000">
                        <a:srgbClr val="AFE0E4"/>
                      </a:gs>
                    </a:gsLst>
                    <a:lin ang="16200038" scaled="0"/>
                  </a:gradFill>
                  <a:ln cap="flat" cmpd="sng" w="9525">
                    <a:solidFill>
                      <a:srgbClr val="B6DCD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  <a:effectLst>
                    <a:outerShdw blurRad="63500" rotWithShape="0" dir="5400000" dist="23000">
                      <a:srgbClr val="000000">
                        <a:alpha val="34900"/>
                      </a:srgbClr>
                    </a:outerShdw>
                  </a:effectLst>
                </p:spPr>
                <p:txBody>
                  <a:bodyPr anchorCtr="1" anchor="b" bIns="44450" lIns="90475" spcFirstLastPara="1" rIns="90475" wrap="square" tIns="4445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i="0" lang="it" sz="1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Art/Dalvik</a:t>
                    </a:r>
                    <a:br>
                      <a:rPr b="0" i="0" lang="it" sz="1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</a:br>
                    <a:r>
                      <a:rPr b="0" i="0" lang="it" sz="1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 virtual machine</a:t>
                    </a:r>
                    <a:endParaRPr/>
                  </a:p>
                </p:txBody>
              </p:sp>
              <p:sp>
                <p:nvSpPr>
                  <p:cNvPr id="124" name="Google Shape;124;p13"/>
                  <p:cNvSpPr/>
                  <p:nvPr/>
                </p:nvSpPr>
                <p:spPr>
                  <a:xfrm>
                    <a:off x="1877528" y="1198668"/>
                    <a:ext cx="1380300" cy="603000"/>
                  </a:xfrm>
                  <a:prstGeom prst="roundRect">
                    <a:avLst>
                      <a:gd fmla="val 16667" name="adj"/>
                    </a:avLst>
                  </a:prstGeom>
                  <a:gradFill>
                    <a:gsLst>
                      <a:gs pos="0">
                        <a:srgbClr val="CFFFFF"/>
                      </a:gs>
                      <a:gs pos="35000">
                        <a:srgbClr val="DDFEFF"/>
                      </a:gs>
                      <a:gs pos="100000">
                        <a:srgbClr val="F0FFFF"/>
                      </a:gs>
                    </a:gsLst>
                    <a:lin ang="16200038" scaled="0"/>
                  </a:gradFill>
                  <a:ln cap="flat" cmpd="sng" w="9525">
                    <a:solidFill>
                      <a:srgbClr val="B6DCDF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63500" rotWithShape="0" dir="5400000" dist="20000">
                      <a:srgbClr val="000000">
                        <a:alpha val="37650"/>
                      </a:srgbClr>
                    </a:outerShdw>
                  </a:effectLst>
                </p:spPr>
                <p:txBody>
                  <a:bodyPr anchorCtr="0" anchor="ctr" bIns="7200" lIns="90475" spcFirstLastPara="1" rIns="90475" wrap="square" tIns="72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i="0" lang="it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Android </a:t>
                    </a:r>
                    <a:endParaRPr sz="900"/>
                  </a:p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i="0" lang="it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App C</a:t>
                    </a:r>
                    <a:endParaRPr sz="900"/>
                  </a:p>
                </p:txBody>
              </p:sp>
            </p:grpSp>
            <p:sp>
              <p:nvSpPr>
                <p:cNvPr id="125" name="Google Shape;125;p13"/>
                <p:cNvSpPr/>
                <p:nvPr/>
              </p:nvSpPr>
              <p:spPr>
                <a:xfrm>
                  <a:off x="2455621" y="2743068"/>
                  <a:ext cx="253200" cy="1177800"/>
                </a:xfrm>
                <a:prstGeom prst="upDownArrow">
                  <a:avLst>
                    <a:gd fmla="val 50000" name="adj1"/>
                    <a:gd fmla="val 49996" name="adj2"/>
                  </a:avLst>
                </a:prstGeom>
                <a:gradFill>
                  <a:gsLst>
                    <a:gs pos="0">
                      <a:srgbClr val="14146F"/>
                    </a:gs>
                    <a:gs pos="80000">
                      <a:srgbClr val="1E1E93"/>
                    </a:gs>
                    <a:gs pos="100000">
                      <a:srgbClr val="1C1C96"/>
                    </a:gs>
                  </a:gsLst>
                  <a:lin ang="16200038" scaled="0"/>
                </a:gradFill>
                <a:ln cap="flat" cmpd="sng" w="9525">
                  <a:solidFill>
                    <a:srgbClr val="292989"/>
                  </a:solidFill>
                  <a:prstDash val="solid"/>
                  <a:miter lim="800000"/>
                  <a:headEnd len="sm" w="sm" type="none"/>
                  <a:tailEnd len="sm" w="sm" type="none"/>
                </a:ln>
                <a:effectLst>
                  <a:outerShdw blurRad="63500" rotWithShape="0" dir="5400000" dist="23000">
                    <a:srgbClr val="000000">
                      <a:alpha val="34900"/>
                    </a:srgbClr>
                  </a:outerShdw>
                </a:effectLst>
              </p:spPr>
              <p:txBody>
                <a:bodyPr anchorCtr="0" anchor="ctr" bIns="44450" lIns="90475" spcFirstLastPara="1" rIns="90475" wrap="square" tIns="4445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A5A5A5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126" name="Google Shape;126;p13"/>
          <p:cNvSpPr/>
          <p:nvPr/>
        </p:nvSpPr>
        <p:spPr>
          <a:xfrm>
            <a:off x="1215290" y="3242217"/>
            <a:ext cx="1194696" cy="598879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FFF"/>
              </a:gs>
              <a:gs pos="35000">
                <a:srgbClr val="FFFFFF"/>
              </a:gs>
              <a:gs pos="100000">
                <a:srgbClr val="FFFFFF"/>
              </a:gs>
            </a:gsLst>
            <a:lin ang="16200038" scaled="0"/>
          </a:gradFill>
          <a:ln cap="flat" cmpd="sng" w="9525">
            <a:solidFill>
              <a:srgbClr val="4F81BD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Memory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Management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3"/>
          <p:cNvSpPr/>
          <p:nvPr/>
        </p:nvSpPr>
        <p:spPr>
          <a:xfrm>
            <a:off x="2488488" y="3242225"/>
            <a:ext cx="1316460" cy="598879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FFF"/>
              </a:gs>
              <a:gs pos="35000">
                <a:srgbClr val="FFFFFF"/>
              </a:gs>
              <a:gs pos="100000">
                <a:srgbClr val="FFFFFF"/>
              </a:gs>
            </a:gsLst>
            <a:lin ang="16200038" scaled="0"/>
          </a:gradFill>
          <a:ln cap="flat" cmpd="sng" w="9525">
            <a:solidFill>
              <a:srgbClr val="4F81BD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</a:t>
            </a:r>
            <a:r>
              <a:rPr lang="it" sz="1100"/>
              <a:t> </a:t>
            </a:r>
            <a:r>
              <a:rPr b="0" i="0" lang="it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Process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Communication</a:t>
            </a:r>
            <a:endParaRPr sz="1100"/>
          </a:p>
        </p:txBody>
      </p:sp>
      <p:sp>
        <p:nvSpPr>
          <p:cNvPr id="128" name="Google Shape;128;p13"/>
          <p:cNvSpPr/>
          <p:nvPr/>
        </p:nvSpPr>
        <p:spPr>
          <a:xfrm>
            <a:off x="3849400" y="3242217"/>
            <a:ext cx="855102" cy="598879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FFF"/>
              </a:gs>
              <a:gs pos="35000">
                <a:srgbClr val="FFFFFF"/>
              </a:gs>
              <a:gs pos="100000">
                <a:srgbClr val="FFFFFF"/>
              </a:gs>
            </a:gsLst>
            <a:lin ang="16200038" scaled="0"/>
          </a:gradFill>
          <a:ln cap="flat" cmpd="sng" w="9525">
            <a:solidFill>
              <a:srgbClr val="4F81BD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 sz="1100"/>
          </a:p>
        </p:txBody>
      </p:sp>
      <p:sp>
        <p:nvSpPr>
          <p:cNvPr id="129" name="Google Shape;129;p13"/>
          <p:cNvSpPr/>
          <p:nvPr/>
        </p:nvSpPr>
        <p:spPr>
          <a:xfrm>
            <a:off x="4794093" y="3252934"/>
            <a:ext cx="879272" cy="598879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FFF"/>
              </a:gs>
              <a:gs pos="35000">
                <a:srgbClr val="FFFFFF"/>
              </a:gs>
              <a:gs pos="100000">
                <a:srgbClr val="FFFFFF"/>
              </a:gs>
            </a:gsLst>
            <a:lin ang="16200038" scaled="0"/>
          </a:gradFill>
          <a:ln cap="flat" cmpd="sng" w="9525">
            <a:solidFill>
              <a:srgbClr val="4F81BD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Display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Keyboard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Touch</a:t>
            </a:r>
            <a:endParaRPr sz="1100"/>
          </a:p>
        </p:txBody>
      </p:sp>
      <p:sp>
        <p:nvSpPr>
          <p:cNvPr id="130" name="Google Shape;130;p13"/>
          <p:cNvSpPr/>
          <p:nvPr/>
        </p:nvSpPr>
        <p:spPr>
          <a:xfrm>
            <a:off x="5783608" y="3242217"/>
            <a:ext cx="813800" cy="598879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FFF"/>
              </a:gs>
              <a:gs pos="35000">
                <a:srgbClr val="FFFFFF"/>
              </a:gs>
              <a:gs pos="100000">
                <a:srgbClr val="FFFFFF"/>
              </a:gs>
            </a:gsLst>
            <a:lin ang="16200038" scaled="0"/>
          </a:gradFill>
          <a:ln cap="flat" cmpd="sng" w="9525">
            <a:solidFill>
              <a:srgbClr val="4F81BD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Power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Supply</a:t>
            </a:r>
            <a:endParaRPr sz="1100"/>
          </a:p>
        </p:txBody>
      </p:sp>
      <p:sp>
        <p:nvSpPr>
          <p:cNvPr id="131" name="Google Shape;131;p13"/>
          <p:cNvSpPr/>
          <p:nvPr/>
        </p:nvSpPr>
        <p:spPr>
          <a:xfrm>
            <a:off x="6683481" y="3242217"/>
            <a:ext cx="1618729" cy="598879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FFF"/>
              </a:gs>
              <a:gs pos="35000">
                <a:srgbClr val="FFFFFF"/>
              </a:gs>
              <a:gs pos="100000">
                <a:srgbClr val="FFFFFF"/>
              </a:gs>
            </a:gsLst>
            <a:lin ang="16200038" scaled="0"/>
          </a:gradFill>
          <a:ln cap="flat" cmpd="sng" w="9525">
            <a:solidFill>
              <a:srgbClr val="4F81BD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Other drivers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Bluetooth, Camera, Audio,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Phone, Flash Memory,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Sensors </a:t>
            </a:r>
            <a:endParaRPr/>
          </a:p>
        </p:txBody>
      </p:sp>
      <p:pic>
        <p:nvPicPr>
          <p:cNvPr id="132" name="Google Shape;132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7750" y="1851206"/>
            <a:ext cx="411525" cy="41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79900" y="1851206"/>
            <a:ext cx="411525" cy="41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05550" y="1851206"/>
            <a:ext cx="411525" cy="41152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3"/>
          <p:cNvSpPr/>
          <p:nvPr/>
        </p:nvSpPr>
        <p:spPr>
          <a:xfrm>
            <a:off x="4587225" y="4042823"/>
            <a:ext cx="258600" cy="393600"/>
          </a:xfrm>
          <a:prstGeom prst="upDown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14146F"/>
              </a:gs>
              <a:gs pos="80000">
                <a:srgbClr val="1E1E93"/>
              </a:gs>
              <a:gs pos="100000">
                <a:srgbClr val="1C1C96"/>
              </a:gs>
            </a:gsLst>
            <a:lin ang="16200038" scaled="0"/>
          </a:gradFill>
          <a:ln cap="flat" cmpd="sng" w="9525">
            <a:solidFill>
              <a:srgbClr val="292989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42" name="Google Shape;14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The Android architecture - 3</a:t>
            </a:r>
            <a:endParaRPr/>
          </a:p>
        </p:txBody>
      </p:sp>
      <p:sp>
        <p:nvSpPr>
          <p:cNvPr id="143" name="Google Shape;143;p14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229870" lvl="0" marL="269875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it" sz="2800"/>
              <a:t>The Linux 5.4 (4.19) kernel acts as an hardware abstraction layer (HAL) between the device physical layer and the Android software stack</a:t>
            </a:r>
            <a:endParaRPr/>
          </a:p>
          <a:p>
            <a:pPr indent="-229870" lvl="0" marL="269875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ct val="100000"/>
              <a:buChar char="•"/>
            </a:pPr>
            <a:r>
              <a:rPr lang="it" sz="2800"/>
              <a:t>The Linux kernel manages</a:t>
            </a:r>
            <a:r>
              <a:rPr lang="it" sz="2800"/>
              <a:t>:</a:t>
            </a:r>
            <a:r>
              <a:rPr lang="it" sz="2800"/>
              <a:t> </a:t>
            </a:r>
            <a:endParaRPr/>
          </a:p>
          <a:p>
            <a:pPr indent="-184943" lvl="1" marL="541337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ct val="75000"/>
              <a:buChar char="○"/>
            </a:pPr>
            <a:r>
              <a:rPr lang="it" sz="2000"/>
              <a:t>Permissions and security</a:t>
            </a:r>
            <a:endParaRPr/>
          </a:p>
          <a:p>
            <a:pPr indent="-184943" lvl="1" marL="541337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ct val="75000"/>
              <a:buChar char="○"/>
            </a:pPr>
            <a:r>
              <a:rPr lang="it" sz="2000"/>
              <a:t>Low level memory</a:t>
            </a:r>
            <a:endParaRPr/>
          </a:p>
          <a:p>
            <a:pPr indent="-184943" lvl="1" marL="541337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ct val="75000"/>
              <a:buChar char="○"/>
            </a:pPr>
            <a:r>
              <a:rPr lang="it" sz="2000"/>
              <a:t>Processes and threads</a:t>
            </a:r>
            <a:endParaRPr/>
          </a:p>
          <a:p>
            <a:pPr indent="-184943" lvl="1" marL="541337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ct val="75000"/>
              <a:buChar char="○"/>
            </a:pPr>
            <a:r>
              <a:rPr lang="it" sz="2000"/>
              <a:t>Network Layer</a:t>
            </a:r>
            <a:endParaRPr/>
          </a:p>
          <a:p>
            <a:pPr indent="-184943" lvl="1" marL="541337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ct val="75000"/>
              <a:buChar char="○"/>
            </a:pPr>
            <a:r>
              <a:rPr lang="it" sz="2000"/>
              <a:t>Display, keyboard, camera, flash memory, audio files</a:t>
            </a:r>
            <a:endParaRPr/>
          </a:p>
          <a:p>
            <a:pPr indent="-229870" lvl="0" marL="269875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ct val="100000"/>
              <a:buChar char="•"/>
            </a:pPr>
            <a:r>
              <a:rPr lang="it" sz="2800"/>
              <a:t>Every Android application runs in its own process, with its own instance of the ART (Dalvik) virtual machine</a:t>
            </a:r>
            <a:endParaRPr sz="2800"/>
          </a:p>
          <a:p>
            <a:pPr indent="-184943" lvl="1" marL="541337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ct val="75000"/>
              <a:buChar char="○"/>
            </a:pPr>
            <a:r>
              <a:rPr lang="it" sz="2000"/>
              <a:t>Conceptually similar to Java virtual machines…</a:t>
            </a:r>
            <a:endParaRPr/>
          </a:p>
          <a:p>
            <a:pPr indent="-184943" lvl="1" marL="541337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ct val="75000"/>
              <a:buChar char="○"/>
            </a:pPr>
            <a:r>
              <a:rPr lang="it" sz="2000"/>
              <a:t>…but optimized to run on mobile devices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5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50" name="Google Shape;15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Security</a:t>
            </a:r>
            <a:endParaRPr/>
          </a:p>
        </p:txBody>
      </p:sp>
      <p:sp>
        <p:nvSpPr>
          <p:cNvPr id="151" name="Google Shape;151;p15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7175" lvl="0" marL="269875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Every application runs with its own user</a:t>
            </a:r>
            <a:endParaRPr sz="1800"/>
          </a:p>
          <a:p>
            <a:pPr indent="-212725" lvl="1" marL="541337" rtl="0" algn="l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Calibri"/>
              <a:buChar char="○"/>
            </a:pPr>
            <a:r>
              <a:rPr lang="it"/>
              <a:t>Once the application is installed, the operating system creates a new user profile associated with it</a:t>
            </a:r>
            <a:endParaRPr/>
          </a:p>
          <a:p>
            <a:pPr indent="-212725" lvl="1" marL="541337" rtl="0" algn="l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Calibri"/>
              <a:buChar char="○"/>
            </a:pPr>
            <a:r>
              <a:rPr lang="it"/>
              <a:t>File system permissions ensure that one user cannot alter or read another user's files</a:t>
            </a:r>
            <a:endParaRPr/>
          </a:p>
          <a:p>
            <a:pPr indent="-257175" lvl="0" marL="269875" rtl="0" algn="l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Every application must declare which shared resources will use</a:t>
            </a:r>
            <a:endParaRPr sz="1800"/>
          </a:p>
          <a:p>
            <a:pPr indent="-180975" lvl="1" marL="541337" rtl="0" algn="l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SzPts val="1100"/>
              <a:buFont typeface="Calibri"/>
              <a:buChar char="○"/>
            </a:pPr>
            <a:r>
              <a:rPr lang="it"/>
              <a:t>For example, making phone calls, using the camera or other sensors</a:t>
            </a:r>
            <a:endParaRPr sz="1200"/>
          </a:p>
          <a:p>
            <a:pPr indent="-180975" lvl="1" marL="541337" rtl="0" algn="l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SzPts val="1100"/>
              <a:buFont typeface="Calibri"/>
              <a:buChar char="○"/>
            </a:pPr>
            <a:r>
              <a:rPr lang="it"/>
              <a:t>Android will block applications which try to use not declared resources</a:t>
            </a:r>
            <a:endParaRPr sz="1200"/>
          </a:p>
          <a:p>
            <a:pPr indent="-257175" lvl="0" marL="269875" rtl="0" algn="l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Every application also requires the permission to access the user’s private data</a:t>
            </a:r>
            <a:endParaRPr sz="1800"/>
          </a:p>
          <a:p>
            <a:pPr indent="-180975" lvl="1" marL="541337" rtl="0" algn="l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SzPts val="1100"/>
              <a:buFont typeface="Calibri"/>
              <a:buChar char="○"/>
            </a:pPr>
            <a:r>
              <a:rPr lang="it"/>
              <a:t>Such as preferences, user location, user contacts, …</a:t>
            </a:r>
            <a:endParaRPr sz="1200"/>
          </a:p>
          <a:p>
            <a:pPr indent="-180975" lvl="1" marL="541337" rtl="0" algn="l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SzPts val="1100"/>
              <a:buFont typeface="Calibri"/>
              <a:buChar char="○"/>
            </a:pPr>
            <a:r>
              <a:rPr lang="it"/>
              <a:t>If the permission is not granted, the installation fails	</a:t>
            </a:r>
            <a:endParaRPr sz="1200"/>
          </a:p>
        </p:txBody>
      </p:sp>
      <p:pic>
        <p:nvPicPr>
          <p:cNvPr id="152" name="Google Shape;15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50700" y="233775"/>
            <a:ext cx="961200" cy="96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6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59" name="Google Shape;15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4000"/>
              <a:t>Android Applications Development</a:t>
            </a:r>
            <a:endParaRPr/>
          </a:p>
        </p:txBody>
      </p:sp>
      <p:sp>
        <p:nvSpPr>
          <p:cNvPr id="160" name="Google Shape;160;p16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The Android SDK exposes a set of APIs, which allows the access the underlying hardware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○"/>
            </a:pPr>
            <a:r>
              <a:rPr lang="it"/>
              <a:t>No distinction between “native applications” and “third-party applications”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○"/>
            </a:pPr>
            <a:r>
              <a:rPr lang="it"/>
              <a:t>Every application, if equipped with the appropriate permissions can use them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Android includes a set of minimal applications such as a browser, and an email client 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○"/>
            </a:pPr>
            <a:r>
              <a:rPr lang="it"/>
              <a:t>Third-party provided applications can integrate, extend or even replace them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The main programming languages are Java and Kotlin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○"/>
            </a:pPr>
            <a:r>
              <a:rPr lang="it"/>
              <a:t>But it is possible to develop applications using C++ and Rust, as well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7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67" name="Google Shape;16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Application Structure (1)</a:t>
            </a:r>
            <a:endParaRPr/>
          </a:p>
        </p:txBody>
      </p:sp>
      <p:sp>
        <p:nvSpPr>
          <p:cNvPr id="168" name="Google Shape;168;p17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69875" lvl="0" marL="2698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Conceptually, an application consists of a set of data and code designed to perform a given set of tasks</a:t>
            </a:r>
            <a:endParaRPr/>
          </a:p>
          <a:p>
            <a:pPr indent="0" lvl="0" marL="54133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69875" lvl="0" marL="2698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Such information is: </a:t>
            </a:r>
            <a:endParaRPr/>
          </a:p>
          <a:p>
            <a:pPr indent="-21272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Calibri"/>
              <a:buChar char="○"/>
            </a:pPr>
            <a:r>
              <a:rPr lang="it"/>
              <a:t>stored in a private space inside the file system </a:t>
            </a:r>
            <a:endParaRPr/>
          </a:p>
          <a:p>
            <a:pPr indent="-212725" lvl="1" marL="54133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○"/>
            </a:pPr>
            <a:r>
              <a:rPr lang="it"/>
              <a:t>executed in the user context that was created during the installation of the application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8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75" name="Google Shape;17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Application Structure (2)</a:t>
            </a:r>
            <a:endParaRPr/>
          </a:p>
        </p:txBody>
      </p:sp>
      <p:sp>
        <p:nvSpPr>
          <p:cNvPr id="176" name="Google Shape;176;p18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69875" lvl="0" marL="2698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Android applications do not have a single entry point, as it happens in other operating systems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Font typeface="Calibri"/>
              <a:buChar char="○"/>
            </a:pPr>
            <a:r>
              <a:rPr lang="it"/>
              <a:t>Each application consists of one or more components, activated by the operating system, at its own will 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Font typeface="Calibri"/>
              <a:buChar char="○"/>
            </a:pPr>
            <a:r>
              <a:rPr lang="it"/>
              <a:t>The components of the same application are distributed in a single software "package" (apk - Android Package) and are described in a manifest file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9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83" name="Google Shape;18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Android Components (1)</a:t>
            </a:r>
            <a:endParaRPr/>
          </a:p>
        </p:txBody>
      </p:sp>
      <p:sp>
        <p:nvSpPr>
          <p:cNvPr id="184" name="Google Shape;184;p19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69875" lvl="0" marL="2698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Each application consists of one or more of the following components: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Font typeface="Calibri"/>
              <a:buChar char="○"/>
            </a:pPr>
            <a:r>
              <a:rPr lang="it"/>
              <a:t>Activity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Font typeface="Calibri"/>
              <a:buChar char="○"/>
            </a:pPr>
            <a:r>
              <a:rPr lang="it"/>
              <a:t>Service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Font typeface="Calibri"/>
              <a:buChar char="○"/>
            </a:pPr>
            <a:r>
              <a:rPr lang="it"/>
              <a:t>ContentProvider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Font typeface="Calibri"/>
              <a:buChar char="○"/>
            </a:pPr>
            <a:r>
              <a:rPr lang="it"/>
              <a:t>BroadcastReceiver</a:t>
            </a:r>
            <a:endParaRPr/>
          </a:p>
          <a:p>
            <a:pPr indent="-269875" lvl="0" marL="26987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Each kind of component takes care of a specific interaction with the operating system and/or the user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Font typeface="Calibri"/>
              <a:buChar char="○"/>
            </a:pPr>
            <a:r>
              <a:rPr lang="it"/>
              <a:t>Component creation, operation, and destruction follow a well defined, OS enforced, life-cycle, according to its kind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0"/>
          <p:cNvSpPr txBox="1"/>
          <p:nvPr>
            <p:ph idx="12" type="sldNum"/>
          </p:nvPr>
        </p:nvSpPr>
        <p:spPr>
          <a:xfrm>
            <a:off x="8472458" y="3576379"/>
            <a:ext cx="5487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grpSp>
        <p:nvGrpSpPr>
          <p:cNvPr id="191" name="Google Shape;191;p20"/>
          <p:cNvGrpSpPr/>
          <p:nvPr/>
        </p:nvGrpSpPr>
        <p:grpSpPr>
          <a:xfrm>
            <a:off x="1970977" y="820866"/>
            <a:ext cx="5486804" cy="3214675"/>
            <a:chOff x="1996085" y="1413761"/>
            <a:chExt cx="5808600" cy="4642800"/>
          </a:xfrm>
        </p:grpSpPr>
        <p:sp>
          <p:nvSpPr>
            <p:cNvPr id="192" name="Google Shape;192;p20"/>
            <p:cNvSpPr/>
            <p:nvPr/>
          </p:nvSpPr>
          <p:spPr>
            <a:xfrm>
              <a:off x="4075104" y="2555583"/>
              <a:ext cx="776466" cy="555444"/>
            </a:xfrm>
            <a:prstGeom prst="flowChartDocument">
              <a:avLst/>
            </a:prstGeom>
            <a:solidFill>
              <a:schemeClr val="lt1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0000">
                  <a:alpha val="42750"/>
                </a:srgbClr>
              </a:outerShdw>
            </a:effectLst>
          </p:spPr>
          <p:txBody>
            <a:bodyPr anchorCtr="0" anchor="ctr" bIns="44450" lIns="90475" spcFirstLastPara="1" rIns="90475" wrap="square" tIns="444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it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File</a:t>
              </a:r>
              <a:endParaRPr/>
            </a:p>
          </p:txBody>
        </p:sp>
        <p:sp>
          <p:nvSpPr>
            <p:cNvPr id="193" name="Google Shape;193;p20"/>
            <p:cNvSpPr/>
            <p:nvPr/>
          </p:nvSpPr>
          <p:spPr>
            <a:xfrm>
              <a:off x="3922160" y="2694872"/>
              <a:ext cx="776466" cy="555444"/>
            </a:xfrm>
            <a:prstGeom prst="flowChartDocument">
              <a:avLst/>
            </a:prstGeom>
            <a:solidFill>
              <a:schemeClr val="lt1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0000">
                  <a:alpha val="42750"/>
                </a:srgbClr>
              </a:outerShdw>
            </a:effectLst>
          </p:spPr>
          <p:txBody>
            <a:bodyPr anchorCtr="0" anchor="ctr" bIns="44450" lIns="90475" spcFirstLastPara="1" rIns="90475" wrap="square" tIns="444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it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File</a:t>
              </a:r>
              <a:endParaRPr/>
            </a:p>
          </p:txBody>
        </p:sp>
        <p:sp>
          <p:nvSpPr>
            <p:cNvPr id="194" name="Google Shape;194;p20"/>
            <p:cNvSpPr/>
            <p:nvPr/>
          </p:nvSpPr>
          <p:spPr>
            <a:xfrm>
              <a:off x="3770898" y="2822123"/>
              <a:ext cx="776466" cy="555444"/>
            </a:xfrm>
            <a:prstGeom prst="flowChartDocument">
              <a:avLst/>
            </a:prstGeom>
            <a:solidFill>
              <a:schemeClr val="lt1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0000">
                  <a:alpha val="42750"/>
                </a:srgbClr>
              </a:outerShdw>
            </a:effectLst>
          </p:spPr>
          <p:txBody>
            <a:bodyPr anchorCtr="0" anchor="ctr" bIns="44450" lIns="90475" spcFirstLastPara="1" rIns="90475" wrap="square" tIns="444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it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Files</a:t>
              </a:r>
              <a:endParaRPr/>
            </a:p>
          </p:txBody>
        </p:sp>
        <p:sp>
          <p:nvSpPr>
            <p:cNvPr id="195" name="Google Shape;195;p20"/>
            <p:cNvSpPr/>
            <p:nvPr/>
          </p:nvSpPr>
          <p:spPr>
            <a:xfrm>
              <a:off x="4749062" y="3131653"/>
              <a:ext cx="1122704" cy="722237"/>
            </a:xfrm>
            <a:prstGeom prst="flowChartMagneticDisk">
              <a:avLst/>
            </a:prstGeom>
            <a:solidFill>
              <a:srgbClr val="FFFFFF"/>
            </a:solidFill>
            <a:ln cap="flat" cmpd="sng" w="28575">
              <a:solidFill>
                <a:srgbClr val="53548A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0000">
                  <a:alpha val="42750"/>
                </a:srgbClr>
              </a:outerShdw>
            </a:effectLst>
          </p:spPr>
          <p:txBody>
            <a:bodyPr anchorCtr="0" anchor="ctr" bIns="44450" lIns="90475" spcFirstLastPara="1" rIns="90475" wrap="square" tIns="444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it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Database</a:t>
              </a:r>
              <a:endParaRPr/>
            </a:p>
          </p:txBody>
        </p:sp>
        <p:sp>
          <p:nvSpPr>
            <p:cNvPr id="196" name="Google Shape;196;p20"/>
            <p:cNvSpPr/>
            <p:nvPr/>
          </p:nvSpPr>
          <p:spPr>
            <a:xfrm>
              <a:off x="4152416" y="4073999"/>
              <a:ext cx="1016700" cy="447000"/>
            </a:xfrm>
            <a:prstGeom prst="rect">
              <a:avLst/>
            </a:prstGeom>
            <a:solidFill>
              <a:srgbClr val="FFFFFF"/>
            </a:solidFill>
            <a:ln cap="flat" cmpd="sng" w="28575">
              <a:solidFill>
                <a:srgbClr val="53548A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0000">
                  <a:alpha val="42750"/>
                </a:srgbClr>
              </a:outerShdw>
            </a:effectLst>
          </p:spPr>
          <p:txBody>
            <a:bodyPr anchorCtr="0" anchor="ctr" bIns="44450" lIns="90475" spcFirstLastPara="1" rIns="90475" wrap="square" tIns="444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it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Classi</a:t>
              </a:r>
              <a:endParaRPr/>
            </a:p>
          </p:txBody>
        </p:sp>
        <p:sp>
          <p:nvSpPr>
            <p:cNvPr id="197" name="Google Shape;197;p20"/>
            <p:cNvSpPr/>
            <p:nvPr/>
          </p:nvSpPr>
          <p:spPr>
            <a:xfrm>
              <a:off x="4305358" y="4225325"/>
              <a:ext cx="1015200" cy="448800"/>
            </a:xfrm>
            <a:prstGeom prst="rect">
              <a:avLst/>
            </a:prstGeom>
            <a:solidFill>
              <a:srgbClr val="FFFFFF"/>
            </a:solidFill>
            <a:ln cap="flat" cmpd="sng" w="28575">
              <a:solidFill>
                <a:srgbClr val="53548A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0000">
                  <a:alpha val="42750"/>
                </a:srgbClr>
              </a:outerShdw>
            </a:effectLst>
          </p:spPr>
          <p:txBody>
            <a:bodyPr anchorCtr="0" anchor="ctr" bIns="44450" lIns="90475" spcFirstLastPara="1" rIns="90475" wrap="square" tIns="444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it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Classi</a:t>
              </a:r>
              <a:endParaRPr/>
            </a:p>
          </p:txBody>
        </p:sp>
        <p:sp>
          <p:nvSpPr>
            <p:cNvPr id="198" name="Google Shape;198;p20"/>
            <p:cNvSpPr/>
            <p:nvPr/>
          </p:nvSpPr>
          <p:spPr>
            <a:xfrm>
              <a:off x="4458302" y="4378370"/>
              <a:ext cx="1015200" cy="447000"/>
            </a:xfrm>
            <a:prstGeom prst="rect">
              <a:avLst/>
            </a:prstGeom>
            <a:solidFill>
              <a:srgbClr val="FFFFFF"/>
            </a:solidFill>
            <a:ln cap="flat" cmpd="sng" w="28575">
              <a:solidFill>
                <a:srgbClr val="53548A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0000">
                  <a:alpha val="42750"/>
                </a:srgbClr>
              </a:outerShdw>
            </a:effectLst>
          </p:spPr>
          <p:txBody>
            <a:bodyPr anchorCtr="0" anchor="ctr" bIns="44450" lIns="90475" spcFirstLastPara="1" rIns="90475" wrap="square" tIns="444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it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Classi</a:t>
              </a:r>
              <a:endParaRPr/>
            </a:p>
          </p:txBody>
        </p:sp>
        <p:sp>
          <p:nvSpPr>
            <p:cNvPr id="199" name="Google Shape;199;p20"/>
            <p:cNvSpPr/>
            <p:nvPr/>
          </p:nvSpPr>
          <p:spPr>
            <a:xfrm>
              <a:off x="4609564" y="4531416"/>
              <a:ext cx="1016700" cy="447000"/>
            </a:xfrm>
            <a:prstGeom prst="rect">
              <a:avLst/>
            </a:prstGeom>
            <a:solidFill>
              <a:srgbClr val="FFFFFF"/>
            </a:solidFill>
            <a:ln cap="flat" cmpd="sng" w="28575">
              <a:solidFill>
                <a:srgbClr val="53548A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0000">
                  <a:alpha val="42750"/>
                </a:srgbClr>
              </a:outerShdw>
            </a:effectLst>
          </p:spPr>
          <p:txBody>
            <a:bodyPr anchorCtr="0" anchor="ctr" bIns="44450" lIns="90475" spcFirstLastPara="1" rIns="90475" wrap="square" tIns="444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it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Classes</a:t>
              </a:r>
              <a:endParaRPr/>
            </a:p>
          </p:txBody>
        </p:sp>
        <p:sp>
          <p:nvSpPr>
            <p:cNvPr id="200" name="Google Shape;200;p20"/>
            <p:cNvSpPr/>
            <p:nvPr/>
          </p:nvSpPr>
          <p:spPr>
            <a:xfrm>
              <a:off x="3350724" y="1640750"/>
              <a:ext cx="2793300" cy="5004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25400">
              <a:solidFill>
                <a:srgbClr val="364A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4450" lIns="90475" spcFirstLastPara="1" rIns="90475" wrap="square" tIns="444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it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Service</a:t>
              </a:r>
              <a:endParaRPr/>
            </a:p>
          </p:txBody>
        </p:sp>
        <p:sp>
          <p:nvSpPr>
            <p:cNvPr id="201" name="Google Shape;201;p20"/>
            <p:cNvSpPr/>
            <p:nvPr/>
          </p:nvSpPr>
          <p:spPr>
            <a:xfrm>
              <a:off x="3402826" y="5184868"/>
              <a:ext cx="2795100" cy="4986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25400">
              <a:solidFill>
                <a:srgbClr val="364A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4450" lIns="90475" spcFirstLastPara="1" rIns="90475" wrap="square" tIns="444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it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BroadcastReceiver</a:t>
              </a:r>
              <a:endParaRPr/>
            </a:p>
          </p:txBody>
        </p:sp>
        <p:sp>
          <p:nvSpPr>
            <p:cNvPr id="202" name="Google Shape;202;p20"/>
            <p:cNvSpPr/>
            <p:nvPr/>
          </p:nvSpPr>
          <p:spPr>
            <a:xfrm>
              <a:off x="6039834" y="3018158"/>
              <a:ext cx="1231800" cy="12741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25400">
              <a:solidFill>
                <a:srgbClr val="364A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4450" lIns="90475" spcFirstLastPara="1" rIns="90475" wrap="square" tIns="444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it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Content</a:t>
              </a:r>
              <a:br>
                <a:rPr b="0" i="0" lang="it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it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Provider</a:t>
              </a:r>
              <a:endParaRPr/>
            </a:p>
          </p:txBody>
        </p:sp>
        <p:sp>
          <p:nvSpPr>
            <p:cNvPr id="203" name="Google Shape;203;p20"/>
            <p:cNvSpPr/>
            <p:nvPr/>
          </p:nvSpPr>
          <p:spPr>
            <a:xfrm>
              <a:off x="2244828" y="3018158"/>
              <a:ext cx="1231800" cy="12741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25400">
              <a:solidFill>
                <a:srgbClr val="364A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4450" lIns="90475" spcFirstLastPara="1" rIns="90475" wrap="square" tIns="444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it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Activity</a:t>
              </a:r>
              <a:endParaRPr/>
            </a:p>
          </p:txBody>
        </p:sp>
        <p:sp>
          <p:nvSpPr>
            <p:cNvPr id="204" name="Google Shape;204;p20"/>
            <p:cNvSpPr/>
            <p:nvPr/>
          </p:nvSpPr>
          <p:spPr>
            <a:xfrm>
              <a:off x="1996085" y="1413761"/>
              <a:ext cx="5808600" cy="46428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AEB0C1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4450" lIns="90475" spcFirstLastPara="1" rIns="90475" wrap="square" tIns="444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20"/>
            <p:cNvSpPr/>
            <p:nvPr/>
          </p:nvSpPr>
          <p:spPr>
            <a:xfrm>
              <a:off x="2406174" y="3183241"/>
              <a:ext cx="1231800" cy="12741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25400">
              <a:solidFill>
                <a:srgbClr val="364A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4450" lIns="90475" spcFirstLastPara="1" rIns="90475" wrap="square" tIns="444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it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Activity</a:t>
              </a:r>
              <a:endParaRPr/>
            </a:p>
          </p:txBody>
        </p:sp>
        <p:sp>
          <p:nvSpPr>
            <p:cNvPr id="206" name="Google Shape;206;p20"/>
            <p:cNvSpPr/>
            <p:nvPr/>
          </p:nvSpPr>
          <p:spPr>
            <a:xfrm>
              <a:off x="3512071" y="1805832"/>
              <a:ext cx="2793300" cy="5004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25400">
              <a:solidFill>
                <a:srgbClr val="364A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4450" lIns="90475" spcFirstLastPara="1" rIns="90475" wrap="square" tIns="444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it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Service</a:t>
              </a:r>
              <a:endParaRPr/>
            </a:p>
          </p:txBody>
        </p:sp>
        <p:sp>
          <p:nvSpPr>
            <p:cNvPr id="207" name="Google Shape;207;p20"/>
            <p:cNvSpPr/>
            <p:nvPr/>
          </p:nvSpPr>
          <p:spPr>
            <a:xfrm>
              <a:off x="6201181" y="3183241"/>
              <a:ext cx="1231800" cy="12741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25400">
              <a:solidFill>
                <a:srgbClr val="364A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4450" lIns="90475" spcFirstLastPara="1" rIns="90475" wrap="square" tIns="444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it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Content</a:t>
              </a:r>
              <a:br>
                <a:rPr b="0" i="0" lang="it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it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Provider</a:t>
              </a:r>
              <a:endParaRPr/>
            </a:p>
          </p:txBody>
        </p:sp>
        <p:sp>
          <p:nvSpPr>
            <p:cNvPr id="208" name="Google Shape;208;p20"/>
            <p:cNvSpPr/>
            <p:nvPr/>
          </p:nvSpPr>
          <p:spPr>
            <a:xfrm>
              <a:off x="3564173" y="5349951"/>
              <a:ext cx="2795100" cy="4986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25400">
              <a:solidFill>
                <a:srgbClr val="364A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4450" lIns="90475" spcFirstLastPara="1" rIns="90475" wrap="square" tIns="444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it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BroadcastReceiver</a:t>
              </a:r>
              <a:endParaRPr/>
            </a:p>
          </p:txBody>
        </p:sp>
      </p:grpSp>
      <p:pic>
        <p:nvPicPr>
          <p:cNvPr id="209" name="Google Shape;20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143790" y="1512912"/>
            <a:ext cx="1042988" cy="1400175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/>
          <p:nvPr/>
        </p:nvSpPr>
        <p:spPr>
          <a:xfrm>
            <a:off x="5641178" y="606526"/>
            <a:ext cx="1185900" cy="252600"/>
          </a:xfrm>
          <a:prstGeom prst="rect">
            <a:avLst/>
          </a:prstGeom>
          <a:solidFill>
            <a:schemeClr val="accent4"/>
          </a:solidFill>
          <a:ln cap="flat" cmpd="sng" w="25400">
            <a:solidFill>
              <a:srgbClr val="5C68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Application</a:t>
            </a:r>
            <a:endParaRPr/>
          </a:p>
        </p:txBody>
      </p:sp>
      <p:sp>
        <p:nvSpPr>
          <p:cNvPr id="211" name="Google Shape;211;p20"/>
          <p:cNvSpPr/>
          <p:nvPr/>
        </p:nvSpPr>
        <p:spPr>
          <a:xfrm>
            <a:off x="751678" y="4496298"/>
            <a:ext cx="7188300" cy="251400"/>
          </a:xfrm>
          <a:prstGeom prst="rect">
            <a:avLst/>
          </a:prstGeom>
          <a:solidFill>
            <a:schemeClr val="accent4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Operating System</a:t>
            </a:r>
            <a:endParaRPr/>
          </a:p>
        </p:txBody>
      </p:sp>
      <p:sp>
        <p:nvSpPr>
          <p:cNvPr id="212" name="Google Shape;212;p20"/>
          <p:cNvSpPr/>
          <p:nvPr/>
        </p:nvSpPr>
        <p:spPr>
          <a:xfrm rot="-5498677">
            <a:off x="4516989" y="3683052"/>
            <a:ext cx="571988" cy="1047927"/>
          </a:xfrm>
          <a:prstGeom prst="lightningBolt">
            <a:avLst/>
          </a:prstGeom>
          <a:solidFill>
            <a:srgbClr val="83BCC1"/>
          </a:solidFill>
          <a:ln cap="flat" cmpd="sng" w="19050">
            <a:solidFill>
              <a:srgbClr val="22404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606015" y="2871095"/>
            <a:ext cx="1364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interactions</a:t>
            </a: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4946603" y="4081270"/>
            <a:ext cx="1725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System Events</a:t>
            </a:r>
            <a:endParaRPr/>
          </a:p>
        </p:txBody>
      </p:sp>
      <p:sp>
        <p:nvSpPr>
          <p:cNvPr id="215" name="Google Shape;215;p20"/>
          <p:cNvSpPr/>
          <p:nvPr/>
        </p:nvSpPr>
        <p:spPr>
          <a:xfrm>
            <a:off x="7863678" y="623195"/>
            <a:ext cx="733890" cy="3314737"/>
          </a:xfrm>
          <a:custGeom>
            <a:rect b="b" l="l" r="r" t="t"/>
            <a:pathLst>
              <a:path extrusionOk="0" h="4419649" w="762483">
                <a:moveTo>
                  <a:pt x="762483" y="49"/>
                </a:moveTo>
                <a:cubicBezTo>
                  <a:pt x="434399" y="-4185"/>
                  <a:pt x="144416" y="270982"/>
                  <a:pt x="89383" y="863649"/>
                </a:cubicBezTo>
                <a:cubicBezTo>
                  <a:pt x="34350" y="1456316"/>
                  <a:pt x="-58784" y="2963382"/>
                  <a:pt x="51283" y="3556049"/>
                </a:cubicBezTo>
                <a:cubicBezTo>
                  <a:pt x="161350" y="4148716"/>
                  <a:pt x="368783" y="4402716"/>
                  <a:pt x="749783" y="4419649"/>
                </a:cubicBezTo>
              </a:path>
            </a:pathLst>
          </a:custGeom>
          <a:noFill/>
          <a:ln cap="flat" cmpd="sng" w="25400">
            <a:solidFill>
              <a:srgbClr val="AEB0C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0"/>
          <p:cNvSpPr/>
          <p:nvPr/>
        </p:nvSpPr>
        <p:spPr>
          <a:xfrm rot="-5400000">
            <a:off x="7613498" y="2002850"/>
            <a:ext cx="1376400" cy="526800"/>
          </a:xfrm>
          <a:prstGeom prst="rect">
            <a:avLst/>
          </a:prstGeom>
          <a:solidFill>
            <a:schemeClr val="accent4"/>
          </a:solidFill>
          <a:ln cap="flat" cmpd="sng" w="25400">
            <a:solidFill>
              <a:srgbClr val="5C68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Other applications</a:t>
            </a:r>
            <a:endParaRPr/>
          </a:p>
        </p:txBody>
      </p:sp>
      <p:sp>
        <p:nvSpPr>
          <p:cNvPr id="217" name="Google Shape;217;p20"/>
          <p:cNvSpPr/>
          <p:nvPr/>
        </p:nvSpPr>
        <p:spPr>
          <a:xfrm>
            <a:off x="7038178" y="2278163"/>
            <a:ext cx="901800" cy="252600"/>
          </a:xfrm>
          <a:prstGeom prst="curvedRight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9FC3E3"/>
          </a:solidFill>
          <a:ln cap="flat" cmpd="sng" w="12700">
            <a:solidFill>
              <a:srgbClr val="224F7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>
            <a:off x="7141591" y="2928245"/>
            <a:ext cx="1069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requests</a:t>
            </a:r>
            <a:endParaRPr/>
          </a:p>
        </p:txBody>
      </p:sp>
      <p:grpSp>
        <p:nvGrpSpPr>
          <p:cNvPr id="219" name="Google Shape;219;p20"/>
          <p:cNvGrpSpPr/>
          <p:nvPr/>
        </p:nvGrpSpPr>
        <p:grpSpPr>
          <a:xfrm>
            <a:off x="3611441" y="32452"/>
            <a:ext cx="1632530" cy="611391"/>
            <a:chOff x="4286081" y="1200760"/>
            <a:chExt cx="1293400" cy="693344"/>
          </a:xfrm>
        </p:grpSpPr>
        <p:pic>
          <p:nvPicPr>
            <p:cNvPr id="220" name="Google Shape;220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rot="10800000">
              <a:off x="4286081" y="1240872"/>
              <a:ext cx="1293400" cy="65323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1" name="Google Shape;221;p20"/>
            <p:cNvSpPr txBox="1"/>
            <p:nvPr/>
          </p:nvSpPr>
          <p:spPr>
            <a:xfrm>
              <a:off x="4458073" y="1200760"/>
              <a:ext cx="1030800" cy="41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it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Network</a:t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2" name="Google Shape;222;p20"/>
          <p:cNvSpPr/>
          <p:nvPr/>
        </p:nvSpPr>
        <p:spPr>
          <a:xfrm>
            <a:off x="4299750" y="384473"/>
            <a:ext cx="563700" cy="695700"/>
          </a:xfrm>
          <a:prstGeom prst="upDownArrow">
            <a:avLst>
              <a:gd fmla="val 50000" name="adj1"/>
              <a:gd fmla="val 50000" name="adj2"/>
            </a:avLst>
          </a:prstGeom>
          <a:solidFill>
            <a:srgbClr val="83BCC1"/>
          </a:solidFill>
          <a:ln cap="flat" cmpd="sng" w="12700">
            <a:solidFill>
              <a:srgbClr val="22404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0"/>
          <p:cNvSpPr txBox="1"/>
          <p:nvPr/>
        </p:nvSpPr>
        <p:spPr>
          <a:xfrm>
            <a:off x="3010691" y="508895"/>
            <a:ext cx="1158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Requests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1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29" name="Google Shape;22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Activities</a:t>
            </a:r>
            <a:endParaRPr/>
          </a:p>
        </p:txBody>
      </p:sp>
      <p:sp>
        <p:nvSpPr>
          <p:cNvPr id="230" name="Google Shape;230;p21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69875" lvl="0" marL="2698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An Activity is a software component that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Font typeface="Calibri"/>
              <a:buChar char="○"/>
            </a:pPr>
            <a:r>
              <a:rPr lang="it"/>
              <a:t>Has a Graphical User Interface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Font typeface="Calibri"/>
              <a:buChar char="○"/>
            </a:pPr>
            <a:r>
              <a:rPr lang="it"/>
              <a:t>Can perform a task inside the application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Font typeface="Calibri"/>
              <a:buChar char="○"/>
            </a:pPr>
            <a:r>
              <a:rPr lang="it"/>
              <a:t>Extends the class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android.app.Activity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69875" lvl="0" marL="26987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An application is composed of one or more activities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Font typeface="Calibri"/>
              <a:buChar char="○"/>
            </a:pPr>
            <a:r>
              <a:rPr lang="it"/>
              <a:t>For example an email client application could be composed of the following Activities</a:t>
            </a:r>
            <a:endParaRPr/>
          </a:p>
          <a:p>
            <a:pPr indent="-228600" lvl="2" marL="715962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</a:pPr>
            <a:r>
              <a:rPr lang="it"/>
              <a:t>One listing unread inbox messages</a:t>
            </a:r>
            <a:endParaRPr/>
          </a:p>
          <a:p>
            <a:pPr indent="-228600" lvl="2" marL="71596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it"/>
              <a:t>One for composing a new message</a:t>
            </a:r>
            <a:endParaRPr/>
          </a:p>
          <a:p>
            <a:pPr indent="-228600" lvl="2" marL="71596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it"/>
              <a:t>One for reading a message</a:t>
            </a:r>
            <a:endParaRPr/>
          </a:p>
          <a:p>
            <a:pPr indent="-212725" lvl="1" marL="54133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○"/>
            </a:pPr>
            <a:r>
              <a:rPr lang="it"/>
              <a:t>Modern applications tend to have few activities (in some cases just one) which may host many “Fragments” or a single surface upon which the GUI is drawn using a declarative approach</a:t>
            </a:r>
            <a:endParaRPr/>
          </a:p>
        </p:txBody>
      </p:sp>
      <p:pic>
        <p:nvPicPr>
          <p:cNvPr id="231" name="Google Shape;23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39000" y="0"/>
            <a:ext cx="1428750" cy="142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2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37" name="Google Shape;23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Service</a:t>
            </a:r>
            <a:endParaRPr/>
          </a:p>
        </p:txBody>
      </p:sp>
      <p:sp>
        <p:nvSpPr>
          <p:cNvPr id="238" name="Google Shape;238;p22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69875" lvl="0" marL="2698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A service is a component that can run in the background 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Font typeface="Calibri"/>
              <a:buChar char="○"/>
            </a:pPr>
            <a:r>
              <a:rPr lang="it"/>
              <a:t>It does not provide a user interface</a:t>
            </a:r>
            <a:endParaRPr/>
          </a:p>
          <a:p>
            <a:pPr indent="-269875" lvl="0" marL="26987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Usually services are used to perform long tasks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Font typeface="Calibri"/>
              <a:buChar char="○"/>
            </a:pPr>
            <a:r>
              <a:rPr lang="it"/>
              <a:t>A service could play music while the user is using another application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Font typeface="Calibri"/>
              <a:buChar char="○"/>
            </a:pPr>
            <a:r>
              <a:rPr lang="it"/>
              <a:t>A service could gather network data without blocking the user interaction with another activity</a:t>
            </a:r>
            <a:endParaRPr/>
          </a:p>
          <a:p>
            <a:pPr indent="-269875" lvl="0" marL="26987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A service is a subclass of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android.app.Service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39" name="Google Shape;23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39000" y="0"/>
            <a:ext cx="1428750" cy="142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3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45" name="Google Shape;24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Content Provider</a:t>
            </a:r>
            <a:endParaRPr/>
          </a:p>
        </p:txBody>
      </p:sp>
      <p:sp>
        <p:nvSpPr>
          <p:cNvPr id="246" name="Google Shape;246;p23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69875" lvl="0" marL="2698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A content provider manages application data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Font typeface="Calibri"/>
              <a:buChar char="○"/>
            </a:pPr>
            <a:r>
              <a:rPr lang="it"/>
              <a:t>Data can be stored in the file system, in a database, on the web, …</a:t>
            </a:r>
            <a:endParaRPr/>
          </a:p>
          <a:p>
            <a:pPr indent="-269875" lvl="0" marL="26987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It implements a set of standard methods that allow other applications to fetch and to store data handled by the current application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Font typeface="Calibri"/>
              <a:buChar char="○"/>
            </a:pPr>
            <a:r>
              <a:rPr lang="it"/>
              <a:t>Other applications do not call its method directly, but they interact via a content resolver </a:t>
            </a:r>
            <a:endParaRPr/>
          </a:p>
          <a:p>
            <a:pPr indent="-269875" lvl="0" marL="26987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A Content Provider is a subclass of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android.content.ContentProvider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47" name="Google Shape;24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39000" y="0"/>
            <a:ext cx="1428750" cy="142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4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1200"/>
              <a:buFont typeface="Gill Sans"/>
              <a:buNone/>
            </a:pPr>
            <a:fld id="{00000000-1234-1234-1234-123412341234}" type="slidenum">
              <a:rPr b="0" i="0" lang="it" sz="1200" u="none" cap="none" strike="noStrike">
                <a:solidFill>
                  <a:srgbClr val="A3A3A3"/>
                </a:solidFill>
                <a:latin typeface="Gill Sans"/>
                <a:ea typeface="Gill Sans"/>
                <a:cs typeface="Gill Sans"/>
                <a:sym typeface="Gill Sans"/>
              </a:rPr>
              <a:t>‹#›</a:t>
            </a:fld>
            <a:endParaRPr b="0" i="0" sz="1200" u="none" cap="none" strike="noStrike">
              <a:solidFill>
                <a:srgbClr val="A3A3A3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3" name="Google Shape;25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Broadcast Receiver</a:t>
            </a:r>
            <a:endParaRPr/>
          </a:p>
        </p:txBody>
      </p:sp>
      <p:sp>
        <p:nvSpPr>
          <p:cNvPr id="254" name="Google Shape;254;p24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69875" lvl="0" marL="2698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A Broadcast Receiver is a component which “waits” for messages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Font typeface="Calibri"/>
              <a:buChar char="○"/>
            </a:pPr>
            <a:r>
              <a:rPr lang="it"/>
              <a:t>Some messages are created by the Operating System</a:t>
            </a:r>
            <a:endParaRPr/>
          </a:p>
          <a:p>
            <a:pPr indent="-228600" lvl="2" marL="715962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</a:pPr>
            <a:r>
              <a:rPr lang="it"/>
              <a:t>For example, whenever the display is turned off, when the battery is low …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○"/>
            </a:pPr>
            <a:r>
              <a:rPr lang="it"/>
              <a:t>Applications can produce messages, too</a:t>
            </a:r>
            <a:endParaRPr/>
          </a:p>
          <a:p>
            <a:pPr indent="-228600" lvl="2" marL="715962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</a:pPr>
            <a:r>
              <a:rPr lang="it"/>
              <a:t>For example, when a data transfer is completed</a:t>
            </a:r>
            <a:endParaRPr/>
          </a:p>
          <a:p>
            <a:pPr indent="-269875" lvl="0" marL="2698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A broadcast receiver does not have a Graphical User Interface, but it can generate notifications in the status bar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Font typeface="Calibri"/>
              <a:buChar char="○"/>
            </a:pPr>
            <a:r>
              <a:rPr lang="it"/>
              <a:t>To notify the user that a particular message is detected</a:t>
            </a:r>
            <a:endParaRPr/>
          </a:p>
          <a:p>
            <a:pPr indent="-269875" lvl="0" marL="26987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A Broadcast Receiver is a subclass of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android.content.BroadcastReceiver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55" name="Google Shape;25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39000" y="0"/>
            <a:ext cx="1428750" cy="142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5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1200"/>
              <a:buFont typeface="Gill Sans"/>
              <a:buNone/>
            </a:pPr>
            <a:fld id="{00000000-1234-1234-1234-123412341234}" type="slidenum">
              <a:rPr b="0" i="0" lang="it" sz="1200" u="none" cap="none" strike="noStrike">
                <a:solidFill>
                  <a:srgbClr val="A3A3A3"/>
                </a:solidFill>
                <a:latin typeface="Gill Sans"/>
                <a:ea typeface="Gill Sans"/>
                <a:cs typeface="Gill Sans"/>
                <a:sym typeface="Gill Sans"/>
              </a:rPr>
              <a:t>‹#›</a:t>
            </a:fld>
            <a:endParaRPr b="0" i="0" sz="1200" u="none" cap="none" strike="noStrike">
              <a:solidFill>
                <a:srgbClr val="A3A3A3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61" name="Google Shape;261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Application Lifecycle 1/3</a:t>
            </a:r>
            <a:endParaRPr/>
          </a:p>
        </p:txBody>
      </p:sp>
      <p:sp>
        <p:nvSpPr>
          <p:cNvPr id="262" name="Google Shape;262;p25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69875" lvl="0" marL="2698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The functionality provided by an application are defined by its </a:t>
            </a:r>
            <a:r>
              <a:rPr b="1" lang="it">
                <a:solidFill>
                  <a:srgbClr val="0B5394"/>
                </a:solidFill>
              </a:rPr>
              <a:t>manifest file</a:t>
            </a:r>
            <a:endParaRPr>
              <a:solidFill>
                <a:srgbClr val="0B5394"/>
              </a:solidFill>
            </a:endParaRPr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Font typeface="Calibri"/>
              <a:buChar char="○"/>
            </a:pPr>
            <a:r>
              <a:rPr lang="it"/>
              <a:t>It is an XML document that “signs a sort of contract” between the application and the execution environment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Font typeface="Calibri"/>
              <a:buChar char="○"/>
            </a:pPr>
            <a:r>
              <a:rPr lang="it"/>
              <a:t>It lists all the single components that compose the application, the requested permissions and their configurations information</a:t>
            </a:r>
            <a:endParaRPr/>
          </a:p>
          <a:p>
            <a:pPr indent="0" lvl="1" marL="40322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Font typeface="Verdana"/>
              <a:buNone/>
            </a:pPr>
            <a:r>
              <a:t/>
            </a:r>
            <a:endParaRPr/>
          </a:p>
          <a:p>
            <a:pPr indent="-269875" lvl="0" marL="26987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When an external event occurs, based on its type and on the components declared in the manifest file, Android creates a new process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Font typeface="Calibri"/>
              <a:buChar char="○"/>
            </a:pPr>
            <a:r>
              <a:rPr lang="it"/>
              <a:t>Its owner is the one that was created when the application was installed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6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68" name="Google Shape;268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Application Lifecycle 2/3</a:t>
            </a:r>
            <a:endParaRPr/>
          </a:p>
        </p:txBody>
      </p:sp>
      <p:sp>
        <p:nvSpPr>
          <p:cNvPr id="269" name="Google Shape;269;p26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269875" lvl="0" marL="2698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For each application in execution,  Android instantiates in its process a single object of class android.app.Application 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Font typeface="Calibri"/>
              <a:buChar char="○"/>
            </a:pPr>
            <a:r>
              <a:rPr lang="it"/>
              <a:t>It is possible to specify a subclass of it in the manifest file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Font typeface="Calibri"/>
              <a:buChar char="○"/>
            </a:pPr>
            <a:r>
              <a:rPr lang="it"/>
              <a:t>This object can be used to store global information shared by all the app components</a:t>
            </a:r>
            <a:endParaRPr/>
          </a:p>
          <a:p>
            <a:pPr indent="-11112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  <a:p>
            <a:pPr indent="-269875" lvl="0" marL="26987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Android notifies the application object with the evolving status of the ongoing elaboration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Font typeface="Calibri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fun onCreate(...)</a:t>
            </a:r>
            <a:r>
              <a:rPr lang="it"/>
              <a:t> 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Font typeface="Calibri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fun onConfigurationChanged(…)</a:t>
            </a:r>
            <a:r>
              <a:rPr lang="it"/>
              <a:t> 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Font typeface="Calibri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fun onLowMemory()</a:t>
            </a:r>
            <a:r>
              <a:rPr lang="it"/>
              <a:t> 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Font typeface="Calibri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fun onTerminate()</a:t>
            </a:r>
            <a:r>
              <a:rPr lang="it"/>
              <a:t> 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7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75" name="Google Shape;275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Application Lifecycle 3/3</a:t>
            </a:r>
            <a:endParaRPr/>
          </a:p>
        </p:txBody>
      </p:sp>
      <p:sp>
        <p:nvSpPr>
          <p:cNvPr id="276" name="Google Shape;276;p27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269875" lvl="0" marL="2698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Once the application object has been created and initially notified of the beginning of the process, Android instantiates whatever individual component is needed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Based on the reason that caused the process to be started</a:t>
            </a:r>
            <a:endParaRPr/>
          </a:p>
          <a:p>
            <a:pPr indent="-269875" lvl="0" marL="26987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The application object stays in memory as long as there are active components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The application object is removed from the memory when all the components terminate their lifecycle</a:t>
            </a:r>
            <a:endParaRPr/>
          </a:p>
          <a:p>
            <a:pPr indent="-269875" lvl="0" marL="26987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It is possible to set up an user-defined Application subclass 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It was intended to store global application state</a:t>
            </a:r>
            <a:endParaRPr/>
          </a:p>
          <a:p>
            <a:pPr indent="-21272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Modern Android application prefer to use the Singleton pattern to achieve the same effect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88957" y="1611156"/>
            <a:ext cx="530158" cy="530158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Application Startup</a:t>
            </a:r>
            <a:endParaRPr/>
          </a:p>
        </p:txBody>
      </p:sp>
      <p:sp>
        <p:nvSpPr>
          <p:cNvPr id="284" name="Google Shape;284;p28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descr="ic_launcher.png" id="285" name="Google Shape;285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81642" y="1277623"/>
            <a:ext cx="859734" cy="859734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8"/>
          <p:cNvSpPr/>
          <p:nvPr/>
        </p:nvSpPr>
        <p:spPr>
          <a:xfrm>
            <a:off x="137050" y="2490403"/>
            <a:ext cx="2544600" cy="25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105335" y="-2496"/>
                </a:moveTo>
                <a:lnTo>
                  <a:pt x="105878" y="-167434"/>
                </a:lnTo>
                <a:lnTo>
                  <a:pt x="111868" y="-221040"/>
                </a:lnTo>
                <a:lnTo>
                  <a:pt x="118946" y="-278764"/>
                </a:lnTo>
              </a:path>
            </a:pathLst>
          </a:cu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it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– </a:t>
            </a:r>
            <a:r>
              <a:rPr lang="it" sz="1600">
                <a:solidFill>
                  <a:schemeClr val="dk1"/>
                </a:solidFill>
              </a:rPr>
              <a:t>The</a:t>
            </a:r>
            <a:r>
              <a:rPr b="0" i="0" lang="it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User taps an icon</a:t>
            </a:r>
            <a:endParaRPr/>
          </a:p>
        </p:txBody>
      </p:sp>
      <p:sp>
        <p:nvSpPr>
          <p:cNvPr id="287" name="Google Shape;287;p28"/>
          <p:cNvSpPr/>
          <p:nvPr/>
        </p:nvSpPr>
        <p:spPr>
          <a:xfrm>
            <a:off x="4695200" y="437438"/>
            <a:ext cx="1984200" cy="62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20000" y="160912"/>
                </a:lnTo>
                <a:lnTo>
                  <a:pt x="34823" y="207844"/>
                </a:lnTo>
              </a:path>
            </a:pathLst>
          </a:cu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it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– The Zygote </a:t>
            </a:r>
            <a:br>
              <a:rPr b="0" i="0" lang="it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it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system process </a:t>
            </a:r>
            <a:br>
              <a:rPr b="0" i="0" lang="it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it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is forked</a:t>
            </a:r>
            <a:endParaRPr/>
          </a:p>
        </p:txBody>
      </p:sp>
      <p:sp>
        <p:nvSpPr>
          <p:cNvPr id="288" name="Google Shape;288;p28"/>
          <p:cNvSpPr/>
          <p:nvPr/>
        </p:nvSpPr>
        <p:spPr>
          <a:xfrm>
            <a:off x="7652780" y="3369357"/>
            <a:ext cx="1221000" cy="278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A6B5F3"/>
              </a:gs>
              <a:gs pos="35000">
                <a:srgbClr val="BECAF8"/>
              </a:gs>
              <a:gs pos="100000">
                <a:srgbClr val="E5E8FD"/>
              </a:gs>
            </a:gsLst>
            <a:lin ang="16200038" scaled="0"/>
          </a:gradFill>
          <a:ln cap="flat" cmpd="sng" w="9525">
            <a:solidFill>
              <a:srgbClr val="4561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t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Application</a:t>
            </a:r>
            <a:endParaRPr/>
          </a:p>
        </p:txBody>
      </p:sp>
      <p:sp>
        <p:nvSpPr>
          <p:cNvPr id="289" name="Google Shape;289;p28"/>
          <p:cNvSpPr/>
          <p:nvPr/>
        </p:nvSpPr>
        <p:spPr>
          <a:xfrm>
            <a:off x="5142638" y="2767863"/>
            <a:ext cx="1962000" cy="43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126127" y="20008"/>
                </a:moveTo>
                <a:lnTo>
                  <a:pt x="155706" y="21253"/>
                </a:lnTo>
                <a:lnTo>
                  <a:pt x="155336" y="68190"/>
                </a:lnTo>
                <a:lnTo>
                  <a:pt x="177760" y="145607"/>
                </a:lnTo>
              </a:path>
            </a:pathLst>
          </a:cu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it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– An Application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it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object is created</a:t>
            </a:r>
            <a:endParaRPr/>
          </a:p>
        </p:txBody>
      </p:sp>
      <p:sp>
        <p:nvSpPr>
          <p:cNvPr id="290" name="Google Shape;290;p28"/>
          <p:cNvSpPr/>
          <p:nvPr/>
        </p:nvSpPr>
        <p:spPr>
          <a:xfrm rot="5400000">
            <a:off x="8039739" y="2463050"/>
            <a:ext cx="507000" cy="4905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D8CBDB"/>
              </a:gs>
              <a:gs pos="35000">
                <a:srgbClr val="E4DAE4"/>
              </a:gs>
              <a:gs pos="100000">
                <a:srgbClr val="F3EFF6"/>
              </a:gs>
            </a:gsLst>
            <a:lin ang="16200038" scaled="0"/>
          </a:gradFill>
          <a:ln cap="flat" cmpd="sng" w="9525">
            <a:solidFill>
              <a:srgbClr val="998B9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28"/>
          <p:cNvSpPr/>
          <p:nvPr/>
        </p:nvSpPr>
        <p:spPr>
          <a:xfrm>
            <a:off x="5473156" y="3369357"/>
            <a:ext cx="864900" cy="278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A6B5F3"/>
              </a:gs>
              <a:gs pos="35000">
                <a:srgbClr val="BECAF8"/>
              </a:gs>
              <a:gs pos="100000">
                <a:srgbClr val="E5E8FD"/>
              </a:gs>
            </a:gsLst>
            <a:lin ang="16200038" scaled="0"/>
          </a:gradFill>
          <a:ln cap="flat" cmpd="sng" w="9525">
            <a:solidFill>
              <a:srgbClr val="4561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t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Activity</a:t>
            </a:r>
            <a:endParaRPr/>
          </a:p>
        </p:txBody>
      </p:sp>
      <p:sp>
        <p:nvSpPr>
          <p:cNvPr id="292" name="Google Shape;292;p28"/>
          <p:cNvSpPr/>
          <p:nvPr/>
        </p:nvSpPr>
        <p:spPr>
          <a:xfrm>
            <a:off x="5318755" y="4233879"/>
            <a:ext cx="2060700" cy="43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7351" y="22501"/>
                </a:moveTo>
                <a:lnTo>
                  <a:pt x="-20882" y="19526"/>
                </a:lnTo>
                <a:lnTo>
                  <a:pt x="-21766" y="-44311"/>
                </a:lnTo>
                <a:lnTo>
                  <a:pt x="-1854" y="-137167"/>
                </a:lnTo>
              </a:path>
            </a:pathLst>
          </a:cu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it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– The main activity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it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object is created</a:t>
            </a:r>
            <a:endParaRPr/>
          </a:p>
        </p:txBody>
      </p:sp>
      <p:sp>
        <p:nvSpPr>
          <p:cNvPr id="293" name="Google Shape;293;p28"/>
          <p:cNvSpPr/>
          <p:nvPr/>
        </p:nvSpPr>
        <p:spPr>
          <a:xfrm rot="10800000">
            <a:off x="3805155" y="3307367"/>
            <a:ext cx="675900" cy="3678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D8CBDB"/>
              </a:gs>
              <a:gs pos="35000">
                <a:srgbClr val="E4DAE4"/>
              </a:gs>
              <a:gs pos="100000">
                <a:srgbClr val="F3EFF6"/>
              </a:gs>
            </a:gsLst>
            <a:lin ang="16200038" scaled="0"/>
          </a:gradFill>
          <a:ln cap="flat" cmpd="sng" w="9525">
            <a:solidFill>
              <a:srgbClr val="998B9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28"/>
          <p:cNvSpPr/>
          <p:nvPr/>
        </p:nvSpPr>
        <p:spPr>
          <a:xfrm>
            <a:off x="2424751" y="4233881"/>
            <a:ext cx="2322600" cy="43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19729" y="-52440"/>
                </a:lnTo>
                <a:lnTo>
                  <a:pt x="11642" y="-208306"/>
                </a:lnTo>
              </a:path>
            </a:pathLst>
          </a:cu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it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– A GUI is populated</a:t>
            </a:r>
            <a:br>
              <a:rPr b="0" i="0" lang="it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it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and shown</a:t>
            </a:r>
            <a:endParaRPr/>
          </a:p>
        </p:txBody>
      </p:sp>
      <p:pic>
        <p:nvPicPr>
          <p:cNvPr id="295" name="Google Shape;295;p28"/>
          <p:cNvPicPr preferRelativeResize="0"/>
          <p:nvPr/>
        </p:nvPicPr>
        <p:blipFill rotWithShape="1">
          <a:blip r:embed="rId5">
            <a:alphaModFix/>
          </a:blip>
          <a:srcRect b="0" l="19248" r="20335" t="0"/>
          <a:stretch/>
        </p:blipFill>
        <p:spPr>
          <a:xfrm>
            <a:off x="2652725" y="958669"/>
            <a:ext cx="1146300" cy="142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flipH="1">
            <a:off x="1511071" y="909278"/>
            <a:ext cx="1042988" cy="1400175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8"/>
          <p:cNvSpPr/>
          <p:nvPr/>
        </p:nvSpPr>
        <p:spPr>
          <a:xfrm>
            <a:off x="7652780" y="3574880"/>
            <a:ext cx="331938" cy="471852"/>
          </a:xfrm>
          <a:prstGeom prst="lightningBolt">
            <a:avLst/>
          </a:prstGeom>
          <a:solidFill>
            <a:srgbClr val="FF66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endParaRPr/>
          </a:p>
        </p:txBody>
      </p:sp>
      <p:sp>
        <p:nvSpPr>
          <p:cNvPr id="298" name="Google Shape;298;p28"/>
          <p:cNvSpPr/>
          <p:nvPr/>
        </p:nvSpPr>
        <p:spPr>
          <a:xfrm>
            <a:off x="5345021" y="3491180"/>
            <a:ext cx="331938" cy="471852"/>
          </a:xfrm>
          <a:prstGeom prst="lightningBolt">
            <a:avLst/>
          </a:prstGeom>
          <a:solidFill>
            <a:srgbClr val="FF66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endParaRPr/>
          </a:p>
        </p:txBody>
      </p:sp>
      <p:sp>
        <p:nvSpPr>
          <p:cNvPr id="299" name="Google Shape;299;p28"/>
          <p:cNvSpPr/>
          <p:nvPr/>
        </p:nvSpPr>
        <p:spPr>
          <a:xfrm>
            <a:off x="6580873" y="1933703"/>
            <a:ext cx="535679" cy="249472"/>
          </a:xfrm>
          <a:prstGeom prst="flowChartPunchedTape">
            <a:avLst/>
          </a:prstGeom>
          <a:solidFill>
            <a:srgbClr val="E6F0A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it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Intent</a:t>
            </a:r>
            <a:endParaRPr/>
          </a:p>
        </p:txBody>
      </p:sp>
      <p:sp>
        <p:nvSpPr>
          <p:cNvPr id="300" name="Google Shape;300;p28"/>
          <p:cNvSpPr/>
          <p:nvPr/>
        </p:nvSpPr>
        <p:spPr>
          <a:xfrm>
            <a:off x="4035139" y="1944045"/>
            <a:ext cx="535679" cy="249472"/>
          </a:xfrm>
          <a:prstGeom prst="flowChartPunchedTape">
            <a:avLst/>
          </a:prstGeom>
          <a:solidFill>
            <a:srgbClr val="E6F0A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it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Intent</a:t>
            </a:r>
            <a:endParaRPr/>
          </a:p>
        </p:txBody>
      </p:sp>
      <p:pic>
        <p:nvPicPr>
          <p:cNvPr id="301" name="Google Shape;301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flipH="1" rot="-5400000">
            <a:off x="5499715" y="1478090"/>
            <a:ext cx="294624" cy="294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2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808996" y="1000873"/>
            <a:ext cx="743584" cy="743584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8"/>
          <p:cNvSpPr/>
          <p:nvPr/>
        </p:nvSpPr>
        <p:spPr>
          <a:xfrm>
            <a:off x="7344964" y="529770"/>
            <a:ext cx="1574400" cy="43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20000" y="160912"/>
                </a:lnTo>
                <a:lnTo>
                  <a:pt x="34823" y="207844"/>
                </a:lnTo>
              </a:path>
            </a:pathLst>
          </a:cu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it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– A message </a:t>
            </a:r>
            <a:br>
              <a:rPr b="0" i="0" lang="it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it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loop begins</a:t>
            </a:r>
            <a:endParaRPr/>
          </a:p>
        </p:txBody>
      </p:sp>
      <p:pic>
        <p:nvPicPr>
          <p:cNvPr id="304" name="Google Shape;304;p28"/>
          <p:cNvPicPr preferRelativeResize="0"/>
          <p:nvPr/>
        </p:nvPicPr>
        <p:blipFill rotWithShape="1">
          <a:blip r:embed="rId9">
            <a:alphaModFix/>
          </a:blip>
          <a:srcRect b="11198" l="19670" r="19163" t="11461"/>
          <a:stretch/>
        </p:blipFill>
        <p:spPr>
          <a:xfrm>
            <a:off x="5905566" y="1599538"/>
            <a:ext cx="434586" cy="32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28"/>
          <p:cNvPicPr preferRelativeResize="0"/>
          <p:nvPr/>
        </p:nvPicPr>
        <p:blipFill rotWithShape="1">
          <a:blip r:embed="rId10">
            <a:alphaModFix/>
          </a:blip>
          <a:srcRect b="11198" l="19670" r="19163" t="11461"/>
          <a:stretch/>
        </p:blipFill>
        <p:spPr>
          <a:xfrm>
            <a:off x="5052210" y="1558569"/>
            <a:ext cx="434586" cy="32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28"/>
          <p:cNvPicPr preferRelativeResize="0"/>
          <p:nvPr/>
        </p:nvPicPr>
        <p:blipFill rotWithShape="1">
          <a:blip r:embed="rId10">
            <a:alphaModFix/>
          </a:blip>
          <a:srcRect b="11198" l="19670" r="19163" t="11461"/>
          <a:stretch/>
        </p:blipFill>
        <p:spPr>
          <a:xfrm>
            <a:off x="5905566" y="1277155"/>
            <a:ext cx="434586" cy="32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8"/>
          <p:cNvSpPr/>
          <p:nvPr/>
        </p:nvSpPr>
        <p:spPr>
          <a:xfrm rot="10800000">
            <a:off x="6631568" y="3307367"/>
            <a:ext cx="675900" cy="3678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D8CBDB"/>
              </a:gs>
              <a:gs pos="35000">
                <a:srgbClr val="E4DAE4"/>
              </a:gs>
              <a:gs pos="100000">
                <a:srgbClr val="F3EFF6"/>
              </a:gs>
            </a:gsLst>
            <a:lin ang="16200038" scaled="0"/>
          </a:gradFill>
          <a:ln cap="flat" cmpd="sng" w="9525">
            <a:solidFill>
              <a:srgbClr val="998B9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28"/>
          <p:cNvSpPr txBox="1"/>
          <p:nvPr/>
        </p:nvSpPr>
        <p:spPr>
          <a:xfrm>
            <a:off x="7891077" y="2087700"/>
            <a:ext cx="804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manifest</a:t>
            </a:r>
            <a:endParaRPr/>
          </a:p>
        </p:txBody>
      </p:sp>
      <p:sp>
        <p:nvSpPr>
          <p:cNvPr id="309" name="Google Shape;309;p28"/>
          <p:cNvSpPr/>
          <p:nvPr/>
        </p:nvSpPr>
        <p:spPr>
          <a:xfrm>
            <a:off x="4026117" y="1489774"/>
            <a:ext cx="675900" cy="3678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D8CBDB"/>
              </a:gs>
              <a:gs pos="35000">
                <a:srgbClr val="E4DAE4"/>
              </a:gs>
              <a:gs pos="100000">
                <a:srgbClr val="F3EFF6"/>
              </a:gs>
            </a:gsLst>
            <a:lin ang="16200038" scaled="0"/>
          </a:gradFill>
          <a:ln cap="flat" cmpd="sng" w="9525">
            <a:solidFill>
              <a:srgbClr val="998B9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28"/>
          <p:cNvSpPr/>
          <p:nvPr/>
        </p:nvSpPr>
        <p:spPr>
          <a:xfrm>
            <a:off x="6564065" y="1485238"/>
            <a:ext cx="675900" cy="3678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D8CBDB"/>
              </a:gs>
              <a:gs pos="35000">
                <a:srgbClr val="E4DAE4"/>
              </a:gs>
              <a:gs pos="100000">
                <a:srgbClr val="F3EFF6"/>
              </a:gs>
            </a:gsLst>
            <a:lin ang="16200038" scaled="0"/>
          </a:gradFill>
          <a:ln cap="flat" cmpd="sng" w="9525">
            <a:solidFill>
              <a:srgbClr val="998B9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1" name="Google Shape;311;p2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681642" y="2898418"/>
            <a:ext cx="689007" cy="1148342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8"/>
          <p:cNvSpPr txBox="1"/>
          <p:nvPr/>
        </p:nvSpPr>
        <p:spPr>
          <a:xfrm>
            <a:off x="5676937" y="3864685"/>
            <a:ext cx="128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it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onCreate()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28"/>
          <p:cNvSpPr txBox="1"/>
          <p:nvPr/>
        </p:nvSpPr>
        <p:spPr>
          <a:xfrm>
            <a:off x="7894723" y="3975285"/>
            <a:ext cx="128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it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onCreate()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9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69875" lvl="0" marL="2698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Whenever an icon of the home screen is tapped, a new process is launched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Information regarding the chosen activity is packaged inside an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Intent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The intent is delivered to a system process, named Zygote that forks a brand new process</a:t>
            </a:r>
            <a:endParaRPr/>
          </a:p>
        </p:txBody>
      </p:sp>
      <p:pic>
        <p:nvPicPr>
          <p:cNvPr id="319" name="Google Shape;31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-5400000">
            <a:off x="6200600" y="3778288"/>
            <a:ext cx="467844" cy="57798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92265" y="3155161"/>
            <a:ext cx="2332886" cy="114100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29"/>
          <p:cNvPicPr preferRelativeResize="0"/>
          <p:nvPr/>
        </p:nvPicPr>
        <p:blipFill rotWithShape="1">
          <a:blip r:embed="rId5">
            <a:alphaModFix/>
          </a:blip>
          <a:srcRect b="0" l="19792" r="19792" t="0"/>
          <a:stretch/>
        </p:blipFill>
        <p:spPr>
          <a:xfrm>
            <a:off x="2574475" y="3121838"/>
            <a:ext cx="1146324" cy="142303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29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23" name="Google Shape;323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Application process startup (1)</a:t>
            </a:r>
            <a:endParaRPr/>
          </a:p>
        </p:txBody>
      </p:sp>
      <p:pic>
        <p:nvPicPr>
          <p:cNvPr descr="ic_launcher.png" id="324" name="Google Shape;324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574477" y="3419932"/>
            <a:ext cx="859734" cy="8597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flipH="1">
            <a:off x="1556306" y="2880137"/>
            <a:ext cx="1042988" cy="1400175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9"/>
          <p:cNvSpPr/>
          <p:nvPr/>
        </p:nvSpPr>
        <p:spPr>
          <a:xfrm>
            <a:off x="3860748" y="3609405"/>
            <a:ext cx="675900" cy="3678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D8CBDB"/>
              </a:gs>
              <a:gs pos="35000">
                <a:srgbClr val="E4DAE4"/>
              </a:gs>
              <a:gs pos="100000">
                <a:srgbClr val="F3EFF6"/>
              </a:gs>
            </a:gsLst>
            <a:lin ang="16200038" scaled="0"/>
          </a:gradFill>
          <a:ln cap="flat" cmpd="sng" w="9525">
            <a:solidFill>
              <a:srgbClr val="998B9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29"/>
          <p:cNvSpPr/>
          <p:nvPr/>
        </p:nvSpPr>
        <p:spPr>
          <a:xfrm>
            <a:off x="3893962" y="3966941"/>
            <a:ext cx="535679" cy="249472"/>
          </a:xfrm>
          <a:prstGeom prst="flowChartPunchedTape">
            <a:avLst/>
          </a:prstGeom>
          <a:solidFill>
            <a:srgbClr val="E6F0A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it"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Intent</a:t>
            </a:r>
            <a:endParaRPr/>
          </a:p>
        </p:txBody>
      </p:sp>
      <p:sp>
        <p:nvSpPr>
          <p:cNvPr id="328" name="Google Shape;328;p29"/>
          <p:cNvSpPr/>
          <p:nvPr/>
        </p:nvSpPr>
        <p:spPr>
          <a:xfrm>
            <a:off x="7695168" y="4030840"/>
            <a:ext cx="535679" cy="249472"/>
          </a:xfrm>
          <a:prstGeom prst="flowChartPunchedTape">
            <a:avLst/>
          </a:prstGeom>
          <a:solidFill>
            <a:srgbClr val="E6F0A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it"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Intent</a:t>
            </a:r>
            <a:endParaRPr/>
          </a:p>
        </p:txBody>
      </p:sp>
      <p:pic>
        <p:nvPicPr>
          <p:cNvPr id="329" name="Google Shape;329;p2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947558" y="3865230"/>
            <a:ext cx="560708" cy="5607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0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35" name="Google Shape;335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Application process startup (2)</a:t>
            </a:r>
            <a:endParaRPr/>
          </a:p>
        </p:txBody>
      </p:sp>
      <p:sp>
        <p:nvSpPr>
          <p:cNvPr id="336" name="Google Shape;336;p30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69875" lvl="0" marL="2698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Zygote contains a pre-warmed  VM: this reduces the overall startup time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Only application specific classes need to be loaded, since general purpose ones have already been loaded in the parent process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The forked process starts a message loop and uses the information contained in the Intent to locate and load the corresponding APK and manifest file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1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42" name="Google Shape;342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Application process startup (3)</a:t>
            </a:r>
            <a:endParaRPr/>
          </a:p>
        </p:txBody>
      </p:sp>
      <p:sp>
        <p:nvSpPr>
          <p:cNvPr id="343" name="Google Shape;343;p31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69875" lvl="0" marL="2698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The main thread of the forked process instantiates an Application object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And invokes the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onCreate()</a:t>
            </a:r>
            <a:r>
              <a:rPr lang="it"/>
              <a:t> method</a:t>
            </a:r>
            <a:endParaRPr/>
          </a:p>
          <a:p>
            <a:pPr indent="-269875" lvl="0" marL="26987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Subsequently, the activity referred to by the received intent is instantiated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And its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 onCreate(…)</a:t>
            </a:r>
            <a:r>
              <a:rPr lang="it"/>
              <a:t> method is invoked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Here (mostly) the customization begins…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2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49" name="Google Shape;349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Applications interaction</a:t>
            </a:r>
            <a:endParaRPr/>
          </a:p>
        </p:txBody>
      </p:sp>
      <p:sp>
        <p:nvSpPr>
          <p:cNvPr id="350" name="Google Shape;350;p32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69875" lvl="0" marL="2698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The modular mechanism in which applications are built enable the creation of synergies without building strong interdependence among classes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A particular kind of messages, named </a:t>
            </a:r>
            <a:r>
              <a:rPr b="1" lang="it">
                <a:solidFill>
                  <a:srgbClr val="0B5394"/>
                </a:solidFill>
              </a:rPr>
              <a:t>intents</a:t>
            </a:r>
            <a:r>
              <a:rPr lang="it"/>
              <a:t>, may be used to activate other applications and to exchange data with them </a:t>
            </a:r>
            <a:endParaRPr/>
          </a:p>
          <a:p>
            <a:pPr indent="-269875" lvl="0" marL="26987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An intent defines an action to be performed and a set of data on which to operate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The operating system finds and instantiates the corresponding components that can handle the required action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olit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