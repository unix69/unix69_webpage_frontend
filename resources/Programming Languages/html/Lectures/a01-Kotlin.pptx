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53" r:id="rId1"/>
  </p:sldMasterIdLst>
  <p:notesMasterIdLst>
    <p:notesMasterId r:id="rId8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7"/>
    <p:restoredTop sz="94665"/>
  </p:normalViewPr>
  <p:slideViewPr>
    <p:cSldViewPr snapToGrid="0">
      <p:cViewPr varScale="1">
        <p:scale>
          <a:sx n="160" d="100"/>
          <a:sy n="160" d="100"/>
        </p:scale>
        <p:origin x="480" y="18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
        <p:cNvGrpSpPr/>
        <p:nvPr/>
      </p:nvGrpSpPr>
      <p:grpSpPr>
        <a:xfrm>
          <a:off x="0" y="0"/>
          <a:ext cx="0" cy="0"/>
          <a:chOff x="0" y="0"/>
          <a:chExt cx="0" cy="0"/>
        </a:xfrm>
      </p:grpSpPr>
      <p:sp>
        <p:nvSpPr>
          <p:cNvPr id="30" name="Google Shape;30;g2b3ce50f7f8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 name="Google Shape;31;g2b3ce50f7f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
        <p:cNvGrpSpPr/>
        <p:nvPr/>
      </p:nvGrpSpPr>
      <p:grpSpPr>
        <a:xfrm>
          <a:off x="0" y="0"/>
          <a:ext cx="0" cy="0"/>
          <a:chOff x="0" y="0"/>
          <a:chExt cx="0" cy="0"/>
        </a:xfrm>
      </p:grpSpPr>
      <p:sp>
        <p:nvSpPr>
          <p:cNvPr id="37" name="Google Shape;37;g2b3ce50f7f8_0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 name="Google Shape;38;g2b3ce50f7f8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g2b3ce50f7f8_0_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 name="Google Shape;45;g2b3ce50f7f8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2b3ce50f7f8_0_8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 name="Google Shape;117;g2b3ce50f7f8_0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2b3ce50f7f8_0_8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 name="Google Shape;124;g2b3ce50f7f8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2b3ce50f7f8_0_9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2b3ce50f7f8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2b3ce50f7f8_0_10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2b3ce50f7f8_0_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2b3ce50f7f8_0_10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g2b3ce50f7f8_0_1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2b3ce50f7f8_0_1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2b3ce50f7f8_0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2b3ce50f7f8_0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9" name="Google Shape;159;g2b3ce50f7f8_0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2b3ce50f7f8_0_1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 name="Google Shape;166;g2b3ce50f7f8_0_1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2b3ce50f7f8_0_1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g2b3ce50f7f8_0_1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2b3ce50f7f8_0_1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 name="Google Shape;181;g2b3ce50f7f8_0_1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2b3ce50f7f8_0_1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 name="Google Shape;188;g2b3ce50f7f8_0_1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2b3ce50f7f8_0_1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5" name="Google Shape;195;g2b3ce50f7f8_0_1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2b3ce50f7f8_0_15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2b3ce50f7f8_0_1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2b3ce50f7f8_0_16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2b3ce50f7f8_0_1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g2b3ce50f7f8_0_16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7" name="Google Shape;217;g2b3ce50f7f8_0_1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g2b3ce50f7f8_0_17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4" name="Google Shape;224;g2b3ce50f7f8_0_1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2b3ce50f7f8_0_18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2b3ce50f7f8_0_1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g2b3ce50f7f8_0_19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2" name="Google Shape;242;g2b3ce50f7f8_0_1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2b3ce50f7f8_0_19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9" name="Google Shape;249;g2b3ce50f7f8_0_1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2b3ce50f7f8_0_20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6" name="Google Shape;256;g2b3ce50f7f8_0_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g2b3ce50f7f8_0_2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g2b3ce50f7f8_0_2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g2b3ce50f7f8_0_2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1" name="Google Shape;271;g2b3ce50f7f8_0_2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2b3ce50f7f8_0_2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0" name="Google Shape;280;g2b3ce50f7f8_0_2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g2b3ce50f7f8_0_2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7" name="Google Shape;287;g2b3ce50f7f8_0_2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g2b3ce50f7f8_0_2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5" name="Google Shape;295;g2b3ce50f7f8_0_2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g2b3ce50f7f8_0_2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2" name="Google Shape;302;g2b3ce50f7f8_0_2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g2b3ce50f7f8_0_2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0" name="Google Shape;310;g2b3ce50f7f8_0_2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g2b3ce50f7f8_0_25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7" name="Google Shape;317;g2b3ce50f7f8_0_2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g2b3ce50f7f8_0_26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5" name="Google Shape;325;g2b3ce50f7f8_0_2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2b3ce50f7f8_0_26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2b3ce50f7f8_0_2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2b3ce50f7f8_0_27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9" name="Google Shape;339;g2b3ce50f7f8_0_2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g2b3ce50f7f8_0_28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7" name="Google Shape;347;g2b3ce50f7f8_0_2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g2b3ce50f7f8_0_28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4" name="Google Shape;354;g2b3ce50f7f8_0_2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g2b3ce50f7f8_0_29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2" name="Google Shape;362;g2b3ce50f7f8_0_2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g2b3ce50f7f8_0_30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0" name="Google Shape;370;g2b3ce50f7f8_0_3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g2b3ce50f7f8_0_30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8" name="Google Shape;378;g2b3ce50f7f8_0_3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Google Shape;384;g2b3ce50f7f8_0_3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5" name="Google Shape;385;g2b3ce50f7f8_0_3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g2b3ce50f7f8_0_3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3" name="Google Shape;393;g2b3ce50f7f8_0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g2b3ce50f7f8_0_3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0" name="Google Shape;400;g2b3ce50f7f8_0_3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
        <p:cNvGrpSpPr/>
        <p:nvPr/>
      </p:nvGrpSpPr>
      <p:grpSpPr>
        <a:xfrm>
          <a:off x="0" y="0"/>
          <a:ext cx="0" cy="0"/>
          <a:chOff x="0" y="0"/>
          <a:chExt cx="0" cy="0"/>
        </a:xfrm>
      </p:grpSpPr>
      <p:sp>
        <p:nvSpPr>
          <p:cNvPr id="406" name="Google Shape;406;g2b3ce50f7f8_0_3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7" name="Google Shape;407;g2b3ce50f7f8_0_3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Google Shape;413;g2b3ce50f7f8_0_3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4" name="Google Shape;414;g2b3ce50f7f8_0_3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1"/>
        <p:cNvGrpSpPr/>
        <p:nvPr/>
      </p:nvGrpSpPr>
      <p:grpSpPr>
        <a:xfrm>
          <a:off x="0" y="0"/>
          <a:ext cx="0" cy="0"/>
          <a:chOff x="0" y="0"/>
          <a:chExt cx="0" cy="0"/>
        </a:xfrm>
      </p:grpSpPr>
      <p:sp>
        <p:nvSpPr>
          <p:cNvPr id="422" name="Google Shape;422;g2b3ce50f7f8_0_34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3" name="Google Shape;423;g2b3ce50f7f8_0_3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g2b3ce50f7f8_0_35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1" name="Google Shape;431;g2b3ce50f7f8_0_3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g2b3ce50f7f8_0_36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8" name="Google Shape;438;g2b3ce50f7f8_0_3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
        <p:cNvGrpSpPr/>
        <p:nvPr/>
      </p:nvGrpSpPr>
      <p:grpSpPr>
        <a:xfrm>
          <a:off x="0" y="0"/>
          <a:ext cx="0" cy="0"/>
          <a:chOff x="0" y="0"/>
          <a:chExt cx="0" cy="0"/>
        </a:xfrm>
      </p:grpSpPr>
      <p:sp>
        <p:nvSpPr>
          <p:cNvPr id="444" name="Google Shape;444;g2b3ce50f7f8_0_36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5" name="Google Shape;445;g2b3ce50f7f8_0_3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g2b3ce50f7f8_0_37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3" name="Google Shape;453;g2b3ce50f7f8_0_3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g2b3ce50f7f8_0_3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0" name="Google Shape;460;g2b3ce50f7f8_0_38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1" name="Google Shape;461;g2b3ce50f7f8_0_38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it"/>
              <a:t>50</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g2b3ce50f7f8_0_38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9" name="Google Shape;469;g2b3ce50f7f8_0_3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4"/>
        <p:cNvGrpSpPr/>
        <p:nvPr/>
      </p:nvGrpSpPr>
      <p:grpSpPr>
        <a:xfrm>
          <a:off x="0" y="0"/>
          <a:ext cx="0" cy="0"/>
          <a:chOff x="0" y="0"/>
          <a:chExt cx="0" cy="0"/>
        </a:xfrm>
      </p:grpSpPr>
      <p:sp>
        <p:nvSpPr>
          <p:cNvPr id="475" name="Google Shape;475;g2b3ce50f7f8_0_3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6" name="Google Shape;476;g2b3ce50f7f8_0_3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
        <p:cNvGrpSpPr/>
        <p:nvPr/>
      </p:nvGrpSpPr>
      <p:grpSpPr>
        <a:xfrm>
          <a:off x="0" y="0"/>
          <a:ext cx="0" cy="0"/>
          <a:chOff x="0" y="0"/>
          <a:chExt cx="0" cy="0"/>
        </a:xfrm>
      </p:grpSpPr>
      <p:sp>
        <p:nvSpPr>
          <p:cNvPr id="482" name="Google Shape;482;g2b3ce50f7f8_0_4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83" name="Google Shape;483;g2b3ce50f7f8_0_4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8"/>
        <p:cNvGrpSpPr/>
        <p:nvPr/>
      </p:nvGrpSpPr>
      <p:grpSpPr>
        <a:xfrm>
          <a:off x="0" y="0"/>
          <a:ext cx="0" cy="0"/>
          <a:chOff x="0" y="0"/>
          <a:chExt cx="0" cy="0"/>
        </a:xfrm>
      </p:grpSpPr>
      <p:sp>
        <p:nvSpPr>
          <p:cNvPr id="489" name="Google Shape;489;g2b3ce50f7f8_0_40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0" name="Google Shape;490;g2b3ce50f7f8_0_4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6"/>
        <p:cNvGrpSpPr/>
        <p:nvPr/>
      </p:nvGrpSpPr>
      <p:grpSpPr>
        <a:xfrm>
          <a:off x="0" y="0"/>
          <a:ext cx="0" cy="0"/>
          <a:chOff x="0" y="0"/>
          <a:chExt cx="0" cy="0"/>
        </a:xfrm>
      </p:grpSpPr>
      <p:sp>
        <p:nvSpPr>
          <p:cNvPr id="497" name="Google Shape;497;g2b3ce50f7f8_0_4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8" name="Google Shape;498;g2b3ce50f7f8_0_4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3"/>
        <p:cNvGrpSpPr/>
        <p:nvPr/>
      </p:nvGrpSpPr>
      <p:grpSpPr>
        <a:xfrm>
          <a:off x="0" y="0"/>
          <a:ext cx="0" cy="0"/>
          <a:chOff x="0" y="0"/>
          <a:chExt cx="0" cy="0"/>
        </a:xfrm>
      </p:grpSpPr>
      <p:sp>
        <p:nvSpPr>
          <p:cNvPr id="504" name="Google Shape;504;g2b3ce50f7f8_0_4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5" name="Google Shape;505;g2b3ce50f7f8_0_4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p:cNvGrpSpPr/>
        <p:nvPr/>
      </p:nvGrpSpPr>
      <p:grpSpPr>
        <a:xfrm>
          <a:off x="0" y="0"/>
          <a:ext cx="0" cy="0"/>
          <a:chOff x="0" y="0"/>
          <a:chExt cx="0" cy="0"/>
        </a:xfrm>
      </p:grpSpPr>
      <p:sp>
        <p:nvSpPr>
          <p:cNvPr id="511" name="Google Shape;511;g2b3ce50f7f8_0_4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2" name="Google Shape;512;g2b3ce50f7f8_0_4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g2b3ce50f7f8_0_4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0" name="Google Shape;520;g2b3ce50f7f8_0_4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6"/>
        <p:cNvGrpSpPr/>
        <p:nvPr/>
      </p:nvGrpSpPr>
      <p:grpSpPr>
        <a:xfrm>
          <a:off x="0" y="0"/>
          <a:ext cx="0" cy="0"/>
          <a:chOff x="0" y="0"/>
          <a:chExt cx="0" cy="0"/>
        </a:xfrm>
      </p:grpSpPr>
      <p:sp>
        <p:nvSpPr>
          <p:cNvPr id="527" name="Google Shape;527;g2b3ce50f7f8_0_4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8" name="Google Shape;528;g2b3ce50f7f8_0_4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4"/>
        <p:cNvGrpSpPr/>
        <p:nvPr/>
      </p:nvGrpSpPr>
      <p:grpSpPr>
        <a:xfrm>
          <a:off x="0" y="0"/>
          <a:ext cx="0" cy="0"/>
          <a:chOff x="0" y="0"/>
          <a:chExt cx="0" cy="0"/>
        </a:xfrm>
      </p:grpSpPr>
      <p:sp>
        <p:nvSpPr>
          <p:cNvPr id="535" name="Google Shape;535;g2b3ce50f7f8_0_44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6" name="Google Shape;536;g2b3ce50f7f8_0_4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2"/>
        <p:cNvGrpSpPr/>
        <p:nvPr/>
      </p:nvGrpSpPr>
      <p:grpSpPr>
        <a:xfrm>
          <a:off x="0" y="0"/>
          <a:ext cx="0" cy="0"/>
          <a:chOff x="0" y="0"/>
          <a:chExt cx="0" cy="0"/>
        </a:xfrm>
      </p:grpSpPr>
      <p:sp>
        <p:nvSpPr>
          <p:cNvPr id="543" name="Google Shape;543;g2b3ce50f7f8_0_4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4" name="Google Shape;544;g2b3ce50f7f8_0_4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2"/>
        <p:cNvGrpSpPr/>
        <p:nvPr/>
      </p:nvGrpSpPr>
      <p:grpSpPr>
        <a:xfrm>
          <a:off x="0" y="0"/>
          <a:ext cx="0" cy="0"/>
          <a:chOff x="0" y="0"/>
          <a:chExt cx="0" cy="0"/>
        </a:xfrm>
      </p:grpSpPr>
      <p:sp>
        <p:nvSpPr>
          <p:cNvPr id="553" name="Google Shape;553;g2b3ce50f7f8_0_46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4" name="Google Shape;554;g2b3ce50f7f8_0_4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2"/>
        <p:cNvGrpSpPr/>
        <p:nvPr/>
      </p:nvGrpSpPr>
      <p:grpSpPr>
        <a:xfrm>
          <a:off x="0" y="0"/>
          <a:ext cx="0" cy="0"/>
          <a:chOff x="0" y="0"/>
          <a:chExt cx="0" cy="0"/>
        </a:xfrm>
      </p:grpSpPr>
      <p:sp>
        <p:nvSpPr>
          <p:cNvPr id="563" name="Google Shape;563;g2b3ce50f7f8_0_47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4" name="Google Shape;564;g2b3ce50f7f8_0_4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0"/>
        <p:cNvGrpSpPr/>
        <p:nvPr/>
      </p:nvGrpSpPr>
      <p:grpSpPr>
        <a:xfrm>
          <a:off x="0" y="0"/>
          <a:ext cx="0" cy="0"/>
          <a:chOff x="0" y="0"/>
          <a:chExt cx="0" cy="0"/>
        </a:xfrm>
      </p:grpSpPr>
      <p:sp>
        <p:nvSpPr>
          <p:cNvPr id="571" name="Google Shape;571;g2b3ce50f7f8_0_47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2" name="Google Shape;572;g2b3ce50f7f8_0_4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7"/>
        <p:cNvGrpSpPr/>
        <p:nvPr/>
      </p:nvGrpSpPr>
      <p:grpSpPr>
        <a:xfrm>
          <a:off x="0" y="0"/>
          <a:ext cx="0" cy="0"/>
          <a:chOff x="0" y="0"/>
          <a:chExt cx="0" cy="0"/>
        </a:xfrm>
      </p:grpSpPr>
      <p:sp>
        <p:nvSpPr>
          <p:cNvPr id="578" name="Google Shape;578;g2b3ce50f7f8_0_48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9" name="Google Shape;579;g2b3ce50f7f8_0_4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7"/>
        <p:cNvGrpSpPr/>
        <p:nvPr/>
      </p:nvGrpSpPr>
      <p:grpSpPr>
        <a:xfrm>
          <a:off x="0" y="0"/>
          <a:ext cx="0" cy="0"/>
          <a:chOff x="0" y="0"/>
          <a:chExt cx="0" cy="0"/>
        </a:xfrm>
      </p:grpSpPr>
      <p:sp>
        <p:nvSpPr>
          <p:cNvPr id="588" name="Google Shape;588;g2b3ce50f7f8_0_49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9" name="Google Shape;589;g2b3ce50f7f8_0_4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
        <p:cNvGrpSpPr/>
        <p:nvPr/>
      </p:nvGrpSpPr>
      <p:grpSpPr>
        <a:xfrm>
          <a:off x="0" y="0"/>
          <a:ext cx="0" cy="0"/>
          <a:chOff x="0" y="0"/>
          <a:chExt cx="0" cy="0"/>
        </a:xfrm>
      </p:grpSpPr>
      <p:sp>
        <p:nvSpPr>
          <p:cNvPr id="595" name="Google Shape;595;g2b3ce50f7f8_0_49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6" name="Google Shape;596;g2b3ce50f7f8_0_4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1"/>
        <p:cNvGrpSpPr/>
        <p:nvPr/>
      </p:nvGrpSpPr>
      <p:grpSpPr>
        <a:xfrm>
          <a:off x="0" y="0"/>
          <a:ext cx="0" cy="0"/>
          <a:chOff x="0" y="0"/>
          <a:chExt cx="0" cy="0"/>
        </a:xfrm>
      </p:grpSpPr>
      <p:sp>
        <p:nvSpPr>
          <p:cNvPr id="602" name="Google Shape;602;g2b3ce50f7f8_0_50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3" name="Google Shape;603;g2b3ce50f7f8_0_5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8"/>
        <p:cNvGrpSpPr/>
        <p:nvPr/>
      </p:nvGrpSpPr>
      <p:grpSpPr>
        <a:xfrm>
          <a:off x="0" y="0"/>
          <a:ext cx="0" cy="0"/>
          <a:chOff x="0" y="0"/>
          <a:chExt cx="0" cy="0"/>
        </a:xfrm>
      </p:grpSpPr>
      <p:sp>
        <p:nvSpPr>
          <p:cNvPr id="609" name="Google Shape;609;g2b3ce50f7f8_0_5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10" name="Google Shape;610;g2b3ce50f7f8_0_5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6"/>
        <p:cNvGrpSpPr/>
        <p:nvPr/>
      </p:nvGrpSpPr>
      <p:grpSpPr>
        <a:xfrm>
          <a:off x="0" y="0"/>
          <a:ext cx="0" cy="0"/>
          <a:chOff x="0" y="0"/>
          <a:chExt cx="0" cy="0"/>
        </a:xfrm>
      </p:grpSpPr>
      <p:sp>
        <p:nvSpPr>
          <p:cNvPr id="667" name="Google Shape;667;g2b3ce50f7f8_0_56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8" name="Google Shape;668;g2b3ce50f7f8_0_5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3"/>
        <p:cNvGrpSpPr/>
        <p:nvPr/>
      </p:nvGrpSpPr>
      <p:grpSpPr>
        <a:xfrm>
          <a:off x="0" y="0"/>
          <a:ext cx="0" cy="0"/>
          <a:chOff x="0" y="0"/>
          <a:chExt cx="0" cy="0"/>
        </a:xfrm>
      </p:grpSpPr>
      <p:sp>
        <p:nvSpPr>
          <p:cNvPr id="674" name="Google Shape;674;g2b3ce50f7f8_0_57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5" name="Google Shape;675;g2b3ce50f7f8_0_5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1"/>
        <p:cNvGrpSpPr/>
        <p:nvPr/>
      </p:nvGrpSpPr>
      <p:grpSpPr>
        <a:xfrm>
          <a:off x="0" y="0"/>
          <a:ext cx="0" cy="0"/>
          <a:chOff x="0" y="0"/>
          <a:chExt cx="0" cy="0"/>
        </a:xfrm>
      </p:grpSpPr>
      <p:sp>
        <p:nvSpPr>
          <p:cNvPr id="682" name="Google Shape;682;g2b3ce50f7f8_0_5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3" name="Google Shape;683;g2b3ce50f7f8_0_5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9"/>
        <p:cNvGrpSpPr/>
        <p:nvPr/>
      </p:nvGrpSpPr>
      <p:grpSpPr>
        <a:xfrm>
          <a:off x="0" y="0"/>
          <a:ext cx="0" cy="0"/>
          <a:chOff x="0" y="0"/>
          <a:chExt cx="0" cy="0"/>
        </a:xfrm>
      </p:grpSpPr>
      <p:sp>
        <p:nvSpPr>
          <p:cNvPr id="690" name="Google Shape;690;g2b3ce50f7f8_0_58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1" name="Google Shape;691;g2b3ce50f7f8_0_5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4"/>
        <p:cNvGrpSpPr/>
        <p:nvPr/>
      </p:nvGrpSpPr>
      <p:grpSpPr>
        <a:xfrm>
          <a:off x="0" y="0"/>
          <a:ext cx="0" cy="0"/>
          <a:chOff x="0" y="0"/>
          <a:chExt cx="0" cy="0"/>
        </a:xfrm>
      </p:grpSpPr>
      <p:sp>
        <p:nvSpPr>
          <p:cNvPr id="735" name="Google Shape;735;g2b3ce50f7f8_0_6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6" name="Google Shape;736;g2b3ce50f7f8_0_6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2"/>
        <p:cNvGrpSpPr/>
        <p:nvPr/>
      </p:nvGrpSpPr>
      <p:grpSpPr>
        <a:xfrm>
          <a:off x="0" y="0"/>
          <a:ext cx="0" cy="0"/>
          <a:chOff x="0" y="0"/>
          <a:chExt cx="0" cy="0"/>
        </a:xfrm>
      </p:grpSpPr>
      <p:sp>
        <p:nvSpPr>
          <p:cNvPr id="743" name="Google Shape;743;g2b3ce50f7f8_0_6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4" name="Google Shape;744;g2b3ce50f7f8_0_6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0"/>
        <p:cNvGrpSpPr/>
        <p:nvPr/>
      </p:nvGrpSpPr>
      <p:grpSpPr>
        <a:xfrm>
          <a:off x="0" y="0"/>
          <a:ext cx="0" cy="0"/>
          <a:chOff x="0" y="0"/>
          <a:chExt cx="0" cy="0"/>
        </a:xfrm>
      </p:grpSpPr>
      <p:sp>
        <p:nvSpPr>
          <p:cNvPr id="751" name="Google Shape;751;g2b3ce50f7f8_0_64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2" name="Google Shape;752;g2b3ce50f7f8_0_6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7"/>
        <p:cNvGrpSpPr/>
        <p:nvPr/>
      </p:nvGrpSpPr>
      <p:grpSpPr>
        <a:xfrm>
          <a:off x="0" y="0"/>
          <a:ext cx="0" cy="0"/>
          <a:chOff x="0" y="0"/>
          <a:chExt cx="0" cy="0"/>
        </a:xfrm>
      </p:grpSpPr>
      <p:sp>
        <p:nvSpPr>
          <p:cNvPr id="758" name="Google Shape;758;g2b3ce50f7f8_0_65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9" name="Google Shape;759;g2b3ce50f7f8_0_6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4"/>
        <p:cNvGrpSpPr/>
        <p:nvPr/>
      </p:nvGrpSpPr>
      <p:grpSpPr>
        <a:xfrm>
          <a:off x="0" y="0"/>
          <a:ext cx="0" cy="0"/>
          <a:chOff x="0" y="0"/>
          <a:chExt cx="0" cy="0"/>
        </a:xfrm>
      </p:grpSpPr>
      <p:sp>
        <p:nvSpPr>
          <p:cNvPr id="765" name="Google Shape;765;g2b3ce50f7f8_0_65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6" name="Google Shape;766;g2b3ce50f7f8_0_6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1"/>
        <p:cNvGrpSpPr/>
        <p:nvPr/>
      </p:nvGrpSpPr>
      <p:grpSpPr>
        <a:xfrm>
          <a:off x="0" y="0"/>
          <a:ext cx="0" cy="0"/>
          <a:chOff x="0" y="0"/>
          <a:chExt cx="0" cy="0"/>
        </a:xfrm>
      </p:grpSpPr>
      <p:sp>
        <p:nvSpPr>
          <p:cNvPr id="772" name="Google Shape;772;g2b3ce50f7f8_0_66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3" name="Google Shape;773;g2b3ce50f7f8_0_6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8"/>
        <p:cNvGrpSpPr/>
        <p:nvPr/>
      </p:nvGrpSpPr>
      <p:grpSpPr>
        <a:xfrm>
          <a:off x="0" y="0"/>
          <a:ext cx="0" cy="0"/>
          <a:chOff x="0" y="0"/>
          <a:chExt cx="0" cy="0"/>
        </a:xfrm>
      </p:grpSpPr>
      <p:sp>
        <p:nvSpPr>
          <p:cNvPr id="779" name="Google Shape;779;g2b3ce50f7f8_0_67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0" name="Google Shape;780;g2b3ce50f7f8_0_6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5"/>
        <p:cNvGrpSpPr/>
        <p:nvPr/>
      </p:nvGrpSpPr>
      <p:grpSpPr>
        <a:xfrm>
          <a:off x="0" y="0"/>
          <a:ext cx="0" cy="0"/>
          <a:chOff x="0" y="0"/>
          <a:chExt cx="0" cy="0"/>
        </a:xfrm>
      </p:grpSpPr>
      <p:sp>
        <p:nvSpPr>
          <p:cNvPr id="786" name="Google Shape;786;g2b3ce50f7f8_0_6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87" name="Google Shape;787;g2b3ce50f7f8_0_6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3"/>
        <p:cNvGrpSpPr/>
        <p:nvPr/>
      </p:nvGrpSpPr>
      <p:grpSpPr>
        <a:xfrm>
          <a:off x="0" y="0"/>
          <a:ext cx="0" cy="0"/>
          <a:chOff x="0" y="0"/>
          <a:chExt cx="0" cy="0"/>
        </a:xfrm>
      </p:grpSpPr>
      <p:sp>
        <p:nvSpPr>
          <p:cNvPr id="794" name="Google Shape;794;g2b3ce50f7f8_0_6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95" name="Google Shape;795;g2b3ce50f7f8_0_6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1"/>
        <p:cNvGrpSpPr/>
        <p:nvPr/>
      </p:nvGrpSpPr>
      <p:grpSpPr>
        <a:xfrm>
          <a:off x="0" y="0"/>
          <a:ext cx="0" cy="0"/>
          <a:chOff x="0" y="0"/>
          <a:chExt cx="0" cy="0"/>
        </a:xfrm>
      </p:grpSpPr>
      <p:sp>
        <p:nvSpPr>
          <p:cNvPr id="802" name="Google Shape;802;g2b3ce50f7f8_0_69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3" name="Google Shape;803;g2b3ce50f7f8_0_6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3" name="Google Shape;13;p2"/>
          <p:cNvSpPr txBox="1">
            <a:spLocks noGrp="1"/>
          </p:cNvSpPr>
          <p:nvPr>
            <p:ph type="subTitle" idx="1"/>
          </p:nvPr>
        </p:nvSpPr>
        <p:spPr>
          <a:xfrm>
            <a:off x="311700" y="2834125"/>
            <a:ext cx="8520600" cy="792600"/>
          </a:xfrm>
          <a:prstGeom prst="rect">
            <a:avLst/>
          </a:prstGeom>
        </p:spPr>
        <p:txBody>
          <a:bodyPr spcFirstLastPara="1" wrap="square" lIns="91425" tIns="45700" rIns="91425" bIns="45700" anchor="t" anchorCtr="0">
            <a:normAutofit/>
          </a:bodyPr>
          <a:lstStyle>
            <a:lvl1pPr lvl="0" algn="ctr">
              <a:lnSpc>
                <a:spcPct val="100000"/>
              </a:lnSpc>
              <a:spcBef>
                <a:spcPts val="600"/>
              </a:spcBef>
              <a:spcAft>
                <a:spcPts val="0"/>
              </a:spcAft>
              <a:buSzPts val="2800"/>
              <a:buNone/>
              <a:defRPr sz="2800"/>
            </a:lvl1pPr>
            <a:lvl2pPr lvl="1" algn="ctr">
              <a:lnSpc>
                <a:spcPct val="100000"/>
              </a:lnSpc>
              <a:spcBef>
                <a:spcPts val="30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4" name="Google Shape;14;p2"/>
          <p:cNvSpPr txBox="1">
            <a:spLocks noGrp="1"/>
          </p:cNvSpPr>
          <p:nvPr>
            <p:ph type="sldNum" idx="12"/>
          </p:nvPr>
        </p:nvSpPr>
        <p:spPr>
          <a:xfrm>
            <a:off x="8472458" y="476850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5"/>
        <p:cNvGrpSpPr/>
        <p:nvPr/>
      </p:nvGrpSpPr>
      <p:grpSpPr>
        <a:xfrm>
          <a:off x="0" y="0"/>
          <a:ext cx="0" cy="0"/>
          <a:chOff x="0" y="0"/>
          <a:chExt cx="0" cy="0"/>
        </a:xfrm>
      </p:grpSpPr>
      <p:sp>
        <p:nvSpPr>
          <p:cNvPr id="16" name="Google Shape;16;p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17" name="Google Shape;17;p3"/>
          <p:cNvSpPr txBox="1">
            <a:spLocks noGrp="1"/>
          </p:cNvSpPr>
          <p:nvPr>
            <p:ph type="sldNum" idx="12"/>
          </p:nvPr>
        </p:nvSpPr>
        <p:spPr>
          <a:xfrm>
            <a:off x="8472458" y="476850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a:t>
            </a:fld>
            <a:endParaRPr/>
          </a:p>
        </p:txBody>
      </p:sp>
      <p:sp>
        <p:nvSpPr>
          <p:cNvPr id="18" name="Google Shape;18;p3"/>
          <p:cNvSpPr txBox="1">
            <a:spLocks noGrp="1"/>
          </p:cNvSpPr>
          <p:nvPr>
            <p:ph type="body" idx="1"/>
          </p:nvPr>
        </p:nvSpPr>
        <p:spPr>
          <a:xfrm>
            <a:off x="311150" y="1244204"/>
            <a:ext cx="8521800" cy="3393300"/>
          </a:xfrm>
          <a:prstGeom prst="rect">
            <a:avLst/>
          </a:prstGeom>
          <a:noFill/>
          <a:ln>
            <a:noFill/>
          </a:ln>
        </p:spPr>
        <p:txBody>
          <a:bodyPr spcFirstLastPara="1" wrap="square" lIns="91425" tIns="45700" rIns="91425" bIns="45700" anchor="t" anchorCtr="0">
            <a:normAutofit/>
          </a:bodyPr>
          <a:lstStyle>
            <a:lvl1pPr marL="457200" lvl="0" indent="-355600" algn="l" rtl="0">
              <a:lnSpc>
                <a:spcPct val="115000"/>
              </a:lnSpc>
              <a:spcBef>
                <a:spcPts val="600"/>
              </a:spcBef>
              <a:spcAft>
                <a:spcPts val="0"/>
              </a:spcAft>
              <a:buSzPts val="2000"/>
              <a:buFont typeface="Calibri"/>
              <a:buChar char="•"/>
              <a:defRPr sz="2000">
                <a:latin typeface="Calibri"/>
                <a:ea typeface="Calibri"/>
                <a:cs typeface="Calibri"/>
                <a:sym typeface="Calibri"/>
              </a:defRPr>
            </a:lvl1pPr>
            <a:lvl2pPr marL="914400" lvl="1" indent="-330200" algn="l" rtl="0">
              <a:lnSpc>
                <a:spcPct val="110000"/>
              </a:lnSpc>
              <a:spcBef>
                <a:spcPts val="300"/>
              </a:spcBef>
              <a:spcAft>
                <a:spcPts val="0"/>
              </a:spcAft>
              <a:buSzPts val="1600"/>
              <a:buChar char="○"/>
              <a:defRPr sz="1600">
                <a:latin typeface="Calibri"/>
                <a:ea typeface="Calibri"/>
                <a:cs typeface="Calibri"/>
                <a:sym typeface="Calibri"/>
              </a:defRPr>
            </a:lvl2pPr>
            <a:lvl3pPr marL="1371600" lvl="2" indent="-317500" algn="l" rtl="0">
              <a:lnSpc>
                <a:spcPct val="100000"/>
              </a:lnSpc>
              <a:spcBef>
                <a:spcPts val="0"/>
              </a:spcBef>
              <a:spcAft>
                <a:spcPts val="0"/>
              </a:spcAft>
              <a:buSzPts val="1400"/>
              <a:buFont typeface="Calibri"/>
              <a:buChar char="▪"/>
              <a:defRPr>
                <a:latin typeface="Calibri"/>
                <a:ea typeface="Calibri"/>
                <a:cs typeface="Calibri"/>
                <a:sym typeface="Calibri"/>
              </a:defRPr>
            </a:lvl3pPr>
            <a:lvl4pPr marL="1828800" lvl="3" indent="-330200" algn="l" rtl="0">
              <a:lnSpc>
                <a:spcPct val="100000"/>
              </a:lnSpc>
              <a:spcBef>
                <a:spcPts val="0"/>
              </a:spcBef>
              <a:spcAft>
                <a:spcPts val="0"/>
              </a:spcAft>
              <a:buSzPts val="1600"/>
              <a:buFont typeface="Calibri"/>
              <a:buChar char="•"/>
              <a:defRPr sz="1200">
                <a:latin typeface="Calibri"/>
                <a:ea typeface="Calibri"/>
                <a:cs typeface="Calibri"/>
                <a:sym typeface="Calibri"/>
              </a:defRPr>
            </a:lvl4pPr>
            <a:lvl5pPr marL="2286000" lvl="4" indent="-330200" algn="l" rtl="0">
              <a:lnSpc>
                <a:spcPct val="100000"/>
              </a:lnSpc>
              <a:spcBef>
                <a:spcPts val="0"/>
              </a:spcBef>
              <a:spcAft>
                <a:spcPts val="0"/>
              </a:spcAft>
              <a:buSzPts val="1600"/>
              <a:buFont typeface="Calibri"/>
              <a:buChar char="•"/>
              <a:defRPr sz="1200">
                <a:latin typeface="Calibri"/>
                <a:ea typeface="Calibri"/>
                <a:cs typeface="Calibri"/>
                <a:sym typeface="Calibri"/>
              </a:defRPr>
            </a:lvl5pPr>
            <a:lvl6pPr marL="2743200" lvl="5" indent="-228600" algn="l" rtl="0">
              <a:lnSpc>
                <a:spcPct val="100000"/>
              </a:lnSpc>
              <a:spcBef>
                <a:spcPts val="0"/>
              </a:spcBef>
              <a:spcAft>
                <a:spcPts val="0"/>
              </a:spcAft>
              <a:buSzPts val="1200"/>
              <a:buFont typeface="Calibri"/>
              <a:buNone/>
              <a:defRPr sz="1200">
                <a:latin typeface="Calibri"/>
                <a:ea typeface="Calibri"/>
                <a:cs typeface="Calibri"/>
                <a:sym typeface="Calibri"/>
              </a:defRPr>
            </a:lvl6pPr>
            <a:lvl7pPr marL="3200400" lvl="6" indent="-228600" algn="l" rtl="0">
              <a:lnSpc>
                <a:spcPct val="100000"/>
              </a:lnSpc>
              <a:spcBef>
                <a:spcPts val="0"/>
              </a:spcBef>
              <a:spcAft>
                <a:spcPts val="0"/>
              </a:spcAft>
              <a:buSzPts val="1200"/>
              <a:buFont typeface="Calibri"/>
              <a:buNone/>
              <a:defRPr sz="1200">
                <a:latin typeface="Calibri"/>
                <a:ea typeface="Calibri"/>
                <a:cs typeface="Calibri"/>
                <a:sym typeface="Calibri"/>
              </a:defRPr>
            </a:lvl7pPr>
            <a:lvl8pPr marL="3657600" lvl="7" indent="-228600" algn="l" rtl="0">
              <a:lnSpc>
                <a:spcPct val="100000"/>
              </a:lnSpc>
              <a:spcBef>
                <a:spcPts val="0"/>
              </a:spcBef>
              <a:spcAft>
                <a:spcPts val="0"/>
              </a:spcAft>
              <a:buSzPts val="1200"/>
              <a:buFont typeface="Calibri"/>
              <a:buNone/>
              <a:defRPr sz="1200">
                <a:latin typeface="Calibri"/>
                <a:ea typeface="Calibri"/>
                <a:cs typeface="Calibri"/>
                <a:sym typeface="Calibri"/>
              </a:defRPr>
            </a:lvl8pPr>
            <a:lvl9pPr marL="4114800" lvl="8" indent="-228600" algn="l" rtl="0">
              <a:lnSpc>
                <a:spcPct val="100000"/>
              </a:lnSpc>
              <a:spcBef>
                <a:spcPts val="0"/>
              </a:spcBef>
              <a:spcAft>
                <a:spcPts val="0"/>
              </a:spcAft>
              <a:buSzPts val="1200"/>
              <a:buFont typeface="Calibri"/>
              <a:buNone/>
              <a:defRPr sz="1200">
                <a:latin typeface="Calibri"/>
                <a:ea typeface="Calibri"/>
                <a:cs typeface="Calibri"/>
                <a:sym typeface="Calibri"/>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9"/>
        <p:cNvGrpSpPr/>
        <p:nvPr/>
      </p:nvGrpSpPr>
      <p:grpSpPr>
        <a:xfrm>
          <a:off x="0" y="0"/>
          <a:ext cx="0" cy="0"/>
          <a:chOff x="0" y="0"/>
          <a:chExt cx="0" cy="0"/>
        </a:xfrm>
      </p:grpSpPr>
      <p:sp>
        <p:nvSpPr>
          <p:cNvPr id="20" name="Google Shape;20;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21" name="Google Shape;21;p4"/>
          <p:cNvSpPr txBox="1">
            <a:spLocks noGrp="1"/>
          </p:cNvSpPr>
          <p:nvPr>
            <p:ph type="body" idx="1"/>
          </p:nvPr>
        </p:nvSpPr>
        <p:spPr>
          <a:xfrm>
            <a:off x="313200" y="1152475"/>
            <a:ext cx="3999900" cy="3416400"/>
          </a:xfrm>
          <a:prstGeom prst="rect">
            <a:avLst/>
          </a:prstGeom>
        </p:spPr>
        <p:txBody>
          <a:bodyPr spcFirstLastPara="1" wrap="square" lIns="91425" tIns="45700" rIns="91425" bIns="45700" anchor="t" anchorCtr="0">
            <a:normAutofit/>
          </a:bodyPr>
          <a:lstStyle>
            <a:lvl1pPr marL="457200" lvl="0" indent="-317500">
              <a:spcBef>
                <a:spcPts val="600"/>
              </a:spcBef>
              <a:spcAft>
                <a:spcPts val="0"/>
              </a:spcAft>
              <a:buSzPts val="1400"/>
              <a:buChar char="•"/>
              <a:defRPr sz="1400"/>
            </a:lvl1pPr>
            <a:lvl2pPr marL="914400" lvl="1" indent="-304800">
              <a:spcBef>
                <a:spcPts val="30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228600">
              <a:spcBef>
                <a:spcPts val="0"/>
              </a:spcBef>
              <a:spcAft>
                <a:spcPts val="0"/>
              </a:spcAft>
              <a:buSzPts val="1200"/>
              <a:buNone/>
              <a:defRPr sz="1200"/>
            </a:lvl6pPr>
            <a:lvl7pPr marL="3200400" lvl="6" indent="-228600">
              <a:spcBef>
                <a:spcPts val="0"/>
              </a:spcBef>
              <a:spcAft>
                <a:spcPts val="0"/>
              </a:spcAft>
              <a:buSzPts val="1200"/>
              <a:buNone/>
              <a:defRPr sz="1200"/>
            </a:lvl7pPr>
            <a:lvl8pPr marL="3657600" lvl="7" indent="-228600">
              <a:spcBef>
                <a:spcPts val="0"/>
              </a:spcBef>
              <a:spcAft>
                <a:spcPts val="0"/>
              </a:spcAft>
              <a:buSzPts val="1200"/>
              <a:buNone/>
              <a:defRPr sz="1200"/>
            </a:lvl8pPr>
            <a:lvl9pPr marL="4114800" lvl="8" indent="-228600">
              <a:spcBef>
                <a:spcPts val="0"/>
              </a:spcBef>
              <a:spcAft>
                <a:spcPts val="0"/>
              </a:spcAft>
              <a:buSzPts val="1200"/>
              <a:buNone/>
              <a:defRPr sz="1200"/>
            </a:lvl9pPr>
          </a:lstStyle>
          <a:p>
            <a:endParaRPr/>
          </a:p>
        </p:txBody>
      </p:sp>
      <p:sp>
        <p:nvSpPr>
          <p:cNvPr id="22" name="Google Shape;22;p4"/>
          <p:cNvSpPr txBox="1">
            <a:spLocks noGrp="1"/>
          </p:cNvSpPr>
          <p:nvPr>
            <p:ph type="body" idx="2"/>
          </p:nvPr>
        </p:nvSpPr>
        <p:spPr>
          <a:xfrm>
            <a:off x="4832400" y="1152475"/>
            <a:ext cx="3999900" cy="3416400"/>
          </a:xfrm>
          <a:prstGeom prst="rect">
            <a:avLst/>
          </a:prstGeom>
        </p:spPr>
        <p:txBody>
          <a:bodyPr spcFirstLastPara="1" wrap="square" lIns="91425" tIns="45700" rIns="91425" bIns="45700" anchor="t" anchorCtr="0">
            <a:normAutofit/>
          </a:bodyPr>
          <a:lstStyle>
            <a:lvl1pPr marL="457200" lvl="0" indent="-317500">
              <a:spcBef>
                <a:spcPts val="600"/>
              </a:spcBef>
              <a:spcAft>
                <a:spcPts val="0"/>
              </a:spcAft>
              <a:buSzPts val="1400"/>
              <a:buChar char="•"/>
              <a:defRPr sz="1400"/>
            </a:lvl1pPr>
            <a:lvl2pPr marL="914400" lvl="1" indent="-304800">
              <a:spcBef>
                <a:spcPts val="30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228600">
              <a:spcBef>
                <a:spcPts val="0"/>
              </a:spcBef>
              <a:spcAft>
                <a:spcPts val="0"/>
              </a:spcAft>
              <a:buSzPts val="1200"/>
              <a:buNone/>
              <a:defRPr sz="1200"/>
            </a:lvl6pPr>
            <a:lvl7pPr marL="3200400" lvl="6" indent="-228600">
              <a:spcBef>
                <a:spcPts val="0"/>
              </a:spcBef>
              <a:spcAft>
                <a:spcPts val="0"/>
              </a:spcAft>
              <a:buSzPts val="1200"/>
              <a:buNone/>
              <a:defRPr sz="1200"/>
            </a:lvl7pPr>
            <a:lvl8pPr marL="3657600" lvl="7" indent="-228600">
              <a:spcBef>
                <a:spcPts val="0"/>
              </a:spcBef>
              <a:spcAft>
                <a:spcPts val="0"/>
              </a:spcAft>
              <a:buSzPts val="1200"/>
              <a:buNone/>
              <a:defRPr sz="1200"/>
            </a:lvl8pPr>
            <a:lvl9pPr marL="4114800" lvl="8" indent="-228600">
              <a:spcBef>
                <a:spcPts val="0"/>
              </a:spcBef>
              <a:spcAft>
                <a:spcPts val="0"/>
              </a:spcAft>
              <a:buSzPts val="1200"/>
              <a:buNone/>
              <a:defRPr sz="1200"/>
            </a:lvl9pPr>
          </a:lstStyle>
          <a:p>
            <a:endParaRPr/>
          </a:p>
        </p:txBody>
      </p:sp>
      <p:sp>
        <p:nvSpPr>
          <p:cNvPr id="23" name="Google Shape;23;p4"/>
          <p:cNvSpPr txBox="1">
            <a:spLocks noGrp="1"/>
          </p:cNvSpPr>
          <p:nvPr>
            <p:ph type="sldNum" idx="12"/>
          </p:nvPr>
        </p:nvSpPr>
        <p:spPr>
          <a:xfrm>
            <a:off x="8472458" y="476850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4"/>
        <p:cNvGrpSpPr/>
        <p:nvPr/>
      </p:nvGrpSpPr>
      <p:grpSpPr>
        <a:xfrm>
          <a:off x="0" y="0"/>
          <a:ext cx="0" cy="0"/>
          <a:chOff x="0" y="0"/>
          <a:chExt cx="0" cy="0"/>
        </a:xfrm>
      </p:grpSpPr>
      <p:sp>
        <p:nvSpPr>
          <p:cNvPr id="25" name="Google Shape;25;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Clr>
                <a:srgbClr val="0B5394"/>
              </a:buClr>
              <a:buSzPts val="2800"/>
              <a:buFont typeface="Calibri"/>
              <a:buNone/>
              <a:defRPr b="1">
                <a:solidFill>
                  <a:srgbClr val="0B5394"/>
                </a:solidFill>
                <a:latin typeface="Calibri"/>
                <a:ea typeface="Calibri"/>
                <a:cs typeface="Calibri"/>
                <a:sym typeface="Calibri"/>
              </a:defRPr>
            </a:lvl1pPr>
            <a:lvl2pPr lvl="1">
              <a:spcBef>
                <a:spcPts val="0"/>
              </a:spcBef>
              <a:spcAft>
                <a:spcPts val="0"/>
              </a:spcAft>
              <a:buClr>
                <a:srgbClr val="0B5394"/>
              </a:buClr>
              <a:buSzPts val="3200"/>
              <a:buFont typeface="Calibri"/>
              <a:buNone/>
              <a:defRPr b="1">
                <a:solidFill>
                  <a:srgbClr val="0B5394"/>
                </a:solidFill>
                <a:latin typeface="Calibri"/>
                <a:ea typeface="Calibri"/>
                <a:cs typeface="Calibri"/>
                <a:sym typeface="Calibri"/>
              </a:defRPr>
            </a:lvl2pPr>
            <a:lvl3pPr lvl="2">
              <a:spcBef>
                <a:spcPts val="0"/>
              </a:spcBef>
              <a:spcAft>
                <a:spcPts val="0"/>
              </a:spcAft>
              <a:buClr>
                <a:srgbClr val="0B5394"/>
              </a:buClr>
              <a:buSzPts val="3200"/>
              <a:buFont typeface="Calibri"/>
              <a:buNone/>
              <a:defRPr b="1">
                <a:solidFill>
                  <a:srgbClr val="0B5394"/>
                </a:solidFill>
                <a:latin typeface="Calibri"/>
                <a:ea typeface="Calibri"/>
                <a:cs typeface="Calibri"/>
                <a:sym typeface="Calibri"/>
              </a:defRPr>
            </a:lvl3pPr>
            <a:lvl4pPr lvl="3">
              <a:spcBef>
                <a:spcPts val="0"/>
              </a:spcBef>
              <a:spcAft>
                <a:spcPts val="0"/>
              </a:spcAft>
              <a:buClr>
                <a:srgbClr val="0B5394"/>
              </a:buClr>
              <a:buSzPts val="3200"/>
              <a:buFont typeface="Calibri"/>
              <a:buNone/>
              <a:defRPr b="1">
                <a:solidFill>
                  <a:srgbClr val="0B5394"/>
                </a:solidFill>
                <a:latin typeface="Calibri"/>
                <a:ea typeface="Calibri"/>
                <a:cs typeface="Calibri"/>
                <a:sym typeface="Calibri"/>
              </a:defRPr>
            </a:lvl4pPr>
            <a:lvl5pPr lvl="4">
              <a:spcBef>
                <a:spcPts val="0"/>
              </a:spcBef>
              <a:spcAft>
                <a:spcPts val="0"/>
              </a:spcAft>
              <a:buClr>
                <a:srgbClr val="0B5394"/>
              </a:buClr>
              <a:buSzPts val="3200"/>
              <a:buFont typeface="Calibri"/>
              <a:buNone/>
              <a:defRPr b="1">
                <a:solidFill>
                  <a:srgbClr val="0B5394"/>
                </a:solidFill>
                <a:latin typeface="Calibri"/>
                <a:ea typeface="Calibri"/>
                <a:cs typeface="Calibri"/>
                <a:sym typeface="Calibri"/>
              </a:defRPr>
            </a:lvl5pPr>
            <a:lvl6pPr lvl="5">
              <a:spcBef>
                <a:spcPts val="0"/>
              </a:spcBef>
              <a:spcAft>
                <a:spcPts val="0"/>
              </a:spcAft>
              <a:buClr>
                <a:srgbClr val="0B5394"/>
              </a:buClr>
              <a:buSzPts val="3200"/>
              <a:buFont typeface="Calibri"/>
              <a:buNone/>
              <a:defRPr b="1">
                <a:solidFill>
                  <a:srgbClr val="0B5394"/>
                </a:solidFill>
                <a:latin typeface="Calibri"/>
                <a:ea typeface="Calibri"/>
                <a:cs typeface="Calibri"/>
                <a:sym typeface="Calibri"/>
              </a:defRPr>
            </a:lvl6pPr>
            <a:lvl7pPr lvl="6">
              <a:spcBef>
                <a:spcPts val="0"/>
              </a:spcBef>
              <a:spcAft>
                <a:spcPts val="0"/>
              </a:spcAft>
              <a:buClr>
                <a:srgbClr val="0B5394"/>
              </a:buClr>
              <a:buSzPts val="3200"/>
              <a:buFont typeface="Calibri"/>
              <a:buNone/>
              <a:defRPr b="1">
                <a:solidFill>
                  <a:srgbClr val="0B5394"/>
                </a:solidFill>
                <a:latin typeface="Calibri"/>
                <a:ea typeface="Calibri"/>
                <a:cs typeface="Calibri"/>
                <a:sym typeface="Calibri"/>
              </a:defRPr>
            </a:lvl7pPr>
            <a:lvl8pPr lvl="7">
              <a:spcBef>
                <a:spcPts val="0"/>
              </a:spcBef>
              <a:spcAft>
                <a:spcPts val="0"/>
              </a:spcAft>
              <a:buClr>
                <a:srgbClr val="0B5394"/>
              </a:buClr>
              <a:buSzPts val="3200"/>
              <a:buFont typeface="Calibri"/>
              <a:buNone/>
              <a:defRPr b="1">
                <a:solidFill>
                  <a:srgbClr val="0B5394"/>
                </a:solidFill>
                <a:latin typeface="Calibri"/>
                <a:ea typeface="Calibri"/>
                <a:cs typeface="Calibri"/>
                <a:sym typeface="Calibri"/>
              </a:defRPr>
            </a:lvl8pPr>
            <a:lvl9pPr lvl="8">
              <a:spcBef>
                <a:spcPts val="0"/>
              </a:spcBef>
              <a:spcAft>
                <a:spcPts val="0"/>
              </a:spcAft>
              <a:buClr>
                <a:srgbClr val="0B5394"/>
              </a:buClr>
              <a:buSzPts val="3200"/>
              <a:buFont typeface="Calibri"/>
              <a:buNone/>
              <a:defRPr b="1">
                <a:solidFill>
                  <a:srgbClr val="0B5394"/>
                </a:solidFill>
                <a:latin typeface="Calibri"/>
                <a:ea typeface="Calibri"/>
                <a:cs typeface="Calibri"/>
                <a:sym typeface="Calibri"/>
              </a:defRPr>
            </a:lvl9pPr>
          </a:lstStyle>
          <a:p>
            <a:endParaRPr/>
          </a:p>
        </p:txBody>
      </p:sp>
      <p:sp>
        <p:nvSpPr>
          <p:cNvPr id="26" name="Google Shape;26;p5"/>
          <p:cNvSpPr txBox="1">
            <a:spLocks noGrp="1"/>
          </p:cNvSpPr>
          <p:nvPr>
            <p:ph type="sldNum" idx="12"/>
          </p:nvPr>
        </p:nvSpPr>
        <p:spPr>
          <a:xfrm>
            <a:off x="8472458" y="476850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7"/>
        <p:cNvGrpSpPr/>
        <p:nvPr/>
      </p:nvGrpSpPr>
      <p:grpSpPr>
        <a:xfrm>
          <a:off x="0" y="0"/>
          <a:ext cx="0" cy="0"/>
          <a:chOff x="0" y="0"/>
          <a:chExt cx="0" cy="0"/>
        </a:xfrm>
      </p:grpSpPr>
      <p:sp>
        <p:nvSpPr>
          <p:cNvPr id="28" name="Google Shape;28;p6"/>
          <p:cNvSpPr txBox="1">
            <a:spLocks noGrp="1"/>
          </p:cNvSpPr>
          <p:nvPr>
            <p:ph type="sldNum" idx="12"/>
          </p:nvPr>
        </p:nvSpPr>
        <p:spPr>
          <a:xfrm>
            <a:off x="8472458" y="476850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pic>
        <p:nvPicPr>
          <p:cNvPr id="6" name="Google Shape;6;p1"/>
          <p:cNvPicPr preferRelativeResize="0"/>
          <p:nvPr/>
        </p:nvPicPr>
        <p:blipFill>
          <a:blip r:embed="rId7">
            <a:alphaModFix/>
          </a:blip>
          <a:stretch>
            <a:fillRect/>
          </a:stretch>
        </p:blipFill>
        <p:spPr>
          <a:xfrm>
            <a:off x="0" y="4787168"/>
            <a:ext cx="9144000" cy="356333"/>
          </a:xfrm>
          <a:prstGeom prst="rect">
            <a:avLst/>
          </a:prstGeom>
          <a:noFill/>
          <a:ln>
            <a:noFill/>
          </a:ln>
        </p:spPr>
      </p:pic>
      <p:sp>
        <p:nvSpPr>
          <p:cNvPr id="7" name="Google Shape;7;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rgbClr val="0B5394"/>
              </a:buClr>
              <a:buSzPts val="2800"/>
              <a:buFont typeface="Calibri"/>
              <a:buNone/>
              <a:defRPr sz="2800" b="1">
                <a:solidFill>
                  <a:srgbClr val="0B5394"/>
                </a:solidFill>
                <a:latin typeface="Calibri"/>
                <a:ea typeface="Calibri"/>
                <a:cs typeface="Calibri"/>
                <a:sym typeface="Calibri"/>
              </a:defRPr>
            </a:lvl1pPr>
            <a:lvl2pPr lvl="1">
              <a:spcBef>
                <a:spcPts val="0"/>
              </a:spcBef>
              <a:spcAft>
                <a:spcPts val="0"/>
              </a:spcAft>
              <a:buClr>
                <a:srgbClr val="0B5394"/>
              </a:buClr>
              <a:buSzPts val="3200"/>
              <a:buFont typeface="Calibri"/>
              <a:buNone/>
              <a:defRPr sz="3200" b="1">
                <a:solidFill>
                  <a:srgbClr val="0B5394"/>
                </a:solidFill>
                <a:latin typeface="Calibri"/>
                <a:ea typeface="Calibri"/>
                <a:cs typeface="Calibri"/>
                <a:sym typeface="Calibri"/>
              </a:defRPr>
            </a:lvl2pPr>
            <a:lvl3pPr lvl="2">
              <a:spcBef>
                <a:spcPts val="0"/>
              </a:spcBef>
              <a:spcAft>
                <a:spcPts val="0"/>
              </a:spcAft>
              <a:buClr>
                <a:srgbClr val="0B5394"/>
              </a:buClr>
              <a:buSzPts val="3200"/>
              <a:buFont typeface="Calibri"/>
              <a:buNone/>
              <a:defRPr sz="3200" b="1">
                <a:solidFill>
                  <a:srgbClr val="0B5394"/>
                </a:solidFill>
                <a:latin typeface="Calibri"/>
                <a:ea typeface="Calibri"/>
                <a:cs typeface="Calibri"/>
                <a:sym typeface="Calibri"/>
              </a:defRPr>
            </a:lvl3pPr>
            <a:lvl4pPr lvl="3">
              <a:spcBef>
                <a:spcPts val="0"/>
              </a:spcBef>
              <a:spcAft>
                <a:spcPts val="0"/>
              </a:spcAft>
              <a:buClr>
                <a:srgbClr val="0B5394"/>
              </a:buClr>
              <a:buSzPts val="3200"/>
              <a:buFont typeface="Calibri"/>
              <a:buNone/>
              <a:defRPr sz="3200" b="1">
                <a:solidFill>
                  <a:srgbClr val="0B5394"/>
                </a:solidFill>
                <a:latin typeface="Calibri"/>
                <a:ea typeface="Calibri"/>
                <a:cs typeface="Calibri"/>
                <a:sym typeface="Calibri"/>
              </a:defRPr>
            </a:lvl4pPr>
            <a:lvl5pPr lvl="4">
              <a:spcBef>
                <a:spcPts val="0"/>
              </a:spcBef>
              <a:spcAft>
                <a:spcPts val="0"/>
              </a:spcAft>
              <a:buClr>
                <a:srgbClr val="0B5394"/>
              </a:buClr>
              <a:buSzPts val="3200"/>
              <a:buFont typeface="Calibri"/>
              <a:buNone/>
              <a:defRPr sz="3200" b="1">
                <a:solidFill>
                  <a:srgbClr val="0B5394"/>
                </a:solidFill>
                <a:latin typeface="Calibri"/>
                <a:ea typeface="Calibri"/>
                <a:cs typeface="Calibri"/>
                <a:sym typeface="Calibri"/>
              </a:defRPr>
            </a:lvl5pPr>
            <a:lvl6pPr lvl="5">
              <a:spcBef>
                <a:spcPts val="0"/>
              </a:spcBef>
              <a:spcAft>
                <a:spcPts val="0"/>
              </a:spcAft>
              <a:buClr>
                <a:srgbClr val="0B5394"/>
              </a:buClr>
              <a:buSzPts val="3200"/>
              <a:buFont typeface="Calibri"/>
              <a:buNone/>
              <a:defRPr sz="3200" b="1">
                <a:solidFill>
                  <a:srgbClr val="0B5394"/>
                </a:solidFill>
                <a:latin typeface="Calibri"/>
                <a:ea typeface="Calibri"/>
                <a:cs typeface="Calibri"/>
                <a:sym typeface="Calibri"/>
              </a:defRPr>
            </a:lvl6pPr>
            <a:lvl7pPr lvl="6">
              <a:spcBef>
                <a:spcPts val="0"/>
              </a:spcBef>
              <a:spcAft>
                <a:spcPts val="0"/>
              </a:spcAft>
              <a:buClr>
                <a:srgbClr val="0B5394"/>
              </a:buClr>
              <a:buSzPts val="3200"/>
              <a:buFont typeface="Calibri"/>
              <a:buNone/>
              <a:defRPr sz="3200" b="1">
                <a:solidFill>
                  <a:srgbClr val="0B5394"/>
                </a:solidFill>
                <a:latin typeface="Calibri"/>
                <a:ea typeface="Calibri"/>
                <a:cs typeface="Calibri"/>
                <a:sym typeface="Calibri"/>
              </a:defRPr>
            </a:lvl7pPr>
            <a:lvl8pPr lvl="7">
              <a:spcBef>
                <a:spcPts val="0"/>
              </a:spcBef>
              <a:spcAft>
                <a:spcPts val="0"/>
              </a:spcAft>
              <a:buClr>
                <a:srgbClr val="0B5394"/>
              </a:buClr>
              <a:buSzPts val="3200"/>
              <a:buFont typeface="Calibri"/>
              <a:buNone/>
              <a:defRPr sz="3200" b="1">
                <a:solidFill>
                  <a:srgbClr val="0B5394"/>
                </a:solidFill>
                <a:latin typeface="Calibri"/>
                <a:ea typeface="Calibri"/>
                <a:cs typeface="Calibri"/>
                <a:sym typeface="Calibri"/>
              </a:defRPr>
            </a:lvl8pPr>
            <a:lvl9pPr lvl="8">
              <a:spcBef>
                <a:spcPts val="0"/>
              </a:spcBef>
              <a:spcAft>
                <a:spcPts val="0"/>
              </a:spcAft>
              <a:buClr>
                <a:srgbClr val="0B5394"/>
              </a:buClr>
              <a:buSzPts val="3200"/>
              <a:buFont typeface="Calibri"/>
              <a:buNone/>
              <a:defRPr sz="3200" b="1">
                <a:solidFill>
                  <a:srgbClr val="0B5394"/>
                </a:solidFill>
                <a:latin typeface="Calibri"/>
                <a:ea typeface="Calibri"/>
                <a:cs typeface="Calibri"/>
                <a:sym typeface="Calibri"/>
              </a:defRPr>
            </a:lvl9pPr>
          </a:lstStyle>
          <a:p>
            <a:endParaRPr/>
          </a:p>
        </p:txBody>
      </p:sp>
      <p:sp>
        <p:nvSpPr>
          <p:cNvPr id="8" name="Google Shape;8;p1"/>
          <p:cNvSpPr txBox="1">
            <a:spLocks noGrp="1"/>
          </p:cNvSpPr>
          <p:nvPr>
            <p:ph type="sldNum" idx="12"/>
          </p:nvPr>
        </p:nvSpPr>
        <p:spPr>
          <a:xfrm>
            <a:off x="8472458" y="4768506"/>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lt1"/>
                </a:solidFill>
              </a:defRPr>
            </a:lvl1pPr>
            <a:lvl2pPr lvl="1" algn="r">
              <a:buNone/>
              <a:defRPr sz="1000">
                <a:solidFill>
                  <a:schemeClr val="lt1"/>
                </a:solidFill>
              </a:defRPr>
            </a:lvl2pPr>
            <a:lvl3pPr lvl="2" algn="r">
              <a:buNone/>
              <a:defRPr sz="1000">
                <a:solidFill>
                  <a:schemeClr val="lt1"/>
                </a:solidFill>
              </a:defRPr>
            </a:lvl3pPr>
            <a:lvl4pPr lvl="3" algn="r">
              <a:buNone/>
              <a:defRPr sz="1000">
                <a:solidFill>
                  <a:schemeClr val="lt1"/>
                </a:solidFill>
              </a:defRPr>
            </a:lvl4pPr>
            <a:lvl5pPr lvl="4" algn="r">
              <a:buNone/>
              <a:defRPr sz="1000">
                <a:solidFill>
                  <a:schemeClr val="lt1"/>
                </a:solidFill>
              </a:defRPr>
            </a:lvl5pPr>
            <a:lvl6pPr lvl="5" algn="r">
              <a:buNone/>
              <a:defRPr sz="1000">
                <a:solidFill>
                  <a:schemeClr val="lt1"/>
                </a:solidFill>
              </a:defRPr>
            </a:lvl6pPr>
            <a:lvl7pPr lvl="6" algn="r">
              <a:buNone/>
              <a:defRPr sz="1000">
                <a:solidFill>
                  <a:schemeClr val="lt1"/>
                </a:solidFill>
              </a:defRPr>
            </a:lvl7pPr>
            <a:lvl8pPr lvl="7" algn="r">
              <a:buNone/>
              <a:defRPr sz="1000">
                <a:solidFill>
                  <a:schemeClr val="lt1"/>
                </a:solidFill>
              </a:defRPr>
            </a:lvl8pPr>
            <a:lvl9pPr lvl="8" algn="r">
              <a:buNone/>
              <a:defRPr sz="1000">
                <a:solidFill>
                  <a:schemeClr val="lt1"/>
                </a:solidFill>
              </a:defRPr>
            </a:lvl9pPr>
          </a:lstStyle>
          <a:p>
            <a:pPr marL="0" lvl="0" indent="0" algn="r" rtl="0">
              <a:spcBef>
                <a:spcPts val="0"/>
              </a:spcBef>
              <a:spcAft>
                <a:spcPts val="0"/>
              </a:spcAft>
              <a:buNone/>
            </a:pPr>
            <a:fld id="{00000000-1234-1234-1234-123412341234}" type="slidenum">
              <a:rPr lang="it"/>
              <a:t>‹#›</a:t>
            </a:fld>
            <a:endParaRPr/>
          </a:p>
        </p:txBody>
      </p:sp>
      <p:sp>
        <p:nvSpPr>
          <p:cNvPr id="9" name="Google Shape;9;p1"/>
          <p:cNvSpPr txBox="1"/>
          <p:nvPr/>
        </p:nvSpPr>
        <p:spPr>
          <a:xfrm>
            <a:off x="1019175" y="4806045"/>
            <a:ext cx="6677100" cy="318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it" sz="1100" i="1">
                <a:solidFill>
                  <a:schemeClr val="lt1"/>
                </a:solidFill>
              </a:rPr>
              <a:t>© G. Malnati, A. Rabino, 2021-24</a:t>
            </a:r>
            <a:endParaRPr sz="1100" i="1">
              <a:solidFill>
                <a:schemeClr val="lt1"/>
              </a:solidFill>
            </a:endParaRPr>
          </a:p>
        </p:txBody>
      </p:sp>
      <p:sp>
        <p:nvSpPr>
          <p:cNvPr id="10" name="Google Shape;10;p1"/>
          <p:cNvSpPr txBox="1">
            <a:spLocks noGrp="1"/>
          </p:cNvSpPr>
          <p:nvPr>
            <p:ph type="body" idx="1"/>
          </p:nvPr>
        </p:nvSpPr>
        <p:spPr>
          <a:xfrm>
            <a:off x="311150" y="1244204"/>
            <a:ext cx="8521800" cy="3393300"/>
          </a:xfrm>
          <a:prstGeom prst="rect">
            <a:avLst/>
          </a:prstGeom>
          <a:noFill/>
          <a:ln>
            <a:noFill/>
          </a:ln>
        </p:spPr>
        <p:txBody>
          <a:bodyPr spcFirstLastPara="1" wrap="square" lIns="91425" tIns="45700" rIns="91425" bIns="45700" anchor="t" anchorCtr="0">
            <a:normAutofit/>
          </a:bodyPr>
          <a:lstStyle>
            <a:lvl1pPr marL="457200" lvl="0" indent="-355600" algn="l" rtl="0">
              <a:lnSpc>
                <a:spcPct val="115000"/>
              </a:lnSpc>
              <a:spcBef>
                <a:spcPts val="600"/>
              </a:spcBef>
              <a:spcAft>
                <a:spcPts val="0"/>
              </a:spcAft>
              <a:buSzPts val="2000"/>
              <a:buFont typeface="Calibri"/>
              <a:buChar char="•"/>
              <a:defRPr sz="2000">
                <a:latin typeface="Calibri"/>
                <a:ea typeface="Calibri"/>
                <a:cs typeface="Calibri"/>
                <a:sym typeface="Calibri"/>
              </a:defRPr>
            </a:lvl1pPr>
            <a:lvl2pPr marL="914400" lvl="1" indent="-330200" algn="l" rtl="0">
              <a:lnSpc>
                <a:spcPct val="110000"/>
              </a:lnSpc>
              <a:spcBef>
                <a:spcPts val="300"/>
              </a:spcBef>
              <a:spcAft>
                <a:spcPts val="0"/>
              </a:spcAft>
              <a:buSzPts val="1600"/>
              <a:buFont typeface="Calibri"/>
              <a:buChar char="○"/>
              <a:defRPr sz="1600">
                <a:latin typeface="Calibri"/>
                <a:ea typeface="Calibri"/>
                <a:cs typeface="Calibri"/>
                <a:sym typeface="Calibri"/>
              </a:defRPr>
            </a:lvl2pPr>
            <a:lvl3pPr marL="1371600" lvl="2" indent="-317500" algn="l" rtl="0">
              <a:lnSpc>
                <a:spcPct val="100000"/>
              </a:lnSpc>
              <a:spcBef>
                <a:spcPts val="0"/>
              </a:spcBef>
              <a:spcAft>
                <a:spcPts val="0"/>
              </a:spcAft>
              <a:buSzPts val="1400"/>
              <a:buFont typeface="Calibri"/>
              <a:buChar char="▪"/>
              <a:defRPr>
                <a:latin typeface="Calibri"/>
                <a:ea typeface="Calibri"/>
                <a:cs typeface="Calibri"/>
                <a:sym typeface="Calibri"/>
              </a:defRPr>
            </a:lvl3pPr>
            <a:lvl4pPr marL="1828800" lvl="3" indent="-330200" algn="l" rtl="0">
              <a:lnSpc>
                <a:spcPct val="100000"/>
              </a:lnSpc>
              <a:spcBef>
                <a:spcPts val="0"/>
              </a:spcBef>
              <a:spcAft>
                <a:spcPts val="0"/>
              </a:spcAft>
              <a:buSzPts val="1600"/>
              <a:buFont typeface="Calibri"/>
              <a:buChar char="•"/>
              <a:defRPr sz="1200">
                <a:latin typeface="Calibri"/>
                <a:ea typeface="Calibri"/>
                <a:cs typeface="Calibri"/>
                <a:sym typeface="Calibri"/>
              </a:defRPr>
            </a:lvl4pPr>
            <a:lvl5pPr marL="2286000" lvl="4" indent="-330200" algn="l" rtl="0">
              <a:lnSpc>
                <a:spcPct val="100000"/>
              </a:lnSpc>
              <a:spcBef>
                <a:spcPts val="0"/>
              </a:spcBef>
              <a:spcAft>
                <a:spcPts val="0"/>
              </a:spcAft>
              <a:buSzPts val="1600"/>
              <a:buFont typeface="Calibri"/>
              <a:buChar char="•"/>
              <a:defRPr sz="1200">
                <a:latin typeface="Calibri"/>
                <a:ea typeface="Calibri"/>
                <a:cs typeface="Calibri"/>
                <a:sym typeface="Calibri"/>
              </a:defRPr>
            </a:lvl5pPr>
            <a:lvl6pPr marL="2743200" lvl="5" indent="-228600" algn="l" rtl="0">
              <a:lnSpc>
                <a:spcPct val="100000"/>
              </a:lnSpc>
              <a:spcBef>
                <a:spcPts val="0"/>
              </a:spcBef>
              <a:spcAft>
                <a:spcPts val="0"/>
              </a:spcAft>
              <a:buSzPts val="1200"/>
              <a:buFont typeface="Calibri"/>
              <a:buNone/>
              <a:defRPr sz="1200">
                <a:latin typeface="Calibri"/>
                <a:ea typeface="Calibri"/>
                <a:cs typeface="Calibri"/>
                <a:sym typeface="Calibri"/>
              </a:defRPr>
            </a:lvl6pPr>
            <a:lvl7pPr marL="3200400" lvl="6" indent="-228600" algn="l" rtl="0">
              <a:lnSpc>
                <a:spcPct val="100000"/>
              </a:lnSpc>
              <a:spcBef>
                <a:spcPts val="0"/>
              </a:spcBef>
              <a:spcAft>
                <a:spcPts val="0"/>
              </a:spcAft>
              <a:buSzPts val="1200"/>
              <a:buFont typeface="Calibri"/>
              <a:buNone/>
              <a:defRPr sz="1200">
                <a:latin typeface="Calibri"/>
                <a:ea typeface="Calibri"/>
                <a:cs typeface="Calibri"/>
                <a:sym typeface="Calibri"/>
              </a:defRPr>
            </a:lvl7pPr>
            <a:lvl8pPr marL="3657600" lvl="7" indent="-228600" algn="l" rtl="0">
              <a:lnSpc>
                <a:spcPct val="100000"/>
              </a:lnSpc>
              <a:spcBef>
                <a:spcPts val="0"/>
              </a:spcBef>
              <a:spcAft>
                <a:spcPts val="0"/>
              </a:spcAft>
              <a:buSzPts val="1200"/>
              <a:buFont typeface="Calibri"/>
              <a:buNone/>
              <a:defRPr sz="1200">
                <a:latin typeface="Calibri"/>
                <a:ea typeface="Calibri"/>
                <a:cs typeface="Calibri"/>
                <a:sym typeface="Calibri"/>
              </a:defRPr>
            </a:lvl8pPr>
            <a:lvl9pPr marL="4114800" lvl="8" indent="-228600" algn="l" rtl="0">
              <a:lnSpc>
                <a:spcPct val="100000"/>
              </a:lnSpc>
              <a:spcBef>
                <a:spcPts val="0"/>
              </a:spcBef>
              <a:spcAft>
                <a:spcPts val="0"/>
              </a:spcAft>
              <a:buSzPts val="1200"/>
              <a:buFont typeface="Calibri"/>
              <a:buNone/>
              <a:defRPr sz="1200">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454">
          <p15:clr>
            <a:srgbClr val="EA4335"/>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kotlinlang.org/"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hyperlink" Target="https://play.kotlinlang.org/"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hyperlink" Target="https://proandroiddev.com/introducing-the-kotlin-playground-e3625c05a109" TargetMode="Externa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dzone.com/articles/kotlin-pearls-7-unit-nothing-any-and-null"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6.xml"/><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1.xml"/><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2.xml"/><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3" Type="http://schemas.openxmlformats.org/officeDocument/2006/relationships/hyperlink" Target="https://blog.kiprosh.com/kotlin-standard-library-functions/" TargetMode="External"/><Relationship Id="rId2" Type="http://schemas.openxmlformats.org/officeDocument/2006/relationships/notesSlide" Target="../notesSlides/notesSlide83.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hyperlink" Target="https://proandroiddev.com/kotlins-way-to-make-dsls-and-many-standard-library-functions-work-a8e750c38628" TargetMode="External"/><Relationship Id="rId4" Type="http://schemas.openxmlformats.org/officeDocument/2006/relationships/hyperlink" Target="https://niklaslochschmidt.com/blog/2022/kotlin-nitpicks-language-and-stdlib/"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2"/>
        <p:cNvGrpSpPr/>
        <p:nvPr/>
      </p:nvGrpSpPr>
      <p:grpSpPr>
        <a:xfrm>
          <a:off x="0" y="0"/>
          <a:ext cx="0" cy="0"/>
          <a:chOff x="0" y="0"/>
          <a:chExt cx="0" cy="0"/>
        </a:xfrm>
      </p:grpSpPr>
      <p:sp>
        <p:nvSpPr>
          <p:cNvPr id="33" name="Google Shape;33;p7"/>
          <p:cNvSpPr txBox="1">
            <a:spLocks noGrp="1"/>
          </p:cNvSpPr>
          <p:nvPr>
            <p:ph type="ctrTitle"/>
          </p:nvPr>
        </p:nvSpPr>
        <p:spPr>
          <a:xfrm>
            <a:off x="311708" y="16589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it" sz="4800"/>
              <a:t>The Kotlin</a:t>
            </a:r>
            <a:endParaRPr sz="4800"/>
          </a:p>
          <a:p>
            <a:pPr marL="0" lvl="0" indent="0" algn="ctr" rtl="0">
              <a:spcBef>
                <a:spcPts val="0"/>
              </a:spcBef>
              <a:spcAft>
                <a:spcPts val="0"/>
              </a:spcAft>
              <a:buNone/>
            </a:pPr>
            <a:r>
              <a:rPr lang="it" sz="4800"/>
              <a:t>programming language</a:t>
            </a:r>
            <a:endParaRPr sz="4800"/>
          </a:p>
        </p:txBody>
      </p:sp>
      <p:sp>
        <p:nvSpPr>
          <p:cNvPr id="34" name="Google Shape;34;p7"/>
          <p:cNvSpPr txBox="1">
            <a:spLocks noGrp="1"/>
          </p:cNvSpPr>
          <p:nvPr>
            <p:ph type="subTitle" idx="1"/>
          </p:nvPr>
        </p:nvSpPr>
        <p:spPr>
          <a:xfrm>
            <a:off x="311700" y="3748525"/>
            <a:ext cx="8520600" cy="792600"/>
          </a:xfrm>
          <a:prstGeom prst="rect">
            <a:avLst/>
          </a:prstGeom>
        </p:spPr>
        <p:txBody>
          <a:bodyPr spcFirstLastPara="1" wrap="square" lIns="91425" tIns="45700" rIns="91425" bIns="45700" anchor="t" anchorCtr="0">
            <a:normAutofit/>
          </a:bodyPr>
          <a:lstStyle/>
          <a:p>
            <a:pPr marL="0" lvl="0" indent="0" algn="ctr" rtl="0">
              <a:spcBef>
                <a:spcPts val="600"/>
              </a:spcBef>
              <a:spcAft>
                <a:spcPts val="0"/>
              </a:spcAft>
              <a:buNone/>
            </a:pPr>
            <a:r>
              <a:rPr lang="it"/>
              <a:t>2023-24</a:t>
            </a:r>
            <a:endParaRPr/>
          </a:p>
        </p:txBody>
      </p:sp>
      <p:pic>
        <p:nvPicPr>
          <p:cNvPr id="35" name="Google Shape;35;p7"/>
          <p:cNvPicPr preferRelativeResize="0"/>
          <p:nvPr/>
        </p:nvPicPr>
        <p:blipFill>
          <a:blip r:embed="rId3">
            <a:alphaModFix/>
          </a:blip>
          <a:stretch>
            <a:fillRect/>
          </a:stretch>
        </p:blipFill>
        <p:spPr>
          <a:xfrm>
            <a:off x="3323650" y="156388"/>
            <a:ext cx="2571750" cy="17811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9"/>
        <p:cNvGrpSpPr/>
        <p:nvPr/>
      </p:nvGrpSpPr>
      <p:grpSpPr>
        <a:xfrm>
          <a:off x="0" y="0"/>
          <a:ext cx="0" cy="0"/>
          <a:chOff x="0" y="0"/>
          <a:chExt cx="0" cy="0"/>
        </a:xfrm>
      </p:grpSpPr>
      <p:sp>
        <p:nvSpPr>
          <p:cNvPr id="40" name="Google Shape;40;p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t"/>
              <a:t>Introduction and history</a:t>
            </a:r>
            <a:endParaRPr/>
          </a:p>
        </p:txBody>
      </p:sp>
      <p:sp>
        <p:nvSpPr>
          <p:cNvPr id="41" name="Google Shape;41;p8"/>
          <p:cNvSpPr txBox="1">
            <a:spLocks noGrp="1"/>
          </p:cNvSpPr>
          <p:nvPr>
            <p:ph type="body" idx="1"/>
          </p:nvPr>
        </p:nvSpPr>
        <p:spPr>
          <a:xfrm>
            <a:off x="311150" y="1244204"/>
            <a:ext cx="8521800" cy="3393300"/>
          </a:xfrm>
          <a:prstGeom prst="rect">
            <a:avLst/>
          </a:prstGeom>
        </p:spPr>
        <p:txBody>
          <a:bodyPr spcFirstLastPara="1" wrap="square" lIns="91425" tIns="45700" rIns="91425" bIns="45700" anchor="t" anchorCtr="0">
            <a:normAutofit fontScale="85000" lnSpcReduction="20000"/>
          </a:bodyPr>
          <a:lstStyle/>
          <a:p>
            <a:pPr marL="269875" lvl="0" indent="-247015" algn="l" rtl="0">
              <a:lnSpc>
                <a:spcPct val="100000"/>
              </a:lnSpc>
              <a:spcBef>
                <a:spcPts val="600"/>
              </a:spcBef>
              <a:spcAft>
                <a:spcPts val="0"/>
              </a:spcAft>
              <a:buClr>
                <a:schemeClr val="dk1"/>
              </a:buClr>
              <a:buSzPct val="100000"/>
              <a:buChar char="•"/>
            </a:pPr>
            <a:r>
              <a:rPr lang="it" sz="2400">
                <a:solidFill>
                  <a:schemeClr val="dk1"/>
                </a:solidFill>
                <a:latin typeface="Calibri"/>
                <a:ea typeface="Calibri"/>
                <a:cs typeface="Calibri"/>
                <a:sym typeface="Calibri"/>
              </a:rPr>
              <a:t>Statically typed programming language for modern multi-platform applications</a:t>
            </a:r>
            <a:endParaRPr sz="2400">
              <a:solidFill>
                <a:schemeClr val="dk1"/>
              </a:solidFill>
              <a:latin typeface="Calibri"/>
              <a:ea typeface="Calibri"/>
              <a:cs typeface="Calibri"/>
              <a:sym typeface="Calibri"/>
            </a:endParaRPr>
          </a:p>
          <a:p>
            <a:pPr marL="541337" lvl="1" indent="-192087" algn="l" rtl="0">
              <a:lnSpc>
                <a:spcPct val="100000"/>
              </a:lnSpc>
              <a:spcBef>
                <a:spcPts val="600"/>
              </a:spcBef>
              <a:spcAft>
                <a:spcPts val="0"/>
              </a:spcAft>
              <a:buClr>
                <a:schemeClr val="dk1"/>
              </a:buClr>
              <a:buSzPct val="75000"/>
              <a:buChar char="○"/>
            </a:pPr>
            <a:r>
              <a:rPr lang="it" sz="2000" u="sng">
                <a:solidFill>
                  <a:srgbClr val="9454C3"/>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https://kotlinlang.org/</a:t>
            </a:r>
            <a:endParaRPr sz="2000">
              <a:solidFill>
                <a:schemeClr val="dk1"/>
              </a:solidFill>
              <a:latin typeface="Calibri"/>
              <a:ea typeface="Calibri"/>
              <a:cs typeface="Calibri"/>
              <a:sym typeface="Calibri"/>
            </a:endParaRPr>
          </a:p>
          <a:p>
            <a:pPr marL="269875" lvl="0" indent="-247015" algn="l" rtl="0">
              <a:lnSpc>
                <a:spcPct val="100000"/>
              </a:lnSpc>
              <a:spcBef>
                <a:spcPts val="600"/>
              </a:spcBef>
              <a:spcAft>
                <a:spcPts val="0"/>
              </a:spcAft>
              <a:buClr>
                <a:schemeClr val="dk1"/>
              </a:buClr>
              <a:buSzPct val="100000"/>
              <a:buChar char="•"/>
            </a:pPr>
            <a:r>
              <a:rPr lang="it" sz="2400">
                <a:solidFill>
                  <a:schemeClr val="dk1"/>
                </a:solidFill>
                <a:latin typeface="Calibri"/>
                <a:ea typeface="Calibri"/>
                <a:cs typeface="Calibri"/>
                <a:sym typeface="Calibri"/>
              </a:rPr>
              <a:t>Largely inspired by functional programming techniques</a:t>
            </a:r>
            <a:endParaRPr sz="2400">
              <a:solidFill>
                <a:schemeClr val="dk1"/>
              </a:solidFill>
              <a:latin typeface="Calibri"/>
              <a:ea typeface="Calibri"/>
              <a:cs typeface="Calibri"/>
              <a:sym typeface="Calibri"/>
            </a:endParaRPr>
          </a:p>
          <a:p>
            <a:pPr marL="541337" lvl="1" indent="-192087" algn="l" rtl="0">
              <a:lnSpc>
                <a:spcPct val="100000"/>
              </a:lnSpc>
              <a:spcBef>
                <a:spcPts val="600"/>
              </a:spcBef>
              <a:spcAft>
                <a:spcPts val="0"/>
              </a:spcAft>
              <a:buClr>
                <a:schemeClr val="dk1"/>
              </a:buClr>
              <a:buSzPct val="75000"/>
              <a:buChar char="○"/>
            </a:pPr>
            <a:r>
              <a:rPr lang="it" sz="2000">
                <a:solidFill>
                  <a:schemeClr val="dk1"/>
                </a:solidFill>
                <a:latin typeface="Calibri"/>
                <a:ea typeface="Calibri"/>
                <a:cs typeface="Calibri"/>
                <a:sym typeface="Calibri"/>
              </a:rPr>
              <a:t>Higher order functions, closures, immutability, algebraic types, functors, monads, …</a:t>
            </a:r>
            <a:endParaRPr sz="2000">
              <a:solidFill>
                <a:schemeClr val="dk1"/>
              </a:solidFill>
              <a:latin typeface="Calibri"/>
              <a:ea typeface="Calibri"/>
              <a:cs typeface="Calibri"/>
              <a:sym typeface="Calibri"/>
            </a:endParaRPr>
          </a:p>
          <a:p>
            <a:pPr marL="269875" lvl="0" indent="-247015" algn="l" rtl="0">
              <a:lnSpc>
                <a:spcPct val="100000"/>
              </a:lnSpc>
              <a:spcBef>
                <a:spcPts val="600"/>
              </a:spcBef>
              <a:spcAft>
                <a:spcPts val="0"/>
              </a:spcAft>
              <a:buClr>
                <a:schemeClr val="dk1"/>
              </a:buClr>
              <a:buSzPct val="100000"/>
              <a:buChar char="•"/>
            </a:pPr>
            <a:r>
              <a:rPr lang="it" sz="2400">
                <a:solidFill>
                  <a:schemeClr val="dk1"/>
                </a:solidFill>
                <a:latin typeface="Calibri"/>
                <a:ea typeface="Calibri"/>
                <a:cs typeface="Calibri"/>
                <a:sym typeface="Calibri"/>
              </a:rPr>
              <a:t>Took sensible ideas from various sources</a:t>
            </a:r>
            <a:endParaRPr sz="2400">
              <a:solidFill>
                <a:schemeClr val="dk1"/>
              </a:solidFill>
              <a:latin typeface="Calibri"/>
              <a:ea typeface="Calibri"/>
              <a:cs typeface="Calibri"/>
              <a:sym typeface="Calibri"/>
            </a:endParaRPr>
          </a:p>
          <a:p>
            <a:pPr marL="541337" lvl="1" indent="-192087" algn="l" rtl="0">
              <a:lnSpc>
                <a:spcPct val="100000"/>
              </a:lnSpc>
              <a:spcBef>
                <a:spcPts val="600"/>
              </a:spcBef>
              <a:spcAft>
                <a:spcPts val="0"/>
              </a:spcAft>
              <a:buClr>
                <a:schemeClr val="dk1"/>
              </a:buClr>
              <a:buSzPct val="75000"/>
              <a:buChar char="○"/>
            </a:pPr>
            <a:r>
              <a:rPr lang="it" sz="2000">
                <a:solidFill>
                  <a:schemeClr val="dk1"/>
                </a:solidFill>
                <a:latin typeface="Calibri"/>
                <a:ea typeface="Calibri"/>
                <a:cs typeface="Calibri"/>
                <a:sym typeface="Calibri"/>
              </a:rPr>
              <a:t>C#, Javascript, Scala, Groovy, Java, Haskell, …</a:t>
            </a:r>
            <a:endParaRPr sz="2000">
              <a:solidFill>
                <a:schemeClr val="dk1"/>
              </a:solidFill>
              <a:latin typeface="Calibri"/>
              <a:ea typeface="Calibri"/>
              <a:cs typeface="Calibri"/>
              <a:sym typeface="Calibri"/>
            </a:endParaRPr>
          </a:p>
          <a:p>
            <a:pPr marL="269875" lvl="0" indent="-247015" algn="l" rtl="0">
              <a:lnSpc>
                <a:spcPct val="100000"/>
              </a:lnSpc>
              <a:spcBef>
                <a:spcPts val="600"/>
              </a:spcBef>
              <a:spcAft>
                <a:spcPts val="0"/>
              </a:spcAft>
              <a:buClr>
                <a:schemeClr val="dk1"/>
              </a:buClr>
              <a:buSzPct val="100000"/>
              <a:buChar char="•"/>
            </a:pPr>
            <a:r>
              <a:rPr lang="it" sz="2400">
                <a:solidFill>
                  <a:schemeClr val="dk1"/>
                </a:solidFill>
                <a:latin typeface="Calibri"/>
                <a:ea typeface="Calibri"/>
                <a:cs typeface="Calibri"/>
                <a:sym typeface="Calibri"/>
              </a:rPr>
              <a:t>It targets several platforms</a:t>
            </a:r>
            <a:endParaRPr sz="2400">
              <a:solidFill>
                <a:schemeClr val="dk1"/>
              </a:solidFill>
              <a:latin typeface="Calibri"/>
              <a:ea typeface="Calibri"/>
              <a:cs typeface="Calibri"/>
              <a:sym typeface="Calibri"/>
            </a:endParaRPr>
          </a:p>
          <a:p>
            <a:pPr marL="541337" lvl="1" indent="-192087" algn="l" rtl="0">
              <a:lnSpc>
                <a:spcPct val="100000"/>
              </a:lnSpc>
              <a:spcBef>
                <a:spcPts val="600"/>
              </a:spcBef>
              <a:spcAft>
                <a:spcPts val="0"/>
              </a:spcAft>
              <a:buClr>
                <a:schemeClr val="dk1"/>
              </a:buClr>
              <a:buSzPct val="75000"/>
              <a:buChar char="○"/>
            </a:pPr>
            <a:r>
              <a:rPr lang="it" sz="2000">
                <a:solidFill>
                  <a:schemeClr val="dk1"/>
                </a:solidFill>
                <a:latin typeface="Calibri"/>
                <a:ea typeface="Calibri"/>
                <a:cs typeface="Calibri"/>
                <a:sym typeface="Calibri"/>
              </a:rPr>
              <a:t>JVM,  Android, browser (Javascript), native</a:t>
            </a:r>
            <a:endParaRPr sz="2000">
              <a:solidFill>
                <a:schemeClr val="dk1"/>
              </a:solidFill>
              <a:latin typeface="Calibri"/>
              <a:ea typeface="Calibri"/>
              <a:cs typeface="Calibri"/>
              <a:sym typeface="Calibri"/>
            </a:endParaRPr>
          </a:p>
          <a:p>
            <a:pPr marL="269875" lvl="0" indent="-247015" algn="l" rtl="0">
              <a:lnSpc>
                <a:spcPct val="100000"/>
              </a:lnSpc>
              <a:spcBef>
                <a:spcPts val="600"/>
              </a:spcBef>
              <a:spcAft>
                <a:spcPts val="0"/>
              </a:spcAft>
              <a:buClr>
                <a:schemeClr val="dk1"/>
              </a:buClr>
              <a:buSzPct val="100000"/>
              <a:buChar char="•"/>
            </a:pPr>
            <a:r>
              <a:rPr lang="it" sz="2400">
                <a:solidFill>
                  <a:schemeClr val="dk1"/>
                </a:solidFill>
                <a:latin typeface="Calibri"/>
                <a:ea typeface="Calibri"/>
                <a:cs typeface="Calibri"/>
                <a:sym typeface="Calibri"/>
              </a:rPr>
              <a:t>Development tools</a:t>
            </a:r>
            <a:endParaRPr sz="2400">
              <a:solidFill>
                <a:schemeClr val="dk1"/>
              </a:solidFill>
              <a:latin typeface="Calibri"/>
              <a:ea typeface="Calibri"/>
              <a:cs typeface="Calibri"/>
              <a:sym typeface="Calibri"/>
            </a:endParaRPr>
          </a:p>
          <a:p>
            <a:pPr marL="541337" lvl="1" indent="-192087" algn="l" rtl="0">
              <a:lnSpc>
                <a:spcPct val="100000"/>
              </a:lnSpc>
              <a:spcBef>
                <a:spcPts val="600"/>
              </a:spcBef>
              <a:spcAft>
                <a:spcPts val="0"/>
              </a:spcAft>
              <a:buClr>
                <a:schemeClr val="dk1"/>
              </a:buClr>
              <a:buSzPct val="75000"/>
              <a:buChar char="○"/>
            </a:pPr>
            <a:r>
              <a:rPr lang="it" sz="2000">
                <a:solidFill>
                  <a:schemeClr val="dk1"/>
                </a:solidFill>
                <a:latin typeface="Calibri"/>
                <a:ea typeface="Calibri"/>
                <a:cs typeface="Calibri"/>
                <a:sym typeface="Calibri"/>
              </a:rPr>
              <a:t>IntelliJ IDEA,  Android Studio, Eclipse, CLI, …</a:t>
            </a:r>
            <a:endParaRPr/>
          </a:p>
        </p:txBody>
      </p:sp>
      <p:sp>
        <p:nvSpPr>
          <p:cNvPr id="42" name="Google Shape;42;p8"/>
          <p:cNvSpPr txBox="1">
            <a:spLocks noGrp="1"/>
          </p:cNvSpPr>
          <p:nvPr>
            <p:ph type="sldNum" idx="12"/>
          </p:nvPr>
        </p:nvSpPr>
        <p:spPr>
          <a:xfrm>
            <a:off x="8472458" y="476850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it"/>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grpSp>
        <p:nvGrpSpPr>
          <p:cNvPr id="47" name="Google Shape;47;p9"/>
          <p:cNvGrpSpPr/>
          <p:nvPr/>
        </p:nvGrpSpPr>
        <p:grpSpPr>
          <a:xfrm>
            <a:off x="661950" y="3465625"/>
            <a:ext cx="884693" cy="463200"/>
            <a:chOff x="509550" y="3618025"/>
            <a:chExt cx="884693" cy="463200"/>
          </a:xfrm>
        </p:grpSpPr>
        <p:sp>
          <p:nvSpPr>
            <p:cNvPr id="48" name="Google Shape;48;p9"/>
            <p:cNvSpPr/>
            <p:nvPr/>
          </p:nvSpPr>
          <p:spPr>
            <a:xfrm>
              <a:off x="1273943" y="3618025"/>
              <a:ext cx="120300" cy="120300"/>
            </a:xfrm>
            <a:prstGeom prst="rect">
              <a:avLst/>
            </a:prstGeom>
            <a:solidFill>
              <a:schemeClr val="lt1"/>
            </a:solidFill>
            <a:ln>
              <a:noFill/>
            </a:ln>
          </p:spPr>
          <p:txBody>
            <a:bodyPr spcFirstLastPara="1" wrap="square" lIns="54000" tIns="54000" rIns="54000" bIns="54000" anchor="ctr" anchorCtr="0">
              <a:noAutofit/>
            </a:bodyPr>
            <a:lstStyle/>
            <a:p>
              <a:pPr marL="0" lvl="0" indent="0" algn="r" rtl="0">
                <a:spcBef>
                  <a:spcPts val="0"/>
                </a:spcBef>
                <a:spcAft>
                  <a:spcPts val="0"/>
                </a:spcAft>
                <a:buNone/>
              </a:pPr>
              <a:endParaRPr>
                <a:latin typeface="Calibri"/>
                <a:ea typeface="Calibri"/>
                <a:cs typeface="Calibri"/>
                <a:sym typeface="Calibri"/>
              </a:endParaRPr>
            </a:p>
          </p:txBody>
        </p:sp>
        <p:sp>
          <p:nvSpPr>
            <p:cNvPr id="49" name="Google Shape;49;p9"/>
            <p:cNvSpPr txBox="1"/>
            <p:nvPr/>
          </p:nvSpPr>
          <p:spPr>
            <a:xfrm>
              <a:off x="509550" y="3618025"/>
              <a:ext cx="866100" cy="463200"/>
            </a:xfrm>
            <a:prstGeom prst="rect">
              <a:avLst/>
            </a:prstGeom>
            <a:solidFill>
              <a:schemeClr val="lt1"/>
            </a:solidFill>
            <a:ln w="19050" cap="flat" cmpd="sng">
              <a:solidFill>
                <a:srgbClr val="6D6D6D"/>
              </a:solidFill>
              <a:prstDash val="solid"/>
              <a:round/>
              <a:headEnd type="none" w="sm" len="sm"/>
              <a:tailEnd type="none" w="sm" len="sm"/>
            </a:ln>
          </p:spPr>
          <p:txBody>
            <a:bodyPr spcFirstLastPara="1" wrap="square" lIns="54000" tIns="54000" rIns="54000" bIns="54000" anchor="t" anchorCtr="0">
              <a:spAutoFit/>
            </a:bodyPr>
            <a:lstStyle/>
            <a:p>
              <a:pPr marL="0" lvl="0" indent="0" algn="r" rtl="0">
                <a:spcBef>
                  <a:spcPts val="0"/>
                </a:spcBef>
                <a:spcAft>
                  <a:spcPts val="0"/>
                </a:spcAft>
                <a:buNone/>
              </a:pPr>
              <a:r>
                <a:rPr lang="it" sz="1000" b="1">
                  <a:solidFill>
                    <a:schemeClr val="dk1"/>
                  </a:solidFill>
                </a:rPr>
                <a:t>February '16</a:t>
              </a:r>
              <a:endParaRPr sz="800" b="1">
                <a:solidFill>
                  <a:schemeClr val="dk1"/>
                </a:solidFill>
              </a:endParaRPr>
            </a:p>
            <a:p>
              <a:pPr marL="0" lvl="0" indent="0" algn="r" rtl="0">
                <a:spcBef>
                  <a:spcPts val="0"/>
                </a:spcBef>
                <a:spcAft>
                  <a:spcPts val="0"/>
                </a:spcAft>
                <a:buClr>
                  <a:schemeClr val="dk1"/>
                </a:buClr>
                <a:buSzPts val="1600"/>
                <a:buFont typeface="Arial"/>
                <a:buNone/>
              </a:pPr>
              <a:r>
                <a:rPr lang="it" sz="1300">
                  <a:solidFill>
                    <a:schemeClr val="dk1"/>
                  </a:solidFill>
                </a:rPr>
                <a:t>Kotlin 1.0</a:t>
              </a:r>
              <a:endParaRPr sz="1300">
                <a:solidFill>
                  <a:schemeClr val="dk1"/>
                </a:solidFill>
              </a:endParaRPr>
            </a:p>
          </p:txBody>
        </p:sp>
      </p:grpSp>
      <p:sp>
        <p:nvSpPr>
          <p:cNvPr id="50" name="Google Shape;50;p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t"/>
              <a:t>The Kotlin timeline</a:t>
            </a:r>
            <a:endParaRPr/>
          </a:p>
        </p:txBody>
      </p:sp>
      <p:cxnSp>
        <p:nvCxnSpPr>
          <p:cNvPr id="51" name="Google Shape;51;p9"/>
          <p:cNvCxnSpPr/>
          <p:nvPr/>
        </p:nvCxnSpPr>
        <p:spPr>
          <a:xfrm>
            <a:off x="303225" y="3189190"/>
            <a:ext cx="8429700" cy="0"/>
          </a:xfrm>
          <a:prstGeom prst="straightConnector1">
            <a:avLst/>
          </a:prstGeom>
          <a:noFill/>
          <a:ln w="9525" cap="flat" cmpd="sng">
            <a:solidFill>
              <a:srgbClr val="4561AA"/>
            </a:solidFill>
            <a:prstDash val="solid"/>
            <a:round/>
            <a:headEnd type="none" w="sm" len="sm"/>
            <a:tailEnd type="none" w="sm" len="sm"/>
          </a:ln>
        </p:spPr>
      </p:cxnSp>
      <p:sp>
        <p:nvSpPr>
          <p:cNvPr id="52" name="Google Shape;52;p9"/>
          <p:cNvSpPr/>
          <p:nvPr/>
        </p:nvSpPr>
        <p:spPr>
          <a:xfrm flipH="1">
            <a:off x="276678" y="3036790"/>
            <a:ext cx="293400" cy="304800"/>
          </a:xfrm>
          <a:prstGeom prst="ellipse">
            <a:avLst/>
          </a:prstGeom>
          <a:solidFill>
            <a:srgbClr val="9D90A0"/>
          </a:solidFill>
          <a:ln w="25400" cap="flat" cmpd="sng">
            <a:solidFill>
              <a:srgbClr val="726974"/>
            </a:solidFill>
            <a:prstDash val="solid"/>
            <a:round/>
            <a:headEnd type="none" w="sm" len="sm"/>
            <a:tailEnd type="none" w="sm" len="sm"/>
          </a:ln>
        </p:spPr>
        <p:txBody>
          <a:bodyPr spcFirstLastPara="1" wrap="square" lIns="90475" tIns="44450" rIns="90475" bIns="44450" anchor="ctr"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A5A5A5"/>
              </a:solidFill>
              <a:latin typeface="Arial"/>
              <a:ea typeface="Arial"/>
              <a:cs typeface="Arial"/>
              <a:sym typeface="Arial"/>
            </a:endParaRPr>
          </a:p>
        </p:txBody>
      </p:sp>
      <p:sp>
        <p:nvSpPr>
          <p:cNvPr id="53" name="Google Shape;53;p9"/>
          <p:cNvSpPr/>
          <p:nvPr/>
        </p:nvSpPr>
        <p:spPr>
          <a:xfrm flipH="1">
            <a:off x="921588" y="3036790"/>
            <a:ext cx="293400" cy="304800"/>
          </a:xfrm>
          <a:prstGeom prst="ellipse">
            <a:avLst/>
          </a:prstGeom>
          <a:solidFill>
            <a:srgbClr val="9D90A0"/>
          </a:solidFill>
          <a:ln w="25400" cap="flat" cmpd="sng">
            <a:solidFill>
              <a:srgbClr val="726974"/>
            </a:solidFill>
            <a:prstDash val="solid"/>
            <a:round/>
            <a:headEnd type="none" w="sm" len="sm"/>
            <a:tailEnd type="none" w="sm" len="sm"/>
          </a:ln>
        </p:spPr>
        <p:txBody>
          <a:bodyPr spcFirstLastPara="1" wrap="square" lIns="90475" tIns="44450" rIns="90475" bIns="44450" anchor="ctr"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A5A5A5"/>
              </a:solidFill>
              <a:latin typeface="Arial"/>
              <a:ea typeface="Arial"/>
              <a:cs typeface="Arial"/>
              <a:sym typeface="Arial"/>
            </a:endParaRPr>
          </a:p>
        </p:txBody>
      </p:sp>
      <p:sp>
        <p:nvSpPr>
          <p:cNvPr id="54" name="Google Shape;54;p9"/>
          <p:cNvSpPr/>
          <p:nvPr/>
        </p:nvSpPr>
        <p:spPr>
          <a:xfrm flipH="1">
            <a:off x="1566498" y="3036790"/>
            <a:ext cx="293400" cy="304800"/>
          </a:xfrm>
          <a:prstGeom prst="ellipse">
            <a:avLst/>
          </a:prstGeom>
          <a:solidFill>
            <a:srgbClr val="9D90A0"/>
          </a:solidFill>
          <a:ln w="25400" cap="flat" cmpd="sng">
            <a:solidFill>
              <a:srgbClr val="726974"/>
            </a:solidFill>
            <a:prstDash val="solid"/>
            <a:round/>
            <a:headEnd type="none" w="sm" len="sm"/>
            <a:tailEnd type="none" w="sm" len="sm"/>
          </a:ln>
        </p:spPr>
        <p:txBody>
          <a:bodyPr spcFirstLastPara="1" wrap="square" lIns="90475" tIns="44450" rIns="90475" bIns="44450" anchor="ctr"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A5A5A5"/>
              </a:solidFill>
              <a:latin typeface="Arial"/>
              <a:ea typeface="Arial"/>
              <a:cs typeface="Arial"/>
              <a:sym typeface="Arial"/>
            </a:endParaRPr>
          </a:p>
        </p:txBody>
      </p:sp>
      <p:sp>
        <p:nvSpPr>
          <p:cNvPr id="55" name="Google Shape;55;p9"/>
          <p:cNvSpPr/>
          <p:nvPr/>
        </p:nvSpPr>
        <p:spPr>
          <a:xfrm flipH="1">
            <a:off x="2211408" y="3036790"/>
            <a:ext cx="293400" cy="304800"/>
          </a:xfrm>
          <a:prstGeom prst="ellipse">
            <a:avLst/>
          </a:prstGeom>
          <a:solidFill>
            <a:srgbClr val="9D90A0"/>
          </a:solidFill>
          <a:ln w="25400" cap="flat" cmpd="sng">
            <a:solidFill>
              <a:srgbClr val="726974"/>
            </a:solidFill>
            <a:prstDash val="solid"/>
            <a:round/>
            <a:headEnd type="none" w="sm" len="sm"/>
            <a:tailEnd type="none" w="sm" len="sm"/>
          </a:ln>
        </p:spPr>
        <p:txBody>
          <a:bodyPr spcFirstLastPara="1" wrap="square" lIns="90475" tIns="44450" rIns="90475" bIns="44450" anchor="ctr"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A5A5A5"/>
              </a:solidFill>
              <a:latin typeface="Arial"/>
              <a:ea typeface="Arial"/>
              <a:cs typeface="Arial"/>
              <a:sym typeface="Arial"/>
            </a:endParaRPr>
          </a:p>
        </p:txBody>
      </p:sp>
      <p:sp>
        <p:nvSpPr>
          <p:cNvPr id="56" name="Google Shape;56;p9"/>
          <p:cNvSpPr/>
          <p:nvPr/>
        </p:nvSpPr>
        <p:spPr>
          <a:xfrm flipH="1">
            <a:off x="2856318" y="3036790"/>
            <a:ext cx="293400" cy="304800"/>
          </a:xfrm>
          <a:prstGeom prst="ellipse">
            <a:avLst/>
          </a:prstGeom>
          <a:solidFill>
            <a:srgbClr val="9D90A0"/>
          </a:solidFill>
          <a:ln w="25400" cap="flat" cmpd="sng">
            <a:solidFill>
              <a:srgbClr val="726974"/>
            </a:solidFill>
            <a:prstDash val="solid"/>
            <a:round/>
            <a:headEnd type="none" w="sm" len="sm"/>
            <a:tailEnd type="none" w="sm" len="sm"/>
          </a:ln>
        </p:spPr>
        <p:txBody>
          <a:bodyPr spcFirstLastPara="1" wrap="square" lIns="90475" tIns="44450" rIns="90475" bIns="44450" anchor="ctr"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A5A5A5"/>
              </a:solidFill>
              <a:latin typeface="Arial"/>
              <a:ea typeface="Arial"/>
              <a:cs typeface="Arial"/>
              <a:sym typeface="Arial"/>
            </a:endParaRPr>
          </a:p>
        </p:txBody>
      </p:sp>
      <p:sp>
        <p:nvSpPr>
          <p:cNvPr id="57" name="Google Shape;57;p9"/>
          <p:cNvSpPr/>
          <p:nvPr/>
        </p:nvSpPr>
        <p:spPr>
          <a:xfrm flipH="1">
            <a:off x="3501228" y="3036790"/>
            <a:ext cx="293400" cy="304800"/>
          </a:xfrm>
          <a:prstGeom prst="ellipse">
            <a:avLst/>
          </a:prstGeom>
          <a:solidFill>
            <a:srgbClr val="9D90A0"/>
          </a:solidFill>
          <a:ln w="25400" cap="flat" cmpd="sng">
            <a:solidFill>
              <a:srgbClr val="726974"/>
            </a:solidFill>
            <a:prstDash val="solid"/>
            <a:round/>
            <a:headEnd type="none" w="sm" len="sm"/>
            <a:tailEnd type="none" w="sm" len="sm"/>
          </a:ln>
        </p:spPr>
        <p:txBody>
          <a:bodyPr spcFirstLastPara="1" wrap="square" lIns="90475" tIns="44450" rIns="90475" bIns="44450" anchor="ctr"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A5A5A5"/>
              </a:solidFill>
              <a:latin typeface="Arial"/>
              <a:ea typeface="Arial"/>
              <a:cs typeface="Arial"/>
              <a:sym typeface="Arial"/>
            </a:endParaRPr>
          </a:p>
        </p:txBody>
      </p:sp>
      <p:sp>
        <p:nvSpPr>
          <p:cNvPr id="58" name="Google Shape;58;p9"/>
          <p:cNvSpPr/>
          <p:nvPr/>
        </p:nvSpPr>
        <p:spPr>
          <a:xfrm flipH="1">
            <a:off x="4146138" y="3036790"/>
            <a:ext cx="293400" cy="304800"/>
          </a:xfrm>
          <a:prstGeom prst="ellipse">
            <a:avLst/>
          </a:prstGeom>
          <a:solidFill>
            <a:srgbClr val="9D90A0"/>
          </a:solidFill>
          <a:ln w="25400" cap="flat" cmpd="sng">
            <a:solidFill>
              <a:srgbClr val="726974"/>
            </a:solidFill>
            <a:prstDash val="solid"/>
            <a:round/>
            <a:headEnd type="none" w="sm" len="sm"/>
            <a:tailEnd type="none" w="sm" len="sm"/>
          </a:ln>
        </p:spPr>
        <p:txBody>
          <a:bodyPr spcFirstLastPara="1" wrap="square" lIns="90475" tIns="44450" rIns="90475" bIns="44450" anchor="ctr"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A5A5A5"/>
              </a:solidFill>
              <a:latin typeface="Arial"/>
              <a:ea typeface="Arial"/>
              <a:cs typeface="Arial"/>
              <a:sym typeface="Arial"/>
            </a:endParaRPr>
          </a:p>
        </p:txBody>
      </p:sp>
      <p:sp>
        <p:nvSpPr>
          <p:cNvPr id="59" name="Google Shape;59;p9"/>
          <p:cNvSpPr/>
          <p:nvPr/>
        </p:nvSpPr>
        <p:spPr>
          <a:xfrm flipH="1">
            <a:off x="4791048" y="3036790"/>
            <a:ext cx="293400" cy="304800"/>
          </a:xfrm>
          <a:prstGeom prst="ellipse">
            <a:avLst/>
          </a:prstGeom>
          <a:solidFill>
            <a:srgbClr val="9D90A0"/>
          </a:solidFill>
          <a:ln w="25400" cap="flat" cmpd="sng">
            <a:solidFill>
              <a:srgbClr val="726974"/>
            </a:solidFill>
            <a:prstDash val="solid"/>
            <a:round/>
            <a:headEnd type="none" w="sm" len="sm"/>
            <a:tailEnd type="none" w="sm" len="sm"/>
          </a:ln>
        </p:spPr>
        <p:txBody>
          <a:bodyPr spcFirstLastPara="1" wrap="square" lIns="90475" tIns="44450" rIns="90475" bIns="44450" anchor="ctr"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A5A5A5"/>
              </a:solidFill>
              <a:latin typeface="Arial"/>
              <a:ea typeface="Arial"/>
              <a:cs typeface="Arial"/>
              <a:sym typeface="Arial"/>
            </a:endParaRPr>
          </a:p>
        </p:txBody>
      </p:sp>
      <p:sp>
        <p:nvSpPr>
          <p:cNvPr id="60" name="Google Shape;60;p9"/>
          <p:cNvSpPr/>
          <p:nvPr/>
        </p:nvSpPr>
        <p:spPr>
          <a:xfrm flipH="1">
            <a:off x="5435958" y="3036790"/>
            <a:ext cx="293400" cy="304800"/>
          </a:xfrm>
          <a:prstGeom prst="ellipse">
            <a:avLst/>
          </a:prstGeom>
          <a:solidFill>
            <a:srgbClr val="9D90A0"/>
          </a:solidFill>
          <a:ln w="25400" cap="flat" cmpd="sng">
            <a:solidFill>
              <a:srgbClr val="726974"/>
            </a:solidFill>
            <a:prstDash val="solid"/>
            <a:round/>
            <a:headEnd type="none" w="sm" len="sm"/>
            <a:tailEnd type="none" w="sm" len="sm"/>
          </a:ln>
        </p:spPr>
        <p:txBody>
          <a:bodyPr spcFirstLastPara="1" wrap="square" lIns="90475" tIns="44450" rIns="90475" bIns="44450" anchor="ctr"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A5A5A5"/>
              </a:solidFill>
              <a:latin typeface="Arial"/>
              <a:ea typeface="Arial"/>
              <a:cs typeface="Arial"/>
              <a:sym typeface="Arial"/>
            </a:endParaRPr>
          </a:p>
        </p:txBody>
      </p:sp>
      <p:sp>
        <p:nvSpPr>
          <p:cNvPr id="61" name="Google Shape;61;p9"/>
          <p:cNvSpPr/>
          <p:nvPr/>
        </p:nvSpPr>
        <p:spPr>
          <a:xfrm flipH="1">
            <a:off x="6080869" y="3036790"/>
            <a:ext cx="293400" cy="304800"/>
          </a:xfrm>
          <a:prstGeom prst="ellipse">
            <a:avLst/>
          </a:prstGeom>
          <a:solidFill>
            <a:srgbClr val="9D90A0"/>
          </a:solidFill>
          <a:ln w="25400" cap="flat" cmpd="sng">
            <a:solidFill>
              <a:srgbClr val="726974"/>
            </a:solidFill>
            <a:prstDash val="solid"/>
            <a:round/>
            <a:headEnd type="none" w="sm" len="sm"/>
            <a:tailEnd type="none" w="sm" len="sm"/>
          </a:ln>
        </p:spPr>
        <p:txBody>
          <a:bodyPr spcFirstLastPara="1" wrap="square" lIns="90475" tIns="44450" rIns="90475" bIns="44450" anchor="ctr"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A5A5A5"/>
              </a:solidFill>
              <a:latin typeface="Arial"/>
              <a:ea typeface="Arial"/>
              <a:cs typeface="Arial"/>
              <a:sym typeface="Arial"/>
            </a:endParaRPr>
          </a:p>
        </p:txBody>
      </p:sp>
      <p:sp>
        <p:nvSpPr>
          <p:cNvPr id="62" name="Google Shape;62;p9"/>
          <p:cNvSpPr/>
          <p:nvPr/>
        </p:nvSpPr>
        <p:spPr>
          <a:xfrm flipH="1">
            <a:off x="6725779" y="3036790"/>
            <a:ext cx="293400" cy="304800"/>
          </a:xfrm>
          <a:prstGeom prst="ellipse">
            <a:avLst/>
          </a:prstGeom>
          <a:solidFill>
            <a:srgbClr val="9D90A0"/>
          </a:solidFill>
          <a:ln w="25400" cap="flat" cmpd="sng">
            <a:solidFill>
              <a:srgbClr val="726974"/>
            </a:solidFill>
            <a:prstDash val="solid"/>
            <a:round/>
            <a:headEnd type="none" w="sm" len="sm"/>
            <a:tailEnd type="none" w="sm" len="sm"/>
          </a:ln>
        </p:spPr>
        <p:txBody>
          <a:bodyPr spcFirstLastPara="1" wrap="square" lIns="90475" tIns="44450" rIns="90475" bIns="44450" anchor="ctr"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A5A5A5"/>
              </a:solidFill>
              <a:latin typeface="Arial"/>
              <a:ea typeface="Arial"/>
              <a:cs typeface="Arial"/>
              <a:sym typeface="Arial"/>
            </a:endParaRPr>
          </a:p>
        </p:txBody>
      </p:sp>
      <p:sp>
        <p:nvSpPr>
          <p:cNvPr id="63" name="Google Shape;63;p9"/>
          <p:cNvSpPr txBox="1">
            <a:spLocks noGrp="1"/>
          </p:cNvSpPr>
          <p:nvPr>
            <p:ph type="sldNum" idx="12"/>
          </p:nvPr>
        </p:nvSpPr>
        <p:spPr>
          <a:xfrm>
            <a:off x="8472458" y="476850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it"/>
              <a:t>3</a:t>
            </a:fld>
            <a:endParaRPr/>
          </a:p>
        </p:txBody>
      </p:sp>
      <p:sp>
        <p:nvSpPr>
          <p:cNvPr id="64" name="Google Shape;64;p9"/>
          <p:cNvSpPr/>
          <p:nvPr/>
        </p:nvSpPr>
        <p:spPr>
          <a:xfrm flipH="1">
            <a:off x="8015599" y="3036790"/>
            <a:ext cx="293400" cy="304800"/>
          </a:xfrm>
          <a:prstGeom prst="ellipse">
            <a:avLst/>
          </a:prstGeom>
          <a:solidFill>
            <a:srgbClr val="9D90A0"/>
          </a:solidFill>
          <a:ln w="25400" cap="flat" cmpd="sng">
            <a:solidFill>
              <a:srgbClr val="726974"/>
            </a:solidFill>
            <a:prstDash val="solid"/>
            <a:round/>
            <a:headEnd type="none" w="sm" len="sm"/>
            <a:tailEnd type="none" w="sm" len="sm"/>
          </a:ln>
        </p:spPr>
        <p:txBody>
          <a:bodyPr spcFirstLastPara="1" wrap="square" lIns="90475" tIns="44450" rIns="90475" bIns="44450" anchor="ctr"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A5A5A5"/>
              </a:solidFill>
              <a:latin typeface="Arial"/>
              <a:ea typeface="Arial"/>
              <a:cs typeface="Arial"/>
              <a:sym typeface="Arial"/>
            </a:endParaRPr>
          </a:p>
        </p:txBody>
      </p:sp>
      <p:cxnSp>
        <p:nvCxnSpPr>
          <p:cNvPr id="65" name="Google Shape;65;p9"/>
          <p:cNvCxnSpPr>
            <a:stCxn id="66" idx="1"/>
            <a:endCxn id="52" idx="0"/>
          </p:cNvCxnSpPr>
          <p:nvPr/>
        </p:nvCxnSpPr>
        <p:spPr>
          <a:xfrm flipH="1">
            <a:off x="423322" y="1603988"/>
            <a:ext cx="198600" cy="1432800"/>
          </a:xfrm>
          <a:prstGeom prst="bentConnector2">
            <a:avLst/>
          </a:prstGeom>
          <a:noFill/>
          <a:ln w="9525" cap="flat" cmpd="sng">
            <a:solidFill>
              <a:schemeClr val="dk2"/>
            </a:solidFill>
            <a:prstDash val="dash"/>
            <a:round/>
            <a:headEnd type="none" w="med" len="med"/>
            <a:tailEnd type="none" w="med" len="med"/>
          </a:ln>
        </p:spPr>
      </p:cxnSp>
      <p:grpSp>
        <p:nvGrpSpPr>
          <p:cNvPr id="67" name="Google Shape;67;p9"/>
          <p:cNvGrpSpPr/>
          <p:nvPr/>
        </p:nvGrpSpPr>
        <p:grpSpPr>
          <a:xfrm>
            <a:off x="1141105" y="2153450"/>
            <a:ext cx="1806222" cy="463200"/>
            <a:chOff x="4275528" y="745775"/>
            <a:chExt cx="1017991" cy="463200"/>
          </a:xfrm>
        </p:grpSpPr>
        <p:sp>
          <p:nvSpPr>
            <p:cNvPr id="68" name="Google Shape;68;p9"/>
            <p:cNvSpPr/>
            <p:nvPr/>
          </p:nvSpPr>
          <p:spPr>
            <a:xfrm>
              <a:off x="4275528" y="745775"/>
              <a:ext cx="120300" cy="120300"/>
            </a:xfrm>
            <a:prstGeom prst="rect">
              <a:avLst/>
            </a:prstGeom>
            <a:solidFill>
              <a:schemeClr val="lt1"/>
            </a:solidFill>
            <a:ln>
              <a:noFill/>
            </a:ln>
          </p:spPr>
          <p:txBody>
            <a:bodyPr spcFirstLastPara="1" wrap="square" lIns="54000" tIns="54000" rIns="54000" bIns="54000"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69" name="Google Shape;69;p9"/>
            <p:cNvSpPr txBox="1"/>
            <p:nvPr/>
          </p:nvSpPr>
          <p:spPr>
            <a:xfrm>
              <a:off x="4289419" y="745775"/>
              <a:ext cx="1004100" cy="463200"/>
            </a:xfrm>
            <a:prstGeom prst="rect">
              <a:avLst/>
            </a:prstGeom>
            <a:solidFill>
              <a:schemeClr val="lt1"/>
            </a:solidFill>
            <a:ln w="19050" cap="flat" cmpd="sng">
              <a:solidFill>
                <a:srgbClr val="6D6D6D"/>
              </a:solidFill>
              <a:prstDash val="solid"/>
              <a:round/>
              <a:headEnd type="none" w="sm" len="sm"/>
              <a:tailEnd type="none" w="sm" len="sm"/>
            </a:ln>
          </p:spPr>
          <p:txBody>
            <a:bodyPr spcFirstLastPara="1" wrap="square" lIns="54000" tIns="54000" rIns="54000" bIns="54000" anchor="t" anchorCtr="0">
              <a:spAutoFit/>
            </a:bodyPr>
            <a:lstStyle/>
            <a:p>
              <a:pPr marL="0" lvl="0" indent="0" algn="l" rtl="0">
                <a:spcBef>
                  <a:spcPts val="0"/>
                </a:spcBef>
                <a:spcAft>
                  <a:spcPts val="0"/>
                </a:spcAft>
                <a:buClr>
                  <a:schemeClr val="dk1"/>
                </a:buClr>
                <a:buSzPts val="1100"/>
                <a:buFont typeface="Arial"/>
                <a:buNone/>
              </a:pPr>
              <a:r>
                <a:rPr lang="it" sz="1000" b="1">
                  <a:solidFill>
                    <a:schemeClr val="dk1"/>
                  </a:solidFill>
                </a:rPr>
                <a:t>June '13</a:t>
              </a:r>
              <a:endParaRPr sz="800" b="1">
                <a:solidFill>
                  <a:schemeClr val="dk1"/>
                </a:solidFill>
              </a:endParaRPr>
            </a:p>
            <a:p>
              <a:pPr marL="0" lvl="0" indent="0" algn="l" rtl="0">
                <a:spcBef>
                  <a:spcPts val="0"/>
                </a:spcBef>
                <a:spcAft>
                  <a:spcPts val="0"/>
                </a:spcAft>
                <a:buClr>
                  <a:schemeClr val="dk1"/>
                </a:buClr>
                <a:buSzPts val="1100"/>
                <a:buFont typeface="Arial"/>
                <a:buNone/>
              </a:pPr>
              <a:r>
                <a:rPr lang="it" sz="1300">
                  <a:solidFill>
                    <a:schemeClr val="dk1"/>
                  </a:solidFill>
                </a:rPr>
                <a:t>IntelliJ Idea integration</a:t>
              </a:r>
              <a:endParaRPr sz="2000">
                <a:latin typeface="Calibri"/>
                <a:ea typeface="Calibri"/>
                <a:cs typeface="Calibri"/>
                <a:sym typeface="Calibri"/>
              </a:endParaRPr>
            </a:p>
          </p:txBody>
        </p:sp>
      </p:grpSp>
      <p:cxnSp>
        <p:nvCxnSpPr>
          <p:cNvPr id="70" name="Google Shape;70;p9"/>
          <p:cNvCxnSpPr>
            <a:stCxn id="68" idx="1"/>
            <a:endCxn id="53" idx="0"/>
          </p:cNvCxnSpPr>
          <p:nvPr/>
        </p:nvCxnSpPr>
        <p:spPr>
          <a:xfrm flipH="1">
            <a:off x="1068205" y="2213600"/>
            <a:ext cx="72900" cy="823200"/>
          </a:xfrm>
          <a:prstGeom prst="bentConnector2">
            <a:avLst/>
          </a:prstGeom>
          <a:noFill/>
          <a:ln w="9525" cap="flat" cmpd="sng">
            <a:solidFill>
              <a:schemeClr val="dk2"/>
            </a:solidFill>
            <a:prstDash val="dash"/>
            <a:round/>
            <a:headEnd type="none" w="med" len="med"/>
            <a:tailEnd type="none" w="med" len="med"/>
          </a:ln>
        </p:spPr>
      </p:cxnSp>
      <p:grpSp>
        <p:nvGrpSpPr>
          <p:cNvPr id="71" name="Google Shape;71;p9"/>
          <p:cNvGrpSpPr/>
          <p:nvPr/>
        </p:nvGrpSpPr>
        <p:grpSpPr>
          <a:xfrm>
            <a:off x="621922" y="1543838"/>
            <a:ext cx="1338321" cy="463213"/>
            <a:chOff x="4275528" y="745775"/>
            <a:chExt cx="728497" cy="463213"/>
          </a:xfrm>
        </p:grpSpPr>
        <p:sp>
          <p:nvSpPr>
            <p:cNvPr id="66" name="Google Shape;66;p9"/>
            <p:cNvSpPr/>
            <p:nvPr/>
          </p:nvSpPr>
          <p:spPr>
            <a:xfrm>
              <a:off x="4275528" y="745775"/>
              <a:ext cx="120300" cy="120300"/>
            </a:xfrm>
            <a:prstGeom prst="rect">
              <a:avLst/>
            </a:prstGeom>
            <a:solidFill>
              <a:schemeClr val="lt1"/>
            </a:solidFill>
            <a:ln>
              <a:noFill/>
            </a:ln>
          </p:spPr>
          <p:txBody>
            <a:bodyPr spcFirstLastPara="1" wrap="square" lIns="54000" tIns="54000" rIns="54000" bIns="54000"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72" name="Google Shape;72;p9"/>
            <p:cNvSpPr txBox="1"/>
            <p:nvPr/>
          </p:nvSpPr>
          <p:spPr>
            <a:xfrm>
              <a:off x="4289425" y="745788"/>
              <a:ext cx="714600" cy="463200"/>
            </a:xfrm>
            <a:prstGeom prst="rect">
              <a:avLst/>
            </a:prstGeom>
            <a:solidFill>
              <a:schemeClr val="lt1"/>
            </a:solidFill>
            <a:ln w="19050" cap="flat" cmpd="sng">
              <a:solidFill>
                <a:srgbClr val="6D6D6D"/>
              </a:solidFill>
              <a:prstDash val="solid"/>
              <a:round/>
              <a:headEnd type="none" w="sm" len="sm"/>
              <a:tailEnd type="none" w="sm" len="sm"/>
            </a:ln>
          </p:spPr>
          <p:txBody>
            <a:bodyPr spcFirstLastPara="1" wrap="square" lIns="54000" tIns="54000" rIns="54000" bIns="54000" anchor="t" anchorCtr="0">
              <a:spAutoFit/>
            </a:bodyPr>
            <a:lstStyle/>
            <a:p>
              <a:pPr marL="0" lvl="0" indent="0" algn="l" rtl="0">
                <a:spcBef>
                  <a:spcPts val="0"/>
                </a:spcBef>
                <a:spcAft>
                  <a:spcPts val="0"/>
                </a:spcAft>
                <a:buNone/>
              </a:pPr>
              <a:r>
                <a:rPr lang="it" sz="1000" b="1">
                  <a:solidFill>
                    <a:schemeClr val="dk1"/>
                  </a:solidFill>
                </a:rPr>
                <a:t>July '11</a:t>
              </a:r>
              <a:endParaRPr sz="800" b="1">
                <a:solidFill>
                  <a:schemeClr val="dk1"/>
                </a:solidFill>
              </a:endParaRPr>
            </a:p>
            <a:p>
              <a:pPr marL="0" lvl="0" indent="0" algn="l" rtl="0">
                <a:spcBef>
                  <a:spcPts val="0"/>
                </a:spcBef>
                <a:spcAft>
                  <a:spcPts val="0"/>
                </a:spcAft>
                <a:buNone/>
              </a:pPr>
              <a:r>
                <a:rPr lang="it" sz="1300">
                  <a:solidFill>
                    <a:schemeClr val="dk1"/>
                  </a:solidFill>
                </a:rPr>
                <a:t>Project Started</a:t>
              </a:r>
              <a:endParaRPr sz="1000" b="1">
                <a:solidFill>
                  <a:schemeClr val="dk1"/>
                </a:solidFill>
              </a:endParaRPr>
            </a:p>
          </p:txBody>
        </p:sp>
      </p:grpSp>
      <p:cxnSp>
        <p:nvCxnSpPr>
          <p:cNvPr id="73" name="Google Shape;73;p9"/>
          <p:cNvCxnSpPr>
            <a:stCxn id="54" idx="4"/>
            <a:endCxn id="48" idx="3"/>
          </p:cNvCxnSpPr>
          <p:nvPr/>
        </p:nvCxnSpPr>
        <p:spPr>
          <a:xfrm rot="5400000">
            <a:off x="1537848" y="3350440"/>
            <a:ext cx="184200" cy="166500"/>
          </a:xfrm>
          <a:prstGeom prst="bentConnector2">
            <a:avLst/>
          </a:prstGeom>
          <a:noFill/>
          <a:ln w="9525" cap="flat" cmpd="sng">
            <a:solidFill>
              <a:schemeClr val="dk2"/>
            </a:solidFill>
            <a:prstDash val="dash"/>
            <a:round/>
            <a:headEnd type="none" w="med" len="med"/>
            <a:tailEnd type="none" w="med" len="med"/>
          </a:ln>
        </p:spPr>
      </p:cxnSp>
      <p:cxnSp>
        <p:nvCxnSpPr>
          <p:cNvPr id="74" name="Google Shape;74;p9"/>
          <p:cNvCxnSpPr>
            <a:stCxn id="55" idx="4"/>
            <a:endCxn id="75" idx="3"/>
          </p:cNvCxnSpPr>
          <p:nvPr/>
        </p:nvCxnSpPr>
        <p:spPr>
          <a:xfrm rot="5400000">
            <a:off x="1928508" y="3723490"/>
            <a:ext cx="811500" cy="47700"/>
          </a:xfrm>
          <a:prstGeom prst="bentConnector2">
            <a:avLst/>
          </a:prstGeom>
          <a:noFill/>
          <a:ln w="9525" cap="flat" cmpd="sng">
            <a:solidFill>
              <a:schemeClr val="dk2"/>
            </a:solidFill>
            <a:prstDash val="dash"/>
            <a:round/>
            <a:headEnd type="none" w="med" len="med"/>
            <a:tailEnd type="none" w="med" len="med"/>
          </a:ln>
        </p:spPr>
      </p:cxnSp>
      <p:grpSp>
        <p:nvGrpSpPr>
          <p:cNvPr id="76" name="Google Shape;76;p9"/>
          <p:cNvGrpSpPr/>
          <p:nvPr/>
        </p:nvGrpSpPr>
        <p:grpSpPr>
          <a:xfrm>
            <a:off x="1433451" y="4093050"/>
            <a:ext cx="876911" cy="463200"/>
            <a:chOff x="1357251" y="3990325"/>
            <a:chExt cx="876911" cy="463200"/>
          </a:xfrm>
        </p:grpSpPr>
        <p:sp>
          <p:nvSpPr>
            <p:cNvPr id="75" name="Google Shape;75;p9"/>
            <p:cNvSpPr/>
            <p:nvPr/>
          </p:nvSpPr>
          <p:spPr>
            <a:xfrm>
              <a:off x="2121061" y="3990325"/>
              <a:ext cx="113100" cy="120300"/>
            </a:xfrm>
            <a:prstGeom prst="rect">
              <a:avLst/>
            </a:prstGeom>
            <a:solidFill>
              <a:schemeClr val="lt1"/>
            </a:solidFill>
            <a:ln>
              <a:noFill/>
            </a:ln>
          </p:spPr>
          <p:txBody>
            <a:bodyPr spcFirstLastPara="1" wrap="square" lIns="54000" tIns="54000" rIns="54000" bIns="54000" anchor="ctr" anchorCtr="0">
              <a:noAutofit/>
            </a:bodyPr>
            <a:lstStyle/>
            <a:p>
              <a:pPr marL="0" lvl="0" indent="0" algn="r" rtl="0">
                <a:spcBef>
                  <a:spcPts val="0"/>
                </a:spcBef>
                <a:spcAft>
                  <a:spcPts val="0"/>
                </a:spcAft>
                <a:buNone/>
              </a:pPr>
              <a:endParaRPr>
                <a:latin typeface="Calibri"/>
                <a:ea typeface="Calibri"/>
                <a:cs typeface="Calibri"/>
                <a:sym typeface="Calibri"/>
              </a:endParaRPr>
            </a:p>
          </p:txBody>
        </p:sp>
        <p:sp>
          <p:nvSpPr>
            <p:cNvPr id="77" name="Google Shape;77;p9"/>
            <p:cNvSpPr txBox="1"/>
            <p:nvPr/>
          </p:nvSpPr>
          <p:spPr>
            <a:xfrm>
              <a:off x="1357251" y="3990325"/>
              <a:ext cx="858000" cy="463200"/>
            </a:xfrm>
            <a:prstGeom prst="rect">
              <a:avLst/>
            </a:prstGeom>
            <a:solidFill>
              <a:schemeClr val="lt1"/>
            </a:solidFill>
            <a:ln w="19050" cap="flat" cmpd="sng">
              <a:solidFill>
                <a:srgbClr val="6D6D6D"/>
              </a:solidFill>
              <a:prstDash val="solid"/>
              <a:round/>
              <a:headEnd type="none" w="sm" len="sm"/>
              <a:tailEnd type="none" w="sm" len="sm"/>
            </a:ln>
          </p:spPr>
          <p:txBody>
            <a:bodyPr spcFirstLastPara="1" wrap="square" lIns="54000" tIns="54000" rIns="54000" bIns="54000" anchor="t" anchorCtr="0">
              <a:spAutoFit/>
            </a:bodyPr>
            <a:lstStyle/>
            <a:p>
              <a:pPr marL="0" lvl="0" indent="0" algn="r" rtl="0">
                <a:spcBef>
                  <a:spcPts val="0"/>
                </a:spcBef>
                <a:spcAft>
                  <a:spcPts val="0"/>
                </a:spcAft>
                <a:buNone/>
              </a:pPr>
              <a:r>
                <a:rPr lang="it" sz="1000" b="1">
                  <a:solidFill>
                    <a:schemeClr val="dk1"/>
                  </a:solidFill>
                </a:rPr>
                <a:t>March '17</a:t>
              </a:r>
              <a:endParaRPr sz="800" b="1">
                <a:solidFill>
                  <a:schemeClr val="dk1"/>
                </a:solidFill>
              </a:endParaRPr>
            </a:p>
            <a:p>
              <a:pPr marL="0" lvl="0" indent="0" algn="r" rtl="0">
                <a:spcBef>
                  <a:spcPts val="0"/>
                </a:spcBef>
                <a:spcAft>
                  <a:spcPts val="0"/>
                </a:spcAft>
                <a:buNone/>
              </a:pPr>
              <a:r>
                <a:rPr lang="it" sz="1300">
                  <a:solidFill>
                    <a:schemeClr val="dk1"/>
                  </a:solidFill>
                </a:rPr>
                <a:t>Kotlin 1.1</a:t>
              </a:r>
              <a:endParaRPr sz="1300">
                <a:solidFill>
                  <a:schemeClr val="dk1"/>
                </a:solidFill>
              </a:endParaRPr>
            </a:p>
          </p:txBody>
        </p:sp>
      </p:grpSp>
      <p:grpSp>
        <p:nvGrpSpPr>
          <p:cNvPr id="78" name="Google Shape;78;p9"/>
          <p:cNvGrpSpPr/>
          <p:nvPr/>
        </p:nvGrpSpPr>
        <p:grpSpPr>
          <a:xfrm>
            <a:off x="3114822" y="1543839"/>
            <a:ext cx="985046" cy="463211"/>
            <a:chOff x="4275528" y="745775"/>
            <a:chExt cx="536196" cy="463211"/>
          </a:xfrm>
        </p:grpSpPr>
        <p:sp>
          <p:nvSpPr>
            <p:cNvPr id="79" name="Google Shape;79;p9"/>
            <p:cNvSpPr/>
            <p:nvPr/>
          </p:nvSpPr>
          <p:spPr>
            <a:xfrm>
              <a:off x="4275528" y="745775"/>
              <a:ext cx="120300" cy="120300"/>
            </a:xfrm>
            <a:prstGeom prst="rect">
              <a:avLst/>
            </a:prstGeom>
            <a:solidFill>
              <a:schemeClr val="lt1"/>
            </a:solidFill>
            <a:ln>
              <a:noFill/>
            </a:ln>
          </p:spPr>
          <p:txBody>
            <a:bodyPr spcFirstLastPara="1" wrap="square" lIns="54000" tIns="54000" rIns="54000" bIns="54000"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80" name="Google Shape;80;p9"/>
            <p:cNvSpPr txBox="1"/>
            <p:nvPr/>
          </p:nvSpPr>
          <p:spPr>
            <a:xfrm>
              <a:off x="4289424" y="745786"/>
              <a:ext cx="522300" cy="463200"/>
            </a:xfrm>
            <a:prstGeom prst="rect">
              <a:avLst/>
            </a:prstGeom>
            <a:solidFill>
              <a:schemeClr val="lt1"/>
            </a:solidFill>
            <a:ln w="19050" cap="flat" cmpd="sng">
              <a:solidFill>
                <a:srgbClr val="6D6D6D"/>
              </a:solidFill>
              <a:prstDash val="solid"/>
              <a:round/>
              <a:headEnd type="none" w="sm" len="sm"/>
              <a:tailEnd type="none" w="sm" len="sm"/>
            </a:ln>
          </p:spPr>
          <p:txBody>
            <a:bodyPr spcFirstLastPara="1" wrap="square" lIns="54000" tIns="54000" rIns="54000" bIns="54000" anchor="t" anchorCtr="0">
              <a:spAutoFit/>
            </a:bodyPr>
            <a:lstStyle/>
            <a:p>
              <a:pPr marL="0" lvl="0" indent="0" algn="l" rtl="0">
                <a:spcBef>
                  <a:spcPts val="0"/>
                </a:spcBef>
                <a:spcAft>
                  <a:spcPts val="0"/>
                </a:spcAft>
                <a:buNone/>
              </a:pPr>
              <a:r>
                <a:rPr lang="it" sz="1000" b="1">
                  <a:solidFill>
                    <a:schemeClr val="dk1"/>
                  </a:solidFill>
                </a:rPr>
                <a:t>November '17</a:t>
              </a:r>
              <a:endParaRPr sz="800" b="1">
                <a:solidFill>
                  <a:schemeClr val="dk1"/>
                </a:solidFill>
              </a:endParaRPr>
            </a:p>
            <a:p>
              <a:pPr marL="0" lvl="0" indent="0" algn="l" rtl="0">
                <a:spcBef>
                  <a:spcPts val="0"/>
                </a:spcBef>
                <a:spcAft>
                  <a:spcPts val="0"/>
                </a:spcAft>
                <a:buNone/>
              </a:pPr>
              <a:r>
                <a:rPr lang="it" sz="1300">
                  <a:solidFill>
                    <a:schemeClr val="dk1"/>
                  </a:solidFill>
                </a:rPr>
                <a:t>Kotlin 1.2</a:t>
              </a:r>
              <a:endParaRPr sz="1300">
                <a:solidFill>
                  <a:schemeClr val="dk1"/>
                </a:solidFill>
              </a:endParaRPr>
            </a:p>
          </p:txBody>
        </p:sp>
      </p:grpSp>
      <p:cxnSp>
        <p:nvCxnSpPr>
          <p:cNvPr id="81" name="Google Shape;81;p9"/>
          <p:cNvCxnSpPr>
            <a:stCxn id="79" idx="1"/>
            <a:endCxn id="56" idx="0"/>
          </p:cNvCxnSpPr>
          <p:nvPr/>
        </p:nvCxnSpPr>
        <p:spPr>
          <a:xfrm flipH="1">
            <a:off x="3002922" y="1603989"/>
            <a:ext cx="111900" cy="1432800"/>
          </a:xfrm>
          <a:prstGeom prst="bentConnector2">
            <a:avLst/>
          </a:prstGeom>
          <a:noFill/>
          <a:ln w="9525" cap="flat" cmpd="sng">
            <a:solidFill>
              <a:schemeClr val="dk2"/>
            </a:solidFill>
            <a:prstDash val="dash"/>
            <a:round/>
            <a:headEnd type="none" w="med" len="med"/>
            <a:tailEnd type="none" w="med" len="med"/>
          </a:ln>
        </p:spPr>
      </p:cxnSp>
      <p:grpSp>
        <p:nvGrpSpPr>
          <p:cNvPr id="82" name="Google Shape;82;p9"/>
          <p:cNvGrpSpPr/>
          <p:nvPr/>
        </p:nvGrpSpPr>
        <p:grpSpPr>
          <a:xfrm>
            <a:off x="3800622" y="2153439"/>
            <a:ext cx="1235259" cy="463211"/>
            <a:chOff x="4565877" y="1355375"/>
            <a:chExt cx="672396" cy="463211"/>
          </a:xfrm>
        </p:grpSpPr>
        <p:sp>
          <p:nvSpPr>
            <p:cNvPr id="83" name="Google Shape;83;p9"/>
            <p:cNvSpPr/>
            <p:nvPr/>
          </p:nvSpPr>
          <p:spPr>
            <a:xfrm>
              <a:off x="4565877" y="1355375"/>
              <a:ext cx="120300" cy="120300"/>
            </a:xfrm>
            <a:prstGeom prst="rect">
              <a:avLst/>
            </a:prstGeom>
            <a:solidFill>
              <a:schemeClr val="lt1"/>
            </a:solidFill>
            <a:ln>
              <a:noFill/>
            </a:ln>
          </p:spPr>
          <p:txBody>
            <a:bodyPr spcFirstLastPara="1" wrap="square" lIns="54000" tIns="54000" rIns="54000" bIns="54000"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84" name="Google Shape;84;p9"/>
            <p:cNvSpPr txBox="1"/>
            <p:nvPr/>
          </p:nvSpPr>
          <p:spPr>
            <a:xfrm>
              <a:off x="4579773" y="1355386"/>
              <a:ext cx="658500" cy="463200"/>
            </a:xfrm>
            <a:prstGeom prst="rect">
              <a:avLst/>
            </a:prstGeom>
            <a:solidFill>
              <a:schemeClr val="lt1"/>
            </a:solidFill>
            <a:ln w="19050" cap="flat" cmpd="sng">
              <a:solidFill>
                <a:srgbClr val="6D6D6D"/>
              </a:solidFill>
              <a:prstDash val="solid"/>
              <a:round/>
              <a:headEnd type="none" w="sm" len="sm"/>
              <a:tailEnd type="none" w="sm" len="sm"/>
            </a:ln>
          </p:spPr>
          <p:txBody>
            <a:bodyPr spcFirstLastPara="1" wrap="square" lIns="54000" tIns="54000" rIns="54000" bIns="54000" anchor="t" anchorCtr="0">
              <a:spAutoFit/>
            </a:bodyPr>
            <a:lstStyle/>
            <a:p>
              <a:pPr marL="0" lvl="0" indent="0" algn="l" rtl="0">
                <a:spcBef>
                  <a:spcPts val="0"/>
                </a:spcBef>
                <a:spcAft>
                  <a:spcPts val="0"/>
                </a:spcAft>
                <a:buNone/>
              </a:pPr>
              <a:r>
                <a:rPr lang="it" sz="1000" b="1">
                  <a:solidFill>
                    <a:schemeClr val="dk1"/>
                  </a:solidFill>
                </a:rPr>
                <a:t>October '18</a:t>
              </a:r>
              <a:endParaRPr sz="800" b="1">
                <a:solidFill>
                  <a:schemeClr val="dk1"/>
                </a:solidFill>
              </a:endParaRPr>
            </a:p>
            <a:p>
              <a:pPr marL="0" lvl="0" indent="0" algn="l" rtl="0">
                <a:spcBef>
                  <a:spcPts val="0"/>
                </a:spcBef>
                <a:spcAft>
                  <a:spcPts val="0"/>
                </a:spcAft>
                <a:buNone/>
              </a:pPr>
              <a:r>
                <a:rPr lang="it" sz="1300">
                  <a:solidFill>
                    <a:schemeClr val="dk1"/>
                  </a:solidFill>
                </a:rPr>
                <a:t>Kotlin 1.3</a:t>
              </a:r>
              <a:endParaRPr sz="1300">
                <a:solidFill>
                  <a:schemeClr val="dk1"/>
                </a:solidFill>
              </a:endParaRPr>
            </a:p>
          </p:txBody>
        </p:sp>
      </p:grpSp>
      <p:cxnSp>
        <p:nvCxnSpPr>
          <p:cNvPr id="85" name="Google Shape;85;p9"/>
          <p:cNvCxnSpPr>
            <a:stCxn id="83" idx="1"/>
            <a:endCxn id="57" idx="0"/>
          </p:cNvCxnSpPr>
          <p:nvPr/>
        </p:nvCxnSpPr>
        <p:spPr>
          <a:xfrm flipH="1">
            <a:off x="3647922" y="2213589"/>
            <a:ext cx="152700" cy="823200"/>
          </a:xfrm>
          <a:prstGeom prst="bentConnector2">
            <a:avLst/>
          </a:prstGeom>
          <a:noFill/>
          <a:ln w="9525" cap="flat" cmpd="sng">
            <a:solidFill>
              <a:schemeClr val="dk2"/>
            </a:solidFill>
            <a:prstDash val="dash"/>
            <a:round/>
            <a:headEnd type="none" w="med" len="med"/>
            <a:tailEnd type="none" w="med" len="med"/>
          </a:ln>
        </p:spPr>
      </p:cxnSp>
      <p:grpSp>
        <p:nvGrpSpPr>
          <p:cNvPr id="86" name="Google Shape;86;p9"/>
          <p:cNvGrpSpPr/>
          <p:nvPr/>
        </p:nvGrpSpPr>
        <p:grpSpPr>
          <a:xfrm>
            <a:off x="3114832" y="3465625"/>
            <a:ext cx="1136333" cy="463200"/>
            <a:chOff x="-220325" y="3618025"/>
            <a:chExt cx="1614568" cy="463200"/>
          </a:xfrm>
        </p:grpSpPr>
        <p:sp>
          <p:nvSpPr>
            <p:cNvPr id="87" name="Google Shape;87;p9"/>
            <p:cNvSpPr/>
            <p:nvPr/>
          </p:nvSpPr>
          <p:spPr>
            <a:xfrm>
              <a:off x="1273943" y="3618025"/>
              <a:ext cx="120300" cy="120300"/>
            </a:xfrm>
            <a:prstGeom prst="rect">
              <a:avLst/>
            </a:prstGeom>
            <a:solidFill>
              <a:schemeClr val="lt1"/>
            </a:solidFill>
            <a:ln>
              <a:noFill/>
            </a:ln>
          </p:spPr>
          <p:txBody>
            <a:bodyPr spcFirstLastPara="1" wrap="square" lIns="54000" tIns="54000" rIns="54000" bIns="54000" anchor="ctr" anchorCtr="0">
              <a:noAutofit/>
            </a:bodyPr>
            <a:lstStyle/>
            <a:p>
              <a:pPr marL="0" lvl="0" indent="0" algn="r" rtl="0">
                <a:spcBef>
                  <a:spcPts val="0"/>
                </a:spcBef>
                <a:spcAft>
                  <a:spcPts val="0"/>
                </a:spcAft>
                <a:buNone/>
              </a:pPr>
              <a:endParaRPr>
                <a:latin typeface="Calibri"/>
                <a:ea typeface="Calibri"/>
                <a:cs typeface="Calibri"/>
                <a:sym typeface="Calibri"/>
              </a:endParaRPr>
            </a:p>
          </p:txBody>
        </p:sp>
        <p:sp>
          <p:nvSpPr>
            <p:cNvPr id="88" name="Google Shape;88;p9"/>
            <p:cNvSpPr txBox="1"/>
            <p:nvPr/>
          </p:nvSpPr>
          <p:spPr>
            <a:xfrm>
              <a:off x="-220325" y="3618025"/>
              <a:ext cx="1596000" cy="463200"/>
            </a:xfrm>
            <a:prstGeom prst="rect">
              <a:avLst/>
            </a:prstGeom>
            <a:solidFill>
              <a:schemeClr val="lt1"/>
            </a:solidFill>
            <a:ln w="19050" cap="flat" cmpd="sng">
              <a:solidFill>
                <a:srgbClr val="6D6D6D"/>
              </a:solidFill>
              <a:prstDash val="solid"/>
              <a:round/>
              <a:headEnd type="none" w="sm" len="sm"/>
              <a:tailEnd type="none" w="sm" len="sm"/>
            </a:ln>
          </p:spPr>
          <p:txBody>
            <a:bodyPr spcFirstLastPara="1" wrap="square" lIns="54000" tIns="54000" rIns="54000" bIns="54000" anchor="t" anchorCtr="0">
              <a:spAutoFit/>
            </a:bodyPr>
            <a:lstStyle/>
            <a:p>
              <a:pPr marL="0" lvl="0" indent="0" algn="r" rtl="0">
                <a:spcBef>
                  <a:spcPts val="0"/>
                </a:spcBef>
                <a:spcAft>
                  <a:spcPts val="0"/>
                </a:spcAft>
                <a:buNone/>
              </a:pPr>
              <a:r>
                <a:rPr lang="it" sz="1000" b="1">
                  <a:solidFill>
                    <a:schemeClr val="dk1"/>
                  </a:solidFill>
                </a:rPr>
                <a:t>August '20</a:t>
              </a:r>
              <a:endParaRPr sz="800" b="1">
                <a:solidFill>
                  <a:schemeClr val="dk1"/>
                </a:solidFill>
              </a:endParaRPr>
            </a:p>
            <a:p>
              <a:pPr marL="0" lvl="0" indent="0" algn="r" rtl="0">
                <a:spcBef>
                  <a:spcPts val="0"/>
                </a:spcBef>
                <a:spcAft>
                  <a:spcPts val="0"/>
                </a:spcAft>
                <a:buNone/>
              </a:pPr>
              <a:r>
                <a:rPr lang="it" sz="1300">
                  <a:solidFill>
                    <a:schemeClr val="dk1"/>
                  </a:solidFill>
                </a:rPr>
                <a:t>Kotlin 1.4.0</a:t>
              </a:r>
              <a:endParaRPr sz="1300">
                <a:solidFill>
                  <a:schemeClr val="dk1"/>
                </a:solidFill>
              </a:endParaRPr>
            </a:p>
          </p:txBody>
        </p:sp>
      </p:grpSp>
      <p:cxnSp>
        <p:nvCxnSpPr>
          <p:cNvPr id="89" name="Google Shape;89;p9"/>
          <p:cNvCxnSpPr>
            <a:stCxn id="58" idx="4"/>
            <a:endCxn id="87" idx="3"/>
          </p:cNvCxnSpPr>
          <p:nvPr/>
        </p:nvCxnSpPr>
        <p:spPr>
          <a:xfrm rot="5400000">
            <a:off x="4179888" y="3412840"/>
            <a:ext cx="184200" cy="41700"/>
          </a:xfrm>
          <a:prstGeom prst="bentConnector2">
            <a:avLst/>
          </a:prstGeom>
          <a:noFill/>
          <a:ln w="9525" cap="flat" cmpd="sng">
            <a:solidFill>
              <a:schemeClr val="dk2"/>
            </a:solidFill>
            <a:prstDash val="dash"/>
            <a:round/>
            <a:headEnd type="none" w="med" len="med"/>
            <a:tailEnd type="none" w="med" len="med"/>
          </a:ln>
        </p:spPr>
      </p:cxnSp>
      <p:grpSp>
        <p:nvGrpSpPr>
          <p:cNvPr id="90" name="Google Shape;90;p9"/>
          <p:cNvGrpSpPr/>
          <p:nvPr/>
        </p:nvGrpSpPr>
        <p:grpSpPr>
          <a:xfrm>
            <a:off x="3818129" y="4093050"/>
            <a:ext cx="997964" cy="463200"/>
            <a:chOff x="-220325" y="3618025"/>
            <a:chExt cx="1614568" cy="463200"/>
          </a:xfrm>
        </p:grpSpPr>
        <p:sp>
          <p:nvSpPr>
            <p:cNvPr id="91" name="Google Shape;91;p9"/>
            <p:cNvSpPr/>
            <p:nvPr/>
          </p:nvSpPr>
          <p:spPr>
            <a:xfrm>
              <a:off x="1273943" y="3618025"/>
              <a:ext cx="120300" cy="120300"/>
            </a:xfrm>
            <a:prstGeom prst="rect">
              <a:avLst/>
            </a:prstGeom>
            <a:solidFill>
              <a:schemeClr val="lt1"/>
            </a:solidFill>
            <a:ln>
              <a:noFill/>
            </a:ln>
          </p:spPr>
          <p:txBody>
            <a:bodyPr spcFirstLastPara="1" wrap="square" lIns="54000" tIns="54000" rIns="54000" bIns="54000" anchor="ctr" anchorCtr="0">
              <a:noAutofit/>
            </a:bodyPr>
            <a:lstStyle/>
            <a:p>
              <a:pPr marL="0" lvl="0" indent="0" algn="r" rtl="0">
                <a:spcBef>
                  <a:spcPts val="0"/>
                </a:spcBef>
                <a:spcAft>
                  <a:spcPts val="0"/>
                </a:spcAft>
                <a:buNone/>
              </a:pPr>
              <a:endParaRPr>
                <a:latin typeface="Calibri"/>
                <a:ea typeface="Calibri"/>
                <a:cs typeface="Calibri"/>
                <a:sym typeface="Calibri"/>
              </a:endParaRPr>
            </a:p>
          </p:txBody>
        </p:sp>
        <p:sp>
          <p:nvSpPr>
            <p:cNvPr id="92" name="Google Shape;92;p9"/>
            <p:cNvSpPr txBox="1"/>
            <p:nvPr/>
          </p:nvSpPr>
          <p:spPr>
            <a:xfrm>
              <a:off x="-220325" y="3618025"/>
              <a:ext cx="1596000" cy="463200"/>
            </a:xfrm>
            <a:prstGeom prst="rect">
              <a:avLst/>
            </a:prstGeom>
            <a:solidFill>
              <a:schemeClr val="lt1"/>
            </a:solidFill>
            <a:ln w="19050" cap="flat" cmpd="sng">
              <a:solidFill>
                <a:srgbClr val="6D6D6D"/>
              </a:solidFill>
              <a:prstDash val="solid"/>
              <a:round/>
              <a:headEnd type="none" w="sm" len="sm"/>
              <a:tailEnd type="none" w="sm" len="sm"/>
            </a:ln>
          </p:spPr>
          <p:txBody>
            <a:bodyPr spcFirstLastPara="1" wrap="square" lIns="54000" tIns="54000" rIns="54000" bIns="54000" anchor="t" anchorCtr="0">
              <a:spAutoFit/>
            </a:bodyPr>
            <a:lstStyle/>
            <a:p>
              <a:pPr marL="0" lvl="0" indent="0" algn="r" rtl="0">
                <a:spcBef>
                  <a:spcPts val="0"/>
                </a:spcBef>
                <a:spcAft>
                  <a:spcPts val="0"/>
                </a:spcAft>
                <a:buNone/>
              </a:pPr>
              <a:r>
                <a:rPr lang="it" sz="1000" b="1">
                  <a:solidFill>
                    <a:schemeClr val="dk1"/>
                  </a:solidFill>
                </a:rPr>
                <a:t>May '21</a:t>
              </a:r>
              <a:endParaRPr sz="800" b="1">
                <a:solidFill>
                  <a:schemeClr val="dk1"/>
                </a:solidFill>
              </a:endParaRPr>
            </a:p>
            <a:p>
              <a:pPr marL="0" lvl="0" indent="0" algn="r" rtl="0">
                <a:spcBef>
                  <a:spcPts val="0"/>
                </a:spcBef>
                <a:spcAft>
                  <a:spcPts val="0"/>
                </a:spcAft>
                <a:buNone/>
              </a:pPr>
              <a:r>
                <a:rPr lang="it" sz="1300">
                  <a:solidFill>
                    <a:schemeClr val="dk1"/>
                  </a:solidFill>
                </a:rPr>
                <a:t>Kotlin 1.5.0</a:t>
              </a:r>
              <a:endParaRPr sz="1300">
                <a:solidFill>
                  <a:schemeClr val="dk1"/>
                </a:solidFill>
              </a:endParaRPr>
            </a:p>
          </p:txBody>
        </p:sp>
      </p:grpSp>
      <p:cxnSp>
        <p:nvCxnSpPr>
          <p:cNvPr id="93" name="Google Shape;93;p9"/>
          <p:cNvCxnSpPr>
            <a:stCxn id="59" idx="4"/>
            <a:endCxn id="91" idx="3"/>
          </p:cNvCxnSpPr>
          <p:nvPr/>
        </p:nvCxnSpPr>
        <p:spPr>
          <a:xfrm rot="5400000">
            <a:off x="4471098" y="3686440"/>
            <a:ext cx="811500" cy="121800"/>
          </a:xfrm>
          <a:prstGeom prst="bentConnector2">
            <a:avLst/>
          </a:prstGeom>
          <a:noFill/>
          <a:ln w="9525" cap="flat" cmpd="sng">
            <a:solidFill>
              <a:schemeClr val="dk2"/>
            </a:solidFill>
            <a:prstDash val="dash"/>
            <a:round/>
            <a:headEnd type="none" w="med" len="med"/>
            <a:tailEnd type="none" w="med" len="med"/>
          </a:ln>
        </p:spPr>
      </p:cxnSp>
      <p:grpSp>
        <p:nvGrpSpPr>
          <p:cNvPr id="94" name="Google Shape;94;p9"/>
          <p:cNvGrpSpPr/>
          <p:nvPr/>
        </p:nvGrpSpPr>
        <p:grpSpPr>
          <a:xfrm>
            <a:off x="5787847" y="1543839"/>
            <a:ext cx="985046" cy="463211"/>
            <a:chOff x="4275528" y="745775"/>
            <a:chExt cx="536196" cy="463211"/>
          </a:xfrm>
        </p:grpSpPr>
        <p:sp>
          <p:nvSpPr>
            <p:cNvPr id="95" name="Google Shape;95;p9"/>
            <p:cNvSpPr/>
            <p:nvPr/>
          </p:nvSpPr>
          <p:spPr>
            <a:xfrm>
              <a:off x="4275528" y="745775"/>
              <a:ext cx="120300" cy="120300"/>
            </a:xfrm>
            <a:prstGeom prst="rect">
              <a:avLst/>
            </a:prstGeom>
            <a:solidFill>
              <a:schemeClr val="lt1"/>
            </a:solidFill>
            <a:ln>
              <a:noFill/>
            </a:ln>
          </p:spPr>
          <p:txBody>
            <a:bodyPr spcFirstLastPara="1" wrap="square" lIns="54000" tIns="54000" rIns="54000" bIns="54000"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96" name="Google Shape;96;p9"/>
            <p:cNvSpPr txBox="1"/>
            <p:nvPr/>
          </p:nvSpPr>
          <p:spPr>
            <a:xfrm>
              <a:off x="4289424" y="745786"/>
              <a:ext cx="522300" cy="463200"/>
            </a:xfrm>
            <a:prstGeom prst="rect">
              <a:avLst/>
            </a:prstGeom>
            <a:solidFill>
              <a:schemeClr val="lt1"/>
            </a:solidFill>
            <a:ln w="19050" cap="flat" cmpd="sng">
              <a:solidFill>
                <a:srgbClr val="6D6D6D"/>
              </a:solidFill>
              <a:prstDash val="solid"/>
              <a:round/>
              <a:headEnd type="none" w="sm" len="sm"/>
              <a:tailEnd type="none" w="sm" len="sm"/>
            </a:ln>
          </p:spPr>
          <p:txBody>
            <a:bodyPr spcFirstLastPara="1" wrap="square" lIns="54000" tIns="54000" rIns="54000" bIns="54000" anchor="t" anchorCtr="0">
              <a:spAutoFit/>
            </a:bodyPr>
            <a:lstStyle/>
            <a:p>
              <a:pPr marL="0" lvl="0" indent="0" algn="l" rtl="0">
                <a:spcBef>
                  <a:spcPts val="0"/>
                </a:spcBef>
                <a:spcAft>
                  <a:spcPts val="0"/>
                </a:spcAft>
                <a:buNone/>
              </a:pPr>
              <a:r>
                <a:rPr lang="it" sz="1000" b="1">
                  <a:solidFill>
                    <a:schemeClr val="dk1"/>
                  </a:solidFill>
                </a:rPr>
                <a:t>November '21</a:t>
              </a:r>
              <a:endParaRPr sz="800" b="1">
                <a:solidFill>
                  <a:schemeClr val="dk1"/>
                </a:solidFill>
              </a:endParaRPr>
            </a:p>
            <a:p>
              <a:pPr marL="0" lvl="0" indent="0" algn="l" rtl="0">
                <a:spcBef>
                  <a:spcPts val="0"/>
                </a:spcBef>
                <a:spcAft>
                  <a:spcPts val="0"/>
                </a:spcAft>
                <a:buNone/>
              </a:pPr>
              <a:r>
                <a:rPr lang="it" sz="1300">
                  <a:solidFill>
                    <a:schemeClr val="dk1"/>
                  </a:solidFill>
                </a:rPr>
                <a:t>Kotlin 1.6.0</a:t>
              </a:r>
              <a:endParaRPr sz="1300">
                <a:solidFill>
                  <a:schemeClr val="dk1"/>
                </a:solidFill>
              </a:endParaRPr>
            </a:p>
          </p:txBody>
        </p:sp>
      </p:grpSp>
      <p:cxnSp>
        <p:nvCxnSpPr>
          <p:cNvPr id="97" name="Google Shape;97;p9"/>
          <p:cNvCxnSpPr>
            <a:stCxn id="95" idx="1"/>
            <a:endCxn id="60" idx="0"/>
          </p:cNvCxnSpPr>
          <p:nvPr/>
        </p:nvCxnSpPr>
        <p:spPr>
          <a:xfrm flipH="1">
            <a:off x="5582647" y="1603989"/>
            <a:ext cx="205200" cy="1432800"/>
          </a:xfrm>
          <a:prstGeom prst="bentConnector2">
            <a:avLst/>
          </a:prstGeom>
          <a:noFill/>
          <a:ln w="9525" cap="flat" cmpd="sng">
            <a:solidFill>
              <a:schemeClr val="dk2"/>
            </a:solidFill>
            <a:prstDash val="dash"/>
            <a:round/>
            <a:headEnd type="none" w="med" len="med"/>
            <a:tailEnd type="none" w="med" len="med"/>
          </a:ln>
        </p:spPr>
      </p:cxnSp>
      <p:grpSp>
        <p:nvGrpSpPr>
          <p:cNvPr id="98" name="Google Shape;98;p9"/>
          <p:cNvGrpSpPr/>
          <p:nvPr/>
        </p:nvGrpSpPr>
        <p:grpSpPr>
          <a:xfrm>
            <a:off x="6397447" y="2153439"/>
            <a:ext cx="985046" cy="463211"/>
            <a:chOff x="4275528" y="745775"/>
            <a:chExt cx="536196" cy="463211"/>
          </a:xfrm>
        </p:grpSpPr>
        <p:sp>
          <p:nvSpPr>
            <p:cNvPr id="99" name="Google Shape;99;p9"/>
            <p:cNvSpPr/>
            <p:nvPr/>
          </p:nvSpPr>
          <p:spPr>
            <a:xfrm>
              <a:off x="4275528" y="745775"/>
              <a:ext cx="120300" cy="120300"/>
            </a:xfrm>
            <a:prstGeom prst="rect">
              <a:avLst/>
            </a:prstGeom>
            <a:solidFill>
              <a:schemeClr val="lt1"/>
            </a:solidFill>
            <a:ln>
              <a:noFill/>
            </a:ln>
          </p:spPr>
          <p:txBody>
            <a:bodyPr spcFirstLastPara="1" wrap="square" lIns="54000" tIns="54000" rIns="54000" bIns="54000"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100" name="Google Shape;100;p9"/>
            <p:cNvSpPr txBox="1"/>
            <p:nvPr/>
          </p:nvSpPr>
          <p:spPr>
            <a:xfrm>
              <a:off x="4289424" y="745786"/>
              <a:ext cx="522300" cy="463200"/>
            </a:xfrm>
            <a:prstGeom prst="rect">
              <a:avLst/>
            </a:prstGeom>
            <a:solidFill>
              <a:schemeClr val="lt1"/>
            </a:solidFill>
            <a:ln w="19050" cap="flat" cmpd="sng">
              <a:solidFill>
                <a:srgbClr val="6D6D6D"/>
              </a:solidFill>
              <a:prstDash val="solid"/>
              <a:round/>
              <a:headEnd type="none" w="sm" len="sm"/>
              <a:tailEnd type="none" w="sm" len="sm"/>
            </a:ln>
          </p:spPr>
          <p:txBody>
            <a:bodyPr spcFirstLastPara="1" wrap="square" lIns="54000" tIns="54000" rIns="54000" bIns="54000" anchor="t" anchorCtr="0">
              <a:spAutoFit/>
            </a:bodyPr>
            <a:lstStyle/>
            <a:p>
              <a:pPr marL="0" lvl="0" indent="0" algn="l" rtl="0">
                <a:spcBef>
                  <a:spcPts val="0"/>
                </a:spcBef>
                <a:spcAft>
                  <a:spcPts val="0"/>
                </a:spcAft>
                <a:buNone/>
              </a:pPr>
              <a:r>
                <a:rPr lang="it" sz="1000" b="1">
                  <a:solidFill>
                    <a:schemeClr val="dk1"/>
                  </a:solidFill>
                </a:rPr>
                <a:t>June '22</a:t>
              </a:r>
              <a:endParaRPr sz="800" b="1">
                <a:solidFill>
                  <a:schemeClr val="dk1"/>
                </a:solidFill>
              </a:endParaRPr>
            </a:p>
            <a:p>
              <a:pPr marL="0" lvl="0" indent="0" algn="l" rtl="0">
                <a:spcBef>
                  <a:spcPts val="0"/>
                </a:spcBef>
                <a:spcAft>
                  <a:spcPts val="0"/>
                </a:spcAft>
                <a:buNone/>
              </a:pPr>
              <a:r>
                <a:rPr lang="it" sz="1300">
                  <a:solidFill>
                    <a:schemeClr val="dk1"/>
                  </a:solidFill>
                </a:rPr>
                <a:t>Kotlin 1.7.0</a:t>
              </a:r>
              <a:endParaRPr sz="1300">
                <a:solidFill>
                  <a:schemeClr val="dk1"/>
                </a:solidFill>
              </a:endParaRPr>
            </a:p>
          </p:txBody>
        </p:sp>
      </p:grpSp>
      <p:cxnSp>
        <p:nvCxnSpPr>
          <p:cNvPr id="101" name="Google Shape;101;p9"/>
          <p:cNvCxnSpPr>
            <a:stCxn id="99" idx="1"/>
            <a:endCxn id="61" idx="0"/>
          </p:cNvCxnSpPr>
          <p:nvPr/>
        </p:nvCxnSpPr>
        <p:spPr>
          <a:xfrm flipH="1">
            <a:off x="6227647" y="2213589"/>
            <a:ext cx="169800" cy="823200"/>
          </a:xfrm>
          <a:prstGeom prst="bentConnector2">
            <a:avLst/>
          </a:prstGeom>
          <a:noFill/>
          <a:ln w="9525" cap="flat" cmpd="sng">
            <a:solidFill>
              <a:schemeClr val="dk2"/>
            </a:solidFill>
            <a:prstDash val="dash"/>
            <a:round/>
            <a:headEnd type="none" w="med" len="med"/>
            <a:tailEnd type="none" w="med" len="med"/>
          </a:ln>
        </p:spPr>
      </p:cxnSp>
      <p:grpSp>
        <p:nvGrpSpPr>
          <p:cNvPr id="102" name="Google Shape;102;p9"/>
          <p:cNvGrpSpPr/>
          <p:nvPr/>
        </p:nvGrpSpPr>
        <p:grpSpPr>
          <a:xfrm>
            <a:off x="5723129" y="3465625"/>
            <a:ext cx="997964" cy="463200"/>
            <a:chOff x="-220325" y="3618025"/>
            <a:chExt cx="1614568" cy="463200"/>
          </a:xfrm>
        </p:grpSpPr>
        <p:sp>
          <p:nvSpPr>
            <p:cNvPr id="103" name="Google Shape;103;p9"/>
            <p:cNvSpPr/>
            <p:nvPr/>
          </p:nvSpPr>
          <p:spPr>
            <a:xfrm>
              <a:off x="1273943" y="3618025"/>
              <a:ext cx="120300" cy="120300"/>
            </a:xfrm>
            <a:prstGeom prst="rect">
              <a:avLst/>
            </a:prstGeom>
            <a:solidFill>
              <a:schemeClr val="lt1"/>
            </a:solidFill>
            <a:ln>
              <a:noFill/>
            </a:ln>
          </p:spPr>
          <p:txBody>
            <a:bodyPr spcFirstLastPara="1" wrap="square" lIns="54000" tIns="54000" rIns="54000" bIns="54000" anchor="ctr" anchorCtr="0">
              <a:noAutofit/>
            </a:bodyPr>
            <a:lstStyle/>
            <a:p>
              <a:pPr marL="0" lvl="0" indent="0" algn="r" rtl="0">
                <a:spcBef>
                  <a:spcPts val="0"/>
                </a:spcBef>
                <a:spcAft>
                  <a:spcPts val="0"/>
                </a:spcAft>
                <a:buNone/>
              </a:pPr>
              <a:endParaRPr>
                <a:latin typeface="Calibri"/>
                <a:ea typeface="Calibri"/>
                <a:cs typeface="Calibri"/>
                <a:sym typeface="Calibri"/>
              </a:endParaRPr>
            </a:p>
          </p:txBody>
        </p:sp>
        <p:sp>
          <p:nvSpPr>
            <p:cNvPr id="104" name="Google Shape;104;p9"/>
            <p:cNvSpPr txBox="1"/>
            <p:nvPr/>
          </p:nvSpPr>
          <p:spPr>
            <a:xfrm>
              <a:off x="-220325" y="3618025"/>
              <a:ext cx="1596000" cy="463200"/>
            </a:xfrm>
            <a:prstGeom prst="rect">
              <a:avLst/>
            </a:prstGeom>
            <a:solidFill>
              <a:schemeClr val="lt1"/>
            </a:solidFill>
            <a:ln w="19050" cap="flat" cmpd="sng">
              <a:solidFill>
                <a:srgbClr val="6D6D6D"/>
              </a:solidFill>
              <a:prstDash val="solid"/>
              <a:round/>
              <a:headEnd type="none" w="sm" len="sm"/>
              <a:tailEnd type="none" w="sm" len="sm"/>
            </a:ln>
          </p:spPr>
          <p:txBody>
            <a:bodyPr spcFirstLastPara="1" wrap="square" lIns="54000" tIns="54000" rIns="54000" bIns="54000" anchor="t" anchorCtr="0">
              <a:spAutoFit/>
            </a:bodyPr>
            <a:lstStyle/>
            <a:p>
              <a:pPr marL="0" lvl="0" indent="0" algn="r" rtl="0">
                <a:spcBef>
                  <a:spcPts val="0"/>
                </a:spcBef>
                <a:spcAft>
                  <a:spcPts val="0"/>
                </a:spcAft>
                <a:buNone/>
              </a:pPr>
              <a:r>
                <a:rPr lang="it" sz="1000" b="1">
                  <a:solidFill>
                    <a:schemeClr val="dk1"/>
                  </a:solidFill>
                </a:rPr>
                <a:t>December '22</a:t>
              </a:r>
              <a:endParaRPr sz="800" b="1">
                <a:solidFill>
                  <a:schemeClr val="dk1"/>
                </a:solidFill>
              </a:endParaRPr>
            </a:p>
            <a:p>
              <a:pPr marL="0" lvl="0" indent="0" algn="r" rtl="0">
                <a:spcBef>
                  <a:spcPts val="0"/>
                </a:spcBef>
                <a:spcAft>
                  <a:spcPts val="0"/>
                </a:spcAft>
                <a:buNone/>
              </a:pPr>
              <a:r>
                <a:rPr lang="it" sz="1300">
                  <a:solidFill>
                    <a:schemeClr val="dk1"/>
                  </a:solidFill>
                </a:rPr>
                <a:t>Kotlin 1.8.0</a:t>
              </a:r>
              <a:endParaRPr sz="1300">
                <a:solidFill>
                  <a:schemeClr val="dk1"/>
                </a:solidFill>
              </a:endParaRPr>
            </a:p>
          </p:txBody>
        </p:sp>
      </p:grpSp>
      <p:cxnSp>
        <p:nvCxnSpPr>
          <p:cNvPr id="105" name="Google Shape;105;p9"/>
          <p:cNvCxnSpPr>
            <a:stCxn id="62" idx="4"/>
            <a:endCxn id="103" idx="3"/>
          </p:cNvCxnSpPr>
          <p:nvPr/>
        </p:nvCxnSpPr>
        <p:spPr>
          <a:xfrm rot="5400000">
            <a:off x="6704629" y="3357940"/>
            <a:ext cx="184200" cy="151500"/>
          </a:xfrm>
          <a:prstGeom prst="bentConnector2">
            <a:avLst/>
          </a:prstGeom>
          <a:noFill/>
          <a:ln w="9525" cap="flat" cmpd="sng">
            <a:solidFill>
              <a:schemeClr val="dk2"/>
            </a:solidFill>
            <a:prstDash val="dash"/>
            <a:round/>
            <a:headEnd type="none" w="med" len="med"/>
            <a:tailEnd type="none" w="med" len="med"/>
          </a:ln>
        </p:spPr>
      </p:cxnSp>
      <p:sp>
        <p:nvSpPr>
          <p:cNvPr id="106" name="Google Shape;106;p9"/>
          <p:cNvSpPr/>
          <p:nvPr/>
        </p:nvSpPr>
        <p:spPr>
          <a:xfrm flipH="1">
            <a:off x="7370689" y="3036790"/>
            <a:ext cx="293400" cy="304800"/>
          </a:xfrm>
          <a:prstGeom prst="ellipse">
            <a:avLst/>
          </a:prstGeom>
          <a:solidFill>
            <a:srgbClr val="9D90A0"/>
          </a:solidFill>
          <a:ln w="25400" cap="flat" cmpd="sng">
            <a:solidFill>
              <a:srgbClr val="726974"/>
            </a:solidFill>
            <a:prstDash val="solid"/>
            <a:round/>
            <a:headEnd type="none" w="sm" len="sm"/>
            <a:tailEnd type="none" w="sm" len="sm"/>
          </a:ln>
        </p:spPr>
        <p:txBody>
          <a:bodyPr spcFirstLastPara="1" wrap="square" lIns="90475" tIns="44450" rIns="90475" bIns="44450" anchor="ctr"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A5A5A5"/>
              </a:solidFill>
              <a:latin typeface="Arial"/>
              <a:ea typeface="Arial"/>
              <a:cs typeface="Arial"/>
              <a:sym typeface="Arial"/>
            </a:endParaRPr>
          </a:p>
        </p:txBody>
      </p:sp>
      <p:grpSp>
        <p:nvGrpSpPr>
          <p:cNvPr id="107" name="Google Shape;107;p9"/>
          <p:cNvGrpSpPr/>
          <p:nvPr/>
        </p:nvGrpSpPr>
        <p:grpSpPr>
          <a:xfrm>
            <a:off x="6332729" y="4093050"/>
            <a:ext cx="997964" cy="463200"/>
            <a:chOff x="-220325" y="3618025"/>
            <a:chExt cx="1614568" cy="463200"/>
          </a:xfrm>
        </p:grpSpPr>
        <p:sp>
          <p:nvSpPr>
            <p:cNvPr id="108" name="Google Shape;108;p9"/>
            <p:cNvSpPr/>
            <p:nvPr/>
          </p:nvSpPr>
          <p:spPr>
            <a:xfrm>
              <a:off x="1273943" y="3618025"/>
              <a:ext cx="120300" cy="120300"/>
            </a:xfrm>
            <a:prstGeom prst="rect">
              <a:avLst/>
            </a:prstGeom>
            <a:solidFill>
              <a:schemeClr val="lt1"/>
            </a:solidFill>
            <a:ln>
              <a:noFill/>
            </a:ln>
          </p:spPr>
          <p:txBody>
            <a:bodyPr spcFirstLastPara="1" wrap="square" lIns="54000" tIns="54000" rIns="54000" bIns="54000" anchor="ctr" anchorCtr="0">
              <a:noAutofit/>
            </a:bodyPr>
            <a:lstStyle/>
            <a:p>
              <a:pPr marL="0" lvl="0" indent="0" algn="r" rtl="0">
                <a:spcBef>
                  <a:spcPts val="0"/>
                </a:spcBef>
                <a:spcAft>
                  <a:spcPts val="0"/>
                </a:spcAft>
                <a:buNone/>
              </a:pPr>
              <a:endParaRPr>
                <a:latin typeface="Calibri"/>
                <a:ea typeface="Calibri"/>
                <a:cs typeface="Calibri"/>
                <a:sym typeface="Calibri"/>
              </a:endParaRPr>
            </a:p>
          </p:txBody>
        </p:sp>
        <p:sp>
          <p:nvSpPr>
            <p:cNvPr id="109" name="Google Shape;109;p9"/>
            <p:cNvSpPr txBox="1"/>
            <p:nvPr/>
          </p:nvSpPr>
          <p:spPr>
            <a:xfrm>
              <a:off x="-220325" y="3618025"/>
              <a:ext cx="1596000" cy="463200"/>
            </a:xfrm>
            <a:prstGeom prst="rect">
              <a:avLst/>
            </a:prstGeom>
            <a:solidFill>
              <a:schemeClr val="lt1"/>
            </a:solidFill>
            <a:ln w="19050" cap="flat" cmpd="sng">
              <a:solidFill>
                <a:srgbClr val="6D6D6D"/>
              </a:solidFill>
              <a:prstDash val="solid"/>
              <a:round/>
              <a:headEnd type="none" w="sm" len="sm"/>
              <a:tailEnd type="none" w="sm" len="sm"/>
            </a:ln>
          </p:spPr>
          <p:txBody>
            <a:bodyPr spcFirstLastPara="1" wrap="square" lIns="54000" tIns="54000" rIns="54000" bIns="54000" anchor="t" anchorCtr="0">
              <a:spAutoFit/>
            </a:bodyPr>
            <a:lstStyle/>
            <a:p>
              <a:pPr marL="0" lvl="0" indent="0" algn="r" rtl="0">
                <a:spcBef>
                  <a:spcPts val="0"/>
                </a:spcBef>
                <a:spcAft>
                  <a:spcPts val="0"/>
                </a:spcAft>
                <a:buNone/>
              </a:pPr>
              <a:r>
                <a:rPr lang="it" sz="1000" b="1">
                  <a:solidFill>
                    <a:schemeClr val="dk1"/>
                  </a:solidFill>
                </a:rPr>
                <a:t>July '23</a:t>
              </a:r>
              <a:endParaRPr sz="800" b="1">
                <a:solidFill>
                  <a:schemeClr val="dk1"/>
                </a:solidFill>
              </a:endParaRPr>
            </a:p>
            <a:p>
              <a:pPr marL="0" lvl="0" indent="0" algn="r" rtl="0">
                <a:spcBef>
                  <a:spcPts val="0"/>
                </a:spcBef>
                <a:spcAft>
                  <a:spcPts val="0"/>
                </a:spcAft>
                <a:buNone/>
              </a:pPr>
              <a:r>
                <a:rPr lang="it" sz="1300">
                  <a:solidFill>
                    <a:schemeClr val="dk1"/>
                  </a:solidFill>
                </a:rPr>
                <a:t>Kotlin 1.9.0</a:t>
              </a:r>
              <a:endParaRPr sz="1300">
                <a:solidFill>
                  <a:schemeClr val="dk1"/>
                </a:solidFill>
              </a:endParaRPr>
            </a:p>
          </p:txBody>
        </p:sp>
      </p:grpSp>
      <p:cxnSp>
        <p:nvCxnSpPr>
          <p:cNvPr id="110" name="Google Shape;110;p9"/>
          <p:cNvCxnSpPr>
            <a:stCxn id="106" idx="4"/>
            <a:endCxn id="108" idx="3"/>
          </p:cNvCxnSpPr>
          <p:nvPr/>
        </p:nvCxnSpPr>
        <p:spPr>
          <a:xfrm rot="5400000">
            <a:off x="7018339" y="3654040"/>
            <a:ext cx="811500" cy="186600"/>
          </a:xfrm>
          <a:prstGeom prst="bentConnector2">
            <a:avLst/>
          </a:prstGeom>
          <a:noFill/>
          <a:ln w="9525" cap="flat" cmpd="sng">
            <a:solidFill>
              <a:schemeClr val="dk2"/>
            </a:solidFill>
            <a:prstDash val="dash"/>
            <a:round/>
            <a:headEnd type="none" w="med" len="med"/>
            <a:tailEnd type="none" w="med" len="med"/>
          </a:ln>
        </p:spPr>
      </p:cxnSp>
      <p:grpSp>
        <p:nvGrpSpPr>
          <p:cNvPr id="111" name="Google Shape;111;p9"/>
          <p:cNvGrpSpPr/>
          <p:nvPr/>
        </p:nvGrpSpPr>
        <p:grpSpPr>
          <a:xfrm>
            <a:off x="7050226" y="1543850"/>
            <a:ext cx="1058217" cy="463200"/>
            <a:chOff x="-317806" y="3618025"/>
            <a:chExt cx="1712049" cy="463200"/>
          </a:xfrm>
        </p:grpSpPr>
        <p:sp>
          <p:nvSpPr>
            <p:cNvPr id="112" name="Google Shape;112;p9"/>
            <p:cNvSpPr/>
            <p:nvPr/>
          </p:nvSpPr>
          <p:spPr>
            <a:xfrm>
              <a:off x="1273943" y="3618025"/>
              <a:ext cx="120300" cy="120300"/>
            </a:xfrm>
            <a:prstGeom prst="rect">
              <a:avLst/>
            </a:prstGeom>
            <a:solidFill>
              <a:schemeClr val="lt1"/>
            </a:solidFill>
            <a:ln>
              <a:noFill/>
            </a:ln>
          </p:spPr>
          <p:txBody>
            <a:bodyPr spcFirstLastPara="1" wrap="square" lIns="54000" tIns="54000" rIns="54000" bIns="54000" anchor="ctr" anchorCtr="0">
              <a:noAutofit/>
            </a:bodyPr>
            <a:lstStyle/>
            <a:p>
              <a:pPr marL="0" lvl="0" indent="0" algn="r" rtl="0">
                <a:spcBef>
                  <a:spcPts val="0"/>
                </a:spcBef>
                <a:spcAft>
                  <a:spcPts val="0"/>
                </a:spcAft>
                <a:buNone/>
              </a:pPr>
              <a:endParaRPr>
                <a:latin typeface="Calibri"/>
                <a:ea typeface="Calibri"/>
                <a:cs typeface="Calibri"/>
                <a:sym typeface="Calibri"/>
              </a:endParaRPr>
            </a:p>
          </p:txBody>
        </p:sp>
        <p:sp>
          <p:nvSpPr>
            <p:cNvPr id="113" name="Google Shape;113;p9"/>
            <p:cNvSpPr txBox="1"/>
            <p:nvPr/>
          </p:nvSpPr>
          <p:spPr>
            <a:xfrm>
              <a:off x="-317806" y="3618025"/>
              <a:ext cx="1693500" cy="463200"/>
            </a:xfrm>
            <a:prstGeom prst="rect">
              <a:avLst/>
            </a:prstGeom>
            <a:solidFill>
              <a:schemeClr val="lt1"/>
            </a:solidFill>
            <a:ln w="19050" cap="flat" cmpd="sng">
              <a:solidFill>
                <a:srgbClr val="6D6D6D"/>
              </a:solidFill>
              <a:prstDash val="solid"/>
              <a:round/>
              <a:headEnd type="none" w="sm" len="sm"/>
              <a:tailEnd type="none" w="sm" len="sm"/>
            </a:ln>
          </p:spPr>
          <p:txBody>
            <a:bodyPr spcFirstLastPara="1" wrap="square" lIns="54000" tIns="54000" rIns="54000" bIns="54000" anchor="t" anchorCtr="0">
              <a:spAutoFit/>
            </a:bodyPr>
            <a:lstStyle/>
            <a:p>
              <a:pPr marL="0" lvl="0" indent="0" algn="r" rtl="0">
                <a:spcBef>
                  <a:spcPts val="0"/>
                </a:spcBef>
                <a:spcAft>
                  <a:spcPts val="0"/>
                </a:spcAft>
                <a:buNone/>
              </a:pPr>
              <a:r>
                <a:rPr lang="it" sz="1000" b="1">
                  <a:solidFill>
                    <a:schemeClr val="dk1"/>
                  </a:solidFill>
                </a:rPr>
                <a:t>December '23</a:t>
              </a:r>
              <a:endParaRPr sz="800" b="1">
                <a:solidFill>
                  <a:schemeClr val="dk1"/>
                </a:solidFill>
              </a:endParaRPr>
            </a:p>
            <a:p>
              <a:pPr marL="0" lvl="0" indent="0" algn="r" rtl="0">
                <a:spcBef>
                  <a:spcPts val="0"/>
                </a:spcBef>
                <a:spcAft>
                  <a:spcPts val="0"/>
                </a:spcAft>
                <a:buNone/>
              </a:pPr>
              <a:r>
                <a:rPr lang="it" sz="1300">
                  <a:solidFill>
                    <a:schemeClr val="dk1"/>
                  </a:solidFill>
                </a:rPr>
                <a:t>Kotlin 1.9.22</a:t>
              </a:r>
              <a:endParaRPr sz="1300">
                <a:solidFill>
                  <a:schemeClr val="dk1"/>
                </a:solidFill>
              </a:endParaRPr>
            </a:p>
          </p:txBody>
        </p:sp>
      </p:grpSp>
      <p:cxnSp>
        <p:nvCxnSpPr>
          <p:cNvPr id="114" name="Google Shape;114;p9"/>
          <p:cNvCxnSpPr>
            <a:stCxn id="64" idx="0"/>
            <a:endCxn id="112" idx="3"/>
          </p:cNvCxnSpPr>
          <p:nvPr/>
        </p:nvCxnSpPr>
        <p:spPr>
          <a:xfrm rot="5400000" flipH="1">
            <a:off x="7418899" y="2293390"/>
            <a:ext cx="1432800" cy="54000"/>
          </a:xfrm>
          <a:prstGeom prst="bentConnector2">
            <a:avLst/>
          </a:prstGeom>
          <a:noFill/>
          <a:ln w="9525" cap="flat" cmpd="sng">
            <a:solidFill>
              <a:schemeClr val="dk2"/>
            </a:solidFill>
            <a:prstDash val="dash"/>
            <a:round/>
            <a:headEnd type="none" w="med" len="med"/>
            <a:tailEnd type="none" w="med" len="med"/>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1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t"/>
              <a:t>Playing around with Kotlin</a:t>
            </a:r>
            <a:endParaRPr/>
          </a:p>
        </p:txBody>
      </p:sp>
      <p:sp>
        <p:nvSpPr>
          <p:cNvPr id="120" name="Google Shape;120;p10"/>
          <p:cNvSpPr txBox="1">
            <a:spLocks noGrp="1"/>
          </p:cNvSpPr>
          <p:nvPr>
            <p:ph type="body" idx="1"/>
          </p:nvPr>
        </p:nvSpPr>
        <p:spPr>
          <a:xfrm>
            <a:off x="311150" y="1244204"/>
            <a:ext cx="8521800" cy="3393300"/>
          </a:xfrm>
          <a:prstGeom prst="rect">
            <a:avLst/>
          </a:prstGeom>
        </p:spPr>
        <p:txBody>
          <a:bodyPr spcFirstLastPara="1" wrap="square" lIns="91425" tIns="45700" rIns="91425" bIns="45700" anchor="t" anchorCtr="0">
            <a:normAutofit/>
          </a:bodyPr>
          <a:lstStyle/>
          <a:p>
            <a:pPr marL="457200" lvl="0" indent="-355600" algn="l" rtl="0">
              <a:spcBef>
                <a:spcPts val="600"/>
              </a:spcBef>
              <a:spcAft>
                <a:spcPts val="0"/>
              </a:spcAft>
              <a:buSzPts val="2000"/>
              <a:buChar char="•"/>
            </a:pPr>
            <a:r>
              <a:rPr lang="it"/>
              <a:t>An online REPL interface is available as a playground</a:t>
            </a:r>
            <a:endParaRPr/>
          </a:p>
          <a:p>
            <a:pPr marL="914400" lvl="1" indent="-330200" algn="l" rtl="0">
              <a:spcBef>
                <a:spcPts val="300"/>
              </a:spcBef>
              <a:spcAft>
                <a:spcPts val="0"/>
              </a:spcAft>
              <a:buSzPts val="1600"/>
              <a:buChar char="○"/>
            </a:pPr>
            <a:r>
              <a:rPr lang="it" u="sng">
                <a:solidFill>
                  <a:schemeClr val="hlink"/>
                </a:solidFill>
                <a:hlinkClick r:id="rId3"/>
              </a:rPr>
              <a:t>https://play.kotlinlang.org/</a:t>
            </a:r>
            <a:r>
              <a:rPr lang="it"/>
              <a:t> </a:t>
            </a:r>
            <a:endParaRPr/>
          </a:p>
          <a:p>
            <a:pPr marL="457200" lvl="0" indent="-355600" algn="l" rtl="0">
              <a:spcBef>
                <a:spcPts val="600"/>
              </a:spcBef>
              <a:spcAft>
                <a:spcPts val="0"/>
              </a:spcAft>
              <a:buSzPts val="2000"/>
              <a:buChar char="•"/>
            </a:pPr>
            <a:r>
              <a:rPr lang="it"/>
              <a:t>It allows to easily experiment with the language constructs and see the differences among the various versions of the language and of the target platform</a:t>
            </a:r>
            <a:endParaRPr/>
          </a:p>
          <a:p>
            <a:pPr marL="914400" lvl="1" indent="-330200" algn="l" rtl="0">
              <a:spcBef>
                <a:spcPts val="300"/>
              </a:spcBef>
              <a:spcAft>
                <a:spcPts val="0"/>
              </a:spcAft>
              <a:buSzPts val="1600"/>
              <a:buChar char="○"/>
            </a:pPr>
            <a:r>
              <a:rPr lang="it"/>
              <a:t>JVM, JVM + JUnit, Javascript, Javascript Intermediate Representation (IR), JS Canvas, …</a:t>
            </a:r>
            <a:endParaRPr/>
          </a:p>
          <a:p>
            <a:pPr marL="914400" lvl="1" indent="-330200" algn="l" rtl="0">
              <a:spcBef>
                <a:spcPts val="300"/>
              </a:spcBef>
              <a:spcAft>
                <a:spcPts val="0"/>
              </a:spcAft>
              <a:buSzPts val="1600"/>
              <a:buChar char="○"/>
            </a:pPr>
            <a:r>
              <a:rPr lang="it" u="sng">
                <a:solidFill>
                  <a:schemeClr val="hlink"/>
                </a:solidFill>
                <a:hlinkClick r:id="rId4"/>
              </a:rPr>
              <a:t>https://proandroiddev.com/introducing-the-kotlin-playground-e3625c05a109</a:t>
            </a:r>
            <a:r>
              <a:rPr lang="it"/>
              <a:t> </a:t>
            </a:r>
            <a:endParaRPr/>
          </a:p>
          <a:p>
            <a:pPr marL="457200" lvl="0" indent="-355600" algn="l" rtl="0">
              <a:spcBef>
                <a:spcPts val="600"/>
              </a:spcBef>
              <a:spcAft>
                <a:spcPts val="0"/>
              </a:spcAft>
              <a:buSzPts val="2000"/>
              <a:buChar char="•"/>
            </a:pPr>
            <a:r>
              <a:rPr lang="it"/>
              <a:t>It is possible to share the code created with the playground with other people and to host it in third-party sites</a:t>
            </a:r>
            <a:endParaRPr/>
          </a:p>
        </p:txBody>
      </p:sp>
      <p:sp>
        <p:nvSpPr>
          <p:cNvPr id="121" name="Google Shape;121;p10"/>
          <p:cNvSpPr txBox="1">
            <a:spLocks noGrp="1"/>
          </p:cNvSpPr>
          <p:nvPr>
            <p:ph type="sldNum" idx="12"/>
          </p:nvPr>
        </p:nvSpPr>
        <p:spPr>
          <a:xfrm>
            <a:off x="8472458" y="476850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it"/>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1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t"/>
              <a:t>The Kotlin type system</a:t>
            </a:r>
            <a:endParaRPr/>
          </a:p>
        </p:txBody>
      </p:sp>
      <p:sp>
        <p:nvSpPr>
          <p:cNvPr id="127" name="Google Shape;127;p11"/>
          <p:cNvSpPr txBox="1">
            <a:spLocks noGrp="1"/>
          </p:cNvSpPr>
          <p:nvPr>
            <p:ph type="body" idx="1"/>
          </p:nvPr>
        </p:nvSpPr>
        <p:spPr>
          <a:xfrm>
            <a:off x="311150" y="1244204"/>
            <a:ext cx="8521800" cy="3393300"/>
          </a:xfrm>
          <a:prstGeom prst="rect">
            <a:avLst/>
          </a:prstGeom>
        </p:spPr>
        <p:txBody>
          <a:bodyPr spcFirstLastPara="1" wrap="square" lIns="91425" tIns="45700" rIns="91425" bIns="45700" anchor="t" anchorCtr="0">
            <a:normAutofit lnSpcReduction="10000"/>
          </a:bodyPr>
          <a:lstStyle/>
          <a:p>
            <a:pPr marL="457200" lvl="0" indent="-355600" algn="l" rtl="0">
              <a:spcBef>
                <a:spcPts val="600"/>
              </a:spcBef>
              <a:spcAft>
                <a:spcPts val="0"/>
              </a:spcAft>
              <a:buSzPts val="2000"/>
              <a:buChar char="•"/>
            </a:pPr>
            <a:r>
              <a:rPr lang="it"/>
              <a:t>Kotlin is a statically typed language</a:t>
            </a:r>
            <a:endParaRPr/>
          </a:p>
          <a:p>
            <a:pPr marL="914400" lvl="1" indent="-330200" algn="l" rtl="0">
              <a:spcBef>
                <a:spcPts val="300"/>
              </a:spcBef>
              <a:spcAft>
                <a:spcPts val="0"/>
              </a:spcAft>
              <a:buSzPts val="1600"/>
              <a:buChar char="○"/>
            </a:pPr>
            <a:r>
              <a:rPr lang="it"/>
              <a:t>Variables, temporaries, function parameters and return types are labelled with the type of the value they can be assigned to</a:t>
            </a:r>
            <a:endParaRPr/>
          </a:p>
          <a:p>
            <a:pPr marL="457200" lvl="0" indent="-355600" algn="l" rtl="0">
              <a:spcBef>
                <a:spcPts val="600"/>
              </a:spcBef>
              <a:spcAft>
                <a:spcPts val="0"/>
              </a:spcAft>
              <a:buSzPts val="2000"/>
              <a:buChar char="•"/>
            </a:pPr>
            <a:r>
              <a:rPr lang="it"/>
              <a:t>A powerful type inference system is used by the compiler in order to make deductions and detect possible errors as soon as possible</a:t>
            </a:r>
            <a:endParaRPr/>
          </a:p>
          <a:p>
            <a:pPr marL="914400" lvl="1" indent="-330200" algn="l" rtl="0">
              <a:spcBef>
                <a:spcPts val="300"/>
              </a:spcBef>
              <a:spcAft>
                <a:spcPts val="0"/>
              </a:spcAft>
              <a:buSzPts val="1600"/>
              <a:buChar char="○"/>
            </a:pPr>
            <a:r>
              <a:rPr lang="it"/>
              <a:t>As well as saving the programmer from explicitly declare types whenever it is possible to deduce them from the context</a:t>
            </a:r>
            <a:endParaRPr/>
          </a:p>
          <a:p>
            <a:pPr marL="457200" lvl="0" indent="-355600" algn="l" rtl="0">
              <a:spcBef>
                <a:spcPts val="600"/>
              </a:spcBef>
              <a:spcAft>
                <a:spcPts val="0"/>
              </a:spcAft>
              <a:buSzPts val="2000"/>
              <a:buChar char="•"/>
            </a:pPr>
            <a:r>
              <a:rPr lang="it"/>
              <a:t>Variables and functions can be annotated with an explicit type in case of ambiguities</a:t>
            </a:r>
            <a:endParaRPr/>
          </a:p>
          <a:p>
            <a:pPr marL="914400" lvl="1" indent="-330200" algn="l" rtl="0">
              <a:spcBef>
                <a:spcPts val="300"/>
              </a:spcBef>
              <a:spcAft>
                <a:spcPts val="0"/>
              </a:spcAft>
              <a:buSzPts val="1600"/>
              <a:buChar char="○"/>
            </a:pPr>
            <a:r>
              <a:rPr lang="it"/>
              <a:t>No type system violations are possible in any case</a:t>
            </a:r>
            <a:endParaRPr/>
          </a:p>
        </p:txBody>
      </p:sp>
      <p:sp>
        <p:nvSpPr>
          <p:cNvPr id="128" name="Google Shape;128;p11"/>
          <p:cNvSpPr txBox="1">
            <a:spLocks noGrp="1"/>
          </p:cNvSpPr>
          <p:nvPr>
            <p:ph type="sldNum" idx="12"/>
          </p:nvPr>
        </p:nvSpPr>
        <p:spPr>
          <a:xfrm>
            <a:off x="8472458" y="476850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it"/>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1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t"/>
              <a:t>Primitive types</a:t>
            </a:r>
            <a:endParaRPr/>
          </a:p>
        </p:txBody>
      </p:sp>
      <p:sp>
        <p:nvSpPr>
          <p:cNvPr id="134" name="Google Shape;134;p12"/>
          <p:cNvSpPr txBox="1">
            <a:spLocks noGrp="1"/>
          </p:cNvSpPr>
          <p:nvPr>
            <p:ph type="body" idx="1"/>
          </p:nvPr>
        </p:nvSpPr>
        <p:spPr>
          <a:xfrm>
            <a:off x="311150" y="1244204"/>
            <a:ext cx="8521800" cy="3393300"/>
          </a:xfrm>
          <a:prstGeom prst="rect">
            <a:avLst/>
          </a:prstGeom>
        </p:spPr>
        <p:txBody>
          <a:bodyPr spcFirstLastPara="1" wrap="square" lIns="91425" tIns="45700" rIns="91425" bIns="45700" anchor="t" anchorCtr="0">
            <a:normAutofit/>
          </a:bodyPr>
          <a:lstStyle/>
          <a:p>
            <a:pPr marL="457200" lvl="0" indent="-355600" algn="l" rtl="0">
              <a:spcBef>
                <a:spcPts val="600"/>
              </a:spcBef>
              <a:spcAft>
                <a:spcPts val="0"/>
              </a:spcAft>
              <a:buSzPts val="2000"/>
              <a:buChar char="•"/>
            </a:pPr>
            <a:r>
              <a:rPr lang="it"/>
              <a:t>Differently from the Java language, where a set of primitive types (int, short, long, byte, float, double, char, boolean) complements the classifier types, Kotlin does not have such a distinction</a:t>
            </a:r>
            <a:endParaRPr/>
          </a:p>
          <a:p>
            <a:pPr marL="914400" lvl="1" indent="-330200" algn="l" rtl="0">
              <a:spcBef>
                <a:spcPts val="300"/>
              </a:spcBef>
              <a:spcAft>
                <a:spcPts val="0"/>
              </a:spcAft>
              <a:buSzPts val="1600"/>
              <a:buChar char="○"/>
            </a:pPr>
            <a:r>
              <a:rPr lang="it"/>
              <a:t>Kotlin is only based on the corresponding boxed type (</a:t>
            </a:r>
            <a:r>
              <a:rPr lang="it" b="1">
                <a:solidFill>
                  <a:srgbClr val="0B5394"/>
                </a:solidFill>
                <a:latin typeface="Consolas"/>
                <a:ea typeface="Consolas"/>
                <a:cs typeface="Consolas"/>
                <a:sym typeface="Consolas"/>
              </a:rPr>
              <a:t>Int</a:t>
            </a:r>
            <a:r>
              <a:rPr lang="it"/>
              <a:t>, </a:t>
            </a:r>
            <a:r>
              <a:rPr lang="it" b="1">
                <a:solidFill>
                  <a:srgbClr val="0B5394"/>
                </a:solidFill>
                <a:latin typeface="Consolas"/>
                <a:ea typeface="Consolas"/>
                <a:cs typeface="Consolas"/>
                <a:sym typeface="Consolas"/>
              </a:rPr>
              <a:t>Short</a:t>
            </a:r>
            <a:r>
              <a:rPr lang="it"/>
              <a:t>, </a:t>
            </a:r>
            <a:r>
              <a:rPr lang="it" b="1">
                <a:solidFill>
                  <a:srgbClr val="0B5394"/>
                </a:solidFill>
                <a:latin typeface="Consolas"/>
                <a:ea typeface="Consolas"/>
                <a:cs typeface="Consolas"/>
                <a:sym typeface="Consolas"/>
              </a:rPr>
              <a:t>Long</a:t>
            </a:r>
            <a:r>
              <a:rPr lang="it"/>
              <a:t>, </a:t>
            </a:r>
            <a:r>
              <a:rPr lang="it" b="1">
                <a:solidFill>
                  <a:srgbClr val="0B5394"/>
                </a:solidFill>
                <a:latin typeface="Consolas"/>
                <a:ea typeface="Consolas"/>
                <a:cs typeface="Consolas"/>
                <a:sym typeface="Consolas"/>
              </a:rPr>
              <a:t>Byte</a:t>
            </a:r>
            <a:r>
              <a:rPr lang="it"/>
              <a:t>, </a:t>
            </a:r>
            <a:r>
              <a:rPr lang="it" b="1">
                <a:solidFill>
                  <a:srgbClr val="0B5394"/>
                </a:solidFill>
                <a:latin typeface="Consolas"/>
                <a:ea typeface="Consolas"/>
                <a:cs typeface="Consolas"/>
                <a:sym typeface="Consolas"/>
              </a:rPr>
              <a:t>Float</a:t>
            </a:r>
            <a:r>
              <a:rPr lang="it"/>
              <a:t>, </a:t>
            </a:r>
            <a:r>
              <a:rPr lang="it" b="1">
                <a:solidFill>
                  <a:srgbClr val="0B5394"/>
                </a:solidFill>
                <a:latin typeface="Consolas"/>
                <a:ea typeface="Consolas"/>
                <a:cs typeface="Consolas"/>
                <a:sym typeface="Consolas"/>
              </a:rPr>
              <a:t>Double</a:t>
            </a:r>
            <a:r>
              <a:rPr lang="it"/>
              <a:t>, </a:t>
            </a:r>
            <a:r>
              <a:rPr lang="it" b="1">
                <a:solidFill>
                  <a:srgbClr val="0B5394"/>
                </a:solidFill>
                <a:latin typeface="Consolas"/>
                <a:ea typeface="Consolas"/>
                <a:cs typeface="Consolas"/>
                <a:sym typeface="Consolas"/>
              </a:rPr>
              <a:t>Char</a:t>
            </a:r>
            <a:r>
              <a:rPr lang="it"/>
              <a:t>, </a:t>
            </a:r>
            <a:r>
              <a:rPr lang="it" b="1">
                <a:solidFill>
                  <a:srgbClr val="0B5394"/>
                </a:solidFill>
                <a:latin typeface="Consolas"/>
                <a:ea typeface="Consolas"/>
                <a:cs typeface="Consolas"/>
                <a:sym typeface="Consolas"/>
              </a:rPr>
              <a:t>Boolean</a:t>
            </a:r>
            <a:r>
              <a:rPr lang="it"/>
              <a:t>), thus having </a:t>
            </a:r>
            <a:r>
              <a:rPr lang="it" b="1">
                <a:solidFill>
                  <a:srgbClr val="0B5394"/>
                </a:solidFill>
              </a:rPr>
              <a:t>reference semantics</a:t>
            </a:r>
            <a:r>
              <a:rPr lang="it"/>
              <a:t> for every type</a:t>
            </a:r>
            <a:endParaRPr/>
          </a:p>
          <a:p>
            <a:pPr marL="457200" lvl="0" indent="-355600" algn="l" rtl="0">
              <a:spcBef>
                <a:spcPts val="600"/>
              </a:spcBef>
              <a:spcAft>
                <a:spcPts val="0"/>
              </a:spcAft>
              <a:buSzPts val="2000"/>
              <a:buChar char="•"/>
            </a:pPr>
            <a:r>
              <a:rPr lang="it"/>
              <a:t>This largely simplifies the type hierarchy, avoiding "strange" duplications and inconsistencies in parameter passing and variable assignments</a:t>
            </a:r>
            <a:endParaRPr/>
          </a:p>
          <a:p>
            <a:pPr marL="914400" lvl="1" indent="-330200" algn="l" rtl="0">
              <a:spcBef>
                <a:spcPts val="300"/>
              </a:spcBef>
              <a:spcAft>
                <a:spcPts val="0"/>
              </a:spcAft>
              <a:buSzPts val="1600"/>
              <a:buChar char="○"/>
            </a:pPr>
            <a:r>
              <a:rPr lang="it"/>
              <a:t>However, the compiler internally optimises the actual data type, whenever possible, reducing the actual overhead due to boxing and heap based allocation and guaranteeing the same level of efficiency provided by the Java language</a:t>
            </a:r>
            <a:endParaRPr/>
          </a:p>
        </p:txBody>
      </p:sp>
      <p:sp>
        <p:nvSpPr>
          <p:cNvPr id="135" name="Google Shape;135;p12"/>
          <p:cNvSpPr txBox="1">
            <a:spLocks noGrp="1"/>
          </p:cNvSpPr>
          <p:nvPr>
            <p:ph type="sldNum" idx="12"/>
          </p:nvPr>
        </p:nvSpPr>
        <p:spPr>
          <a:xfrm>
            <a:off x="8472458" y="476850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it"/>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1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it"/>
              <a:t>Null safety</a:t>
            </a:r>
            <a:endParaRPr/>
          </a:p>
        </p:txBody>
      </p:sp>
      <p:sp>
        <p:nvSpPr>
          <p:cNvPr id="141" name="Google Shape;141;p13"/>
          <p:cNvSpPr txBox="1">
            <a:spLocks noGrp="1"/>
          </p:cNvSpPr>
          <p:nvPr>
            <p:ph type="body" idx="1"/>
          </p:nvPr>
        </p:nvSpPr>
        <p:spPr>
          <a:xfrm>
            <a:off x="311150" y="1244204"/>
            <a:ext cx="8521800" cy="3393300"/>
          </a:xfrm>
          <a:prstGeom prst="rect">
            <a:avLst/>
          </a:prstGeom>
        </p:spPr>
        <p:txBody>
          <a:bodyPr spcFirstLastPara="1" wrap="square" lIns="91425" tIns="45700" rIns="91425" bIns="45700" anchor="t" anchorCtr="0">
            <a:normAutofit fontScale="85000" lnSpcReduction="10000"/>
          </a:bodyPr>
          <a:lstStyle/>
          <a:p>
            <a:pPr marL="457200" lvl="0" indent="-342741" algn="l" rtl="0">
              <a:spcBef>
                <a:spcPts val="600"/>
              </a:spcBef>
              <a:spcAft>
                <a:spcPts val="0"/>
              </a:spcAft>
              <a:buSzPct val="105735"/>
              <a:buChar char="•"/>
            </a:pPr>
            <a:r>
              <a:rPr lang="it"/>
              <a:t>Although every value can be regarded as a reference, Kotlin  explicitly distinguishes nullable types by their non-nullable counterpart</a:t>
            </a:r>
            <a:endParaRPr/>
          </a:p>
          <a:p>
            <a:pPr marL="914400" lvl="1" indent="-314960" algn="l" rtl="0">
              <a:spcBef>
                <a:spcPts val="300"/>
              </a:spcBef>
              <a:spcAft>
                <a:spcPts val="0"/>
              </a:spcAft>
              <a:buSzPct val="100000"/>
              <a:buChar char="○"/>
            </a:pPr>
            <a:r>
              <a:rPr lang="it"/>
              <a:t>Nullable types have their name followed by '</a:t>
            </a:r>
            <a:r>
              <a:rPr lang="it" b="1">
                <a:solidFill>
                  <a:srgbClr val="0B5394"/>
                </a:solidFill>
                <a:latin typeface="Consolas"/>
                <a:ea typeface="Consolas"/>
                <a:cs typeface="Consolas"/>
                <a:sym typeface="Consolas"/>
              </a:rPr>
              <a:t>?</a:t>
            </a:r>
            <a:r>
              <a:rPr lang="it"/>
              <a:t>', while non-nullable ones do not</a:t>
            </a:r>
            <a:endParaRPr/>
          </a:p>
          <a:p>
            <a:pPr marL="914400" lvl="1" indent="-314960" algn="l" rtl="0">
              <a:spcBef>
                <a:spcPts val="300"/>
              </a:spcBef>
              <a:spcAft>
                <a:spcPts val="0"/>
              </a:spcAft>
              <a:buSzPct val="100000"/>
              <a:buChar char="○"/>
            </a:pPr>
            <a:r>
              <a:rPr lang="it" b="1">
                <a:solidFill>
                  <a:srgbClr val="0B5394"/>
                </a:solidFill>
                <a:latin typeface="Consolas"/>
                <a:ea typeface="Consolas"/>
                <a:cs typeface="Consolas"/>
                <a:sym typeface="Consolas"/>
              </a:rPr>
              <a:t>val s: String = null</a:t>
            </a:r>
            <a:r>
              <a:rPr lang="it"/>
              <a:t> results in a compile error, since the type </a:t>
            </a:r>
            <a:r>
              <a:rPr lang="it" b="1">
                <a:solidFill>
                  <a:srgbClr val="0B5394"/>
                </a:solidFill>
                <a:latin typeface="Consolas"/>
                <a:ea typeface="Consolas"/>
                <a:cs typeface="Consolas"/>
                <a:sym typeface="Consolas"/>
              </a:rPr>
              <a:t>String</a:t>
            </a:r>
            <a:r>
              <a:rPr lang="it"/>
              <a:t> is non-nullable</a:t>
            </a:r>
            <a:endParaRPr/>
          </a:p>
          <a:p>
            <a:pPr marL="457200" lvl="0" indent="-342741" algn="l" rtl="0">
              <a:spcBef>
                <a:spcPts val="600"/>
              </a:spcBef>
              <a:spcAft>
                <a:spcPts val="0"/>
              </a:spcAft>
              <a:buSzPct val="105735"/>
              <a:buChar char="•"/>
            </a:pPr>
            <a:r>
              <a:rPr lang="it"/>
              <a:t>All non-nullable variable must be explicitly initialized before being used</a:t>
            </a:r>
            <a:endParaRPr/>
          </a:p>
          <a:p>
            <a:pPr marL="914400" lvl="1" indent="-314960" algn="l" rtl="0">
              <a:spcBef>
                <a:spcPts val="300"/>
              </a:spcBef>
              <a:spcAft>
                <a:spcPts val="0"/>
              </a:spcAft>
              <a:buSzPct val="100000"/>
              <a:buChar char="○"/>
            </a:pPr>
            <a:r>
              <a:rPr lang="it"/>
              <a:t>Since the Java default of assigning them null values is not applicable</a:t>
            </a:r>
            <a:endParaRPr/>
          </a:p>
          <a:p>
            <a:pPr marL="457200" lvl="0" indent="-342741" algn="l" rtl="0">
              <a:spcBef>
                <a:spcPts val="600"/>
              </a:spcBef>
              <a:spcAft>
                <a:spcPts val="0"/>
              </a:spcAft>
              <a:buSzPct val="105735"/>
              <a:buChar char="•"/>
            </a:pPr>
            <a:r>
              <a:rPr lang="it"/>
              <a:t>In the type inheritance hierarchy, the class </a:t>
            </a:r>
            <a:r>
              <a:rPr lang="it" b="1">
                <a:solidFill>
                  <a:srgbClr val="0B5394"/>
                </a:solidFill>
                <a:latin typeface="Consolas"/>
                <a:ea typeface="Consolas"/>
                <a:cs typeface="Consolas"/>
                <a:sym typeface="Consolas"/>
              </a:rPr>
              <a:t>Any</a:t>
            </a:r>
            <a:r>
              <a:rPr lang="it"/>
              <a:t> is the root of every non-nullable class</a:t>
            </a:r>
            <a:endParaRPr/>
          </a:p>
          <a:p>
            <a:pPr marL="914400" lvl="1" indent="-314960" algn="l" rtl="0">
              <a:spcBef>
                <a:spcPts val="300"/>
              </a:spcBef>
              <a:spcAft>
                <a:spcPts val="0"/>
              </a:spcAft>
              <a:buSzPct val="100000"/>
              <a:buChar char="○"/>
            </a:pPr>
            <a:r>
              <a:rPr lang="it"/>
              <a:t>While </a:t>
            </a:r>
            <a:r>
              <a:rPr lang="it" b="1">
                <a:solidFill>
                  <a:srgbClr val="0B5394"/>
                </a:solidFill>
                <a:latin typeface="Consolas"/>
                <a:ea typeface="Consolas"/>
                <a:cs typeface="Consolas"/>
                <a:sym typeface="Consolas"/>
              </a:rPr>
              <a:t>Any?</a:t>
            </a:r>
            <a:r>
              <a:rPr lang="it"/>
              <a:t> is the root of all the nullable ones</a:t>
            </a:r>
            <a:endParaRPr/>
          </a:p>
          <a:p>
            <a:pPr marL="457200" lvl="0" indent="-342741" algn="l" rtl="0">
              <a:spcBef>
                <a:spcPts val="600"/>
              </a:spcBef>
              <a:spcAft>
                <a:spcPts val="0"/>
              </a:spcAft>
              <a:buSzPct val="105735"/>
              <a:buChar char="•"/>
            </a:pPr>
            <a:r>
              <a:rPr lang="it"/>
              <a:t>Class </a:t>
            </a:r>
            <a:r>
              <a:rPr lang="it" b="1">
                <a:solidFill>
                  <a:srgbClr val="0B5394"/>
                </a:solidFill>
                <a:latin typeface="Consolas"/>
                <a:ea typeface="Consolas"/>
                <a:cs typeface="Consolas"/>
                <a:sym typeface="Consolas"/>
              </a:rPr>
              <a:t>Nothing</a:t>
            </a:r>
            <a:r>
              <a:rPr lang="it"/>
              <a:t>, represents the bottom</a:t>
            </a:r>
            <a:endParaRPr/>
          </a:p>
          <a:p>
            <a:pPr marL="914400" lvl="1" indent="-314960" algn="l" rtl="0">
              <a:spcBef>
                <a:spcPts val="300"/>
              </a:spcBef>
              <a:spcAft>
                <a:spcPts val="0"/>
              </a:spcAft>
              <a:buSzPct val="100000"/>
              <a:buChar char="○"/>
            </a:pPr>
            <a:r>
              <a:rPr lang="it"/>
              <a:t>It inherits from every other class, but there exist no instance of it</a:t>
            </a:r>
            <a:endParaRPr/>
          </a:p>
          <a:p>
            <a:pPr marL="914400" lvl="1" indent="-314960" algn="l" rtl="0">
              <a:spcBef>
                <a:spcPts val="300"/>
              </a:spcBef>
              <a:spcAft>
                <a:spcPts val="0"/>
              </a:spcAft>
              <a:buSzPct val="100000"/>
              <a:buChar char="○"/>
            </a:pPr>
            <a:r>
              <a:rPr lang="it"/>
              <a:t>Class </a:t>
            </a:r>
            <a:r>
              <a:rPr lang="it" b="1">
                <a:solidFill>
                  <a:srgbClr val="0B5394"/>
                </a:solidFill>
                <a:latin typeface="Consolas"/>
                <a:ea typeface="Consolas"/>
                <a:cs typeface="Consolas"/>
                <a:sym typeface="Consolas"/>
              </a:rPr>
              <a:t>Nothing?</a:t>
            </a:r>
            <a:r>
              <a:rPr lang="it"/>
              <a:t> inherits from every nullable class: its only instance is the </a:t>
            </a:r>
            <a:r>
              <a:rPr lang="it" b="1">
                <a:solidFill>
                  <a:srgbClr val="0B5394"/>
                </a:solidFill>
                <a:latin typeface="Consolas"/>
                <a:ea typeface="Consolas"/>
                <a:cs typeface="Consolas"/>
                <a:sym typeface="Consolas"/>
              </a:rPr>
              <a:t>null</a:t>
            </a:r>
            <a:r>
              <a:rPr lang="it"/>
              <a:t> keyword</a:t>
            </a:r>
            <a:endParaRPr/>
          </a:p>
        </p:txBody>
      </p:sp>
      <p:sp>
        <p:nvSpPr>
          <p:cNvPr id="142" name="Google Shape;142;p13"/>
          <p:cNvSpPr txBox="1">
            <a:spLocks noGrp="1"/>
          </p:cNvSpPr>
          <p:nvPr>
            <p:ph type="sldNum" idx="12"/>
          </p:nvPr>
        </p:nvSpPr>
        <p:spPr>
          <a:xfrm>
            <a:off x="8472458" y="476850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it"/>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t"/>
              <a:t>Kotlin type system hierarchy</a:t>
            </a:r>
            <a:endParaRPr/>
          </a:p>
        </p:txBody>
      </p:sp>
      <p:pic>
        <p:nvPicPr>
          <p:cNvPr id="148" name="Google Shape;148;p14"/>
          <p:cNvPicPr preferRelativeResize="0"/>
          <p:nvPr/>
        </p:nvPicPr>
        <p:blipFill rotWithShape="1">
          <a:blip r:embed="rId3">
            <a:alphaModFix/>
          </a:blip>
          <a:srcRect t="9239"/>
          <a:stretch/>
        </p:blipFill>
        <p:spPr>
          <a:xfrm>
            <a:off x="336000" y="1210775"/>
            <a:ext cx="8472000" cy="3392100"/>
          </a:xfrm>
          <a:prstGeom prst="rect">
            <a:avLst/>
          </a:prstGeom>
          <a:noFill/>
          <a:ln>
            <a:noFill/>
          </a:ln>
        </p:spPr>
      </p:pic>
      <p:sp>
        <p:nvSpPr>
          <p:cNvPr id="149" name="Google Shape;149;p14"/>
          <p:cNvSpPr txBox="1">
            <a:spLocks noGrp="1"/>
          </p:cNvSpPr>
          <p:nvPr>
            <p:ph type="sldNum" idx="12"/>
          </p:nvPr>
        </p:nvSpPr>
        <p:spPr>
          <a:xfrm>
            <a:off x="8472458" y="476850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it"/>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it"/>
              <a:t>Using nullable types </a:t>
            </a:r>
            <a:endParaRPr/>
          </a:p>
        </p:txBody>
      </p:sp>
      <p:sp>
        <p:nvSpPr>
          <p:cNvPr id="155" name="Google Shape;155;p15"/>
          <p:cNvSpPr txBox="1">
            <a:spLocks noGrp="1"/>
          </p:cNvSpPr>
          <p:nvPr>
            <p:ph type="body" idx="1"/>
          </p:nvPr>
        </p:nvSpPr>
        <p:spPr>
          <a:xfrm>
            <a:off x="311150" y="1244204"/>
            <a:ext cx="8521800" cy="3393300"/>
          </a:xfrm>
          <a:prstGeom prst="rect">
            <a:avLst/>
          </a:prstGeom>
        </p:spPr>
        <p:txBody>
          <a:bodyPr spcFirstLastPara="1" wrap="square" lIns="91425" tIns="45700" rIns="91425" bIns="45700" anchor="t" anchorCtr="0">
            <a:normAutofit fontScale="92500" lnSpcReduction="20000"/>
          </a:bodyPr>
          <a:lstStyle/>
          <a:p>
            <a:pPr marL="457200" lvl="0" indent="-322580" algn="l" rtl="0">
              <a:spcBef>
                <a:spcPts val="600"/>
              </a:spcBef>
              <a:spcAft>
                <a:spcPts val="0"/>
              </a:spcAft>
              <a:buSzPct val="80000"/>
              <a:buChar char="●"/>
            </a:pPr>
            <a:r>
              <a:rPr lang="it"/>
              <a:t>It is not possible to assign null values to non-nullable variables</a:t>
            </a:r>
            <a:endParaRPr/>
          </a:p>
          <a:p>
            <a:pPr marL="914400" lvl="1" indent="-322580" algn="l" rtl="0">
              <a:spcBef>
                <a:spcPts val="300"/>
              </a:spcBef>
              <a:spcAft>
                <a:spcPts val="0"/>
              </a:spcAft>
              <a:buSzPct val="100000"/>
              <a:buChar char="○"/>
            </a:pPr>
            <a:r>
              <a:rPr lang="it"/>
              <a:t>The compiler will prevent it</a:t>
            </a:r>
            <a:endParaRPr/>
          </a:p>
          <a:p>
            <a:pPr marL="457200" lvl="0" indent="-322580" algn="l" rtl="0">
              <a:spcBef>
                <a:spcPts val="600"/>
              </a:spcBef>
              <a:spcAft>
                <a:spcPts val="0"/>
              </a:spcAft>
              <a:buSzPct val="80000"/>
              <a:buChar char="●"/>
            </a:pPr>
            <a:r>
              <a:rPr lang="it"/>
              <a:t>It is mandatory to write null-safe code when accessing a nullable variable</a:t>
            </a:r>
            <a:endParaRPr/>
          </a:p>
          <a:p>
            <a:pPr marL="914400" lvl="1" indent="-322580" algn="l" rtl="0">
              <a:spcBef>
                <a:spcPts val="300"/>
              </a:spcBef>
              <a:spcAft>
                <a:spcPts val="0"/>
              </a:spcAft>
              <a:buSzPct val="100000"/>
              <a:buChar char="○"/>
            </a:pPr>
            <a:r>
              <a:rPr lang="it"/>
              <a:t>The language offers special constructs to simplify code writing, while keeping expressivity and readability</a:t>
            </a:r>
            <a:endParaRPr/>
          </a:p>
          <a:p>
            <a:pPr marL="457200" lvl="0" indent="-322580" algn="l" rtl="0">
              <a:spcBef>
                <a:spcPts val="600"/>
              </a:spcBef>
              <a:spcAft>
                <a:spcPts val="0"/>
              </a:spcAft>
              <a:buSzPct val="80000"/>
              <a:buChar char="●"/>
            </a:pPr>
            <a:r>
              <a:rPr lang="it"/>
              <a:t>The safe-call operator (</a:t>
            </a:r>
            <a:r>
              <a:rPr lang="it" b="1">
                <a:solidFill>
                  <a:srgbClr val="0B5394"/>
                </a:solidFill>
                <a:latin typeface="Consolas"/>
                <a:ea typeface="Consolas"/>
                <a:cs typeface="Consolas"/>
                <a:sym typeface="Consolas"/>
              </a:rPr>
              <a:t>?.</a:t>
            </a:r>
            <a:r>
              <a:rPr lang="it"/>
              <a:t>) must be used to access a property or a method of a nullable value</a:t>
            </a:r>
            <a:endParaRPr/>
          </a:p>
          <a:p>
            <a:pPr marL="914400" lvl="1" indent="-322580" algn="l" rtl="0">
              <a:spcBef>
                <a:spcPts val="300"/>
              </a:spcBef>
              <a:spcAft>
                <a:spcPts val="0"/>
              </a:spcAft>
              <a:buSzPct val="100000"/>
              <a:buChar char="○"/>
            </a:pPr>
            <a:r>
              <a:rPr lang="it"/>
              <a:t>It resolves to the usual call operator (</a:t>
            </a:r>
            <a:r>
              <a:rPr lang="it" b="1">
                <a:solidFill>
                  <a:srgbClr val="0B5394"/>
                </a:solidFill>
                <a:latin typeface="Consolas"/>
                <a:ea typeface="Consolas"/>
                <a:cs typeface="Consolas"/>
                <a:sym typeface="Consolas"/>
              </a:rPr>
              <a:t>.</a:t>
            </a:r>
            <a:r>
              <a:rPr lang="it"/>
              <a:t>) if the value to which is applied is not null, otherwise it immediately returns </a:t>
            </a:r>
            <a:r>
              <a:rPr lang="it" b="1">
                <a:solidFill>
                  <a:srgbClr val="0B5394"/>
                </a:solidFill>
                <a:latin typeface="Consolas"/>
                <a:ea typeface="Consolas"/>
                <a:cs typeface="Consolas"/>
                <a:sym typeface="Consolas"/>
              </a:rPr>
              <a:t>null</a:t>
            </a:r>
            <a:endParaRPr/>
          </a:p>
          <a:p>
            <a:pPr marL="457200" lvl="0" indent="-322580" algn="l" rtl="0">
              <a:spcBef>
                <a:spcPts val="600"/>
              </a:spcBef>
              <a:spcAft>
                <a:spcPts val="0"/>
              </a:spcAft>
              <a:buSzPct val="80000"/>
              <a:buChar char="●"/>
            </a:pPr>
            <a:r>
              <a:rPr lang="it"/>
              <a:t>The elvis operator (</a:t>
            </a:r>
            <a:r>
              <a:rPr lang="it" b="1">
                <a:solidFill>
                  <a:srgbClr val="0B5394"/>
                </a:solidFill>
                <a:latin typeface="Consolas"/>
                <a:ea typeface="Consolas"/>
                <a:cs typeface="Consolas"/>
                <a:sym typeface="Consolas"/>
              </a:rPr>
              <a:t>?:</a:t>
            </a:r>
            <a:r>
              <a:rPr lang="it"/>
              <a:t>) can be used to provide an alternative value (else) if its left-hand side is </a:t>
            </a:r>
            <a:r>
              <a:rPr lang="it" b="1">
                <a:solidFill>
                  <a:srgbClr val="0B5394"/>
                </a:solidFill>
                <a:latin typeface="Consolas"/>
                <a:ea typeface="Consolas"/>
                <a:cs typeface="Consolas"/>
                <a:sym typeface="Consolas"/>
              </a:rPr>
              <a:t>null</a:t>
            </a:r>
            <a:endParaRPr b="1">
              <a:solidFill>
                <a:srgbClr val="0B5394"/>
              </a:solidFill>
              <a:latin typeface="Consolas"/>
              <a:ea typeface="Consolas"/>
              <a:cs typeface="Consolas"/>
              <a:sym typeface="Consolas"/>
            </a:endParaRPr>
          </a:p>
          <a:p>
            <a:pPr marL="914400" lvl="1" indent="-322580" algn="l" rtl="0">
              <a:spcBef>
                <a:spcPts val="300"/>
              </a:spcBef>
              <a:spcAft>
                <a:spcPts val="0"/>
              </a:spcAft>
              <a:buSzPct val="100000"/>
              <a:buChar char="○"/>
            </a:pPr>
            <a:r>
              <a:rPr lang="it"/>
              <a:t>The pretend-not-null operator (</a:t>
            </a:r>
            <a:r>
              <a:rPr lang="it" b="1">
                <a:solidFill>
                  <a:srgbClr val="0B5394"/>
                </a:solidFill>
                <a:latin typeface="Consolas"/>
                <a:ea typeface="Consolas"/>
                <a:cs typeface="Consolas"/>
                <a:sym typeface="Consolas"/>
              </a:rPr>
              <a:t>!!</a:t>
            </a:r>
            <a:r>
              <a:rPr lang="it"/>
              <a:t>) throws a runtime exception if its left-hand-side is </a:t>
            </a:r>
            <a:r>
              <a:rPr lang="it" b="1">
                <a:solidFill>
                  <a:srgbClr val="0B5394"/>
                </a:solidFill>
                <a:latin typeface="Consolas"/>
                <a:ea typeface="Consolas"/>
                <a:cs typeface="Consolas"/>
                <a:sym typeface="Consolas"/>
              </a:rPr>
              <a:t>null</a:t>
            </a:r>
            <a:endParaRPr b="1">
              <a:solidFill>
                <a:srgbClr val="0B5394"/>
              </a:solidFill>
              <a:latin typeface="Consolas"/>
              <a:ea typeface="Consolas"/>
              <a:cs typeface="Consolas"/>
              <a:sym typeface="Consolas"/>
            </a:endParaRPr>
          </a:p>
        </p:txBody>
      </p:sp>
      <p:sp>
        <p:nvSpPr>
          <p:cNvPr id="156" name="Google Shape;156;p15"/>
          <p:cNvSpPr txBox="1">
            <a:spLocks noGrp="1"/>
          </p:cNvSpPr>
          <p:nvPr>
            <p:ph type="sldNum" idx="12"/>
          </p:nvPr>
        </p:nvSpPr>
        <p:spPr>
          <a:xfrm>
            <a:off x="8472458" y="476850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it"/>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it" sz="2820"/>
              <a:t>Using nullable types</a:t>
            </a:r>
            <a:endParaRPr sz="2820"/>
          </a:p>
        </p:txBody>
      </p:sp>
      <p:sp>
        <p:nvSpPr>
          <p:cNvPr id="162" name="Google Shape;162;p16"/>
          <p:cNvSpPr txBox="1">
            <a:spLocks noGrp="1"/>
          </p:cNvSpPr>
          <p:nvPr>
            <p:ph type="body" idx="1"/>
          </p:nvPr>
        </p:nvSpPr>
        <p:spPr>
          <a:xfrm>
            <a:off x="310500" y="1085158"/>
            <a:ext cx="8521800" cy="3476614"/>
          </a:xfrm>
          <a:prstGeom prst="rect">
            <a:avLst/>
          </a:prstGeom>
          <a:solidFill>
            <a:srgbClr val="FFF2CC"/>
          </a:solidFill>
          <a:ln w="9525" cap="flat" cmpd="sng">
            <a:solidFill>
              <a:schemeClr val="dk1"/>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45700" rIns="91425" bIns="45700" anchor="t" anchorCtr="0">
            <a:noAutofit/>
          </a:bodyPr>
          <a:lstStyle/>
          <a:p>
            <a:pPr marL="0" lvl="0" indent="0" algn="l" rtl="0">
              <a:lnSpc>
                <a:spcPct val="80000"/>
              </a:lnSpc>
              <a:spcBef>
                <a:spcPts val="600"/>
              </a:spcBef>
              <a:spcAft>
                <a:spcPts val="0"/>
              </a:spcAft>
              <a:buClr>
                <a:schemeClr val="dk1"/>
              </a:buClr>
              <a:buSzPts val="1100"/>
              <a:buFont typeface="Arial"/>
              <a:buNone/>
            </a:pPr>
            <a:r>
              <a:rPr lang="it" sz="1400" dirty="0">
                <a:latin typeface="Consolas"/>
                <a:ea typeface="Consolas"/>
                <a:cs typeface="Consolas"/>
                <a:sym typeface="Consolas"/>
              </a:rPr>
              <a:t>var a: String = "abc"</a:t>
            </a:r>
            <a:endParaRPr sz="1400" dirty="0">
              <a:latin typeface="Consolas"/>
              <a:ea typeface="Consolas"/>
              <a:cs typeface="Consolas"/>
              <a:sym typeface="Consolas"/>
            </a:endParaRPr>
          </a:p>
          <a:p>
            <a:pPr marL="0" lvl="0" indent="0" algn="l" rtl="0">
              <a:lnSpc>
                <a:spcPct val="80000"/>
              </a:lnSpc>
              <a:spcBef>
                <a:spcPts val="600"/>
              </a:spcBef>
              <a:spcAft>
                <a:spcPts val="0"/>
              </a:spcAft>
              <a:buClr>
                <a:schemeClr val="dk1"/>
              </a:buClr>
              <a:buSzPts val="1100"/>
              <a:buFont typeface="Arial"/>
              <a:buNone/>
            </a:pPr>
            <a:endParaRPr sz="1400" dirty="0">
              <a:latin typeface="Consolas"/>
              <a:ea typeface="Consolas"/>
              <a:cs typeface="Consolas"/>
              <a:sym typeface="Consolas"/>
            </a:endParaRPr>
          </a:p>
          <a:p>
            <a:pPr marL="0" lvl="0" indent="0" algn="l" rtl="0">
              <a:lnSpc>
                <a:spcPct val="80000"/>
              </a:lnSpc>
              <a:spcBef>
                <a:spcPts val="600"/>
              </a:spcBef>
              <a:spcAft>
                <a:spcPts val="0"/>
              </a:spcAft>
              <a:buClr>
                <a:schemeClr val="dk1"/>
              </a:buClr>
              <a:buSzPts val="1100"/>
              <a:buFont typeface="Arial"/>
              <a:buNone/>
            </a:pPr>
            <a:r>
              <a:rPr lang="it" sz="1400" dirty="0">
                <a:latin typeface="Consolas"/>
                <a:ea typeface="Consolas"/>
                <a:cs typeface="Consolas"/>
                <a:sym typeface="Consolas"/>
              </a:rPr>
              <a:t>// </a:t>
            </a:r>
            <a:r>
              <a:rPr lang="it" sz="1400" strike="sngStrike" dirty="0">
                <a:latin typeface="Consolas"/>
                <a:ea typeface="Consolas"/>
                <a:cs typeface="Consolas"/>
                <a:sym typeface="Consolas"/>
              </a:rPr>
              <a:t>a = null</a:t>
            </a:r>
            <a:r>
              <a:rPr lang="it" sz="1400" dirty="0">
                <a:latin typeface="Consolas"/>
                <a:ea typeface="Consolas"/>
                <a:cs typeface="Consolas"/>
                <a:sym typeface="Consolas"/>
              </a:rPr>
              <a:t> // </a:t>
            </a:r>
            <a:r>
              <a:rPr lang="it" sz="1400" dirty="0">
                <a:solidFill>
                  <a:srgbClr val="980000"/>
                </a:solidFill>
                <a:latin typeface="Consolas"/>
                <a:ea typeface="Consolas"/>
                <a:cs typeface="Consolas"/>
                <a:sym typeface="Consolas"/>
              </a:rPr>
              <a:t>compilation error</a:t>
            </a:r>
            <a:endParaRPr sz="1400" dirty="0">
              <a:solidFill>
                <a:srgbClr val="980000"/>
              </a:solidFill>
              <a:latin typeface="Consolas"/>
              <a:ea typeface="Consolas"/>
              <a:cs typeface="Consolas"/>
              <a:sym typeface="Consolas"/>
            </a:endParaRPr>
          </a:p>
          <a:p>
            <a:pPr marL="0" lvl="0" indent="0" algn="l" rtl="0">
              <a:lnSpc>
                <a:spcPct val="80000"/>
              </a:lnSpc>
              <a:spcBef>
                <a:spcPts val="600"/>
              </a:spcBef>
              <a:spcAft>
                <a:spcPts val="0"/>
              </a:spcAft>
              <a:buClr>
                <a:schemeClr val="dk1"/>
              </a:buClr>
              <a:buSzPts val="1100"/>
              <a:buFont typeface="Arial"/>
              <a:buNone/>
            </a:pPr>
            <a:endParaRPr sz="1400" dirty="0">
              <a:latin typeface="Consolas"/>
              <a:ea typeface="Consolas"/>
              <a:cs typeface="Consolas"/>
              <a:sym typeface="Consolas"/>
            </a:endParaRPr>
          </a:p>
          <a:p>
            <a:pPr marL="0" lvl="0" indent="0" algn="l" rtl="0">
              <a:lnSpc>
                <a:spcPct val="80000"/>
              </a:lnSpc>
              <a:spcBef>
                <a:spcPts val="600"/>
              </a:spcBef>
              <a:spcAft>
                <a:spcPts val="0"/>
              </a:spcAft>
              <a:buClr>
                <a:schemeClr val="dk1"/>
              </a:buClr>
              <a:buSzPts val="1100"/>
              <a:buFont typeface="Arial"/>
              <a:buNone/>
            </a:pPr>
            <a:r>
              <a:rPr lang="it" sz="1400" dirty="0">
                <a:latin typeface="Consolas"/>
                <a:ea typeface="Consolas"/>
                <a:cs typeface="Consolas"/>
                <a:sym typeface="Consolas"/>
              </a:rPr>
              <a:t>var b: String? = "abc"</a:t>
            </a:r>
            <a:endParaRPr sz="1400" dirty="0">
              <a:latin typeface="Consolas"/>
              <a:ea typeface="Consolas"/>
              <a:cs typeface="Consolas"/>
              <a:sym typeface="Consolas"/>
            </a:endParaRPr>
          </a:p>
          <a:p>
            <a:pPr marL="0" lvl="0" indent="0" algn="l" rtl="0">
              <a:lnSpc>
                <a:spcPct val="80000"/>
              </a:lnSpc>
              <a:spcBef>
                <a:spcPts val="600"/>
              </a:spcBef>
              <a:spcAft>
                <a:spcPts val="0"/>
              </a:spcAft>
              <a:buNone/>
            </a:pPr>
            <a:endParaRPr sz="1400" dirty="0">
              <a:latin typeface="Consolas"/>
              <a:ea typeface="Consolas"/>
              <a:cs typeface="Consolas"/>
              <a:sym typeface="Consolas"/>
            </a:endParaRPr>
          </a:p>
          <a:p>
            <a:pPr marL="0" lvl="0" indent="0" algn="l" rtl="0">
              <a:lnSpc>
                <a:spcPct val="80000"/>
              </a:lnSpc>
              <a:spcBef>
                <a:spcPts val="600"/>
              </a:spcBef>
              <a:spcAft>
                <a:spcPts val="0"/>
              </a:spcAft>
              <a:buNone/>
            </a:pPr>
            <a:r>
              <a:rPr lang="it" sz="1400" dirty="0">
                <a:latin typeface="Consolas"/>
                <a:ea typeface="Consolas"/>
                <a:cs typeface="Consolas"/>
                <a:sym typeface="Consolas"/>
              </a:rPr>
              <a:t>b = null  //ok</a:t>
            </a:r>
            <a:endParaRPr sz="1400" dirty="0">
              <a:latin typeface="Consolas"/>
              <a:ea typeface="Consolas"/>
              <a:cs typeface="Consolas"/>
              <a:sym typeface="Consolas"/>
            </a:endParaRPr>
          </a:p>
          <a:p>
            <a:pPr marL="0" lvl="0" indent="0" algn="l" rtl="0">
              <a:lnSpc>
                <a:spcPct val="80000"/>
              </a:lnSpc>
              <a:spcBef>
                <a:spcPts val="600"/>
              </a:spcBef>
              <a:spcAft>
                <a:spcPts val="0"/>
              </a:spcAft>
              <a:buNone/>
            </a:pPr>
            <a:endParaRPr sz="1400" dirty="0">
              <a:latin typeface="Consolas"/>
              <a:ea typeface="Consolas"/>
              <a:cs typeface="Consolas"/>
              <a:sym typeface="Consolas"/>
            </a:endParaRPr>
          </a:p>
          <a:p>
            <a:pPr marL="0" lvl="0" indent="0" algn="l" rtl="0">
              <a:lnSpc>
                <a:spcPct val="80000"/>
              </a:lnSpc>
              <a:spcBef>
                <a:spcPts val="600"/>
              </a:spcBef>
              <a:spcAft>
                <a:spcPts val="0"/>
              </a:spcAft>
              <a:buClr>
                <a:schemeClr val="dk1"/>
              </a:buClr>
              <a:buSzPts val="1100"/>
              <a:buFont typeface="Arial"/>
              <a:buNone/>
            </a:pPr>
            <a:r>
              <a:rPr lang="it" sz="1400" dirty="0">
                <a:latin typeface="Consolas"/>
                <a:ea typeface="Consolas"/>
                <a:cs typeface="Consolas"/>
                <a:sym typeface="Consolas"/>
              </a:rPr>
              <a:t>var len: Int? = b</a:t>
            </a:r>
            <a:r>
              <a:rPr lang="it" sz="1400" b="1" dirty="0">
                <a:solidFill>
                  <a:srgbClr val="0B5394"/>
                </a:solidFill>
                <a:latin typeface="Consolas"/>
                <a:ea typeface="Consolas"/>
                <a:cs typeface="Consolas"/>
                <a:sym typeface="Consolas"/>
              </a:rPr>
              <a:t>?.</a:t>
            </a:r>
            <a:r>
              <a:rPr lang="it" sz="1400" dirty="0">
                <a:latin typeface="Consolas"/>
                <a:ea typeface="Consolas"/>
                <a:cs typeface="Consolas"/>
                <a:sym typeface="Consolas"/>
              </a:rPr>
              <a:t>length // len: null</a:t>
            </a:r>
            <a:endParaRPr sz="1400" dirty="0">
              <a:latin typeface="Consolas"/>
              <a:ea typeface="Consolas"/>
              <a:cs typeface="Consolas"/>
              <a:sym typeface="Consolas"/>
            </a:endParaRPr>
          </a:p>
          <a:p>
            <a:pPr marL="0" lvl="0" indent="0" algn="l" rtl="0">
              <a:lnSpc>
                <a:spcPct val="80000"/>
              </a:lnSpc>
              <a:spcBef>
                <a:spcPts val="600"/>
              </a:spcBef>
              <a:spcAft>
                <a:spcPts val="0"/>
              </a:spcAft>
              <a:buClr>
                <a:schemeClr val="dk1"/>
              </a:buClr>
              <a:buSzPts val="1100"/>
              <a:buFont typeface="Arial"/>
              <a:buNone/>
            </a:pPr>
            <a:endParaRPr sz="1400" dirty="0">
              <a:latin typeface="Consolas"/>
              <a:ea typeface="Consolas"/>
              <a:cs typeface="Consolas"/>
              <a:sym typeface="Consolas"/>
            </a:endParaRPr>
          </a:p>
          <a:p>
            <a:pPr marL="0" lvl="0" indent="0" algn="l" rtl="0">
              <a:lnSpc>
                <a:spcPct val="80000"/>
              </a:lnSpc>
              <a:spcBef>
                <a:spcPts val="600"/>
              </a:spcBef>
              <a:spcAft>
                <a:spcPts val="0"/>
              </a:spcAft>
              <a:buNone/>
            </a:pPr>
            <a:r>
              <a:rPr lang="it" sz="1400" dirty="0">
                <a:latin typeface="Consolas"/>
                <a:ea typeface="Consolas"/>
                <a:cs typeface="Consolas"/>
                <a:sym typeface="Consolas"/>
              </a:rPr>
              <a:t>var c: String = b </a:t>
            </a:r>
            <a:r>
              <a:rPr lang="it" sz="1400" b="1" dirty="0">
                <a:solidFill>
                  <a:srgbClr val="0B5394"/>
                </a:solidFill>
                <a:latin typeface="Consolas"/>
                <a:ea typeface="Consolas"/>
                <a:cs typeface="Consolas"/>
                <a:sym typeface="Consolas"/>
              </a:rPr>
              <a:t>?:</a:t>
            </a:r>
            <a:r>
              <a:rPr lang="it" sz="1400" dirty="0">
                <a:latin typeface="Consolas"/>
                <a:ea typeface="Consolas"/>
                <a:cs typeface="Consolas"/>
                <a:sym typeface="Consolas"/>
              </a:rPr>
              <a:t> "default" // c: "default"</a:t>
            </a:r>
            <a:endParaRPr sz="1400" dirty="0">
              <a:latin typeface="Consolas"/>
              <a:ea typeface="Consolas"/>
              <a:cs typeface="Consolas"/>
              <a:sym typeface="Consolas"/>
            </a:endParaRPr>
          </a:p>
          <a:p>
            <a:pPr marL="0" lvl="0" indent="0" algn="l" rtl="0">
              <a:lnSpc>
                <a:spcPct val="80000"/>
              </a:lnSpc>
              <a:spcBef>
                <a:spcPts val="600"/>
              </a:spcBef>
              <a:spcAft>
                <a:spcPts val="0"/>
              </a:spcAft>
              <a:buNone/>
            </a:pPr>
            <a:endParaRPr sz="1400" dirty="0">
              <a:latin typeface="Consolas"/>
              <a:ea typeface="Consolas"/>
              <a:cs typeface="Consolas"/>
              <a:sym typeface="Consolas"/>
            </a:endParaRPr>
          </a:p>
          <a:p>
            <a:pPr marL="0" lvl="0" indent="0" algn="l" rtl="0">
              <a:lnSpc>
                <a:spcPct val="80000"/>
              </a:lnSpc>
              <a:spcBef>
                <a:spcPts val="600"/>
              </a:spcBef>
              <a:spcAft>
                <a:spcPts val="0"/>
              </a:spcAft>
              <a:buNone/>
            </a:pPr>
            <a:r>
              <a:rPr lang="it" sz="1400" dirty="0">
                <a:latin typeface="Consolas"/>
                <a:ea typeface="Consolas"/>
                <a:cs typeface="Consolas"/>
                <a:sym typeface="Consolas"/>
              </a:rPr>
              <a:t>var len2:Int = b</a:t>
            </a:r>
            <a:r>
              <a:rPr lang="it" sz="1400" b="1" dirty="0">
                <a:solidFill>
                  <a:srgbClr val="0B5394"/>
                </a:solidFill>
                <a:latin typeface="Consolas"/>
                <a:ea typeface="Consolas"/>
                <a:cs typeface="Consolas"/>
                <a:sym typeface="Consolas"/>
              </a:rPr>
              <a:t>!!</a:t>
            </a:r>
            <a:r>
              <a:rPr lang="it" sz="1400" dirty="0">
                <a:latin typeface="Consolas"/>
                <a:ea typeface="Consolas"/>
                <a:cs typeface="Consolas"/>
                <a:sym typeface="Consolas"/>
              </a:rPr>
              <a:t>.length // </a:t>
            </a:r>
            <a:r>
              <a:rPr lang="it" sz="1400" dirty="0">
                <a:solidFill>
                  <a:srgbClr val="980000"/>
                </a:solidFill>
                <a:latin typeface="Consolas"/>
                <a:ea typeface="Consolas"/>
                <a:cs typeface="Consolas"/>
                <a:sym typeface="Consolas"/>
              </a:rPr>
              <a:t>Null-Pointer Exception</a:t>
            </a:r>
            <a:endParaRPr sz="1400" dirty="0">
              <a:solidFill>
                <a:srgbClr val="980000"/>
              </a:solidFill>
              <a:latin typeface="Consolas"/>
              <a:ea typeface="Consolas"/>
              <a:cs typeface="Consolas"/>
              <a:sym typeface="Consolas"/>
            </a:endParaRPr>
          </a:p>
        </p:txBody>
      </p:sp>
      <p:sp>
        <p:nvSpPr>
          <p:cNvPr id="163" name="Google Shape;163;p16"/>
          <p:cNvSpPr txBox="1">
            <a:spLocks noGrp="1"/>
          </p:cNvSpPr>
          <p:nvPr>
            <p:ph type="sldNum" idx="12"/>
          </p:nvPr>
        </p:nvSpPr>
        <p:spPr>
          <a:xfrm>
            <a:off x="8472458" y="476850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it"/>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t"/>
              <a:t>The Unit type</a:t>
            </a:r>
            <a:endParaRPr/>
          </a:p>
        </p:txBody>
      </p:sp>
      <p:sp>
        <p:nvSpPr>
          <p:cNvPr id="169" name="Google Shape;169;p17"/>
          <p:cNvSpPr txBox="1">
            <a:spLocks noGrp="1"/>
          </p:cNvSpPr>
          <p:nvPr>
            <p:ph type="body" idx="1"/>
          </p:nvPr>
        </p:nvSpPr>
        <p:spPr>
          <a:xfrm>
            <a:off x="311150" y="1244204"/>
            <a:ext cx="8521800" cy="3393300"/>
          </a:xfrm>
          <a:prstGeom prst="rect">
            <a:avLst/>
          </a:prstGeom>
        </p:spPr>
        <p:txBody>
          <a:bodyPr spcFirstLastPara="1" wrap="square" lIns="91425" tIns="45700" rIns="91425" bIns="45700" anchor="t" anchorCtr="0">
            <a:normAutofit/>
          </a:bodyPr>
          <a:lstStyle/>
          <a:p>
            <a:pPr marL="457200" lvl="0" indent="-355600" algn="l" rtl="0">
              <a:spcBef>
                <a:spcPts val="600"/>
              </a:spcBef>
              <a:spcAft>
                <a:spcPts val="0"/>
              </a:spcAft>
              <a:buSzPts val="2000"/>
              <a:buChar char="•"/>
            </a:pPr>
            <a:r>
              <a:rPr lang="it"/>
              <a:t>In Kotlin everything has a type</a:t>
            </a:r>
            <a:endParaRPr/>
          </a:p>
          <a:p>
            <a:pPr marL="914400" lvl="1" indent="-330200" algn="l" rtl="0">
              <a:spcBef>
                <a:spcPts val="300"/>
              </a:spcBef>
              <a:spcAft>
                <a:spcPts val="0"/>
              </a:spcAft>
              <a:buSzPts val="1600"/>
              <a:buChar char="○"/>
            </a:pPr>
            <a:r>
              <a:rPr lang="it"/>
              <a:t>Expressions that do not return anything have the special type named </a:t>
            </a:r>
            <a:r>
              <a:rPr lang="it" b="1">
                <a:solidFill>
                  <a:srgbClr val="0B5394"/>
                </a:solidFill>
                <a:latin typeface="Consolas"/>
                <a:ea typeface="Consolas"/>
                <a:cs typeface="Consolas"/>
                <a:sym typeface="Consolas"/>
              </a:rPr>
              <a:t>Unit</a:t>
            </a:r>
            <a:endParaRPr b="1">
              <a:solidFill>
                <a:srgbClr val="0B5394"/>
              </a:solidFill>
              <a:latin typeface="Consolas"/>
              <a:ea typeface="Consolas"/>
              <a:cs typeface="Consolas"/>
              <a:sym typeface="Consolas"/>
            </a:endParaRPr>
          </a:p>
          <a:p>
            <a:pPr marL="914400" lvl="1" indent="-330200" algn="l" rtl="0">
              <a:spcBef>
                <a:spcPts val="300"/>
              </a:spcBef>
              <a:spcAft>
                <a:spcPts val="0"/>
              </a:spcAft>
              <a:buSzPts val="1600"/>
              <a:buChar char="○"/>
            </a:pPr>
            <a:r>
              <a:rPr lang="it"/>
              <a:t>It represents the value that is returned by an expression that does not explicitly returns anything else (this would be called </a:t>
            </a:r>
            <a:r>
              <a:rPr lang="it" b="1">
                <a:solidFill>
                  <a:srgbClr val="0B5394"/>
                </a:solidFill>
                <a:latin typeface="Consolas"/>
                <a:ea typeface="Consolas"/>
                <a:cs typeface="Consolas"/>
                <a:sym typeface="Consolas"/>
              </a:rPr>
              <a:t>void</a:t>
            </a:r>
            <a:r>
              <a:rPr lang="it"/>
              <a:t> in Java or in C/C++)</a:t>
            </a:r>
            <a:endParaRPr/>
          </a:p>
          <a:p>
            <a:pPr marL="457200" lvl="0" indent="-355600" algn="l" rtl="0">
              <a:spcBef>
                <a:spcPts val="600"/>
              </a:spcBef>
              <a:spcAft>
                <a:spcPts val="0"/>
              </a:spcAft>
              <a:buSzPts val="2000"/>
              <a:buChar char="•"/>
            </a:pPr>
            <a:r>
              <a:rPr lang="it" b="1">
                <a:solidFill>
                  <a:srgbClr val="0B5394"/>
                </a:solidFill>
                <a:latin typeface="Consolas"/>
                <a:ea typeface="Consolas"/>
                <a:cs typeface="Consolas"/>
                <a:sym typeface="Consolas"/>
              </a:rPr>
              <a:t>Unit</a:t>
            </a:r>
            <a:r>
              <a:rPr lang="it"/>
              <a:t> is at the same type both a type and a value</a:t>
            </a:r>
            <a:endParaRPr/>
          </a:p>
          <a:p>
            <a:pPr marL="914400" lvl="1" indent="-330200" algn="l" rtl="0">
              <a:spcBef>
                <a:spcPts val="300"/>
              </a:spcBef>
              <a:spcAft>
                <a:spcPts val="0"/>
              </a:spcAft>
              <a:buSzPts val="1600"/>
              <a:buChar char="○"/>
            </a:pPr>
            <a:r>
              <a:rPr lang="it"/>
              <a:t> Unlike void, </a:t>
            </a:r>
            <a:r>
              <a:rPr lang="it" b="1">
                <a:solidFill>
                  <a:srgbClr val="0B5394"/>
                </a:solidFill>
                <a:latin typeface="Consolas"/>
                <a:ea typeface="Consolas"/>
                <a:cs typeface="Consolas"/>
                <a:sym typeface="Consolas"/>
              </a:rPr>
              <a:t>Unit</a:t>
            </a:r>
            <a:r>
              <a:rPr lang="it"/>
              <a:t> is a real class (Singleton) with only one instance, the </a:t>
            </a:r>
            <a:r>
              <a:rPr lang="it" b="1">
                <a:solidFill>
                  <a:srgbClr val="0B5394"/>
                </a:solidFill>
                <a:latin typeface="Consolas"/>
                <a:ea typeface="Consolas"/>
                <a:cs typeface="Consolas"/>
                <a:sym typeface="Consolas"/>
              </a:rPr>
              <a:t>Unit</a:t>
            </a:r>
            <a:r>
              <a:rPr lang="it"/>
              <a:t> object</a:t>
            </a:r>
            <a:endParaRPr/>
          </a:p>
          <a:p>
            <a:pPr marL="457200" marR="0" lvl="0" indent="-355600" algn="l" rtl="0">
              <a:lnSpc>
                <a:spcPct val="115000"/>
              </a:lnSpc>
              <a:spcBef>
                <a:spcPts val="0"/>
              </a:spcBef>
              <a:spcAft>
                <a:spcPts val="0"/>
              </a:spcAft>
              <a:buSzPts val="2000"/>
              <a:buChar char="•"/>
            </a:pPr>
            <a:r>
              <a:rPr lang="it"/>
              <a:t>Functions that return no value (procedures) have </a:t>
            </a:r>
            <a:r>
              <a:rPr lang="it" b="1">
                <a:solidFill>
                  <a:srgbClr val="0B5394"/>
                </a:solidFill>
                <a:latin typeface="Consolas"/>
                <a:ea typeface="Consolas"/>
                <a:cs typeface="Consolas"/>
                <a:sym typeface="Consolas"/>
              </a:rPr>
              <a:t>Unit</a:t>
            </a:r>
            <a:r>
              <a:rPr lang="it"/>
              <a:t> as a return type in their declaration</a:t>
            </a:r>
            <a:endParaRPr/>
          </a:p>
          <a:p>
            <a:pPr marL="914400" lvl="1" indent="-330200" algn="l" rtl="0">
              <a:spcBef>
                <a:spcPts val="300"/>
              </a:spcBef>
              <a:spcAft>
                <a:spcPts val="0"/>
              </a:spcAft>
              <a:buSzPts val="1600"/>
              <a:buChar char="○"/>
            </a:pPr>
            <a:r>
              <a:rPr lang="it"/>
              <a:t>However, it may be simply omitted, since the compiler will assume it as a default</a:t>
            </a:r>
            <a:endParaRPr/>
          </a:p>
        </p:txBody>
      </p:sp>
      <p:sp>
        <p:nvSpPr>
          <p:cNvPr id="170" name="Google Shape;170;p17"/>
          <p:cNvSpPr txBox="1"/>
          <p:nvPr/>
        </p:nvSpPr>
        <p:spPr>
          <a:xfrm>
            <a:off x="1626300" y="4309650"/>
            <a:ext cx="5891400" cy="400200"/>
          </a:xfrm>
          <a:prstGeom prst="rect">
            <a:avLst/>
          </a:prstGeom>
          <a:solidFill>
            <a:schemeClr val="lt2"/>
          </a:solidFill>
          <a:ln w="9525" cap="flat" cmpd="sng">
            <a:solidFill>
              <a:schemeClr val="dk1"/>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t" anchorCtr="0">
            <a:spAutoFit/>
          </a:bodyPr>
          <a:lstStyle/>
          <a:p>
            <a:pPr marL="0" lvl="0" indent="0" algn="ctr" rtl="0">
              <a:spcBef>
                <a:spcPts val="0"/>
              </a:spcBef>
              <a:spcAft>
                <a:spcPts val="0"/>
              </a:spcAft>
              <a:buNone/>
            </a:pPr>
            <a:r>
              <a:rPr lang="it" u="sng">
                <a:solidFill>
                  <a:schemeClr val="hlink"/>
                </a:solidFill>
                <a:hlinkClick r:id="rId3"/>
              </a:rPr>
              <a:t>https://dzone.com/articles/kotlin-pearls-7-unit-nothing-any-and-null</a:t>
            </a:r>
            <a:r>
              <a:rPr lang="it"/>
              <a:t> </a:t>
            </a:r>
            <a:endParaRPr/>
          </a:p>
        </p:txBody>
      </p:sp>
      <p:sp>
        <p:nvSpPr>
          <p:cNvPr id="171" name="Google Shape;171;p17"/>
          <p:cNvSpPr txBox="1">
            <a:spLocks noGrp="1"/>
          </p:cNvSpPr>
          <p:nvPr>
            <p:ph type="sldNum" idx="12"/>
          </p:nvPr>
        </p:nvSpPr>
        <p:spPr>
          <a:xfrm>
            <a:off x="8472458" y="476850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it"/>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it" sz="2820"/>
              <a:t>Variables and values</a:t>
            </a:r>
            <a:endParaRPr sz="2820"/>
          </a:p>
        </p:txBody>
      </p:sp>
      <p:sp>
        <p:nvSpPr>
          <p:cNvPr id="177" name="Google Shape;177;p18"/>
          <p:cNvSpPr txBox="1">
            <a:spLocks noGrp="1"/>
          </p:cNvSpPr>
          <p:nvPr>
            <p:ph type="body" idx="1"/>
          </p:nvPr>
        </p:nvSpPr>
        <p:spPr>
          <a:xfrm>
            <a:off x="311150" y="1244204"/>
            <a:ext cx="8521800" cy="3393300"/>
          </a:xfrm>
          <a:prstGeom prst="rect">
            <a:avLst/>
          </a:prstGeom>
        </p:spPr>
        <p:txBody>
          <a:bodyPr spcFirstLastPara="1" wrap="square" lIns="91425" tIns="45700" rIns="91425" bIns="45700" anchor="t" anchorCtr="0">
            <a:normAutofit lnSpcReduction="10000"/>
          </a:bodyPr>
          <a:lstStyle/>
          <a:p>
            <a:pPr marL="457200" lvl="0" indent="-355600" algn="l" rtl="0">
              <a:spcBef>
                <a:spcPts val="600"/>
              </a:spcBef>
              <a:spcAft>
                <a:spcPts val="0"/>
              </a:spcAft>
              <a:buSzPts val="2000"/>
              <a:buChar char="•"/>
            </a:pPr>
            <a:r>
              <a:rPr lang="it"/>
              <a:t>A variable is a named storage location used to store data that can be modified during program execution</a:t>
            </a:r>
            <a:endParaRPr/>
          </a:p>
          <a:p>
            <a:pPr marL="914400" lvl="1" indent="-330200" algn="l" rtl="0">
              <a:spcBef>
                <a:spcPts val="0"/>
              </a:spcBef>
              <a:spcAft>
                <a:spcPts val="0"/>
              </a:spcAft>
              <a:buSzPts val="1600"/>
              <a:buChar char="○"/>
            </a:pPr>
            <a:r>
              <a:rPr lang="it"/>
              <a:t>In kotlin, variables have a static type, and only values that conform to that type can be stored inside them</a:t>
            </a:r>
            <a:endParaRPr/>
          </a:p>
          <a:p>
            <a:pPr marL="457200" lvl="0" indent="-355600" algn="l" rtl="0">
              <a:spcBef>
                <a:spcPts val="0"/>
              </a:spcBef>
              <a:spcAft>
                <a:spcPts val="0"/>
              </a:spcAft>
              <a:buSzPts val="2000"/>
              <a:buChar char="•"/>
            </a:pPr>
            <a:r>
              <a:rPr lang="it"/>
              <a:t>Kotlin distinguishes between </a:t>
            </a:r>
            <a:r>
              <a:rPr lang="it">
                <a:solidFill>
                  <a:srgbClr val="0B5394"/>
                </a:solidFill>
              </a:rPr>
              <a:t>reassignable</a:t>
            </a:r>
            <a:r>
              <a:rPr lang="it"/>
              <a:t> variables and </a:t>
            </a:r>
            <a:r>
              <a:rPr lang="it">
                <a:solidFill>
                  <a:srgbClr val="0B5394"/>
                </a:solidFill>
              </a:rPr>
              <a:t>final</a:t>
            </a:r>
            <a:r>
              <a:rPr lang="it"/>
              <a:t> ones</a:t>
            </a:r>
            <a:endParaRPr/>
          </a:p>
          <a:p>
            <a:pPr marL="914400" lvl="1" indent="-330200" algn="l" rtl="0">
              <a:spcBef>
                <a:spcPts val="0"/>
              </a:spcBef>
              <a:spcAft>
                <a:spcPts val="0"/>
              </a:spcAft>
              <a:buSzPts val="1600"/>
              <a:buChar char="○"/>
            </a:pPr>
            <a:r>
              <a:rPr lang="it"/>
              <a:t>The former are introduced by the </a:t>
            </a:r>
            <a:r>
              <a:rPr lang="it" b="1">
                <a:solidFill>
                  <a:srgbClr val="0B5394"/>
                </a:solidFill>
                <a:latin typeface="Consolas"/>
                <a:ea typeface="Consolas"/>
                <a:cs typeface="Consolas"/>
                <a:sym typeface="Consolas"/>
              </a:rPr>
              <a:t>var</a:t>
            </a:r>
            <a:r>
              <a:rPr lang="it"/>
              <a:t> keyword and can be bound to different values during their lifetime</a:t>
            </a:r>
            <a:endParaRPr/>
          </a:p>
          <a:p>
            <a:pPr marL="914400" marR="0" lvl="1" indent="-330200" algn="l" rtl="0">
              <a:lnSpc>
                <a:spcPct val="115000"/>
              </a:lnSpc>
              <a:spcBef>
                <a:spcPts val="0"/>
              </a:spcBef>
              <a:spcAft>
                <a:spcPts val="0"/>
              </a:spcAft>
              <a:buSzPts val="1600"/>
              <a:buChar char="○"/>
            </a:pPr>
            <a:r>
              <a:rPr lang="it"/>
              <a:t>The latter are introduced by the </a:t>
            </a:r>
            <a:r>
              <a:rPr lang="it" b="1">
                <a:solidFill>
                  <a:srgbClr val="0B5394"/>
                </a:solidFill>
                <a:latin typeface="Consolas"/>
                <a:ea typeface="Consolas"/>
                <a:cs typeface="Consolas"/>
                <a:sym typeface="Consolas"/>
              </a:rPr>
              <a:t>val</a:t>
            </a:r>
            <a:r>
              <a:rPr lang="it"/>
              <a:t> keyword and, once bound to a value, cannot be reassigned to anything else</a:t>
            </a:r>
            <a:endParaRPr/>
          </a:p>
          <a:p>
            <a:pPr marL="457200" marR="0" lvl="0" indent="-355600" algn="l" rtl="0">
              <a:lnSpc>
                <a:spcPct val="115000"/>
              </a:lnSpc>
              <a:spcBef>
                <a:spcPts val="0"/>
              </a:spcBef>
              <a:spcAft>
                <a:spcPts val="0"/>
              </a:spcAft>
              <a:buSzPts val="2000"/>
              <a:buChar char="•"/>
            </a:pPr>
            <a:r>
              <a:rPr lang="it"/>
              <a:t>Warning: a final value is not, by itself, </a:t>
            </a:r>
            <a:r>
              <a:rPr lang="it">
                <a:solidFill>
                  <a:srgbClr val="0B5394"/>
                </a:solidFill>
              </a:rPr>
              <a:t>immutable</a:t>
            </a:r>
            <a:r>
              <a:rPr lang="it"/>
              <a:t>!</a:t>
            </a:r>
            <a:endParaRPr/>
          </a:p>
          <a:p>
            <a:pPr marL="914400" marR="0" lvl="1" indent="-330200" algn="l" rtl="0">
              <a:lnSpc>
                <a:spcPct val="115000"/>
              </a:lnSpc>
              <a:spcBef>
                <a:spcPts val="0"/>
              </a:spcBef>
              <a:spcAft>
                <a:spcPts val="0"/>
              </a:spcAft>
              <a:buSzPts val="1600"/>
              <a:buChar char="○"/>
            </a:pPr>
            <a:r>
              <a:rPr lang="it"/>
              <a:t>If what is stored inside has a (mutable) state, it may evolve, even if the symbol is declared as </a:t>
            </a:r>
            <a:r>
              <a:rPr lang="it" b="1">
                <a:solidFill>
                  <a:srgbClr val="0B5394"/>
                </a:solidFill>
                <a:latin typeface="Consolas"/>
                <a:ea typeface="Consolas"/>
                <a:cs typeface="Consolas"/>
                <a:sym typeface="Consolas"/>
              </a:rPr>
              <a:t>val</a:t>
            </a:r>
            <a:r>
              <a:rPr lang="it"/>
              <a:t>  </a:t>
            </a:r>
            <a:endParaRPr/>
          </a:p>
        </p:txBody>
      </p:sp>
      <p:sp>
        <p:nvSpPr>
          <p:cNvPr id="178" name="Google Shape;178;p18"/>
          <p:cNvSpPr txBox="1">
            <a:spLocks noGrp="1"/>
          </p:cNvSpPr>
          <p:nvPr>
            <p:ph type="sldNum" idx="12"/>
          </p:nvPr>
        </p:nvSpPr>
        <p:spPr>
          <a:xfrm>
            <a:off x="8472458" y="476850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it"/>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it" sz="2820"/>
              <a:t>Variables and values</a:t>
            </a:r>
            <a:endParaRPr sz="2820"/>
          </a:p>
        </p:txBody>
      </p:sp>
      <p:sp>
        <p:nvSpPr>
          <p:cNvPr id="184" name="Google Shape;184;p19"/>
          <p:cNvSpPr txBox="1"/>
          <p:nvPr/>
        </p:nvSpPr>
        <p:spPr>
          <a:xfrm>
            <a:off x="358625" y="1123075"/>
            <a:ext cx="8473800" cy="3201600"/>
          </a:xfrm>
          <a:prstGeom prst="rect">
            <a:avLst/>
          </a:prstGeom>
          <a:solidFill>
            <a:srgbClr val="FFF2CC"/>
          </a:solidFill>
          <a:ln w="9525" cap="flat" cmpd="sng">
            <a:solidFill>
              <a:schemeClr val="dk1"/>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it">
                <a:latin typeface="Consolas"/>
                <a:ea typeface="Consolas"/>
                <a:cs typeface="Consolas"/>
                <a:sym typeface="Consolas"/>
              </a:rPr>
              <a:t>var age: Int = 25</a:t>
            </a:r>
            <a:endParaRPr>
              <a:latin typeface="Consolas"/>
              <a:ea typeface="Consolas"/>
              <a:cs typeface="Consolas"/>
              <a:sym typeface="Consolas"/>
            </a:endParaRPr>
          </a:p>
          <a:p>
            <a:pPr marL="0" lvl="0" indent="0" algn="l" rtl="0">
              <a:spcBef>
                <a:spcPts val="0"/>
              </a:spcBef>
              <a:spcAft>
                <a:spcPts val="0"/>
              </a:spcAft>
              <a:buClr>
                <a:schemeClr val="dk1"/>
              </a:buClr>
              <a:buSzPts val="1100"/>
              <a:buFont typeface="Arial"/>
              <a:buNone/>
            </a:pPr>
            <a:r>
              <a:rPr lang="it">
                <a:latin typeface="Consolas"/>
                <a:ea typeface="Consolas"/>
                <a:cs typeface="Consolas"/>
                <a:sym typeface="Consolas"/>
              </a:rPr>
              <a:t>age = 26 // value of age is changed from 25 to 26</a:t>
            </a:r>
            <a:endParaRPr>
              <a:latin typeface="Consolas"/>
              <a:ea typeface="Consolas"/>
              <a:cs typeface="Consolas"/>
              <a:sym typeface="Consolas"/>
            </a:endParaRPr>
          </a:p>
          <a:p>
            <a:pPr marL="0" lvl="0" indent="0" algn="l" rtl="0">
              <a:spcBef>
                <a:spcPts val="0"/>
              </a:spcBef>
              <a:spcAft>
                <a:spcPts val="0"/>
              </a:spcAft>
              <a:buNone/>
            </a:pPr>
            <a:endParaRPr>
              <a:latin typeface="Consolas"/>
              <a:ea typeface="Consolas"/>
              <a:cs typeface="Consolas"/>
              <a:sym typeface="Consolas"/>
            </a:endParaRPr>
          </a:p>
          <a:p>
            <a:pPr marL="0" lvl="0" indent="0" algn="l" rtl="0">
              <a:spcBef>
                <a:spcPts val="0"/>
              </a:spcBef>
              <a:spcAft>
                <a:spcPts val="0"/>
              </a:spcAft>
              <a:buClr>
                <a:schemeClr val="dk1"/>
              </a:buClr>
              <a:buSzPts val="1100"/>
              <a:buFont typeface="Arial"/>
              <a:buNone/>
            </a:pPr>
            <a:r>
              <a:rPr lang="it">
                <a:latin typeface="Consolas"/>
                <a:ea typeface="Consolas"/>
                <a:cs typeface="Consolas"/>
                <a:sym typeface="Consolas"/>
              </a:rPr>
              <a:t>val name: String = "John"</a:t>
            </a:r>
            <a:endParaRPr>
              <a:latin typeface="Consolas"/>
              <a:ea typeface="Consolas"/>
              <a:cs typeface="Consolas"/>
              <a:sym typeface="Consolas"/>
            </a:endParaRPr>
          </a:p>
          <a:p>
            <a:pPr marL="0" lvl="0" indent="0" algn="l" rtl="0">
              <a:spcBef>
                <a:spcPts val="0"/>
              </a:spcBef>
              <a:spcAft>
                <a:spcPts val="0"/>
              </a:spcAft>
              <a:buClr>
                <a:schemeClr val="dk1"/>
              </a:buClr>
              <a:buSzPts val="1100"/>
              <a:buFont typeface="Arial"/>
              <a:buNone/>
            </a:pPr>
            <a:r>
              <a:rPr lang="it">
                <a:latin typeface="Consolas"/>
                <a:ea typeface="Consolas"/>
                <a:cs typeface="Consolas"/>
                <a:sym typeface="Consolas"/>
              </a:rPr>
              <a:t>// </a:t>
            </a:r>
            <a:r>
              <a:rPr lang="it" strike="sngStrike">
                <a:latin typeface="Consolas"/>
                <a:ea typeface="Consolas"/>
                <a:cs typeface="Consolas"/>
                <a:sym typeface="Consolas"/>
              </a:rPr>
              <a:t>name = "Jane"</a:t>
            </a:r>
            <a:r>
              <a:rPr lang="it">
                <a:latin typeface="Consolas"/>
                <a:ea typeface="Consolas"/>
                <a:cs typeface="Consolas"/>
                <a:sym typeface="Consolas"/>
              </a:rPr>
              <a:t> // </a:t>
            </a:r>
            <a:r>
              <a:rPr lang="it">
                <a:solidFill>
                  <a:srgbClr val="980000"/>
                </a:solidFill>
                <a:latin typeface="Consolas"/>
                <a:ea typeface="Consolas"/>
                <a:cs typeface="Consolas"/>
                <a:sym typeface="Consolas"/>
              </a:rPr>
              <a:t>Error: val cannot be reassigned</a:t>
            </a:r>
            <a:endParaRPr>
              <a:solidFill>
                <a:srgbClr val="980000"/>
              </a:solidFill>
              <a:latin typeface="Consolas"/>
              <a:ea typeface="Consolas"/>
              <a:cs typeface="Consolas"/>
              <a:sym typeface="Consolas"/>
            </a:endParaRPr>
          </a:p>
          <a:p>
            <a:pPr marL="0" lvl="0" indent="0" algn="l" rtl="0">
              <a:spcBef>
                <a:spcPts val="0"/>
              </a:spcBef>
              <a:spcAft>
                <a:spcPts val="0"/>
              </a:spcAft>
              <a:buNone/>
            </a:pPr>
            <a:endParaRPr>
              <a:latin typeface="Consolas"/>
              <a:ea typeface="Consolas"/>
              <a:cs typeface="Consolas"/>
              <a:sym typeface="Consolas"/>
            </a:endParaRPr>
          </a:p>
          <a:p>
            <a:pPr marL="0" lvl="0" indent="0" algn="l" rtl="0">
              <a:spcBef>
                <a:spcPts val="0"/>
              </a:spcBef>
              <a:spcAft>
                <a:spcPts val="0"/>
              </a:spcAft>
              <a:buClr>
                <a:schemeClr val="dk1"/>
              </a:buClr>
              <a:buSzPts val="1100"/>
              <a:buFont typeface="Arial"/>
              <a:buNone/>
            </a:pPr>
            <a:r>
              <a:rPr lang="it">
                <a:latin typeface="Consolas"/>
                <a:ea typeface="Consolas"/>
                <a:cs typeface="Consolas"/>
                <a:sym typeface="Consolas"/>
              </a:rPr>
              <a:t>var x = 10 // type of x is inferred as Int</a:t>
            </a:r>
            <a:endParaRPr>
              <a:latin typeface="Consolas"/>
              <a:ea typeface="Consolas"/>
              <a:cs typeface="Consolas"/>
              <a:sym typeface="Consolas"/>
            </a:endParaRPr>
          </a:p>
          <a:p>
            <a:pPr marL="0" lvl="0" indent="0" algn="l" rtl="0">
              <a:spcBef>
                <a:spcPts val="0"/>
              </a:spcBef>
              <a:spcAft>
                <a:spcPts val="0"/>
              </a:spcAft>
              <a:buClr>
                <a:schemeClr val="dk1"/>
              </a:buClr>
              <a:buSzPts val="1100"/>
              <a:buFont typeface="Arial"/>
              <a:buNone/>
            </a:pPr>
            <a:r>
              <a:rPr lang="it">
                <a:latin typeface="Consolas"/>
                <a:ea typeface="Consolas"/>
                <a:cs typeface="Consolas"/>
                <a:sym typeface="Consolas"/>
              </a:rPr>
              <a:t>val y = "Hello" // type of y is inferred as String</a:t>
            </a:r>
            <a:endParaRPr>
              <a:latin typeface="Consolas"/>
              <a:ea typeface="Consolas"/>
              <a:cs typeface="Consolas"/>
              <a:sym typeface="Consolas"/>
            </a:endParaRPr>
          </a:p>
          <a:p>
            <a:pPr marL="0" lvl="0" indent="0" algn="l" rtl="0">
              <a:spcBef>
                <a:spcPts val="0"/>
              </a:spcBef>
              <a:spcAft>
                <a:spcPts val="0"/>
              </a:spcAft>
              <a:buNone/>
            </a:pPr>
            <a:endParaRPr>
              <a:latin typeface="Consolas"/>
              <a:ea typeface="Consolas"/>
              <a:cs typeface="Consolas"/>
              <a:sym typeface="Consolas"/>
            </a:endParaRPr>
          </a:p>
          <a:p>
            <a:pPr marL="0" lvl="0" indent="0" algn="l" rtl="0">
              <a:spcBef>
                <a:spcPts val="0"/>
              </a:spcBef>
              <a:spcAft>
                <a:spcPts val="0"/>
              </a:spcAft>
              <a:buNone/>
            </a:pPr>
            <a:r>
              <a:rPr lang="it">
                <a:latin typeface="Consolas"/>
                <a:ea typeface="Consolas"/>
                <a:cs typeface="Consolas"/>
                <a:sym typeface="Consolas"/>
              </a:rPr>
              <a:t>val seq: CharSequence = "Jane" // this works because a String is also a CharSequence</a:t>
            </a:r>
            <a:endParaRPr>
              <a:latin typeface="Consolas"/>
              <a:ea typeface="Consolas"/>
              <a:cs typeface="Consolas"/>
              <a:sym typeface="Consolas"/>
            </a:endParaRPr>
          </a:p>
          <a:p>
            <a:pPr marL="0" lvl="0" indent="0" algn="l" rtl="0">
              <a:spcBef>
                <a:spcPts val="0"/>
              </a:spcBef>
              <a:spcAft>
                <a:spcPts val="0"/>
              </a:spcAft>
              <a:buNone/>
            </a:pPr>
            <a:endParaRPr>
              <a:latin typeface="Consolas"/>
              <a:ea typeface="Consolas"/>
              <a:cs typeface="Consolas"/>
              <a:sym typeface="Consolas"/>
            </a:endParaRPr>
          </a:p>
          <a:p>
            <a:pPr marL="0" lvl="0" indent="0" algn="l" rtl="0">
              <a:spcBef>
                <a:spcPts val="0"/>
              </a:spcBef>
              <a:spcAft>
                <a:spcPts val="0"/>
              </a:spcAft>
              <a:buNone/>
            </a:pPr>
            <a:r>
              <a:rPr lang="it">
                <a:latin typeface="Consolas"/>
                <a:ea typeface="Consolas"/>
                <a:cs typeface="Consolas"/>
                <a:sym typeface="Consolas"/>
              </a:rPr>
              <a:t>val l: MutableList&lt;String&gt; = mutableListOf() // l is an empty mutable list</a:t>
            </a:r>
            <a:endParaRPr>
              <a:latin typeface="Consolas"/>
              <a:ea typeface="Consolas"/>
              <a:cs typeface="Consolas"/>
              <a:sym typeface="Consolas"/>
            </a:endParaRPr>
          </a:p>
          <a:p>
            <a:pPr marL="0" lvl="0" indent="0" algn="l" rtl="0">
              <a:spcBef>
                <a:spcPts val="0"/>
              </a:spcBef>
              <a:spcAft>
                <a:spcPts val="0"/>
              </a:spcAft>
              <a:buNone/>
            </a:pPr>
            <a:r>
              <a:rPr lang="it">
                <a:latin typeface="Consolas"/>
                <a:ea typeface="Consolas"/>
                <a:cs typeface="Consolas"/>
                <a:sym typeface="Consolas"/>
              </a:rPr>
              <a:t>l.add(name)   // now l contains ["John"]</a:t>
            </a:r>
            <a:endParaRPr>
              <a:latin typeface="Consolas"/>
              <a:ea typeface="Consolas"/>
              <a:cs typeface="Consolas"/>
              <a:sym typeface="Consolas"/>
            </a:endParaRPr>
          </a:p>
          <a:p>
            <a:pPr marL="0" lvl="0" indent="0" algn="l" rtl="0">
              <a:spcBef>
                <a:spcPts val="0"/>
              </a:spcBef>
              <a:spcAft>
                <a:spcPts val="0"/>
              </a:spcAft>
              <a:buNone/>
            </a:pPr>
            <a:r>
              <a:rPr lang="it">
                <a:latin typeface="Consolas"/>
                <a:ea typeface="Consolas"/>
                <a:cs typeface="Consolas"/>
                <a:sym typeface="Consolas"/>
              </a:rPr>
              <a:t>l.add("Jane") // now l contains ["John", "Jane"]</a:t>
            </a:r>
            <a:endParaRPr>
              <a:latin typeface="Consolas"/>
              <a:ea typeface="Consolas"/>
              <a:cs typeface="Consolas"/>
              <a:sym typeface="Consolas"/>
            </a:endParaRPr>
          </a:p>
        </p:txBody>
      </p:sp>
      <p:sp>
        <p:nvSpPr>
          <p:cNvPr id="185" name="Google Shape;185;p19"/>
          <p:cNvSpPr txBox="1">
            <a:spLocks noGrp="1"/>
          </p:cNvSpPr>
          <p:nvPr>
            <p:ph type="sldNum" idx="12"/>
          </p:nvPr>
        </p:nvSpPr>
        <p:spPr>
          <a:xfrm>
            <a:off x="8472458" y="476850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it"/>
              <a:t>13</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t"/>
              <a:t>Function types</a:t>
            </a:r>
            <a:endParaRPr/>
          </a:p>
        </p:txBody>
      </p:sp>
      <p:sp>
        <p:nvSpPr>
          <p:cNvPr id="191" name="Google Shape;191;p20"/>
          <p:cNvSpPr txBox="1">
            <a:spLocks noGrp="1"/>
          </p:cNvSpPr>
          <p:nvPr>
            <p:ph type="body" idx="1"/>
          </p:nvPr>
        </p:nvSpPr>
        <p:spPr>
          <a:xfrm>
            <a:off x="311150" y="1244204"/>
            <a:ext cx="8521800" cy="3393300"/>
          </a:xfrm>
          <a:prstGeom prst="rect">
            <a:avLst/>
          </a:prstGeom>
        </p:spPr>
        <p:txBody>
          <a:bodyPr spcFirstLastPara="1" wrap="square" lIns="91425" tIns="45700" rIns="91425" bIns="45700" anchor="t" anchorCtr="0">
            <a:normAutofit fontScale="92500"/>
          </a:bodyPr>
          <a:lstStyle/>
          <a:p>
            <a:pPr marL="457200" lvl="0" indent="-346075" algn="l" rtl="0">
              <a:spcBef>
                <a:spcPts val="600"/>
              </a:spcBef>
              <a:spcAft>
                <a:spcPts val="0"/>
              </a:spcAft>
              <a:buSzPct val="100000"/>
              <a:buChar char="•"/>
            </a:pPr>
            <a:r>
              <a:rPr lang="it"/>
              <a:t>Kotlin type system also supports function types</a:t>
            </a:r>
            <a:endParaRPr/>
          </a:p>
          <a:p>
            <a:pPr marL="914400" lvl="1" indent="-322580" algn="l" rtl="0">
              <a:spcBef>
                <a:spcPts val="300"/>
              </a:spcBef>
              <a:spcAft>
                <a:spcPts val="0"/>
              </a:spcAft>
              <a:buSzPct val="100000"/>
              <a:buChar char="○"/>
            </a:pPr>
            <a:r>
              <a:rPr lang="it"/>
              <a:t>I.e., types that define values that are invokable</a:t>
            </a:r>
            <a:endParaRPr/>
          </a:p>
          <a:p>
            <a:pPr marL="914400" lvl="1" indent="-322580" algn="l" rtl="0">
              <a:spcBef>
                <a:spcPts val="300"/>
              </a:spcBef>
              <a:spcAft>
                <a:spcPts val="0"/>
              </a:spcAft>
              <a:buSzPct val="100000"/>
              <a:buChar char="○"/>
            </a:pPr>
            <a:r>
              <a:rPr lang="it"/>
              <a:t>The notation </a:t>
            </a:r>
            <a:r>
              <a:rPr lang="it" b="1">
                <a:solidFill>
                  <a:srgbClr val="0B5394"/>
                </a:solidFill>
                <a:latin typeface="Consolas"/>
                <a:ea typeface="Consolas"/>
                <a:cs typeface="Consolas"/>
                <a:sym typeface="Consolas"/>
              </a:rPr>
              <a:t>( Int, Int ) -&gt; Double</a:t>
            </a:r>
            <a:r>
              <a:rPr lang="it"/>
              <a:t> denotes a function type that receives two integer arguments and returns a double </a:t>
            </a:r>
            <a:endParaRPr/>
          </a:p>
          <a:p>
            <a:pPr marL="914400" lvl="1" indent="-322580" algn="l" rtl="0">
              <a:spcBef>
                <a:spcPts val="300"/>
              </a:spcBef>
              <a:spcAft>
                <a:spcPts val="0"/>
              </a:spcAft>
              <a:buSzPct val="100000"/>
              <a:buChar char="○"/>
            </a:pPr>
            <a:r>
              <a:rPr lang="it"/>
              <a:t>The notation </a:t>
            </a:r>
            <a:r>
              <a:rPr lang="it" b="1">
                <a:solidFill>
                  <a:srgbClr val="0B5394"/>
                </a:solidFill>
                <a:latin typeface="Consolas"/>
                <a:ea typeface="Consolas"/>
                <a:cs typeface="Consolas"/>
                <a:sym typeface="Consolas"/>
              </a:rPr>
              <a:t>() -&gt; String</a:t>
            </a:r>
            <a:r>
              <a:rPr lang="it"/>
              <a:t> denotes a function that has no arguments and returns a String</a:t>
            </a:r>
            <a:endParaRPr/>
          </a:p>
          <a:p>
            <a:pPr marL="457200" lvl="0" indent="-346075" algn="l" rtl="0">
              <a:spcBef>
                <a:spcPts val="600"/>
              </a:spcBef>
              <a:spcAft>
                <a:spcPts val="0"/>
              </a:spcAft>
              <a:buSzPct val="100000"/>
              <a:buChar char="•"/>
            </a:pPr>
            <a:r>
              <a:rPr lang="it"/>
              <a:t>Function types can be instantiated with regular functions, function literals, and lambda expressions</a:t>
            </a:r>
            <a:endParaRPr/>
          </a:p>
          <a:p>
            <a:pPr marL="914400" marR="0" lvl="1" indent="-322580" algn="l" rtl="0">
              <a:lnSpc>
                <a:spcPct val="115000"/>
              </a:lnSpc>
              <a:spcBef>
                <a:spcPts val="0"/>
              </a:spcBef>
              <a:spcAft>
                <a:spcPts val="0"/>
              </a:spcAft>
              <a:buSzPct val="100000"/>
              <a:buChar char="○"/>
            </a:pPr>
            <a:r>
              <a:rPr lang="it"/>
              <a:t>Function types are a powerful feature of Kotlin that can be used to define functions as values, making it easy to pass them around as arguments or return them from other functions</a:t>
            </a:r>
            <a:endParaRPr/>
          </a:p>
          <a:p>
            <a:pPr marL="914400" marR="0" lvl="1" indent="-322580" algn="l" rtl="0">
              <a:lnSpc>
                <a:spcPct val="115000"/>
              </a:lnSpc>
              <a:spcBef>
                <a:spcPts val="0"/>
              </a:spcBef>
              <a:spcAft>
                <a:spcPts val="0"/>
              </a:spcAft>
              <a:buSzPct val="100000"/>
              <a:buChar char="○"/>
            </a:pPr>
            <a:r>
              <a:rPr lang="it"/>
              <a:t>They are commonly used in functional programming and can be used to create code that is more modular, flexible, and expressive</a:t>
            </a:r>
            <a:endParaRPr/>
          </a:p>
        </p:txBody>
      </p:sp>
      <p:sp>
        <p:nvSpPr>
          <p:cNvPr id="192" name="Google Shape;192;p20"/>
          <p:cNvSpPr txBox="1">
            <a:spLocks noGrp="1"/>
          </p:cNvSpPr>
          <p:nvPr>
            <p:ph type="sldNum" idx="12"/>
          </p:nvPr>
        </p:nvSpPr>
        <p:spPr>
          <a:xfrm>
            <a:off x="8472458" y="476850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it"/>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2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it" sz="2820"/>
              <a:t>Named functions</a:t>
            </a:r>
            <a:endParaRPr sz="2820"/>
          </a:p>
        </p:txBody>
      </p:sp>
      <p:sp>
        <p:nvSpPr>
          <p:cNvPr id="198" name="Google Shape;198;p21"/>
          <p:cNvSpPr txBox="1">
            <a:spLocks noGrp="1"/>
          </p:cNvSpPr>
          <p:nvPr>
            <p:ph type="body" idx="1"/>
          </p:nvPr>
        </p:nvSpPr>
        <p:spPr>
          <a:xfrm>
            <a:off x="311150" y="1244204"/>
            <a:ext cx="8521800" cy="3393300"/>
          </a:xfrm>
          <a:prstGeom prst="rect">
            <a:avLst/>
          </a:prstGeom>
        </p:spPr>
        <p:txBody>
          <a:bodyPr spcFirstLastPara="1" wrap="square" lIns="91425" tIns="45700" rIns="91425" bIns="45700" anchor="t" anchorCtr="0">
            <a:normAutofit fontScale="92500"/>
          </a:bodyPr>
          <a:lstStyle/>
          <a:p>
            <a:pPr marL="457200" lvl="0" indent="-346075" algn="l" rtl="0">
              <a:spcBef>
                <a:spcPts val="600"/>
              </a:spcBef>
              <a:spcAft>
                <a:spcPts val="0"/>
              </a:spcAft>
              <a:buSzPct val="100000"/>
              <a:buChar char="•"/>
            </a:pPr>
            <a:r>
              <a:rPr lang="it"/>
              <a:t>Named functions are functions that have a name that can be used to call them</a:t>
            </a:r>
            <a:endParaRPr/>
          </a:p>
          <a:p>
            <a:pPr marL="914400" lvl="1" indent="-322580" algn="l" rtl="0">
              <a:spcBef>
                <a:spcPts val="0"/>
              </a:spcBef>
              <a:spcAft>
                <a:spcPts val="0"/>
              </a:spcAft>
              <a:buSzPct val="100000"/>
              <a:buChar char="○"/>
            </a:pPr>
            <a:r>
              <a:rPr lang="it"/>
              <a:t>They are defined using the </a:t>
            </a:r>
            <a:r>
              <a:rPr lang="it" b="1">
                <a:solidFill>
                  <a:srgbClr val="0B5394"/>
                </a:solidFill>
                <a:latin typeface="Consolas"/>
                <a:ea typeface="Consolas"/>
                <a:cs typeface="Consolas"/>
                <a:sym typeface="Consolas"/>
              </a:rPr>
              <a:t>fun</a:t>
            </a:r>
            <a:r>
              <a:rPr lang="it"/>
              <a:t> keyword followed by the function name and the function body </a:t>
            </a:r>
            <a:endParaRPr/>
          </a:p>
          <a:p>
            <a:pPr marL="914400" lvl="1" indent="-322580" algn="l" rtl="0">
              <a:spcBef>
                <a:spcPts val="0"/>
              </a:spcBef>
              <a:spcAft>
                <a:spcPts val="0"/>
              </a:spcAft>
              <a:buSzPct val="100000"/>
              <a:buChar char="○"/>
            </a:pPr>
            <a:r>
              <a:rPr lang="it"/>
              <a:t>The function body may contain arbitrary statements and may return a value</a:t>
            </a:r>
            <a:endParaRPr/>
          </a:p>
          <a:p>
            <a:pPr marL="914400" lvl="1" indent="-322580" algn="l" rtl="0">
              <a:spcBef>
                <a:spcPts val="0"/>
              </a:spcBef>
              <a:spcAft>
                <a:spcPts val="0"/>
              </a:spcAft>
              <a:buClr>
                <a:srgbClr val="0B5394"/>
              </a:buClr>
              <a:buSzPct val="100000"/>
              <a:buFont typeface="Consolas"/>
              <a:buChar char="○"/>
            </a:pPr>
            <a:r>
              <a:rPr lang="it" b="1">
                <a:solidFill>
                  <a:srgbClr val="0B5394"/>
                </a:solidFill>
                <a:latin typeface="Consolas"/>
                <a:ea typeface="Consolas"/>
                <a:cs typeface="Consolas"/>
                <a:sym typeface="Consolas"/>
              </a:rPr>
              <a:t>fun greet(name:String) { println("hello, $name") }</a:t>
            </a:r>
            <a:endParaRPr b="1">
              <a:solidFill>
                <a:srgbClr val="0B5394"/>
              </a:solidFill>
              <a:latin typeface="Consolas"/>
              <a:ea typeface="Consolas"/>
              <a:cs typeface="Consolas"/>
              <a:sym typeface="Consolas"/>
            </a:endParaRPr>
          </a:p>
          <a:p>
            <a:pPr marL="457200" lvl="0" indent="-346075" algn="l" rtl="0">
              <a:spcBef>
                <a:spcPts val="0"/>
              </a:spcBef>
              <a:spcAft>
                <a:spcPts val="0"/>
              </a:spcAft>
              <a:buSzPct val="100000"/>
              <a:buChar char="•"/>
            </a:pPr>
            <a:r>
              <a:rPr lang="it"/>
              <a:t>A named function is invoked using its name and passing in the required arguments</a:t>
            </a:r>
            <a:endParaRPr/>
          </a:p>
          <a:p>
            <a:pPr marL="914400" lvl="1" indent="-322580" algn="l" rtl="0">
              <a:spcBef>
                <a:spcPts val="300"/>
              </a:spcBef>
              <a:spcAft>
                <a:spcPts val="0"/>
              </a:spcAft>
              <a:buSzPct val="100000"/>
              <a:buChar char="○"/>
            </a:pPr>
            <a:r>
              <a:rPr lang="it" b="1">
                <a:solidFill>
                  <a:srgbClr val="0B5394"/>
                </a:solidFill>
                <a:latin typeface="Consolas"/>
                <a:ea typeface="Consolas"/>
                <a:cs typeface="Consolas"/>
                <a:sym typeface="Consolas"/>
              </a:rPr>
              <a:t>greet("Alice") // hello, Alice</a:t>
            </a:r>
            <a:endParaRPr/>
          </a:p>
          <a:p>
            <a:pPr marL="457200" lvl="0" indent="-346075" algn="l" rtl="0">
              <a:spcBef>
                <a:spcPts val="0"/>
              </a:spcBef>
              <a:spcAft>
                <a:spcPts val="0"/>
              </a:spcAft>
              <a:buSzPct val="100000"/>
              <a:buChar char="•"/>
            </a:pPr>
            <a:r>
              <a:rPr lang="it"/>
              <a:t>They are the most common type of function in Kotlin, and are used to define reusable blocks of code that can be called from different parts of a program</a:t>
            </a:r>
            <a:endParaRPr/>
          </a:p>
          <a:p>
            <a:pPr marL="914400" lvl="1" indent="-322580" algn="l" rtl="0">
              <a:spcBef>
                <a:spcPts val="0"/>
              </a:spcBef>
              <a:spcAft>
                <a:spcPts val="0"/>
              </a:spcAft>
              <a:buSzPct val="100000"/>
              <a:buChar char="○"/>
            </a:pPr>
            <a:r>
              <a:rPr lang="it"/>
              <a:t>When a named function is used to instantiate a function type, its name is preceded by </a:t>
            </a:r>
            <a:r>
              <a:rPr lang="it" b="1">
                <a:solidFill>
                  <a:srgbClr val="0B5394"/>
                </a:solidFill>
                <a:latin typeface="Consolas"/>
                <a:ea typeface="Consolas"/>
                <a:cs typeface="Consolas"/>
                <a:sym typeface="Consolas"/>
              </a:rPr>
              <a:t>::</a:t>
            </a:r>
            <a:endParaRPr b="1">
              <a:solidFill>
                <a:srgbClr val="0B5394"/>
              </a:solidFill>
              <a:latin typeface="Consolas"/>
              <a:ea typeface="Consolas"/>
              <a:cs typeface="Consolas"/>
              <a:sym typeface="Consolas"/>
            </a:endParaRPr>
          </a:p>
          <a:p>
            <a:pPr marL="914400" lvl="1" indent="-322580" algn="l" rtl="0">
              <a:spcBef>
                <a:spcPts val="0"/>
              </a:spcBef>
              <a:spcAft>
                <a:spcPts val="0"/>
              </a:spcAft>
              <a:buClr>
                <a:srgbClr val="0B5394"/>
              </a:buClr>
              <a:buSzPct val="100000"/>
              <a:buFont typeface="Consolas"/>
              <a:buChar char="○"/>
            </a:pPr>
            <a:r>
              <a:rPr lang="it" b="1">
                <a:solidFill>
                  <a:srgbClr val="0B5394"/>
                </a:solidFill>
                <a:latin typeface="Consolas"/>
                <a:ea typeface="Consolas"/>
                <a:cs typeface="Consolas"/>
                <a:sym typeface="Consolas"/>
              </a:rPr>
              <a:t>val f: (String) -&gt; Unit = </a:t>
            </a:r>
            <a:r>
              <a:rPr lang="it" b="1">
                <a:solidFill>
                  <a:srgbClr val="0B5394"/>
                </a:solidFill>
                <a:highlight>
                  <a:schemeClr val="accent6"/>
                </a:highlight>
                <a:latin typeface="Consolas"/>
                <a:ea typeface="Consolas"/>
                <a:cs typeface="Consolas"/>
                <a:sym typeface="Consolas"/>
              </a:rPr>
              <a:t>::greet</a:t>
            </a:r>
            <a:endParaRPr b="1">
              <a:solidFill>
                <a:srgbClr val="0B5394"/>
              </a:solidFill>
              <a:highlight>
                <a:schemeClr val="accent6"/>
              </a:highlight>
              <a:latin typeface="Consolas"/>
              <a:ea typeface="Consolas"/>
              <a:cs typeface="Consolas"/>
              <a:sym typeface="Consolas"/>
            </a:endParaRPr>
          </a:p>
        </p:txBody>
      </p:sp>
      <p:sp>
        <p:nvSpPr>
          <p:cNvPr id="199" name="Google Shape;199;p21"/>
          <p:cNvSpPr txBox="1">
            <a:spLocks noGrp="1"/>
          </p:cNvSpPr>
          <p:nvPr>
            <p:ph type="sldNum" idx="12"/>
          </p:nvPr>
        </p:nvSpPr>
        <p:spPr>
          <a:xfrm>
            <a:off x="8472458" y="476850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it"/>
              <a:t>15</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2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it" sz="2820"/>
              <a:t>Function parameters</a:t>
            </a:r>
            <a:endParaRPr sz="2820"/>
          </a:p>
        </p:txBody>
      </p:sp>
      <p:sp>
        <p:nvSpPr>
          <p:cNvPr id="205" name="Google Shape;205;p22"/>
          <p:cNvSpPr txBox="1">
            <a:spLocks noGrp="1"/>
          </p:cNvSpPr>
          <p:nvPr>
            <p:ph type="sldNum" idx="12"/>
          </p:nvPr>
        </p:nvSpPr>
        <p:spPr>
          <a:xfrm>
            <a:off x="8472458" y="476850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it"/>
              <a:t>16</a:t>
            </a:fld>
            <a:endParaRPr/>
          </a:p>
        </p:txBody>
      </p:sp>
      <p:sp>
        <p:nvSpPr>
          <p:cNvPr id="206" name="Google Shape;206;p22"/>
          <p:cNvSpPr txBox="1">
            <a:spLocks noGrp="1"/>
          </p:cNvSpPr>
          <p:nvPr>
            <p:ph type="body" idx="1"/>
          </p:nvPr>
        </p:nvSpPr>
        <p:spPr>
          <a:xfrm>
            <a:off x="311150" y="1244204"/>
            <a:ext cx="8521800" cy="3393300"/>
          </a:xfrm>
          <a:prstGeom prst="rect">
            <a:avLst/>
          </a:prstGeom>
        </p:spPr>
        <p:txBody>
          <a:bodyPr spcFirstLastPara="1" wrap="square" lIns="91425" tIns="45700" rIns="91425" bIns="45700" anchor="t" anchorCtr="0">
            <a:normAutofit/>
          </a:bodyPr>
          <a:lstStyle/>
          <a:p>
            <a:pPr marL="457200" lvl="0" indent="-355600" algn="l" rtl="0">
              <a:spcBef>
                <a:spcPts val="600"/>
              </a:spcBef>
              <a:spcAft>
                <a:spcPts val="0"/>
              </a:spcAft>
              <a:buSzPts val="2000"/>
              <a:buChar char="•"/>
            </a:pPr>
            <a:r>
              <a:rPr lang="it"/>
              <a:t>They specify the types and number of arguments that a function accepts</a:t>
            </a:r>
            <a:endParaRPr/>
          </a:p>
          <a:p>
            <a:pPr marL="914400" lvl="1" indent="-330200" algn="l" rtl="0">
              <a:spcBef>
                <a:spcPts val="0"/>
              </a:spcBef>
              <a:spcAft>
                <a:spcPts val="0"/>
              </a:spcAft>
              <a:buSzPts val="1600"/>
              <a:buChar char="○"/>
            </a:pPr>
            <a:r>
              <a:rPr lang="it"/>
              <a:t>They appear inside parentheses </a:t>
            </a:r>
            <a:r>
              <a:rPr lang="it" b="1">
                <a:solidFill>
                  <a:srgbClr val="0B5394"/>
                </a:solidFill>
                <a:latin typeface="Consolas"/>
                <a:ea typeface="Consolas"/>
                <a:cs typeface="Consolas"/>
                <a:sym typeface="Consolas"/>
              </a:rPr>
              <a:t>()</a:t>
            </a:r>
            <a:r>
              <a:rPr lang="it"/>
              <a:t> after the function name, and separated by commas  </a:t>
            </a:r>
            <a:endParaRPr/>
          </a:p>
          <a:p>
            <a:pPr marL="457200" lvl="0" indent="-355600" algn="l" rtl="0">
              <a:spcBef>
                <a:spcPts val="0"/>
              </a:spcBef>
              <a:spcAft>
                <a:spcPts val="0"/>
              </a:spcAft>
              <a:buSzPts val="2000"/>
              <a:buChar char="•"/>
            </a:pPr>
            <a:r>
              <a:rPr lang="it"/>
              <a:t>Function parameters can have default values</a:t>
            </a:r>
            <a:endParaRPr/>
          </a:p>
          <a:p>
            <a:pPr marL="914400" lvl="1" indent="-330200" algn="l" rtl="0">
              <a:spcBef>
                <a:spcPts val="0"/>
              </a:spcBef>
              <a:spcAft>
                <a:spcPts val="0"/>
              </a:spcAft>
              <a:buSzPts val="1600"/>
              <a:buChar char="○"/>
            </a:pPr>
            <a:r>
              <a:rPr lang="it"/>
              <a:t>This allows the function to be called with fewer arguments, if the default values are acceptable</a:t>
            </a:r>
            <a:endParaRPr/>
          </a:p>
          <a:p>
            <a:pPr marL="457200" lvl="0" indent="-355600" algn="l" rtl="0">
              <a:spcBef>
                <a:spcPts val="0"/>
              </a:spcBef>
              <a:spcAft>
                <a:spcPts val="0"/>
              </a:spcAft>
              <a:buSzPts val="2000"/>
              <a:buChar char="•"/>
            </a:pPr>
            <a:r>
              <a:rPr lang="it"/>
              <a:t>Function parameters can be named when calling functions</a:t>
            </a:r>
            <a:endParaRPr/>
          </a:p>
          <a:p>
            <a:pPr marL="914400" lvl="1" indent="-330200" algn="l" rtl="0">
              <a:spcBef>
                <a:spcPts val="0"/>
              </a:spcBef>
              <a:spcAft>
                <a:spcPts val="0"/>
              </a:spcAft>
              <a:buSzPts val="1600"/>
              <a:buChar char="○"/>
            </a:pPr>
            <a:r>
              <a:rPr lang="it"/>
              <a:t>This is very convenient when a function has a high number of parameters or default ones</a:t>
            </a:r>
            <a:endParaRPr/>
          </a:p>
        </p:txBody>
      </p:sp>
      <p:sp>
        <p:nvSpPr>
          <p:cNvPr id="207" name="Google Shape;207;p22"/>
          <p:cNvSpPr txBox="1"/>
          <p:nvPr/>
        </p:nvSpPr>
        <p:spPr>
          <a:xfrm>
            <a:off x="859950" y="3550849"/>
            <a:ext cx="7424100" cy="1015800"/>
          </a:xfrm>
          <a:prstGeom prst="rect">
            <a:avLst/>
          </a:prstGeom>
          <a:solidFill>
            <a:srgbClr val="FFF2CC"/>
          </a:solidFill>
          <a:ln w="12700" cap="flat" cmpd="sng">
            <a:solidFill>
              <a:srgbClr val="000000"/>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spAutoFit/>
          </a:bodyPr>
          <a:lstStyle/>
          <a:p>
            <a:pPr marL="0" marR="0" lvl="0" indent="0" algn="l" rtl="0">
              <a:spcBef>
                <a:spcPts val="0"/>
              </a:spcBef>
              <a:spcAft>
                <a:spcPts val="0"/>
              </a:spcAft>
              <a:buNone/>
            </a:pPr>
            <a:r>
              <a:rPr lang="it" sz="1200">
                <a:solidFill>
                  <a:srgbClr val="000000"/>
                </a:solidFill>
                <a:latin typeface="Consolas"/>
                <a:ea typeface="Consolas"/>
                <a:cs typeface="Consolas"/>
                <a:sym typeface="Consolas"/>
              </a:rPr>
              <a:t>fun reformat(str: String,</a:t>
            </a:r>
            <a:r>
              <a:rPr lang="it" sz="1200">
                <a:latin typeface="Consolas"/>
                <a:ea typeface="Consolas"/>
                <a:cs typeface="Consolas"/>
                <a:sym typeface="Consolas"/>
              </a:rPr>
              <a:t>                                   </a:t>
            </a:r>
            <a:r>
              <a:rPr lang="it" sz="1200">
                <a:solidFill>
                  <a:srgbClr val="000000"/>
                </a:solidFill>
                <a:latin typeface="Consolas"/>
                <a:ea typeface="Consolas"/>
                <a:cs typeface="Consolas"/>
                <a:sym typeface="Consolas"/>
              </a:rPr>
              <a:t>// Mandatory </a:t>
            </a:r>
            <a:endParaRPr sz="1200">
              <a:latin typeface="Consolas"/>
              <a:ea typeface="Consolas"/>
              <a:cs typeface="Consolas"/>
              <a:sym typeface="Consolas"/>
            </a:endParaRPr>
          </a:p>
          <a:p>
            <a:pPr marL="0" marR="0" lvl="0" indent="0" algn="l" rtl="0">
              <a:spcBef>
                <a:spcPts val="0"/>
              </a:spcBef>
              <a:spcAft>
                <a:spcPts val="0"/>
              </a:spcAft>
              <a:buNone/>
            </a:pPr>
            <a:r>
              <a:rPr lang="it" sz="1200">
                <a:solidFill>
                  <a:srgbClr val="000000"/>
                </a:solidFill>
                <a:latin typeface="Consolas"/>
                <a:ea typeface="Consolas"/>
                <a:cs typeface="Consolas"/>
                <a:sym typeface="Consolas"/>
              </a:rPr>
              <a:t>             normalizeCase: Boolean </a:t>
            </a:r>
            <a:r>
              <a:rPr lang="it" sz="1200" b="1">
                <a:solidFill>
                  <a:srgbClr val="0B5394"/>
                </a:solidFill>
                <a:latin typeface="Consolas"/>
                <a:ea typeface="Consolas"/>
                <a:cs typeface="Consolas"/>
                <a:sym typeface="Consolas"/>
              </a:rPr>
              <a:t>= true</a:t>
            </a:r>
            <a:r>
              <a:rPr lang="it" sz="1200">
                <a:solidFill>
                  <a:srgbClr val="000000"/>
                </a:solidFill>
                <a:latin typeface="Consolas"/>
                <a:ea typeface="Consolas"/>
                <a:cs typeface="Consolas"/>
                <a:sym typeface="Consolas"/>
              </a:rPr>
              <a:t>,</a:t>
            </a:r>
            <a:r>
              <a:rPr lang="it" sz="1200">
                <a:latin typeface="Consolas"/>
                <a:ea typeface="Consolas"/>
                <a:cs typeface="Consolas"/>
                <a:sym typeface="Consolas"/>
              </a:rPr>
              <a:t>                 </a:t>
            </a:r>
            <a:r>
              <a:rPr lang="it" sz="1200">
                <a:solidFill>
                  <a:srgbClr val="000000"/>
                </a:solidFill>
                <a:latin typeface="Consolas"/>
                <a:ea typeface="Consolas"/>
                <a:cs typeface="Consolas"/>
                <a:sym typeface="Consolas"/>
              </a:rPr>
              <a:t>// Optional </a:t>
            </a:r>
            <a:endParaRPr sz="1200">
              <a:latin typeface="Consolas"/>
              <a:ea typeface="Consolas"/>
              <a:cs typeface="Consolas"/>
              <a:sym typeface="Consolas"/>
            </a:endParaRPr>
          </a:p>
          <a:p>
            <a:pPr marL="0" marR="0" lvl="0" indent="0" algn="l" rtl="0">
              <a:spcBef>
                <a:spcPts val="0"/>
              </a:spcBef>
              <a:spcAft>
                <a:spcPts val="0"/>
              </a:spcAft>
              <a:buNone/>
            </a:pPr>
            <a:r>
              <a:rPr lang="it" sz="1200">
                <a:solidFill>
                  <a:srgbClr val="000000"/>
                </a:solidFill>
                <a:latin typeface="Consolas"/>
                <a:ea typeface="Consolas"/>
                <a:cs typeface="Consolas"/>
                <a:sym typeface="Consolas"/>
              </a:rPr>
              <a:t>             wordSeparator: Char </a:t>
            </a:r>
            <a:r>
              <a:rPr lang="it" sz="1200" b="1">
                <a:solidFill>
                  <a:srgbClr val="0B5394"/>
                </a:solidFill>
                <a:latin typeface="Consolas"/>
                <a:ea typeface="Consolas"/>
                <a:cs typeface="Consolas"/>
                <a:sym typeface="Consolas"/>
              </a:rPr>
              <a:t>= ' '</a:t>
            </a:r>
            <a:r>
              <a:rPr lang="it" sz="1200">
                <a:solidFill>
                  <a:srgbClr val="000000"/>
                </a:solidFill>
                <a:latin typeface="Consolas"/>
                <a:ea typeface="Consolas"/>
                <a:cs typeface="Consolas"/>
                <a:sym typeface="Consolas"/>
              </a:rPr>
              <a:t>): String { …</a:t>
            </a:r>
            <a:r>
              <a:rPr lang="it" sz="1200">
                <a:latin typeface="Consolas"/>
                <a:ea typeface="Consolas"/>
                <a:cs typeface="Consolas"/>
                <a:sym typeface="Consolas"/>
              </a:rPr>
              <a:t> </a:t>
            </a:r>
            <a:r>
              <a:rPr lang="it" sz="1200">
                <a:solidFill>
                  <a:srgbClr val="000000"/>
                </a:solidFill>
                <a:latin typeface="Consolas"/>
                <a:ea typeface="Consolas"/>
                <a:cs typeface="Consolas"/>
                <a:sym typeface="Consolas"/>
              </a:rPr>
              <a:t>}</a:t>
            </a:r>
            <a:r>
              <a:rPr lang="it" sz="1200">
                <a:latin typeface="Consolas"/>
                <a:ea typeface="Consolas"/>
                <a:cs typeface="Consolas"/>
                <a:sym typeface="Consolas"/>
              </a:rPr>
              <a:t>      </a:t>
            </a:r>
            <a:r>
              <a:rPr lang="it" sz="1200">
                <a:solidFill>
                  <a:srgbClr val="000000"/>
                </a:solidFill>
                <a:latin typeface="Consolas"/>
                <a:ea typeface="Consolas"/>
                <a:cs typeface="Consolas"/>
                <a:sym typeface="Consolas"/>
              </a:rPr>
              <a:t>// Op</a:t>
            </a:r>
            <a:r>
              <a:rPr lang="it" sz="1200">
                <a:latin typeface="Consolas"/>
                <a:ea typeface="Consolas"/>
                <a:cs typeface="Consolas"/>
                <a:sym typeface="Consolas"/>
              </a:rPr>
              <a:t>tional </a:t>
            </a:r>
            <a:endParaRPr sz="1200">
              <a:latin typeface="Consolas"/>
              <a:ea typeface="Consolas"/>
              <a:cs typeface="Consolas"/>
              <a:sym typeface="Consolas"/>
            </a:endParaRPr>
          </a:p>
          <a:p>
            <a:pPr marL="0" marR="0" lvl="0" indent="0" algn="l" rtl="0">
              <a:spcBef>
                <a:spcPts val="0"/>
              </a:spcBef>
              <a:spcAft>
                <a:spcPts val="0"/>
              </a:spcAft>
              <a:buNone/>
            </a:pPr>
            <a:endParaRPr sz="1200">
              <a:solidFill>
                <a:srgbClr val="000000"/>
              </a:solidFill>
              <a:latin typeface="Consolas"/>
              <a:ea typeface="Consolas"/>
              <a:cs typeface="Consolas"/>
              <a:sym typeface="Consolas"/>
            </a:endParaRPr>
          </a:p>
          <a:p>
            <a:pPr marL="0" marR="0" lvl="0" indent="0" algn="l" rtl="0">
              <a:spcBef>
                <a:spcPts val="0"/>
              </a:spcBef>
              <a:spcAft>
                <a:spcPts val="0"/>
              </a:spcAft>
              <a:buNone/>
            </a:pPr>
            <a:r>
              <a:rPr lang="it" sz="1200">
                <a:solidFill>
                  <a:srgbClr val="000000"/>
                </a:solidFill>
                <a:latin typeface="Consolas"/>
                <a:ea typeface="Consolas"/>
                <a:cs typeface="Consolas"/>
                <a:sym typeface="Consolas"/>
              </a:rPr>
              <a:t>reformat("Hello Kotlin!", </a:t>
            </a:r>
            <a:r>
              <a:rPr lang="it" sz="1200" b="1">
                <a:solidFill>
                  <a:srgbClr val="0B5394"/>
                </a:solidFill>
                <a:latin typeface="Consolas"/>
                <a:ea typeface="Consolas"/>
                <a:cs typeface="Consolas"/>
                <a:sym typeface="Consolas"/>
              </a:rPr>
              <a:t>wordSeparator = '_'</a:t>
            </a:r>
            <a:r>
              <a:rPr lang="it" sz="1200">
                <a:solidFill>
                  <a:srgbClr val="000000"/>
                </a:solidFill>
                <a:latin typeface="Consolas"/>
                <a:ea typeface="Consolas"/>
                <a:cs typeface="Consolas"/>
                <a:sym typeface="Consolas"/>
              </a:rPr>
              <a:t>)</a:t>
            </a:r>
            <a:endParaRPr sz="1200">
              <a:solidFill>
                <a:srgbClr val="000000"/>
              </a:solidFill>
              <a:latin typeface="Consolas"/>
              <a:ea typeface="Consolas"/>
              <a:cs typeface="Consolas"/>
              <a:sym typeface="Consola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2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it" sz="2820"/>
              <a:t>Function body</a:t>
            </a:r>
            <a:endParaRPr sz="2820"/>
          </a:p>
        </p:txBody>
      </p:sp>
      <p:sp>
        <p:nvSpPr>
          <p:cNvPr id="213" name="Google Shape;213;p23"/>
          <p:cNvSpPr txBox="1">
            <a:spLocks noGrp="1"/>
          </p:cNvSpPr>
          <p:nvPr>
            <p:ph type="sldNum" idx="12"/>
          </p:nvPr>
        </p:nvSpPr>
        <p:spPr>
          <a:xfrm>
            <a:off x="8472458" y="476850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it"/>
              <a:t>17</a:t>
            </a:fld>
            <a:endParaRPr/>
          </a:p>
        </p:txBody>
      </p:sp>
      <p:sp>
        <p:nvSpPr>
          <p:cNvPr id="214" name="Google Shape;214;p23"/>
          <p:cNvSpPr txBox="1">
            <a:spLocks noGrp="1"/>
          </p:cNvSpPr>
          <p:nvPr>
            <p:ph type="body" idx="1"/>
          </p:nvPr>
        </p:nvSpPr>
        <p:spPr>
          <a:xfrm>
            <a:off x="311150" y="1244204"/>
            <a:ext cx="8521800" cy="3393300"/>
          </a:xfrm>
          <a:prstGeom prst="rect">
            <a:avLst/>
          </a:prstGeom>
        </p:spPr>
        <p:txBody>
          <a:bodyPr spcFirstLastPara="1" wrap="square" lIns="91425" tIns="45700" rIns="91425" bIns="45700" anchor="t" anchorCtr="0">
            <a:normAutofit/>
          </a:bodyPr>
          <a:lstStyle/>
          <a:p>
            <a:pPr marL="457200" lvl="0" indent="-355600" algn="l" rtl="0">
              <a:spcBef>
                <a:spcPts val="600"/>
              </a:spcBef>
              <a:spcAft>
                <a:spcPts val="0"/>
              </a:spcAft>
              <a:buSzPts val="2000"/>
              <a:buChar char="•"/>
            </a:pPr>
            <a:r>
              <a:rPr lang="it"/>
              <a:t>Kotlin functions can contain a wide variety of statements, which allow you to define the logic and behavior of your program</a:t>
            </a:r>
            <a:endParaRPr/>
          </a:p>
          <a:p>
            <a:pPr marL="914400" lvl="1" indent="-330200" algn="l" rtl="0">
              <a:spcBef>
                <a:spcPts val="0"/>
              </a:spcBef>
              <a:spcAft>
                <a:spcPts val="0"/>
              </a:spcAft>
              <a:buSzPts val="1600"/>
              <a:buChar char="○"/>
            </a:pPr>
            <a:r>
              <a:rPr lang="it"/>
              <a:t>Assignment statements (</a:t>
            </a:r>
            <a:r>
              <a:rPr lang="it" b="1">
                <a:solidFill>
                  <a:srgbClr val="0B5394"/>
                </a:solidFill>
                <a:latin typeface="Consolas"/>
                <a:ea typeface="Consolas"/>
                <a:cs typeface="Consolas"/>
                <a:sym typeface="Consolas"/>
              </a:rPr>
              <a:t>=</a:t>
            </a:r>
            <a:r>
              <a:rPr lang="it"/>
              <a:t>)</a:t>
            </a:r>
            <a:endParaRPr/>
          </a:p>
          <a:p>
            <a:pPr marL="914400" lvl="1" indent="-330200" algn="l" rtl="0">
              <a:spcBef>
                <a:spcPts val="0"/>
              </a:spcBef>
              <a:spcAft>
                <a:spcPts val="0"/>
              </a:spcAft>
              <a:buSzPts val="1600"/>
              <a:buChar char="○"/>
            </a:pPr>
            <a:r>
              <a:rPr lang="it"/>
              <a:t>Expression statements (</a:t>
            </a:r>
            <a:r>
              <a:rPr lang="it" i="1"/>
              <a:t>function calls</a:t>
            </a:r>
            <a:r>
              <a:rPr lang="it"/>
              <a:t>, </a:t>
            </a:r>
            <a:r>
              <a:rPr lang="it" i="1"/>
              <a:t>operators</a:t>
            </a:r>
            <a:r>
              <a:rPr lang="it"/>
              <a:t>, and </a:t>
            </a:r>
            <a:r>
              <a:rPr lang="it" i="1"/>
              <a:t>literals</a:t>
            </a:r>
            <a:r>
              <a:rPr lang="it"/>
              <a:t>)</a:t>
            </a:r>
            <a:endParaRPr/>
          </a:p>
          <a:p>
            <a:pPr marL="914400" marR="0" lvl="1" indent="-330200" algn="l" rtl="0">
              <a:lnSpc>
                <a:spcPct val="110000"/>
              </a:lnSpc>
              <a:spcBef>
                <a:spcPts val="0"/>
              </a:spcBef>
              <a:spcAft>
                <a:spcPts val="0"/>
              </a:spcAft>
              <a:buSzPts val="1600"/>
              <a:buChar char="○"/>
            </a:pPr>
            <a:r>
              <a:rPr lang="it"/>
              <a:t>Control flow statements (</a:t>
            </a:r>
            <a:r>
              <a:rPr lang="it" b="1">
                <a:solidFill>
                  <a:srgbClr val="0B5394"/>
                </a:solidFill>
                <a:latin typeface="Consolas"/>
                <a:ea typeface="Consolas"/>
                <a:cs typeface="Consolas"/>
                <a:sym typeface="Consolas"/>
              </a:rPr>
              <a:t>if</a:t>
            </a:r>
            <a:r>
              <a:rPr lang="it"/>
              <a:t>, </a:t>
            </a:r>
            <a:r>
              <a:rPr lang="it" b="1">
                <a:solidFill>
                  <a:srgbClr val="0B5394"/>
                </a:solidFill>
                <a:latin typeface="Consolas"/>
                <a:ea typeface="Consolas"/>
                <a:cs typeface="Consolas"/>
                <a:sym typeface="Consolas"/>
              </a:rPr>
              <a:t>else</a:t>
            </a:r>
            <a:r>
              <a:rPr lang="it"/>
              <a:t>, </a:t>
            </a:r>
            <a:r>
              <a:rPr lang="it" b="1">
                <a:solidFill>
                  <a:srgbClr val="0B5394"/>
                </a:solidFill>
                <a:latin typeface="Consolas"/>
                <a:ea typeface="Consolas"/>
                <a:cs typeface="Consolas"/>
                <a:sym typeface="Consolas"/>
              </a:rPr>
              <a:t>when</a:t>
            </a:r>
            <a:r>
              <a:rPr lang="it"/>
              <a:t>, </a:t>
            </a:r>
            <a:r>
              <a:rPr lang="it" b="1">
                <a:solidFill>
                  <a:srgbClr val="0B5394"/>
                </a:solidFill>
                <a:latin typeface="Consolas"/>
                <a:ea typeface="Consolas"/>
                <a:cs typeface="Consolas"/>
                <a:sym typeface="Consolas"/>
              </a:rPr>
              <a:t>repeat</a:t>
            </a:r>
            <a:r>
              <a:rPr lang="it"/>
              <a:t>, </a:t>
            </a:r>
            <a:r>
              <a:rPr lang="it" b="1">
                <a:solidFill>
                  <a:srgbClr val="0B5394"/>
                </a:solidFill>
                <a:latin typeface="Consolas"/>
                <a:ea typeface="Consolas"/>
                <a:cs typeface="Consolas"/>
                <a:sym typeface="Consolas"/>
              </a:rPr>
              <a:t>for</a:t>
            </a:r>
            <a:r>
              <a:rPr lang="it"/>
              <a:t>, </a:t>
            </a:r>
            <a:r>
              <a:rPr lang="it" b="1">
                <a:solidFill>
                  <a:srgbClr val="0B5394"/>
                </a:solidFill>
                <a:latin typeface="Consolas"/>
                <a:ea typeface="Consolas"/>
                <a:cs typeface="Consolas"/>
                <a:sym typeface="Consolas"/>
              </a:rPr>
              <a:t>while</a:t>
            </a:r>
            <a:r>
              <a:rPr lang="it"/>
              <a:t>, and </a:t>
            </a:r>
            <a:r>
              <a:rPr lang="it" b="1">
                <a:solidFill>
                  <a:srgbClr val="0B5394"/>
                </a:solidFill>
                <a:latin typeface="Consolas"/>
                <a:ea typeface="Consolas"/>
                <a:cs typeface="Consolas"/>
                <a:sym typeface="Consolas"/>
              </a:rPr>
              <a:t>do</a:t>
            </a:r>
            <a:r>
              <a:rPr lang="it"/>
              <a:t>-</a:t>
            </a:r>
            <a:r>
              <a:rPr lang="it" b="1">
                <a:solidFill>
                  <a:srgbClr val="0B5394"/>
                </a:solidFill>
                <a:latin typeface="Consolas"/>
                <a:ea typeface="Consolas"/>
                <a:cs typeface="Consolas"/>
                <a:sym typeface="Consolas"/>
              </a:rPr>
              <a:t>while</a:t>
            </a:r>
            <a:r>
              <a:rPr lang="it"/>
              <a:t>)</a:t>
            </a:r>
            <a:endParaRPr/>
          </a:p>
          <a:p>
            <a:pPr marL="914400" lvl="1" indent="-330200" algn="l" rtl="0">
              <a:spcBef>
                <a:spcPts val="0"/>
              </a:spcBef>
              <a:spcAft>
                <a:spcPts val="0"/>
              </a:spcAft>
              <a:buSzPts val="1600"/>
              <a:buChar char="○"/>
            </a:pPr>
            <a:r>
              <a:rPr lang="it"/>
              <a:t>Loop control statements (</a:t>
            </a:r>
            <a:r>
              <a:rPr lang="it" b="1">
                <a:solidFill>
                  <a:srgbClr val="0B5394"/>
                </a:solidFill>
                <a:latin typeface="Consolas"/>
                <a:ea typeface="Consolas"/>
                <a:cs typeface="Consolas"/>
                <a:sym typeface="Consolas"/>
              </a:rPr>
              <a:t>break</a:t>
            </a:r>
            <a:r>
              <a:rPr lang="it"/>
              <a:t> and </a:t>
            </a:r>
            <a:r>
              <a:rPr lang="it" b="1">
                <a:solidFill>
                  <a:srgbClr val="0B5394"/>
                </a:solidFill>
                <a:latin typeface="Consolas"/>
                <a:ea typeface="Consolas"/>
                <a:cs typeface="Consolas"/>
                <a:sym typeface="Consolas"/>
              </a:rPr>
              <a:t>continue</a:t>
            </a:r>
            <a:r>
              <a:rPr lang="it"/>
              <a:t>)</a:t>
            </a:r>
            <a:endParaRPr/>
          </a:p>
          <a:p>
            <a:pPr marL="914400" lvl="1" indent="-330200" algn="l" rtl="0">
              <a:spcBef>
                <a:spcPts val="0"/>
              </a:spcBef>
              <a:spcAft>
                <a:spcPts val="0"/>
              </a:spcAft>
              <a:buSzPts val="1600"/>
              <a:buChar char="○"/>
            </a:pPr>
            <a:r>
              <a:rPr lang="it"/>
              <a:t>Exception handling statements (</a:t>
            </a:r>
            <a:r>
              <a:rPr lang="it" b="1">
                <a:solidFill>
                  <a:srgbClr val="0B5394"/>
                </a:solidFill>
                <a:latin typeface="Consolas"/>
                <a:ea typeface="Consolas"/>
                <a:cs typeface="Consolas"/>
                <a:sym typeface="Consolas"/>
              </a:rPr>
              <a:t>try</a:t>
            </a:r>
            <a:r>
              <a:rPr lang="it"/>
              <a:t>, </a:t>
            </a:r>
            <a:r>
              <a:rPr lang="it" b="1">
                <a:solidFill>
                  <a:srgbClr val="0B5394"/>
                </a:solidFill>
                <a:latin typeface="Consolas"/>
                <a:ea typeface="Consolas"/>
                <a:cs typeface="Consolas"/>
                <a:sym typeface="Consolas"/>
              </a:rPr>
              <a:t>catch</a:t>
            </a:r>
            <a:r>
              <a:rPr lang="it"/>
              <a:t>, and </a:t>
            </a:r>
            <a:r>
              <a:rPr lang="it" b="1">
                <a:solidFill>
                  <a:srgbClr val="0B5394"/>
                </a:solidFill>
                <a:latin typeface="Consolas"/>
                <a:ea typeface="Consolas"/>
                <a:cs typeface="Consolas"/>
                <a:sym typeface="Consolas"/>
              </a:rPr>
              <a:t>finally</a:t>
            </a:r>
            <a:r>
              <a:rPr lang="it"/>
              <a:t> blocks)</a:t>
            </a:r>
            <a:endParaRPr/>
          </a:p>
          <a:p>
            <a:pPr marL="914400" lvl="1" indent="-330200" algn="l" rtl="0">
              <a:spcBef>
                <a:spcPts val="0"/>
              </a:spcBef>
              <a:spcAft>
                <a:spcPts val="0"/>
              </a:spcAft>
              <a:buSzPts val="1600"/>
              <a:buChar char="○"/>
            </a:pPr>
            <a:r>
              <a:rPr lang="it"/>
              <a:t>Return statement (</a:t>
            </a:r>
            <a:r>
              <a:rPr lang="it" b="1">
                <a:solidFill>
                  <a:srgbClr val="0B5394"/>
                </a:solidFill>
                <a:latin typeface="Consolas"/>
                <a:ea typeface="Consolas"/>
                <a:cs typeface="Consolas"/>
                <a:sym typeface="Consolas"/>
              </a:rPr>
              <a:t>return</a:t>
            </a:r>
            <a:r>
              <a:rPr lang="it"/>
              <a:t>)</a:t>
            </a:r>
            <a:endParaRPr/>
          </a:p>
          <a:p>
            <a:pPr marL="914400" lvl="1" indent="-330200" algn="l" rtl="0">
              <a:spcBef>
                <a:spcPts val="0"/>
              </a:spcBef>
              <a:spcAft>
                <a:spcPts val="0"/>
              </a:spcAft>
              <a:buSzPts val="1600"/>
              <a:buChar char="○"/>
            </a:pPr>
            <a:r>
              <a:rPr lang="it"/>
              <a:t>Assertion statement (</a:t>
            </a:r>
            <a:r>
              <a:rPr lang="it" b="1">
                <a:solidFill>
                  <a:srgbClr val="0B5394"/>
                </a:solidFill>
                <a:latin typeface="Consolas"/>
                <a:ea typeface="Consolas"/>
                <a:cs typeface="Consolas"/>
                <a:sym typeface="Consolas"/>
              </a:rPr>
              <a:t>assert</a:t>
            </a:r>
            <a:r>
              <a:rPr lang="it"/>
              <a:t>)</a:t>
            </a:r>
            <a:endParaRPr/>
          </a:p>
          <a:p>
            <a:pPr marL="457200" lvl="0" indent="-355600" algn="l" rtl="0">
              <a:spcBef>
                <a:spcPts val="0"/>
              </a:spcBef>
              <a:spcAft>
                <a:spcPts val="0"/>
              </a:spcAft>
              <a:buSzPts val="2000"/>
              <a:buChar char="•"/>
            </a:pPr>
            <a:r>
              <a:rPr lang="it"/>
              <a:t>Most of them behave in similar way to the corresponding statements in Java, but there are some notable exceptions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2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it" sz="2820"/>
              <a:t>Control statements</a:t>
            </a:r>
            <a:endParaRPr sz="2820"/>
          </a:p>
        </p:txBody>
      </p:sp>
      <p:sp>
        <p:nvSpPr>
          <p:cNvPr id="220" name="Google Shape;220;p24"/>
          <p:cNvSpPr txBox="1">
            <a:spLocks noGrp="1"/>
          </p:cNvSpPr>
          <p:nvPr>
            <p:ph type="sldNum" idx="12"/>
          </p:nvPr>
        </p:nvSpPr>
        <p:spPr>
          <a:xfrm>
            <a:off x="8472458" y="476850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it"/>
              <a:t>18</a:t>
            </a:fld>
            <a:endParaRPr/>
          </a:p>
        </p:txBody>
      </p:sp>
      <p:sp>
        <p:nvSpPr>
          <p:cNvPr id="221" name="Google Shape;221;p24"/>
          <p:cNvSpPr txBox="1">
            <a:spLocks noGrp="1"/>
          </p:cNvSpPr>
          <p:nvPr>
            <p:ph type="body" idx="1"/>
          </p:nvPr>
        </p:nvSpPr>
        <p:spPr>
          <a:xfrm>
            <a:off x="311150" y="1244204"/>
            <a:ext cx="8521800" cy="3393300"/>
          </a:xfrm>
          <a:prstGeom prst="rect">
            <a:avLst/>
          </a:prstGeom>
        </p:spPr>
        <p:txBody>
          <a:bodyPr spcFirstLastPara="1" wrap="square" lIns="91425" tIns="45700" rIns="91425" bIns="45700" anchor="t" anchorCtr="0">
            <a:normAutofit/>
          </a:bodyPr>
          <a:lstStyle/>
          <a:p>
            <a:pPr marL="457200" lvl="0" indent="-355600" algn="l" rtl="0">
              <a:spcBef>
                <a:spcPts val="600"/>
              </a:spcBef>
              <a:spcAft>
                <a:spcPts val="0"/>
              </a:spcAft>
              <a:buSzPts val="2000"/>
              <a:buChar char="•"/>
            </a:pPr>
            <a:r>
              <a:rPr lang="it"/>
              <a:t>The </a:t>
            </a:r>
            <a:r>
              <a:rPr lang="it" b="1">
                <a:solidFill>
                  <a:srgbClr val="0B5394"/>
                </a:solidFill>
                <a:latin typeface="Consolas"/>
                <a:ea typeface="Consolas"/>
                <a:cs typeface="Consolas"/>
                <a:sym typeface="Consolas"/>
              </a:rPr>
              <a:t>if</a:t>
            </a:r>
            <a:r>
              <a:rPr lang="it"/>
              <a:t> clause is an expression: each branch returns a value</a:t>
            </a:r>
            <a:endParaRPr/>
          </a:p>
          <a:p>
            <a:pPr marL="914400" lvl="1" indent="-330200" algn="l" rtl="0">
              <a:spcBef>
                <a:spcPts val="0"/>
              </a:spcBef>
              <a:spcAft>
                <a:spcPts val="0"/>
              </a:spcAft>
              <a:buSzPts val="1600"/>
              <a:buFont typeface="Calibri"/>
              <a:buChar char="○"/>
            </a:pPr>
            <a:r>
              <a:rPr lang="it" b="1">
                <a:solidFill>
                  <a:srgbClr val="0B5394"/>
                </a:solidFill>
                <a:latin typeface="Consolas"/>
                <a:ea typeface="Consolas"/>
                <a:cs typeface="Consolas"/>
                <a:sym typeface="Consolas"/>
              </a:rPr>
              <a:t>val max1 = if (a &gt; b) a else b</a:t>
            </a:r>
            <a:r>
              <a:rPr lang="it"/>
              <a:t> </a:t>
            </a:r>
            <a:endParaRPr b="1">
              <a:latin typeface="Calibri"/>
              <a:ea typeface="Calibri"/>
              <a:cs typeface="Calibri"/>
              <a:sym typeface="Calibri"/>
            </a:endParaRPr>
          </a:p>
          <a:p>
            <a:pPr marL="457200" lvl="0" indent="-355600" algn="l" rtl="0">
              <a:spcBef>
                <a:spcPts val="0"/>
              </a:spcBef>
              <a:spcAft>
                <a:spcPts val="0"/>
              </a:spcAft>
              <a:buSzPts val="2000"/>
              <a:buChar char="•"/>
            </a:pPr>
            <a:r>
              <a:rPr lang="it"/>
              <a:t>If a branch contains a block, the last value of the block is returned</a:t>
            </a:r>
            <a:endParaRPr/>
          </a:p>
          <a:p>
            <a:pPr marL="914400" lvl="1" indent="-330200" algn="l" rtl="0">
              <a:spcBef>
                <a:spcPts val="0"/>
              </a:spcBef>
              <a:spcAft>
                <a:spcPts val="0"/>
              </a:spcAft>
              <a:buSzPts val="1600"/>
              <a:buFont typeface="Calibri"/>
              <a:buChar char="○"/>
            </a:pPr>
            <a:r>
              <a:rPr lang="it" b="1">
                <a:solidFill>
                  <a:srgbClr val="0B5394"/>
                </a:solidFill>
                <a:latin typeface="Consolas"/>
                <a:ea typeface="Consolas"/>
                <a:cs typeface="Consolas"/>
                <a:sym typeface="Consolas"/>
              </a:rPr>
              <a:t>val max1 = if (a &gt; b) { println(a); a } else { println(b); b }</a:t>
            </a:r>
            <a:r>
              <a:rPr lang="it"/>
              <a:t>  </a:t>
            </a:r>
            <a:endParaRPr/>
          </a:p>
          <a:p>
            <a:pPr marL="457200" lvl="0" indent="-355600" algn="l" rtl="0">
              <a:spcBef>
                <a:spcPts val="0"/>
              </a:spcBef>
              <a:spcAft>
                <a:spcPts val="0"/>
              </a:spcAft>
              <a:buSzPts val="2000"/>
              <a:buChar char="•"/>
            </a:pPr>
            <a:r>
              <a:rPr lang="it"/>
              <a:t>The </a:t>
            </a:r>
            <a:r>
              <a:rPr lang="it" b="1">
                <a:solidFill>
                  <a:srgbClr val="0B5394"/>
                </a:solidFill>
                <a:latin typeface="Consolas"/>
                <a:ea typeface="Consolas"/>
                <a:cs typeface="Consolas"/>
                <a:sym typeface="Consolas"/>
              </a:rPr>
              <a:t>when</a:t>
            </a:r>
            <a:r>
              <a:rPr lang="it"/>
              <a:t> clause replaces the </a:t>
            </a:r>
            <a:r>
              <a:rPr lang="it" b="1" i="1">
                <a:solidFill>
                  <a:srgbClr val="0B5394"/>
                </a:solidFill>
                <a:latin typeface="Consolas"/>
                <a:ea typeface="Consolas"/>
                <a:cs typeface="Consolas"/>
                <a:sym typeface="Consolas"/>
              </a:rPr>
              <a:t>switch</a:t>
            </a:r>
            <a:r>
              <a:rPr lang="it"/>
              <a:t> construct of Java</a:t>
            </a:r>
            <a:endParaRPr/>
          </a:p>
          <a:p>
            <a:pPr marL="914400" lvl="1" indent="-330200" algn="l" rtl="0">
              <a:spcBef>
                <a:spcPts val="0"/>
              </a:spcBef>
              <a:spcAft>
                <a:spcPts val="0"/>
              </a:spcAft>
              <a:buSzPts val="1600"/>
              <a:buFont typeface="Calibri"/>
              <a:buChar char="○"/>
            </a:pPr>
            <a:r>
              <a:rPr lang="it">
                <a:latin typeface="Calibri"/>
                <a:ea typeface="Calibri"/>
                <a:cs typeface="Calibri"/>
                <a:sym typeface="Calibri"/>
              </a:rPr>
              <a:t>The compiler forces to control all possible </a:t>
            </a:r>
            <a:r>
              <a:rPr lang="it"/>
              <a:t>alternatives</a:t>
            </a:r>
            <a:endParaRPr/>
          </a:p>
          <a:p>
            <a:pPr marL="914400" lvl="1" indent="-330200" algn="l" rtl="0">
              <a:spcBef>
                <a:spcPts val="0"/>
              </a:spcBef>
              <a:spcAft>
                <a:spcPts val="0"/>
              </a:spcAft>
              <a:buSzPts val="1600"/>
              <a:buFont typeface="Calibri"/>
              <a:buChar char="○"/>
            </a:pPr>
            <a:r>
              <a:rPr lang="it"/>
              <a:t>It can also be used with ranges, collections, and other types of expressions</a:t>
            </a:r>
            <a:endParaRPr/>
          </a:p>
          <a:p>
            <a:pPr marL="914400" lvl="1" indent="-330200" algn="l" rtl="0">
              <a:spcBef>
                <a:spcPts val="0"/>
              </a:spcBef>
              <a:spcAft>
                <a:spcPts val="0"/>
              </a:spcAft>
              <a:buSzPts val="1600"/>
              <a:buFont typeface="Calibri"/>
              <a:buChar char="○"/>
            </a:pPr>
            <a:r>
              <a:rPr lang="it"/>
              <a:t>It is also possible to write it without an argument to match against arbitrary conditions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2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it" sz="2820"/>
              <a:t>Control statements</a:t>
            </a:r>
            <a:endParaRPr sz="2820"/>
          </a:p>
        </p:txBody>
      </p:sp>
      <p:sp>
        <p:nvSpPr>
          <p:cNvPr id="227" name="Google Shape;227;p25"/>
          <p:cNvSpPr txBox="1">
            <a:spLocks noGrp="1"/>
          </p:cNvSpPr>
          <p:nvPr>
            <p:ph type="sldNum" idx="12"/>
          </p:nvPr>
        </p:nvSpPr>
        <p:spPr>
          <a:xfrm>
            <a:off x="8472458" y="476850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it"/>
              <a:t>19</a:t>
            </a:fld>
            <a:endParaRPr/>
          </a:p>
        </p:txBody>
      </p:sp>
      <p:sp>
        <p:nvSpPr>
          <p:cNvPr id="228" name="Google Shape;228;p25"/>
          <p:cNvSpPr txBox="1"/>
          <p:nvPr/>
        </p:nvSpPr>
        <p:spPr>
          <a:xfrm>
            <a:off x="335100" y="1130875"/>
            <a:ext cx="4112100" cy="3417000"/>
          </a:xfrm>
          <a:prstGeom prst="rect">
            <a:avLst/>
          </a:prstGeom>
          <a:solidFill>
            <a:srgbClr val="FFF2CC"/>
          </a:solidFill>
          <a:ln w="9525" cap="flat" cmpd="sng">
            <a:solidFill>
              <a:schemeClr val="dk1"/>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t" anchorCtr="0">
            <a:spAutoFit/>
          </a:bodyPr>
          <a:lstStyle/>
          <a:p>
            <a:pPr marL="0" lvl="0" indent="0" algn="l" rtl="0">
              <a:spcBef>
                <a:spcPts val="0"/>
              </a:spcBef>
              <a:spcAft>
                <a:spcPts val="0"/>
              </a:spcAft>
              <a:buNone/>
            </a:pPr>
            <a:r>
              <a:rPr lang="it">
                <a:latin typeface="Consolas"/>
                <a:ea typeface="Consolas"/>
                <a:cs typeface="Consolas"/>
                <a:sym typeface="Consolas"/>
              </a:rPr>
              <a:t>fun describeNumber(num: Int): String {</a:t>
            </a:r>
            <a:endParaRPr>
              <a:latin typeface="Consolas"/>
              <a:ea typeface="Consolas"/>
              <a:cs typeface="Consolas"/>
              <a:sym typeface="Consolas"/>
            </a:endParaRPr>
          </a:p>
          <a:p>
            <a:pPr marL="0" lvl="0" indent="0" algn="l" rtl="0">
              <a:spcBef>
                <a:spcPts val="0"/>
              </a:spcBef>
              <a:spcAft>
                <a:spcPts val="0"/>
              </a:spcAft>
              <a:buNone/>
            </a:pPr>
            <a:r>
              <a:rPr lang="it">
                <a:latin typeface="Consolas"/>
                <a:ea typeface="Consolas"/>
                <a:cs typeface="Consolas"/>
                <a:sym typeface="Consolas"/>
              </a:rPr>
              <a:t>    return </a:t>
            </a:r>
            <a:r>
              <a:rPr lang="it" b="1">
                <a:solidFill>
                  <a:srgbClr val="0B5394"/>
                </a:solidFill>
                <a:latin typeface="Consolas"/>
                <a:ea typeface="Consolas"/>
                <a:cs typeface="Consolas"/>
                <a:sym typeface="Consolas"/>
              </a:rPr>
              <a:t>when (num)</a:t>
            </a:r>
            <a:r>
              <a:rPr lang="it">
                <a:latin typeface="Consolas"/>
                <a:ea typeface="Consolas"/>
                <a:cs typeface="Consolas"/>
                <a:sym typeface="Consolas"/>
              </a:rPr>
              <a:t> {</a:t>
            </a:r>
            <a:endParaRPr>
              <a:latin typeface="Consolas"/>
              <a:ea typeface="Consolas"/>
              <a:cs typeface="Consolas"/>
              <a:sym typeface="Consolas"/>
            </a:endParaRPr>
          </a:p>
          <a:p>
            <a:pPr marL="0" lvl="0" indent="0" algn="l" rtl="0">
              <a:spcBef>
                <a:spcPts val="0"/>
              </a:spcBef>
              <a:spcAft>
                <a:spcPts val="0"/>
              </a:spcAft>
              <a:buNone/>
            </a:pPr>
            <a:r>
              <a:rPr lang="it">
                <a:latin typeface="Consolas"/>
                <a:ea typeface="Consolas"/>
                <a:cs typeface="Consolas"/>
                <a:sym typeface="Consolas"/>
              </a:rPr>
              <a:t>        0 -&gt; "Zero"</a:t>
            </a:r>
            <a:endParaRPr>
              <a:latin typeface="Consolas"/>
              <a:ea typeface="Consolas"/>
              <a:cs typeface="Consolas"/>
              <a:sym typeface="Consolas"/>
            </a:endParaRPr>
          </a:p>
          <a:p>
            <a:pPr marL="0" lvl="0" indent="0" algn="l" rtl="0">
              <a:spcBef>
                <a:spcPts val="0"/>
              </a:spcBef>
              <a:spcAft>
                <a:spcPts val="0"/>
              </a:spcAft>
              <a:buNone/>
            </a:pPr>
            <a:r>
              <a:rPr lang="it">
                <a:latin typeface="Consolas"/>
                <a:ea typeface="Consolas"/>
                <a:cs typeface="Consolas"/>
                <a:sym typeface="Consolas"/>
              </a:rPr>
              <a:t>        1 -&gt; "One"</a:t>
            </a:r>
            <a:endParaRPr>
              <a:latin typeface="Consolas"/>
              <a:ea typeface="Consolas"/>
              <a:cs typeface="Consolas"/>
              <a:sym typeface="Consolas"/>
            </a:endParaRPr>
          </a:p>
          <a:p>
            <a:pPr marL="0" lvl="0" indent="0" algn="l" rtl="0">
              <a:spcBef>
                <a:spcPts val="0"/>
              </a:spcBef>
              <a:spcAft>
                <a:spcPts val="0"/>
              </a:spcAft>
              <a:buNone/>
            </a:pPr>
            <a:r>
              <a:rPr lang="it">
                <a:latin typeface="Consolas"/>
                <a:ea typeface="Consolas"/>
                <a:cs typeface="Consolas"/>
                <a:sym typeface="Consolas"/>
              </a:rPr>
              <a:t>        2 -&gt; "Two"</a:t>
            </a:r>
            <a:endParaRPr>
              <a:latin typeface="Consolas"/>
              <a:ea typeface="Consolas"/>
              <a:cs typeface="Consolas"/>
              <a:sym typeface="Consolas"/>
            </a:endParaRPr>
          </a:p>
          <a:p>
            <a:pPr marL="0" lvl="0" indent="0" algn="l" rtl="0">
              <a:spcBef>
                <a:spcPts val="0"/>
              </a:spcBef>
              <a:spcAft>
                <a:spcPts val="0"/>
              </a:spcAft>
              <a:buNone/>
            </a:pPr>
            <a:r>
              <a:rPr lang="it">
                <a:latin typeface="Consolas"/>
                <a:ea typeface="Consolas"/>
                <a:cs typeface="Consolas"/>
                <a:sym typeface="Consolas"/>
              </a:rPr>
              <a:t>        else -&gt; "Other" //mandatory!</a:t>
            </a:r>
            <a:endParaRPr>
              <a:latin typeface="Consolas"/>
              <a:ea typeface="Consolas"/>
              <a:cs typeface="Consolas"/>
              <a:sym typeface="Consolas"/>
            </a:endParaRPr>
          </a:p>
          <a:p>
            <a:pPr marL="0" lvl="0" indent="0" algn="l" rtl="0">
              <a:spcBef>
                <a:spcPts val="0"/>
              </a:spcBef>
              <a:spcAft>
                <a:spcPts val="0"/>
              </a:spcAft>
              <a:buNone/>
            </a:pPr>
            <a:r>
              <a:rPr lang="it">
                <a:latin typeface="Consolas"/>
                <a:ea typeface="Consolas"/>
                <a:cs typeface="Consolas"/>
                <a:sym typeface="Consolas"/>
              </a:rPr>
              <a:t>    }</a:t>
            </a:r>
            <a:endParaRPr>
              <a:latin typeface="Consolas"/>
              <a:ea typeface="Consolas"/>
              <a:cs typeface="Consolas"/>
              <a:sym typeface="Consolas"/>
            </a:endParaRPr>
          </a:p>
          <a:p>
            <a:pPr marL="0" lvl="0" indent="0" algn="l" rtl="0">
              <a:spcBef>
                <a:spcPts val="0"/>
              </a:spcBef>
              <a:spcAft>
                <a:spcPts val="0"/>
              </a:spcAft>
              <a:buNone/>
            </a:pPr>
            <a:r>
              <a:rPr lang="it">
                <a:latin typeface="Consolas"/>
                <a:ea typeface="Consolas"/>
                <a:cs typeface="Consolas"/>
                <a:sym typeface="Consolas"/>
              </a:rPr>
              <a:t>}</a:t>
            </a:r>
            <a:endParaRPr>
              <a:latin typeface="Consolas"/>
              <a:ea typeface="Consolas"/>
              <a:cs typeface="Consolas"/>
              <a:sym typeface="Consolas"/>
            </a:endParaRPr>
          </a:p>
          <a:p>
            <a:pPr marL="0" lvl="0" indent="0" algn="l" rtl="0">
              <a:spcBef>
                <a:spcPts val="0"/>
              </a:spcBef>
              <a:spcAft>
                <a:spcPts val="0"/>
              </a:spcAft>
              <a:buNone/>
            </a:pPr>
            <a:endParaRPr>
              <a:latin typeface="Consolas"/>
              <a:ea typeface="Consolas"/>
              <a:cs typeface="Consolas"/>
              <a:sym typeface="Consolas"/>
            </a:endParaRPr>
          </a:p>
          <a:p>
            <a:pPr marL="0" lvl="0" indent="0" algn="l" rtl="0">
              <a:spcBef>
                <a:spcPts val="0"/>
              </a:spcBef>
              <a:spcAft>
                <a:spcPts val="0"/>
              </a:spcAft>
              <a:buNone/>
            </a:pPr>
            <a:r>
              <a:rPr lang="it">
                <a:latin typeface="Consolas"/>
                <a:ea typeface="Consolas"/>
                <a:cs typeface="Consolas"/>
                <a:sym typeface="Consolas"/>
              </a:rPr>
              <a:t>println(describeNumber(1)) // → "One"</a:t>
            </a:r>
            <a:endParaRPr>
              <a:latin typeface="Consolas"/>
              <a:ea typeface="Consolas"/>
              <a:cs typeface="Consolas"/>
              <a:sym typeface="Consolas"/>
            </a:endParaRPr>
          </a:p>
          <a:p>
            <a:pPr marL="0" lvl="0" indent="0" algn="l" rtl="0">
              <a:spcBef>
                <a:spcPts val="0"/>
              </a:spcBef>
              <a:spcAft>
                <a:spcPts val="0"/>
              </a:spcAft>
              <a:buClr>
                <a:schemeClr val="dk1"/>
              </a:buClr>
              <a:buSzPts val="1100"/>
              <a:buFont typeface="Arial"/>
              <a:buNone/>
            </a:pPr>
            <a:r>
              <a:rPr lang="it">
                <a:solidFill>
                  <a:schemeClr val="dk1"/>
                </a:solidFill>
                <a:latin typeface="Consolas"/>
                <a:ea typeface="Consolas"/>
                <a:cs typeface="Consolas"/>
                <a:sym typeface="Consolas"/>
              </a:rPr>
              <a:t>println(describeNumber(7)) // → "Other"</a:t>
            </a:r>
            <a:endParaRPr>
              <a:solidFill>
                <a:schemeClr val="dk1"/>
              </a:solidFill>
              <a:latin typeface="Consolas"/>
              <a:ea typeface="Consolas"/>
              <a:cs typeface="Consolas"/>
              <a:sym typeface="Consolas"/>
            </a:endParaRPr>
          </a:p>
          <a:p>
            <a:pPr marL="0" lvl="0" indent="0" algn="l" rtl="0">
              <a:spcBef>
                <a:spcPts val="0"/>
              </a:spcBef>
              <a:spcAft>
                <a:spcPts val="0"/>
              </a:spcAft>
              <a:buNone/>
            </a:pPr>
            <a:endParaRPr>
              <a:latin typeface="Consolas"/>
              <a:ea typeface="Consolas"/>
              <a:cs typeface="Consolas"/>
              <a:sym typeface="Consolas"/>
            </a:endParaRPr>
          </a:p>
          <a:p>
            <a:pPr marL="0" lvl="0" indent="0" algn="l" rtl="0">
              <a:spcBef>
                <a:spcPts val="0"/>
              </a:spcBef>
              <a:spcAft>
                <a:spcPts val="0"/>
              </a:spcAft>
              <a:buNone/>
            </a:pPr>
            <a:endParaRPr>
              <a:latin typeface="Consolas"/>
              <a:ea typeface="Consolas"/>
              <a:cs typeface="Consolas"/>
              <a:sym typeface="Consolas"/>
            </a:endParaRPr>
          </a:p>
          <a:p>
            <a:pPr marL="0" lvl="0" indent="0" algn="l" rtl="0">
              <a:spcBef>
                <a:spcPts val="0"/>
              </a:spcBef>
              <a:spcAft>
                <a:spcPts val="0"/>
              </a:spcAft>
              <a:buNone/>
            </a:pPr>
            <a:endParaRPr>
              <a:latin typeface="Consolas"/>
              <a:ea typeface="Consolas"/>
              <a:cs typeface="Consolas"/>
              <a:sym typeface="Consolas"/>
            </a:endParaRPr>
          </a:p>
          <a:p>
            <a:pPr marL="0" lvl="0" indent="0" algn="l" rtl="0">
              <a:spcBef>
                <a:spcPts val="0"/>
              </a:spcBef>
              <a:spcAft>
                <a:spcPts val="0"/>
              </a:spcAft>
              <a:buNone/>
            </a:pPr>
            <a:endParaRPr>
              <a:latin typeface="Consolas"/>
              <a:ea typeface="Consolas"/>
              <a:cs typeface="Consolas"/>
              <a:sym typeface="Consolas"/>
            </a:endParaRPr>
          </a:p>
        </p:txBody>
      </p:sp>
      <p:sp>
        <p:nvSpPr>
          <p:cNvPr id="229" name="Google Shape;229;p25"/>
          <p:cNvSpPr txBox="1"/>
          <p:nvPr/>
        </p:nvSpPr>
        <p:spPr>
          <a:xfrm>
            <a:off x="4720200" y="1130875"/>
            <a:ext cx="4112100" cy="3417000"/>
          </a:xfrm>
          <a:prstGeom prst="rect">
            <a:avLst/>
          </a:prstGeom>
          <a:solidFill>
            <a:srgbClr val="FFF2CC"/>
          </a:solidFill>
          <a:ln w="9525" cap="flat" cmpd="sng">
            <a:solidFill>
              <a:schemeClr val="dk1"/>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t" anchorCtr="0">
            <a:spAutoFit/>
          </a:bodyPr>
          <a:lstStyle/>
          <a:p>
            <a:pPr marL="0" lvl="0" indent="0" algn="l" rtl="0">
              <a:spcBef>
                <a:spcPts val="0"/>
              </a:spcBef>
              <a:spcAft>
                <a:spcPts val="0"/>
              </a:spcAft>
              <a:buNone/>
            </a:pPr>
            <a:r>
              <a:rPr lang="it">
                <a:latin typeface="Consolas"/>
                <a:ea typeface="Consolas"/>
                <a:cs typeface="Consolas"/>
                <a:sym typeface="Consolas"/>
              </a:rPr>
              <a:t>fun describe(obj: Any): String =</a:t>
            </a:r>
            <a:endParaRPr>
              <a:latin typeface="Consolas"/>
              <a:ea typeface="Consolas"/>
              <a:cs typeface="Consolas"/>
              <a:sym typeface="Consolas"/>
            </a:endParaRPr>
          </a:p>
          <a:p>
            <a:pPr marL="0" lvl="0" indent="0" algn="l" rtl="0">
              <a:spcBef>
                <a:spcPts val="0"/>
              </a:spcBef>
              <a:spcAft>
                <a:spcPts val="0"/>
              </a:spcAft>
              <a:buNone/>
            </a:pPr>
            <a:r>
              <a:rPr lang="it">
                <a:latin typeface="Consolas"/>
                <a:ea typeface="Consolas"/>
                <a:cs typeface="Consolas"/>
                <a:sym typeface="Consolas"/>
              </a:rPr>
              <a:t>  </a:t>
            </a:r>
            <a:r>
              <a:rPr lang="it" b="1">
                <a:solidFill>
                  <a:srgbClr val="0B5394"/>
                </a:solidFill>
                <a:latin typeface="Consolas"/>
                <a:ea typeface="Consolas"/>
                <a:cs typeface="Consolas"/>
                <a:sym typeface="Consolas"/>
              </a:rPr>
              <a:t>when</a:t>
            </a:r>
            <a:r>
              <a:rPr lang="it">
                <a:latin typeface="Consolas"/>
                <a:ea typeface="Consolas"/>
                <a:cs typeface="Consolas"/>
                <a:sym typeface="Consolas"/>
              </a:rPr>
              <a:t> {</a:t>
            </a:r>
            <a:endParaRPr>
              <a:latin typeface="Consolas"/>
              <a:ea typeface="Consolas"/>
              <a:cs typeface="Consolas"/>
              <a:sym typeface="Consolas"/>
            </a:endParaRPr>
          </a:p>
          <a:p>
            <a:pPr marL="0" lvl="0" indent="0" algn="l" rtl="0">
              <a:spcBef>
                <a:spcPts val="0"/>
              </a:spcBef>
              <a:spcAft>
                <a:spcPts val="0"/>
              </a:spcAft>
              <a:buNone/>
            </a:pPr>
            <a:r>
              <a:rPr lang="it">
                <a:latin typeface="Consolas"/>
                <a:ea typeface="Consolas"/>
                <a:cs typeface="Consolas"/>
                <a:sym typeface="Consolas"/>
              </a:rPr>
              <a:t>    obj is String &amp;&amp; obj.length &lt; 10 -&gt;   </a:t>
            </a:r>
            <a:endParaRPr>
              <a:latin typeface="Consolas"/>
              <a:ea typeface="Consolas"/>
              <a:cs typeface="Consolas"/>
              <a:sym typeface="Consolas"/>
            </a:endParaRPr>
          </a:p>
          <a:p>
            <a:pPr marL="0" lvl="0" indent="0" algn="l" rtl="0">
              <a:spcBef>
                <a:spcPts val="0"/>
              </a:spcBef>
              <a:spcAft>
                <a:spcPts val="0"/>
              </a:spcAft>
              <a:buNone/>
            </a:pPr>
            <a:r>
              <a:rPr lang="it">
                <a:latin typeface="Consolas"/>
                <a:ea typeface="Consolas"/>
                <a:cs typeface="Consolas"/>
                <a:sym typeface="Consolas"/>
              </a:rPr>
              <a:t>                  "Short string"</a:t>
            </a:r>
            <a:endParaRPr>
              <a:latin typeface="Consolas"/>
              <a:ea typeface="Consolas"/>
              <a:cs typeface="Consolas"/>
              <a:sym typeface="Consolas"/>
            </a:endParaRPr>
          </a:p>
          <a:p>
            <a:pPr marL="0" lvl="0" indent="0" algn="l" rtl="0">
              <a:spcBef>
                <a:spcPts val="0"/>
              </a:spcBef>
              <a:spcAft>
                <a:spcPts val="0"/>
              </a:spcAft>
              <a:buNone/>
            </a:pPr>
            <a:r>
              <a:rPr lang="it">
                <a:latin typeface="Consolas"/>
                <a:ea typeface="Consolas"/>
                <a:cs typeface="Consolas"/>
                <a:sym typeface="Consolas"/>
              </a:rPr>
              <a:t>    obj is String &amp;&amp; obj.length &gt;= 10 -&gt; </a:t>
            </a:r>
            <a:endParaRPr>
              <a:latin typeface="Consolas"/>
              <a:ea typeface="Consolas"/>
              <a:cs typeface="Consolas"/>
              <a:sym typeface="Consolas"/>
            </a:endParaRPr>
          </a:p>
          <a:p>
            <a:pPr marL="0" lvl="0" indent="0" algn="l" rtl="0">
              <a:spcBef>
                <a:spcPts val="0"/>
              </a:spcBef>
              <a:spcAft>
                <a:spcPts val="0"/>
              </a:spcAft>
              <a:buNone/>
            </a:pPr>
            <a:r>
              <a:rPr lang="it">
                <a:latin typeface="Consolas"/>
                <a:ea typeface="Consolas"/>
                <a:cs typeface="Consolas"/>
                <a:sym typeface="Consolas"/>
              </a:rPr>
              <a:t>                  "Long string"</a:t>
            </a:r>
            <a:endParaRPr>
              <a:latin typeface="Consolas"/>
              <a:ea typeface="Consolas"/>
              <a:cs typeface="Consolas"/>
              <a:sym typeface="Consolas"/>
            </a:endParaRPr>
          </a:p>
          <a:p>
            <a:pPr marL="0" lvl="0" indent="0" algn="l" rtl="0">
              <a:spcBef>
                <a:spcPts val="0"/>
              </a:spcBef>
              <a:spcAft>
                <a:spcPts val="0"/>
              </a:spcAft>
              <a:buNone/>
            </a:pPr>
            <a:r>
              <a:rPr lang="it">
                <a:latin typeface="Consolas"/>
                <a:ea typeface="Consolas"/>
                <a:cs typeface="Consolas"/>
                <a:sym typeface="Consolas"/>
              </a:rPr>
              <a:t>    obj is List&lt;*&gt; -&gt; </a:t>
            </a:r>
            <a:br>
              <a:rPr lang="it">
                <a:latin typeface="Consolas"/>
                <a:ea typeface="Consolas"/>
                <a:cs typeface="Consolas"/>
                <a:sym typeface="Consolas"/>
              </a:rPr>
            </a:br>
            <a:r>
              <a:rPr lang="it">
                <a:latin typeface="Consolas"/>
                <a:ea typeface="Consolas"/>
                <a:cs typeface="Consolas"/>
                <a:sym typeface="Consolas"/>
              </a:rPr>
              <a:t>                  "List (${obj.size})"</a:t>
            </a:r>
            <a:endParaRPr>
              <a:latin typeface="Consolas"/>
              <a:ea typeface="Consolas"/>
              <a:cs typeface="Consolas"/>
              <a:sym typeface="Consolas"/>
            </a:endParaRPr>
          </a:p>
          <a:p>
            <a:pPr marL="0" lvl="0" indent="0" algn="l" rtl="0">
              <a:spcBef>
                <a:spcPts val="0"/>
              </a:spcBef>
              <a:spcAft>
                <a:spcPts val="0"/>
              </a:spcAft>
              <a:buNone/>
            </a:pPr>
            <a:r>
              <a:rPr lang="it">
                <a:latin typeface="Consolas"/>
                <a:ea typeface="Consolas"/>
                <a:cs typeface="Consolas"/>
                <a:sym typeface="Consolas"/>
              </a:rPr>
              <a:t>    else -&gt; "Other"</a:t>
            </a:r>
            <a:endParaRPr>
              <a:latin typeface="Consolas"/>
              <a:ea typeface="Consolas"/>
              <a:cs typeface="Consolas"/>
              <a:sym typeface="Consolas"/>
            </a:endParaRPr>
          </a:p>
          <a:p>
            <a:pPr marL="0" lvl="0" indent="0" algn="l" rtl="0">
              <a:spcBef>
                <a:spcPts val="0"/>
              </a:spcBef>
              <a:spcAft>
                <a:spcPts val="0"/>
              </a:spcAft>
              <a:buNone/>
            </a:pPr>
            <a:r>
              <a:rPr lang="it">
                <a:latin typeface="Consolas"/>
                <a:ea typeface="Consolas"/>
                <a:cs typeface="Consolas"/>
                <a:sym typeface="Consolas"/>
              </a:rPr>
              <a:t>  }</a:t>
            </a:r>
            <a:endParaRPr>
              <a:latin typeface="Consolas"/>
              <a:ea typeface="Consolas"/>
              <a:cs typeface="Consolas"/>
              <a:sym typeface="Consolas"/>
            </a:endParaRPr>
          </a:p>
          <a:p>
            <a:pPr marL="0" lvl="0" indent="0" algn="l" rtl="0">
              <a:spcBef>
                <a:spcPts val="0"/>
              </a:spcBef>
              <a:spcAft>
                <a:spcPts val="0"/>
              </a:spcAft>
              <a:buNone/>
            </a:pPr>
            <a:endParaRPr>
              <a:latin typeface="Consolas"/>
              <a:ea typeface="Consolas"/>
              <a:cs typeface="Consolas"/>
              <a:sym typeface="Consolas"/>
            </a:endParaRPr>
          </a:p>
          <a:p>
            <a:pPr marL="0" lvl="0" indent="0" algn="l" rtl="0">
              <a:spcBef>
                <a:spcPts val="0"/>
              </a:spcBef>
              <a:spcAft>
                <a:spcPts val="0"/>
              </a:spcAft>
              <a:buNone/>
            </a:pPr>
            <a:r>
              <a:rPr lang="it">
                <a:latin typeface="Consolas"/>
                <a:ea typeface="Consolas"/>
                <a:cs typeface="Consolas"/>
                <a:sym typeface="Consolas"/>
              </a:rPr>
              <a:t>println(describeLength("Hello")) </a:t>
            </a:r>
            <a:endParaRPr>
              <a:latin typeface="Consolas"/>
              <a:ea typeface="Consolas"/>
              <a:cs typeface="Consolas"/>
              <a:sym typeface="Consolas"/>
            </a:endParaRPr>
          </a:p>
          <a:p>
            <a:pPr marL="0" lvl="0" indent="0" algn="l" rtl="0">
              <a:spcBef>
                <a:spcPts val="0"/>
              </a:spcBef>
              <a:spcAft>
                <a:spcPts val="0"/>
              </a:spcAft>
              <a:buNone/>
            </a:pPr>
            <a:r>
              <a:rPr lang="it">
                <a:latin typeface="Consolas"/>
                <a:ea typeface="Consolas"/>
                <a:cs typeface="Consolas"/>
                <a:sym typeface="Consolas"/>
              </a:rPr>
              <a:t>// → "Short string"</a:t>
            </a:r>
            <a:endParaRPr>
              <a:latin typeface="Consolas"/>
              <a:ea typeface="Consolas"/>
              <a:cs typeface="Consolas"/>
              <a:sym typeface="Consolas"/>
            </a:endParaRPr>
          </a:p>
          <a:p>
            <a:pPr marL="0" lvl="0" indent="0" algn="l" rtl="0">
              <a:spcBef>
                <a:spcPts val="0"/>
              </a:spcBef>
              <a:spcAft>
                <a:spcPts val="0"/>
              </a:spcAft>
              <a:buNone/>
            </a:pPr>
            <a:r>
              <a:rPr lang="it">
                <a:solidFill>
                  <a:schemeClr val="dk1"/>
                </a:solidFill>
                <a:latin typeface="Consolas"/>
                <a:ea typeface="Consolas"/>
                <a:cs typeface="Consolas"/>
                <a:sym typeface="Consolas"/>
              </a:rPr>
              <a:t>println(describeLength(listOf(1,2))) </a:t>
            </a:r>
            <a:endParaRPr>
              <a:solidFill>
                <a:schemeClr val="dk1"/>
              </a:solidFill>
              <a:latin typeface="Consolas"/>
              <a:ea typeface="Consolas"/>
              <a:cs typeface="Consolas"/>
              <a:sym typeface="Consolas"/>
            </a:endParaRPr>
          </a:p>
          <a:p>
            <a:pPr marL="0" lvl="0" indent="0" algn="l" rtl="0">
              <a:spcBef>
                <a:spcPts val="0"/>
              </a:spcBef>
              <a:spcAft>
                <a:spcPts val="0"/>
              </a:spcAft>
              <a:buNone/>
            </a:pPr>
            <a:r>
              <a:rPr lang="it">
                <a:solidFill>
                  <a:schemeClr val="dk1"/>
                </a:solidFill>
                <a:latin typeface="Consolas"/>
                <a:ea typeface="Consolas"/>
                <a:cs typeface="Consolas"/>
                <a:sym typeface="Consolas"/>
              </a:rPr>
              <a:t>// → "List (2)"</a:t>
            </a:r>
            <a:endParaRPr>
              <a:latin typeface="Consolas"/>
              <a:ea typeface="Consolas"/>
              <a:cs typeface="Consolas"/>
              <a:sym typeface="Consola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2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it" sz="2820"/>
              <a:t>Loops and iterators</a:t>
            </a:r>
            <a:endParaRPr sz="2820"/>
          </a:p>
        </p:txBody>
      </p:sp>
      <p:sp>
        <p:nvSpPr>
          <p:cNvPr id="235" name="Google Shape;235;p26"/>
          <p:cNvSpPr txBox="1">
            <a:spLocks noGrp="1"/>
          </p:cNvSpPr>
          <p:nvPr>
            <p:ph type="sldNum" idx="12"/>
          </p:nvPr>
        </p:nvSpPr>
        <p:spPr>
          <a:xfrm>
            <a:off x="8472458" y="476850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it"/>
              <a:t>20</a:t>
            </a:fld>
            <a:endParaRPr/>
          </a:p>
        </p:txBody>
      </p:sp>
      <p:sp>
        <p:nvSpPr>
          <p:cNvPr id="236" name="Google Shape;236;p26"/>
          <p:cNvSpPr txBox="1">
            <a:spLocks noGrp="1"/>
          </p:cNvSpPr>
          <p:nvPr>
            <p:ph type="body" idx="1"/>
          </p:nvPr>
        </p:nvSpPr>
        <p:spPr>
          <a:xfrm>
            <a:off x="311150" y="1244204"/>
            <a:ext cx="8521800" cy="3393300"/>
          </a:xfrm>
          <a:prstGeom prst="rect">
            <a:avLst/>
          </a:prstGeom>
        </p:spPr>
        <p:txBody>
          <a:bodyPr spcFirstLastPara="1" wrap="square" lIns="91425" tIns="45700" rIns="91425" bIns="45700" anchor="t" anchorCtr="0">
            <a:normAutofit/>
          </a:bodyPr>
          <a:lstStyle/>
          <a:p>
            <a:pPr marL="457200" marR="0" lvl="0" indent="-355600" algn="l" rtl="0">
              <a:lnSpc>
                <a:spcPct val="115000"/>
              </a:lnSpc>
              <a:spcBef>
                <a:spcPts val="600"/>
              </a:spcBef>
              <a:spcAft>
                <a:spcPts val="0"/>
              </a:spcAft>
              <a:buSzPts val="2000"/>
              <a:buChar char="•"/>
            </a:pPr>
            <a:r>
              <a:rPr lang="it"/>
              <a:t>The </a:t>
            </a:r>
            <a:r>
              <a:rPr lang="it" b="1">
                <a:solidFill>
                  <a:srgbClr val="0B5394"/>
                </a:solidFill>
              </a:rPr>
              <a:t>for</a:t>
            </a:r>
            <a:r>
              <a:rPr lang="it"/>
              <a:t> statement only operates with </a:t>
            </a:r>
            <a:r>
              <a:rPr lang="it" b="1" i="1">
                <a:solidFill>
                  <a:srgbClr val="0B5394"/>
                </a:solidFill>
              </a:rPr>
              <a:t>iterators</a:t>
            </a:r>
            <a:r>
              <a:rPr lang="it"/>
              <a:t>, </a:t>
            </a:r>
            <a:r>
              <a:rPr lang="it" b="1" i="1">
                <a:solidFill>
                  <a:srgbClr val="0B5394"/>
                </a:solidFill>
              </a:rPr>
              <a:t>ranges</a:t>
            </a:r>
            <a:r>
              <a:rPr lang="it"/>
              <a:t>, or </a:t>
            </a:r>
            <a:r>
              <a:rPr lang="it" b="1" i="1">
                <a:solidFill>
                  <a:srgbClr val="0B5394"/>
                </a:solidFill>
              </a:rPr>
              <a:t>iterables</a:t>
            </a:r>
            <a:endParaRPr i="1"/>
          </a:p>
          <a:p>
            <a:pPr marL="914400" lvl="1" indent="-330200" algn="l" rtl="0">
              <a:spcBef>
                <a:spcPts val="0"/>
              </a:spcBef>
              <a:spcAft>
                <a:spcPts val="0"/>
              </a:spcAft>
              <a:buSzPts val="1600"/>
              <a:buChar char="○"/>
            </a:pPr>
            <a:r>
              <a:rPr lang="it"/>
              <a:t>The traditional, C-like, syntax has been removed</a:t>
            </a:r>
            <a:endParaRPr/>
          </a:p>
        </p:txBody>
      </p:sp>
      <p:sp>
        <p:nvSpPr>
          <p:cNvPr id="237" name="Google Shape;237;p26"/>
          <p:cNvSpPr txBox="1"/>
          <p:nvPr/>
        </p:nvSpPr>
        <p:spPr>
          <a:xfrm>
            <a:off x="1138833" y="3721930"/>
            <a:ext cx="6866400" cy="738900"/>
          </a:xfrm>
          <a:prstGeom prst="rect">
            <a:avLst/>
          </a:prstGeom>
          <a:solidFill>
            <a:srgbClr val="FFF2CC"/>
          </a:solidFill>
          <a:ln w="12700" cap="flat" cmpd="sng">
            <a:solidFill>
              <a:srgbClr val="000000"/>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spAutoFit/>
          </a:bodyPr>
          <a:lstStyle/>
          <a:p>
            <a:pPr marL="0" marR="0" lvl="0" indent="0" algn="l" rtl="0">
              <a:spcBef>
                <a:spcPts val="0"/>
              </a:spcBef>
              <a:spcAft>
                <a:spcPts val="0"/>
              </a:spcAft>
              <a:buNone/>
            </a:pPr>
            <a:r>
              <a:rPr lang="it" sz="1400">
                <a:solidFill>
                  <a:srgbClr val="000000"/>
                </a:solidFill>
                <a:latin typeface="Consolas"/>
                <a:ea typeface="Consolas"/>
                <a:cs typeface="Consolas"/>
                <a:sym typeface="Consolas"/>
              </a:rPr>
              <a:t>val </a:t>
            </a:r>
            <a:r>
              <a:rPr lang="it">
                <a:latin typeface="Consolas"/>
                <a:ea typeface="Consolas"/>
                <a:cs typeface="Consolas"/>
                <a:sym typeface="Consolas"/>
              </a:rPr>
              <a:t>array</a:t>
            </a:r>
            <a:r>
              <a:rPr lang="it" sz="1400">
                <a:solidFill>
                  <a:srgbClr val="000000"/>
                </a:solidFill>
                <a:latin typeface="Consolas"/>
                <a:ea typeface="Consolas"/>
                <a:cs typeface="Consolas"/>
                <a:sym typeface="Consolas"/>
              </a:rPr>
              <a:t> = </a:t>
            </a:r>
            <a:r>
              <a:rPr lang="it">
                <a:latin typeface="Consolas"/>
                <a:ea typeface="Consolas"/>
                <a:cs typeface="Consolas"/>
                <a:sym typeface="Consolas"/>
              </a:rPr>
              <a:t>a</a:t>
            </a:r>
            <a:r>
              <a:rPr lang="it" sz="1400">
                <a:solidFill>
                  <a:srgbClr val="000000"/>
                </a:solidFill>
                <a:latin typeface="Consolas"/>
                <a:ea typeface="Consolas"/>
                <a:cs typeface="Consolas"/>
                <a:sym typeface="Consolas"/>
              </a:rPr>
              <a:t>rrayOf(</a:t>
            </a:r>
            <a:r>
              <a:rPr lang="it">
                <a:latin typeface="Consolas"/>
                <a:ea typeface="Consolas"/>
                <a:cs typeface="Consolas"/>
                <a:sym typeface="Consolas"/>
              </a:rPr>
              <a:t>"a","b","c"</a:t>
            </a:r>
            <a:r>
              <a:rPr lang="it" sz="1400">
                <a:solidFill>
                  <a:srgbClr val="000000"/>
                </a:solidFill>
                <a:latin typeface="Consolas"/>
                <a:ea typeface="Consolas"/>
                <a:cs typeface="Consolas"/>
                <a:sym typeface="Consolas"/>
              </a:rPr>
              <a:t>)</a:t>
            </a:r>
            <a:r>
              <a:rPr lang="it">
                <a:solidFill>
                  <a:schemeClr val="dk1"/>
                </a:solidFill>
                <a:latin typeface="Consolas"/>
                <a:ea typeface="Consolas"/>
                <a:cs typeface="Consolas"/>
                <a:sym typeface="Consolas"/>
              </a:rPr>
              <a:t> </a:t>
            </a:r>
            <a:endParaRPr sz="1400">
              <a:solidFill>
                <a:srgbClr val="000000"/>
              </a:solidFill>
              <a:latin typeface="Consolas"/>
              <a:ea typeface="Consolas"/>
              <a:cs typeface="Consolas"/>
              <a:sym typeface="Consolas"/>
            </a:endParaRPr>
          </a:p>
          <a:p>
            <a:pPr marL="0" marR="0" lvl="0" indent="0" algn="l" rtl="0">
              <a:spcBef>
                <a:spcPts val="0"/>
              </a:spcBef>
              <a:spcAft>
                <a:spcPts val="0"/>
              </a:spcAft>
              <a:buNone/>
            </a:pPr>
            <a:r>
              <a:rPr lang="it" b="1">
                <a:solidFill>
                  <a:srgbClr val="0B5394"/>
                </a:solidFill>
                <a:latin typeface="Consolas"/>
                <a:ea typeface="Consolas"/>
                <a:cs typeface="Consolas"/>
                <a:sym typeface="Consolas"/>
              </a:rPr>
              <a:t>for</a:t>
            </a:r>
            <a:r>
              <a:rPr lang="it" sz="1400">
                <a:solidFill>
                  <a:srgbClr val="000000"/>
                </a:solidFill>
                <a:latin typeface="Consolas"/>
                <a:ea typeface="Consolas"/>
                <a:cs typeface="Consolas"/>
                <a:sym typeface="Consolas"/>
              </a:rPr>
              <a:t> ( (</a:t>
            </a:r>
            <a:r>
              <a:rPr lang="it" sz="1400" b="1">
                <a:solidFill>
                  <a:srgbClr val="980000"/>
                </a:solidFill>
                <a:latin typeface="Consolas"/>
                <a:ea typeface="Consolas"/>
                <a:cs typeface="Consolas"/>
                <a:sym typeface="Consolas"/>
              </a:rPr>
              <a:t>index</a:t>
            </a:r>
            <a:r>
              <a:rPr lang="it" sz="1400">
                <a:solidFill>
                  <a:srgbClr val="000000"/>
                </a:solidFill>
                <a:latin typeface="Consolas"/>
                <a:ea typeface="Consolas"/>
                <a:cs typeface="Consolas"/>
                <a:sym typeface="Consolas"/>
              </a:rPr>
              <a:t>, </a:t>
            </a:r>
            <a:r>
              <a:rPr lang="it" sz="1400" b="1">
                <a:solidFill>
                  <a:srgbClr val="980000"/>
                </a:solidFill>
                <a:latin typeface="Consolas"/>
                <a:ea typeface="Consolas"/>
                <a:cs typeface="Consolas"/>
                <a:sym typeface="Consolas"/>
              </a:rPr>
              <a:t>value</a:t>
            </a:r>
            <a:r>
              <a:rPr lang="it">
                <a:latin typeface="Consolas"/>
                <a:ea typeface="Consolas"/>
                <a:cs typeface="Consolas"/>
                <a:sym typeface="Consolas"/>
              </a:rPr>
              <a:t>)</a:t>
            </a:r>
            <a:r>
              <a:rPr lang="it" sz="1400">
                <a:solidFill>
                  <a:srgbClr val="000000"/>
                </a:solidFill>
                <a:latin typeface="Consolas"/>
                <a:ea typeface="Consolas"/>
                <a:cs typeface="Consolas"/>
                <a:sym typeface="Consolas"/>
              </a:rPr>
              <a:t> </a:t>
            </a:r>
            <a:r>
              <a:rPr lang="it" b="1">
                <a:solidFill>
                  <a:srgbClr val="0B5394"/>
                </a:solidFill>
                <a:latin typeface="Consolas"/>
                <a:ea typeface="Consolas"/>
                <a:cs typeface="Consolas"/>
                <a:sym typeface="Consolas"/>
              </a:rPr>
              <a:t>in</a:t>
            </a:r>
            <a:r>
              <a:rPr lang="it" sz="1400">
                <a:solidFill>
                  <a:srgbClr val="000000"/>
                </a:solidFill>
                <a:latin typeface="Consolas"/>
                <a:ea typeface="Consolas"/>
                <a:cs typeface="Consolas"/>
                <a:sym typeface="Consolas"/>
              </a:rPr>
              <a:t> </a:t>
            </a:r>
            <a:r>
              <a:rPr lang="it">
                <a:latin typeface="Consolas"/>
                <a:ea typeface="Consolas"/>
                <a:cs typeface="Consolas"/>
                <a:sym typeface="Consolas"/>
              </a:rPr>
              <a:t>array</a:t>
            </a:r>
            <a:r>
              <a:rPr lang="it" b="1">
                <a:solidFill>
                  <a:srgbClr val="C00000"/>
                </a:solidFill>
                <a:latin typeface="Consolas"/>
                <a:ea typeface="Consolas"/>
                <a:cs typeface="Consolas"/>
                <a:sym typeface="Consolas"/>
              </a:rPr>
              <a:t>.withIndex()</a:t>
            </a:r>
            <a:r>
              <a:rPr lang="it">
                <a:solidFill>
                  <a:schemeClr val="dk1"/>
                </a:solidFill>
                <a:latin typeface="Consolas"/>
                <a:ea typeface="Consolas"/>
                <a:cs typeface="Consolas"/>
                <a:sym typeface="Consolas"/>
              </a:rPr>
              <a:t> </a:t>
            </a:r>
            <a:r>
              <a:rPr lang="it" sz="1400">
                <a:solidFill>
                  <a:srgbClr val="000000"/>
                </a:solidFill>
                <a:latin typeface="Consolas"/>
                <a:ea typeface="Consolas"/>
                <a:cs typeface="Consolas"/>
                <a:sym typeface="Consolas"/>
              </a:rPr>
              <a:t>) </a:t>
            </a:r>
            <a:r>
              <a:rPr lang="it">
                <a:solidFill>
                  <a:schemeClr val="dk1"/>
                </a:solidFill>
                <a:latin typeface="Consolas"/>
                <a:ea typeface="Consolas"/>
                <a:cs typeface="Consolas"/>
                <a:sym typeface="Consolas"/>
              </a:rPr>
              <a:t>// iterable</a:t>
            </a:r>
            <a:r>
              <a:rPr lang="it" b="1">
                <a:solidFill>
                  <a:srgbClr val="C00000"/>
                </a:solidFill>
                <a:latin typeface="Consolas"/>
                <a:ea typeface="Consolas"/>
                <a:cs typeface="Consolas"/>
                <a:sym typeface="Consolas"/>
              </a:rPr>
              <a:t> </a:t>
            </a:r>
            <a:endParaRPr>
              <a:latin typeface="Consolas"/>
              <a:ea typeface="Consolas"/>
              <a:cs typeface="Consolas"/>
              <a:sym typeface="Consolas"/>
            </a:endParaRPr>
          </a:p>
          <a:p>
            <a:pPr marL="0" marR="0" lvl="0" indent="0" algn="l" rtl="0">
              <a:spcBef>
                <a:spcPts val="0"/>
              </a:spcBef>
              <a:spcAft>
                <a:spcPts val="0"/>
              </a:spcAft>
              <a:buNone/>
            </a:pPr>
            <a:r>
              <a:rPr lang="it" sz="1400">
                <a:solidFill>
                  <a:srgbClr val="000000"/>
                </a:solidFill>
                <a:latin typeface="Consolas"/>
                <a:ea typeface="Consolas"/>
                <a:cs typeface="Consolas"/>
                <a:sym typeface="Consolas"/>
              </a:rPr>
              <a:t>  println(</a:t>
            </a:r>
            <a:r>
              <a:rPr lang="it">
                <a:latin typeface="Consolas"/>
                <a:ea typeface="Consolas"/>
                <a:cs typeface="Consolas"/>
                <a:sym typeface="Consolas"/>
              </a:rPr>
              <a:t> "array[${index}]: ${value}"</a:t>
            </a:r>
            <a:r>
              <a:rPr lang="it" sz="1400">
                <a:solidFill>
                  <a:srgbClr val="000000"/>
                </a:solidFill>
                <a:latin typeface="Consolas"/>
                <a:ea typeface="Consolas"/>
                <a:cs typeface="Consolas"/>
                <a:sym typeface="Consolas"/>
              </a:rPr>
              <a:t>)</a:t>
            </a:r>
            <a:endParaRPr>
              <a:latin typeface="Consolas"/>
              <a:ea typeface="Consolas"/>
              <a:cs typeface="Consolas"/>
              <a:sym typeface="Consolas"/>
            </a:endParaRPr>
          </a:p>
        </p:txBody>
      </p:sp>
      <p:sp>
        <p:nvSpPr>
          <p:cNvPr id="238" name="Google Shape;238;p26"/>
          <p:cNvSpPr txBox="1"/>
          <p:nvPr/>
        </p:nvSpPr>
        <p:spPr>
          <a:xfrm>
            <a:off x="1138833" y="2007168"/>
            <a:ext cx="6866400" cy="954300"/>
          </a:xfrm>
          <a:prstGeom prst="rect">
            <a:avLst/>
          </a:prstGeom>
          <a:solidFill>
            <a:srgbClr val="FFF2CC"/>
          </a:solidFill>
          <a:ln w="12700" cap="flat" cmpd="sng">
            <a:solidFill>
              <a:srgbClr val="000000"/>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spAutoFit/>
          </a:bodyPr>
          <a:lstStyle/>
          <a:p>
            <a:pPr marL="0" marR="0" lvl="0" indent="0" algn="l" rtl="0">
              <a:spcBef>
                <a:spcPts val="0"/>
              </a:spcBef>
              <a:spcAft>
                <a:spcPts val="0"/>
              </a:spcAft>
              <a:buNone/>
            </a:pPr>
            <a:r>
              <a:rPr lang="it" sz="1400">
                <a:solidFill>
                  <a:srgbClr val="000000"/>
                </a:solidFill>
                <a:latin typeface="Consolas"/>
                <a:ea typeface="Consolas"/>
                <a:cs typeface="Consolas"/>
                <a:sym typeface="Consolas"/>
              </a:rPr>
              <a:t>val </a:t>
            </a:r>
            <a:r>
              <a:rPr lang="it">
                <a:latin typeface="Consolas"/>
                <a:ea typeface="Consolas"/>
                <a:cs typeface="Consolas"/>
                <a:sym typeface="Consolas"/>
              </a:rPr>
              <a:t>iter</a:t>
            </a:r>
            <a:r>
              <a:rPr lang="it" sz="1400">
                <a:solidFill>
                  <a:srgbClr val="000000"/>
                </a:solidFill>
                <a:latin typeface="Consolas"/>
                <a:ea typeface="Consolas"/>
                <a:cs typeface="Consolas"/>
                <a:sym typeface="Consolas"/>
              </a:rPr>
              <a:t> = intArrayOf(1,2,4,8,16,32,64)</a:t>
            </a:r>
            <a:r>
              <a:rPr lang="it" b="1">
                <a:solidFill>
                  <a:srgbClr val="C00000"/>
                </a:solidFill>
                <a:latin typeface="Consolas"/>
                <a:ea typeface="Consolas"/>
                <a:cs typeface="Consolas"/>
                <a:sym typeface="Consolas"/>
              </a:rPr>
              <a:t>.iterator()</a:t>
            </a:r>
            <a:r>
              <a:rPr lang="it" sz="1400">
                <a:solidFill>
                  <a:srgbClr val="000000"/>
                </a:solidFill>
                <a:latin typeface="Consolas"/>
                <a:ea typeface="Consolas"/>
                <a:cs typeface="Consolas"/>
                <a:sym typeface="Consolas"/>
              </a:rPr>
              <a:t>;</a:t>
            </a:r>
            <a:endParaRPr>
              <a:latin typeface="Consolas"/>
              <a:ea typeface="Consolas"/>
              <a:cs typeface="Consolas"/>
              <a:sym typeface="Consolas"/>
            </a:endParaRPr>
          </a:p>
          <a:p>
            <a:pPr marL="0" marR="0" lvl="0" indent="0" algn="l" rtl="0">
              <a:spcBef>
                <a:spcPts val="0"/>
              </a:spcBef>
              <a:spcAft>
                <a:spcPts val="0"/>
              </a:spcAft>
              <a:buNone/>
            </a:pPr>
            <a:endParaRPr sz="1400">
              <a:solidFill>
                <a:srgbClr val="000000"/>
              </a:solidFill>
              <a:latin typeface="Consolas"/>
              <a:ea typeface="Consolas"/>
              <a:cs typeface="Consolas"/>
              <a:sym typeface="Consolas"/>
            </a:endParaRPr>
          </a:p>
          <a:p>
            <a:pPr marL="0" marR="0" lvl="0" indent="0" algn="l" rtl="0">
              <a:spcBef>
                <a:spcPts val="0"/>
              </a:spcBef>
              <a:spcAft>
                <a:spcPts val="0"/>
              </a:spcAft>
              <a:buNone/>
            </a:pPr>
            <a:r>
              <a:rPr lang="it" b="1">
                <a:solidFill>
                  <a:srgbClr val="0B5394"/>
                </a:solidFill>
                <a:latin typeface="Consolas"/>
                <a:ea typeface="Consolas"/>
                <a:cs typeface="Consolas"/>
                <a:sym typeface="Consolas"/>
              </a:rPr>
              <a:t>for</a:t>
            </a:r>
            <a:r>
              <a:rPr lang="it" sz="1400">
                <a:solidFill>
                  <a:srgbClr val="000000"/>
                </a:solidFill>
                <a:latin typeface="Consolas"/>
                <a:ea typeface="Consolas"/>
                <a:cs typeface="Consolas"/>
                <a:sym typeface="Consolas"/>
              </a:rPr>
              <a:t> (</a:t>
            </a:r>
            <a:r>
              <a:rPr lang="it">
                <a:latin typeface="Consolas"/>
                <a:ea typeface="Consolas"/>
                <a:cs typeface="Consolas"/>
                <a:sym typeface="Consolas"/>
              </a:rPr>
              <a:t>item</a:t>
            </a:r>
            <a:r>
              <a:rPr lang="it" sz="1400">
                <a:solidFill>
                  <a:srgbClr val="000000"/>
                </a:solidFill>
                <a:latin typeface="Consolas"/>
                <a:ea typeface="Consolas"/>
                <a:cs typeface="Consolas"/>
                <a:sym typeface="Consolas"/>
              </a:rPr>
              <a:t> </a:t>
            </a:r>
            <a:r>
              <a:rPr lang="it" b="1">
                <a:solidFill>
                  <a:srgbClr val="0B5394"/>
                </a:solidFill>
                <a:latin typeface="Consolas"/>
                <a:ea typeface="Consolas"/>
                <a:cs typeface="Consolas"/>
                <a:sym typeface="Consolas"/>
              </a:rPr>
              <a:t>in</a:t>
            </a:r>
            <a:r>
              <a:rPr lang="it" sz="1400">
                <a:solidFill>
                  <a:srgbClr val="000000"/>
                </a:solidFill>
                <a:latin typeface="Consolas"/>
                <a:ea typeface="Consolas"/>
                <a:cs typeface="Consolas"/>
                <a:sym typeface="Consolas"/>
              </a:rPr>
              <a:t> data) </a:t>
            </a:r>
            <a:endParaRPr>
              <a:latin typeface="Consolas"/>
              <a:ea typeface="Consolas"/>
              <a:cs typeface="Consolas"/>
              <a:sym typeface="Consolas"/>
            </a:endParaRPr>
          </a:p>
          <a:p>
            <a:pPr marL="0" marR="0" lvl="0" indent="0" algn="l" rtl="0">
              <a:spcBef>
                <a:spcPts val="0"/>
              </a:spcBef>
              <a:spcAft>
                <a:spcPts val="0"/>
              </a:spcAft>
              <a:buNone/>
            </a:pPr>
            <a:r>
              <a:rPr lang="it" sz="1400">
                <a:solidFill>
                  <a:srgbClr val="000000"/>
                </a:solidFill>
                <a:latin typeface="Consolas"/>
                <a:ea typeface="Consolas"/>
                <a:cs typeface="Consolas"/>
                <a:sym typeface="Consolas"/>
              </a:rPr>
              <a:t>  println(</a:t>
            </a:r>
            <a:r>
              <a:rPr lang="it">
                <a:latin typeface="Consolas"/>
                <a:ea typeface="Consolas"/>
                <a:cs typeface="Consolas"/>
                <a:sym typeface="Consolas"/>
              </a:rPr>
              <a:t>item</a:t>
            </a:r>
            <a:r>
              <a:rPr lang="it" sz="1400">
                <a:solidFill>
                  <a:srgbClr val="000000"/>
                </a:solidFill>
                <a:latin typeface="Consolas"/>
                <a:ea typeface="Consolas"/>
                <a:cs typeface="Consolas"/>
                <a:sym typeface="Consolas"/>
              </a:rPr>
              <a:t>)</a:t>
            </a:r>
            <a:endParaRPr>
              <a:latin typeface="Consolas"/>
              <a:ea typeface="Consolas"/>
              <a:cs typeface="Consolas"/>
              <a:sym typeface="Consolas"/>
            </a:endParaRPr>
          </a:p>
        </p:txBody>
      </p:sp>
      <p:sp>
        <p:nvSpPr>
          <p:cNvPr id="239" name="Google Shape;239;p26"/>
          <p:cNvSpPr txBox="1"/>
          <p:nvPr/>
        </p:nvSpPr>
        <p:spPr>
          <a:xfrm>
            <a:off x="1138833" y="3063750"/>
            <a:ext cx="6866400" cy="523200"/>
          </a:xfrm>
          <a:prstGeom prst="rect">
            <a:avLst/>
          </a:prstGeom>
          <a:solidFill>
            <a:srgbClr val="FFF2CC"/>
          </a:solidFill>
          <a:ln w="12700" cap="flat" cmpd="sng">
            <a:solidFill>
              <a:srgbClr val="000000"/>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spAutoFit/>
          </a:bodyPr>
          <a:lstStyle/>
          <a:p>
            <a:pPr marL="0" marR="0" lvl="0" indent="0" algn="l" rtl="0">
              <a:spcBef>
                <a:spcPts val="0"/>
              </a:spcBef>
              <a:spcAft>
                <a:spcPts val="0"/>
              </a:spcAft>
              <a:buNone/>
            </a:pPr>
            <a:r>
              <a:rPr lang="it" b="1">
                <a:solidFill>
                  <a:srgbClr val="0B5394"/>
                </a:solidFill>
                <a:latin typeface="Consolas"/>
                <a:ea typeface="Consolas"/>
                <a:cs typeface="Consolas"/>
                <a:sym typeface="Consolas"/>
              </a:rPr>
              <a:t>for</a:t>
            </a:r>
            <a:r>
              <a:rPr lang="it" sz="1400">
                <a:solidFill>
                  <a:srgbClr val="000000"/>
                </a:solidFill>
                <a:latin typeface="Consolas"/>
                <a:ea typeface="Consolas"/>
                <a:cs typeface="Consolas"/>
                <a:sym typeface="Consolas"/>
              </a:rPr>
              <a:t> (i </a:t>
            </a:r>
            <a:r>
              <a:rPr lang="it" b="1">
                <a:solidFill>
                  <a:srgbClr val="0B5394"/>
                </a:solidFill>
                <a:latin typeface="Consolas"/>
                <a:ea typeface="Consolas"/>
                <a:cs typeface="Consolas"/>
                <a:sym typeface="Consolas"/>
              </a:rPr>
              <a:t>in</a:t>
            </a:r>
            <a:r>
              <a:rPr lang="it" sz="1400">
                <a:solidFill>
                  <a:srgbClr val="000000"/>
                </a:solidFill>
                <a:latin typeface="Consolas"/>
                <a:ea typeface="Consolas"/>
                <a:cs typeface="Consolas"/>
                <a:sym typeface="Consolas"/>
              </a:rPr>
              <a:t> 1..10)  // inclusive range </a:t>
            </a:r>
            <a:endParaRPr>
              <a:latin typeface="Consolas"/>
              <a:ea typeface="Consolas"/>
              <a:cs typeface="Consolas"/>
              <a:sym typeface="Consolas"/>
            </a:endParaRPr>
          </a:p>
          <a:p>
            <a:pPr marL="0" marR="0" lvl="0" indent="0" algn="l" rtl="0">
              <a:spcBef>
                <a:spcPts val="0"/>
              </a:spcBef>
              <a:spcAft>
                <a:spcPts val="0"/>
              </a:spcAft>
              <a:buNone/>
            </a:pPr>
            <a:r>
              <a:rPr lang="it" sz="1400">
                <a:solidFill>
                  <a:srgbClr val="000000"/>
                </a:solidFill>
                <a:latin typeface="Consolas"/>
                <a:ea typeface="Consolas"/>
                <a:cs typeface="Consolas"/>
                <a:sym typeface="Consolas"/>
              </a:rPr>
              <a:t>  println(i)</a:t>
            </a:r>
            <a:endParaRPr>
              <a:latin typeface="Consolas"/>
              <a:ea typeface="Consolas"/>
              <a:cs typeface="Consolas"/>
              <a:sym typeface="Consola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2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it" sz="2820"/>
              <a:t>Function literals</a:t>
            </a:r>
            <a:endParaRPr sz="2820"/>
          </a:p>
        </p:txBody>
      </p:sp>
      <p:sp>
        <p:nvSpPr>
          <p:cNvPr id="245" name="Google Shape;245;p27"/>
          <p:cNvSpPr txBox="1">
            <a:spLocks noGrp="1"/>
          </p:cNvSpPr>
          <p:nvPr>
            <p:ph type="body" idx="1"/>
          </p:nvPr>
        </p:nvSpPr>
        <p:spPr>
          <a:xfrm>
            <a:off x="311150" y="1244204"/>
            <a:ext cx="8521800" cy="3393300"/>
          </a:xfrm>
          <a:prstGeom prst="rect">
            <a:avLst/>
          </a:prstGeom>
        </p:spPr>
        <p:txBody>
          <a:bodyPr spcFirstLastPara="1" wrap="square" lIns="91425" tIns="45700" rIns="91425" bIns="45700" anchor="t" anchorCtr="0">
            <a:normAutofit/>
          </a:bodyPr>
          <a:lstStyle/>
          <a:p>
            <a:pPr marL="457200" lvl="0" indent="-355600" algn="l" rtl="0">
              <a:spcBef>
                <a:spcPts val="600"/>
              </a:spcBef>
              <a:spcAft>
                <a:spcPts val="0"/>
              </a:spcAft>
              <a:buSzPts val="2000"/>
              <a:buChar char="•"/>
            </a:pPr>
            <a:r>
              <a:rPr lang="it"/>
              <a:t>A function literal consists of an anonymous fun block</a:t>
            </a:r>
            <a:endParaRPr/>
          </a:p>
          <a:p>
            <a:pPr marL="914400" lvl="1" indent="-330200" algn="l" rtl="0">
              <a:spcBef>
                <a:spcPts val="0"/>
              </a:spcBef>
              <a:spcAft>
                <a:spcPts val="0"/>
              </a:spcAft>
              <a:buSzPts val="1600"/>
              <a:buChar char="○"/>
            </a:pPr>
            <a:r>
              <a:rPr lang="it"/>
              <a:t>To be used, it must be assigned to a variable</a:t>
            </a:r>
            <a:endParaRPr/>
          </a:p>
          <a:p>
            <a:pPr marL="914400" lvl="1" indent="-330200" algn="l" rtl="0">
              <a:spcBef>
                <a:spcPts val="0"/>
              </a:spcBef>
              <a:spcAft>
                <a:spcPts val="0"/>
              </a:spcAft>
              <a:buClr>
                <a:schemeClr val="dk1"/>
              </a:buClr>
              <a:buSzPts val="1600"/>
              <a:buFont typeface="Consolas"/>
              <a:buChar char="○"/>
            </a:pPr>
            <a:r>
              <a:rPr lang="it" b="1">
                <a:solidFill>
                  <a:srgbClr val="0B5394"/>
                </a:solidFill>
                <a:latin typeface="Consolas"/>
                <a:ea typeface="Consolas"/>
                <a:cs typeface="Consolas"/>
                <a:sym typeface="Consolas"/>
              </a:rPr>
              <a:t>val sum = fun(a:Int, b:Int) { return a + b }</a:t>
            </a:r>
            <a:endParaRPr b="1">
              <a:solidFill>
                <a:schemeClr val="dk1"/>
              </a:solidFill>
              <a:latin typeface="Consolas"/>
              <a:ea typeface="Consolas"/>
              <a:cs typeface="Consolas"/>
              <a:sym typeface="Consolas"/>
            </a:endParaRPr>
          </a:p>
          <a:p>
            <a:pPr marL="457200" lvl="0" indent="-355600" algn="l" rtl="0">
              <a:spcBef>
                <a:spcPts val="0"/>
              </a:spcBef>
              <a:spcAft>
                <a:spcPts val="0"/>
              </a:spcAft>
              <a:buSzPts val="2000"/>
              <a:buChar char="•"/>
            </a:pPr>
            <a:r>
              <a:rPr lang="it"/>
              <a:t>A function literal is invoked via the variable it is bound to</a:t>
            </a:r>
            <a:endParaRPr/>
          </a:p>
          <a:p>
            <a:pPr marL="914400" lvl="1" indent="-330200" algn="l" rtl="0">
              <a:spcBef>
                <a:spcPts val="0"/>
              </a:spcBef>
              <a:spcAft>
                <a:spcPts val="0"/>
              </a:spcAft>
              <a:buSzPts val="1600"/>
              <a:buChar char="○"/>
            </a:pPr>
            <a:r>
              <a:rPr lang="it" b="1">
                <a:solidFill>
                  <a:srgbClr val="0B5394"/>
                </a:solidFill>
                <a:latin typeface="Consolas"/>
                <a:ea typeface="Consolas"/>
                <a:cs typeface="Consolas"/>
                <a:sym typeface="Consolas"/>
              </a:rPr>
              <a:t>val result = </a:t>
            </a:r>
            <a:r>
              <a:rPr lang="it" b="1">
                <a:solidFill>
                  <a:srgbClr val="0B5394"/>
                </a:solidFill>
                <a:highlight>
                  <a:schemeClr val="accent6"/>
                </a:highlight>
                <a:latin typeface="Consolas"/>
                <a:ea typeface="Consolas"/>
                <a:cs typeface="Consolas"/>
                <a:sym typeface="Consolas"/>
              </a:rPr>
              <a:t>sum</a:t>
            </a:r>
            <a:r>
              <a:rPr lang="it" b="1">
                <a:solidFill>
                  <a:srgbClr val="0B5394"/>
                </a:solidFill>
                <a:latin typeface="Consolas"/>
                <a:ea typeface="Consolas"/>
                <a:cs typeface="Consolas"/>
                <a:sym typeface="Consolas"/>
              </a:rPr>
              <a:t>( 5, 3 ) // 8</a:t>
            </a:r>
            <a:r>
              <a:rPr lang="it"/>
              <a:t>  </a:t>
            </a:r>
            <a:endParaRPr/>
          </a:p>
          <a:p>
            <a:pPr marL="457200" lvl="0" indent="-355600" algn="l" rtl="0">
              <a:spcBef>
                <a:spcPts val="0"/>
              </a:spcBef>
              <a:spcAft>
                <a:spcPts val="0"/>
              </a:spcAft>
              <a:buSzPts val="2000"/>
              <a:buChar char="•"/>
            </a:pPr>
            <a:r>
              <a:rPr lang="it"/>
              <a:t>Function literals allow to define anonymous functions on the fly, making the code more concise and expressive</a:t>
            </a:r>
            <a:endParaRPr/>
          </a:p>
          <a:p>
            <a:pPr marL="914400" lvl="1" indent="-330200" algn="l" rtl="0">
              <a:spcBef>
                <a:spcPts val="0"/>
              </a:spcBef>
              <a:spcAft>
                <a:spcPts val="0"/>
              </a:spcAft>
              <a:buSzPts val="1600"/>
              <a:buChar char="○"/>
            </a:pPr>
            <a:r>
              <a:rPr lang="it"/>
              <a:t>They are commonly used to pass behavior as an argument to higher-order functions, or to create small, self-contained functions that perform a specific task</a:t>
            </a:r>
            <a:endParaRPr/>
          </a:p>
        </p:txBody>
      </p:sp>
      <p:sp>
        <p:nvSpPr>
          <p:cNvPr id="246" name="Google Shape;246;p27"/>
          <p:cNvSpPr txBox="1">
            <a:spLocks noGrp="1"/>
          </p:cNvSpPr>
          <p:nvPr>
            <p:ph type="sldNum" idx="12"/>
          </p:nvPr>
        </p:nvSpPr>
        <p:spPr>
          <a:xfrm>
            <a:off x="8472458" y="476850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it"/>
              <a:t>21</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2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it" sz="2820"/>
              <a:t>Lambda expressions</a:t>
            </a:r>
            <a:endParaRPr sz="2820"/>
          </a:p>
        </p:txBody>
      </p:sp>
      <p:sp>
        <p:nvSpPr>
          <p:cNvPr id="252" name="Google Shape;252;p28"/>
          <p:cNvSpPr txBox="1">
            <a:spLocks noGrp="1"/>
          </p:cNvSpPr>
          <p:nvPr>
            <p:ph type="body" idx="1"/>
          </p:nvPr>
        </p:nvSpPr>
        <p:spPr>
          <a:xfrm>
            <a:off x="311150" y="1244204"/>
            <a:ext cx="8521800" cy="3393300"/>
          </a:xfrm>
          <a:prstGeom prst="rect">
            <a:avLst/>
          </a:prstGeom>
        </p:spPr>
        <p:txBody>
          <a:bodyPr spcFirstLastPara="1" wrap="square" lIns="91425" tIns="45700" rIns="91425" bIns="45700" anchor="t" anchorCtr="0">
            <a:normAutofit lnSpcReduction="10000"/>
          </a:bodyPr>
          <a:lstStyle/>
          <a:p>
            <a:pPr marL="457200" lvl="0" indent="-355600" algn="l" rtl="0">
              <a:spcBef>
                <a:spcPts val="600"/>
              </a:spcBef>
              <a:spcAft>
                <a:spcPts val="0"/>
              </a:spcAft>
              <a:buSzPts val="2000"/>
              <a:buChar char="•"/>
            </a:pPr>
            <a:r>
              <a:rPr lang="it"/>
              <a:t>Lambda expressions are a more concise way to define anonymous functions</a:t>
            </a:r>
            <a:endParaRPr/>
          </a:p>
          <a:p>
            <a:pPr marL="914400" lvl="1" indent="-330200" algn="l" rtl="0">
              <a:spcBef>
                <a:spcPts val="0"/>
              </a:spcBef>
              <a:spcAft>
                <a:spcPts val="0"/>
              </a:spcAft>
              <a:buSzPts val="1600"/>
              <a:buChar char="○"/>
            </a:pPr>
            <a:r>
              <a:rPr lang="it"/>
              <a:t>They are enclosed in braces and use the </a:t>
            </a:r>
            <a:r>
              <a:rPr lang="it" b="1">
                <a:solidFill>
                  <a:srgbClr val="0B5394"/>
                </a:solidFill>
                <a:latin typeface="Consolas"/>
                <a:ea typeface="Consolas"/>
                <a:cs typeface="Consolas"/>
                <a:sym typeface="Consolas"/>
              </a:rPr>
              <a:t>-&gt;</a:t>
            </a:r>
            <a:r>
              <a:rPr lang="it"/>
              <a:t> operator to separate the parameter list from the body</a:t>
            </a:r>
            <a:endParaRPr/>
          </a:p>
          <a:p>
            <a:pPr marL="914400" lvl="1" indent="-330200" algn="l" rtl="0">
              <a:spcBef>
                <a:spcPts val="0"/>
              </a:spcBef>
              <a:spcAft>
                <a:spcPts val="0"/>
              </a:spcAft>
              <a:buSzPts val="1600"/>
              <a:buChar char="○"/>
            </a:pPr>
            <a:r>
              <a:rPr lang="it" b="1">
                <a:solidFill>
                  <a:srgbClr val="0B5394"/>
                </a:solidFill>
                <a:latin typeface="Consolas"/>
                <a:ea typeface="Consolas"/>
                <a:cs typeface="Consolas"/>
                <a:sym typeface="Consolas"/>
              </a:rPr>
              <a:t>val l1 : (Int) -&gt; Int = { n -&gt; n+1 }</a:t>
            </a:r>
            <a:endParaRPr/>
          </a:p>
          <a:p>
            <a:pPr marL="457200" lvl="0" indent="-355600" algn="l" rtl="0">
              <a:spcBef>
                <a:spcPts val="0"/>
              </a:spcBef>
              <a:spcAft>
                <a:spcPts val="0"/>
              </a:spcAft>
              <a:buSzPts val="2000"/>
              <a:buChar char="•"/>
            </a:pPr>
            <a:r>
              <a:rPr lang="it"/>
              <a:t>If lambda has only one parameter, it can be omitted together with the </a:t>
            </a:r>
            <a:r>
              <a:rPr lang="it" b="1">
                <a:solidFill>
                  <a:srgbClr val="0B5394"/>
                </a:solidFill>
                <a:latin typeface="Consolas"/>
                <a:ea typeface="Consolas"/>
                <a:cs typeface="Consolas"/>
                <a:sym typeface="Consolas"/>
              </a:rPr>
              <a:t>-&gt;</a:t>
            </a:r>
            <a:r>
              <a:rPr lang="it"/>
              <a:t> operator, and can be referred to using the name </a:t>
            </a:r>
            <a:r>
              <a:rPr lang="it" b="1">
                <a:solidFill>
                  <a:srgbClr val="0B5394"/>
                </a:solidFill>
                <a:latin typeface="Consolas"/>
                <a:ea typeface="Consolas"/>
                <a:cs typeface="Consolas"/>
                <a:sym typeface="Consolas"/>
              </a:rPr>
              <a:t>it</a:t>
            </a:r>
            <a:endParaRPr/>
          </a:p>
          <a:p>
            <a:pPr marL="914400" lvl="1" indent="-330200" algn="l" rtl="0">
              <a:spcBef>
                <a:spcPts val="0"/>
              </a:spcBef>
              <a:spcAft>
                <a:spcPts val="0"/>
              </a:spcAft>
              <a:buSzPts val="1600"/>
              <a:buChar char="○"/>
            </a:pPr>
            <a:r>
              <a:rPr lang="it" b="1">
                <a:solidFill>
                  <a:srgbClr val="0B5394"/>
                </a:solidFill>
                <a:latin typeface="Consolas"/>
                <a:ea typeface="Consolas"/>
                <a:cs typeface="Consolas"/>
                <a:sym typeface="Consolas"/>
              </a:rPr>
              <a:t>val l2 : (Int) -&gt; Int = { it + 1 }</a:t>
            </a:r>
            <a:endParaRPr/>
          </a:p>
          <a:p>
            <a:pPr marL="457200" lvl="0" indent="-355600" algn="l" rtl="0">
              <a:spcBef>
                <a:spcPts val="0"/>
              </a:spcBef>
              <a:spcAft>
                <a:spcPts val="0"/>
              </a:spcAft>
              <a:buSzPts val="2000"/>
              <a:buChar char="•"/>
            </a:pPr>
            <a:r>
              <a:rPr lang="it"/>
              <a:t>Similarly to function literals, lambda expressions automatically create </a:t>
            </a:r>
            <a:r>
              <a:rPr lang="it" b="1">
                <a:solidFill>
                  <a:srgbClr val="0B5394"/>
                </a:solidFill>
              </a:rPr>
              <a:t>closures</a:t>
            </a:r>
            <a:r>
              <a:rPr lang="it"/>
              <a:t> when they reference variables that are in scope where they are defined</a:t>
            </a:r>
            <a:endParaRPr/>
          </a:p>
          <a:p>
            <a:pPr marL="914400" lvl="1" indent="-330200" algn="l" rtl="0">
              <a:spcBef>
                <a:spcPts val="0"/>
              </a:spcBef>
              <a:spcAft>
                <a:spcPts val="0"/>
              </a:spcAft>
              <a:buSzPts val="1600"/>
              <a:buChar char="○"/>
            </a:pPr>
            <a:r>
              <a:rPr lang="it"/>
              <a:t>Powerful feature used in connection to of higher order functions</a:t>
            </a:r>
            <a:endParaRPr/>
          </a:p>
        </p:txBody>
      </p:sp>
      <p:sp>
        <p:nvSpPr>
          <p:cNvPr id="253" name="Google Shape;253;p28"/>
          <p:cNvSpPr txBox="1">
            <a:spLocks noGrp="1"/>
          </p:cNvSpPr>
          <p:nvPr>
            <p:ph type="sldNum" idx="12"/>
          </p:nvPr>
        </p:nvSpPr>
        <p:spPr>
          <a:xfrm>
            <a:off x="8472458" y="476850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it"/>
              <a:t>22</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2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it" sz="2820"/>
              <a:t>Trailing lambdas</a:t>
            </a:r>
            <a:endParaRPr sz="2820"/>
          </a:p>
        </p:txBody>
      </p:sp>
      <p:sp>
        <p:nvSpPr>
          <p:cNvPr id="259" name="Google Shape;259;p29"/>
          <p:cNvSpPr txBox="1">
            <a:spLocks noGrp="1"/>
          </p:cNvSpPr>
          <p:nvPr>
            <p:ph type="sldNum" idx="12"/>
          </p:nvPr>
        </p:nvSpPr>
        <p:spPr>
          <a:xfrm>
            <a:off x="8472458" y="476850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it"/>
              <a:t>23</a:t>
            </a:fld>
            <a:endParaRPr/>
          </a:p>
        </p:txBody>
      </p:sp>
      <p:sp>
        <p:nvSpPr>
          <p:cNvPr id="260" name="Google Shape;260;p29"/>
          <p:cNvSpPr txBox="1">
            <a:spLocks noGrp="1"/>
          </p:cNvSpPr>
          <p:nvPr>
            <p:ph type="body" idx="1"/>
          </p:nvPr>
        </p:nvSpPr>
        <p:spPr>
          <a:xfrm>
            <a:off x="311150" y="1244204"/>
            <a:ext cx="8521800" cy="3393300"/>
          </a:xfrm>
          <a:prstGeom prst="rect">
            <a:avLst/>
          </a:prstGeom>
        </p:spPr>
        <p:txBody>
          <a:bodyPr spcFirstLastPara="1" wrap="square" lIns="91425" tIns="45700" rIns="91425" bIns="45700" anchor="t" anchorCtr="0">
            <a:normAutofit/>
          </a:bodyPr>
          <a:lstStyle/>
          <a:p>
            <a:pPr marL="457200" lvl="0" indent="-355600" algn="l" rtl="0">
              <a:spcBef>
                <a:spcPts val="600"/>
              </a:spcBef>
              <a:spcAft>
                <a:spcPts val="0"/>
              </a:spcAft>
              <a:buSzPts val="2000"/>
              <a:buChar char="•"/>
            </a:pPr>
            <a:r>
              <a:rPr lang="it"/>
              <a:t>If the type of the last parameter of a function is a function itself, and if the invoker is going to supply a lambda function as argument, then it is legal to move the lambda expression outside of the function call parentheses</a:t>
            </a:r>
            <a:endParaRPr/>
          </a:p>
          <a:p>
            <a:pPr marL="914400" lvl="1" indent="-330200" algn="l" rtl="0">
              <a:spcBef>
                <a:spcPts val="0"/>
              </a:spcBef>
              <a:spcAft>
                <a:spcPts val="0"/>
              </a:spcAft>
              <a:buSzPts val="1600"/>
              <a:buChar char="○"/>
            </a:pPr>
            <a:r>
              <a:rPr lang="it"/>
              <a:t>This approach is used extensively in many Kotlin libraries and APIs, and it is an essential part of the language's functional programming capabilities</a:t>
            </a:r>
            <a:endParaRPr/>
          </a:p>
        </p:txBody>
      </p:sp>
      <p:sp>
        <p:nvSpPr>
          <p:cNvPr id="261" name="Google Shape;261;p29"/>
          <p:cNvSpPr txBox="1"/>
          <p:nvPr/>
        </p:nvSpPr>
        <p:spPr>
          <a:xfrm>
            <a:off x="1138858" y="3150168"/>
            <a:ext cx="6866400" cy="1169700"/>
          </a:xfrm>
          <a:prstGeom prst="rect">
            <a:avLst/>
          </a:prstGeom>
          <a:solidFill>
            <a:srgbClr val="FFF2CC"/>
          </a:solidFill>
          <a:ln w="12700" cap="flat" cmpd="sng">
            <a:solidFill>
              <a:srgbClr val="000000"/>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spAutoFit/>
          </a:bodyPr>
          <a:lstStyle/>
          <a:p>
            <a:pPr marL="0" marR="0" lvl="0" indent="0" algn="l" rtl="0">
              <a:spcBef>
                <a:spcPts val="0"/>
              </a:spcBef>
              <a:spcAft>
                <a:spcPts val="0"/>
              </a:spcAft>
              <a:buSzPts val="1100"/>
              <a:buNone/>
            </a:pPr>
            <a:r>
              <a:rPr lang="it">
                <a:latin typeface="Consolas"/>
                <a:ea typeface="Consolas"/>
                <a:cs typeface="Consolas"/>
                <a:sym typeface="Consolas"/>
              </a:rPr>
              <a:t>fun </a:t>
            </a:r>
            <a:r>
              <a:rPr lang="it" b="1">
                <a:solidFill>
                  <a:srgbClr val="0B5394"/>
                </a:solidFill>
                <a:latin typeface="Consolas"/>
                <a:ea typeface="Consolas"/>
                <a:cs typeface="Consolas"/>
                <a:sym typeface="Consolas"/>
              </a:rPr>
              <a:t>combine</a:t>
            </a:r>
            <a:r>
              <a:rPr lang="it">
                <a:latin typeface="Consolas"/>
                <a:ea typeface="Consolas"/>
                <a:cs typeface="Consolas"/>
                <a:sym typeface="Consolas"/>
              </a:rPr>
              <a:t>(a: Int, b: Int, </a:t>
            </a:r>
            <a:r>
              <a:rPr lang="it" b="1">
                <a:solidFill>
                  <a:srgbClr val="0B5394"/>
                </a:solidFill>
                <a:latin typeface="Consolas"/>
                <a:ea typeface="Consolas"/>
                <a:cs typeface="Consolas"/>
                <a:sym typeface="Consolas"/>
              </a:rPr>
              <a:t>operation: (Int, Int) -&gt; Int): Int</a:t>
            </a:r>
            <a:r>
              <a:rPr lang="it">
                <a:latin typeface="Consolas"/>
                <a:ea typeface="Consolas"/>
                <a:cs typeface="Consolas"/>
                <a:sym typeface="Consolas"/>
              </a:rPr>
              <a:t> {</a:t>
            </a:r>
            <a:endParaRPr>
              <a:latin typeface="Consolas"/>
              <a:ea typeface="Consolas"/>
              <a:cs typeface="Consolas"/>
              <a:sym typeface="Consolas"/>
            </a:endParaRPr>
          </a:p>
          <a:p>
            <a:pPr marL="0" marR="0" lvl="0" indent="0" algn="l" rtl="0">
              <a:spcBef>
                <a:spcPts val="0"/>
              </a:spcBef>
              <a:spcAft>
                <a:spcPts val="0"/>
              </a:spcAft>
              <a:buSzPts val="1100"/>
              <a:buNone/>
            </a:pPr>
            <a:r>
              <a:rPr lang="it">
                <a:latin typeface="Consolas"/>
                <a:ea typeface="Consolas"/>
                <a:cs typeface="Consolas"/>
                <a:sym typeface="Consolas"/>
              </a:rPr>
              <a:t>    return operation(a, b)</a:t>
            </a:r>
            <a:endParaRPr>
              <a:latin typeface="Consolas"/>
              <a:ea typeface="Consolas"/>
              <a:cs typeface="Consolas"/>
              <a:sym typeface="Consolas"/>
            </a:endParaRPr>
          </a:p>
          <a:p>
            <a:pPr marL="0" marR="0" lvl="0" indent="0" algn="l" rtl="0">
              <a:spcBef>
                <a:spcPts val="0"/>
              </a:spcBef>
              <a:spcAft>
                <a:spcPts val="0"/>
              </a:spcAft>
              <a:buSzPts val="1100"/>
              <a:buNone/>
            </a:pPr>
            <a:r>
              <a:rPr lang="it">
                <a:latin typeface="Consolas"/>
                <a:ea typeface="Consolas"/>
                <a:cs typeface="Consolas"/>
                <a:sym typeface="Consolas"/>
              </a:rPr>
              <a:t>}</a:t>
            </a:r>
            <a:endParaRPr>
              <a:latin typeface="Consolas"/>
              <a:ea typeface="Consolas"/>
              <a:cs typeface="Consolas"/>
              <a:sym typeface="Consolas"/>
            </a:endParaRPr>
          </a:p>
          <a:p>
            <a:pPr marL="0" marR="0" lvl="0" indent="0" algn="l" rtl="0">
              <a:spcBef>
                <a:spcPts val="0"/>
              </a:spcBef>
              <a:spcAft>
                <a:spcPts val="0"/>
              </a:spcAft>
              <a:buSzPts val="1100"/>
              <a:buNone/>
            </a:pPr>
            <a:endParaRPr>
              <a:latin typeface="Consolas"/>
              <a:ea typeface="Consolas"/>
              <a:cs typeface="Consolas"/>
              <a:sym typeface="Consolas"/>
            </a:endParaRPr>
          </a:p>
          <a:p>
            <a:pPr marL="0" marR="0" lvl="0" indent="0" algn="l" rtl="0">
              <a:spcBef>
                <a:spcPts val="0"/>
              </a:spcBef>
              <a:spcAft>
                <a:spcPts val="0"/>
              </a:spcAft>
              <a:buSzPts val="1100"/>
              <a:buNone/>
            </a:pPr>
            <a:r>
              <a:rPr lang="it">
                <a:latin typeface="Consolas"/>
                <a:ea typeface="Consolas"/>
                <a:cs typeface="Consolas"/>
                <a:sym typeface="Consolas"/>
              </a:rPr>
              <a:t>val result = </a:t>
            </a:r>
            <a:r>
              <a:rPr lang="it" b="1">
                <a:solidFill>
                  <a:srgbClr val="0B5394"/>
                </a:solidFill>
                <a:latin typeface="Consolas"/>
                <a:ea typeface="Consolas"/>
                <a:cs typeface="Consolas"/>
                <a:sym typeface="Consolas"/>
              </a:rPr>
              <a:t>combine</a:t>
            </a:r>
            <a:r>
              <a:rPr lang="it">
                <a:latin typeface="Consolas"/>
                <a:ea typeface="Consolas"/>
                <a:cs typeface="Consolas"/>
                <a:sym typeface="Consolas"/>
              </a:rPr>
              <a:t>(5, 10) </a:t>
            </a:r>
            <a:r>
              <a:rPr lang="it" b="1">
                <a:solidFill>
                  <a:srgbClr val="0B5394"/>
                </a:solidFill>
                <a:latin typeface="Consolas"/>
                <a:ea typeface="Consolas"/>
                <a:cs typeface="Consolas"/>
                <a:sym typeface="Consolas"/>
              </a:rPr>
              <a:t>{ x, y -&gt; x + y }</a:t>
            </a:r>
            <a:r>
              <a:rPr lang="it">
                <a:solidFill>
                  <a:schemeClr val="dk1"/>
                </a:solidFill>
                <a:latin typeface="Consolas"/>
                <a:ea typeface="Consolas"/>
                <a:cs typeface="Consolas"/>
                <a:sym typeface="Consolas"/>
              </a:rPr>
              <a:t>	// → 15</a:t>
            </a:r>
            <a:endParaRPr b="1">
              <a:solidFill>
                <a:srgbClr val="0B5394"/>
              </a:solidFill>
              <a:latin typeface="Consolas"/>
              <a:ea typeface="Consolas"/>
              <a:cs typeface="Consolas"/>
              <a:sym typeface="Consola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3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it" sz="2820"/>
              <a:t>Higher order functions</a:t>
            </a:r>
            <a:endParaRPr sz="2820"/>
          </a:p>
        </p:txBody>
      </p:sp>
      <p:sp>
        <p:nvSpPr>
          <p:cNvPr id="267" name="Google Shape;267;p30"/>
          <p:cNvSpPr txBox="1">
            <a:spLocks noGrp="1"/>
          </p:cNvSpPr>
          <p:nvPr>
            <p:ph type="sldNum" idx="12"/>
          </p:nvPr>
        </p:nvSpPr>
        <p:spPr>
          <a:xfrm>
            <a:off x="8472458" y="476850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it"/>
              <a:t>24</a:t>
            </a:fld>
            <a:endParaRPr/>
          </a:p>
        </p:txBody>
      </p:sp>
      <p:sp>
        <p:nvSpPr>
          <p:cNvPr id="268" name="Google Shape;268;p30"/>
          <p:cNvSpPr txBox="1">
            <a:spLocks noGrp="1"/>
          </p:cNvSpPr>
          <p:nvPr>
            <p:ph type="body" idx="1"/>
          </p:nvPr>
        </p:nvSpPr>
        <p:spPr>
          <a:xfrm>
            <a:off x="311150" y="1244204"/>
            <a:ext cx="8521800" cy="3393300"/>
          </a:xfrm>
          <a:prstGeom prst="rect">
            <a:avLst/>
          </a:prstGeom>
        </p:spPr>
        <p:txBody>
          <a:bodyPr spcFirstLastPara="1" wrap="square" lIns="91425" tIns="45700" rIns="91425" bIns="45700" anchor="t" anchorCtr="0">
            <a:normAutofit lnSpcReduction="10000"/>
          </a:bodyPr>
          <a:lstStyle/>
          <a:p>
            <a:pPr marL="457200" lvl="0" indent="-355600" algn="l" rtl="0">
              <a:spcBef>
                <a:spcPts val="600"/>
              </a:spcBef>
              <a:spcAft>
                <a:spcPts val="0"/>
              </a:spcAft>
              <a:buSzPts val="2000"/>
              <a:buChar char="•"/>
            </a:pPr>
            <a:r>
              <a:rPr lang="it"/>
              <a:t>Functions can receive other functions as parameters or return them as values</a:t>
            </a:r>
            <a:endParaRPr/>
          </a:p>
          <a:p>
            <a:pPr marL="914400" lvl="1" indent="-330200" algn="l" rtl="0">
              <a:spcBef>
                <a:spcPts val="0"/>
              </a:spcBef>
              <a:spcAft>
                <a:spcPts val="0"/>
              </a:spcAft>
              <a:buSzPts val="1600"/>
              <a:buChar char="○"/>
            </a:pPr>
            <a:r>
              <a:rPr lang="it"/>
              <a:t>Typical pattern used by functional-programming paradigm</a:t>
            </a:r>
            <a:endParaRPr/>
          </a:p>
          <a:p>
            <a:pPr marL="457200" lvl="0" indent="-355600" algn="l" rtl="0">
              <a:spcBef>
                <a:spcPts val="0"/>
              </a:spcBef>
              <a:spcAft>
                <a:spcPts val="0"/>
              </a:spcAft>
              <a:buSzPts val="2000"/>
              <a:buChar char="•"/>
            </a:pPr>
            <a:r>
              <a:rPr lang="it"/>
              <a:t>HOFs make code more concise and expressive</a:t>
            </a:r>
            <a:endParaRPr/>
          </a:p>
          <a:p>
            <a:pPr marL="914400" lvl="1" indent="-330200" algn="l" rtl="0">
              <a:spcBef>
                <a:spcPts val="0"/>
              </a:spcBef>
              <a:spcAft>
                <a:spcPts val="0"/>
              </a:spcAft>
              <a:buSzPts val="1600"/>
              <a:buChar char="○"/>
            </a:pPr>
            <a:r>
              <a:rPr lang="it"/>
              <a:t>Since they allow to pass behavior (in the form of functions) as arguments to other functions, or to return a behavior (function) that conditionally depends on received arguments</a:t>
            </a:r>
            <a:endParaRPr/>
          </a:p>
          <a:p>
            <a:pPr marL="457200" lvl="0" indent="-355600" algn="l" rtl="0">
              <a:spcBef>
                <a:spcPts val="0"/>
              </a:spcBef>
              <a:spcAft>
                <a:spcPts val="0"/>
              </a:spcAft>
              <a:buSzPts val="2000"/>
              <a:buChar char="•"/>
            </a:pPr>
            <a:r>
              <a:rPr lang="it"/>
              <a:t>HOFs are extremely powerful, and can be used to implement various design patterns</a:t>
            </a:r>
            <a:endParaRPr/>
          </a:p>
          <a:p>
            <a:pPr marL="914400" lvl="1" indent="-330200" algn="l" rtl="0">
              <a:spcBef>
                <a:spcPts val="0"/>
              </a:spcBef>
              <a:spcAft>
                <a:spcPts val="0"/>
              </a:spcAft>
              <a:buSzPts val="1600"/>
              <a:buChar char="○"/>
            </a:pPr>
            <a:r>
              <a:rPr lang="it"/>
              <a:t>such as the strategy pattern, the observer pattern, and the decorator pattern, among others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3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it" sz="2820"/>
              <a:t>Closures</a:t>
            </a:r>
            <a:endParaRPr sz="2820"/>
          </a:p>
        </p:txBody>
      </p:sp>
      <p:sp>
        <p:nvSpPr>
          <p:cNvPr id="274" name="Google Shape;274;p31"/>
          <p:cNvSpPr txBox="1">
            <a:spLocks noGrp="1"/>
          </p:cNvSpPr>
          <p:nvPr>
            <p:ph type="body" idx="1"/>
          </p:nvPr>
        </p:nvSpPr>
        <p:spPr>
          <a:xfrm>
            <a:off x="311150" y="1244204"/>
            <a:ext cx="8521800" cy="3393300"/>
          </a:xfrm>
          <a:prstGeom prst="rect">
            <a:avLst/>
          </a:prstGeom>
        </p:spPr>
        <p:txBody>
          <a:bodyPr spcFirstLastPara="1" wrap="square" lIns="91425" tIns="45700" rIns="91425" bIns="45700" anchor="t" anchorCtr="0">
            <a:normAutofit/>
          </a:bodyPr>
          <a:lstStyle/>
          <a:p>
            <a:pPr marL="457200" lvl="0" indent="-355600" algn="l" rtl="0">
              <a:spcBef>
                <a:spcPts val="600"/>
              </a:spcBef>
              <a:spcAft>
                <a:spcPts val="0"/>
              </a:spcAft>
              <a:buSzPts val="2000"/>
              <a:buChar char="•"/>
            </a:pPr>
            <a:r>
              <a:rPr lang="it"/>
              <a:t>Closures are functions that capture the state of its surrounding environment, including any variables or objects that are in scope</a:t>
            </a:r>
            <a:endParaRPr/>
          </a:p>
          <a:p>
            <a:pPr marL="914400" lvl="1" indent="-330200" algn="l" rtl="0">
              <a:spcBef>
                <a:spcPts val="0"/>
              </a:spcBef>
              <a:spcAft>
                <a:spcPts val="0"/>
              </a:spcAft>
              <a:buSzPts val="1600"/>
              <a:buChar char="○"/>
            </a:pPr>
            <a:r>
              <a:rPr lang="it"/>
              <a:t>In Kotlin, closures are created automatically when lambda expressions or function literals reference variables from the enclosing scopes</a:t>
            </a:r>
            <a:endParaRPr/>
          </a:p>
          <a:p>
            <a:pPr marL="914400" lvl="1" indent="-330200" algn="l" rtl="0">
              <a:spcBef>
                <a:spcPts val="0"/>
              </a:spcBef>
              <a:spcAft>
                <a:spcPts val="0"/>
              </a:spcAft>
              <a:buSzPts val="1600"/>
              <a:buChar char="○"/>
            </a:pPr>
            <a:r>
              <a:rPr lang="it"/>
              <a:t>The life-cycle of the captured variable is thus extended: as long as the closure exists, the captured variable remains accessible, even if the function where it was defined returned</a:t>
            </a:r>
            <a:endParaRPr/>
          </a:p>
        </p:txBody>
      </p:sp>
      <p:sp>
        <p:nvSpPr>
          <p:cNvPr id="275" name="Google Shape;275;p31"/>
          <p:cNvSpPr txBox="1"/>
          <p:nvPr/>
        </p:nvSpPr>
        <p:spPr>
          <a:xfrm>
            <a:off x="651175" y="3174773"/>
            <a:ext cx="3850500" cy="1477500"/>
          </a:xfrm>
          <a:prstGeom prst="rect">
            <a:avLst/>
          </a:prstGeom>
          <a:solidFill>
            <a:srgbClr val="FFF2CC"/>
          </a:solidFill>
          <a:ln w="9525" cap="flat" cmpd="sng">
            <a:solidFill>
              <a:schemeClr val="dk1"/>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t" anchorCtr="0">
            <a:spAutoFit/>
          </a:bodyPr>
          <a:lstStyle/>
          <a:p>
            <a:pPr marL="0" lvl="0" indent="0" algn="l" rtl="0">
              <a:spcBef>
                <a:spcPts val="0"/>
              </a:spcBef>
              <a:spcAft>
                <a:spcPts val="0"/>
              </a:spcAft>
              <a:buNone/>
            </a:pPr>
            <a:r>
              <a:rPr lang="it">
                <a:latin typeface="Consolas"/>
                <a:ea typeface="Consolas"/>
                <a:cs typeface="Consolas"/>
                <a:sym typeface="Consolas"/>
              </a:rPr>
              <a:t>fun </a:t>
            </a:r>
            <a:r>
              <a:rPr lang="it" b="1">
                <a:solidFill>
                  <a:srgbClr val="0B5394"/>
                </a:solidFill>
                <a:latin typeface="Consolas"/>
                <a:ea typeface="Consolas"/>
                <a:cs typeface="Consolas"/>
                <a:sym typeface="Consolas"/>
              </a:rPr>
              <a:t>createGenerator</a:t>
            </a:r>
            <a:r>
              <a:rPr lang="it">
                <a:latin typeface="Consolas"/>
                <a:ea typeface="Consolas"/>
                <a:cs typeface="Consolas"/>
                <a:sym typeface="Consolas"/>
              </a:rPr>
              <a:t>(): </a:t>
            </a:r>
            <a:r>
              <a:rPr lang="it" b="1">
                <a:solidFill>
                  <a:srgbClr val="0B5394"/>
                </a:solidFill>
                <a:latin typeface="Consolas"/>
                <a:ea typeface="Consolas"/>
                <a:cs typeface="Consolas"/>
                <a:sym typeface="Consolas"/>
              </a:rPr>
              <a:t>() -&gt; Int</a:t>
            </a:r>
            <a:r>
              <a:rPr lang="it">
                <a:latin typeface="Consolas"/>
                <a:ea typeface="Consolas"/>
                <a:cs typeface="Consolas"/>
                <a:sym typeface="Consolas"/>
              </a:rPr>
              <a:t> {</a:t>
            </a:r>
            <a:endParaRPr>
              <a:latin typeface="Consolas"/>
              <a:ea typeface="Consolas"/>
              <a:cs typeface="Consolas"/>
              <a:sym typeface="Consolas"/>
            </a:endParaRPr>
          </a:p>
          <a:p>
            <a:pPr marL="0" lvl="0" indent="0" algn="l" rtl="0">
              <a:spcBef>
                <a:spcPts val="0"/>
              </a:spcBef>
              <a:spcAft>
                <a:spcPts val="0"/>
              </a:spcAft>
              <a:buNone/>
            </a:pPr>
            <a:r>
              <a:rPr lang="it">
                <a:latin typeface="Consolas"/>
                <a:ea typeface="Consolas"/>
                <a:cs typeface="Consolas"/>
                <a:sym typeface="Consolas"/>
              </a:rPr>
              <a:t>  </a:t>
            </a:r>
            <a:r>
              <a:rPr lang="it">
                <a:highlight>
                  <a:schemeClr val="accent6"/>
                </a:highlight>
                <a:latin typeface="Consolas"/>
                <a:ea typeface="Consolas"/>
                <a:cs typeface="Consolas"/>
                <a:sym typeface="Consolas"/>
              </a:rPr>
              <a:t>var c </a:t>
            </a:r>
            <a:r>
              <a:rPr lang="it">
                <a:latin typeface="Consolas"/>
                <a:ea typeface="Consolas"/>
                <a:cs typeface="Consolas"/>
                <a:sym typeface="Consolas"/>
              </a:rPr>
              <a:t>= 0</a:t>
            </a:r>
            <a:endParaRPr>
              <a:latin typeface="Consolas"/>
              <a:ea typeface="Consolas"/>
              <a:cs typeface="Consolas"/>
              <a:sym typeface="Consolas"/>
            </a:endParaRPr>
          </a:p>
          <a:p>
            <a:pPr marL="0" lvl="0" indent="0" algn="l" rtl="0">
              <a:spcBef>
                <a:spcPts val="0"/>
              </a:spcBef>
              <a:spcAft>
                <a:spcPts val="0"/>
              </a:spcAft>
              <a:buNone/>
            </a:pPr>
            <a:r>
              <a:rPr lang="it">
                <a:latin typeface="Consolas"/>
                <a:ea typeface="Consolas"/>
                <a:cs typeface="Consolas"/>
                <a:sym typeface="Consolas"/>
              </a:rPr>
              <a:t>  return { </a:t>
            </a:r>
            <a:r>
              <a:rPr lang="it">
                <a:highlight>
                  <a:schemeClr val="accent6"/>
                </a:highlight>
                <a:latin typeface="Consolas"/>
                <a:ea typeface="Consolas"/>
                <a:cs typeface="Consolas"/>
                <a:sym typeface="Consolas"/>
              </a:rPr>
              <a:t>++c</a:t>
            </a:r>
            <a:r>
              <a:rPr lang="it">
                <a:latin typeface="Consolas"/>
                <a:ea typeface="Consolas"/>
                <a:cs typeface="Consolas"/>
                <a:sym typeface="Consolas"/>
              </a:rPr>
              <a:t> }</a:t>
            </a:r>
            <a:endParaRPr>
              <a:latin typeface="Consolas"/>
              <a:ea typeface="Consolas"/>
              <a:cs typeface="Consolas"/>
              <a:sym typeface="Consolas"/>
            </a:endParaRPr>
          </a:p>
          <a:p>
            <a:pPr marL="0" lvl="0" indent="0" algn="l" rtl="0">
              <a:spcBef>
                <a:spcPts val="0"/>
              </a:spcBef>
              <a:spcAft>
                <a:spcPts val="0"/>
              </a:spcAft>
              <a:buNone/>
            </a:pPr>
            <a:r>
              <a:rPr lang="it">
                <a:latin typeface="Consolas"/>
                <a:ea typeface="Consolas"/>
                <a:cs typeface="Consolas"/>
                <a:sym typeface="Consolas"/>
              </a:rPr>
              <a:t>}</a:t>
            </a:r>
            <a:endParaRPr>
              <a:latin typeface="Consolas"/>
              <a:ea typeface="Consolas"/>
              <a:cs typeface="Consolas"/>
              <a:sym typeface="Consolas"/>
            </a:endParaRPr>
          </a:p>
          <a:p>
            <a:pPr marL="0" lvl="0" indent="0" algn="l" rtl="0">
              <a:spcBef>
                <a:spcPts val="0"/>
              </a:spcBef>
              <a:spcAft>
                <a:spcPts val="0"/>
              </a:spcAft>
              <a:buClr>
                <a:schemeClr val="dk1"/>
              </a:buClr>
              <a:buSzPts val="1100"/>
              <a:buFont typeface="Arial"/>
              <a:buNone/>
            </a:pPr>
            <a:r>
              <a:rPr lang="it">
                <a:solidFill>
                  <a:schemeClr val="dk1"/>
                </a:solidFill>
                <a:latin typeface="Consolas"/>
                <a:ea typeface="Consolas"/>
                <a:cs typeface="Consolas"/>
                <a:sym typeface="Consolas"/>
              </a:rPr>
              <a:t>val g1 = createGenerator()</a:t>
            </a:r>
            <a:endParaRPr>
              <a:solidFill>
                <a:schemeClr val="dk1"/>
              </a:solidFill>
              <a:latin typeface="Consolas"/>
              <a:ea typeface="Consolas"/>
              <a:cs typeface="Consolas"/>
              <a:sym typeface="Consolas"/>
            </a:endParaRPr>
          </a:p>
          <a:p>
            <a:pPr marL="0" lvl="0" indent="0" algn="l" rtl="0">
              <a:spcBef>
                <a:spcPts val="0"/>
              </a:spcBef>
              <a:spcAft>
                <a:spcPts val="0"/>
              </a:spcAft>
              <a:buClr>
                <a:schemeClr val="dk1"/>
              </a:buClr>
              <a:buSzPts val="1100"/>
              <a:buFont typeface="Arial"/>
              <a:buNone/>
            </a:pPr>
            <a:r>
              <a:rPr lang="it">
                <a:solidFill>
                  <a:schemeClr val="dk1"/>
                </a:solidFill>
                <a:latin typeface="Consolas"/>
                <a:ea typeface="Consolas"/>
                <a:cs typeface="Consolas"/>
                <a:sym typeface="Consolas"/>
              </a:rPr>
              <a:t>val g2 = createGenerator()</a:t>
            </a:r>
            <a:endParaRPr>
              <a:latin typeface="Consolas"/>
              <a:ea typeface="Consolas"/>
              <a:cs typeface="Consolas"/>
              <a:sym typeface="Consolas"/>
            </a:endParaRPr>
          </a:p>
        </p:txBody>
      </p:sp>
      <p:sp>
        <p:nvSpPr>
          <p:cNvPr id="276" name="Google Shape;276;p31"/>
          <p:cNvSpPr txBox="1"/>
          <p:nvPr/>
        </p:nvSpPr>
        <p:spPr>
          <a:xfrm>
            <a:off x="4644700" y="3174773"/>
            <a:ext cx="3850500" cy="1477500"/>
          </a:xfrm>
          <a:prstGeom prst="rect">
            <a:avLst/>
          </a:prstGeom>
          <a:solidFill>
            <a:srgbClr val="FFF2CC"/>
          </a:solidFill>
          <a:ln w="9525" cap="flat" cmpd="sng">
            <a:solidFill>
              <a:schemeClr val="dk1"/>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it">
                <a:solidFill>
                  <a:schemeClr val="dk1"/>
                </a:solidFill>
                <a:latin typeface="Consolas"/>
                <a:ea typeface="Consolas"/>
                <a:cs typeface="Consolas"/>
                <a:sym typeface="Consolas"/>
              </a:rPr>
              <a:t>println( g1() ) // 1</a:t>
            </a:r>
            <a:endParaRPr>
              <a:solidFill>
                <a:schemeClr val="dk1"/>
              </a:solidFill>
              <a:latin typeface="Consolas"/>
              <a:ea typeface="Consolas"/>
              <a:cs typeface="Consolas"/>
              <a:sym typeface="Consolas"/>
            </a:endParaRPr>
          </a:p>
          <a:p>
            <a:pPr marL="0" lvl="0" indent="0" algn="l" rtl="0">
              <a:spcBef>
                <a:spcPts val="0"/>
              </a:spcBef>
              <a:spcAft>
                <a:spcPts val="0"/>
              </a:spcAft>
              <a:buClr>
                <a:schemeClr val="dk1"/>
              </a:buClr>
              <a:buSzPts val="1100"/>
              <a:buFont typeface="Arial"/>
              <a:buNone/>
            </a:pPr>
            <a:r>
              <a:rPr lang="it">
                <a:solidFill>
                  <a:schemeClr val="dk1"/>
                </a:solidFill>
                <a:latin typeface="Consolas"/>
                <a:ea typeface="Consolas"/>
                <a:cs typeface="Consolas"/>
                <a:sym typeface="Consolas"/>
              </a:rPr>
              <a:t>println( g1() ) // 2</a:t>
            </a:r>
            <a:endParaRPr>
              <a:latin typeface="Consolas"/>
              <a:ea typeface="Consolas"/>
              <a:cs typeface="Consolas"/>
              <a:sym typeface="Consolas"/>
            </a:endParaRPr>
          </a:p>
          <a:p>
            <a:pPr marL="0" lvl="0" indent="0" algn="l" rtl="0">
              <a:spcBef>
                <a:spcPts val="0"/>
              </a:spcBef>
              <a:spcAft>
                <a:spcPts val="0"/>
              </a:spcAft>
              <a:buNone/>
            </a:pPr>
            <a:endParaRPr>
              <a:latin typeface="Consolas"/>
              <a:ea typeface="Consolas"/>
              <a:cs typeface="Consolas"/>
              <a:sym typeface="Consolas"/>
            </a:endParaRPr>
          </a:p>
          <a:p>
            <a:pPr marL="0" lvl="0" indent="0" algn="l" rtl="0">
              <a:spcBef>
                <a:spcPts val="0"/>
              </a:spcBef>
              <a:spcAft>
                <a:spcPts val="0"/>
              </a:spcAft>
              <a:buNone/>
            </a:pPr>
            <a:r>
              <a:rPr lang="it">
                <a:latin typeface="Consolas"/>
                <a:ea typeface="Consolas"/>
                <a:cs typeface="Consolas"/>
                <a:sym typeface="Consolas"/>
              </a:rPr>
              <a:t>println( g2() ) // 1</a:t>
            </a:r>
            <a:endParaRPr>
              <a:latin typeface="Consolas"/>
              <a:ea typeface="Consolas"/>
              <a:cs typeface="Consolas"/>
              <a:sym typeface="Consolas"/>
            </a:endParaRPr>
          </a:p>
          <a:p>
            <a:pPr marL="0" lvl="0" indent="0" algn="l" rtl="0">
              <a:spcBef>
                <a:spcPts val="0"/>
              </a:spcBef>
              <a:spcAft>
                <a:spcPts val="0"/>
              </a:spcAft>
              <a:buNone/>
            </a:pPr>
            <a:r>
              <a:rPr lang="it">
                <a:latin typeface="Consolas"/>
                <a:ea typeface="Consolas"/>
                <a:cs typeface="Consolas"/>
                <a:sym typeface="Consolas"/>
              </a:rPr>
              <a:t>println( g2() ) // 2</a:t>
            </a:r>
            <a:endParaRPr>
              <a:latin typeface="Consolas"/>
              <a:ea typeface="Consolas"/>
              <a:cs typeface="Consolas"/>
              <a:sym typeface="Consolas"/>
            </a:endParaRPr>
          </a:p>
          <a:p>
            <a:pPr marL="0" lvl="0" indent="0" algn="l" rtl="0">
              <a:spcBef>
                <a:spcPts val="0"/>
              </a:spcBef>
              <a:spcAft>
                <a:spcPts val="0"/>
              </a:spcAft>
              <a:buNone/>
            </a:pPr>
            <a:endParaRPr>
              <a:latin typeface="Consolas"/>
              <a:ea typeface="Consolas"/>
              <a:cs typeface="Consolas"/>
              <a:sym typeface="Consolas"/>
            </a:endParaRPr>
          </a:p>
        </p:txBody>
      </p:sp>
      <p:sp>
        <p:nvSpPr>
          <p:cNvPr id="277" name="Google Shape;277;p31"/>
          <p:cNvSpPr txBox="1">
            <a:spLocks noGrp="1"/>
          </p:cNvSpPr>
          <p:nvPr>
            <p:ph type="sldNum" idx="12"/>
          </p:nvPr>
        </p:nvSpPr>
        <p:spPr>
          <a:xfrm>
            <a:off x="8472458" y="476850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it"/>
              <a:t>25</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3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t" sz="2800"/>
              <a:t>User defined types</a:t>
            </a:r>
            <a:endParaRPr sz="2800"/>
          </a:p>
        </p:txBody>
      </p:sp>
      <p:sp>
        <p:nvSpPr>
          <p:cNvPr id="283" name="Google Shape;283;p32"/>
          <p:cNvSpPr txBox="1">
            <a:spLocks noGrp="1"/>
          </p:cNvSpPr>
          <p:nvPr>
            <p:ph type="body" idx="1"/>
          </p:nvPr>
        </p:nvSpPr>
        <p:spPr>
          <a:xfrm>
            <a:off x="311150" y="1244204"/>
            <a:ext cx="8521800" cy="3393300"/>
          </a:xfrm>
          <a:prstGeom prst="rect">
            <a:avLst/>
          </a:prstGeom>
        </p:spPr>
        <p:txBody>
          <a:bodyPr spcFirstLastPara="1" wrap="square" lIns="91425" tIns="45700" rIns="91425" bIns="45700" anchor="t" anchorCtr="0">
            <a:normAutofit fontScale="85000" lnSpcReduction="10000"/>
          </a:bodyPr>
          <a:lstStyle/>
          <a:p>
            <a:pPr marL="457200" lvl="0" indent="-336550" algn="l" rtl="0">
              <a:spcBef>
                <a:spcPts val="600"/>
              </a:spcBef>
              <a:spcAft>
                <a:spcPts val="0"/>
              </a:spcAft>
              <a:buSzPct val="100000"/>
              <a:buChar char="•"/>
            </a:pPr>
            <a:r>
              <a:rPr lang="it" b="1">
                <a:solidFill>
                  <a:srgbClr val="0B5394"/>
                </a:solidFill>
              </a:rPr>
              <a:t>Classes</a:t>
            </a:r>
            <a:r>
              <a:rPr lang="it"/>
              <a:t> </a:t>
            </a:r>
            <a:endParaRPr/>
          </a:p>
          <a:p>
            <a:pPr marL="914400" lvl="1" indent="-314960" algn="l" rtl="0">
              <a:spcBef>
                <a:spcPts val="300"/>
              </a:spcBef>
              <a:spcAft>
                <a:spcPts val="0"/>
              </a:spcAft>
              <a:buSzPct val="100000"/>
              <a:buChar char="○"/>
            </a:pPr>
            <a:r>
              <a:rPr lang="it"/>
              <a:t>Kotlin fully supports the object-oriented paradigm and provides a set of built-in classes with a single inheritance hierarchy</a:t>
            </a:r>
            <a:endParaRPr/>
          </a:p>
          <a:p>
            <a:pPr marL="914400" lvl="1" indent="-314960" algn="l" rtl="0">
              <a:spcBef>
                <a:spcPts val="300"/>
              </a:spcBef>
              <a:spcAft>
                <a:spcPts val="0"/>
              </a:spcAft>
              <a:buSzPct val="100000"/>
              <a:buChar char="○"/>
            </a:pPr>
            <a:r>
              <a:rPr lang="it"/>
              <a:t>More classes can be defined as extensions of existing ones</a:t>
            </a:r>
            <a:endParaRPr/>
          </a:p>
          <a:p>
            <a:pPr marL="914400" lvl="1" indent="-314960" algn="l" rtl="0">
              <a:spcBef>
                <a:spcPts val="300"/>
              </a:spcBef>
              <a:spcAft>
                <a:spcPts val="0"/>
              </a:spcAft>
              <a:buSzPct val="100000"/>
              <a:buChar char="○"/>
            </a:pPr>
            <a:r>
              <a:rPr lang="it"/>
              <a:t>If no parent class is specified, the compiler automatically assumes the built-in class </a:t>
            </a:r>
            <a:r>
              <a:rPr lang="it" b="1">
                <a:solidFill>
                  <a:srgbClr val="0B5394"/>
                </a:solidFill>
              </a:rPr>
              <a:t>Any</a:t>
            </a:r>
            <a:r>
              <a:rPr lang="it"/>
              <a:t> as a parent class</a:t>
            </a:r>
            <a:endParaRPr/>
          </a:p>
          <a:p>
            <a:pPr marL="914400" lvl="1" indent="-314960" algn="l" rtl="0">
              <a:spcBef>
                <a:spcPts val="300"/>
              </a:spcBef>
              <a:spcAft>
                <a:spcPts val="0"/>
              </a:spcAft>
              <a:buSzPct val="100000"/>
              <a:buChar char="○"/>
            </a:pPr>
            <a:r>
              <a:rPr lang="it"/>
              <a:t>A class encapsulates constructors, methods, and properties</a:t>
            </a:r>
            <a:endParaRPr/>
          </a:p>
          <a:p>
            <a:pPr marL="457200" lvl="0" indent="-336550" algn="l" rtl="0">
              <a:spcBef>
                <a:spcPts val="600"/>
              </a:spcBef>
              <a:spcAft>
                <a:spcPts val="0"/>
              </a:spcAft>
              <a:buSzPct val="100000"/>
              <a:buChar char="•"/>
            </a:pPr>
            <a:r>
              <a:rPr lang="it"/>
              <a:t>Several variations of the class concept are provided</a:t>
            </a:r>
            <a:endParaRPr/>
          </a:p>
          <a:p>
            <a:pPr marL="914400" lvl="1" indent="-314960" algn="l" rtl="0">
              <a:spcBef>
                <a:spcPts val="300"/>
              </a:spcBef>
              <a:spcAft>
                <a:spcPts val="0"/>
              </a:spcAft>
              <a:buSzPct val="100000"/>
              <a:buChar char="○"/>
            </a:pPr>
            <a:r>
              <a:rPr lang="it" b="1">
                <a:solidFill>
                  <a:srgbClr val="0B5394"/>
                </a:solidFill>
              </a:rPr>
              <a:t>Abstract</a:t>
            </a:r>
            <a:r>
              <a:rPr lang="it"/>
              <a:t> classes, </a:t>
            </a:r>
            <a:r>
              <a:rPr lang="it" b="1">
                <a:solidFill>
                  <a:srgbClr val="0B5394"/>
                </a:solidFill>
              </a:rPr>
              <a:t>data</a:t>
            </a:r>
            <a:r>
              <a:rPr lang="it"/>
              <a:t> classes, </a:t>
            </a:r>
            <a:r>
              <a:rPr lang="it" b="1">
                <a:solidFill>
                  <a:srgbClr val="0B5394"/>
                </a:solidFill>
              </a:rPr>
              <a:t>sealed</a:t>
            </a:r>
            <a:r>
              <a:rPr lang="it"/>
              <a:t> classes, singleton </a:t>
            </a:r>
            <a:r>
              <a:rPr lang="it" b="1">
                <a:solidFill>
                  <a:srgbClr val="0B5394"/>
                </a:solidFill>
              </a:rPr>
              <a:t>objects</a:t>
            </a:r>
            <a:r>
              <a:rPr lang="it"/>
              <a:t>, …</a:t>
            </a:r>
            <a:endParaRPr/>
          </a:p>
          <a:p>
            <a:pPr marL="457200" lvl="0" indent="-336550" algn="l" rtl="0">
              <a:spcBef>
                <a:spcPts val="600"/>
              </a:spcBef>
              <a:spcAft>
                <a:spcPts val="0"/>
              </a:spcAft>
              <a:buSzPct val="100000"/>
              <a:buChar char="•"/>
            </a:pPr>
            <a:r>
              <a:rPr lang="it" b="1">
                <a:solidFill>
                  <a:srgbClr val="0B5394"/>
                </a:solidFill>
              </a:rPr>
              <a:t>Interfaces</a:t>
            </a:r>
            <a:r>
              <a:rPr lang="it"/>
              <a:t> </a:t>
            </a:r>
            <a:endParaRPr/>
          </a:p>
          <a:p>
            <a:pPr marL="914400" lvl="1" indent="-314960" algn="l" rtl="0">
              <a:spcBef>
                <a:spcPts val="300"/>
              </a:spcBef>
              <a:spcAft>
                <a:spcPts val="0"/>
              </a:spcAft>
              <a:buSzPct val="100000"/>
              <a:buChar char="○"/>
            </a:pPr>
            <a:r>
              <a:rPr lang="it"/>
              <a:t>An interface introduces a new abstract type, declaring a set of methods and properties to be implemented</a:t>
            </a:r>
            <a:endParaRPr/>
          </a:p>
          <a:p>
            <a:pPr marL="914400" lvl="1" indent="-314960" algn="l" rtl="0">
              <a:spcBef>
                <a:spcPts val="300"/>
              </a:spcBef>
              <a:spcAft>
                <a:spcPts val="0"/>
              </a:spcAft>
              <a:buSzPct val="100000"/>
              <a:buChar char="○"/>
            </a:pPr>
            <a:r>
              <a:rPr lang="it"/>
              <a:t>Interfaces may be organised in a multiple (zero or more) inheritance hierarchies among themselves</a:t>
            </a:r>
            <a:endParaRPr/>
          </a:p>
        </p:txBody>
      </p:sp>
      <p:sp>
        <p:nvSpPr>
          <p:cNvPr id="284" name="Google Shape;284;p32"/>
          <p:cNvSpPr txBox="1">
            <a:spLocks noGrp="1"/>
          </p:cNvSpPr>
          <p:nvPr>
            <p:ph type="sldNum" idx="12"/>
          </p:nvPr>
        </p:nvSpPr>
        <p:spPr>
          <a:xfrm>
            <a:off x="8472458" y="476850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it"/>
              <a:t>26</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3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it" sz="2820"/>
              <a:t>Classes</a:t>
            </a:r>
            <a:endParaRPr sz="2820"/>
          </a:p>
        </p:txBody>
      </p:sp>
      <p:sp>
        <p:nvSpPr>
          <p:cNvPr id="290" name="Google Shape;290;p33"/>
          <p:cNvSpPr txBox="1">
            <a:spLocks noGrp="1"/>
          </p:cNvSpPr>
          <p:nvPr>
            <p:ph type="body" idx="1"/>
          </p:nvPr>
        </p:nvSpPr>
        <p:spPr>
          <a:xfrm>
            <a:off x="311150" y="1244204"/>
            <a:ext cx="8521800" cy="3393300"/>
          </a:xfrm>
          <a:prstGeom prst="rect">
            <a:avLst/>
          </a:prstGeom>
        </p:spPr>
        <p:txBody>
          <a:bodyPr spcFirstLastPara="1" wrap="square" lIns="91425" tIns="45700" rIns="91425" bIns="45700" anchor="t" anchorCtr="0">
            <a:normAutofit/>
          </a:bodyPr>
          <a:lstStyle/>
          <a:p>
            <a:pPr marL="457200" lvl="0" indent="-355600" algn="l" rtl="0">
              <a:spcBef>
                <a:spcPts val="600"/>
              </a:spcBef>
              <a:spcAft>
                <a:spcPts val="0"/>
              </a:spcAft>
              <a:buSzPts val="2000"/>
              <a:buChar char="•"/>
            </a:pPr>
            <a:r>
              <a:rPr lang="it"/>
              <a:t>The </a:t>
            </a:r>
            <a:r>
              <a:rPr lang="it" b="1">
                <a:solidFill>
                  <a:srgbClr val="0B5394"/>
                </a:solidFill>
                <a:latin typeface="Consolas"/>
                <a:ea typeface="Consolas"/>
                <a:cs typeface="Consolas"/>
                <a:sym typeface="Consolas"/>
              </a:rPr>
              <a:t>class</a:t>
            </a:r>
            <a:r>
              <a:rPr lang="it"/>
              <a:t> keyword introduces a new class</a:t>
            </a:r>
            <a:endParaRPr/>
          </a:p>
          <a:p>
            <a:pPr marL="914400" lvl="1" indent="-330200" algn="l" rtl="0">
              <a:spcBef>
                <a:spcPts val="0"/>
              </a:spcBef>
              <a:spcAft>
                <a:spcPts val="0"/>
              </a:spcAft>
              <a:buSzPts val="1600"/>
              <a:buChar char="○"/>
            </a:pPr>
            <a:r>
              <a:rPr lang="it"/>
              <a:t>Classes have a </a:t>
            </a:r>
            <a:r>
              <a:rPr lang="it" b="1">
                <a:solidFill>
                  <a:srgbClr val="0B5394"/>
                </a:solidFill>
              </a:rPr>
              <a:t>primary constructor</a:t>
            </a:r>
            <a:r>
              <a:rPr lang="it"/>
              <a:t> and zero or more </a:t>
            </a:r>
            <a:r>
              <a:rPr lang="it" b="1">
                <a:solidFill>
                  <a:srgbClr val="0B5394"/>
                </a:solidFill>
              </a:rPr>
              <a:t>secondary</a:t>
            </a:r>
            <a:r>
              <a:rPr lang="it"/>
              <a:t> constructors</a:t>
            </a:r>
            <a:endParaRPr/>
          </a:p>
        </p:txBody>
      </p:sp>
      <p:sp>
        <p:nvSpPr>
          <p:cNvPr id="291" name="Google Shape;291;p33"/>
          <p:cNvSpPr txBox="1"/>
          <p:nvPr/>
        </p:nvSpPr>
        <p:spPr>
          <a:xfrm>
            <a:off x="1191900" y="1944525"/>
            <a:ext cx="6760200" cy="2678100"/>
          </a:xfrm>
          <a:prstGeom prst="rect">
            <a:avLst/>
          </a:prstGeom>
          <a:solidFill>
            <a:srgbClr val="FFF2CC"/>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lvl="0" indent="0" algn="l" rtl="0">
              <a:spcBef>
                <a:spcPts val="0"/>
              </a:spcBef>
              <a:spcAft>
                <a:spcPts val="0"/>
              </a:spcAft>
              <a:buNone/>
            </a:pPr>
            <a:r>
              <a:rPr lang="it" sz="1200" b="1">
                <a:solidFill>
                  <a:srgbClr val="0B5394"/>
                </a:solidFill>
                <a:latin typeface="Consolas"/>
                <a:ea typeface="Consolas"/>
                <a:cs typeface="Consolas"/>
                <a:sym typeface="Consolas"/>
              </a:rPr>
              <a:t>class</a:t>
            </a:r>
            <a:r>
              <a:rPr lang="it" sz="1200">
                <a:solidFill>
                  <a:schemeClr val="dk1"/>
                </a:solidFill>
                <a:latin typeface="Consolas"/>
                <a:ea typeface="Consolas"/>
                <a:cs typeface="Consolas"/>
                <a:sym typeface="Consolas"/>
              </a:rPr>
              <a:t> Person </a:t>
            </a:r>
            <a:r>
              <a:rPr lang="it" sz="1200" b="1">
                <a:solidFill>
                  <a:srgbClr val="0B5394"/>
                </a:solidFill>
                <a:latin typeface="Consolas"/>
                <a:ea typeface="Consolas"/>
                <a:cs typeface="Consolas"/>
                <a:sym typeface="Consolas"/>
              </a:rPr>
              <a:t>constructor</a:t>
            </a:r>
            <a:r>
              <a:rPr lang="it" sz="1200">
                <a:solidFill>
                  <a:schemeClr val="dk1"/>
                </a:solidFill>
                <a:latin typeface="Consolas"/>
                <a:ea typeface="Consolas"/>
                <a:cs typeface="Consolas"/>
                <a:sym typeface="Consolas"/>
              </a:rPr>
              <a:t>(</a:t>
            </a:r>
            <a:r>
              <a:rPr lang="it" sz="1200" b="1">
                <a:solidFill>
                  <a:srgbClr val="0B5394"/>
                </a:solidFill>
                <a:latin typeface="Consolas"/>
                <a:ea typeface="Consolas"/>
                <a:cs typeface="Consolas"/>
                <a:sym typeface="Consolas"/>
              </a:rPr>
              <a:t>val</a:t>
            </a:r>
            <a:r>
              <a:rPr lang="it" sz="1200">
                <a:solidFill>
                  <a:schemeClr val="dk1"/>
                </a:solidFill>
                <a:latin typeface="Consolas"/>
                <a:ea typeface="Consolas"/>
                <a:cs typeface="Consolas"/>
                <a:sym typeface="Consolas"/>
              </a:rPr>
              <a:t> name: String) {</a:t>
            </a:r>
            <a:endParaRPr sz="1200">
              <a:solidFill>
                <a:schemeClr val="dk1"/>
              </a:solidFill>
              <a:latin typeface="Consolas"/>
              <a:ea typeface="Consolas"/>
              <a:cs typeface="Consolas"/>
              <a:sym typeface="Consolas"/>
            </a:endParaRPr>
          </a:p>
          <a:p>
            <a:pPr marL="0" lvl="0" indent="0" algn="l" rtl="0">
              <a:spcBef>
                <a:spcPts val="0"/>
              </a:spcBef>
              <a:spcAft>
                <a:spcPts val="0"/>
              </a:spcAft>
              <a:buNone/>
            </a:pPr>
            <a:endParaRPr sz="1200">
              <a:solidFill>
                <a:schemeClr val="dk1"/>
              </a:solidFill>
              <a:latin typeface="Consolas"/>
              <a:ea typeface="Consolas"/>
              <a:cs typeface="Consolas"/>
              <a:sym typeface="Consolas"/>
            </a:endParaRPr>
          </a:p>
          <a:p>
            <a:pPr marL="0" lvl="0" indent="0" algn="l" rtl="0">
              <a:spcBef>
                <a:spcPts val="0"/>
              </a:spcBef>
              <a:spcAft>
                <a:spcPts val="0"/>
              </a:spcAft>
              <a:buNone/>
            </a:pPr>
            <a:r>
              <a:rPr lang="it" sz="1200">
                <a:solidFill>
                  <a:schemeClr val="dk1"/>
                </a:solidFill>
                <a:latin typeface="Consolas"/>
                <a:ea typeface="Consolas"/>
                <a:cs typeface="Consolas"/>
                <a:sym typeface="Consolas"/>
              </a:rPr>
              <a:t>    </a:t>
            </a:r>
            <a:r>
              <a:rPr lang="it" sz="1200" b="1">
                <a:solidFill>
                  <a:srgbClr val="0B5394"/>
                </a:solidFill>
                <a:latin typeface="Consolas"/>
                <a:ea typeface="Consolas"/>
                <a:cs typeface="Consolas"/>
                <a:sym typeface="Consolas"/>
              </a:rPr>
              <a:t>constructor</a:t>
            </a:r>
            <a:r>
              <a:rPr lang="it" sz="1200">
                <a:solidFill>
                  <a:schemeClr val="dk1"/>
                </a:solidFill>
                <a:latin typeface="Consolas"/>
                <a:ea typeface="Consolas"/>
                <a:cs typeface="Consolas"/>
                <a:sym typeface="Consolas"/>
              </a:rPr>
              <a:t>(name: String, parent: Person) : this(name) {</a:t>
            </a:r>
            <a:endParaRPr sz="1200">
              <a:solidFill>
                <a:schemeClr val="dk1"/>
              </a:solidFill>
              <a:latin typeface="Consolas"/>
              <a:ea typeface="Consolas"/>
              <a:cs typeface="Consolas"/>
              <a:sym typeface="Consolas"/>
            </a:endParaRPr>
          </a:p>
          <a:p>
            <a:pPr marL="0" lvl="0" indent="0" algn="l" rtl="0">
              <a:spcBef>
                <a:spcPts val="0"/>
              </a:spcBef>
              <a:spcAft>
                <a:spcPts val="0"/>
              </a:spcAft>
              <a:buNone/>
            </a:pPr>
            <a:r>
              <a:rPr lang="it" sz="1200">
                <a:solidFill>
                  <a:schemeClr val="dk1"/>
                </a:solidFill>
                <a:latin typeface="Consolas"/>
                <a:ea typeface="Consolas"/>
                <a:cs typeface="Consolas"/>
                <a:sym typeface="Consolas"/>
              </a:rPr>
              <a:t>        parent.children.add(this)</a:t>
            </a:r>
            <a:endParaRPr sz="1200">
              <a:solidFill>
                <a:schemeClr val="dk1"/>
              </a:solidFill>
              <a:latin typeface="Consolas"/>
              <a:ea typeface="Consolas"/>
              <a:cs typeface="Consolas"/>
              <a:sym typeface="Consolas"/>
            </a:endParaRPr>
          </a:p>
          <a:p>
            <a:pPr marL="0" lvl="0" indent="0" algn="l" rtl="0">
              <a:spcBef>
                <a:spcPts val="0"/>
              </a:spcBef>
              <a:spcAft>
                <a:spcPts val="0"/>
              </a:spcAft>
              <a:buNone/>
            </a:pPr>
            <a:r>
              <a:rPr lang="it" sz="1200">
                <a:solidFill>
                  <a:schemeClr val="dk1"/>
                </a:solidFill>
                <a:latin typeface="Consolas"/>
                <a:ea typeface="Consolas"/>
                <a:cs typeface="Consolas"/>
                <a:sym typeface="Consolas"/>
              </a:rPr>
              <a:t>    }</a:t>
            </a:r>
            <a:endParaRPr sz="1200">
              <a:solidFill>
                <a:schemeClr val="dk1"/>
              </a:solidFill>
              <a:latin typeface="Consolas"/>
              <a:ea typeface="Consolas"/>
              <a:cs typeface="Consolas"/>
              <a:sym typeface="Consolas"/>
            </a:endParaRPr>
          </a:p>
          <a:p>
            <a:pPr marL="0" lvl="0" indent="0" algn="l" rtl="0">
              <a:spcBef>
                <a:spcPts val="0"/>
              </a:spcBef>
              <a:spcAft>
                <a:spcPts val="0"/>
              </a:spcAft>
              <a:buNone/>
            </a:pPr>
            <a:endParaRPr sz="1200">
              <a:solidFill>
                <a:schemeClr val="dk1"/>
              </a:solidFill>
              <a:latin typeface="Consolas"/>
              <a:ea typeface="Consolas"/>
              <a:cs typeface="Consolas"/>
              <a:sym typeface="Consolas"/>
            </a:endParaRPr>
          </a:p>
          <a:p>
            <a:pPr marL="0" lvl="0" indent="0" algn="l" rtl="0">
              <a:spcBef>
                <a:spcPts val="0"/>
              </a:spcBef>
              <a:spcAft>
                <a:spcPts val="0"/>
              </a:spcAft>
              <a:buNone/>
            </a:pPr>
            <a:r>
              <a:rPr lang="it" sz="1200">
                <a:solidFill>
                  <a:schemeClr val="dk1"/>
                </a:solidFill>
                <a:latin typeface="Consolas"/>
                <a:ea typeface="Consolas"/>
                <a:cs typeface="Consolas"/>
                <a:sym typeface="Consolas"/>
              </a:rPr>
              <a:t>	</a:t>
            </a:r>
            <a:r>
              <a:rPr lang="it" sz="1200" b="1">
                <a:solidFill>
                  <a:srgbClr val="0B5394"/>
                </a:solidFill>
                <a:latin typeface="Consolas"/>
                <a:ea typeface="Consolas"/>
                <a:cs typeface="Consolas"/>
                <a:sym typeface="Consolas"/>
              </a:rPr>
              <a:t>constructor</a:t>
            </a:r>
            <a:r>
              <a:rPr lang="it" sz="1200">
                <a:solidFill>
                  <a:schemeClr val="dk1"/>
                </a:solidFill>
                <a:latin typeface="Consolas"/>
                <a:ea typeface="Consolas"/>
                <a:cs typeface="Consolas"/>
                <a:sym typeface="Consolas"/>
              </a:rPr>
              <a:t>(name: String, parent: Person, age: Int): this(name) {</a:t>
            </a:r>
            <a:endParaRPr sz="1200">
              <a:solidFill>
                <a:schemeClr val="dk1"/>
              </a:solidFill>
              <a:latin typeface="Consolas"/>
              <a:ea typeface="Consolas"/>
              <a:cs typeface="Consolas"/>
              <a:sym typeface="Consolas"/>
            </a:endParaRPr>
          </a:p>
          <a:p>
            <a:pPr marL="0" lvl="0" indent="0" algn="l" rtl="0">
              <a:spcBef>
                <a:spcPts val="0"/>
              </a:spcBef>
              <a:spcAft>
                <a:spcPts val="0"/>
              </a:spcAft>
              <a:buNone/>
            </a:pPr>
            <a:r>
              <a:rPr lang="it" sz="1200">
                <a:solidFill>
                  <a:schemeClr val="dk1"/>
                </a:solidFill>
                <a:latin typeface="Consolas"/>
                <a:ea typeface="Consolas"/>
                <a:cs typeface="Consolas"/>
                <a:sym typeface="Consolas"/>
              </a:rPr>
              <a:t>        parent.children.add(this)</a:t>
            </a:r>
            <a:endParaRPr sz="1200">
              <a:solidFill>
                <a:schemeClr val="dk1"/>
              </a:solidFill>
              <a:latin typeface="Consolas"/>
              <a:ea typeface="Consolas"/>
              <a:cs typeface="Consolas"/>
              <a:sym typeface="Consolas"/>
            </a:endParaRPr>
          </a:p>
          <a:p>
            <a:pPr marL="0" lvl="0" indent="0" algn="l" rtl="0">
              <a:spcBef>
                <a:spcPts val="0"/>
              </a:spcBef>
              <a:spcAft>
                <a:spcPts val="0"/>
              </a:spcAft>
              <a:buNone/>
            </a:pPr>
            <a:r>
              <a:rPr lang="it" sz="1200">
                <a:solidFill>
                  <a:schemeClr val="dk1"/>
                </a:solidFill>
                <a:latin typeface="Consolas"/>
                <a:ea typeface="Consolas"/>
                <a:cs typeface="Consolas"/>
                <a:sym typeface="Consolas"/>
              </a:rPr>
              <a:t>        this.age=age;</a:t>
            </a:r>
            <a:endParaRPr sz="1200">
              <a:solidFill>
                <a:schemeClr val="dk1"/>
              </a:solidFill>
              <a:latin typeface="Consolas"/>
              <a:ea typeface="Consolas"/>
              <a:cs typeface="Consolas"/>
              <a:sym typeface="Consolas"/>
            </a:endParaRPr>
          </a:p>
          <a:p>
            <a:pPr marL="0" lvl="0" indent="0" algn="l" rtl="0">
              <a:spcBef>
                <a:spcPts val="0"/>
              </a:spcBef>
              <a:spcAft>
                <a:spcPts val="0"/>
              </a:spcAft>
              <a:buNone/>
            </a:pPr>
            <a:r>
              <a:rPr lang="it" sz="1200">
                <a:solidFill>
                  <a:schemeClr val="dk1"/>
                </a:solidFill>
                <a:latin typeface="Consolas"/>
                <a:ea typeface="Consolas"/>
                <a:cs typeface="Consolas"/>
                <a:sym typeface="Consolas"/>
              </a:rPr>
              <a:t>    }</a:t>
            </a:r>
            <a:endParaRPr sz="1200">
              <a:solidFill>
                <a:schemeClr val="dk1"/>
              </a:solidFill>
              <a:latin typeface="Consolas"/>
              <a:ea typeface="Consolas"/>
              <a:cs typeface="Consolas"/>
              <a:sym typeface="Consolas"/>
            </a:endParaRPr>
          </a:p>
          <a:p>
            <a:pPr marL="0" lvl="0" indent="0" algn="l" rtl="0">
              <a:spcBef>
                <a:spcPts val="0"/>
              </a:spcBef>
              <a:spcAft>
                <a:spcPts val="0"/>
              </a:spcAft>
              <a:buNone/>
            </a:pPr>
            <a:endParaRPr sz="1200">
              <a:solidFill>
                <a:schemeClr val="dk1"/>
              </a:solidFill>
              <a:latin typeface="Consolas"/>
              <a:ea typeface="Consolas"/>
              <a:cs typeface="Consolas"/>
              <a:sym typeface="Consolas"/>
            </a:endParaRPr>
          </a:p>
          <a:p>
            <a:pPr marL="0" lvl="0" indent="0" algn="l" rtl="0">
              <a:spcBef>
                <a:spcPts val="0"/>
              </a:spcBef>
              <a:spcAft>
                <a:spcPts val="0"/>
              </a:spcAft>
              <a:buNone/>
            </a:pPr>
            <a:r>
              <a:rPr lang="it" sz="1200">
                <a:solidFill>
                  <a:schemeClr val="dk1"/>
                </a:solidFill>
                <a:latin typeface="Consolas"/>
                <a:ea typeface="Consolas"/>
                <a:cs typeface="Consolas"/>
                <a:sym typeface="Consolas"/>
              </a:rPr>
              <a:t>    var children: MutableList&lt;Person&gt; = mutableListOf&lt;Person&gt;();</a:t>
            </a:r>
            <a:br>
              <a:rPr lang="it" sz="1200">
                <a:solidFill>
                  <a:schemeClr val="dk1"/>
                </a:solidFill>
                <a:latin typeface="Consolas"/>
                <a:ea typeface="Consolas"/>
                <a:cs typeface="Consolas"/>
                <a:sym typeface="Consolas"/>
              </a:rPr>
            </a:br>
            <a:r>
              <a:rPr lang="it" sz="1200">
                <a:solidFill>
                  <a:schemeClr val="dk1"/>
                </a:solidFill>
                <a:latin typeface="Consolas"/>
                <a:ea typeface="Consolas"/>
                <a:cs typeface="Consolas"/>
                <a:sym typeface="Consolas"/>
              </a:rPr>
              <a:t>    var age = 0;</a:t>
            </a:r>
            <a:endParaRPr sz="1200">
              <a:solidFill>
                <a:schemeClr val="dk1"/>
              </a:solidFill>
              <a:latin typeface="Consolas"/>
              <a:ea typeface="Consolas"/>
              <a:cs typeface="Consolas"/>
              <a:sym typeface="Consolas"/>
            </a:endParaRPr>
          </a:p>
          <a:p>
            <a:pPr marL="0" lvl="0" indent="0" algn="l" rtl="0">
              <a:spcBef>
                <a:spcPts val="0"/>
              </a:spcBef>
              <a:spcAft>
                <a:spcPts val="0"/>
              </a:spcAft>
              <a:buNone/>
            </a:pPr>
            <a:r>
              <a:rPr lang="it" sz="1200">
                <a:solidFill>
                  <a:schemeClr val="dk1"/>
                </a:solidFill>
                <a:latin typeface="Consolas"/>
                <a:ea typeface="Consolas"/>
                <a:cs typeface="Consolas"/>
                <a:sym typeface="Consolas"/>
              </a:rPr>
              <a:t>}</a:t>
            </a:r>
            <a:endParaRPr sz="1200">
              <a:solidFill>
                <a:schemeClr val="dk1"/>
              </a:solidFill>
              <a:latin typeface="Consolas"/>
              <a:ea typeface="Consolas"/>
              <a:cs typeface="Consolas"/>
              <a:sym typeface="Consolas"/>
            </a:endParaRPr>
          </a:p>
        </p:txBody>
      </p:sp>
      <p:sp>
        <p:nvSpPr>
          <p:cNvPr id="292" name="Google Shape;292;p33"/>
          <p:cNvSpPr txBox="1">
            <a:spLocks noGrp="1"/>
          </p:cNvSpPr>
          <p:nvPr>
            <p:ph type="sldNum" idx="12"/>
          </p:nvPr>
        </p:nvSpPr>
        <p:spPr>
          <a:xfrm>
            <a:off x="8472458" y="476850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it"/>
              <a:t>27</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p3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t" sz="2800"/>
              <a:t>Constructors</a:t>
            </a:r>
            <a:endParaRPr sz="2800"/>
          </a:p>
        </p:txBody>
      </p:sp>
      <p:sp>
        <p:nvSpPr>
          <p:cNvPr id="298" name="Google Shape;298;p34"/>
          <p:cNvSpPr txBox="1">
            <a:spLocks noGrp="1"/>
          </p:cNvSpPr>
          <p:nvPr>
            <p:ph type="body" idx="1"/>
          </p:nvPr>
        </p:nvSpPr>
        <p:spPr>
          <a:xfrm>
            <a:off x="311150" y="1244204"/>
            <a:ext cx="8521800" cy="3393300"/>
          </a:xfrm>
          <a:prstGeom prst="rect">
            <a:avLst/>
          </a:prstGeom>
        </p:spPr>
        <p:txBody>
          <a:bodyPr spcFirstLastPara="1" wrap="square" lIns="91425" tIns="45700" rIns="91425" bIns="45700" anchor="t" anchorCtr="0">
            <a:normAutofit fontScale="85000"/>
          </a:bodyPr>
          <a:lstStyle/>
          <a:p>
            <a:pPr marL="269875" lvl="0" indent="-247015" algn="l" rtl="0">
              <a:lnSpc>
                <a:spcPct val="100000"/>
              </a:lnSpc>
              <a:spcBef>
                <a:spcPts val="600"/>
              </a:spcBef>
              <a:spcAft>
                <a:spcPts val="0"/>
              </a:spcAft>
              <a:buClr>
                <a:schemeClr val="dk1"/>
              </a:buClr>
              <a:buSzPct val="100000"/>
              <a:buChar char="•"/>
            </a:pPr>
            <a:r>
              <a:rPr lang="it" sz="2400"/>
              <a:t>The primary constructor is part of the class </a:t>
            </a:r>
            <a:r>
              <a:rPr lang="it" sz="2400" b="1">
                <a:solidFill>
                  <a:srgbClr val="0B5394"/>
                </a:solidFill>
              </a:rPr>
              <a:t>header</a:t>
            </a:r>
            <a:endParaRPr sz="2400" b="1">
              <a:solidFill>
                <a:srgbClr val="0B5394"/>
              </a:solidFill>
            </a:endParaRPr>
          </a:p>
          <a:p>
            <a:pPr marL="541337" marR="0" lvl="1" indent="-192087" algn="l" rtl="0">
              <a:lnSpc>
                <a:spcPct val="100000"/>
              </a:lnSpc>
              <a:spcBef>
                <a:spcPts val="600"/>
              </a:spcBef>
              <a:spcAft>
                <a:spcPts val="0"/>
              </a:spcAft>
              <a:buClr>
                <a:schemeClr val="dk1"/>
              </a:buClr>
              <a:buSzPct val="75000"/>
              <a:buChar char="○"/>
            </a:pPr>
            <a:r>
              <a:rPr lang="it" sz="2000"/>
              <a:t>Its parameters prefixed by </a:t>
            </a:r>
            <a:r>
              <a:rPr lang="it" sz="2000" b="1">
                <a:solidFill>
                  <a:srgbClr val="0B5394"/>
                </a:solidFill>
                <a:latin typeface="Consolas"/>
                <a:ea typeface="Consolas"/>
                <a:cs typeface="Consolas"/>
                <a:sym typeface="Consolas"/>
              </a:rPr>
              <a:t>val</a:t>
            </a:r>
            <a:r>
              <a:rPr lang="it" sz="2000"/>
              <a:t> or </a:t>
            </a:r>
            <a:r>
              <a:rPr lang="it" sz="2000" b="1">
                <a:solidFill>
                  <a:srgbClr val="0B5394"/>
                </a:solidFill>
                <a:latin typeface="Consolas"/>
                <a:ea typeface="Consolas"/>
                <a:cs typeface="Consolas"/>
                <a:sym typeface="Consolas"/>
              </a:rPr>
              <a:t>var</a:t>
            </a:r>
            <a:r>
              <a:rPr lang="it" sz="2000"/>
              <a:t> are automatically promoted to properties</a:t>
            </a:r>
            <a:endParaRPr sz="2000"/>
          </a:p>
          <a:p>
            <a:pPr marL="541337" marR="0" lvl="1" indent="-192087" algn="l" rtl="0">
              <a:lnSpc>
                <a:spcPct val="100000"/>
              </a:lnSpc>
              <a:spcBef>
                <a:spcPts val="600"/>
              </a:spcBef>
              <a:spcAft>
                <a:spcPts val="0"/>
              </a:spcAft>
              <a:buClr>
                <a:schemeClr val="dk1"/>
              </a:buClr>
              <a:buSzPct val="75000"/>
              <a:buChar char="○"/>
            </a:pPr>
            <a:r>
              <a:rPr lang="it" sz="2000"/>
              <a:t>No initialization can happen inside it: if necessary, an</a:t>
            </a:r>
            <a:r>
              <a:rPr lang="it" sz="2000">
                <a:solidFill>
                  <a:schemeClr val="dk1"/>
                </a:solidFill>
              </a:rPr>
              <a:t> </a:t>
            </a:r>
            <a:r>
              <a:rPr lang="it" sz="2000" b="1">
                <a:solidFill>
                  <a:srgbClr val="0B5394"/>
                </a:solidFill>
                <a:latin typeface="Consolas"/>
                <a:ea typeface="Consolas"/>
                <a:cs typeface="Consolas"/>
                <a:sym typeface="Consolas"/>
              </a:rPr>
              <a:t>init</a:t>
            </a:r>
            <a:r>
              <a:rPr lang="it" sz="2000" b="1">
                <a:solidFill>
                  <a:srgbClr val="0B5394"/>
                </a:solidFill>
              </a:rPr>
              <a:t> </a:t>
            </a:r>
            <a:r>
              <a:rPr lang="it" sz="2000">
                <a:solidFill>
                  <a:srgbClr val="0B5394"/>
                </a:solidFill>
              </a:rPr>
              <a:t>block</a:t>
            </a:r>
            <a:r>
              <a:rPr lang="it" sz="2000">
                <a:solidFill>
                  <a:schemeClr val="dk1"/>
                </a:solidFill>
              </a:rPr>
              <a:t> </a:t>
            </a:r>
            <a:r>
              <a:rPr lang="it" sz="2000"/>
              <a:t>must be provided</a:t>
            </a:r>
            <a:endParaRPr sz="2000"/>
          </a:p>
          <a:p>
            <a:pPr marL="541337" lvl="1" indent="-192087" algn="l" rtl="0">
              <a:lnSpc>
                <a:spcPct val="100000"/>
              </a:lnSpc>
              <a:spcBef>
                <a:spcPts val="600"/>
              </a:spcBef>
              <a:spcAft>
                <a:spcPts val="0"/>
              </a:spcAft>
              <a:buClr>
                <a:schemeClr val="dk2"/>
              </a:buClr>
              <a:buSzPct val="75000"/>
              <a:buChar char="○"/>
            </a:pPr>
            <a:r>
              <a:rPr lang="it" sz="2000"/>
              <a:t>Init blocks are run in declaration order after the primary constructor is finished</a:t>
            </a:r>
            <a:endParaRPr sz="2000"/>
          </a:p>
          <a:p>
            <a:pPr marL="541337" lvl="1" indent="-192087" algn="l" rtl="0">
              <a:lnSpc>
                <a:spcPct val="100000"/>
              </a:lnSpc>
              <a:spcBef>
                <a:spcPts val="600"/>
              </a:spcBef>
              <a:spcAft>
                <a:spcPts val="0"/>
              </a:spcAft>
              <a:buClr>
                <a:schemeClr val="dk1"/>
              </a:buClr>
              <a:buSzPct val="75000"/>
              <a:buChar char="○"/>
            </a:pPr>
            <a:r>
              <a:rPr lang="it" sz="2000"/>
              <a:t>If it has no annotations or visibility modifiers, the</a:t>
            </a:r>
            <a:r>
              <a:rPr lang="it" sz="2000">
                <a:solidFill>
                  <a:schemeClr val="dk1"/>
                </a:solidFill>
              </a:rPr>
              <a:t> </a:t>
            </a:r>
            <a:r>
              <a:rPr lang="it" sz="2000" b="1">
                <a:solidFill>
                  <a:srgbClr val="0B5394"/>
                </a:solidFill>
              </a:rPr>
              <a:t>constructor</a:t>
            </a:r>
            <a:r>
              <a:rPr lang="it" sz="2000">
                <a:solidFill>
                  <a:schemeClr val="dk1"/>
                </a:solidFill>
              </a:rPr>
              <a:t> </a:t>
            </a:r>
            <a:r>
              <a:rPr lang="it" sz="2000"/>
              <a:t>keyword may be dropped</a:t>
            </a:r>
            <a:endParaRPr sz="2000"/>
          </a:p>
          <a:p>
            <a:pPr marL="269875" lvl="0" indent="-247015" algn="l" rtl="0">
              <a:lnSpc>
                <a:spcPct val="100000"/>
              </a:lnSpc>
              <a:spcBef>
                <a:spcPts val="600"/>
              </a:spcBef>
              <a:spcAft>
                <a:spcPts val="0"/>
              </a:spcAft>
              <a:buClr>
                <a:schemeClr val="dk1"/>
              </a:buClr>
              <a:buSzPct val="100000"/>
              <a:buChar char="•"/>
            </a:pPr>
            <a:r>
              <a:rPr lang="it" sz="2400"/>
              <a:t>Secondary constructors are introduced by the</a:t>
            </a:r>
            <a:r>
              <a:rPr lang="it" sz="2400">
                <a:solidFill>
                  <a:schemeClr val="dk1"/>
                </a:solidFill>
              </a:rPr>
              <a:t> </a:t>
            </a:r>
            <a:r>
              <a:rPr lang="it" sz="2400" b="1">
                <a:solidFill>
                  <a:srgbClr val="0B5394"/>
                </a:solidFill>
              </a:rPr>
              <a:t>constructor</a:t>
            </a:r>
            <a:r>
              <a:rPr lang="it" sz="2400">
                <a:solidFill>
                  <a:schemeClr val="dk1"/>
                </a:solidFill>
              </a:rPr>
              <a:t> </a:t>
            </a:r>
            <a:r>
              <a:rPr lang="it" sz="2400"/>
              <a:t>keyword</a:t>
            </a:r>
            <a:endParaRPr sz="2400"/>
          </a:p>
          <a:p>
            <a:pPr marL="541337" lvl="1" indent="-192087" algn="l" rtl="0">
              <a:lnSpc>
                <a:spcPct val="100000"/>
              </a:lnSpc>
              <a:spcBef>
                <a:spcPts val="600"/>
              </a:spcBef>
              <a:spcAft>
                <a:spcPts val="0"/>
              </a:spcAft>
              <a:buClr>
                <a:schemeClr val="dk1"/>
              </a:buClr>
              <a:buSzPct val="75000"/>
              <a:buChar char="○"/>
            </a:pPr>
            <a:r>
              <a:rPr lang="it" sz="2000"/>
              <a:t>They must always </a:t>
            </a:r>
            <a:r>
              <a:rPr lang="it" sz="2000">
                <a:solidFill>
                  <a:srgbClr val="0B5394"/>
                </a:solidFill>
              </a:rPr>
              <a:t>delegate</a:t>
            </a:r>
            <a:r>
              <a:rPr lang="it" sz="2000">
                <a:solidFill>
                  <a:schemeClr val="dk1"/>
                </a:solidFill>
              </a:rPr>
              <a:t> </a:t>
            </a:r>
            <a:r>
              <a:rPr lang="it" sz="2000"/>
              <a:t>to the primary one before any extra action can take place inside the curly braces </a:t>
            </a:r>
            <a:endParaRPr sz="2000"/>
          </a:p>
          <a:p>
            <a:pPr marL="541337" lvl="1" indent="-192087" algn="l" rtl="0">
              <a:lnSpc>
                <a:spcPct val="100000"/>
              </a:lnSpc>
              <a:spcBef>
                <a:spcPts val="600"/>
              </a:spcBef>
              <a:spcAft>
                <a:spcPts val="0"/>
              </a:spcAft>
              <a:buClr>
                <a:schemeClr val="dk2"/>
              </a:buClr>
              <a:buSzPct val="75000"/>
              <a:buChar char="○"/>
            </a:pPr>
            <a:r>
              <a:rPr lang="it" sz="2000"/>
              <a:t>If a new instance has been created using a secondary constructor, the code block associated with the invoked constructor is executed last</a:t>
            </a:r>
            <a:endParaRPr/>
          </a:p>
        </p:txBody>
      </p:sp>
      <p:sp>
        <p:nvSpPr>
          <p:cNvPr id="299" name="Google Shape;299;p34"/>
          <p:cNvSpPr txBox="1">
            <a:spLocks noGrp="1"/>
          </p:cNvSpPr>
          <p:nvPr>
            <p:ph type="sldNum" idx="12"/>
          </p:nvPr>
        </p:nvSpPr>
        <p:spPr>
          <a:xfrm>
            <a:off x="8472458" y="476850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it"/>
              <a:t>28</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3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t" sz="2800"/>
              <a:t>Constructors</a:t>
            </a:r>
            <a:endParaRPr sz="2800"/>
          </a:p>
        </p:txBody>
      </p:sp>
      <p:sp>
        <p:nvSpPr>
          <p:cNvPr id="305" name="Google Shape;305;p35"/>
          <p:cNvSpPr txBox="1"/>
          <p:nvPr/>
        </p:nvSpPr>
        <p:spPr>
          <a:xfrm>
            <a:off x="311700" y="1152475"/>
            <a:ext cx="8520600" cy="2124000"/>
          </a:xfrm>
          <a:prstGeom prst="rect">
            <a:avLst/>
          </a:prstGeom>
          <a:solidFill>
            <a:srgbClr val="FFF2CC"/>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lvl="0" indent="0" algn="l" rtl="0">
              <a:spcBef>
                <a:spcPts val="0"/>
              </a:spcBef>
              <a:spcAft>
                <a:spcPts val="0"/>
              </a:spcAft>
              <a:buNone/>
            </a:pPr>
            <a:r>
              <a:rPr lang="it" sz="1100">
                <a:solidFill>
                  <a:srgbClr val="000078"/>
                </a:solidFill>
                <a:latin typeface="Consolas"/>
                <a:ea typeface="Consolas"/>
                <a:cs typeface="Consolas"/>
                <a:sym typeface="Consolas"/>
              </a:rPr>
              <a:t>class</a:t>
            </a:r>
            <a:r>
              <a:rPr lang="it" sz="1100">
                <a:solidFill>
                  <a:schemeClr val="dk1"/>
                </a:solidFill>
                <a:latin typeface="Consolas"/>
                <a:ea typeface="Consolas"/>
                <a:cs typeface="Consolas"/>
                <a:sym typeface="Consolas"/>
              </a:rPr>
              <a:t> </a:t>
            </a:r>
            <a:r>
              <a:rPr lang="it" sz="1100">
                <a:solidFill>
                  <a:srgbClr val="257F9F"/>
                </a:solidFill>
                <a:latin typeface="Consolas"/>
                <a:ea typeface="Consolas"/>
                <a:cs typeface="Consolas"/>
                <a:sym typeface="Consolas"/>
              </a:rPr>
              <a:t>Segment</a:t>
            </a:r>
            <a:r>
              <a:rPr lang="it" sz="1100">
                <a:solidFill>
                  <a:srgbClr val="FF0000"/>
                </a:solidFill>
                <a:latin typeface="Consolas"/>
                <a:ea typeface="Consolas"/>
                <a:cs typeface="Consolas"/>
                <a:sym typeface="Consolas"/>
              </a:rPr>
              <a:t>(val start: Point, val end: Point) </a:t>
            </a:r>
            <a:r>
              <a:rPr lang="it" sz="1100">
                <a:solidFill>
                  <a:schemeClr val="dk1"/>
                </a:solidFill>
                <a:latin typeface="Consolas"/>
                <a:ea typeface="Consolas"/>
                <a:cs typeface="Consolas"/>
                <a:sym typeface="Consolas"/>
              </a:rPr>
              <a:t>{    </a:t>
            </a:r>
            <a:endParaRPr sz="1100">
              <a:solidFill>
                <a:schemeClr val="dk1"/>
              </a:solidFill>
            </a:endParaRPr>
          </a:p>
          <a:p>
            <a:pPr marL="0" lvl="0" indent="0" algn="l" rtl="0">
              <a:spcBef>
                <a:spcPts val="0"/>
              </a:spcBef>
              <a:spcAft>
                <a:spcPts val="0"/>
              </a:spcAft>
              <a:buNone/>
            </a:pPr>
            <a:r>
              <a:rPr lang="it" sz="1100">
                <a:solidFill>
                  <a:schemeClr val="dk1"/>
                </a:solidFill>
                <a:latin typeface="Consolas"/>
                <a:ea typeface="Consolas"/>
                <a:cs typeface="Consolas"/>
                <a:sym typeface="Consolas"/>
              </a:rPr>
              <a:t>  val length: </a:t>
            </a:r>
            <a:r>
              <a:rPr lang="it" sz="1100">
                <a:solidFill>
                  <a:srgbClr val="257F9F"/>
                </a:solidFill>
                <a:latin typeface="Consolas"/>
                <a:ea typeface="Consolas"/>
                <a:cs typeface="Consolas"/>
                <a:sym typeface="Consolas"/>
              </a:rPr>
              <a:t>Double</a:t>
            </a:r>
            <a:r>
              <a:rPr lang="it" sz="1100">
                <a:solidFill>
                  <a:schemeClr val="dk1"/>
                </a:solidFill>
                <a:latin typeface="Consolas"/>
                <a:ea typeface="Consolas"/>
                <a:cs typeface="Consolas"/>
                <a:sym typeface="Consolas"/>
              </a:rPr>
              <a:t> = sqrt(</a:t>
            </a:r>
            <a:endParaRPr sz="1100">
              <a:solidFill>
                <a:schemeClr val="dk1"/>
              </a:solidFill>
              <a:latin typeface="Consolas"/>
              <a:ea typeface="Consolas"/>
              <a:cs typeface="Consolas"/>
              <a:sym typeface="Consolas"/>
            </a:endParaRPr>
          </a:p>
          <a:p>
            <a:pPr marL="457200" lvl="0" indent="0" algn="l" rtl="0">
              <a:spcBef>
                <a:spcPts val="0"/>
              </a:spcBef>
              <a:spcAft>
                <a:spcPts val="0"/>
              </a:spcAft>
              <a:buNone/>
            </a:pPr>
            <a:r>
              <a:rPr lang="it" sz="1100">
                <a:solidFill>
                  <a:schemeClr val="dk1"/>
                </a:solidFill>
                <a:latin typeface="Consolas"/>
                <a:ea typeface="Consolas"/>
                <a:cs typeface="Consolas"/>
                <a:sym typeface="Consolas"/>
              </a:rPr>
              <a:t>(end.x - start.x).toDouble().pow(2.0) + (end.y - start.y).toDouble().pow(2.0))  </a:t>
            </a:r>
            <a:endParaRPr sz="1100">
              <a:solidFill>
                <a:schemeClr val="dk1"/>
              </a:solidFill>
              <a:latin typeface="Consolas"/>
              <a:ea typeface="Consolas"/>
              <a:cs typeface="Consolas"/>
              <a:sym typeface="Consolas"/>
            </a:endParaRPr>
          </a:p>
          <a:p>
            <a:pPr marL="0" lvl="0" indent="0" algn="l" rtl="0">
              <a:spcBef>
                <a:spcPts val="0"/>
              </a:spcBef>
              <a:spcAft>
                <a:spcPts val="0"/>
              </a:spcAft>
              <a:buNone/>
            </a:pPr>
            <a:r>
              <a:rPr lang="it" sz="1100">
                <a:solidFill>
                  <a:schemeClr val="dk1"/>
                </a:solidFill>
                <a:latin typeface="Consolas"/>
                <a:ea typeface="Consolas"/>
                <a:cs typeface="Consolas"/>
                <a:sym typeface="Consolas"/>
              </a:rPr>
              <a:t>  </a:t>
            </a:r>
            <a:r>
              <a:rPr lang="it" sz="1100">
                <a:solidFill>
                  <a:srgbClr val="6D6D6D"/>
                </a:solidFill>
                <a:latin typeface="Consolas"/>
                <a:ea typeface="Consolas"/>
                <a:cs typeface="Consolas"/>
                <a:sym typeface="Consolas"/>
              </a:rPr>
              <a:t>// initializer block</a:t>
            </a:r>
            <a:r>
              <a:rPr lang="it" sz="1100">
                <a:solidFill>
                  <a:schemeClr val="dk1"/>
                </a:solidFill>
                <a:latin typeface="Consolas"/>
                <a:ea typeface="Consolas"/>
                <a:cs typeface="Consolas"/>
                <a:sym typeface="Consolas"/>
              </a:rPr>
              <a:t>    </a:t>
            </a:r>
            <a:endParaRPr sz="1100">
              <a:solidFill>
                <a:schemeClr val="dk1"/>
              </a:solidFill>
            </a:endParaRPr>
          </a:p>
          <a:p>
            <a:pPr marL="0" lvl="0" indent="0" algn="l" rtl="0">
              <a:spcBef>
                <a:spcPts val="0"/>
              </a:spcBef>
              <a:spcAft>
                <a:spcPts val="0"/>
              </a:spcAft>
              <a:buNone/>
            </a:pPr>
            <a:r>
              <a:rPr lang="it" sz="1100">
                <a:solidFill>
                  <a:schemeClr val="dk1"/>
                </a:solidFill>
                <a:latin typeface="Consolas"/>
                <a:ea typeface="Consolas"/>
                <a:cs typeface="Consolas"/>
                <a:sym typeface="Consolas"/>
              </a:rPr>
              <a:t>  </a:t>
            </a:r>
            <a:r>
              <a:rPr lang="it" sz="1100">
                <a:solidFill>
                  <a:srgbClr val="FF0000"/>
                </a:solidFill>
                <a:latin typeface="Consolas"/>
                <a:ea typeface="Consolas"/>
                <a:cs typeface="Consolas"/>
                <a:sym typeface="Consolas"/>
              </a:rPr>
              <a:t>init</a:t>
            </a:r>
            <a:r>
              <a:rPr lang="it" sz="1100">
                <a:solidFill>
                  <a:schemeClr val="dk1"/>
                </a:solidFill>
                <a:latin typeface="Consolas"/>
                <a:ea typeface="Consolas"/>
                <a:cs typeface="Consolas"/>
                <a:sym typeface="Consolas"/>
              </a:rPr>
              <a:t> {        </a:t>
            </a:r>
            <a:endParaRPr sz="1100">
              <a:solidFill>
                <a:schemeClr val="dk1"/>
              </a:solidFill>
            </a:endParaRPr>
          </a:p>
          <a:p>
            <a:pPr marL="0" lvl="0" indent="0" algn="l" rtl="0">
              <a:spcBef>
                <a:spcPts val="0"/>
              </a:spcBef>
              <a:spcAft>
                <a:spcPts val="0"/>
              </a:spcAft>
              <a:buNone/>
            </a:pPr>
            <a:r>
              <a:rPr lang="it" sz="1100">
                <a:solidFill>
                  <a:schemeClr val="dk1"/>
                </a:solidFill>
                <a:latin typeface="Consolas"/>
                <a:ea typeface="Consolas"/>
                <a:cs typeface="Consolas"/>
                <a:sym typeface="Consolas"/>
              </a:rPr>
              <a:t>    println(</a:t>
            </a:r>
            <a:r>
              <a:rPr lang="it" sz="1100">
                <a:solidFill>
                  <a:srgbClr val="6B0001"/>
                </a:solidFill>
                <a:latin typeface="Consolas"/>
                <a:ea typeface="Consolas"/>
                <a:cs typeface="Consolas"/>
                <a:sym typeface="Consolas"/>
              </a:rPr>
              <a:t>"Point starting at $start with length $length"</a:t>
            </a:r>
            <a:r>
              <a:rPr lang="it" sz="1100">
                <a:solidFill>
                  <a:schemeClr val="dk1"/>
                </a:solidFill>
                <a:latin typeface="Consolas"/>
                <a:ea typeface="Consolas"/>
                <a:cs typeface="Consolas"/>
                <a:sym typeface="Consolas"/>
              </a:rPr>
              <a:t>)        </a:t>
            </a:r>
            <a:endParaRPr sz="1100">
              <a:solidFill>
                <a:schemeClr val="dk1"/>
              </a:solidFill>
            </a:endParaRPr>
          </a:p>
          <a:p>
            <a:pPr marL="0" lvl="0" indent="0" algn="l" rtl="0">
              <a:spcBef>
                <a:spcPts val="0"/>
              </a:spcBef>
              <a:spcAft>
                <a:spcPts val="0"/>
              </a:spcAft>
              <a:buNone/>
            </a:pPr>
            <a:r>
              <a:rPr lang="it" sz="1100">
                <a:solidFill>
                  <a:schemeClr val="dk1"/>
                </a:solidFill>
                <a:latin typeface="Consolas"/>
                <a:ea typeface="Consolas"/>
                <a:cs typeface="Consolas"/>
                <a:sym typeface="Consolas"/>
              </a:rPr>
              <a:t>  }</a:t>
            </a:r>
            <a:endParaRPr sz="1100">
              <a:solidFill>
                <a:schemeClr val="dk1"/>
              </a:solidFill>
            </a:endParaRPr>
          </a:p>
          <a:p>
            <a:pPr marL="0" lvl="0" indent="0" algn="l" rtl="0">
              <a:spcBef>
                <a:spcPts val="0"/>
              </a:spcBef>
              <a:spcAft>
                <a:spcPts val="0"/>
              </a:spcAft>
              <a:buNone/>
            </a:pPr>
            <a:r>
              <a:rPr lang="it" sz="1100">
                <a:solidFill>
                  <a:schemeClr val="dk1"/>
                </a:solidFill>
                <a:latin typeface="Consolas"/>
                <a:ea typeface="Consolas"/>
                <a:cs typeface="Consolas"/>
                <a:sym typeface="Consolas"/>
              </a:rPr>
              <a:t>  </a:t>
            </a:r>
            <a:r>
              <a:rPr lang="it" sz="1100">
                <a:solidFill>
                  <a:srgbClr val="6D6D6D"/>
                </a:solidFill>
                <a:latin typeface="Consolas"/>
                <a:ea typeface="Consolas"/>
                <a:cs typeface="Consolas"/>
                <a:sym typeface="Consolas"/>
              </a:rPr>
              <a:t>// secondary constructor</a:t>
            </a:r>
            <a:endParaRPr sz="1100">
              <a:solidFill>
                <a:srgbClr val="6D6D6D"/>
              </a:solidFill>
              <a:latin typeface="Consolas"/>
              <a:ea typeface="Consolas"/>
              <a:cs typeface="Consolas"/>
              <a:sym typeface="Consolas"/>
            </a:endParaRPr>
          </a:p>
          <a:p>
            <a:pPr marL="0" lvl="0" indent="0" algn="l" rtl="0">
              <a:spcBef>
                <a:spcPts val="0"/>
              </a:spcBef>
              <a:spcAft>
                <a:spcPts val="0"/>
              </a:spcAft>
              <a:buNone/>
            </a:pPr>
            <a:r>
              <a:rPr lang="it" sz="1100">
                <a:solidFill>
                  <a:schemeClr val="dk1"/>
                </a:solidFill>
                <a:latin typeface="Consolas"/>
                <a:ea typeface="Consolas"/>
                <a:cs typeface="Consolas"/>
                <a:sym typeface="Consolas"/>
              </a:rPr>
              <a:t>  </a:t>
            </a:r>
            <a:r>
              <a:rPr lang="it" sz="1100">
                <a:solidFill>
                  <a:srgbClr val="FF0000"/>
                </a:solidFill>
                <a:latin typeface="Consolas"/>
                <a:ea typeface="Consolas"/>
                <a:cs typeface="Consolas"/>
                <a:sym typeface="Consolas"/>
              </a:rPr>
              <a:t>constructor</a:t>
            </a:r>
            <a:r>
              <a:rPr lang="it" sz="1100">
                <a:solidFill>
                  <a:schemeClr val="dk1"/>
                </a:solidFill>
                <a:latin typeface="Consolas"/>
                <a:ea typeface="Consolas"/>
                <a:cs typeface="Consolas"/>
                <a:sym typeface="Consolas"/>
              </a:rPr>
              <a:t>(x1: Int, y1: Int, x2: Int, y2: Int):  </a:t>
            </a:r>
            <a:r>
              <a:rPr lang="it" sz="1100">
                <a:solidFill>
                  <a:srgbClr val="FF0000"/>
                </a:solidFill>
                <a:latin typeface="Consolas"/>
                <a:ea typeface="Consolas"/>
                <a:cs typeface="Consolas"/>
                <a:sym typeface="Consolas"/>
              </a:rPr>
              <a:t>this</a:t>
            </a:r>
            <a:r>
              <a:rPr lang="it" sz="1100">
                <a:solidFill>
                  <a:schemeClr val="dk1"/>
                </a:solidFill>
                <a:latin typeface="Consolas"/>
                <a:ea typeface="Consolas"/>
                <a:cs typeface="Consolas"/>
                <a:sym typeface="Consolas"/>
              </a:rPr>
              <a:t>(Point(x1, y2), Point(x2, y2) {</a:t>
            </a:r>
            <a:endParaRPr sz="1100">
              <a:solidFill>
                <a:schemeClr val="dk1"/>
              </a:solidFill>
            </a:endParaRPr>
          </a:p>
          <a:p>
            <a:pPr marL="0" lvl="0" indent="0" algn="l" rtl="0">
              <a:spcBef>
                <a:spcPts val="0"/>
              </a:spcBef>
              <a:spcAft>
                <a:spcPts val="0"/>
              </a:spcAft>
              <a:buNone/>
            </a:pPr>
            <a:r>
              <a:rPr lang="it" sz="1100">
                <a:solidFill>
                  <a:schemeClr val="dk1"/>
                </a:solidFill>
                <a:latin typeface="Consolas"/>
                <a:ea typeface="Consolas"/>
                <a:cs typeface="Consolas"/>
                <a:sym typeface="Consolas"/>
              </a:rPr>
              <a:t>      println(</a:t>
            </a:r>
            <a:r>
              <a:rPr lang="it" sz="1100">
                <a:solidFill>
                  <a:srgbClr val="6B0001"/>
                </a:solidFill>
                <a:latin typeface="Consolas"/>
                <a:ea typeface="Consolas"/>
                <a:cs typeface="Consolas"/>
                <a:sym typeface="Consolas"/>
              </a:rPr>
              <a:t>"Secondary constructor"</a:t>
            </a:r>
            <a:r>
              <a:rPr lang="it" sz="1100">
                <a:solidFill>
                  <a:schemeClr val="dk1"/>
                </a:solidFill>
                <a:latin typeface="Consolas"/>
                <a:ea typeface="Consolas"/>
                <a:cs typeface="Consolas"/>
                <a:sym typeface="Consolas"/>
              </a:rPr>
              <a:t>)        </a:t>
            </a:r>
            <a:endParaRPr sz="1100">
              <a:solidFill>
                <a:schemeClr val="dk1"/>
              </a:solidFill>
            </a:endParaRPr>
          </a:p>
          <a:p>
            <a:pPr marL="0" lvl="0" indent="0" algn="l" rtl="0">
              <a:spcBef>
                <a:spcPts val="0"/>
              </a:spcBef>
              <a:spcAft>
                <a:spcPts val="0"/>
              </a:spcAft>
              <a:buNone/>
            </a:pPr>
            <a:r>
              <a:rPr lang="it" sz="1100">
                <a:solidFill>
                  <a:schemeClr val="dk1"/>
                </a:solidFill>
                <a:latin typeface="Consolas"/>
                <a:ea typeface="Consolas"/>
                <a:cs typeface="Consolas"/>
                <a:sym typeface="Consolas"/>
              </a:rPr>
              <a:t>  }</a:t>
            </a:r>
            <a:endParaRPr sz="1100">
              <a:solidFill>
                <a:schemeClr val="dk1"/>
              </a:solidFill>
              <a:latin typeface="Consolas"/>
              <a:ea typeface="Consolas"/>
              <a:cs typeface="Consolas"/>
              <a:sym typeface="Consolas"/>
            </a:endParaRPr>
          </a:p>
          <a:p>
            <a:pPr marL="0" lvl="0" indent="0" algn="l" rtl="0">
              <a:spcBef>
                <a:spcPts val="0"/>
              </a:spcBef>
              <a:spcAft>
                <a:spcPts val="0"/>
              </a:spcAft>
              <a:buNone/>
            </a:pPr>
            <a:r>
              <a:rPr lang="it" sz="1100">
                <a:solidFill>
                  <a:schemeClr val="dk1"/>
                </a:solidFill>
                <a:latin typeface="Consolas"/>
                <a:ea typeface="Consolas"/>
                <a:cs typeface="Consolas"/>
                <a:sym typeface="Consolas"/>
              </a:rPr>
              <a:t>}</a:t>
            </a:r>
            <a:endParaRPr sz="1100">
              <a:solidFill>
                <a:schemeClr val="dk1"/>
              </a:solidFill>
              <a:latin typeface="Consolas"/>
              <a:ea typeface="Consolas"/>
              <a:cs typeface="Consolas"/>
              <a:sym typeface="Consolas"/>
            </a:endParaRPr>
          </a:p>
        </p:txBody>
      </p:sp>
      <p:sp>
        <p:nvSpPr>
          <p:cNvPr id="306" name="Google Shape;306;p35"/>
          <p:cNvSpPr txBox="1"/>
          <p:nvPr/>
        </p:nvSpPr>
        <p:spPr>
          <a:xfrm>
            <a:off x="311700" y="3456050"/>
            <a:ext cx="8520600" cy="1108200"/>
          </a:xfrm>
          <a:prstGeom prst="rect">
            <a:avLst/>
          </a:prstGeom>
          <a:solidFill>
            <a:srgbClr val="434343"/>
          </a:solid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it" sz="1100">
                <a:solidFill>
                  <a:srgbClr val="B7B7B7"/>
                </a:solidFill>
                <a:latin typeface="Consolas"/>
                <a:ea typeface="Consolas"/>
                <a:cs typeface="Consolas"/>
                <a:sym typeface="Consolas"/>
              </a:rPr>
              <a:t>val s = Segment(1,2,3,4)</a:t>
            </a:r>
            <a:endParaRPr sz="1100">
              <a:solidFill>
                <a:srgbClr val="B7B7B7"/>
              </a:solidFill>
              <a:latin typeface="Consolas"/>
              <a:ea typeface="Consolas"/>
              <a:cs typeface="Consolas"/>
              <a:sym typeface="Consolas"/>
            </a:endParaRPr>
          </a:p>
          <a:p>
            <a:pPr marL="0" lvl="0" indent="0" algn="l" rtl="0">
              <a:spcBef>
                <a:spcPts val="0"/>
              </a:spcBef>
              <a:spcAft>
                <a:spcPts val="0"/>
              </a:spcAft>
              <a:buNone/>
            </a:pPr>
            <a:r>
              <a:rPr lang="it" sz="1100">
                <a:solidFill>
                  <a:srgbClr val="B7B7B7"/>
                </a:solidFill>
                <a:latin typeface="Consolas"/>
                <a:ea typeface="Consolas"/>
                <a:cs typeface="Consolas"/>
                <a:sym typeface="Consolas"/>
              </a:rPr>
              <a:t>// &gt;&gt;&gt;&gt;&gt;&gt;&gt;&gt; </a:t>
            </a:r>
            <a:endParaRPr sz="1100">
              <a:solidFill>
                <a:srgbClr val="B7B7B7"/>
              </a:solidFill>
              <a:latin typeface="Consolas"/>
              <a:ea typeface="Consolas"/>
              <a:cs typeface="Consolas"/>
              <a:sym typeface="Consolas"/>
            </a:endParaRPr>
          </a:p>
          <a:p>
            <a:pPr marL="0" lvl="0" indent="0" algn="l" rtl="0">
              <a:spcBef>
                <a:spcPts val="0"/>
              </a:spcBef>
              <a:spcAft>
                <a:spcPts val="0"/>
              </a:spcAft>
              <a:buNone/>
            </a:pPr>
            <a:r>
              <a:rPr lang="it" sz="1100">
                <a:solidFill>
                  <a:schemeClr val="lt1"/>
                </a:solidFill>
                <a:latin typeface="Consolas"/>
                <a:ea typeface="Consolas"/>
                <a:cs typeface="Consolas"/>
                <a:sym typeface="Consolas"/>
              </a:rPr>
              <a:t>Point starting at Point(x=1, y=2) with length 2.8284271247461903 </a:t>
            </a:r>
            <a:r>
              <a:rPr lang="it" sz="1100">
                <a:solidFill>
                  <a:srgbClr val="B7B7B7"/>
                </a:solidFill>
                <a:latin typeface="Consolas"/>
                <a:ea typeface="Consolas"/>
                <a:cs typeface="Consolas"/>
                <a:sym typeface="Consolas"/>
              </a:rPr>
              <a:t>//the properties length and start are initialized with their constructor-supplied value since the primary constructor is run before the init block</a:t>
            </a:r>
            <a:endParaRPr sz="1100">
              <a:solidFill>
                <a:schemeClr val="lt1"/>
              </a:solidFill>
              <a:latin typeface="Consolas"/>
              <a:ea typeface="Consolas"/>
              <a:cs typeface="Consolas"/>
              <a:sym typeface="Consolas"/>
            </a:endParaRPr>
          </a:p>
          <a:p>
            <a:pPr marL="0" lvl="0" indent="0" algn="l" rtl="0">
              <a:spcBef>
                <a:spcPts val="0"/>
              </a:spcBef>
              <a:spcAft>
                <a:spcPts val="0"/>
              </a:spcAft>
              <a:buNone/>
            </a:pPr>
            <a:r>
              <a:rPr lang="it" sz="1100">
                <a:solidFill>
                  <a:schemeClr val="lt1"/>
                </a:solidFill>
                <a:latin typeface="Consolas"/>
                <a:ea typeface="Consolas"/>
                <a:cs typeface="Consolas"/>
                <a:sym typeface="Consolas"/>
              </a:rPr>
              <a:t>Secondary constructor </a:t>
            </a:r>
            <a:r>
              <a:rPr lang="it" sz="1100">
                <a:solidFill>
                  <a:srgbClr val="B7B7B7"/>
                </a:solidFill>
                <a:latin typeface="Consolas"/>
                <a:ea typeface="Consolas"/>
                <a:cs typeface="Consolas"/>
                <a:sym typeface="Consolas"/>
              </a:rPr>
              <a:t>//the init block is run before the code block associated with the secondary constructor</a:t>
            </a:r>
            <a:endParaRPr sz="1100">
              <a:solidFill>
                <a:schemeClr val="lt1"/>
              </a:solidFill>
              <a:latin typeface="Consolas"/>
              <a:ea typeface="Consolas"/>
              <a:cs typeface="Consolas"/>
              <a:sym typeface="Consolas"/>
            </a:endParaRPr>
          </a:p>
        </p:txBody>
      </p:sp>
      <p:sp>
        <p:nvSpPr>
          <p:cNvPr id="307" name="Google Shape;307;p35"/>
          <p:cNvSpPr txBox="1">
            <a:spLocks noGrp="1"/>
          </p:cNvSpPr>
          <p:nvPr>
            <p:ph type="sldNum" idx="12"/>
          </p:nvPr>
        </p:nvSpPr>
        <p:spPr>
          <a:xfrm>
            <a:off x="8472458" y="476850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it"/>
              <a:t>29</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312" name="Google Shape;312;p3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it" sz="2820"/>
              <a:t>Properties</a:t>
            </a:r>
            <a:endParaRPr sz="2820"/>
          </a:p>
        </p:txBody>
      </p:sp>
      <p:sp>
        <p:nvSpPr>
          <p:cNvPr id="313" name="Google Shape;313;p36"/>
          <p:cNvSpPr txBox="1">
            <a:spLocks noGrp="1"/>
          </p:cNvSpPr>
          <p:nvPr>
            <p:ph type="body" idx="1"/>
          </p:nvPr>
        </p:nvSpPr>
        <p:spPr>
          <a:xfrm>
            <a:off x="311150" y="1244204"/>
            <a:ext cx="8521800" cy="3393300"/>
          </a:xfrm>
          <a:prstGeom prst="rect">
            <a:avLst/>
          </a:prstGeom>
        </p:spPr>
        <p:txBody>
          <a:bodyPr spcFirstLastPara="1" wrap="square" lIns="91425" tIns="45700" rIns="91425" bIns="45700" anchor="t" anchorCtr="0">
            <a:normAutofit lnSpcReduction="10000"/>
          </a:bodyPr>
          <a:lstStyle/>
          <a:p>
            <a:pPr marL="457200" lvl="0" indent="-355600" algn="l" rtl="0">
              <a:spcBef>
                <a:spcPts val="600"/>
              </a:spcBef>
              <a:spcAft>
                <a:spcPts val="0"/>
              </a:spcAft>
              <a:buSzPts val="2000"/>
              <a:buChar char="•"/>
            </a:pPr>
            <a:r>
              <a:rPr lang="it"/>
              <a:t>Each class can declare zero or more properties that are used to store and represent data within instances of that class</a:t>
            </a:r>
            <a:endParaRPr/>
          </a:p>
          <a:p>
            <a:pPr marL="914400" lvl="1" indent="-330200" algn="l" rtl="0">
              <a:spcBef>
                <a:spcPts val="0"/>
              </a:spcBef>
              <a:spcAft>
                <a:spcPts val="0"/>
              </a:spcAft>
              <a:buSzPts val="1600"/>
              <a:buChar char="○"/>
            </a:pPr>
            <a:r>
              <a:rPr lang="it"/>
              <a:t>They can be read/write (introduced by the </a:t>
            </a:r>
            <a:r>
              <a:rPr lang="it" b="1">
                <a:solidFill>
                  <a:srgbClr val="0B5394"/>
                </a:solidFill>
                <a:latin typeface="Consolas"/>
                <a:ea typeface="Consolas"/>
                <a:cs typeface="Consolas"/>
                <a:sym typeface="Consolas"/>
              </a:rPr>
              <a:t>var</a:t>
            </a:r>
            <a:r>
              <a:rPr lang="it"/>
              <a:t> keyword) or read/only (introduced by the </a:t>
            </a:r>
            <a:r>
              <a:rPr lang="it" b="1">
                <a:solidFill>
                  <a:srgbClr val="0B5394"/>
                </a:solidFill>
                <a:latin typeface="Consolas"/>
                <a:ea typeface="Consolas"/>
                <a:cs typeface="Consolas"/>
                <a:sym typeface="Consolas"/>
              </a:rPr>
              <a:t>val</a:t>
            </a:r>
            <a:r>
              <a:rPr lang="it"/>
              <a:t> keyword)</a:t>
            </a:r>
            <a:endParaRPr/>
          </a:p>
          <a:p>
            <a:pPr marL="914400" marR="0" lvl="1" indent="-330200" algn="l" rtl="0">
              <a:lnSpc>
                <a:spcPct val="115000"/>
              </a:lnSpc>
              <a:spcBef>
                <a:spcPts val="0"/>
              </a:spcBef>
              <a:spcAft>
                <a:spcPts val="0"/>
              </a:spcAft>
              <a:buSzPts val="1600"/>
              <a:buChar char="○"/>
            </a:pPr>
            <a:r>
              <a:rPr lang="it"/>
              <a:t>The compiler automatically generates hidden fields, to store the value of each property, as well as a set of getters and setters function, to manipulate their content: </a:t>
            </a:r>
            <a:r>
              <a:rPr lang="it" b="1">
                <a:solidFill>
                  <a:srgbClr val="0B5394"/>
                </a:solidFill>
                <a:latin typeface="Consolas"/>
                <a:ea typeface="Consolas"/>
                <a:cs typeface="Consolas"/>
                <a:sym typeface="Consolas"/>
              </a:rPr>
              <a:t>val</a:t>
            </a:r>
            <a:r>
              <a:rPr lang="it"/>
              <a:t> properties only have a getter</a:t>
            </a:r>
            <a:endParaRPr/>
          </a:p>
          <a:p>
            <a:pPr marL="457200" marR="0" lvl="0" indent="-355600" algn="l" rtl="0">
              <a:lnSpc>
                <a:spcPct val="115000"/>
              </a:lnSpc>
              <a:spcBef>
                <a:spcPts val="0"/>
              </a:spcBef>
              <a:spcAft>
                <a:spcPts val="0"/>
              </a:spcAft>
              <a:buSzPts val="2000"/>
              <a:buChar char="•"/>
            </a:pPr>
            <a:r>
              <a:rPr lang="it"/>
              <a:t>Getters and setters can be explicitly overriden, if necessary</a:t>
            </a:r>
            <a:endParaRPr/>
          </a:p>
          <a:p>
            <a:pPr marL="914400" marR="0" lvl="1" indent="-330200" algn="l" rtl="0">
              <a:lnSpc>
                <a:spcPct val="115000"/>
              </a:lnSpc>
              <a:spcBef>
                <a:spcPts val="0"/>
              </a:spcBef>
              <a:spcAft>
                <a:spcPts val="0"/>
              </a:spcAft>
              <a:buSzPts val="1600"/>
              <a:buChar char="○"/>
            </a:pPr>
            <a:r>
              <a:rPr lang="it"/>
              <a:t>By adding an extra </a:t>
            </a:r>
            <a:r>
              <a:rPr lang="it" b="1">
                <a:solidFill>
                  <a:srgbClr val="0B5394"/>
                </a:solidFill>
                <a:latin typeface="Consolas"/>
                <a:ea typeface="Consolas"/>
                <a:cs typeface="Consolas"/>
                <a:sym typeface="Consolas"/>
              </a:rPr>
              <a:t>get()</a:t>
            </a:r>
            <a:r>
              <a:rPr lang="it"/>
              <a:t> or </a:t>
            </a:r>
            <a:r>
              <a:rPr lang="it" b="1">
                <a:solidFill>
                  <a:srgbClr val="0B5394"/>
                </a:solidFill>
                <a:latin typeface="Consolas"/>
                <a:ea typeface="Consolas"/>
                <a:cs typeface="Consolas"/>
                <a:sym typeface="Consolas"/>
              </a:rPr>
              <a:t>set(...)</a:t>
            </a:r>
            <a:r>
              <a:rPr lang="it"/>
              <a:t> block after their declaration</a:t>
            </a:r>
            <a:endParaRPr/>
          </a:p>
          <a:p>
            <a:pPr marL="914400" marR="0" lvl="1" indent="-330200" algn="l" rtl="0">
              <a:lnSpc>
                <a:spcPct val="115000"/>
              </a:lnSpc>
              <a:spcBef>
                <a:spcPts val="0"/>
              </a:spcBef>
              <a:spcAft>
                <a:spcPts val="0"/>
              </a:spcAft>
              <a:buSzPts val="1600"/>
              <a:buChar char="○"/>
            </a:pPr>
            <a:r>
              <a:rPr lang="it"/>
              <a:t>This allow to create computed properties as well as to delegate their behaviour</a:t>
            </a:r>
            <a:endParaRPr/>
          </a:p>
          <a:p>
            <a:pPr marL="457200" marR="0" lvl="0" indent="-355600" algn="l" rtl="0">
              <a:lnSpc>
                <a:spcPct val="115000"/>
              </a:lnSpc>
              <a:spcBef>
                <a:spcPts val="0"/>
              </a:spcBef>
              <a:spcAft>
                <a:spcPts val="0"/>
              </a:spcAft>
              <a:buSzPts val="2000"/>
              <a:buChar char="•"/>
            </a:pPr>
            <a:r>
              <a:rPr lang="it"/>
              <a:t>By default, all properties are public</a:t>
            </a:r>
            <a:endParaRPr/>
          </a:p>
          <a:p>
            <a:pPr marL="914400" marR="0" lvl="1" indent="-330200" algn="l" rtl="0">
              <a:lnSpc>
                <a:spcPct val="115000"/>
              </a:lnSpc>
              <a:spcBef>
                <a:spcPts val="0"/>
              </a:spcBef>
              <a:spcAft>
                <a:spcPts val="0"/>
              </a:spcAft>
              <a:buSzPts val="1600"/>
              <a:buChar char="○"/>
            </a:pPr>
            <a:r>
              <a:rPr lang="it"/>
              <a:t>But their visibility can be restricted to private, protected, or internal</a:t>
            </a:r>
            <a:endParaRPr/>
          </a:p>
        </p:txBody>
      </p:sp>
      <p:sp>
        <p:nvSpPr>
          <p:cNvPr id="314" name="Google Shape;314;p36"/>
          <p:cNvSpPr txBox="1">
            <a:spLocks noGrp="1"/>
          </p:cNvSpPr>
          <p:nvPr>
            <p:ph type="sldNum" idx="12"/>
          </p:nvPr>
        </p:nvSpPr>
        <p:spPr>
          <a:xfrm>
            <a:off x="8472458" y="476850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it"/>
              <a:t>30</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p3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t" sz="2800"/>
              <a:t>Inner fields</a:t>
            </a:r>
            <a:endParaRPr sz="2800"/>
          </a:p>
        </p:txBody>
      </p:sp>
      <p:sp>
        <p:nvSpPr>
          <p:cNvPr id="320" name="Google Shape;320;p37"/>
          <p:cNvSpPr txBox="1">
            <a:spLocks noGrp="1"/>
          </p:cNvSpPr>
          <p:nvPr>
            <p:ph type="body" idx="1"/>
          </p:nvPr>
        </p:nvSpPr>
        <p:spPr>
          <a:xfrm>
            <a:off x="311150" y="1244204"/>
            <a:ext cx="8521800" cy="3393300"/>
          </a:xfrm>
          <a:prstGeom prst="rect">
            <a:avLst/>
          </a:prstGeom>
        </p:spPr>
        <p:txBody>
          <a:bodyPr spcFirstLastPara="1" wrap="square" lIns="91425" tIns="45700" rIns="91425" bIns="45700" anchor="t" anchorCtr="0">
            <a:normAutofit fontScale="77500" lnSpcReduction="20000"/>
          </a:bodyPr>
          <a:lstStyle/>
          <a:p>
            <a:pPr marL="269875" lvl="0" indent="-235584" algn="l" rtl="0">
              <a:lnSpc>
                <a:spcPct val="100000"/>
              </a:lnSpc>
              <a:spcBef>
                <a:spcPts val="600"/>
              </a:spcBef>
              <a:spcAft>
                <a:spcPts val="0"/>
              </a:spcAft>
              <a:buClr>
                <a:schemeClr val="dk1"/>
              </a:buClr>
              <a:buSzPct val="100000"/>
              <a:buChar char="•"/>
            </a:pPr>
            <a:r>
              <a:rPr lang="it" sz="2400">
                <a:solidFill>
                  <a:srgbClr val="0B5394"/>
                </a:solidFill>
                <a:latin typeface="Calibri"/>
                <a:ea typeface="Calibri"/>
                <a:cs typeface="Calibri"/>
                <a:sym typeface="Calibri"/>
              </a:rPr>
              <a:t>No fields</a:t>
            </a:r>
            <a:r>
              <a:rPr lang="it" sz="2400">
                <a:solidFill>
                  <a:srgbClr val="FF0000"/>
                </a:solidFill>
                <a:latin typeface="Calibri"/>
                <a:ea typeface="Calibri"/>
                <a:cs typeface="Calibri"/>
                <a:sym typeface="Calibri"/>
              </a:rPr>
              <a:t> </a:t>
            </a:r>
            <a:r>
              <a:rPr lang="it" sz="2400">
                <a:solidFill>
                  <a:schemeClr val="dk1"/>
                </a:solidFill>
                <a:latin typeface="Calibri"/>
                <a:ea typeface="Calibri"/>
                <a:cs typeface="Calibri"/>
                <a:sym typeface="Calibri"/>
              </a:rPr>
              <a:t>can be declared by the programmer to back properties up</a:t>
            </a:r>
            <a:endParaRPr sz="2400">
              <a:solidFill>
                <a:schemeClr val="dk1"/>
              </a:solidFill>
              <a:latin typeface="Calibri"/>
              <a:ea typeface="Calibri"/>
              <a:cs typeface="Calibri"/>
              <a:sym typeface="Calibri"/>
            </a:endParaRPr>
          </a:p>
          <a:p>
            <a:pPr marL="541337" lvl="1" indent="-184943" algn="l" rtl="0">
              <a:lnSpc>
                <a:spcPct val="100000"/>
              </a:lnSpc>
              <a:spcBef>
                <a:spcPts val="600"/>
              </a:spcBef>
              <a:spcAft>
                <a:spcPts val="0"/>
              </a:spcAft>
              <a:buClr>
                <a:schemeClr val="dk1"/>
              </a:buClr>
              <a:buSzPct val="75000"/>
              <a:buChar char="○"/>
            </a:pPr>
            <a:r>
              <a:rPr lang="it" sz="2000">
                <a:solidFill>
                  <a:schemeClr val="dk1"/>
                </a:solidFill>
                <a:latin typeface="Calibri"/>
                <a:ea typeface="Calibri"/>
                <a:cs typeface="Calibri"/>
                <a:sym typeface="Calibri"/>
              </a:rPr>
              <a:t>They are automatically handled by the compiler</a:t>
            </a:r>
            <a:endParaRPr sz="2000">
              <a:solidFill>
                <a:schemeClr val="dk1"/>
              </a:solidFill>
              <a:latin typeface="Calibri"/>
              <a:ea typeface="Calibri"/>
              <a:cs typeface="Calibri"/>
              <a:sym typeface="Calibri"/>
            </a:endParaRPr>
          </a:p>
          <a:p>
            <a:pPr marL="541337" lvl="1" indent="-184943" algn="l" rtl="0">
              <a:lnSpc>
                <a:spcPct val="100000"/>
              </a:lnSpc>
              <a:spcBef>
                <a:spcPts val="600"/>
              </a:spcBef>
              <a:spcAft>
                <a:spcPts val="0"/>
              </a:spcAft>
              <a:buClr>
                <a:schemeClr val="dk1"/>
              </a:buClr>
              <a:buSzPct val="75000"/>
              <a:buChar char="○"/>
            </a:pPr>
            <a:r>
              <a:rPr lang="it" sz="2000">
                <a:solidFill>
                  <a:schemeClr val="dk1"/>
                </a:solidFill>
                <a:latin typeface="Calibri"/>
                <a:ea typeface="Calibri"/>
                <a:cs typeface="Calibri"/>
                <a:sym typeface="Calibri"/>
              </a:rPr>
              <a:t>If needed, an accessor function may refer to the backing field, by using the </a:t>
            </a:r>
            <a:r>
              <a:rPr lang="it" sz="2000" b="1">
                <a:solidFill>
                  <a:srgbClr val="0B5394"/>
                </a:solidFill>
                <a:latin typeface="Consolas"/>
                <a:ea typeface="Consolas"/>
                <a:cs typeface="Consolas"/>
                <a:sym typeface="Consolas"/>
              </a:rPr>
              <a:t>field</a:t>
            </a:r>
            <a:r>
              <a:rPr lang="it" sz="2000">
                <a:solidFill>
                  <a:schemeClr val="dk1"/>
                </a:solidFill>
                <a:latin typeface="Calibri"/>
                <a:ea typeface="Calibri"/>
                <a:cs typeface="Calibri"/>
                <a:sym typeface="Calibri"/>
              </a:rPr>
              <a:t> keyword</a:t>
            </a:r>
            <a:endParaRPr sz="2000">
              <a:solidFill>
                <a:schemeClr val="dk1"/>
              </a:solidFill>
              <a:latin typeface="Calibri"/>
              <a:ea typeface="Calibri"/>
              <a:cs typeface="Calibri"/>
              <a:sym typeface="Calibri"/>
            </a:endParaRPr>
          </a:p>
          <a:p>
            <a:pPr marL="541337" marR="0" lvl="1" indent="-184943" algn="l" rtl="0">
              <a:lnSpc>
                <a:spcPct val="100000"/>
              </a:lnSpc>
              <a:spcBef>
                <a:spcPts val="600"/>
              </a:spcBef>
              <a:spcAft>
                <a:spcPts val="0"/>
              </a:spcAft>
              <a:buClr>
                <a:schemeClr val="dk1"/>
              </a:buClr>
              <a:buSzPct val="75000"/>
              <a:buChar char="○"/>
            </a:pPr>
            <a:r>
              <a:rPr lang="it" sz="2000">
                <a:solidFill>
                  <a:schemeClr val="dk1"/>
                </a:solidFill>
                <a:latin typeface="Calibri"/>
                <a:ea typeface="Calibri"/>
                <a:cs typeface="Calibri"/>
                <a:sym typeface="Calibri"/>
              </a:rPr>
              <a:t>The </a:t>
            </a:r>
            <a:r>
              <a:rPr lang="it" sz="2000" b="1">
                <a:solidFill>
                  <a:srgbClr val="0B5394"/>
                </a:solidFill>
                <a:latin typeface="Consolas"/>
                <a:ea typeface="Consolas"/>
                <a:cs typeface="Consolas"/>
                <a:sym typeface="Consolas"/>
              </a:rPr>
              <a:t>field</a:t>
            </a:r>
            <a:r>
              <a:rPr lang="it" sz="2000">
                <a:solidFill>
                  <a:schemeClr val="dk1"/>
                </a:solidFill>
                <a:latin typeface="Calibri"/>
                <a:ea typeface="Calibri"/>
                <a:cs typeface="Calibri"/>
                <a:sym typeface="Calibri"/>
              </a:rPr>
              <a:t> identifier has a special meaning only within the custom getter and setter, where it refers to the backing field that contains the property’s state</a:t>
            </a:r>
            <a:endParaRPr sz="2000">
              <a:solidFill>
                <a:schemeClr val="dk1"/>
              </a:solidFill>
              <a:latin typeface="Calibri"/>
              <a:ea typeface="Calibri"/>
              <a:cs typeface="Calibri"/>
              <a:sym typeface="Calibri"/>
            </a:endParaRPr>
          </a:p>
          <a:p>
            <a:pPr marL="0" lvl="0" indent="0" algn="l" rtl="0">
              <a:lnSpc>
                <a:spcPct val="100000"/>
              </a:lnSpc>
              <a:spcBef>
                <a:spcPts val="600"/>
              </a:spcBef>
              <a:spcAft>
                <a:spcPts val="0"/>
              </a:spcAft>
              <a:buNone/>
            </a:pPr>
            <a:endParaRPr sz="2000">
              <a:solidFill>
                <a:schemeClr val="dk1"/>
              </a:solidFill>
              <a:latin typeface="Calibri"/>
              <a:ea typeface="Calibri"/>
              <a:cs typeface="Calibri"/>
              <a:sym typeface="Calibri"/>
            </a:endParaRPr>
          </a:p>
          <a:p>
            <a:pPr marL="0" lvl="0" indent="0" algn="l" rtl="0">
              <a:lnSpc>
                <a:spcPct val="100000"/>
              </a:lnSpc>
              <a:spcBef>
                <a:spcPts val="600"/>
              </a:spcBef>
              <a:spcAft>
                <a:spcPts val="0"/>
              </a:spcAft>
              <a:buNone/>
            </a:pPr>
            <a:endParaRPr sz="2000">
              <a:solidFill>
                <a:schemeClr val="dk1"/>
              </a:solidFill>
              <a:latin typeface="Calibri"/>
              <a:ea typeface="Calibri"/>
              <a:cs typeface="Calibri"/>
              <a:sym typeface="Calibri"/>
            </a:endParaRPr>
          </a:p>
          <a:p>
            <a:pPr marL="0" lvl="0" indent="0" algn="l" rtl="0">
              <a:lnSpc>
                <a:spcPct val="100000"/>
              </a:lnSpc>
              <a:spcBef>
                <a:spcPts val="600"/>
              </a:spcBef>
              <a:spcAft>
                <a:spcPts val="0"/>
              </a:spcAft>
              <a:buNone/>
            </a:pPr>
            <a:endParaRPr sz="2000">
              <a:solidFill>
                <a:schemeClr val="dk1"/>
              </a:solidFill>
              <a:latin typeface="Calibri"/>
              <a:ea typeface="Calibri"/>
              <a:cs typeface="Calibri"/>
              <a:sym typeface="Calibri"/>
            </a:endParaRPr>
          </a:p>
          <a:p>
            <a:pPr marL="0" lvl="0" indent="0" algn="l" rtl="0">
              <a:lnSpc>
                <a:spcPct val="100000"/>
              </a:lnSpc>
              <a:spcBef>
                <a:spcPts val="600"/>
              </a:spcBef>
              <a:spcAft>
                <a:spcPts val="0"/>
              </a:spcAft>
              <a:buNone/>
            </a:pPr>
            <a:endParaRPr sz="2000">
              <a:solidFill>
                <a:schemeClr val="dk1"/>
              </a:solidFill>
              <a:latin typeface="Calibri"/>
              <a:ea typeface="Calibri"/>
              <a:cs typeface="Calibri"/>
              <a:sym typeface="Calibri"/>
            </a:endParaRPr>
          </a:p>
          <a:p>
            <a:pPr marL="0" lvl="0" indent="0" algn="l" rtl="0">
              <a:lnSpc>
                <a:spcPct val="100000"/>
              </a:lnSpc>
              <a:spcBef>
                <a:spcPts val="600"/>
              </a:spcBef>
              <a:spcAft>
                <a:spcPts val="0"/>
              </a:spcAft>
              <a:buNone/>
            </a:pPr>
            <a:endParaRPr sz="2000">
              <a:solidFill>
                <a:schemeClr val="dk1"/>
              </a:solidFill>
              <a:latin typeface="Calibri"/>
              <a:ea typeface="Calibri"/>
              <a:cs typeface="Calibri"/>
              <a:sym typeface="Calibri"/>
            </a:endParaRPr>
          </a:p>
          <a:p>
            <a:pPr marL="0" lvl="0" indent="0" algn="l" rtl="0">
              <a:lnSpc>
                <a:spcPct val="100000"/>
              </a:lnSpc>
              <a:spcBef>
                <a:spcPts val="600"/>
              </a:spcBef>
              <a:spcAft>
                <a:spcPts val="0"/>
              </a:spcAft>
              <a:buNone/>
            </a:pPr>
            <a:endParaRPr sz="2000">
              <a:solidFill>
                <a:schemeClr val="dk1"/>
              </a:solidFill>
              <a:latin typeface="Calibri"/>
              <a:ea typeface="Calibri"/>
              <a:cs typeface="Calibri"/>
              <a:sym typeface="Calibri"/>
            </a:endParaRPr>
          </a:p>
          <a:p>
            <a:pPr marL="0" lvl="0" indent="0" algn="l" rtl="0">
              <a:spcBef>
                <a:spcPts val="600"/>
              </a:spcBef>
              <a:spcAft>
                <a:spcPts val="0"/>
              </a:spcAft>
              <a:buNone/>
            </a:pPr>
            <a:endParaRPr/>
          </a:p>
        </p:txBody>
      </p:sp>
      <p:sp>
        <p:nvSpPr>
          <p:cNvPr id="321" name="Google Shape;321;p37"/>
          <p:cNvSpPr txBox="1"/>
          <p:nvPr/>
        </p:nvSpPr>
        <p:spPr>
          <a:xfrm>
            <a:off x="543300" y="2647950"/>
            <a:ext cx="8057400" cy="1939500"/>
          </a:xfrm>
          <a:prstGeom prst="rect">
            <a:avLst/>
          </a:prstGeom>
          <a:solidFill>
            <a:srgbClr val="FFF2CC"/>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lvl="0" indent="0" algn="l" rtl="0">
              <a:spcBef>
                <a:spcPts val="0"/>
              </a:spcBef>
              <a:spcAft>
                <a:spcPts val="0"/>
              </a:spcAft>
              <a:buClr>
                <a:schemeClr val="dk1"/>
              </a:buClr>
              <a:buSzPts val="1100"/>
              <a:buFont typeface="Arial"/>
              <a:buNone/>
            </a:pPr>
            <a:r>
              <a:rPr lang="it" sz="1200">
                <a:solidFill>
                  <a:schemeClr val="dk1"/>
                </a:solidFill>
                <a:latin typeface="Consolas"/>
                <a:ea typeface="Consolas"/>
                <a:cs typeface="Consolas"/>
                <a:sym typeface="Consolas"/>
              </a:rPr>
              <a:t>class Document(_summary: String) {</a:t>
            </a:r>
            <a:endParaRPr sz="1200">
              <a:solidFill>
                <a:schemeClr val="dk1"/>
              </a:solidFill>
              <a:latin typeface="Consolas"/>
              <a:ea typeface="Consolas"/>
              <a:cs typeface="Consolas"/>
              <a:sym typeface="Consolas"/>
            </a:endParaRPr>
          </a:p>
          <a:p>
            <a:pPr marL="0" lvl="0" indent="0" algn="l" rtl="0">
              <a:spcBef>
                <a:spcPts val="0"/>
              </a:spcBef>
              <a:spcAft>
                <a:spcPts val="0"/>
              </a:spcAft>
              <a:buClr>
                <a:schemeClr val="dk1"/>
              </a:buClr>
              <a:buSzPts val="1100"/>
              <a:buFont typeface="Arial"/>
              <a:buNone/>
            </a:pPr>
            <a:r>
              <a:rPr lang="it" sz="1200">
                <a:solidFill>
                  <a:schemeClr val="dk1"/>
                </a:solidFill>
                <a:latin typeface="Consolas"/>
                <a:ea typeface="Consolas"/>
                <a:cs typeface="Consolas"/>
                <a:sym typeface="Consolas"/>
              </a:rPr>
              <a:t>    var summary: String = _summary</a:t>
            </a:r>
            <a:endParaRPr sz="1200">
              <a:solidFill>
                <a:schemeClr val="dk1"/>
              </a:solidFill>
              <a:latin typeface="Consolas"/>
              <a:ea typeface="Consolas"/>
              <a:cs typeface="Consolas"/>
              <a:sym typeface="Consolas"/>
            </a:endParaRPr>
          </a:p>
          <a:p>
            <a:pPr marL="0" lvl="0" indent="0" algn="l" rtl="0">
              <a:spcBef>
                <a:spcPts val="0"/>
              </a:spcBef>
              <a:spcAft>
                <a:spcPts val="0"/>
              </a:spcAft>
              <a:buClr>
                <a:schemeClr val="dk1"/>
              </a:buClr>
              <a:buSzPts val="1100"/>
              <a:buFont typeface="Arial"/>
              <a:buNone/>
            </a:pPr>
            <a:r>
              <a:rPr lang="it" sz="1200">
                <a:solidFill>
                  <a:schemeClr val="dk1"/>
                </a:solidFill>
                <a:latin typeface="Consolas"/>
                <a:ea typeface="Consolas"/>
                <a:cs typeface="Consolas"/>
                <a:sym typeface="Consolas"/>
              </a:rPr>
              <a:t>        set(value) {  </a:t>
            </a:r>
            <a:r>
              <a:rPr lang="it" sz="1200" b="1">
                <a:solidFill>
                  <a:srgbClr val="0B5394"/>
                </a:solidFill>
                <a:highlight>
                  <a:schemeClr val="accent6"/>
                </a:highlight>
                <a:latin typeface="Consolas"/>
                <a:ea typeface="Consolas"/>
                <a:cs typeface="Consolas"/>
                <a:sym typeface="Consolas"/>
              </a:rPr>
              <a:t>field</a:t>
            </a:r>
            <a:r>
              <a:rPr lang="it" sz="1200">
                <a:solidFill>
                  <a:schemeClr val="dk1"/>
                </a:solidFill>
                <a:highlight>
                  <a:schemeClr val="accent6"/>
                </a:highlight>
                <a:latin typeface="Consolas"/>
                <a:ea typeface="Consolas"/>
                <a:cs typeface="Consolas"/>
                <a:sym typeface="Consolas"/>
              </a:rPr>
              <a:t> = value</a:t>
            </a:r>
            <a:r>
              <a:rPr lang="it" sz="1200">
                <a:solidFill>
                  <a:schemeClr val="dk1"/>
                </a:solidFill>
                <a:latin typeface="Consolas"/>
                <a:ea typeface="Consolas"/>
                <a:cs typeface="Consolas"/>
                <a:sym typeface="Consolas"/>
              </a:rPr>
              <a:t>; hashCode = computeHash() }</a:t>
            </a:r>
            <a:endParaRPr sz="1200">
              <a:solidFill>
                <a:schemeClr val="dk1"/>
              </a:solidFill>
              <a:latin typeface="Consolas"/>
              <a:ea typeface="Consolas"/>
              <a:cs typeface="Consolas"/>
              <a:sym typeface="Consolas"/>
            </a:endParaRPr>
          </a:p>
          <a:p>
            <a:pPr marL="0" lvl="0" indent="0" algn="l" rtl="0">
              <a:spcBef>
                <a:spcPts val="0"/>
              </a:spcBef>
              <a:spcAft>
                <a:spcPts val="0"/>
              </a:spcAft>
              <a:buClr>
                <a:schemeClr val="dk1"/>
              </a:buClr>
              <a:buSzPts val="1100"/>
              <a:buFont typeface="Arial"/>
              <a:buNone/>
            </a:pPr>
            <a:r>
              <a:rPr lang="it" sz="1200">
                <a:solidFill>
                  <a:schemeClr val="dk1"/>
                </a:solidFill>
                <a:latin typeface="Consolas"/>
                <a:ea typeface="Consolas"/>
                <a:cs typeface="Consolas"/>
                <a:sym typeface="Consolas"/>
              </a:rPr>
              <a:t>    var hashCode: Int = computeHash()</a:t>
            </a:r>
            <a:endParaRPr sz="1200">
              <a:solidFill>
                <a:schemeClr val="dk1"/>
              </a:solidFill>
              <a:latin typeface="Consolas"/>
              <a:ea typeface="Consolas"/>
              <a:cs typeface="Consolas"/>
              <a:sym typeface="Consolas"/>
            </a:endParaRPr>
          </a:p>
          <a:p>
            <a:pPr marL="0" lvl="0" indent="0" algn="l" rtl="0">
              <a:spcBef>
                <a:spcPts val="0"/>
              </a:spcBef>
              <a:spcAft>
                <a:spcPts val="0"/>
              </a:spcAft>
              <a:buClr>
                <a:schemeClr val="dk1"/>
              </a:buClr>
              <a:buSzPts val="1100"/>
              <a:buFont typeface="Arial"/>
              <a:buNone/>
            </a:pPr>
            <a:r>
              <a:rPr lang="it" sz="1200">
                <a:solidFill>
                  <a:schemeClr val="dk1"/>
                </a:solidFill>
                <a:latin typeface="Consolas"/>
                <a:ea typeface="Consolas"/>
                <a:cs typeface="Consolas"/>
                <a:sym typeface="Consolas"/>
              </a:rPr>
              <a:t>        private set</a:t>
            </a:r>
            <a:endParaRPr sz="1200">
              <a:solidFill>
                <a:schemeClr val="dk1"/>
              </a:solidFill>
              <a:latin typeface="Consolas"/>
              <a:ea typeface="Consolas"/>
              <a:cs typeface="Consolas"/>
              <a:sym typeface="Consolas"/>
            </a:endParaRPr>
          </a:p>
          <a:p>
            <a:pPr marL="0" lvl="0" indent="0" algn="l" rtl="0">
              <a:spcBef>
                <a:spcPts val="0"/>
              </a:spcBef>
              <a:spcAft>
                <a:spcPts val="0"/>
              </a:spcAft>
              <a:buClr>
                <a:schemeClr val="dk1"/>
              </a:buClr>
              <a:buSzPts val="1100"/>
              <a:buFont typeface="Arial"/>
              <a:buNone/>
            </a:pPr>
            <a:r>
              <a:rPr lang="it" sz="1200">
                <a:solidFill>
                  <a:schemeClr val="dk1"/>
                </a:solidFill>
                <a:latin typeface="Consolas"/>
                <a:ea typeface="Consolas"/>
                <a:cs typeface="Consolas"/>
                <a:sym typeface="Consolas"/>
              </a:rPr>
              <a:t>    private fun computeHash(): Int { println("Hashing..."); return summary.hashCode() }</a:t>
            </a:r>
            <a:endParaRPr sz="1200">
              <a:solidFill>
                <a:schemeClr val="dk1"/>
              </a:solidFill>
              <a:latin typeface="Consolas"/>
              <a:ea typeface="Consolas"/>
              <a:cs typeface="Consolas"/>
              <a:sym typeface="Consolas"/>
            </a:endParaRPr>
          </a:p>
          <a:p>
            <a:pPr marL="0" lvl="0" indent="0" algn="l" rtl="0">
              <a:spcBef>
                <a:spcPts val="0"/>
              </a:spcBef>
              <a:spcAft>
                <a:spcPts val="0"/>
              </a:spcAft>
              <a:buSzPts val="1100"/>
              <a:buNone/>
            </a:pPr>
            <a:r>
              <a:rPr lang="it" sz="1200">
                <a:solidFill>
                  <a:schemeClr val="dk1"/>
                </a:solidFill>
                <a:latin typeface="Consolas"/>
                <a:ea typeface="Consolas"/>
                <a:cs typeface="Consolas"/>
                <a:sym typeface="Consolas"/>
              </a:rPr>
              <a:t>}</a:t>
            </a:r>
            <a:endParaRPr sz="1200">
              <a:solidFill>
                <a:schemeClr val="dk1"/>
              </a:solidFill>
              <a:latin typeface="Consolas"/>
              <a:ea typeface="Consolas"/>
              <a:cs typeface="Consolas"/>
              <a:sym typeface="Consolas"/>
            </a:endParaRPr>
          </a:p>
          <a:p>
            <a:pPr marL="0" lvl="0" indent="0" algn="l" rtl="0">
              <a:spcBef>
                <a:spcPts val="0"/>
              </a:spcBef>
              <a:spcAft>
                <a:spcPts val="0"/>
              </a:spcAft>
              <a:buSzPts val="1100"/>
              <a:buNone/>
            </a:pPr>
            <a:endParaRPr sz="1200">
              <a:solidFill>
                <a:schemeClr val="dk1"/>
              </a:solidFill>
              <a:latin typeface="Consolas"/>
              <a:ea typeface="Consolas"/>
              <a:cs typeface="Consolas"/>
              <a:sym typeface="Consolas"/>
            </a:endParaRPr>
          </a:p>
          <a:p>
            <a:pPr marL="0" lvl="0" indent="0" algn="l" rtl="0">
              <a:spcBef>
                <a:spcPts val="0"/>
              </a:spcBef>
              <a:spcAft>
                <a:spcPts val="0"/>
              </a:spcAft>
              <a:buSzPts val="1100"/>
              <a:buNone/>
            </a:pPr>
            <a:r>
              <a:rPr lang="it" sz="1200">
                <a:solidFill>
                  <a:schemeClr val="dk1"/>
                </a:solidFill>
                <a:latin typeface="Consolas"/>
                <a:ea typeface="Consolas"/>
                <a:cs typeface="Consolas"/>
                <a:sym typeface="Consolas"/>
              </a:rPr>
              <a:t>val d = Document("abc") // → Hashing…</a:t>
            </a:r>
            <a:br>
              <a:rPr lang="it" sz="1200">
                <a:solidFill>
                  <a:schemeClr val="dk1"/>
                </a:solidFill>
                <a:latin typeface="Consolas"/>
                <a:ea typeface="Consolas"/>
                <a:cs typeface="Consolas"/>
                <a:sym typeface="Consolas"/>
              </a:rPr>
            </a:br>
            <a:r>
              <a:rPr lang="it" sz="1200">
                <a:solidFill>
                  <a:schemeClr val="dk1"/>
                </a:solidFill>
                <a:latin typeface="Consolas"/>
                <a:ea typeface="Consolas"/>
                <a:cs typeface="Consolas"/>
                <a:sym typeface="Consolas"/>
              </a:rPr>
              <a:t>d.summary = "qwerty" // → Hashing…</a:t>
            </a:r>
            <a:endParaRPr sz="1200">
              <a:solidFill>
                <a:schemeClr val="dk1"/>
              </a:solidFill>
              <a:latin typeface="Consolas"/>
              <a:ea typeface="Consolas"/>
              <a:cs typeface="Consolas"/>
              <a:sym typeface="Consolas"/>
            </a:endParaRPr>
          </a:p>
        </p:txBody>
      </p:sp>
      <p:sp>
        <p:nvSpPr>
          <p:cNvPr id="322" name="Google Shape;322;p37"/>
          <p:cNvSpPr txBox="1">
            <a:spLocks noGrp="1"/>
          </p:cNvSpPr>
          <p:nvPr>
            <p:ph type="sldNum" idx="12"/>
          </p:nvPr>
        </p:nvSpPr>
        <p:spPr>
          <a:xfrm>
            <a:off x="8472458" y="476850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it"/>
              <a:t>31</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p3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it" sz="2820"/>
              <a:t>Properties</a:t>
            </a:r>
            <a:endParaRPr sz="2820"/>
          </a:p>
        </p:txBody>
      </p:sp>
      <p:sp>
        <p:nvSpPr>
          <p:cNvPr id="328" name="Google Shape;328;p38"/>
          <p:cNvSpPr txBox="1"/>
          <p:nvPr/>
        </p:nvSpPr>
        <p:spPr>
          <a:xfrm>
            <a:off x="311698" y="1152475"/>
            <a:ext cx="8520600" cy="2247300"/>
          </a:xfrm>
          <a:prstGeom prst="rect">
            <a:avLst/>
          </a:prstGeom>
          <a:solidFill>
            <a:srgbClr val="FFF2CC"/>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lvl="0" indent="0" algn="l" rtl="0">
              <a:spcBef>
                <a:spcPts val="0"/>
              </a:spcBef>
              <a:spcAft>
                <a:spcPts val="0"/>
              </a:spcAft>
              <a:buClr>
                <a:schemeClr val="dk1"/>
              </a:buClr>
              <a:buSzPts val="1100"/>
              <a:buFont typeface="Arial"/>
              <a:buNone/>
            </a:pPr>
            <a:r>
              <a:rPr lang="it">
                <a:latin typeface="Consolas"/>
                <a:ea typeface="Consolas"/>
                <a:cs typeface="Consolas"/>
                <a:sym typeface="Consolas"/>
              </a:rPr>
              <a:t>class Circle(</a:t>
            </a:r>
            <a:r>
              <a:rPr lang="it" b="1">
                <a:solidFill>
                  <a:srgbClr val="0B5394"/>
                </a:solidFill>
                <a:latin typeface="Consolas"/>
                <a:ea typeface="Consolas"/>
                <a:cs typeface="Consolas"/>
                <a:sym typeface="Consolas"/>
              </a:rPr>
              <a:t>var</a:t>
            </a:r>
            <a:r>
              <a:rPr lang="it">
                <a:latin typeface="Consolas"/>
                <a:ea typeface="Consolas"/>
                <a:cs typeface="Consolas"/>
                <a:sym typeface="Consolas"/>
              </a:rPr>
              <a:t> radius: Double) {</a:t>
            </a:r>
            <a:endParaRPr>
              <a:latin typeface="Consolas"/>
              <a:ea typeface="Consolas"/>
              <a:cs typeface="Consolas"/>
              <a:sym typeface="Consolas"/>
            </a:endParaRPr>
          </a:p>
          <a:p>
            <a:pPr marL="0" lvl="0" indent="0" algn="l" rtl="0">
              <a:spcBef>
                <a:spcPts val="0"/>
              </a:spcBef>
              <a:spcAft>
                <a:spcPts val="0"/>
              </a:spcAft>
              <a:buClr>
                <a:schemeClr val="dk1"/>
              </a:buClr>
              <a:buSzPts val="1100"/>
              <a:buFont typeface="Arial"/>
              <a:buNone/>
            </a:pPr>
            <a:r>
              <a:rPr lang="it">
                <a:latin typeface="Consolas"/>
                <a:ea typeface="Consolas"/>
                <a:cs typeface="Consolas"/>
                <a:sym typeface="Consolas"/>
              </a:rPr>
              <a:t>    </a:t>
            </a:r>
            <a:r>
              <a:rPr lang="it" b="1">
                <a:solidFill>
                  <a:srgbClr val="0B5394"/>
                </a:solidFill>
                <a:latin typeface="Consolas"/>
                <a:ea typeface="Consolas"/>
                <a:cs typeface="Consolas"/>
                <a:sym typeface="Consolas"/>
              </a:rPr>
              <a:t>val</a:t>
            </a:r>
            <a:r>
              <a:rPr lang="it">
                <a:latin typeface="Consolas"/>
                <a:ea typeface="Consolas"/>
                <a:cs typeface="Consolas"/>
                <a:sym typeface="Consolas"/>
              </a:rPr>
              <a:t> area: Double</a:t>
            </a:r>
            <a:endParaRPr>
              <a:latin typeface="Consolas"/>
              <a:ea typeface="Consolas"/>
              <a:cs typeface="Consolas"/>
              <a:sym typeface="Consolas"/>
            </a:endParaRPr>
          </a:p>
          <a:p>
            <a:pPr marL="0" lvl="0" indent="0" algn="l" rtl="0">
              <a:spcBef>
                <a:spcPts val="0"/>
              </a:spcBef>
              <a:spcAft>
                <a:spcPts val="0"/>
              </a:spcAft>
              <a:buClr>
                <a:schemeClr val="dk1"/>
              </a:buClr>
              <a:buSzPts val="1100"/>
              <a:buFont typeface="Arial"/>
              <a:buNone/>
            </a:pPr>
            <a:r>
              <a:rPr lang="it">
                <a:latin typeface="Consolas"/>
                <a:ea typeface="Consolas"/>
                <a:cs typeface="Consolas"/>
                <a:sym typeface="Consolas"/>
              </a:rPr>
              <a:t>        </a:t>
            </a:r>
            <a:r>
              <a:rPr lang="it">
                <a:highlight>
                  <a:schemeClr val="accent6"/>
                </a:highlight>
                <a:latin typeface="Consolas"/>
                <a:ea typeface="Consolas"/>
                <a:cs typeface="Consolas"/>
                <a:sym typeface="Consolas"/>
              </a:rPr>
              <a:t>get()</a:t>
            </a:r>
            <a:r>
              <a:rPr lang="it">
                <a:latin typeface="Consolas"/>
                <a:ea typeface="Consolas"/>
                <a:cs typeface="Consolas"/>
                <a:sym typeface="Consolas"/>
              </a:rPr>
              <a:t> = Math.PI * radius * radius</a:t>
            </a:r>
            <a:endParaRPr>
              <a:latin typeface="Consolas"/>
              <a:ea typeface="Consolas"/>
              <a:cs typeface="Consolas"/>
              <a:sym typeface="Consolas"/>
            </a:endParaRPr>
          </a:p>
          <a:p>
            <a:pPr marL="0" lvl="0" indent="0" algn="l" rtl="0">
              <a:spcBef>
                <a:spcPts val="0"/>
              </a:spcBef>
              <a:spcAft>
                <a:spcPts val="0"/>
              </a:spcAft>
              <a:buSzPts val="1100"/>
              <a:buNone/>
            </a:pPr>
            <a:r>
              <a:rPr lang="it">
                <a:latin typeface="Consolas"/>
                <a:ea typeface="Consolas"/>
                <a:cs typeface="Consolas"/>
                <a:sym typeface="Consolas"/>
              </a:rPr>
              <a:t>}</a:t>
            </a:r>
            <a:endParaRPr>
              <a:latin typeface="Consolas"/>
              <a:ea typeface="Consolas"/>
              <a:cs typeface="Consolas"/>
              <a:sym typeface="Consolas"/>
            </a:endParaRPr>
          </a:p>
          <a:p>
            <a:pPr marL="0" lvl="0" indent="0" algn="l" rtl="0">
              <a:spcBef>
                <a:spcPts val="0"/>
              </a:spcBef>
              <a:spcAft>
                <a:spcPts val="0"/>
              </a:spcAft>
              <a:buSzPts val="1100"/>
              <a:buNone/>
            </a:pPr>
            <a:endParaRPr>
              <a:latin typeface="Consolas"/>
              <a:ea typeface="Consolas"/>
              <a:cs typeface="Consolas"/>
              <a:sym typeface="Consolas"/>
            </a:endParaRPr>
          </a:p>
          <a:p>
            <a:pPr marL="0" lvl="0" indent="0" algn="l" rtl="0">
              <a:spcBef>
                <a:spcPts val="0"/>
              </a:spcBef>
              <a:spcAft>
                <a:spcPts val="0"/>
              </a:spcAft>
              <a:buSzPts val="1100"/>
              <a:buNone/>
            </a:pPr>
            <a:endParaRPr>
              <a:latin typeface="Consolas"/>
              <a:ea typeface="Consolas"/>
              <a:cs typeface="Consolas"/>
              <a:sym typeface="Consolas"/>
            </a:endParaRPr>
          </a:p>
          <a:p>
            <a:pPr marL="0" lvl="0" indent="0" algn="l" rtl="0">
              <a:spcBef>
                <a:spcPts val="0"/>
              </a:spcBef>
              <a:spcAft>
                <a:spcPts val="0"/>
              </a:spcAft>
              <a:buSzPts val="1100"/>
              <a:buNone/>
            </a:pPr>
            <a:r>
              <a:rPr lang="it">
                <a:latin typeface="Consolas"/>
                <a:ea typeface="Consolas"/>
                <a:cs typeface="Consolas"/>
                <a:sym typeface="Consolas"/>
              </a:rPr>
              <a:t>val c = Circle(2.0)  // Instantiates a circle with radius 2.0</a:t>
            </a:r>
            <a:endParaRPr>
              <a:latin typeface="Consolas"/>
              <a:ea typeface="Consolas"/>
              <a:cs typeface="Consolas"/>
              <a:sym typeface="Consolas"/>
            </a:endParaRPr>
          </a:p>
          <a:p>
            <a:pPr marL="0" lvl="0" indent="0" algn="l" rtl="0">
              <a:spcBef>
                <a:spcPts val="0"/>
              </a:spcBef>
              <a:spcAft>
                <a:spcPts val="0"/>
              </a:spcAft>
              <a:buSzPts val="1100"/>
              <a:buNone/>
            </a:pPr>
            <a:r>
              <a:rPr lang="it">
                <a:latin typeface="Consolas"/>
                <a:ea typeface="Consolas"/>
                <a:cs typeface="Consolas"/>
                <a:sym typeface="Consolas"/>
              </a:rPr>
              <a:t>c.radius *= 0.5	  // modifies the radius property, setting it to 1.0</a:t>
            </a:r>
            <a:endParaRPr>
              <a:latin typeface="Consolas"/>
              <a:ea typeface="Consolas"/>
              <a:cs typeface="Consolas"/>
              <a:sym typeface="Consolas"/>
            </a:endParaRPr>
          </a:p>
          <a:p>
            <a:pPr marL="0" lvl="0" indent="0" algn="l" rtl="0">
              <a:spcBef>
                <a:spcPts val="0"/>
              </a:spcBef>
              <a:spcAft>
                <a:spcPts val="0"/>
              </a:spcAft>
              <a:buSzPts val="1100"/>
              <a:buNone/>
            </a:pPr>
            <a:endParaRPr>
              <a:latin typeface="Consolas"/>
              <a:ea typeface="Consolas"/>
              <a:cs typeface="Consolas"/>
              <a:sym typeface="Consolas"/>
            </a:endParaRPr>
          </a:p>
          <a:p>
            <a:pPr marL="0" lvl="0" indent="0" algn="l" rtl="0">
              <a:spcBef>
                <a:spcPts val="0"/>
              </a:spcBef>
              <a:spcAft>
                <a:spcPts val="0"/>
              </a:spcAft>
              <a:buSzPts val="1100"/>
              <a:buNone/>
            </a:pPr>
            <a:r>
              <a:rPr lang="it">
                <a:latin typeface="Consolas"/>
                <a:ea typeface="Consolas"/>
                <a:cs typeface="Consolas"/>
                <a:sym typeface="Consolas"/>
              </a:rPr>
              <a:t>println(c.area)	  // access the (computed) property area and prints 3.141592…</a:t>
            </a:r>
            <a:endParaRPr>
              <a:latin typeface="Consolas"/>
              <a:ea typeface="Consolas"/>
              <a:cs typeface="Consolas"/>
              <a:sym typeface="Consolas"/>
            </a:endParaRPr>
          </a:p>
        </p:txBody>
      </p:sp>
      <p:sp>
        <p:nvSpPr>
          <p:cNvPr id="329" name="Google Shape;329;p38"/>
          <p:cNvSpPr txBox="1">
            <a:spLocks noGrp="1"/>
          </p:cNvSpPr>
          <p:nvPr>
            <p:ph type="sldNum" idx="12"/>
          </p:nvPr>
        </p:nvSpPr>
        <p:spPr>
          <a:xfrm>
            <a:off x="8472458" y="476850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it"/>
              <a:t>32</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3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it" sz="2820"/>
              <a:t>Visibility modifiers</a:t>
            </a:r>
            <a:endParaRPr sz="2820"/>
          </a:p>
        </p:txBody>
      </p:sp>
      <p:sp>
        <p:nvSpPr>
          <p:cNvPr id="335" name="Google Shape;335;p39"/>
          <p:cNvSpPr txBox="1">
            <a:spLocks noGrp="1"/>
          </p:cNvSpPr>
          <p:nvPr>
            <p:ph type="body" idx="1"/>
          </p:nvPr>
        </p:nvSpPr>
        <p:spPr>
          <a:xfrm>
            <a:off x="311150" y="1244204"/>
            <a:ext cx="8521800" cy="3393300"/>
          </a:xfrm>
          <a:prstGeom prst="rect">
            <a:avLst/>
          </a:prstGeom>
        </p:spPr>
        <p:txBody>
          <a:bodyPr spcFirstLastPara="1" wrap="square" lIns="91425" tIns="45700" rIns="91425" bIns="45700" anchor="t" anchorCtr="0">
            <a:normAutofit fontScale="92500" lnSpcReduction="10000"/>
          </a:bodyPr>
          <a:lstStyle/>
          <a:p>
            <a:pPr marL="457200" marR="0" lvl="0" indent="-346075" algn="l" rtl="0">
              <a:lnSpc>
                <a:spcPct val="115000"/>
              </a:lnSpc>
              <a:spcBef>
                <a:spcPts val="0"/>
              </a:spcBef>
              <a:spcAft>
                <a:spcPts val="0"/>
              </a:spcAft>
              <a:buSzPct val="100000"/>
              <a:buChar char="•"/>
            </a:pPr>
            <a:r>
              <a:rPr lang="it" b="1">
                <a:solidFill>
                  <a:srgbClr val="0B5394"/>
                </a:solidFill>
                <a:latin typeface="Consolas"/>
                <a:ea typeface="Consolas"/>
                <a:cs typeface="Consolas"/>
                <a:sym typeface="Consolas"/>
              </a:rPr>
              <a:t>public</a:t>
            </a:r>
            <a:endParaRPr b="1">
              <a:solidFill>
                <a:srgbClr val="0B5394"/>
              </a:solidFill>
              <a:latin typeface="Consolas"/>
              <a:ea typeface="Consolas"/>
              <a:cs typeface="Consolas"/>
              <a:sym typeface="Consolas"/>
            </a:endParaRPr>
          </a:p>
          <a:p>
            <a:pPr marL="914400" lvl="1" indent="-322580" algn="l" rtl="0">
              <a:spcBef>
                <a:spcPts val="0"/>
              </a:spcBef>
              <a:spcAft>
                <a:spcPts val="0"/>
              </a:spcAft>
              <a:buSzPct val="100000"/>
              <a:buChar char="○"/>
            </a:pPr>
            <a:r>
              <a:rPr lang="it"/>
              <a:t>The default visibility modifier in Kotlin. </a:t>
            </a:r>
            <a:endParaRPr/>
          </a:p>
          <a:p>
            <a:pPr marL="914400" lvl="1" indent="-322580" algn="l" rtl="0">
              <a:spcBef>
                <a:spcPts val="0"/>
              </a:spcBef>
              <a:spcAft>
                <a:spcPts val="0"/>
              </a:spcAft>
              <a:buSzPct val="100000"/>
              <a:buChar char="○"/>
            </a:pPr>
            <a:r>
              <a:rPr lang="it"/>
              <a:t>A public class, member or top-level function can be accessed from anywhere in the program</a:t>
            </a:r>
            <a:endParaRPr/>
          </a:p>
          <a:p>
            <a:pPr marL="457200" lvl="0" indent="-346075" algn="l" rtl="0">
              <a:spcBef>
                <a:spcPts val="0"/>
              </a:spcBef>
              <a:spcAft>
                <a:spcPts val="0"/>
              </a:spcAft>
              <a:buSzPct val="100000"/>
              <a:buChar char="•"/>
            </a:pPr>
            <a:r>
              <a:rPr lang="it" b="1">
                <a:solidFill>
                  <a:srgbClr val="0B5394"/>
                </a:solidFill>
                <a:latin typeface="Consolas"/>
                <a:ea typeface="Consolas"/>
                <a:cs typeface="Consolas"/>
                <a:sym typeface="Consolas"/>
              </a:rPr>
              <a:t>private</a:t>
            </a:r>
            <a:endParaRPr/>
          </a:p>
          <a:p>
            <a:pPr marL="914400" lvl="1" indent="-322580" algn="l" rtl="0">
              <a:spcBef>
                <a:spcPts val="0"/>
              </a:spcBef>
              <a:spcAft>
                <a:spcPts val="0"/>
              </a:spcAft>
              <a:buSzPct val="100000"/>
              <a:buChar char="○"/>
            </a:pPr>
            <a:r>
              <a:rPr lang="it"/>
              <a:t>A private class, member or top-level function can only be accessed from within the same file or class that defines it</a:t>
            </a:r>
            <a:endParaRPr/>
          </a:p>
          <a:p>
            <a:pPr marL="457200" lvl="0" indent="-346075" algn="l" rtl="0">
              <a:spcBef>
                <a:spcPts val="0"/>
              </a:spcBef>
              <a:spcAft>
                <a:spcPts val="0"/>
              </a:spcAft>
              <a:buSzPct val="100000"/>
              <a:buChar char="•"/>
            </a:pPr>
            <a:r>
              <a:rPr lang="it" b="1">
                <a:solidFill>
                  <a:srgbClr val="0B5394"/>
                </a:solidFill>
                <a:latin typeface="Consolas"/>
                <a:ea typeface="Consolas"/>
                <a:cs typeface="Consolas"/>
                <a:sym typeface="Consolas"/>
              </a:rPr>
              <a:t>protected</a:t>
            </a:r>
            <a:endParaRPr/>
          </a:p>
          <a:p>
            <a:pPr marL="914400" lvl="1" indent="-322580" algn="l" rtl="0">
              <a:spcBef>
                <a:spcPts val="0"/>
              </a:spcBef>
              <a:spcAft>
                <a:spcPts val="0"/>
              </a:spcAft>
              <a:buSzPct val="100000"/>
              <a:buChar char="○"/>
            </a:pPr>
            <a:r>
              <a:rPr lang="it"/>
              <a:t>A protected member can be accessed from the same class or its subclasses, but not from outside the class hierarchy</a:t>
            </a:r>
            <a:endParaRPr/>
          </a:p>
          <a:p>
            <a:pPr marL="457200" lvl="0" indent="-346075" algn="l" rtl="0">
              <a:spcBef>
                <a:spcPts val="0"/>
              </a:spcBef>
              <a:spcAft>
                <a:spcPts val="0"/>
              </a:spcAft>
              <a:buSzPct val="100000"/>
              <a:buChar char="•"/>
            </a:pPr>
            <a:r>
              <a:rPr lang="it" b="1">
                <a:solidFill>
                  <a:srgbClr val="0B5394"/>
                </a:solidFill>
                <a:latin typeface="Consolas"/>
                <a:ea typeface="Consolas"/>
                <a:cs typeface="Consolas"/>
                <a:sym typeface="Consolas"/>
              </a:rPr>
              <a:t>internal</a:t>
            </a:r>
            <a:endParaRPr/>
          </a:p>
          <a:p>
            <a:pPr marL="914400" lvl="1" indent="-322580" algn="l" rtl="0">
              <a:spcBef>
                <a:spcPts val="0"/>
              </a:spcBef>
              <a:spcAft>
                <a:spcPts val="0"/>
              </a:spcAft>
              <a:buSzPct val="100000"/>
              <a:buChar char="○"/>
            </a:pPr>
            <a:r>
              <a:rPr lang="it"/>
              <a:t>An internal class, member or top-level function can be accessed from any class or file within the same module</a:t>
            </a:r>
            <a:endParaRPr/>
          </a:p>
          <a:p>
            <a:pPr marL="914400" lvl="1" indent="-322580" algn="l" rtl="0">
              <a:spcBef>
                <a:spcPts val="0"/>
              </a:spcBef>
              <a:spcAft>
                <a:spcPts val="0"/>
              </a:spcAft>
              <a:buSzPct val="100000"/>
              <a:buChar char="○"/>
            </a:pPr>
            <a:r>
              <a:rPr lang="it"/>
              <a:t>A module is a set of Kotlin files that are compiled together</a:t>
            </a:r>
            <a:endParaRPr/>
          </a:p>
        </p:txBody>
      </p:sp>
      <p:sp>
        <p:nvSpPr>
          <p:cNvPr id="336" name="Google Shape;336;p39"/>
          <p:cNvSpPr txBox="1">
            <a:spLocks noGrp="1"/>
          </p:cNvSpPr>
          <p:nvPr>
            <p:ph type="sldNum" idx="12"/>
          </p:nvPr>
        </p:nvSpPr>
        <p:spPr>
          <a:xfrm>
            <a:off x="8472458" y="476850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it"/>
              <a:t>33</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4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it" sz="2820"/>
              <a:t>Lateinit var properties</a:t>
            </a:r>
            <a:endParaRPr sz="2820"/>
          </a:p>
        </p:txBody>
      </p:sp>
      <p:sp>
        <p:nvSpPr>
          <p:cNvPr id="342" name="Google Shape;342;p40"/>
          <p:cNvSpPr txBox="1">
            <a:spLocks noGrp="1"/>
          </p:cNvSpPr>
          <p:nvPr>
            <p:ph type="sldNum" idx="12"/>
          </p:nvPr>
        </p:nvSpPr>
        <p:spPr>
          <a:xfrm>
            <a:off x="8472458" y="476850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it"/>
              <a:t>34</a:t>
            </a:fld>
            <a:endParaRPr/>
          </a:p>
        </p:txBody>
      </p:sp>
      <p:sp>
        <p:nvSpPr>
          <p:cNvPr id="343" name="Google Shape;343;p40"/>
          <p:cNvSpPr txBox="1">
            <a:spLocks noGrp="1"/>
          </p:cNvSpPr>
          <p:nvPr>
            <p:ph type="body" idx="1"/>
          </p:nvPr>
        </p:nvSpPr>
        <p:spPr>
          <a:xfrm>
            <a:off x="311150" y="1244204"/>
            <a:ext cx="8521800" cy="3393300"/>
          </a:xfrm>
          <a:prstGeom prst="rect">
            <a:avLst/>
          </a:prstGeom>
        </p:spPr>
        <p:txBody>
          <a:bodyPr spcFirstLastPara="1" wrap="square" lIns="91425" tIns="45700" rIns="91425" bIns="45700" anchor="t" anchorCtr="0">
            <a:normAutofit/>
          </a:bodyPr>
          <a:lstStyle/>
          <a:p>
            <a:pPr marL="457200" lvl="0" indent="-355600" algn="l" rtl="0">
              <a:spcBef>
                <a:spcPts val="600"/>
              </a:spcBef>
              <a:spcAft>
                <a:spcPts val="0"/>
              </a:spcAft>
              <a:buSzPts val="2000"/>
              <a:buChar char="•"/>
            </a:pPr>
            <a:r>
              <a:rPr lang="it"/>
              <a:t>The value of a variable may not be available at the object construction time</a:t>
            </a:r>
            <a:endParaRPr/>
          </a:p>
          <a:p>
            <a:pPr marL="914400" lvl="1" indent="-330200" algn="l" rtl="0">
              <a:spcBef>
                <a:spcPts val="0"/>
              </a:spcBef>
              <a:spcAft>
                <a:spcPts val="0"/>
              </a:spcAft>
              <a:buSzPts val="1600"/>
              <a:buChar char="○"/>
            </a:pPr>
            <a:r>
              <a:rPr lang="it"/>
              <a:t>Declaring a variable as lateinit allow the compiler not to complain that its missing an initialization</a:t>
            </a:r>
            <a:endParaRPr/>
          </a:p>
          <a:p>
            <a:pPr marL="914400" lvl="1" indent="-330200" algn="l" rtl="0">
              <a:spcBef>
                <a:spcPts val="0"/>
              </a:spcBef>
              <a:spcAft>
                <a:spcPts val="0"/>
              </a:spcAft>
              <a:buSzPts val="1600"/>
              <a:buChar char="○"/>
            </a:pPr>
            <a:r>
              <a:rPr lang="it"/>
              <a:t>The variable must be mutable because it will be assigned a value, later</a:t>
            </a:r>
            <a:endParaRPr/>
          </a:p>
          <a:p>
            <a:pPr marL="914400" lvl="1" indent="-330200" algn="l" rtl="0">
              <a:spcBef>
                <a:spcPts val="0"/>
              </a:spcBef>
              <a:spcAft>
                <a:spcPts val="0"/>
              </a:spcAft>
              <a:buSzPts val="1600"/>
              <a:buChar char="○"/>
            </a:pPr>
            <a:r>
              <a:rPr lang="it"/>
              <a:t>If the variable is accessed before it’s initialized, an UninitializedPropertyAccessException is thrown</a:t>
            </a:r>
            <a:endParaRPr/>
          </a:p>
          <a:p>
            <a:pPr marL="0" lvl="0" indent="0" algn="l" rtl="0">
              <a:spcBef>
                <a:spcPts val="600"/>
              </a:spcBef>
              <a:spcAft>
                <a:spcPts val="0"/>
              </a:spcAft>
              <a:buNone/>
            </a:pPr>
            <a:endParaRPr/>
          </a:p>
        </p:txBody>
      </p:sp>
      <p:sp>
        <p:nvSpPr>
          <p:cNvPr id="344" name="Google Shape;344;p40"/>
          <p:cNvSpPr txBox="1"/>
          <p:nvPr/>
        </p:nvSpPr>
        <p:spPr>
          <a:xfrm>
            <a:off x="677700" y="3067600"/>
            <a:ext cx="7788600" cy="1569900"/>
          </a:xfrm>
          <a:prstGeom prst="rect">
            <a:avLst/>
          </a:prstGeom>
          <a:solidFill>
            <a:srgbClr val="FFF2CC"/>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lvl="0" indent="0" algn="l" rtl="0">
              <a:spcBef>
                <a:spcPts val="0"/>
              </a:spcBef>
              <a:spcAft>
                <a:spcPts val="0"/>
              </a:spcAft>
              <a:buNone/>
            </a:pPr>
            <a:r>
              <a:rPr lang="it" sz="1200">
                <a:solidFill>
                  <a:schemeClr val="dk1"/>
                </a:solidFill>
                <a:latin typeface="Consolas"/>
                <a:ea typeface="Consolas"/>
                <a:cs typeface="Consolas"/>
                <a:sym typeface="Consolas"/>
              </a:rPr>
              <a:t>class MyActivity: Activity(){</a:t>
            </a:r>
            <a:endParaRPr sz="1200">
              <a:solidFill>
                <a:schemeClr val="dk1"/>
              </a:solidFill>
              <a:latin typeface="Consolas"/>
              <a:ea typeface="Consolas"/>
              <a:cs typeface="Consolas"/>
              <a:sym typeface="Consolas"/>
            </a:endParaRPr>
          </a:p>
          <a:p>
            <a:pPr marL="457200" lvl="0" indent="0" algn="l" rtl="0">
              <a:spcBef>
                <a:spcPts val="0"/>
              </a:spcBef>
              <a:spcAft>
                <a:spcPts val="0"/>
              </a:spcAft>
              <a:buNone/>
            </a:pPr>
            <a:r>
              <a:rPr lang="it" sz="1200">
                <a:solidFill>
                  <a:schemeClr val="dk1"/>
                </a:solidFill>
                <a:latin typeface="Consolas"/>
                <a:ea typeface="Consolas"/>
                <a:cs typeface="Consolas"/>
                <a:sym typeface="Consolas"/>
              </a:rPr>
              <a:t>private </a:t>
            </a:r>
            <a:r>
              <a:rPr lang="it" sz="1200" b="1">
                <a:solidFill>
                  <a:srgbClr val="0B5394"/>
                </a:solidFill>
                <a:latin typeface="Consolas"/>
                <a:ea typeface="Consolas"/>
                <a:cs typeface="Consolas"/>
                <a:sym typeface="Consolas"/>
              </a:rPr>
              <a:t>lateinit var</a:t>
            </a:r>
            <a:r>
              <a:rPr lang="it" sz="1200">
                <a:solidFill>
                  <a:schemeClr val="dk1"/>
                </a:solidFill>
                <a:latin typeface="Consolas"/>
                <a:ea typeface="Consolas"/>
                <a:cs typeface="Consolas"/>
                <a:sym typeface="Consolas"/>
              </a:rPr>
              <a:t> button: Button //this will be initialized later</a:t>
            </a:r>
            <a:endParaRPr sz="1200">
              <a:solidFill>
                <a:schemeClr val="dk1"/>
              </a:solidFill>
              <a:latin typeface="Consolas"/>
              <a:ea typeface="Consolas"/>
              <a:cs typeface="Consolas"/>
              <a:sym typeface="Consolas"/>
            </a:endParaRPr>
          </a:p>
          <a:p>
            <a:pPr marL="457200" lvl="0" indent="0" algn="l" rtl="0">
              <a:spcBef>
                <a:spcPts val="0"/>
              </a:spcBef>
              <a:spcAft>
                <a:spcPts val="0"/>
              </a:spcAft>
              <a:buNone/>
            </a:pPr>
            <a:endParaRPr sz="1200">
              <a:solidFill>
                <a:schemeClr val="dk1"/>
              </a:solidFill>
              <a:latin typeface="Consolas"/>
              <a:ea typeface="Consolas"/>
              <a:cs typeface="Consolas"/>
              <a:sym typeface="Consolas"/>
            </a:endParaRPr>
          </a:p>
          <a:p>
            <a:pPr marL="457200" lvl="0" indent="0" algn="l" rtl="0">
              <a:spcBef>
                <a:spcPts val="0"/>
              </a:spcBef>
              <a:spcAft>
                <a:spcPts val="0"/>
              </a:spcAft>
              <a:buNone/>
            </a:pPr>
            <a:r>
              <a:rPr lang="it" sz="1200">
                <a:solidFill>
                  <a:schemeClr val="dk1"/>
                </a:solidFill>
                <a:latin typeface="Consolas"/>
                <a:ea typeface="Consolas"/>
                <a:cs typeface="Consolas"/>
                <a:sym typeface="Consolas"/>
              </a:rPr>
              <a:t>override fun onCreate(bundle: Bundle?) {</a:t>
            </a:r>
            <a:endParaRPr sz="1200">
              <a:solidFill>
                <a:schemeClr val="dk1"/>
              </a:solidFill>
              <a:latin typeface="Consolas"/>
              <a:ea typeface="Consolas"/>
              <a:cs typeface="Consolas"/>
              <a:sym typeface="Consolas"/>
            </a:endParaRPr>
          </a:p>
          <a:p>
            <a:pPr marL="457200" lvl="0" indent="0" algn="l" rtl="0">
              <a:spcBef>
                <a:spcPts val="0"/>
              </a:spcBef>
              <a:spcAft>
                <a:spcPts val="0"/>
              </a:spcAft>
              <a:buNone/>
            </a:pPr>
            <a:r>
              <a:rPr lang="it" sz="1200">
                <a:solidFill>
                  <a:schemeClr val="dk1"/>
                </a:solidFill>
                <a:latin typeface="Consolas"/>
                <a:ea typeface="Consolas"/>
                <a:cs typeface="Consolas"/>
                <a:sym typeface="Consolas"/>
              </a:rPr>
              <a:t>    super.onCreate(bundle)</a:t>
            </a:r>
            <a:endParaRPr sz="1200">
              <a:solidFill>
                <a:schemeClr val="dk1"/>
              </a:solidFill>
              <a:latin typeface="Consolas"/>
              <a:ea typeface="Consolas"/>
              <a:cs typeface="Consolas"/>
              <a:sym typeface="Consolas"/>
            </a:endParaRPr>
          </a:p>
          <a:p>
            <a:pPr marL="457200" lvl="0" indent="0" algn="l" rtl="0">
              <a:spcBef>
                <a:spcPts val="0"/>
              </a:spcBef>
              <a:spcAft>
                <a:spcPts val="0"/>
              </a:spcAft>
              <a:buNone/>
            </a:pPr>
            <a:r>
              <a:rPr lang="it" sz="1200">
                <a:solidFill>
                  <a:schemeClr val="dk1"/>
                </a:solidFill>
                <a:latin typeface="Consolas"/>
                <a:ea typeface="Consolas"/>
                <a:cs typeface="Consolas"/>
                <a:sym typeface="Consolas"/>
              </a:rPr>
              <a:t>    button = Button(this)	</a:t>
            </a:r>
            <a:r>
              <a:rPr lang="it" sz="1200">
                <a:solidFill>
                  <a:schemeClr val="dk1"/>
                </a:solidFill>
                <a:highlight>
                  <a:schemeClr val="accent6"/>
                </a:highlight>
                <a:latin typeface="Consolas"/>
                <a:ea typeface="Consolas"/>
                <a:cs typeface="Consolas"/>
                <a:sym typeface="Consolas"/>
              </a:rPr>
              <a:t>//initialization occurs here</a:t>
            </a:r>
            <a:endParaRPr sz="1200">
              <a:solidFill>
                <a:schemeClr val="dk1"/>
              </a:solidFill>
              <a:highlight>
                <a:schemeClr val="accent6"/>
              </a:highlight>
              <a:latin typeface="Consolas"/>
              <a:ea typeface="Consolas"/>
              <a:cs typeface="Consolas"/>
              <a:sym typeface="Consolas"/>
            </a:endParaRPr>
          </a:p>
          <a:p>
            <a:pPr marL="457200" lvl="0" indent="0" algn="l" rtl="0">
              <a:spcBef>
                <a:spcPts val="0"/>
              </a:spcBef>
              <a:spcAft>
                <a:spcPts val="0"/>
              </a:spcAft>
              <a:buNone/>
            </a:pPr>
            <a:r>
              <a:rPr lang="it" sz="1200">
                <a:solidFill>
                  <a:schemeClr val="dk1"/>
                </a:solidFill>
                <a:latin typeface="Consolas"/>
                <a:ea typeface="Consolas"/>
                <a:cs typeface="Consolas"/>
                <a:sym typeface="Consolas"/>
              </a:rPr>
              <a:t>}</a:t>
            </a:r>
            <a:endParaRPr sz="1200">
              <a:solidFill>
                <a:schemeClr val="dk1"/>
              </a:solidFill>
              <a:latin typeface="Consolas"/>
              <a:ea typeface="Consolas"/>
              <a:cs typeface="Consolas"/>
              <a:sym typeface="Consolas"/>
            </a:endParaRPr>
          </a:p>
          <a:p>
            <a:pPr marL="0" lvl="0" indent="0" algn="l" rtl="0">
              <a:spcBef>
                <a:spcPts val="0"/>
              </a:spcBef>
              <a:spcAft>
                <a:spcPts val="0"/>
              </a:spcAft>
              <a:buNone/>
            </a:pPr>
            <a:r>
              <a:rPr lang="it" sz="1200">
                <a:solidFill>
                  <a:schemeClr val="dk1"/>
                </a:solidFill>
                <a:latin typeface="Consolas"/>
                <a:ea typeface="Consolas"/>
                <a:cs typeface="Consolas"/>
                <a:sym typeface="Consolas"/>
              </a:rPr>
              <a:t>}</a:t>
            </a:r>
            <a:endParaRPr sz="1200">
              <a:solidFill>
                <a:schemeClr val="dk1"/>
              </a:solidFill>
              <a:latin typeface="Consolas"/>
              <a:ea typeface="Consolas"/>
              <a:cs typeface="Consolas"/>
              <a:sym typeface="Consolas"/>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49" name="Google Shape;349;p4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it" sz="2820"/>
              <a:t>Delegates</a:t>
            </a:r>
            <a:endParaRPr sz="2820"/>
          </a:p>
        </p:txBody>
      </p:sp>
      <p:sp>
        <p:nvSpPr>
          <p:cNvPr id="350" name="Google Shape;350;p41"/>
          <p:cNvSpPr txBox="1">
            <a:spLocks noGrp="1"/>
          </p:cNvSpPr>
          <p:nvPr>
            <p:ph type="sldNum" idx="12"/>
          </p:nvPr>
        </p:nvSpPr>
        <p:spPr>
          <a:xfrm>
            <a:off x="8472458" y="476850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it"/>
              <a:t>35</a:t>
            </a:fld>
            <a:endParaRPr/>
          </a:p>
        </p:txBody>
      </p:sp>
      <p:sp>
        <p:nvSpPr>
          <p:cNvPr id="351" name="Google Shape;351;p41"/>
          <p:cNvSpPr txBox="1">
            <a:spLocks noGrp="1"/>
          </p:cNvSpPr>
          <p:nvPr>
            <p:ph type="body" idx="1"/>
          </p:nvPr>
        </p:nvSpPr>
        <p:spPr>
          <a:xfrm>
            <a:off x="311150" y="1244204"/>
            <a:ext cx="8521800" cy="3393300"/>
          </a:xfrm>
          <a:prstGeom prst="rect">
            <a:avLst/>
          </a:prstGeom>
        </p:spPr>
        <p:txBody>
          <a:bodyPr spcFirstLastPara="1" wrap="square" lIns="91425" tIns="45700" rIns="91425" bIns="45700" anchor="t" anchorCtr="0">
            <a:normAutofit lnSpcReduction="10000"/>
          </a:bodyPr>
          <a:lstStyle/>
          <a:p>
            <a:pPr marL="457200" lvl="0" indent="-355600" algn="l" rtl="0">
              <a:spcBef>
                <a:spcPts val="600"/>
              </a:spcBef>
              <a:spcAft>
                <a:spcPts val="0"/>
              </a:spcAft>
              <a:buSzPts val="2000"/>
              <a:buChar char="•"/>
            </a:pPr>
            <a:r>
              <a:rPr lang="it"/>
              <a:t>Usually, properties are automatically stored inside class instances in hidden fields</a:t>
            </a:r>
            <a:endParaRPr/>
          </a:p>
          <a:p>
            <a:pPr marL="914400" lvl="1" indent="-330200" algn="l" rtl="0">
              <a:spcBef>
                <a:spcPts val="0"/>
              </a:spcBef>
              <a:spcAft>
                <a:spcPts val="0"/>
              </a:spcAft>
              <a:buSzPts val="1600"/>
              <a:buChar char="○"/>
            </a:pPr>
            <a:r>
              <a:rPr lang="it"/>
              <a:t>If some common behaviour need to be applied, code tends to repeat</a:t>
            </a:r>
            <a:endParaRPr/>
          </a:p>
          <a:p>
            <a:pPr marL="457200" lvl="0" indent="-355600" algn="l" rtl="0">
              <a:spcBef>
                <a:spcPts val="0"/>
              </a:spcBef>
              <a:spcAft>
                <a:spcPts val="0"/>
              </a:spcAft>
              <a:buSzPts val="2000"/>
              <a:buChar char="•"/>
            </a:pPr>
            <a:r>
              <a:rPr lang="it"/>
              <a:t>Kotlin address the case via </a:t>
            </a:r>
            <a:r>
              <a:rPr lang="it" b="1">
                <a:solidFill>
                  <a:srgbClr val="0B5394"/>
                </a:solidFill>
              </a:rPr>
              <a:t>delegated properties</a:t>
            </a:r>
            <a:endParaRPr b="1">
              <a:solidFill>
                <a:srgbClr val="0B5394"/>
              </a:solidFill>
            </a:endParaRPr>
          </a:p>
          <a:p>
            <a:pPr marL="914400" lvl="1" indent="-330200" algn="l" rtl="0">
              <a:spcBef>
                <a:spcPts val="300"/>
              </a:spcBef>
              <a:spcAft>
                <a:spcPts val="0"/>
              </a:spcAft>
              <a:buSzPts val="1600"/>
              <a:buChar char="○"/>
            </a:pPr>
            <a:r>
              <a:rPr lang="it"/>
              <a:t>The keyword </a:t>
            </a:r>
            <a:r>
              <a:rPr lang="it" b="1">
                <a:solidFill>
                  <a:srgbClr val="0B5394"/>
                </a:solidFill>
                <a:latin typeface="Consolas"/>
                <a:ea typeface="Consolas"/>
                <a:cs typeface="Consolas"/>
                <a:sym typeface="Consolas"/>
              </a:rPr>
              <a:t>by</a:t>
            </a:r>
            <a:r>
              <a:rPr lang="it"/>
              <a:t> is used in the property declaration to define a delegate</a:t>
            </a:r>
            <a:endParaRPr/>
          </a:p>
          <a:p>
            <a:pPr marL="457200" lvl="0" indent="-355600" algn="l" rtl="0">
              <a:spcBef>
                <a:spcPts val="0"/>
              </a:spcBef>
              <a:spcAft>
                <a:spcPts val="0"/>
              </a:spcAft>
              <a:buSzPts val="2000"/>
              <a:buChar char="•"/>
            </a:pPr>
            <a:r>
              <a:rPr lang="it"/>
              <a:t>The Kotlin class library offers some ready made delegates that are function responsible for getting and setting the value of the property</a:t>
            </a:r>
            <a:endParaRPr/>
          </a:p>
          <a:p>
            <a:pPr marL="914400" lvl="1" indent="-330200" algn="l" rtl="0">
              <a:spcBef>
                <a:spcPts val="300"/>
              </a:spcBef>
              <a:spcAft>
                <a:spcPts val="0"/>
              </a:spcAft>
              <a:buSzPts val="1600"/>
              <a:buChar char="○"/>
            </a:pPr>
            <a:r>
              <a:rPr lang="it" b="1">
                <a:solidFill>
                  <a:srgbClr val="0B5394"/>
                </a:solidFill>
                <a:latin typeface="Consolas"/>
                <a:ea typeface="Consolas"/>
                <a:cs typeface="Consolas"/>
                <a:sym typeface="Consolas"/>
              </a:rPr>
              <a:t>Lazy</a:t>
            </a:r>
            <a:r>
              <a:rPr lang="it"/>
              <a:t> properties store a value that is computed only on first access</a:t>
            </a:r>
            <a:endParaRPr/>
          </a:p>
          <a:p>
            <a:pPr marL="914400" lvl="1" indent="-330200" algn="l" rtl="0">
              <a:spcBef>
                <a:spcPts val="300"/>
              </a:spcBef>
              <a:spcAft>
                <a:spcPts val="0"/>
              </a:spcAft>
              <a:buSzPts val="1600"/>
              <a:buChar char="○"/>
            </a:pPr>
            <a:r>
              <a:rPr lang="it" b="1">
                <a:solidFill>
                  <a:srgbClr val="0B5394"/>
                </a:solidFill>
                <a:latin typeface="Consolas"/>
                <a:ea typeface="Consolas"/>
                <a:cs typeface="Consolas"/>
                <a:sym typeface="Consolas"/>
              </a:rPr>
              <a:t>Observable</a:t>
            </a:r>
            <a:r>
              <a:rPr lang="it"/>
              <a:t> properties invoke a listener whenever the value changes</a:t>
            </a:r>
            <a:endParaRPr/>
          </a:p>
          <a:p>
            <a:pPr marL="914400" lvl="1" indent="-330200" algn="l" rtl="0">
              <a:spcBef>
                <a:spcPts val="300"/>
              </a:spcBef>
              <a:spcAft>
                <a:spcPts val="0"/>
              </a:spcAft>
              <a:buSzPts val="1600"/>
              <a:buChar char="○"/>
            </a:pPr>
            <a:r>
              <a:rPr lang="it" b="1">
                <a:solidFill>
                  <a:srgbClr val="0B5394"/>
                </a:solidFill>
                <a:latin typeface="Consolas"/>
                <a:ea typeface="Consolas"/>
                <a:cs typeface="Consolas"/>
                <a:sym typeface="Consolas"/>
              </a:rPr>
              <a:t>Vetoable</a:t>
            </a:r>
            <a:r>
              <a:rPr lang="it"/>
              <a:t> properties let a listener decide whether a value should be stored or not in the property</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p4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it" sz="2820"/>
              <a:t>Lazy properties</a:t>
            </a:r>
            <a:endParaRPr sz="2820"/>
          </a:p>
        </p:txBody>
      </p:sp>
      <p:sp>
        <p:nvSpPr>
          <p:cNvPr id="357" name="Google Shape;357;p42"/>
          <p:cNvSpPr txBox="1">
            <a:spLocks noGrp="1"/>
          </p:cNvSpPr>
          <p:nvPr>
            <p:ph type="sldNum" idx="12"/>
          </p:nvPr>
        </p:nvSpPr>
        <p:spPr>
          <a:xfrm>
            <a:off x="8472458" y="476850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it"/>
              <a:t>36</a:t>
            </a:fld>
            <a:endParaRPr/>
          </a:p>
        </p:txBody>
      </p:sp>
      <p:sp>
        <p:nvSpPr>
          <p:cNvPr id="358" name="Google Shape;358;p42"/>
          <p:cNvSpPr txBox="1">
            <a:spLocks noGrp="1"/>
          </p:cNvSpPr>
          <p:nvPr>
            <p:ph type="body" idx="1"/>
          </p:nvPr>
        </p:nvSpPr>
        <p:spPr>
          <a:xfrm>
            <a:off x="311150" y="1244204"/>
            <a:ext cx="8521800" cy="3393300"/>
          </a:xfrm>
          <a:prstGeom prst="rect">
            <a:avLst/>
          </a:prstGeom>
        </p:spPr>
        <p:txBody>
          <a:bodyPr spcFirstLastPara="1" wrap="square" lIns="91425" tIns="45700" rIns="91425" bIns="45700" anchor="t" anchorCtr="0">
            <a:normAutofit/>
          </a:bodyPr>
          <a:lstStyle/>
          <a:p>
            <a:pPr marL="457200" lvl="0" indent="-355600" algn="l" rtl="0">
              <a:spcBef>
                <a:spcPts val="600"/>
              </a:spcBef>
              <a:spcAft>
                <a:spcPts val="0"/>
              </a:spcAft>
              <a:buSzPts val="2000"/>
              <a:buChar char="•"/>
            </a:pPr>
            <a:r>
              <a:rPr lang="it" b="1">
                <a:solidFill>
                  <a:srgbClr val="0B5394"/>
                </a:solidFill>
                <a:latin typeface="Consolas"/>
                <a:ea typeface="Consolas"/>
                <a:cs typeface="Consolas"/>
                <a:sym typeface="Consolas"/>
              </a:rPr>
              <a:t>lazy()</a:t>
            </a:r>
            <a:r>
              <a:rPr lang="it"/>
              <a:t> is a function that takes a lambda and returns an instance of </a:t>
            </a:r>
            <a:r>
              <a:rPr lang="it" b="1">
                <a:solidFill>
                  <a:srgbClr val="0B5394"/>
                </a:solidFill>
              </a:rPr>
              <a:t>Lazy&lt;T&gt;</a:t>
            </a:r>
            <a:r>
              <a:rPr lang="it"/>
              <a:t> where </a:t>
            </a:r>
            <a:r>
              <a:rPr lang="it" b="1">
                <a:solidFill>
                  <a:srgbClr val="0B5394"/>
                </a:solidFill>
                <a:latin typeface="Consolas"/>
                <a:ea typeface="Consolas"/>
                <a:cs typeface="Consolas"/>
                <a:sym typeface="Consolas"/>
              </a:rPr>
              <a:t>T</a:t>
            </a:r>
            <a:r>
              <a:rPr lang="it"/>
              <a:t> is the type returned by the lambda</a:t>
            </a:r>
            <a:endParaRPr/>
          </a:p>
          <a:p>
            <a:pPr marL="914400" lvl="1" indent="-330200" algn="l" rtl="0">
              <a:spcBef>
                <a:spcPts val="0"/>
              </a:spcBef>
              <a:spcAft>
                <a:spcPts val="0"/>
              </a:spcAft>
              <a:buSzPts val="1600"/>
              <a:buChar char="○"/>
            </a:pPr>
            <a:r>
              <a:rPr lang="it"/>
              <a:t>The first call to </a:t>
            </a:r>
            <a:r>
              <a:rPr lang="it" b="1">
                <a:solidFill>
                  <a:srgbClr val="0B5394"/>
                </a:solidFill>
                <a:latin typeface="Consolas"/>
                <a:ea typeface="Consolas"/>
                <a:cs typeface="Consolas"/>
                <a:sym typeface="Consolas"/>
              </a:rPr>
              <a:t>get()</a:t>
            </a:r>
            <a:r>
              <a:rPr lang="it"/>
              <a:t> executes the lambda and remembers the result </a:t>
            </a:r>
            <a:endParaRPr/>
          </a:p>
          <a:p>
            <a:pPr marL="914400" lvl="1" indent="-330200" algn="l" rtl="0">
              <a:spcBef>
                <a:spcPts val="0"/>
              </a:spcBef>
              <a:spcAft>
                <a:spcPts val="0"/>
              </a:spcAft>
              <a:buSzPts val="1600"/>
              <a:buChar char="○"/>
            </a:pPr>
            <a:r>
              <a:rPr lang="it"/>
              <a:t>Subsequent calls return the remembered value</a:t>
            </a:r>
            <a:endParaRPr/>
          </a:p>
        </p:txBody>
      </p:sp>
      <p:sp>
        <p:nvSpPr>
          <p:cNvPr id="359" name="Google Shape;359;p42"/>
          <p:cNvSpPr txBox="1"/>
          <p:nvPr/>
        </p:nvSpPr>
        <p:spPr>
          <a:xfrm>
            <a:off x="677700" y="2878425"/>
            <a:ext cx="7788600" cy="1754700"/>
          </a:xfrm>
          <a:prstGeom prst="rect">
            <a:avLst/>
          </a:prstGeom>
          <a:solidFill>
            <a:srgbClr val="FFF2CC"/>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lvl="0" indent="0" algn="l" rtl="0">
              <a:spcBef>
                <a:spcPts val="0"/>
              </a:spcBef>
              <a:spcAft>
                <a:spcPts val="0"/>
              </a:spcAft>
              <a:buNone/>
            </a:pPr>
            <a:r>
              <a:rPr lang="it" sz="1200">
                <a:solidFill>
                  <a:schemeClr val="dk1"/>
                </a:solidFill>
                <a:latin typeface="Consolas"/>
                <a:ea typeface="Consolas"/>
                <a:cs typeface="Consolas"/>
                <a:sym typeface="Consolas"/>
              </a:rPr>
              <a:t>val lazyValue: String </a:t>
            </a:r>
            <a:r>
              <a:rPr lang="it" sz="1200" b="1">
                <a:solidFill>
                  <a:srgbClr val="0B5394"/>
                </a:solidFill>
                <a:latin typeface="Consolas"/>
                <a:ea typeface="Consolas"/>
                <a:cs typeface="Consolas"/>
                <a:sym typeface="Consolas"/>
              </a:rPr>
              <a:t>by lazy</a:t>
            </a:r>
            <a:r>
              <a:rPr lang="it" sz="1200">
                <a:solidFill>
                  <a:schemeClr val="dk1"/>
                </a:solidFill>
                <a:latin typeface="Consolas"/>
                <a:ea typeface="Consolas"/>
                <a:cs typeface="Consolas"/>
                <a:sym typeface="Consolas"/>
              </a:rPr>
              <a:t> {</a:t>
            </a:r>
            <a:endParaRPr sz="1200">
              <a:solidFill>
                <a:schemeClr val="dk1"/>
              </a:solidFill>
              <a:latin typeface="Consolas"/>
              <a:ea typeface="Consolas"/>
              <a:cs typeface="Consolas"/>
              <a:sym typeface="Consolas"/>
            </a:endParaRPr>
          </a:p>
          <a:p>
            <a:pPr marL="0" lvl="0" indent="0" algn="l" rtl="0">
              <a:spcBef>
                <a:spcPts val="0"/>
              </a:spcBef>
              <a:spcAft>
                <a:spcPts val="0"/>
              </a:spcAft>
              <a:buNone/>
            </a:pPr>
            <a:r>
              <a:rPr lang="it" sz="1200">
                <a:solidFill>
                  <a:schemeClr val="dk1"/>
                </a:solidFill>
                <a:latin typeface="Consolas"/>
                <a:ea typeface="Consolas"/>
                <a:cs typeface="Consolas"/>
                <a:sym typeface="Consolas"/>
              </a:rPr>
              <a:t>    print("computed!")</a:t>
            </a:r>
            <a:endParaRPr sz="1200">
              <a:solidFill>
                <a:schemeClr val="dk1"/>
              </a:solidFill>
              <a:latin typeface="Consolas"/>
              <a:ea typeface="Consolas"/>
              <a:cs typeface="Consolas"/>
              <a:sym typeface="Consolas"/>
            </a:endParaRPr>
          </a:p>
          <a:p>
            <a:pPr marL="0" lvl="0" indent="0" algn="l" rtl="0">
              <a:spcBef>
                <a:spcPts val="0"/>
              </a:spcBef>
              <a:spcAft>
                <a:spcPts val="0"/>
              </a:spcAft>
              <a:buNone/>
            </a:pPr>
            <a:r>
              <a:rPr lang="it" sz="1200">
                <a:solidFill>
                  <a:schemeClr val="dk1"/>
                </a:solidFill>
                <a:latin typeface="Consolas"/>
                <a:ea typeface="Consolas"/>
                <a:cs typeface="Consolas"/>
                <a:sym typeface="Consolas"/>
              </a:rPr>
              <a:t>    "Hello"</a:t>
            </a:r>
            <a:endParaRPr sz="1200">
              <a:solidFill>
                <a:schemeClr val="dk1"/>
              </a:solidFill>
              <a:latin typeface="Consolas"/>
              <a:ea typeface="Consolas"/>
              <a:cs typeface="Consolas"/>
              <a:sym typeface="Consolas"/>
            </a:endParaRPr>
          </a:p>
          <a:p>
            <a:pPr marL="0" lvl="0" indent="0" algn="l" rtl="0">
              <a:spcBef>
                <a:spcPts val="0"/>
              </a:spcBef>
              <a:spcAft>
                <a:spcPts val="0"/>
              </a:spcAft>
              <a:buNone/>
            </a:pPr>
            <a:r>
              <a:rPr lang="it" sz="1200">
                <a:solidFill>
                  <a:schemeClr val="dk1"/>
                </a:solidFill>
                <a:latin typeface="Consolas"/>
                <a:ea typeface="Consolas"/>
                <a:cs typeface="Consolas"/>
                <a:sym typeface="Consolas"/>
              </a:rPr>
              <a:t>}</a:t>
            </a:r>
            <a:endParaRPr sz="1200">
              <a:solidFill>
                <a:schemeClr val="dk1"/>
              </a:solidFill>
              <a:latin typeface="Consolas"/>
              <a:ea typeface="Consolas"/>
              <a:cs typeface="Consolas"/>
              <a:sym typeface="Consolas"/>
            </a:endParaRPr>
          </a:p>
          <a:p>
            <a:pPr marL="0" lvl="0" indent="0" algn="l" rtl="0">
              <a:spcBef>
                <a:spcPts val="0"/>
              </a:spcBef>
              <a:spcAft>
                <a:spcPts val="0"/>
              </a:spcAft>
              <a:buNone/>
            </a:pPr>
            <a:endParaRPr sz="1200">
              <a:solidFill>
                <a:schemeClr val="dk1"/>
              </a:solidFill>
              <a:latin typeface="Consolas"/>
              <a:ea typeface="Consolas"/>
              <a:cs typeface="Consolas"/>
              <a:sym typeface="Consolas"/>
            </a:endParaRPr>
          </a:p>
          <a:p>
            <a:pPr marL="0" lvl="0" indent="0" algn="l" rtl="0">
              <a:spcBef>
                <a:spcPts val="0"/>
              </a:spcBef>
              <a:spcAft>
                <a:spcPts val="0"/>
              </a:spcAft>
              <a:buNone/>
            </a:pPr>
            <a:r>
              <a:rPr lang="it" sz="1200">
                <a:solidFill>
                  <a:schemeClr val="dk1"/>
                </a:solidFill>
                <a:latin typeface="Consolas"/>
                <a:ea typeface="Consolas"/>
                <a:cs typeface="Consolas"/>
                <a:sym typeface="Consolas"/>
              </a:rPr>
              <a:t>fun main() {</a:t>
            </a:r>
            <a:endParaRPr sz="1200">
              <a:solidFill>
                <a:schemeClr val="dk1"/>
              </a:solidFill>
              <a:latin typeface="Consolas"/>
              <a:ea typeface="Consolas"/>
              <a:cs typeface="Consolas"/>
              <a:sym typeface="Consolas"/>
            </a:endParaRPr>
          </a:p>
          <a:p>
            <a:pPr marL="0" lvl="0" indent="0" algn="l" rtl="0">
              <a:spcBef>
                <a:spcPts val="0"/>
              </a:spcBef>
              <a:spcAft>
                <a:spcPts val="0"/>
              </a:spcAft>
              <a:buNone/>
            </a:pPr>
            <a:r>
              <a:rPr lang="it" sz="1200">
                <a:solidFill>
                  <a:schemeClr val="dk1"/>
                </a:solidFill>
                <a:latin typeface="Consolas"/>
                <a:ea typeface="Consolas"/>
                <a:cs typeface="Consolas"/>
                <a:sym typeface="Consolas"/>
              </a:rPr>
              <a:t>    println(lazyValue) // → computed!Hello</a:t>
            </a:r>
            <a:endParaRPr sz="1200">
              <a:solidFill>
                <a:schemeClr val="dk1"/>
              </a:solidFill>
              <a:latin typeface="Consolas"/>
              <a:ea typeface="Consolas"/>
              <a:cs typeface="Consolas"/>
              <a:sym typeface="Consolas"/>
            </a:endParaRPr>
          </a:p>
          <a:p>
            <a:pPr marL="0" lvl="0" indent="0" algn="l" rtl="0">
              <a:spcBef>
                <a:spcPts val="0"/>
              </a:spcBef>
              <a:spcAft>
                <a:spcPts val="0"/>
              </a:spcAft>
              <a:buNone/>
            </a:pPr>
            <a:r>
              <a:rPr lang="it" sz="1200">
                <a:solidFill>
                  <a:schemeClr val="dk1"/>
                </a:solidFill>
                <a:latin typeface="Consolas"/>
                <a:ea typeface="Consolas"/>
                <a:cs typeface="Consolas"/>
                <a:sym typeface="Consolas"/>
              </a:rPr>
              <a:t>    println(lazyValue) // → Hello</a:t>
            </a:r>
            <a:endParaRPr sz="1200">
              <a:solidFill>
                <a:schemeClr val="dk1"/>
              </a:solidFill>
              <a:latin typeface="Consolas"/>
              <a:ea typeface="Consolas"/>
              <a:cs typeface="Consolas"/>
              <a:sym typeface="Consolas"/>
            </a:endParaRPr>
          </a:p>
          <a:p>
            <a:pPr marL="0" lvl="0" indent="0" algn="l" rtl="0">
              <a:spcBef>
                <a:spcPts val="0"/>
              </a:spcBef>
              <a:spcAft>
                <a:spcPts val="0"/>
              </a:spcAft>
              <a:buNone/>
            </a:pPr>
            <a:r>
              <a:rPr lang="it" sz="1200">
                <a:solidFill>
                  <a:schemeClr val="dk1"/>
                </a:solidFill>
                <a:latin typeface="Consolas"/>
                <a:ea typeface="Consolas"/>
                <a:cs typeface="Consolas"/>
                <a:sym typeface="Consolas"/>
              </a:rPr>
              <a:t>}</a:t>
            </a:r>
            <a:endParaRPr sz="1200">
              <a:solidFill>
                <a:schemeClr val="dk1"/>
              </a:solidFill>
              <a:latin typeface="Consolas"/>
              <a:ea typeface="Consolas"/>
              <a:cs typeface="Consolas"/>
              <a:sym typeface="Consolas"/>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sp>
        <p:nvSpPr>
          <p:cNvPr id="364" name="Google Shape;364;p4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it" sz="2820"/>
              <a:t>Observable properties</a:t>
            </a:r>
            <a:endParaRPr sz="2820"/>
          </a:p>
        </p:txBody>
      </p:sp>
      <p:sp>
        <p:nvSpPr>
          <p:cNvPr id="365" name="Google Shape;365;p43"/>
          <p:cNvSpPr txBox="1">
            <a:spLocks noGrp="1"/>
          </p:cNvSpPr>
          <p:nvPr>
            <p:ph type="sldNum" idx="12"/>
          </p:nvPr>
        </p:nvSpPr>
        <p:spPr>
          <a:xfrm>
            <a:off x="8472458" y="476850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it"/>
              <a:t>37</a:t>
            </a:fld>
            <a:endParaRPr/>
          </a:p>
        </p:txBody>
      </p:sp>
      <p:sp>
        <p:nvSpPr>
          <p:cNvPr id="366" name="Google Shape;366;p43"/>
          <p:cNvSpPr txBox="1">
            <a:spLocks noGrp="1"/>
          </p:cNvSpPr>
          <p:nvPr>
            <p:ph type="body" idx="1"/>
          </p:nvPr>
        </p:nvSpPr>
        <p:spPr>
          <a:xfrm>
            <a:off x="311150" y="1168004"/>
            <a:ext cx="8521800" cy="3393300"/>
          </a:xfrm>
          <a:prstGeom prst="rect">
            <a:avLst/>
          </a:prstGeom>
        </p:spPr>
        <p:txBody>
          <a:bodyPr spcFirstLastPara="1" wrap="square" lIns="91425" tIns="45700" rIns="91425" bIns="45700" anchor="t" anchorCtr="0">
            <a:normAutofit/>
          </a:bodyPr>
          <a:lstStyle/>
          <a:p>
            <a:pPr marL="457200" lvl="0" indent="-355600" algn="l" rtl="0">
              <a:spcBef>
                <a:spcPts val="600"/>
              </a:spcBef>
              <a:spcAft>
                <a:spcPts val="0"/>
              </a:spcAft>
              <a:buSzPts val="2000"/>
              <a:buChar char="•"/>
            </a:pPr>
            <a:r>
              <a:rPr lang="it" b="1">
                <a:solidFill>
                  <a:srgbClr val="0B5394"/>
                </a:solidFill>
                <a:latin typeface="Consolas"/>
                <a:ea typeface="Consolas"/>
                <a:cs typeface="Consolas"/>
                <a:sym typeface="Consolas"/>
              </a:rPr>
              <a:t>Delegates.observable()</a:t>
            </a:r>
            <a:r>
              <a:rPr lang="it"/>
              <a:t> implements the observable pattern</a:t>
            </a:r>
            <a:endParaRPr/>
          </a:p>
          <a:p>
            <a:pPr marL="914400" lvl="1" indent="-330200" algn="l" rtl="0">
              <a:spcBef>
                <a:spcPts val="0"/>
              </a:spcBef>
              <a:spcAft>
                <a:spcPts val="0"/>
              </a:spcAft>
              <a:buSzPts val="1600"/>
              <a:buChar char="○"/>
            </a:pPr>
            <a:r>
              <a:rPr lang="it"/>
              <a:t>It takes two arguments: the initial value and a lambda, which will be invoked after any assignment is performed</a:t>
            </a:r>
            <a:endParaRPr/>
          </a:p>
          <a:p>
            <a:pPr marL="914400" lvl="1" indent="-330200" algn="l" rtl="0">
              <a:spcBef>
                <a:spcPts val="0"/>
              </a:spcBef>
              <a:spcAft>
                <a:spcPts val="0"/>
              </a:spcAft>
              <a:buSzPts val="1600"/>
              <a:buChar char="○"/>
            </a:pPr>
            <a:r>
              <a:rPr lang="it"/>
              <a:t>The lambda has three parameters: the property being assigned to, the old value and the new one</a:t>
            </a:r>
            <a:endParaRPr/>
          </a:p>
        </p:txBody>
      </p:sp>
      <p:sp>
        <p:nvSpPr>
          <p:cNvPr id="367" name="Google Shape;367;p43"/>
          <p:cNvSpPr txBox="1"/>
          <p:nvPr/>
        </p:nvSpPr>
        <p:spPr>
          <a:xfrm>
            <a:off x="677700" y="2630875"/>
            <a:ext cx="7788600" cy="2124000"/>
          </a:xfrm>
          <a:prstGeom prst="rect">
            <a:avLst/>
          </a:prstGeom>
          <a:solidFill>
            <a:srgbClr val="FFF2CC"/>
          </a:solidFill>
          <a:ln w="9525" cap="flat" cmpd="sng">
            <a:solidFill>
              <a:schemeClr val="dk1"/>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spAutoFit/>
          </a:bodyPr>
          <a:lstStyle/>
          <a:p>
            <a:pPr marL="0" lvl="0" indent="0" algn="l" rtl="0">
              <a:spcBef>
                <a:spcPts val="0"/>
              </a:spcBef>
              <a:spcAft>
                <a:spcPts val="0"/>
              </a:spcAft>
              <a:buNone/>
            </a:pPr>
            <a:r>
              <a:rPr lang="it" sz="1200">
                <a:solidFill>
                  <a:schemeClr val="dk1"/>
                </a:solidFill>
                <a:latin typeface="Consolas"/>
                <a:ea typeface="Consolas"/>
                <a:cs typeface="Consolas"/>
                <a:sym typeface="Consolas"/>
              </a:rPr>
              <a:t>class User {</a:t>
            </a:r>
            <a:endParaRPr sz="1200">
              <a:solidFill>
                <a:schemeClr val="dk1"/>
              </a:solidFill>
              <a:latin typeface="Consolas"/>
              <a:ea typeface="Consolas"/>
              <a:cs typeface="Consolas"/>
              <a:sym typeface="Consolas"/>
            </a:endParaRPr>
          </a:p>
          <a:p>
            <a:pPr marL="0" lvl="0" indent="0" algn="l" rtl="0">
              <a:spcBef>
                <a:spcPts val="0"/>
              </a:spcBef>
              <a:spcAft>
                <a:spcPts val="0"/>
              </a:spcAft>
              <a:buNone/>
            </a:pPr>
            <a:r>
              <a:rPr lang="it" sz="1200">
                <a:solidFill>
                  <a:schemeClr val="dk1"/>
                </a:solidFill>
                <a:latin typeface="Consolas"/>
                <a:ea typeface="Consolas"/>
                <a:cs typeface="Consolas"/>
                <a:sym typeface="Consolas"/>
              </a:rPr>
              <a:t>    var name: String </a:t>
            </a:r>
            <a:r>
              <a:rPr lang="it" sz="1200" b="1">
                <a:solidFill>
                  <a:srgbClr val="0B5394"/>
                </a:solidFill>
                <a:latin typeface="Consolas"/>
                <a:ea typeface="Consolas"/>
                <a:cs typeface="Consolas"/>
                <a:sym typeface="Consolas"/>
              </a:rPr>
              <a:t>by Delegates.observable</a:t>
            </a:r>
            <a:r>
              <a:rPr lang="it" sz="1200">
                <a:solidFill>
                  <a:schemeClr val="dk1"/>
                </a:solidFill>
                <a:latin typeface="Consolas"/>
                <a:ea typeface="Consolas"/>
                <a:cs typeface="Consolas"/>
                <a:sym typeface="Consolas"/>
              </a:rPr>
              <a:t>("&lt;no name&gt;") {</a:t>
            </a:r>
            <a:endParaRPr sz="1200">
              <a:solidFill>
                <a:schemeClr val="dk1"/>
              </a:solidFill>
              <a:latin typeface="Consolas"/>
              <a:ea typeface="Consolas"/>
              <a:cs typeface="Consolas"/>
              <a:sym typeface="Consolas"/>
            </a:endParaRPr>
          </a:p>
          <a:p>
            <a:pPr marL="0" lvl="0" indent="0" algn="l" rtl="0">
              <a:spcBef>
                <a:spcPts val="0"/>
              </a:spcBef>
              <a:spcAft>
                <a:spcPts val="0"/>
              </a:spcAft>
              <a:buNone/>
            </a:pPr>
            <a:r>
              <a:rPr lang="it" sz="1200">
                <a:solidFill>
                  <a:schemeClr val="dk1"/>
                </a:solidFill>
                <a:latin typeface="Consolas"/>
                <a:ea typeface="Consolas"/>
                <a:cs typeface="Consolas"/>
                <a:sym typeface="Consolas"/>
              </a:rPr>
              <a:t>        prop, old, new -&gt; println("$old -&gt; $new")</a:t>
            </a:r>
            <a:endParaRPr sz="1200">
              <a:solidFill>
                <a:schemeClr val="dk1"/>
              </a:solidFill>
              <a:latin typeface="Consolas"/>
              <a:ea typeface="Consolas"/>
              <a:cs typeface="Consolas"/>
              <a:sym typeface="Consolas"/>
            </a:endParaRPr>
          </a:p>
          <a:p>
            <a:pPr marL="0" lvl="0" indent="0" algn="l" rtl="0">
              <a:spcBef>
                <a:spcPts val="0"/>
              </a:spcBef>
              <a:spcAft>
                <a:spcPts val="0"/>
              </a:spcAft>
              <a:buNone/>
            </a:pPr>
            <a:r>
              <a:rPr lang="it" sz="1200">
                <a:solidFill>
                  <a:schemeClr val="dk1"/>
                </a:solidFill>
                <a:latin typeface="Consolas"/>
                <a:ea typeface="Consolas"/>
                <a:cs typeface="Consolas"/>
                <a:sym typeface="Consolas"/>
              </a:rPr>
              <a:t>    }</a:t>
            </a:r>
            <a:endParaRPr sz="1200">
              <a:solidFill>
                <a:schemeClr val="dk1"/>
              </a:solidFill>
              <a:latin typeface="Consolas"/>
              <a:ea typeface="Consolas"/>
              <a:cs typeface="Consolas"/>
              <a:sym typeface="Consolas"/>
            </a:endParaRPr>
          </a:p>
          <a:p>
            <a:pPr marL="0" lvl="0" indent="0" algn="l" rtl="0">
              <a:spcBef>
                <a:spcPts val="0"/>
              </a:spcBef>
              <a:spcAft>
                <a:spcPts val="0"/>
              </a:spcAft>
              <a:buNone/>
            </a:pPr>
            <a:r>
              <a:rPr lang="it" sz="1200">
                <a:solidFill>
                  <a:schemeClr val="dk1"/>
                </a:solidFill>
                <a:latin typeface="Consolas"/>
                <a:ea typeface="Consolas"/>
                <a:cs typeface="Consolas"/>
                <a:sym typeface="Consolas"/>
              </a:rPr>
              <a:t>}</a:t>
            </a:r>
            <a:endParaRPr sz="1200">
              <a:solidFill>
                <a:schemeClr val="dk1"/>
              </a:solidFill>
              <a:latin typeface="Consolas"/>
              <a:ea typeface="Consolas"/>
              <a:cs typeface="Consolas"/>
              <a:sym typeface="Consolas"/>
            </a:endParaRPr>
          </a:p>
          <a:p>
            <a:pPr marL="0" lvl="0" indent="0" algn="l" rtl="0">
              <a:spcBef>
                <a:spcPts val="0"/>
              </a:spcBef>
              <a:spcAft>
                <a:spcPts val="0"/>
              </a:spcAft>
              <a:buNone/>
            </a:pPr>
            <a:endParaRPr sz="1200">
              <a:solidFill>
                <a:schemeClr val="dk1"/>
              </a:solidFill>
              <a:latin typeface="Consolas"/>
              <a:ea typeface="Consolas"/>
              <a:cs typeface="Consolas"/>
              <a:sym typeface="Consolas"/>
            </a:endParaRPr>
          </a:p>
          <a:p>
            <a:pPr marL="0" lvl="0" indent="0" algn="l" rtl="0">
              <a:spcBef>
                <a:spcPts val="0"/>
              </a:spcBef>
              <a:spcAft>
                <a:spcPts val="0"/>
              </a:spcAft>
              <a:buNone/>
            </a:pPr>
            <a:r>
              <a:rPr lang="it" sz="1200">
                <a:solidFill>
                  <a:schemeClr val="dk1"/>
                </a:solidFill>
                <a:latin typeface="Consolas"/>
                <a:ea typeface="Consolas"/>
                <a:cs typeface="Consolas"/>
                <a:sym typeface="Consolas"/>
              </a:rPr>
              <a:t>fun main() {</a:t>
            </a:r>
            <a:endParaRPr sz="1200">
              <a:solidFill>
                <a:schemeClr val="dk1"/>
              </a:solidFill>
              <a:latin typeface="Consolas"/>
              <a:ea typeface="Consolas"/>
              <a:cs typeface="Consolas"/>
              <a:sym typeface="Consolas"/>
            </a:endParaRPr>
          </a:p>
          <a:p>
            <a:pPr marL="0" lvl="0" indent="0" algn="l" rtl="0">
              <a:spcBef>
                <a:spcPts val="0"/>
              </a:spcBef>
              <a:spcAft>
                <a:spcPts val="0"/>
              </a:spcAft>
              <a:buNone/>
            </a:pPr>
            <a:r>
              <a:rPr lang="it" sz="1200">
                <a:solidFill>
                  <a:schemeClr val="dk1"/>
                </a:solidFill>
                <a:latin typeface="Consolas"/>
                <a:ea typeface="Consolas"/>
                <a:cs typeface="Consolas"/>
                <a:sym typeface="Consolas"/>
              </a:rPr>
              <a:t>    val user = User()</a:t>
            </a:r>
            <a:endParaRPr sz="1200">
              <a:solidFill>
                <a:schemeClr val="dk1"/>
              </a:solidFill>
              <a:latin typeface="Consolas"/>
              <a:ea typeface="Consolas"/>
              <a:cs typeface="Consolas"/>
              <a:sym typeface="Consolas"/>
            </a:endParaRPr>
          </a:p>
          <a:p>
            <a:pPr marL="0" lvl="0" indent="0" algn="l" rtl="0">
              <a:spcBef>
                <a:spcPts val="0"/>
              </a:spcBef>
              <a:spcAft>
                <a:spcPts val="0"/>
              </a:spcAft>
              <a:buNone/>
            </a:pPr>
            <a:r>
              <a:rPr lang="it" sz="1200">
                <a:solidFill>
                  <a:schemeClr val="dk1"/>
                </a:solidFill>
                <a:latin typeface="Consolas"/>
                <a:ea typeface="Consolas"/>
                <a:cs typeface="Consolas"/>
                <a:sym typeface="Consolas"/>
              </a:rPr>
              <a:t>    user.name = "first"   // &lt;no name&gt; -&gt; first</a:t>
            </a:r>
            <a:endParaRPr sz="1200">
              <a:solidFill>
                <a:schemeClr val="dk1"/>
              </a:solidFill>
              <a:latin typeface="Consolas"/>
              <a:ea typeface="Consolas"/>
              <a:cs typeface="Consolas"/>
              <a:sym typeface="Consolas"/>
            </a:endParaRPr>
          </a:p>
          <a:p>
            <a:pPr marL="0" lvl="0" indent="0" algn="l" rtl="0">
              <a:spcBef>
                <a:spcPts val="0"/>
              </a:spcBef>
              <a:spcAft>
                <a:spcPts val="0"/>
              </a:spcAft>
              <a:buNone/>
            </a:pPr>
            <a:r>
              <a:rPr lang="it" sz="1200">
                <a:solidFill>
                  <a:schemeClr val="dk1"/>
                </a:solidFill>
                <a:latin typeface="Consolas"/>
                <a:ea typeface="Consolas"/>
                <a:cs typeface="Consolas"/>
                <a:sym typeface="Consolas"/>
              </a:rPr>
              <a:t>    user.name = "second"  // first -&gt; second</a:t>
            </a:r>
            <a:endParaRPr sz="1200">
              <a:solidFill>
                <a:schemeClr val="dk1"/>
              </a:solidFill>
              <a:latin typeface="Consolas"/>
              <a:ea typeface="Consolas"/>
              <a:cs typeface="Consolas"/>
              <a:sym typeface="Consolas"/>
            </a:endParaRPr>
          </a:p>
          <a:p>
            <a:pPr marL="0" lvl="0" indent="0" algn="l" rtl="0">
              <a:spcBef>
                <a:spcPts val="0"/>
              </a:spcBef>
              <a:spcAft>
                <a:spcPts val="0"/>
              </a:spcAft>
              <a:buNone/>
            </a:pPr>
            <a:r>
              <a:rPr lang="it" sz="1200">
                <a:solidFill>
                  <a:schemeClr val="dk1"/>
                </a:solidFill>
                <a:latin typeface="Consolas"/>
                <a:ea typeface="Consolas"/>
                <a:cs typeface="Consolas"/>
                <a:sym typeface="Consolas"/>
              </a:rPr>
              <a:t>}</a:t>
            </a:r>
            <a:endParaRPr sz="1200">
              <a:solidFill>
                <a:schemeClr val="dk1"/>
              </a:solidFill>
              <a:latin typeface="Consolas"/>
              <a:ea typeface="Consolas"/>
              <a:cs typeface="Consolas"/>
              <a:sym typeface="Consolas"/>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71"/>
        <p:cNvGrpSpPr/>
        <p:nvPr/>
      </p:nvGrpSpPr>
      <p:grpSpPr>
        <a:xfrm>
          <a:off x="0" y="0"/>
          <a:ext cx="0" cy="0"/>
          <a:chOff x="0" y="0"/>
          <a:chExt cx="0" cy="0"/>
        </a:xfrm>
      </p:grpSpPr>
      <p:sp>
        <p:nvSpPr>
          <p:cNvPr id="372" name="Google Shape;372;p4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it" sz="2820"/>
              <a:t>Custom delegates</a:t>
            </a:r>
            <a:endParaRPr sz="2820"/>
          </a:p>
        </p:txBody>
      </p:sp>
      <p:sp>
        <p:nvSpPr>
          <p:cNvPr id="373" name="Google Shape;373;p44"/>
          <p:cNvSpPr txBox="1">
            <a:spLocks noGrp="1"/>
          </p:cNvSpPr>
          <p:nvPr>
            <p:ph type="sldNum" idx="12"/>
          </p:nvPr>
        </p:nvSpPr>
        <p:spPr>
          <a:xfrm>
            <a:off x="8472458" y="476850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it"/>
              <a:t>38</a:t>
            </a:fld>
            <a:endParaRPr/>
          </a:p>
        </p:txBody>
      </p:sp>
      <p:sp>
        <p:nvSpPr>
          <p:cNvPr id="374" name="Google Shape;374;p44"/>
          <p:cNvSpPr txBox="1"/>
          <p:nvPr/>
        </p:nvSpPr>
        <p:spPr>
          <a:xfrm>
            <a:off x="439950" y="1546600"/>
            <a:ext cx="8032500" cy="3109200"/>
          </a:xfrm>
          <a:prstGeom prst="rect">
            <a:avLst/>
          </a:prstGeom>
          <a:solidFill>
            <a:srgbClr val="FFF2CC"/>
          </a:solidFill>
          <a:ln w="12700" cap="flat" cmpd="sng">
            <a:solidFill>
              <a:srgbClr val="000000"/>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spAutoFit/>
          </a:bodyPr>
          <a:lstStyle/>
          <a:p>
            <a:pPr marL="0" marR="0" lvl="0" indent="0" algn="l" rtl="0">
              <a:spcBef>
                <a:spcPts val="0"/>
              </a:spcBef>
              <a:spcAft>
                <a:spcPts val="0"/>
              </a:spcAft>
              <a:buNone/>
            </a:pPr>
            <a:r>
              <a:rPr lang="it">
                <a:solidFill>
                  <a:srgbClr val="000000"/>
                </a:solidFill>
                <a:latin typeface="Consolas"/>
                <a:ea typeface="Consolas"/>
                <a:cs typeface="Consolas"/>
                <a:sym typeface="Consolas"/>
              </a:rPr>
              <a:t>class Example {</a:t>
            </a:r>
            <a:endParaRPr>
              <a:latin typeface="Consolas"/>
              <a:ea typeface="Consolas"/>
              <a:cs typeface="Consolas"/>
              <a:sym typeface="Consolas"/>
            </a:endParaRPr>
          </a:p>
          <a:p>
            <a:pPr marL="0" marR="0" lvl="0" indent="0" algn="l" rtl="0">
              <a:spcBef>
                <a:spcPts val="0"/>
              </a:spcBef>
              <a:spcAft>
                <a:spcPts val="0"/>
              </a:spcAft>
              <a:buNone/>
            </a:pPr>
            <a:r>
              <a:rPr lang="it">
                <a:solidFill>
                  <a:srgbClr val="000000"/>
                </a:solidFill>
                <a:latin typeface="Consolas"/>
                <a:ea typeface="Consolas"/>
                <a:cs typeface="Consolas"/>
                <a:sym typeface="Consolas"/>
              </a:rPr>
              <a:t>  var p: </a:t>
            </a:r>
            <a:r>
              <a:rPr lang="it" b="1">
                <a:solidFill>
                  <a:srgbClr val="0B5394"/>
                </a:solidFill>
                <a:latin typeface="Consolas"/>
                <a:ea typeface="Consolas"/>
                <a:cs typeface="Consolas"/>
                <a:sym typeface="Consolas"/>
              </a:rPr>
              <a:t>String</a:t>
            </a:r>
            <a:r>
              <a:rPr lang="it">
                <a:solidFill>
                  <a:srgbClr val="000000"/>
                </a:solidFill>
                <a:latin typeface="Consolas"/>
                <a:ea typeface="Consolas"/>
                <a:cs typeface="Consolas"/>
                <a:sym typeface="Consolas"/>
              </a:rPr>
              <a:t> </a:t>
            </a:r>
            <a:r>
              <a:rPr lang="it" b="1">
                <a:solidFill>
                  <a:srgbClr val="0B5394"/>
                </a:solidFill>
                <a:highlight>
                  <a:schemeClr val="accent6"/>
                </a:highlight>
                <a:latin typeface="Consolas"/>
                <a:ea typeface="Consolas"/>
                <a:cs typeface="Consolas"/>
                <a:sym typeface="Consolas"/>
              </a:rPr>
              <a:t>by</a:t>
            </a:r>
            <a:r>
              <a:rPr lang="it">
                <a:solidFill>
                  <a:srgbClr val="000000"/>
                </a:solidFill>
                <a:highlight>
                  <a:schemeClr val="accent6"/>
                </a:highlight>
                <a:latin typeface="Consolas"/>
                <a:ea typeface="Consolas"/>
                <a:cs typeface="Consolas"/>
                <a:sym typeface="Consolas"/>
              </a:rPr>
              <a:t> </a:t>
            </a:r>
            <a:r>
              <a:rPr lang="it" b="1">
                <a:solidFill>
                  <a:srgbClr val="000000"/>
                </a:solidFill>
                <a:highlight>
                  <a:schemeClr val="accent6"/>
                </a:highlight>
                <a:latin typeface="Consolas"/>
                <a:ea typeface="Consolas"/>
                <a:cs typeface="Consolas"/>
                <a:sym typeface="Consolas"/>
              </a:rPr>
              <a:t>My</a:t>
            </a:r>
            <a:r>
              <a:rPr lang="it" b="1">
                <a:highlight>
                  <a:schemeClr val="accent6"/>
                </a:highlight>
                <a:latin typeface="Consolas"/>
                <a:ea typeface="Consolas"/>
                <a:cs typeface="Consolas"/>
                <a:sym typeface="Consolas"/>
              </a:rPr>
              <a:t>Custom</a:t>
            </a:r>
            <a:r>
              <a:rPr lang="it" b="1">
                <a:solidFill>
                  <a:srgbClr val="000000"/>
                </a:solidFill>
                <a:highlight>
                  <a:schemeClr val="accent6"/>
                </a:highlight>
                <a:latin typeface="Consolas"/>
                <a:ea typeface="Consolas"/>
                <a:cs typeface="Consolas"/>
                <a:sym typeface="Consolas"/>
              </a:rPr>
              <a:t>Delegate</a:t>
            </a:r>
            <a:r>
              <a:rPr lang="it">
                <a:solidFill>
                  <a:srgbClr val="000000"/>
                </a:solidFill>
                <a:highlight>
                  <a:schemeClr val="accent6"/>
                </a:highlight>
                <a:latin typeface="Consolas"/>
                <a:ea typeface="Consolas"/>
                <a:cs typeface="Consolas"/>
                <a:sym typeface="Consolas"/>
              </a:rPr>
              <a:t>()</a:t>
            </a:r>
            <a:endParaRPr>
              <a:highlight>
                <a:schemeClr val="accent6"/>
              </a:highlight>
              <a:latin typeface="Consolas"/>
              <a:ea typeface="Consolas"/>
              <a:cs typeface="Consolas"/>
              <a:sym typeface="Consolas"/>
            </a:endParaRPr>
          </a:p>
          <a:p>
            <a:pPr marL="0" marR="0" lvl="0" indent="0" algn="l" rtl="0">
              <a:spcBef>
                <a:spcPts val="0"/>
              </a:spcBef>
              <a:spcAft>
                <a:spcPts val="0"/>
              </a:spcAft>
              <a:buNone/>
            </a:pPr>
            <a:r>
              <a:rPr lang="it">
                <a:solidFill>
                  <a:srgbClr val="000000"/>
                </a:solidFill>
                <a:latin typeface="Consolas"/>
                <a:ea typeface="Consolas"/>
                <a:cs typeface="Consolas"/>
                <a:sym typeface="Consolas"/>
              </a:rPr>
              <a:t>}</a:t>
            </a:r>
            <a:endParaRPr>
              <a:latin typeface="Consolas"/>
              <a:ea typeface="Consolas"/>
              <a:cs typeface="Consolas"/>
              <a:sym typeface="Consolas"/>
            </a:endParaRPr>
          </a:p>
          <a:p>
            <a:pPr marL="0" marR="0" lvl="0" indent="0" algn="l" rtl="0">
              <a:spcBef>
                <a:spcPts val="0"/>
              </a:spcBef>
              <a:spcAft>
                <a:spcPts val="0"/>
              </a:spcAft>
              <a:buNone/>
            </a:pPr>
            <a:endParaRPr>
              <a:solidFill>
                <a:srgbClr val="000000"/>
              </a:solidFill>
              <a:latin typeface="Consolas"/>
              <a:ea typeface="Consolas"/>
              <a:cs typeface="Consolas"/>
              <a:sym typeface="Consolas"/>
            </a:endParaRPr>
          </a:p>
          <a:p>
            <a:pPr marL="0" marR="0" lvl="0" indent="0" algn="l" rtl="0">
              <a:spcBef>
                <a:spcPts val="0"/>
              </a:spcBef>
              <a:spcAft>
                <a:spcPts val="0"/>
              </a:spcAft>
              <a:buNone/>
            </a:pPr>
            <a:r>
              <a:rPr lang="it">
                <a:solidFill>
                  <a:srgbClr val="000000"/>
                </a:solidFill>
                <a:latin typeface="Consolas"/>
                <a:ea typeface="Consolas"/>
                <a:cs typeface="Consolas"/>
                <a:sym typeface="Consolas"/>
              </a:rPr>
              <a:t>class </a:t>
            </a:r>
            <a:r>
              <a:rPr lang="it" b="1">
                <a:solidFill>
                  <a:srgbClr val="000000"/>
                </a:solidFill>
                <a:latin typeface="Consolas"/>
                <a:ea typeface="Consolas"/>
                <a:cs typeface="Consolas"/>
                <a:sym typeface="Consolas"/>
              </a:rPr>
              <a:t>My</a:t>
            </a:r>
            <a:r>
              <a:rPr lang="it" b="1">
                <a:latin typeface="Consolas"/>
                <a:ea typeface="Consolas"/>
                <a:cs typeface="Consolas"/>
                <a:sym typeface="Consolas"/>
              </a:rPr>
              <a:t>Custom</a:t>
            </a:r>
            <a:r>
              <a:rPr lang="it" b="1">
                <a:solidFill>
                  <a:srgbClr val="000000"/>
                </a:solidFill>
                <a:latin typeface="Consolas"/>
                <a:ea typeface="Consolas"/>
                <a:cs typeface="Consolas"/>
                <a:sym typeface="Consolas"/>
              </a:rPr>
              <a:t>Delegate</a:t>
            </a:r>
            <a:r>
              <a:rPr lang="it">
                <a:solidFill>
                  <a:srgbClr val="000000"/>
                </a:solidFill>
                <a:latin typeface="Consolas"/>
                <a:ea typeface="Consolas"/>
                <a:cs typeface="Consolas"/>
                <a:sym typeface="Consolas"/>
              </a:rPr>
              <a:t> {</a:t>
            </a:r>
            <a:endParaRPr>
              <a:solidFill>
                <a:srgbClr val="000000"/>
              </a:solidFill>
              <a:latin typeface="Consolas"/>
              <a:ea typeface="Consolas"/>
              <a:cs typeface="Consolas"/>
              <a:sym typeface="Consolas"/>
            </a:endParaRPr>
          </a:p>
          <a:p>
            <a:pPr marL="0" marR="0" lvl="0" indent="0" algn="l" rtl="0">
              <a:spcBef>
                <a:spcPts val="0"/>
              </a:spcBef>
              <a:spcAft>
                <a:spcPts val="0"/>
              </a:spcAft>
              <a:buNone/>
            </a:pPr>
            <a:r>
              <a:rPr lang="it">
                <a:solidFill>
                  <a:srgbClr val="000000"/>
                </a:solidFill>
                <a:latin typeface="Consolas"/>
                <a:ea typeface="Consolas"/>
                <a:cs typeface="Consolas"/>
                <a:sym typeface="Consolas"/>
              </a:rPr>
              <a:t>  </a:t>
            </a:r>
            <a:r>
              <a:rPr lang="it" b="1">
                <a:solidFill>
                  <a:srgbClr val="0B5394"/>
                </a:solidFill>
                <a:latin typeface="Consolas"/>
                <a:ea typeface="Consolas"/>
                <a:cs typeface="Consolas"/>
                <a:sym typeface="Consolas"/>
              </a:rPr>
              <a:t>operator fun getValue</a:t>
            </a:r>
            <a:r>
              <a:rPr lang="it">
                <a:solidFill>
                  <a:srgbClr val="000000"/>
                </a:solidFill>
                <a:latin typeface="Consolas"/>
                <a:ea typeface="Consolas"/>
                <a:cs typeface="Consolas"/>
                <a:sym typeface="Consolas"/>
              </a:rPr>
              <a:t>(thisRef: Any?,</a:t>
            </a:r>
            <a:r>
              <a:rPr lang="it">
                <a:latin typeface="Consolas"/>
                <a:ea typeface="Consolas"/>
                <a:cs typeface="Consolas"/>
                <a:sym typeface="Consolas"/>
              </a:rPr>
              <a:t> </a:t>
            </a:r>
            <a:r>
              <a:rPr lang="it">
                <a:solidFill>
                  <a:srgbClr val="000000"/>
                </a:solidFill>
                <a:latin typeface="Consolas"/>
                <a:ea typeface="Consolas"/>
                <a:cs typeface="Consolas"/>
                <a:sym typeface="Consolas"/>
              </a:rPr>
              <a:t>property: KProperty&lt;*</a:t>
            </a:r>
            <a:r>
              <a:rPr lang="it">
                <a:latin typeface="Consolas"/>
                <a:ea typeface="Consolas"/>
                <a:cs typeface="Consolas"/>
                <a:sym typeface="Consolas"/>
              </a:rPr>
              <a:t>&gt;</a:t>
            </a:r>
            <a:r>
              <a:rPr lang="it">
                <a:solidFill>
                  <a:srgbClr val="000000"/>
                </a:solidFill>
                <a:latin typeface="Consolas"/>
                <a:ea typeface="Consolas"/>
                <a:cs typeface="Consolas"/>
                <a:sym typeface="Consolas"/>
              </a:rPr>
              <a:t>): </a:t>
            </a:r>
            <a:r>
              <a:rPr lang="it" b="1">
                <a:solidFill>
                  <a:srgbClr val="0B5394"/>
                </a:solidFill>
                <a:latin typeface="Consolas"/>
                <a:ea typeface="Consolas"/>
                <a:cs typeface="Consolas"/>
                <a:sym typeface="Consolas"/>
              </a:rPr>
              <a:t>String</a:t>
            </a:r>
            <a:r>
              <a:rPr lang="it">
                <a:solidFill>
                  <a:srgbClr val="000000"/>
                </a:solidFill>
                <a:latin typeface="Consolas"/>
                <a:ea typeface="Consolas"/>
                <a:cs typeface="Consolas"/>
                <a:sym typeface="Consolas"/>
              </a:rPr>
              <a:t> {</a:t>
            </a:r>
            <a:endParaRPr>
              <a:latin typeface="Consolas"/>
              <a:ea typeface="Consolas"/>
              <a:cs typeface="Consolas"/>
              <a:sym typeface="Consolas"/>
            </a:endParaRPr>
          </a:p>
          <a:p>
            <a:pPr marL="0" marR="0" lvl="0" indent="0" algn="l" rtl="0">
              <a:spcBef>
                <a:spcPts val="0"/>
              </a:spcBef>
              <a:spcAft>
                <a:spcPts val="0"/>
              </a:spcAft>
              <a:buNone/>
            </a:pPr>
            <a:r>
              <a:rPr lang="it">
                <a:solidFill>
                  <a:srgbClr val="000000"/>
                </a:solidFill>
                <a:latin typeface="Consolas"/>
                <a:ea typeface="Consolas"/>
                <a:cs typeface="Consolas"/>
                <a:sym typeface="Consolas"/>
              </a:rPr>
              <a:t>    // compute the value…</a:t>
            </a:r>
            <a:endParaRPr>
              <a:latin typeface="Consolas"/>
              <a:ea typeface="Consolas"/>
              <a:cs typeface="Consolas"/>
              <a:sym typeface="Consolas"/>
            </a:endParaRPr>
          </a:p>
          <a:p>
            <a:pPr marL="0" marR="0" lvl="0" indent="0" algn="l" rtl="0">
              <a:spcBef>
                <a:spcPts val="0"/>
              </a:spcBef>
              <a:spcAft>
                <a:spcPts val="0"/>
              </a:spcAft>
              <a:buNone/>
            </a:pPr>
            <a:r>
              <a:rPr lang="it">
                <a:solidFill>
                  <a:srgbClr val="000000"/>
                </a:solidFill>
                <a:latin typeface="Consolas"/>
                <a:ea typeface="Consolas"/>
                <a:cs typeface="Consolas"/>
                <a:sym typeface="Consolas"/>
              </a:rPr>
              <a:t>  }</a:t>
            </a:r>
            <a:endParaRPr>
              <a:latin typeface="Consolas"/>
              <a:ea typeface="Consolas"/>
              <a:cs typeface="Consolas"/>
              <a:sym typeface="Consolas"/>
            </a:endParaRPr>
          </a:p>
          <a:p>
            <a:pPr marL="0" marR="0" lvl="0" indent="0" algn="l" rtl="0">
              <a:spcBef>
                <a:spcPts val="0"/>
              </a:spcBef>
              <a:spcAft>
                <a:spcPts val="0"/>
              </a:spcAft>
              <a:buNone/>
            </a:pPr>
            <a:endParaRPr>
              <a:solidFill>
                <a:srgbClr val="000000"/>
              </a:solidFill>
              <a:latin typeface="Consolas"/>
              <a:ea typeface="Consolas"/>
              <a:cs typeface="Consolas"/>
              <a:sym typeface="Consolas"/>
            </a:endParaRPr>
          </a:p>
          <a:p>
            <a:pPr marL="0" marR="0" lvl="0" indent="0" algn="l" rtl="0">
              <a:spcBef>
                <a:spcPts val="0"/>
              </a:spcBef>
              <a:spcAft>
                <a:spcPts val="0"/>
              </a:spcAft>
              <a:buNone/>
            </a:pPr>
            <a:r>
              <a:rPr lang="it">
                <a:solidFill>
                  <a:srgbClr val="000000"/>
                </a:solidFill>
                <a:latin typeface="Consolas"/>
                <a:ea typeface="Consolas"/>
                <a:cs typeface="Consolas"/>
                <a:sym typeface="Consolas"/>
              </a:rPr>
              <a:t>  </a:t>
            </a:r>
            <a:r>
              <a:rPr lang="it" b="1">
                <a:solidFill>
                  <a:srgbClr val="0B5394"/>
                </a:solidFill>
                <a:latin typeface="Consolas"/>
                <a:ea typeface="Consolas"/>
                <a:cs typeface="Consolas"/>
                <a:sym typeface="Consolas"/>
              </a:rPr>
              <a:t>operator fun setValue</a:t>
            </a:r>
            <a:r>
              <a:rPr lang="it">
                <a:solidFill>
                  <a:srgbClr val="000000"/>
                </a:solidFill>
                <a:latin typeface="Consolas"/>
                <a:ea typeface="Consolas"/>
                <a:cs typeface="Consolas"/>
                <a:sym typeface="Consolas"/>
              </a:rPr>
              <a:t>(thisRef: Any?,</a:t>
            </a:r>
            <a:r>
              <a:rPr lang="it">
                <a:latin typeface="Consolas"/>
                <a:ea typeface="Consolas"/>
                <a:cs typeface="Consolas"/>
                <a:sym typeface="Consolas"/>
              </a:rPr>
              <a:t> </a:t>
            </a:r>
            <a:r>
              <a:rPr lang="it">
                <a:solidFill>
                  <a:srgbClr val="000000"/>
                </a:solidFill>
                <a:latin typeface="Consolas"/>
                <a:ea typeface="Consolas"/>
                <a:cs typeface="Consolas"/>
                <a:sym typeface="Consolas"/>
              </a:rPr>
              <a:t>property: KProperty&lt;*&gt;,</a:t>
            </a:r>
            <a:r>
              <a:rPr lang="it">
                <a:latin typeface="Consolas"/>
                <a:ea typeface="Consolas"/>
                <a:cs typeface="Consolas"/>
                <a:sym typeface="Consolas"/>
              </a:rPr>
              <a:t> </a:t>
            </a:r>
            <a:r>
              <a:rPr lang="it">
                <a:solidFill>
                  <a:srgbClr val="000000"/>
                </a:solidFill>
                <a:latin typeface="Consolas"/>
                <a:ea typeface="Consolas"/>
                <a:cs typeface="Consolas"/>
                <a:sym typeface="Consolas"/>
              </a:rPr>
              <a:t>value: </a:t>
            </a:r>
            <a:r>
              <a:rPr lang="it" b="1">
                <a:solidFill>
                  <a:srgbClr val="0B5394"/>
                </a:solidFill>
                <a:latin typeface="Consolas"/>
                <a:ea typeface="Consolas"/>
                <a:cs typeface="Consolas"/>
                <a:sym typeface="Consolas"/>
              </a:rPr>
              <a:t>String</a:t>
            </a:r>
            <a:r>
              <a:rPr lang="it">
                <a:solidFill>
                  <a:srgbClr val="000000"/>
                </a:solidFill>
                <a:latin typeface="Consolas"/>
                <a:ea typeface="Consolas"/>
                <a:cs typeface="Consolas"/>
                <a:sym typeface="Consolas"/>
              </a:rPr>
              <a:t>) {</a:t>
            </a:r>
            <a:endParaRPr>
              <a:latin typeface="Consolas"/>
              <a:ea typeface="Consolas"/>
              <a:cs typeface="Consolas"/>
              <a:sym typeface="Consolas"/>
            </a:endParaRPr>
          </a:p>
          <a:p>
            <a:pPr marL="0" marR="0" lvl="0" indent="0" algn="l" rtl="0">
              <a:spcBef>
                <a:spcPts val="0"/>
              </a:spcBef>
              <a:spcAft>
                <a:spcPts val="0"/>
              </a:spcAft>
              <a:buNone/>
            </a:pPr>
            <a:r>
              <a:rPr lang="it">
                <a:solidFill>
                  <a:srgbClr val="000000"/>
                </a:solidFill>
                <a:latin typeface="Consolas"/>
                <a:ea typeface="Consolas"/>
                <a:cs typeface="Consolas"/>
                <a:sym typeface="Consolas"/>
              </a:rPr>
              <a:t>    // store the value…</a:t>
            </a:r>
            <a:endParaRPr>
              <a:latin typeface="Consolas"/>
              <a:ea typeface="Consolas"/>
              <a:cs typeface="Consolas"/>
              <a:sym typeface="Consolas"/>
            </a:endParaRPr>
          </a:p>
          <a:p>
            <a:pPr marL="0" marR="0" lvl="0" indent="0" algn="l" rtl="0">
              <a:spcBef>
                <a:spcPts val="0"/>
              </a:spcBef>
              <a:spcAft>
                <a:spcPts val="0"/>
              </a:spcAft>
              <a:buNone/>
            </a:pPr>
            <a:r>
              <a:rPr lang="it">
                <a:solidFill>
                  <a:srgbClr val="000000"/>
                </a:solidFill>
                <a:latin typeface="Consolas"/>
                <a:ea typeface="Consolas"/>
                <a:cs typeface="Consolas"/>
                <a:sym typeface="Consolas"/>
              </a:rPr>
              <a:t>  }</a:t>
            </a:r>
            <a:endParaRPr>
              <a:latin typeface="Consolas"/>
              <a:ea typeface="Consolas"/>
              <a:cs typeface="Consolas"/>
              <a:sym typeface="Consolas"/>
            </a:endParaRPr>
          </a:p>
          <a:p>
            <a:pPr marL="0" marR="0" lvl="0" indent="0" algn="l" rtl="0">
              <a:spcBef>
                <a:spcPts val="0"/>
              </a:spcBef>
              <a:spcAft>
                <a:spcPts val="0"/>
              </a:spcAft>
              <a:buNone/>
            </a:pPr>
            <a:endParaRPr>
              <a:solidFill>
                <a:srgbClr val="000000"/>
              </a:solidFill>
              <a:latin typeface="Consolas"/>
              <a:ea typeface="Consolas"/>
              <a:cs typeface="Consolas"/>
              <a:sym typeface="Consolas"/>
            </a:endParaRPr>
          </a:p>
          <a:p>
            <a:pPr marL="0" marR="0" lvl="0" indent="0" algn="l" rtl="0">
              <a:spcBef>
                <a:spcPts val="0"/>
              </a:spcBef>
              <a:spcAft>
                <a:spcPts val="0"/>
              </a:spcAft>
              <a:buNone/>
            </a:pPr>
            <a:r>
              <a:rPr lang="it">
                <a:solidFill>
                  <a:srgbClr val="000000"/>
                </a:solidFill>
                <a:latin typeface="Consolas"/>
                <a:ea typeface="Consolas"/>
                <a:cs typeface="Consolas"/>
                <a:sym typeface="Consolas"/>
              </a:rPr>
              <a:t>}</a:t>
            </a:r>
            <a:endParaRPr>
              <a:latin typeface="Consolas"/>
              <a:ea typeface="Consolas"/>
              <a:cs typeface="Consolas"/>
              <a:sym typeface="Consolas"/>
            </a:endParaRPr>
          </a:p>
        </p:txBody>
      </p:sp>
      <p:sp>
        <p:nvSpPr>
          <p:cNvPr id="375" name="Google Shape;375;p44"/>
          <p:cNvSpPr/>
          <p:nvPr/>
        </p:nvSpPr>
        <p:spPr>
          <a:xfrm>
            <a:off x="3995250" y="346300"/>
            <a:ext cx="5067900" cy="1352700"/>
          </a:xfrm>
          <a:prstGeom prst="wedgeRectCallout">
            <a:avLst>
              <a:gd name="adj1" fmla="val -72347"/>
              <a:gd name="adj2" fmla="val 59285"/>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Font typeface="Arial"/>
              <a:buNone/>
            </a:pPr>
            <a:r>
              <a:rPr lang="it">
                <a:solidFill>
                  <a:schemeClr val="dk1"/>
                </a:solidFill>
                <a:latin typeface="Consolas"/>
                <a:ea typeface="Consolas"/>
                <a:cs typeface="Consolas"/>
                <a:sym typeface="Consolas"/>
              </a:rPr>
              <a:t>class Example {</a:t>
            </a:r>
            <a:endParaRPr>
              <a:solidFill>
                <a:schemeClr val="dk1"/>
              </a:solidFill>
              <a:latin typeface="Consolas"/>
              <a:ea typeface="Consolas"/>
              <a:cs typeface="Consolas"/>
              <a:sym typeface="Consolas"/>
            </a:endParaRPr>
          </a:p>
          <a:p>
            <a:pPr marL="0" lvl="0" indent="0" algn="l" rtl="0">
              <a:spcBef>
                <a:spcPts val="0"/>
              </a:spcBef>
              <a:spcAft>
                <a:spcPts val="0"/>
              </a:spcAft>
              <a:buClr>
                <a:schemeClr val="dk1"/>
              </a:buClr>
              <a:buFont typeface="Arial"/>
              <a:buNone/>
            </a:pPr>
            <a:r>
              <a:rPr lang="it" b="1">
                <a:solidFill>
                  <a:srgbClr val="C00000"/>
                </a:solidFill>
                <a:latin typeface="Consolas"/>
                <a:ea typeface="Consolas"/>
                <a:cs typeface="Consolas"/>
                <a:sym typeface="Consolas"/>
              </a:rPr>
              <a:t>  private val p$delegate = MyCustomDelegate()</a:t>
            </a:r>
            <a:endParaRPr b="1">
              <a:solidFill>
                <a:srgbClr val="C00000"/>
              </a:solidFill>
              <a:latin typeface="Consolas"/>
              <a:ea typeface="Consolas"/>
              <a:cs typeface="Consolas"/>
              <a:sym typeface="Consolas"/>
            </a:endParaRPr>
          </a:p>
          <a:p>
            <a:pPr marL="0" lvl="0" indent="0" algn="l" rtl="0">
              <a:spcBef>
                <a:spcPts val="0"/>
              </a:spcBef>
              <a:spcAft>
                <a:spcPts val="0"/>
              </a:spcAft>
              <a:buClr>
                <a:schemeClr val="dk1"/>
              </a:buClr>
              <a:buFont typeface="Arial"/>
              <a:buNone/>
            </a:pPr>
            <a:r>
              <a:rPr lang="it" b="1">
                <a:solidFill>
                  <a:srgbClr val="C00000"/>
                </a:solidFill>
                <a:latin typeface="Consolas"/>
                <a:ea typeface="Consolas"/>
                <a:cs typeface="Consolas"/>
                <a:sym typeface="Consolas"/>
              </a:rPr>
              <a:t>  </a:t>
            </a:r>
            <a:r>
              <a:rPr lang="it">
                <a:solidFill>
                  <a:schemeClr val="dk1"/>
                </a:solidFill>
                <a:latin typeface="Consolas"/>
                <a:ea typeface="Consolas"/>
                <a:cs typeface="Consolas"/>
                <a:sym typeface="Consolas"/>
              </a:rPr>
              <a:t>var p:</a:t>
            </a:r>
            <a:r>
              <a:rPr lang="it" b="1">
                <a:solidFill>
                  <a:srgbClr val="C00000"/>
                </a:solidFill>
                <a:latin typeface="Consolas"/>
                <a:ea typeface="Consolas"/>
                <a:cs typeface="Consolas"/>
                <a:sym typeface="Consolas"/>
              </a:rPr>
              <a:t> </a:t>
            </a:r>
            <a:r>
              <a:rPr lang="it" b="1">
                <a:solidFill>
                  <a:srgbClr val="0B5394"/>
                </a:solidFill>
                <a:latin typeface="Consolas"/>
                <a:ea typeface="Consolas"/>
                <a:cs typeface="Consolas"/>
                <a:sym typeface="Consolas"/>
              </a:rPr>
              <a:t>String</a:t>
            </a:r>
            <a:endParaRPr>
              <a:solidFill>
                <a:schemeClr val="dk1"/>
              </a:solidFill>
              <a:latin typeface="Consolas"/>
              <a:ea typeface="Consolas"/>
              <a:cs typeface="Consolas"/>
              <a:sym typeface="Consolas"/>
            </a:endParaRPr>
          </a:p>
          <a:p>
            <a:pPr marL="0" lvl="0" indent="0" algn="l" rtl="0">
              <a:spcBef>
                <a:spcPts val="0"/>
              </a:spcBef>
              <a:spcAft>
                <a:spcPts val="0"/>
              </a:spcAft>
              <a:buClr>
                <a:schemeClr val="dk1"/>
              </a:buClr>
              <a:buFont typeface="Arial"/>
              <a:buNone/>
            </a:pPr>
            <a:r>
              <a:rPr lang="it" b="1">
                <a:solidFill>
                  <a:srgbClr val="C00000"/>
                </a:solidFill>
                <a:latin typeface="Consolas"/>
                <a:ea typeface="Consolas"/>
                <a:cs typeface="Consolas"/>
                <a:sym typeface="Consolas"/>
              </a:rPr>
              <a:t>    get() = p$delegate.getValue()</a:t>
            </a:r>
            <a:endParaRPr b="1">
              <a:solidFill>
                <a:srgbClr val="C00000"/>
              </a:solidFill>
              <a:latin typeface="Consolas"/>
              <a:ea typeface="Consolas"/>
              <a:cs typeface="Consolas"/>
              <a:sym typeface="Consolas"/>
            </a:endParaRPr>
          </a:p>
          <a:p>
            <a:pPr marL="0" lvl="0" indent="0" algn="l" rtl="0">
              <a:spcBef>
                <a:spcPts val="0"/>
              </a:spcBef>
              <a:spcAft>
                <a:spcPts val="0"/>
              </a:spcAft>
              <a:buClr>
                <a:schemeClr val="dk1"/>
              </a:buClr>
              <a:buFont typeface="Arial"/>
              <a:buNone/>
            </a:pPr>
            <a:r>
              <a:rPr lang="it" b="1">
                <a:solidFill>
                  <a:srgbClr val="C00000"/>
                </a:solidFill>
                <a:latin typeface="Consolas"/>
                <a:ea typeface="Consolas"/>
                <a:cs typeface="Consolas"/>
                <a:sym typeface="Consolas"/>
              </a:rPr>
              <a:t>    set(value:String) =p$delegate.setValue(value)</a:t>
            </a:r>
            <a:endParaRPr b="1">
              <a:solidFill>
                <a:srgbClr val="C00000"/>
              </a:solidFill>
              <a:latin typeface="Consolas"/>
              <a:ea typeface="Consolas"/>
              <a:cs typeface="Consolas"/>
              <a:sym typeface="Consolas"/>
            </a:endParaRPr>
          </a:p>
          <a:p>
            <a:pPr marL="0" lvl="0" indent="0" algn="l" rtl="0">
              <a:spcBef>
                <a:spcPts val="0"/>
              </a:spcBef>
              <a:spcAft>
                <a:spcPts val="0"/>
              </a:spcAft>
              <a:buClr>
                <a:schemeClr val="dk1"/>
              </a:buClr>
              <a:buFont typeface="Arial"/>
              <a:buNone/>
            </a:pPr>
            <a:r>
              <a:rPr lang="it">
                <a:solidFill>
                  <a:schemeClr val="dk1"/>
                </a:solidFill>
                <a:latin typeface="Consolas"/>
                <a:ea typeface="Consolas"/>
                <a:cs typeface="Consolas"/>
                <a:sym typeface="Consolas"/>
              </a:rPr>
              <a:t>}</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79"/>
        <p:cNvGrpSpPr/>
        <p:nvPr/>
      </p:nvGrpSpPr>
      <p:grpSpPr>
        <a:xfrm>
          <a:off x="0" y="0"/>
          <a:ext cx="0" cy="0"/>
          <a:chOff x="0" y="0"/>
          <a:chExt cx="0" cy="0"/>
        </a:xfrm>
      </p:grpSpPr>
      <p:sp>
        <p:nvSpPr>
          <p:cNvPr id="380" name="Google Shape;380;p4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t" sz="2800"/>
              <a:t>Methods</a:t>
            </a:r>
            <a:endParaRPr sz="2800"/>
          </a:p>
        </p:txBody>
      </p:sp>
      <p:sp>
        <p:nvSpPr>
          <p:cNvPr id="381" name="Google Shape;381;p45"/>
          <p:cNvSpPr txBox="1">
            <a:spLocks noGrp="1"/>
          </p:cNvSpPr>
          <p:nvPr>
            <p:ph type="body" idx="1"/>
          </p:nvPr>
        </p:nvSpPr>
        <p:spPr>
          <a:xfrm>
            <a:off x="311150" y="1244204"/>
            <a:ext cx="8521800" cy="3393300"/>
          </a:xfrm>
          <a:prstGeom prst="rect">
            <a:avLst/>
          </a:prstGeom>
        </p:spPr>
        <p:txBody>
          <a:bodyPr spcFirstLastPara="1" wrap="square" lIns="91425" tIns="45700" rIns="91425" bIns="45700" anchor="t" anchorCtr="0">
            <a:normAutofit/>
          </a:bodyPr>
          <a:lstStyle/>
          <a:p>
            <a:pPr marL="457200" lvl="0" indent="-355600" algn="l" rtl="0">
              <a:spcBef>
                <a:spcPts val="600"/>
              </a:spcBef>
              <a:spcAft>
                <a:spcPts val="0"/>
              </a:spcAft>
              <a:buSzPts val="2000"/>
              <a:buChar char="•"/>
            </a:pPr>
            <a:r>
              <a:rPr lang="it"/>
              <a:t>Methods are functions defined within the scope of a class</a:t>
            </a:r>
            <a:endParaRPr/>
          </a:p>
          <a:p>
            <a:pPr marL="914400" lvl="1" indent="-330200" algn="l" rtl="0">
              <a:spcBef>
                <a:spcPts val="0"/>
              </a:spcBef>
              <a:spcAft>
                <a:spcPts val="0"/>
              </a:spcAft>
              <a:buSzPts val="1600"/>
              <a:buChar char="○"/>
            </a:pPr>
            <a:r>
              <a:rPr lang="it"/>
              <a:t>They are used to define behavior for the instances of that class </a:t>
            </a:r>
            <a:endParaRPr/>
          </a:p>
          <a:p>
            <a:pPr marL="914400" lvl="1" indent="-330200" algn="l" rtl="0">
              <a:spcBef>
                <a:spcPts val="0"/>
              </a:spcBef>
              <a:spcAft>
                <a:spcPts val="0"/>
              </a:spcAft>
              <a:buSzPts val="1600"/>
              <a:buChar char="○"/>
            </a:pPr>
            <a:r>
              <a:rPr lang="it"/>
              <a:t>Each method receive an implicit parameter, named </a:t>
            </a:r>
            <a:r>
              <a:rPr lang="it" b="1">
                <a:solidFill>
                  <a:srgbClr val="0B5394"/>
                </a:solidFill>
                <a:latin typeface="Consolas"/>
                <a:ea typeface="Consolas"/>
                <a:cs typeface="Consolas"/>
                <a:sym typeface="Consolas"/>
              </a:rPr>
              <a:t>this</a:t>
            </a:r>
            <a:r>
              <a:rPr lang="it"/>
              <a:t>, that represent the instance the method is operating on</a:t>
            </a:r>
            <a:endParaRPr/>
          </a:p>
          <a:p>
            <a:pPr marL="457200" lvl="0" indent="-355600" algn="l" rtl="0">
              <a:spcBef>
                <a:spcPts val="0"/>
              </a:spcBef>
              <a:spcAft>
                <a:spcPts val="0"/>
              </a:spcAft>
              <a:buSzPts val="2000"/>
              <a:buChar char="•"/>
            </a:pPr>
            <a:r>
              <a:rPr lang="it"/>
              <a:t>A method can be invoked on an object using dot notation</a:t>
            </a:r>
            <a:endParaRPr/>
          </a:p>
          <a:p>
            <a:pPr marL="914400" lvl="1" indent="-330200" algn="l" rtl="0">
              <a:spcBef>
                <a:spcPts val="0"/>
              </a:spcBef>
              <a:spcAft>
                <a:spcPts val="0"/>
              </a:spcAft>
              <a:buSzPts val="1600"/>
              <a:buChar char="○"/>
            </a:pPr>
            <a:r>
              <a:rPr lang="it" b="1">
                <a:solidFill>
                  <a:srgbClr val="0B5394"/>
                </a:solidFill>
                <a:latin typeface="Consolas"/>
                <a:ea typeface="Consolas"/>
                <a:cs typeface="Consolas"/>
                <a:sym typeface="Consolas"/>
              </a:rPr>
              <a:t>someObject.someMethod(param1, param2)</a:t>
            </a:r>
            <a:r>
              <a:rPr lang="it"/>
              <a:t> </a:t>
            </a:r>
            <a:endParaRPr/>
          </a:p>
          <a:p>
            <a:pPr marL="457200" lvl="0" indent="-355600" algn="l" rtl="0">
              <a:spcBef>
                <a:spcPts val="0"/>
              </a:spcBef>
              <a:spcAft>
                <a:spcPts val="0"/>
              </a:spcAft>
              <a:buSzPts val="2000"/>
              <a:buChar char="•"/>
            </a:pPr>
            <a:r>
              <a:rPr lang="it"/>
              <a:t>If a method implementation can be reduced to the evaluation of a single expression, its body can be replaced by the operator '</a:t>
            </a:r>
            <a:r>
              <a:rPr lang="it" b="1">
                <a:solidFill>
                  <a:srgbClr val="0B5394"/>
                </a:solidFill>
                <a:latin typeface="Consolas"/>
                <a:ea typeface="Consolas"/>
                <a:cs typeface="Consolas"/>
                <a:sym typeface="Consolas"/>
              </a:rPr>
              <a:t>=</a:t>
            </a:r>
            <a:r>
              <a:rPr lang="it"/>
              <a:t>' followed by the expression</a:t>
            </a:r>
            <a:endParaRPr/>
          </a:p>
          <a:p>
            <a:pPr marL="914400" lvl="1" indent="-330200" algn="l" rtl="0">
              <a:spcBef>
                <a:spcPts val="0"/>
              </a:spcBef>
              <a:spcAft>
                <a:spcPts val="0"/>
              </a:spcAft>
              <a:buSzPts val="1600"/>
              <a:buChar char="○"/>
            </a:pPr>
            <a:r>
              <a:rPr lang="it" b="1">
                <a:solidFill>
                  <a:srgbClr val="0B5394"/>
                </a:solidFill>
                <a:latin typeface="Consolas"/>
                <a:ea typeface="Consolas"/>
                <a:cs typeface="Consolas"/>
                <a:sym typeface="Consolas"/>
              </a:rPr>
              <a:t>fun sum(a:Int, b:Int) = a + b</a:t>
            </a:r>
            <a:r>
              <a:rPr lang="it"/>
              <a:t>  </a:t>
            </a:r>
            <a:endParaRPr/>
          </a:p>
        </p:txBody>
      </p:sp>
      <p:sp>
        <p:nvSpPr>
          <p:cNvPr id="382" name="Google Shape;382;p45"/>
          <p:cNvSpPr txBox="1">
            <a:spLocks noGrp="1"/>
          </p:cNvSpPr>
          <p:nvPr>
            <p:ph type="sldNum" idx="12"/>
          </p:nvPr>
        </p:nvSpPr>
        <p:spPr>
          <a:xfrm>
            <a:off x="8472458" y="476850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it"/>
              <a:t>39</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sp>
        <p:nvSpPr>
          <p:cNvPr id="387" name="Google Shape;387;p4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t" sz="2800"/>
              <a:t>Operator overloading</a:t>
            </a:r>
            <a:endParaRPr sz="2800"/>
          </a:p>
        </p:txBody>
      </p:sp>
      <p:sp>
        <p:nvSpPr>
          <p:cNvPr id="388" name="Google Shape;388;p46"/>
          <p:cNvSpPr txBox="1">
            <a:spLocks noGrp="1"/>
          </p:cNvSpPr>
          <p:nvPr>
            <p:ph type="body" idx="1"/>
          </p:nvPr>
        </p:nvSpPr>
        <p:spPr>
          <a:xfrm>
            <a:off x="311150" y="1244204"/>
            <a:ext cx="8521800" cy="3393300"/>
          </a:xfrm>
          <a:prstGeom prst="rect">
            <a:avLst/>
          </a:prstGeom>
        </p:spPr>
        <p:txBody>
          <a:bodyPr spcFirstLastPara="1" wrap="square" lIns="91425" tIns="45700" rIns="91425" bIns="45700" anchor="t" anchorCtr="0">
            <a:normAutofit/>
          </a:bodyPr>
          <a:lstStyle/>
          <a:p>
            <a:pPr marL="457200" lvl="0" indent="-355600" algn="l" rtl="0">
              <a:spcBef>
                <a:spcPts val="600"/>
              </a:spcBef>
              <a:spcAft>
                <a:spcPts val="0"/>
              </a:spcAft>
              <a:buSzPts val="2000"/>
              <a:buChar char="•"/>
            </a:pPr>
            <a:r>
              <a:rPr lang="it"/>
              <a:t>Operator overloading is a feature that allows to redefine the behavior of operators such as </a:t>
            </a:r>
            <a:r>
              <a:rPr lang="it" b="1">
                <a:solidFill>
                  <a:srgbClr val="0B5394"/>
                </a:solidFill>
                <a:latin typeface="Consolas"/>
                <a:ea typeface="Consolas"/>
                <a:cs typeface="Consolas"/>
                <a:sym typeface="Consolas"/>
              </a:rPr>
              <a:t>+</a:t>
            </a:r>
            <a:r>
              <a:rPr lang="it"/>
              <a:t>, </a:t>
            </a:r>
            <a:r>
              <a:rPr lang="it" b="1">
                <a:solidFill>
                  <a:srgbClr val="0B5394"/>
                </a:solidFill>
                <a:latin typeface="Consolas"/>
                <a:ea typeface="Consolas"/>
                <a:cs typeface="Consolas"/>
                <a:sym typeface="Consolas"/>
              </a:rPr>
              <a:t>-</a:t>
            </a:r>
            <a:r>
              <a:rPr lang="it"/>
              <a:t>, </a:t>
            </a:r>
            <a:r>
              <a:rPr lang="it" b="1">
                <a:solidFill>
                  <a:srgbClr val="0B5394"/>
                </a:solidFill>
                <a:latin typeface="Consolas"/>
                <a:ea typeface="Consolas"/>
                <a:cs typeface="Consolas"/>
                <a:sym typeface="Consolas"/>
              </a:rPr>
              <a:t>*</a:t>
            </a:r>
            <a:r>
              <a:rPr lang="it"/>
              <a:t>, and </a:t>
            </a:r>
            <a:r>
              <a:rPr lang="it" b="1">
                <a:solidFill>
                  <a:srgbClr val="0B5394"/>
                </a:solidFill>
                <a:latin typeface="Consolas"/>
                <a:ea typeface="Consolas"/>
                <a:cs typeface="Consolas"/>
                <a:sym typeface="Consolas"/>
              </a:rPr>
              <a:t>/</a:t>
            </a:r>
            <a:r>
              <a:rPr lang="it"/>
              <a:t> for instances of a class</a:t>
            </a:r>
            <a:endParaRPr/>
          </a:p>
          <a:p>
            <a:pPr marL="914400" lvl="1" indent="-330200" algn="l" rtl="0">
              <a:spcBef>
                <a:spcPts val="0"/>
              </a:spcBef>
              <a:spcAft>
                <a:spcPts val="0"/>
              </a:spcAft>
              <a:buSzPts val="1600"/>
              <a:buChar char="○"/>
            </a:pPr>
            <a:r>
              <a:rPr lang="it"/>
              <a:t>If class </a:t>
            </a:r>
            <a:r>
              <a:rPr lang="it" b="1">
                <a:solidFill>
                  <a:srgbClr val="0B5394"/>
                </a:solidFill>
                <a:latin typeface="Consolas"/>
                <a:ea typeface="Consolas"/>
                <a:cs typeface="Consolas"/>
                <a:sym typeface="Consolas"/>
              </a:rPr>
              <a:t>C</a:t>
            </a:r>
            <a:r>
              <a:rPr lang="it"/>
              <a:t> overloads operator '</a:t>
            </a:r>
            <a:r>
              <a:rPr lang="it" b="1">
                <a:solidFill>
                  <a:srgbClr val="0B5394"/>
                </a:solidFill>
                <a:latin typeface="Consolas"/>
                <a:ea typeface="Consolas"/>
                <a:cs typeface="Consolas"/>
                <a:sym typeface="Consolas"/>
              </a:rPr>
              <a:t>+</a:t>
            </a:r>
            <a:r>
              <a:rPr lang="it"/>
              <a:t>', and </a:t>
            </a:r>
            <a:r>
              <a:rPr lang="it" b="1">
                <a:solidFill>
                  <a:srgbClr val="0B5394"/>
                </a:solidFill>
                <a:latin typeface="Consolas"/>
                <a:ea typeface="Consolas"/>
                <a:cs typeface="Consolas"/>
                <a:sym typeface="Consolas"/>
              </a:rPr>
              <a:t>c1</a:t>
            </a:r>
            <a:r>
              <a:rPr lang="it"/>
              <a:t> and </a:t>
            </a:r>
            <a:r>
              <a:rPr lang="it" b="1">
                <a:solidFill>
                  <a:srgbClr val="0B5394"/>
                </a:solidFill>
                <a:latin typeface="Consolas"/>
                <a:ea typeface="Consolas"/>
                <a:cs typeface="Consolas"/>
                <a:sym typeface="Consolas"/>
              </a:rPr>
              <a:t>c2</a:t>
            </a:r>
            <a:r>
              <a:rPr lang="it"/>
              <a:t> are instances of </a:t>
            </a:r>
            <a:r>
              <a:rPr lang="it" b="1">
                <a:solidFill>
                  <a:srgbClr val="0B5394"/>
                </a:solidFill>
                <a:latin typeface="Consolas"/>
                <a:ea typeface="Consolas"/>
                <a:cs typeface="Consolas"/>
                <a:sym typeface="Consolas"/>
              </a:rPr>
              <a:t>C</a:t>
            </a:r>
            <a:r>
              <a:rPr lang="it"/>
              <a:t>, it is legal to use expression </a:t>
            </a:r>
            <a:r>
              <a:rPr lang="it" b="1">
                <a:solidFill>
                  <a:srgbClr val="0B5394"/>
                </a:solidFill>
                <a:latin typeface="Consolas"/>
                <a:ea typeface="Consolas"/>
                <a:cs typeface="Consolas"/>
                <a:sym typeface="Consolas"/>
              </a:rPr>
              <a:t>c1 + c2</a:t>
            </a:r>
            <a:endParaRPr/>
          </a:p>
          <a:p>
            <a:pPr marL="457200" lvl="0" indent="-355600" algn="l" rtl="0">
              <a:spcBef>
                <a:spcPts val="0"/>
              </a:spcBef>
              <a:spcAft>
                <a:spcPts val="0"/>
              </a:spcAft>
              <a:buSzPts val="2000"/>
              <a:buChar char="•"/>
            </a:pPr>
            <a:r>
              <a:rPr lang="it"/>
              <a:t>To overload an existing operator in Kotlin, a method with a suitable name must be defined inside the class</a:t>
            </a:r>
            <a:endParaRPr/>
          </a:p>
          <a:p>
            <a:pPr marL="914400" lvl="1" indent="-330200" algn="l" rtl="0">
              <a:spcBef>
                <a:spcPts val="0"/>
              </a:spcBef>
              <a:spcAft>
                <a:spcPts val="0"/>
              </a:spcAft>
              <a:buSzPts val="1600"/>
              <a:buChar char="○"/>
            </a:pPr>
            <a:r>
              <a:rPr lang="it"/>
              <a:t>Such a method should be preceded by the </a:t>
            </a:r>
            <a:r>
              <a:rPr lang="it" b="1">
                <a:solidFill>
                  <a:srgbClr val="0B5394"/>
                </a:solidFill>
                <a:latin typeface="Consolas"/>
                <a:ea typeface="Consolas"/>
                <a:cs typeface="Consolas"/>
                <a:sym typeface="Consolas"/>
              </a:rPr>
              <a:t>operator fun</a:t>
            </a:r>
            <a:r>
              <a:rPr lang="it"/>
              <a:t> keywords</a:t>
            </a:r>
            <a:endParaRPr/>
          </a:p>
          <a:p>
            <a:pPr marL="0" lvl="0" indent="0" algn="l" rtl="0">
              <a:spcBef>
                <a:spcPts val="600"/>
              </a:spcBef>
              <a:spcAft>
                <a:spcPts val="0"/>
              </a:spcAft>
              <a:buNone/>
            </a:pPr>
            <a:endParaRPr/>
          </a:p>
        </p:txBody>
      </p:sp>
      <p:sp>
        <p:nvSpPr>
          <p:cNvPr id="389" name="Google Shape;389;p46"/>
          <p:cNvSpPr txBox="1"/>
          <p:nvPr/>
        </p:nvSpPr>
        <p:spPr>
          <a:xfrm>
            <a:off x="677700" y="3515106"/>
            <a:ext cx="7788600" cy="1200600"/>
          </a:xfrm>
          <a:prstGeom prst="rect">
            <a:avLst/>
          </a:prstGeom>
          <a:solidFill>
            <a:srgbClr val="FFF2CC"/>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lvl="0" indent="0" algn="l" rtl="0">
              <a:spcBef>
                <a:spcPts val="0"/>
              </a:spcBef>
              <a:spcAft>
                <a:spcPts val="0"/>
              </a:spcAft>
              <a:buClr>
                <a:schemeClr val="dk1"/>
              </a:buClr>
              <a:buSzPts val="1100"/>
              <a:buFont typeface="Arial"/>
              <a:buNone/>
            </a:pPr>
            <a:r>
              <a:rPr lang="it" sz="1200">
                <a:solidFill>
                  <a:schemeClr val="dk1"/>
                </a:solidFill>
                <a:latin typeface="Consolas"/>
                <a:ea typeface="Consolas"/>
                <a:cs typeface="Consolas"/>
                <a:sym typeface="Consolas"/>
              </a:rPr>
              <a:t>class Vector2D(val x: Int, val y: Int) {</a:t>
            </a:r>
            <a:endParaRPr sz="1200">
              <a:solidFill>
                <a:schemeClr val="dk1"/>
              </a:solidFill>
              <a:latin typeface="Consolas"/>
              <a:ea typeface="Consolas"/>
              <a:cs typeface="Consolas"/>
              <a:sym typeface="Consolas"/>
            </a:endParaRPr>
          </a:p>
          <a:p>
            <a:pPr marL="0" lvl="0" indent="0" algn="l" rtl="0">
              <a:spcBef>
                <a:spcPts val="0"/>
              </a:spcBef>
              <a:spcAft>
                <a:spcPts val="0"/>
              </a:spcAft>
              <a:buClr>
                <a:schemeClr val="dk1"/>
              </a:buClr>
              <a:buSzPts val="1100"/>
              <a:buFont typeface="Arial"/>
              <a:buNone/>
            </a:pPr>
            <a:r>
              <a:rPr lang="it" sz="1200">
                <a:solidFill>
                  <a:schemeClr val="dk1"/>
                </a:solidFill>
                <a:latin typeface="Consolas"/>
                <a:ea typeface="Consolas"/>
                <a:cs typeface="Consolas"/>
                <a:sym typeface="Consolas"/>
              </a:rPr>
              <a:t>    </a:t>
            </a:r>
            <a:r>
              <a:rPr lang="it" sz="1200" b="1">
                <a:solidFill>
                  <a:srgbClr val="0B5394"/>
                </a:solidFill>
                <a:latin typeface="Consolas"/>
                <a:ea typeface="Consolas"/>
                <a:cs typeface="Consolas"/>
                <a:sym typeface="Consolas"/>
              </a:rPr>
              <a:t>operator fun plus</a:t>
            </a:r>
            <a:r>
              <a:rPr lang="it" sz="1200">
                <a:solidFill>
                  <a:schemeClr val="dk1"/>
                </a:solidFill>
                <a:latin typeface="Consolas"/>
                <a:ea typeface="Consolas"/>
                <a:cs typeface="Consolas"/>
                <a:sym typeface="Consolas"/>
              </a:rPr>
              <a:t>(other: Vector2D): Vector2D {</a:t>
            </a:r>
            <a:endParaRPr sz="1200">
              <a:solidFill>
                <a:schemeClr val="dk1"/>
              </a:solidFill>
              <a:latin typeface="Consolas"/>
              <a:ea typeface="Consolas"/>
              <a:cs typeface="Consolas"/>
              <a:sym typeface="Consolas"/>
            </a:endParaRPr>
          </a:p>
          <a:p>
            <a:pPr marL="0" lvl="0" indent="0" algn="l" rtl="0">
              <a:spcBef>
                <a:spcPts val="0"/>
              </a:spcBef>
              <a:spcAft>
                <a:spcPts val="0"/>
              </a:spcAft>
              <a:buClr>
                <a:schemeClr val="dk1"/>
              </a:buClr>
              <a:buSzPts val="1100"/>
              <a:buFont typeface="Arial"/>
              <a:buNone/>
            </a:pPr>
            <a:r>
              <a:rPr lang="it" sz="1200">
                <a:solidFill>
                  <a:schemeClr val="dk1"/>
                </a:solidFill>
                <a:latin typeface="Consolas"/>
                <a:ea typeface="Consolas"/>
                <a:cs typeface="Consolas"/>
                <a:sym typeface="Consolas"/>
              </a:rPr>
              <a:t>        return Vector2D(x + other.x, y + other.y)</a:t>
            </a:r>
            <a:endParaRPr sz="1200">
              <a:solidFill>
                <a:schemeClr val="dk1"/>
              </a:solidFill>
              <a:latin typeface="Consolas"/>
              <a:ea typeface="Consolas"/>
              <a:cs typeface="Consolas"/>
              <a:sym typeface="Consolas"/>
            </a:endParaRPr>
          </a:p>
          <a:p>
            <a:pPr marL="0" lvl="0" indent="0" algn="l" rtl="0">
              <a:spcBef>
                <a:spcPts val="0"/>
              </a:spcBef>
              <a:spcAft>
                <a:spcPts val="0"/>
              </a:spcAft>
              <a:buClr>
                <a:schemeClr val="dk1"/>
              </a:buClr>
              <a:buSzPts val="1100"/>
              <a:buFont typeface="Arial"/>
              <a:buNone/>
            </a:pPr>
            <a:r>
              <a:rPr lang="it" sz="1200">
                <a:solidFill>
                  <a:schemeClr val="dk1"/>
                </a:solidFill>
                <a:latin typeface="Consolas"/>
                <a:ea typeface="Consolas"/>
                <a:cs typeface="Consolas"/>
                <a:sym typeface="Consolas"/>
              </a:rPr>
              <a:t>    }</a:t>
            </a:r>
            <a:endParaRPr sz="1200">
              <a:solidFill>
                <a:schemeClr val="dk1"/>
              </a:solidFill>
              <a:latin typeface="Consolas"/>
              <a:ea typeface="Consolas"/>
              <a:cs typeface="Consolas"/>
              <a:sym typeface="Consolas"/>
            </a:endParaRPr>
          </a:p>
          <a:p>
            <a:pPr marL="0" lvl="0" indent="0" algn="l" rtl="0">
              <a:spcBef>
                <a:spcPts val="0"/>
              </a:spcBef>
              <a:spcAft>
                <a:spcPts val="0"/>
              </a:spcAft>
              <a:buClr>
                <a:schemeClr val="dk1"/>
              </a:buClr>
              <a:buSzPts val="1100"/>
              <a:buFont typeface="Arial"/>
              <a:buNone/>
            </a:pPr>
            <a:r>
              <a:rPr lang="it" sz="1200">
                <a:solidFill>
                  <a:schemeClr val="dk1"/>
                </a:solidFill>
                <a:latin typeface="Consolas"/>
                <a:ea typeface="Consolas"/>
                <a:cs typeface="Consolas"/>
                <a:sym typeface="Consolas"/>
              </a:rPr>
              <a:t>}</a:t>
            </a:r>
            <a:endParaRPr sz="1200">
              <a:solidFill>
                <a:schemeClr val="dk1"/>
              </a:solidFill>
              <a:latin typeface="Consolas"/>
              <a:ea typeface="Consolas"/>
              <a:cs typeface="Consolas"/>
              <a:sym typeface="Consolas"/>
            </a:endParaRPr>
          </a:p>
          <a:p>
            <a:pPr marL="0" lvl="0" indent="0" algn="l" rtl="0">
              <a:spcBef>
                <a:spcPts val="0"/>
              </a:spcBef>
              <a:spcAft>
                <a:spcPts val="0"/>
              </a:spcAft>
              <a:buNone/>
            </a:pPr>
            <a:r>
              <a:rPr lang="it" sz="1200">
                <a:solidFill>
                  <a:schemeClr val="dk1"/>
                </a:solidFill>
                <a:latin typeface="Consolas"/>
                <a:ea typeface="Consolas"/>
                <a:cs typeface="Consolas"/>
                <a:sym typeface="Consolas"/>
              </a:rPr>
              <a:t>val res = Vector(1,2)</a:t>
            </a:r>
            <a:r>
              <a:rPr lang="it" sz="1200">
                <a:solidFill>
                  <a:schemeClr val="dk1"/>
                </a:solidFill>
                <a:highlight>
                  <a:schemeClr val="accent6"/>
                </a:highlight>
                <a:latin typeface="Consolas"/>
                <a:ea typeface="Consolas"/>
                <a:cs typeface="Consolas"/>
                <a:sym typeface="Consolas"/>
              </a:rPr>
              <a:t> </a:t>
            </a:r>
            <a:r>
              <a:rPr lang="it" sz="1200" b="1">
                <a:solidFill>
                  <a:srgbClr val="0B5394"/>
                </a:solidFill>
                <a:highlight>
                  <a:schemeClr val="accent6"/>
                </a:highlight>
                <a:latin typeface="Consolas"/>
                <a:ea typeface="Consolas"/>
                <a:cs typeface="Consolas"/>
                <a:sym typeface="Consolas"/>
              </a:rPr>
              <a:t>+</a:t>
            </a:r>
            <a:r>
              <a:rPr lang="it" sz="1200">
                <a:solidFill>
                  <a:schemeClr val="dk1"/>
                </a:solidFill>
                <a:highlight>
                  <a:schemeClr val="accent6"/>
                </a:highlight>
                <a:latin typeface="Consolas"/>
                <a:ea typeface="Consolas"/>
                <a:cs typeface="Consolas"/>
                <a:sym typeface="Consolas"/>
              </a:rPr>
              <a:t> </a:t>
            </a:r>
            <a:r>
              <a:rPr lang="it" sz="1200">
                <a:solidFill>
                  <a:schemeClr val="dk1"/>
                </a:solidFill>
                <a:latin typeface="Consolas"/>
                <a:ea typeface="Consolas"/>
                <a:cs typeface="Consolas"/>
                <a:sym typeface="Consolas"/>
              </a:rPr>
              <a:t>Vector(2,3) // → Vector(3,5)</a:t>
            </a:r>
            <a:endParaRPr sz="1200">
              <a:solidFill>
                <a:schemeClr val="dk1"/>
              </a:solidFill>
              <a:latin typeface="Consolas"/>
              <a:ea typeface="Consolas"/>
              <a:cs typeface="Consolas"/>
              <a:sym typeface="Consolas"/>
            </a:endParaRPr>
          </a:p>
        </p:txBody>
      </p:sp>
      <p:sp>
        <p:nvSpPr>
          <p:cNvPr id="390" name="Google Shape;390;p46"/>
          <p:cNvSpPr txBox="1">
            <a:spLocks noGrp="1"/>
          </p:cNvSpPr>
          <p:nvPr>
            <p:ph type="sldNum" idx="12"/>
          </p:nvPr>
        </p:nvSpPr>
        <p:spPr>
          <a:xfrm>
            <a:off x="8472458" y="476850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it"/>
              <a:t>40</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
        <p:nvSpPr>
          <p:cNvPr id="395" name="Google Shape;395;p4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it" sz="2820"/>
              <a:t>Equality testing</a:t>
            </a:r>
            <a:endParaRPr sz="2820"/>
          </a:p>
        </p:txBody>
      </p:sp>
      <p:sp>
        <p:nvSpPr>
          <p:cNvPr id="396" name="Google Shape;396;p47"/>
          <p:cNvSpPr txBox="1">
            <a:spLocks noGrp="1"/>
          </p:cNvSpPr>
          <p:nvPr>
            <p:ph type="body" idx="1"/>
          </p:nvPr>
        </p:nvSpPr>
        <p:spPr>
          <a:xfrm>
            <a:off x="311150" y="1244204"/>
            <a:ext cx="8521800" cy="3393300"/>
          </a:xfrm>
          <a:prstGeom prst="rect">
            <a:avLst/>
          </a:prstGeom>
        </p:spPr>
        <p:txBody>
          <a:bodyPr spcFirstLastPara="1" wrap="square" lIns="91425" tIns="45700" rIns="91425" bIns="45700" anchor="t" anchorCtr="0">
            <a:normAutofit/>
          </a:bodyPr>
          <a:lstStyle/>
          <a:p>
            <a:pPr marL="457200" lvl="0" indent="-355600" algn="l" rtl="0">
              <a:spcBef>
                <a:spcPts val="600"/>
              </a:spcBef>
              <a:spcAft>
                <a:spcPts val="0"/>
              </a:spcAft>
              <a:buSzPts val="2000"/>
              <a:buChar char="•"/>
            </a:pPr>
            <a:r>
              <a:rPr lang="it"/>
              <a:t>In Kotlin, the equality operator </a:t>
            </a:r>
            <a:r>
              <a:rPr lang="it" b="1">
                <a:solidFill>
                  <a:srgbClr val="0B5394"/>
                </a:solidFill>
                <a:latin typeface="Consolas"/>
                <a:ea typeface="Consolas"/>
                <a:cs typeface="Consolas"/>
                <a:sym typeface="Consolas"/>
              </a:rPr>
              <a:t>==</a:t>
            </a:r>
            <a:r>
              <a:rPr lang="it"/>
              <a:t> is used to compare the values of two objects</a:t>
            </a:r>
            <a:endParaRPr/>
          </a:p>
          <a:p>
            <a:pPr marL="914400" lvl="1" indent="-330200" algn="l" rtl="0">
              <a:spcBef>
                <a:spcPts val="0"/>
              </a:spcBef>
              <a:spcAft>
                <a:spcPts val="0"/>
              </a:spcAft>
              <a:buSzPts val="1600"/>
              <a:buChar char="○"/>
            </a:pPr>
            <a:r>
              <a:rPr lang="it"/>
              <a:t>While the identity operator </a:t>
            </a:r>
            <a:r>
              <a:rPr lang="it" b="1">
                <a:solidFill>
                  <a:srgbClr val="0B5394"/>
                </a:solidFill>
                <a:latin typeface="Consolas"/>
                <a:ea typeface="Consolas"/>
                <a:cs typeface="Consolas"/>
                <a:sym typeface="Consolas"/>
              </a:rPr>
              <a:t>===</a:t>
            </a:r>
            <a:r>
              <a:rPr lang="it"/>
              <a:t> is used to check whether two references point to the same object</a:t>
            </a:r>
            <a:endParaRPr/>
          </a:p>
          <a:p>
            <a:pPr marL="914400" marR="0" lvl="1" indent="-330200" algn="l" rtl="0">
              <a:lnSpc>
                <a:spcPct val="115000"/>
              </a:lnSpc>
              <a:spcBef>
                <a:spcPts val="0"/>
              </a:spcBef>
              <a:spcAft>
                <a:spcPts val="0"/>
              </a:spcAft>
              <a:buSzPts val="1600"/>
              <a:buChar char="○"/>
            </a:pPr>
            <a:r>
              <a:rPr lang="it"/>
              <a:t>This maps to the </a:t>
            </a:r>
            <a:r>
              <a:rPr lang="it" b="1">
                <a:solidFill>
                  <a:srgbClr val="0B5394"/>
                </a:solidFill>
                <a:latin typeface="Consolas"/>
                <a:ea typeface="Consolas"/>
                <a:cs typeface="Consolas"/>
                <a:sym typeface="Consolas"/>
              </a:rPr>
              <a:t>equals(other: Any?): Boolean</a:t>
            </a:r>
            <a:r>
              <a:rPr lang="it"/>
              <a:t> method, which is available for each object since it is defined in the </a:t>
            </a:r>
            <a:r>
              <a:rPr lang="it" b="1">
                <a:solidFill>
                  <a:srgbClr val="0B5394"/>
                </a:solidFill>
                <a:latin typeface="Consolas"/>
                <a:ea typeface="Consolas"/>
                <a:cs typeface="Consolas"/>
                <a:sym typeface="Consolas"/>
              </a:rPr>
              <a:t>Any</a:t>
            </a:r>
            <a:r>
              <a:rPr lang="it"/>
              <a:t> class and inherited by all classes</a:t>
            </a:r>
            <a:endParaRPr/>
          </a:p>
          <a:p>
            <a:pPr marL="457200" marR="0" lvl="0" indent="-355600" algn="l" rtl="0">
              <a:lnSpc>
                <a:spcPct val="115000"/>
              </a:lnSpc>
              <a:spcBef>
                <a:spcPts val="0"/>
              </a:spcBef>
              <a:spcAft>
                <a:spcPts val="0"/>
              </a:spcAft>
              <a:buSzPts val="2000"/>
              <a:buChar char="•"/>
            </a:pPr>
            <a:r>
              <a:rPr lang="it"/>
              <a:t>If two objects need to be equality-compared, a suitable overloaded implementation of </a:t>
            </a:r>
            <a:r>
              <a:rPr lang="it" b="1">
                <a:solidFill>
                  <a:srgbClr val="0B5394"/>
                </a:solidFill>
                <a:latin typeface="Consolas"/>
                <a:ea typeface="Consolas"/>
                <a:cs typeface="Consolas"/>
                <a:sym typeface="Consolas"/>
              </a:rPr>
              <a:t>equals(...)</a:t>
            </a:r>
            <a:r>
              <a:rPr lang="it"/>
              <a:t> must be provided</a:t>
            </a:r>
            <a:endParaRPr/>
          </a:p>
          <a:p>
            <a:pPr marL="914400" marR="0" lvl="1" indent="-330200" algn="l" rtl="0">
              <a:lnSpc>
                <a:spcPct val="115000"/>
              </a:lnSpc>
              <a:spcBef>
                <a:spcPts val="0"/>
              </a:spcBef>
              <a:spcAft>
                <a:spcPts val="0"/>
              </a:spcAft>
              <a:buSzPts val="1600"/>
              <a:buChar char="○"/>
            </a:pPr>
            <a:r>
              <a:rPr lang="it"/>
              <a:t>It must be coherent with the general equality contract, guaranteeing the respect of the reflexive, symmetric, and transitive properties</a:t>
            </a:r>
            <a:endParaRPr/>
          </a:p>
        </p:txBody>
      </p:sp>
      <p:sp>
        <p:nvSpPr>
          <p:cNvPr id="397" name="Google Shape;397;p47"/>
          <p:cNvSpPr txBox="1">
            <a:spLocks noGrp="1"/>
          </p:cNvSpPr>
          <p:nvPr>
            <p:ph type="sldNum" idx="12"/>
          </p:nvPr>
        </p:nvSpPr>
        <p:spPr>
          <a:xfrm>
            <a:off x="8472458" y="476850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it"/>
              <a:t>41</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p4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it" sz="2820"/>
              <a:t>hashCode()</a:t>
            </a:r>
            <a:endParaRPr sz="2820"/>
          </a:p>
        </p:txBody>
      </p:sp>
      <p:sp>
        <p:nvSpPr>
          <p:cNvPr id="403" name="Google Shape;403;p48"/>
          <p:cNvSpPr txBox="1">
            <a:spLocks noGrp="1"/>
          </p:cNvSpPr>
          <p:nvPr>
            <p:ph type="body" idx="1"/>
          </p:nvPr>
        </p:nvSpPr>
        <p:spPr>
          <a:xfrm>
            <a:off x="311150" y="1244204"/>
            <a:ext cx="8521800" cy="3393300"/>
          </a:xfrm>
          <a:prstGeom prst="rect">
            <a:avLst/>
          </a:prstGeom>
        </p:spPr>
        <p:txBody>
          <a:bodyPr spcFirstLastPara="1" wrap="square" lIns="91425" tIns="45700" rIns="91425" bIns="45700" anchor="t" anchorCtr="0">
            <a:normAutofit/>
          </a:bodyPr>
          <a:lstStyle/>
          <a:p>
            <a:pPr marL="457200" lvl="0" indent="-355600" algn="l" rtl="0">
              <a:spcBef>
                <a:spcPts val="600"/>
              </a:spcBef>
              <a:spcAft>
                <a:spcPts val="0"/>
              </a:spcAft>
              <a:buSzPts val="2000"/>
              <a:buChar char="•"/>
            </a:pPr>
            <a:r>
              <a:rPr lang="it"/>
              <a:t>The Any class also defines a </a:t>
            </a:r>
            <a:r>
              <a:rPr lang="it" b="1">
                <a:solidFill>
                  <a:srgbClr val="0B5394"/>
                </a:solidFill>
                <a:latin typeface="Consolas"/>
                <a:ea typeface="Consolas"/>
                <a:cs typeface="Consolas"/>
                <a:sym typeface="Consolas"/>
              </a:rPr>
              <a:t>hashCode()</a:t>
            </a:r>
            <a:r>
              <a:rPr lang="it"/>
              <a:t> method, which is intended to provide a hash value that subsumes the object state</a:t>
            </a:r>
            <a:endParaRPr/>
          </a:p>
          <a:p>
            <a:pPr marL="914400" lvl="1" indent="-330200" algn="l" rtl="0">
              <a:spcBef>
                <a:spcPts val="0"/>
              </a:spcBef>
              <a:spcAft>
                <a:spcPts val="0"/>
              </a:spcAft>
              <a:buSzPts val="1600"/>
              <a:buChar char="○"/>
            </a:pPr>
            <a:r>
              <a:rPr lang="it" b="1">
                <a:solidFill>
                  <a:srgbClr val="0B5394"/>
                </a:solidFill>
                <a:latin typeface="Consolas"/>
                <a:ea typeface="Consolas"/>
                <a:cs typeface="Consolas"/>
                <a:sym typeface="Consolas"/>
              </a:rPr>
              <a:t>hashCode()</a:t>
            </a:r>
            <a:r>
              <a:rPr lang="it"/>
              <a:t> and </a:t>
            </a:r>
            <a:r>
              <a:rPr lang="it" b="1">
                <a:solidFill>
                  <a:srgbClr val="0B5394"/>
                </a:solidFill>
                <a:latin typeface="Consolas"/>
                <a:ea typeface="Consolas"/>
                <a:cs typeface="Consolas"/>
                <a:sym typeface="Consolas"/>
              </a:rPr>
              <a:t>equals(...)</a:t>
            </a:r>
            <a:r>
              <a:rPr lang="it"/>
              <a:t> must be defined coherently with each other</a:t>
            </a:r>
            <a:endParaRPr/>
          </a:p>
          <a:p>
            <a:pPr marL="914400" lvl="1" indent="-330200" algn="l" rtl="0">
              <a:spcBef>
                <a:spcPts val="0"/>
              </a:spcBef>
              <a:spcAft>
                <a:spcPts val="0"/>
              </a:spcAft>
              <a:buSzPts val="1600"/>
              <a:buChar char="○"/>
            </a:pPr>
            <a:r>
              <a:rPr lang="it"/>
              <a:t>If two objects are equal, they should have the same hash code</a:t>
            </a:r>
            <a:endParaRPr/>
          </a:p>
          <a:p>
            <a:pPr marL="914400" lvl="1" indent="-330200" algn="l" rtl="0">
              <a:spcBef>
                <a:spcPts val="0"/>
              </a:spcBef>
              <a:spcAft>
                <a:spcPts val="0"/>
              </a:spcAft>
              <a:buSzPts val="1600"/>
              <a:buChar char="○"/>
            </a:pPr>
            <a:r>
              <a:rPr lang="it"/>
              <a:t>The reverse is not true: two objects having the same hash code can be different</a:t>
            </a:r>
            <a:endParaRPr/>
          </a:p>
          <a:p>
            <a:pPr marL="457200" lvl="0" indent="-355600" algn="l" rtl="0">
              <a:spcBef>
                <a:spcPts val="0"/>
              </a:spcBef>
              <a:spcAft>
                <a:spcPts val="0"/>
              </a:spcAft>
              <a:buSzPts val="2000"/>
              <a:buChar char="•"/>
            </a:pPr>
            <a:r>
              <a:rPr lang="it"/>
              <a:t>Whenever the </a:t>
            </a:r>
            <a:r>
              <a:rPr lang="it" b="1">
                <a:solidFill>
                  <a:srgbClr val="0B5394"/>
                </a:solidFill>
                <a:latin typeface="Consolas"/>
                <a:ea typeface="Consolas"/>
                <a:cs typeface="Consolas"/>
                <a:sym typeface="Consolas"/>
              </a:rPr>
              <a:t>equals(...)</a:t>
            </a:r>
            <a:r>
              <a:rPr lang="it"/>
              <a:t> method is overridden, the </a:t>
            </a:r>
            <a:r>
              <a:rPr lang="it" b="1">
                <a:solidFill>
                  <a:srgbClr val="0B5394"/>
                </a:solidFill>
                <a:latin typeface="Consolas"/>
                <a:ea typeface="Consolas"/>
                <a:cs typeface="Consolas"/>
                <a:sym typeface="Consolas"/>
              </a:rPr>
              <a:t>hashCode()</a:t>
            </a:r>
            <a:r>
              <a:rPr lang="it"/>
              <a:t> method must be overridden as well</a:t>
            </a:r>
            <a:endParaRPr/>
          </a:p>
          <a:p>
            <a:pPr marL="914400" lvl="1" indent="-330200" algn="l" rtl="0">
              <a:spcBef>
                <a:spcPts val="0"/>
              </a:spcBef>
              <a:spcAft>
                <a:spcPts val="0"/>
              </a:spcAft>
              <a:buSzPts val="1600"/>
              <a:buChar char="○"/>
            </a:pPr>
            <a:r>
              <a:rPr lang="it"/>
              <a:t>Failure to do so will prevent the object from being compatible with some standard library containers, like </a:t>
            </a:r>
            <a:r>
              <a:rPr lang="it" b="1">
                <a:solidFill>
                  <a:srgbClr val="0B5394"/>
                </a:solidFill>
                <a:latin typeface="Consolas"/>
                <a:ea typeface="Consolas"/>
                <a:cs typeface="Consolas"/>
                <a:sym typeface="Consolas"/>
              </a:rPr>
              <a:t>Set</a:t>
            </a:r>
            <a:r>
              <a:rPr lang="it"/>
              <a:t>s and </a:t>
            </a:r>
            <a:r>
              <a:rPr lang="it" b="1">
                <a:solidFill>
                  <a:srgbClr val="0B5394"/>
                </a:solidFill>
                <a:latin typeface="Consolas"/>
                <a:ea typeface="Consolas"/>
                <a:cs typeface="Consolas"/>
                <a:sym typeface="Consolas"/>
              </a:rPr>
              <a:t>Map</a:t>
            </a:r>
            <a:r>
              <a:rPr lang="it"/>
              <a:t>s</a:t>
            </a:r>
            <a:endParaRPr/>
          </a:p>
        </p:txBody>
      </p:sp>
      <p:sp>
        <p:nvSpPr>
          <p:cNvPr id="404" name="Google Shape;404;p48"/>
          <p:cNvSpPr txBox="1">
            <a:spLocks noGrp="1"/>
          </p:cNvSpPr>
          <p:nvPr>
            <p:ph type="sldNum" idx="12"/>
          </p:nvPr>
        </p:nvSpPr>
        <p:spPr>
          <a:xfrm>
            <a:off x="8472458" y="476850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it"/>
              <a:t>42</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08"/>
        <p:cNvGrpSpPr/>
        <p:nvPr/>
      </p:nvGrpSpPr>
      <p:grpSpPr>
        <a:xfrm>
          <a:off x="0" y="0"/>
          <a:ext cx="0" cy="0"/>
          <a:chOff x="0" y="0"/>
          <a:chExt cx="0" cy="0"/>
        </a:xfrm>
      </p:grpSpPr>
      <p:sp>
        <p:nvSpPr>
          <p:cNvPr id="409" name="Google Shape;409;p4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it" sz="2820"/>
              <a:t>Order testing</a:t>
            </a:r>
            <a:endParaRPr sz="2820"/>
          </a:p>
        </p:txBody>
      </p:sp>
      <p:sp>
        <p:nvSpPr>
          <p:cNvPr id="410" name="Google Shape;410;p49"/>
          <p:cNvSpPr txBox="1">
            <a:spLocks noGrp="1"/>
          </p:cNvSpPr>
          <p:nvPr>
            <p:ph type="sldNum" idx="12"/>
          </p:nvPr>
        </p:nvSpPr>
        <p:spPr>
          <a:xfrm>
            <a:off x="8472458" y="476850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it"/>
              <a:t>43</a:t>
            </a:fld>
            <a:endParaRPr/>
          </a:p>
        </p:txBody>
      </p:sp>
      <p:sp>
        <p:nvSpPr>
          <p:cNvPr id="411" name="Google Shape;411;p49"/>
          <p:cNvSpPr txBox="1">
            <a:spLocks noGrp="1"/>
          </p:cNvSpPr>
          <p:nvPr>
            <p:ph type="body" idx="1"/>
          </p:nvPr>
        </p:nvSpPr>
        <p:spPr>
          <a:xfrm>
            <a:off x="311150" y="1244204"/>
            <a:ext cx="8521800" cy="3393300"/>
          </a:xfrm>
          <a:prstGeom prst="rect">
            <a:avLst/>
          </a:prstGeom>
        </p:spPr>
        <p:txBody>
          <a:bodyPr spcFirstLastPara="1" wrap="square" lIns="91425" tIns="45700" rIns="91425" bIns="45700" anchor="t" anchorCtr="0">
            <a:normAutofit lnSpcReduction="10000"/>
          </a:bodyPr>
          <a:lstStyle/>
          <a:p>
            <a:pPr marL="457200" lvl="0" indent="-355600" algn="l" rtl="0">
              <a:spcBef>
                <a:spcPts val="600"/>
              </a:spcBef>
              <a:spcAft>
                <a:spcPts val="0"/>
              </a:spcAft>
              <a:buSzPts val="2000"/>
              <a:buChar char="•"/>
            </a:pPr>
            <a:r>
              <a:rPr lang="it"/>
              <a:t>Primitive types can be compared using order operators (</a:t>
            </a:r>
            <a:r>
              <a:rPr lang="it" b="1">
                <a:solidFill>
                  <a:srgbClr val="0B5394"/>
                </a:solidFill>
                <a:latin typeface="Consolas"/>
                <a:ea typeface="Consolas"/>
                <a:cs typeface="Consolas"/>
                <a:sym typeface="Consolas"/>
              </a:rPr>
              <a:t>&lt;</a:t>
            </a:r>
            <a:r>
              <a:rPr lang="it"/>
              <a:t>, </a:t>
            </a:r>
            <a:r>
              <a:rPr lang="it" b="1">
                <a:solidFill>
                  <a:srgbClr val="0B5394"/>
                </a:solidFill>
                <a:latin typeface="Consolas"/>
                <a:ea typeface="Consolas"/>
                <a:cs typeface="Consolas"/>
                <a:sym typeface="Consolas"/>
              </a:rPr>
              <a:t>&lt;=</a:t>
            </a:r>
            <a:r>
              <a:rPr lang="it"/>
              <a:t>, </a:t>
            </a:r>
            <a:r>
              <a:rPr lang="it" b="1">
                <a:solidFill>
                  <a:srgbClr val="0B5394"/>
                </a:solidFill>
                <a:latin typeface="Consolas"/>
                <a:ea typeface="Consolas"/>
                <a:cs typeface="Consolas"/>
                <a:sym typeface="Consolas"/>
              </a:rPr>
              <a:t>&gt;=</a:t>
            </a:r>
            <a:r>
              <a:rPr lang="it"/>
              <a:t>, </a:t>
            </a:r>
            <a:r>
              <a:rPr lang="it" b="1">
                <a:solidFill>
                  <a:srgbClr val="0B5394"/>
                </a:solidFill>
                <a:latin typeface="Consolas"/>
                <a:ea typeface="Consolas"/>
                <a:cs typeface="Consolas"/>
                <a:sym typeface="Consolas"/>
              </a:rPr>
              <a:t>&gt;</a:t>
            </a:r>
            <a:r>
              <a:rPr lang="it"/>
              <a:t>) according to natural ordering</a:t>
            </a:r>
            <a:endParaRPr/>
          </a:p>
          <a:p>
            <a:pPr marL="914400" lvl="1" indent="-330200" algn="l" rtl="0">
              <a:spcBef>
                <a:spcPts val="0"/>
              </a:spcBef>
              <a:spcAft>
                <a:spcPts val="0"/>
              </a:spcAft>
              <a:buSzPts val="1600"/>
              <a:buChar char="○"/>
            </a:pPr>
            <a:r>
              <a:rPr lang="it"/>
              <a:t>Numerical for numbers</a:t>
            </a:r>
            <a:endParaRPr/>
          </a:p>
          <a:p>
            <a:pPr marL="914400" lvl="1" indent="-330200" algn="l" rtl="0">
              <a:spcBef>
                <a:spcPts val="0"/>
              </a:spcBef>
              <a:spcAft>
                <a:spcPts val="0"/>
              </a:spcAft>
              <a:buSzPts val="1600"/>
              <a:buChar char="○"/>
            </a:pPr>
            <a:r>
              <a:rPr lang="it"/>
              <a:t>Alphabetical for String</a:t>
            </a:r>
            <a:endParaRPr/>
          </a:p>
          <a:p>
            <a:pPr marL="457200" lvl="0" indent="-355600" algn="l" rtl="0">
              <a:spcBef>
                <a:spcPts val="0"/>
              </a:spcBef>
              <a:spcAft>
                <a:spcPts val="0"/>
              </a:spcAft>
              <a:buSzPts val="2000"/>
              <a:buChar char="•"/>
            </a:pPr>
            <a:r>
              <a:rPr lang="it"/>
              <a:t>Other types can be compared using the same operators if they implements the </a:t>
            </a:r>
            <a:r>
              <a:rPr lang="it" b="1">
                <a:solidFill>
                  <a:srgbClr val="0B5394"/>
                </a:solidFill>
                <a:latin typeface="Consolas"/>
                <a:ea typeface="Consolas"/>
                <a:cs typeface="Consolas"/>
                <a:sym typeface="Consolas"/>
              </a:rPr>
              <a:t>Comparable&lt;T&gt;</a:t>
            </a:r>
            <a:r>
              <a:rPr lang="it"/>
              <a:t> interface</a:t>
            </a:r>
            <a:endParaRPr/>
          </a:p>
          <a:p>
            <a:pPr marL="914400" lvl="1" indent="-330200" algn="l" rtl="0">
              <a:spcBef>
                <a:spcPts val="0"/>
              </a:spcBef>
              <a:spcAft>
                <a:spcPts val="0"/>
              </a:spcAft>
              <a:buSzPts val="1600"/>
              <a:buChar char="○"/>
            </a:pPr>
            <a:r>
              <a:rPr lang="it" b="1">
                <a:solidFill>
                  <a:srgbClr val="0B5394"/>
                </a:solidFill>
                <a:latin typeface="Consolas"/>
                <a:ea typeface="Consolas"/>
                <a:cs typeface="Consolas"/>
                <a:sym typeface="Consolas"/>
              </a:rPr>
              <a:t>operator fun compareTo(other: T): Int</a:t>
            </a:r>
            <a:r>
              <a:rPr lang="it"/>
              <a:t> </a:t>
            </a:r>
            <a:endParaRPr/>
          </a:p>
          <a:p>
            <a:pPr marL="457200" lvl="0" indent="-355600" algn="l" rtl="0">
              <a:spcBef>
                <a:spcPts val="0"/>
              </a:spcBef>
              <a:spcAft>
                <a:spcPts val="0"/>
              </a:spcAft>
              <a:buSzPts val="2000"/>
              <a:buChar char="•"/>
            </a:pPr>
            <a:r>
              <a:rPr lang="it"/>
              <a:t>The method must return:</a:t>
            </a:r>
            <a:endParaRPr/>
          </a:p>
          <a:p>
            <a:pPr marL="914400" lvl="1" indent="-330200" algn="l" rtl="0">
              <a:spcBef>
                <a:spcPts val="0"/>
              </a:spcBef>
              <a:spcAft>
                <a:spcPts val="0"/>
              </a:spcAft>
              <a:buSzPts val="1600"/>
              <a:buChar char="○"/>
            </a:pPr>
            <a:r>
              <a:rPr lang="it"/>
              <a:t>Zero if </a:t>
            </a:r>
            <a:r>
              <a:rPr lang="it" b="1">
                <a:solidFill>
                  <a:srgbClr val="0B5394"/>
                </a:solidFill>
                <a:latin typeface="Consolas"/>
                <a:ea typeface="Consolas"/>
                <a:cs typeface="Consolas"/>
                <a:sym typeface="Consolas"/>
              </a:rPr>
              <a:t>this</a:t>
            </a:r>
            <a:r>
              <a:rPr lang="it"/>
              <a:t> is equal to </a:t>
            </a:r>
            <a:r>
              <a:rPr lang="it" b="1">
                <a:solidFill>
                  <a:srgbClr val="0B5394"/>
                </a:solidFill>
                <a:latin typeface="Consolas"/>
                <a:ea typeface="Consolas"/>
                <a:cs typeface="Consolas"/>
                <a:sym typeface="Consolas"/>
              </a:rPr>
              <a:t>other</a:t>
            </a:r>
            <a:endParaRPr/>
          </a:p>
          <a:p>
            <a:pPr marL="914400" lvl="1" indent="-330200" algn="l" rtl="0">
              <a:spcBef>
                <a:spcPts val="0"/>
              </a:spcBef>
              <a:spcAft>
                <a:spcPts val="0"/>
              </a:spcAft>
              <a:buSzPts val="1600"/>
              <a:buChar char="○"/>
            </a:pPr>
            <a:r>
              <a:rPr lang="it"/>
              <a:t>Any negative number if it's less than </a:t>
            </a:r>
            <a:r>
              <a:rPr lang="it" b="1">
                <a:solidFill>
                  <a:srgbClr val="0B5394"/>
                </a:solidFill>
                <a:latin typeface="Consolas"/>
                <a:ea typeface="Consolas"/>
                <a:cs typeface="Consolas"/>
                <a:sym typeface="Consolas"/>
              </a:rPr>
              <a:t>other</a:t>
            </a:r>
            <a:endParaRPr/>
          </a:p>
          <a:p>
            <a:pPr marL="914400" lvl="1" indent="-330200" algn="l" rtl="0">
              <a:spcBef>
                <a:spcPts val="0"/>
              </a:spcBef>
              <a:spcAft>
                <a:spcPts val="0"/>
              </a:spcAft>
              <a:buSzPts val="1600"/>
              <a:buChar char="○"/>
            </a:pPr>
            <a:r>
              <a:rPr lang="it"/>
              <a:t>Any (strictly) positive number if it's greater than </a:t>
            </a:r>
            <a:r>
              <a:rPr lang="it" b="1">
                <a:solidFill>
                  <a:srgbClr val="0B5394"/>
                </a:solidFill>
                <a:latin typeface="Consolas"/>
                <a:ea typeface="Consolas"/>
                <a:cs typeface="Consolas"/>
                <a:sym typeface="Consolas"/>
              </a:rPr>
              <a:t>other</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p:sp>
        <p:nvSpPr>
          <p:cNvPr id="416" name="Google Shape;416;p5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it" sz="2820"/>
              <a:t>Singleton objects</a:t>
            </a:r>
            <a:endParaRPr sz="2820"/>
          </a:p>
        </p:txBody>
      </p:sp>
      <p:sp>
        <p:nvSpPr>
          <p:cNvPr id="417" name="Google Shape;417;p50"/>
          <p:cNvSpPr txBox="1">
            <a:spLocks noGrp="1"/>
          </p:cNvSpPr>
          <p:nvPr>
            <p:ph type="sldNum" idx="12"/>
          </p:nvPr>
        </p:nvSpPr>
        <p:spPr>
          <a:xfrm>
            <a:off x="8472458" y="476850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it"/>
              <a:t>44</a:t>
            </a:fld>
            <a:endParaRPr/>
          </a:p>
        </p:txBody>
      </p:sp>
      <p:sp>
        <p:nvSpPr>
          <p:cNvPr id="418" name="Google Shape;418;p50"/>
          <p:cNvSpPr txBox="1">
            <a:spLocks noGrp="1"/>
          </p:cNvSpPr>
          <p:nvPr>
            <p:ph type="body" idx="1"/>
          </p:nvPr>
        </p:nvSpPr>
        <p:spPr>
          <a:xfrm>
            <a:off x="311150" y="1244204"/>
            <a:ext cx="8521800" cy="3393300"/>
          </a:xfrm>
          <a:prstGeom prst="rect">
            <a:avLst/>
          </a:prstGeom>
        </p:spPr>
        <p:txBody>
          <a:bodyPr spcFirstLastPara="1" wrap="square" lIns="91425" tIns="45700" rIns="91425" bIns="45700" anchor="t" anchorCtr="0">
            <a:normAutofit/>
          </a:bodyPr>
          <a:lstStyle/>
          <a:p>
            <a:pPr marL="457200" lvl="0" indent="-355600" algn="l" rtl="0">
              <a:spcBef>
                <a:spcPts val="600"/>
              </a:spcBef>
              <a:spcAft>
                <a:spcPts val="0"/>
              </a:spcAft>
              <a:buSzPts val="2000"/>
              <a:buChar char="•"/>
            </a:pPr>
            <a:r>
              <a:rPr lang="it"/>
              <a:t>Whenever a class is going to have one single instance, and the primary constructor has no arguments, it is possible to declare a singleton object</a:t>
            </a:r>
            <a:endParaRPr/>
          </a:p>
          <a:p>
            <a:pPr marL="914400" lvl="1" indent="-330200" algn="l" rtl="0">
              <a:spcBef>
                <a:spcPts val="0"/>
              </a:spcBef>
              <a:spcAft>
                <a:spcPts val="0"/>
              </a:spcAft>
              <a:buSzPts val="1600"/>
              <a:buChar char="○"/>
            </a:pPr>
            <a:r>
              <a:rPr lang="it"/>
              <a:t>It is obtained replacing the </a:t>
            </a:r>
            <a:r>
              <a:rPr lang="it" b="1">
                <a:solidFill>
                  <a:srgbClr val="0B5394"/>
                </a:solidFill>
                <a:latin typeface="Consolas"/>
                <a:ea typeface="Consolas"/>
                <a:cs typeface="Consolas"/>
                <a:sym typeface="Consolas"/>
              </a:rPr>
              <a:t>class</a:t>
            </a:r>
            <a:r>
              <a:rPr lang="it"/>
              <a:t> keyword with the </a:t>
            </a:r>
            <a:r>
              <a:rPr lang="it" b="1">
                <a:solidFill>
                  <a:srgbClr val="0B5394"/>
                </a:solidFill>
                <a:latin typeface="Consolas"/>
                <a:ea typeface="Consolas"/>
                <a:cs typeface="Consolas"/>
                <a:sym typeface="Consolas"/>
              </a:rPr>
              <a:t>object</a:t>
            </a:r>
            <a:r>
              <a:rPr lang="it"/>
              <a:t> one, and keeping the remaining syntax</a:t>
            </a:r>
            <a:endParaRPr/>
          </a:p>
          <a:p>
            <a:pPr marL="914400" lvl="1" indent="-330200" algn="l" rtl="0">
              <a:spcBef>
                <a:spcPts val="0"/>
              </a:spcBef>
              <a:spcAft>
                <a:spcPts val="0"/>
              </a:spcAft>
              <a:buSzPts val="1600"/>
              <a:buChar char="○"/>
            </a:pPr>
            <a:r>
              <a:rPr lang="it"/>
              <a:t>An object is similar to a regular class in that it can have properties, methods, and implement interfaces</a:t>
            </a:r>
            <a:endParaRPr/>
          </a:p>
          <a:p>
            <a:pPr marL="914400" lvl="1" indent="-330200" algn="l" rtl="0">
              <a:spcBef>
                <a:spcPts val="0"/>
              </a:spcBef>
              <a:spcAft>
                <a:spcPts val="0"/>
              </a:spcAft>
              <a:buSzPts val="1600"/>
              <a:buChar char="○"/>
            </a:pPr>
            <a:r>
              <a:rPr lang="it"/>
              <a:t>It can be referenced to it by its name </a:t>
            </a:r>
            <a:endParaRPr/>
          </a:p>
        </p:txBody>
      </p:sp>
      <p:sp>
        <p:nvSpPr>
          <p:cNvPr id="419" name="Google Shape;419;p50"/>
          <p:cNvSpPr txBox="1"/>
          <p:nvPr/>
        </p:nvSpPr>
        <p:spPr>
          <a:xfrm>
            <a:off x="677700" y="3515100"/>
            <a:ext cx="3808500" cy="1015800"/>
          </a:xfrm>
          <a:prstGeom prst="rect">
            <a:avLst/>
          </a:prstGeom>
          <a:solidFill>
            <a:srgbClr val="FFF2CC"/>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lvl="0" indent="0" algn="l" rtl="0">
              <a:spcBef>
                <a:spcPts val="0"/>
              </a:spcBef>
              <a:spcAft>
                <a:spcPts val="0"/>
              </a:spcAft>
              <a:buNone/>
            </a:pPr>
            <a:r>
              <a:rPr lang="it" sz="1200" b="1">
                <a:solidFill>
                  <a:srgbClr val="0B5394"/>
                </a:solidFill>
                <a:latin typeface="Consolas"/>
                <a:ea typeface="Consolas"/>
                <a:cs typeface="Consolas"/>
                <a:sym typeface="Consolas"/>
              </a:rPr>
              <a:t>object</a:t>
            </a:r>
            <a:r>
              <a:rPr lang="it" sz="1200">
                <a:solidFill>
                  <a:schemeClr val="dk1"/>
                </a:solidFill>
                <a:latin typeface="Consolas"/>
                <a:ea typeface="Consolas"/>
                <a:cs typeface="Consolas"/>
                <a:sym typeface="Consolas"/>
              </a:rPr>
              <a:t> MySingleton {</a:t>
            </a:r>
            <a:endParaRPr sz="1200">
              <a:solidFill>
                <a:schemeClr val="dk1"/>
              </a:solidFill>
              <a:latin typeface="Consolas"/>
              <a:ea typeface="Consolas"/>
              <a:cs typeface="Consolas"/>
              <a:sym typeface="Consolas"/>
            </a:endParaRPr>
          </a:p>
          <a:p>
            <a:pPr marL="0" lvl="0" indent="0" algn="l" rtl="0">
              <a:spcBef>
                <a:spcPts val="0"/>
              </a:spcBef>
              <a:spcAft>
                <a:spcPts val="0"/>
              </a:spcAft>
              <a:buNone/>
            </a:pPr>
            <a:r>
              <a:rPr lang="it" sz="1200">
                <a:solidFill>
                  <a:schemeClr val="dk1"/>
                </a:solidFill>
                <a:latin typeface="Consolas"/>
                <a:ea typeface="Consolas"/>
                <a:cs typeface="Consolas"/>
                <a:sym typeface="Consolas"/>
              </a:rPr>
              <a:t>  private var _counter = 0</a:t>
            </a:r>
            <a:endParaRPr sz="1200">
              <a:solidFill>
                <a:schemeClr val="dk1"/>
              </a:solidFill>
              <a:latin typeface="Consolas"/>
              <a:ea typeface="Consolas"/>
              <a:cs typeface="Consolas"/>
              <a:sym typeface="Consolas"/>
            </a:endParaRPr>
          </a:p>
          <a:p>
            <a:pPr marL="0" lvl="0" indent="0" algn="l" rtl="0">
              <a:spcBef>
                <a:spcPts val="0"/>
              </a:spcBef>
              <a:spcAft>
                <a:spcPts val="0"/>
              </a:spcAft>
              <a:buNone/>
            </a:pPr>
            <a:r>
              <a:rPr lang="it" sz="1200">
                <a:solidFill>
                  <a:schemeClr val="dk1"/>
                </a:solidFill>
                <a:latin typeface="Consolas"/>
                <a:ea typeface="Consolas"/>
                <a:cs typeface="Consolas"/>
                <a:sym typeface="Consolas"/>
              </a:rPr>
              <a:t>  fun increment() { ++ _counter }</a:t>
            </a:r>
            <a:endParaRPr sz="1200">
              <a:solidFill>
                <a:schemeClr val="dk1"/>
              </a:solidFill>
              <a:latin typeface="Consolas"/>
              <a:ea typeface="Consolas"/>
              <a:cs typeface="Consolas"/>
              <a:sym typeface="Consolas"/>
            </a:endParaRPr>
          </a:p>
          <a:p>
            <a:pPr marL="0" lvl="0" indent="0" algn="l" rtl="0">
              <a:spcBef>
                <a:spcPts val="0"/>
              </a:spcBef>
              <a:spcAft>
                <a:spcPts val="0"/>
              </a:spcAft>
              <a:buNone/>
            </a:pPr>
            <a:r>
              <a:rPr lang="it" sz="1200">
                <a:solidFill>
                  <a:schemeClr val="dk1"/>
                </a:solidFill>
                <a:latin typeface="Consolas"/>
                <a:ea typeface="Consolas"/>
                <a:cs typeface="Consolas"/>
                <a:sym typeface="Consolas"/>
              </a:rPr>
              <a:t>  val counter = _counter</a:t>
            </a:r>
            <a:endParaRPr sz="1200">
              <a:solidFill>
                <a:schemeClr val="dk1"/>
              </a:solidFill>
              <a:latin typeface="Consolas"/>
              <a:ea typeface="Consolas"/>
              <a:cs typeface="Consolas"/>
              <a:sym typeface="Consolas"/>
            </a:endParaRPr>
          </a:p>
          <a:p>
            <a:pPr marL="0" lvl="0" indent="0" algn="l" rtl="0">
              <a:spcBef>
                <a:spcPts val="0"/>
              </a:spcBef>
              <a:spcAft>
                <a:spcPts val="0"/>
              </a:spcAft>
              <a:buNone/>
            </a:pPr>
            <a:r>
              <a:rPr lang="it" sz="1200">
                <a:solidFill>
                  <a:schemeClr val="dk1"/>
                </a:solidFill>
                <a:latin typeface="Consolas"/>
                <a:ea typeface="Consolas"/>
                <a:cs typeface="Consolas"/>
                <a:sym typeface="Consolas"/>
              </a:rPr>
              <a:t>}</a:t>
            </a:r>
            <a:endParaRPr sz="1200">
              <a:solidFill>
                <a:schemeClr val="dk1"/>
              </a:solidFill>
              <a:latin typeface="Consolas"/>
              <a:ea typeface="Consolas"/>
              <a:cs typeface="Consolas"/>
              <a:sym typeface="Consolas"/>
            </a:endParaRPr>
          </a:p>
        </p:txBody>
      </p:sp>
      <p:sp>
        <p:nvSpPr>
          <p:cNvPr id="420" name="Google Shape;420;p50"/>
          <p:cNvSpPr txBox="1"/>
          <p:nvPr/>
        </p:nvSpPr>
        <p:spPr>
          <a:xfrm>
            <a:off x="4606275" y="3515100"/>
            <a:ext cx="3808500" cy="1015800"/>
          </a:xfrm>
          <a:prstGeom prst="rect">
            <a:avLst/>
          </a:prstGeom>
          <a:solidFill>
            <a:srgbClr val="FFF2CC"/>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lvl="0" indent="0" algn="l" rtl="0">
              <a:spcBef>
                <a:spcPts val="0"/>
              </a:spcBef>
              <a:spcAft>
                <a:spcPts val="0"/>
              </a:spcAft>
              <a:buNone/>
            </a:pPr>
            <a:r>
              <a:rPr lang="it" sz="1200" b="1">
                <a:solidFill>
                  <a:srgbClr val="0B5394"/>
                </a:solidFill>
                <a:latin typeface="Consolas"/>
                <a:ea typeface="Consolas"/>
                <a:cs typeface="Consolas"/>
                <a:sym typeface="Consolas"/>
              </a:rPr>
              <a:t>MySingleton</a:t>
            </a:r>
            <a:r>
              <a:rPr lang="it" sz="1200">
                <a:solidFill>
                  <a:schemeClr val="dk1"/>
                </a:solidFill>
                <a:latin typeface="Consolas"/>
                <a:ea typeface="Consolas"/>
                <a:cs typeface="Consolas"/>
                <a:sym typeface="Consolas"/>
              </a:rPr>
              <a:t>.increment()</a:t>
            </a:r>
            <a:endParaRPr sz="1200">
              <a:solidFill>
                <a:schemeClr val="dk1"/>
              </a:solidFill>
              <a:latin typeface="Consolas"/>
              <a:ea typeface="Consolas"/>
              <a:cs typeface="Consolas"/>
              <a:sym typeface="Consolas"/>
            </a:endParaRPr>
          </a:p>
          <a:p>
            <a:pPr marL="0" lvl="0" indent="0" algn="l" rtl="0">
              <a:spcBef>
                <a:spcPts val="0"/>
              </a:spcBef>
              <a:spcAft>
                <a:spcPts val="0"/>
              </a:spcAft>
              <a:buNone/>
            </a:pPr>
            <a:r>
              <a:rPr lang="it" sz="1200">
                <a:solidFill>
                  <a:schemeClr val="dk1"/>
                </a:solidFill>
                <a:latin typeface="Consolas"/>
                <a:ea typeface="Consolas"/>
                <a:cs typeface="Consolas"/>
                <a:sym typeface="Consolas"/>
              </a:rPr>
              <a:t>println(</a:t>
            </a:r>
            <a:r>
              <a:rPr lang="it" sz="1200" b="1">
                <a:solidFill>
                  <a:srgbClr val="0B5394"/>
                </a:solidFill>
                <a:latin typeface="Consolas"/>
                <a:ea typeface="Consolas"/>
                <a:cs typeface="Consolas"/>
                <a:sym typeface="Consolas"/>
              </a:rPr>
              <a:t>MySingleton</a:t>
            </a:r>
            <a:r>
              <a:rPr lang="it" sz="1200">
                <a:solidFill>
                  <a:schemeClr val="dk1"/>
                </a:solidFill>
                <a:latin typeface="Consolas"/>
                <a:ea typeface="Consolas"/>
                <a:cs typeface="Consolas"/>
                <a:sym typeface="Consolas"/>
              </a:rPr>
              <a:t>.counter) // → 1</a:t>
            </a:r>
            <a:endParaRPr sz="1200">
              <a:solidFill>
                <a:schemeClr val="dk1"/>
              </a:solidFill>
              <a:latin typeface="Consolas"/>
              <a:ea typeface="Consolas"/>
              <a:cs typeface="Consolas"/>
              <a:sym typeface="Consolas"/>
            </a:endParaRPr>
          </a:p>
          <a:p>
            <a:pPr marL="0" lvl="0" indent="0" algn="l" rtl="0">
              <a:spcBef>
                <a:spcPts val="0"/>
              </a:spcBef>
              <a:spcAft>
                <a:spcPts val="0"/>
              </a:spcAft>
              <a:buNone/>
            </a:pPr>
            <a:endParaRPr sz="1200">
              <a:solidFill>
                <a:schemeClr val="dk1"/>
              </a:solidFill>
              <a:latin typeface="Consolas"/>
              <a:ea typeface="Consolas"/>
              <a:cs typeface="Consolas"/>
              <a:sym typeface="Consolas"/>
            </a:endParaRPr>
          </a:p>
          <a:p>
            <a:pPr marL="0" lvl="0" indent="0" algn="l" rtl="0">
              <a:spcBef>
                <a:spcPts val="0"/>
              </a:spcBef>
              <a:spcAft>
                <a:spcPts val="0"/>
              </a:spcAft>
              <a:buClr>
                <a:schemeClr val="dk1"/>
              </a:buClr>
              <a:buFont typeface="Arial"/>
              <a:buNone/>
            </a:pPr>
            <a:r>
              <a:rPr lang="it" sz="1200" b="1">
                <a:solidFill>
                  <a:srgbClr val="0B5394"/>
                </a:solidFill>
                <a:latin typeface="Consolas"/>
                <a:ea typeface="Consolas"/>
                <a:cs typeface="Consolas"/>
                <a:sym typeface="Consolas"/>
              </a:rPr>
              <a:t>MySingleton</a:t>
            </a:r>
            <a:r>
              <a:rPr lang="it" sz="1200">
                <a:solidFill>
                  <a:schemeClr val="dk1"/>
                </a:solidFill>
                <a:latin typeface="Consolas"/>
                <a:ea typeface="Consolas"/>
                <a:cs typeface="Consolas"/>
                <a:sym typeface="Consolas"/>
              </a:rPr>
              <a:t>.increment()</a:t>
            </a:r>
            <a:endParaRPr sz="1200">
              <a:solidFill>
                <a:schemeClr val="dk1"/>
              </a:solidFill>
              <a:latin typeface="Consolas"/>
              <a:ea typeface="Consolas"/>
              <a:cs typeface="Consolas"/>
              <a:sym typeface="Consolas"/>
            </a:endParaRPr>
          </a:p>
          <a:p>
            <a:pPr marL="0" lvl="0" indent="0" algn="l" rtl="0">
              <a:spcBef>
                <a:spcPts val="0"/>
              </a:spcBef>
              <a:spcAft>
                <a:spcPts val="0"/>
              </a:spcAft>
              <a:buNone/>
            </a:pPr>
            <a:r>
              <a:rPr lang="it" sz="1200">
                <a:solidFill>
                  <a:schemeClr val="dk1"/>
                </a:solidFill>
                <a:latin typeface="Consolas"/>
                <a:ea typeface="Consolas"/>
                <a:cs typeface="Consolas"/>
                <a:sym typeface="Consolas"/>
              </a:rPr>
              <a:t>println(</a:t>
            </a:r>
            <a:r>
              <a:rPr lang="it" sz="1200" b="1">
                <a:solidFill>
                  <a:srgbClr val="0B5394"/>
                </a:solidFill>
                <a:latin typeface="Consolas"/>
                <a:ea typeface="Consolas"/>
                <a:cs typeface="Consolas"/>
                <a:sym typeface="Consolas"/>
              </a:rPr>
              <a:t>MySingleton</a:t>
            </a:r>
            <a:r>
              <a:rPr lang="it" sz="1200">
                <a:solidFill>
                  <a:schemeClr val="dk1"/>
                </a:solidFill>
                <a:latin typeface="Consolas"/>
                <a:ea typeface="Consolas"/>
                <a:cs typeface="Consolas"/>
                <a:sym typeface="Consolas"/>
              </a:rPr>
              <a:t>.counter) // → 2</a:t>
            </a:r>
            <a:endParaRPr sz="1200">
              <a:solidFill>
                <a:schemeClr val="dk1"/>
              </a:solidFill>
              <a:latin typeface="Consolas"/>
              <a:ea typeface="Consolas"/>
              <a:cs typeface="Consolas"/>
              <a:sym typeface="Consolas"/>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24"/>
        <p:cNvGrpSpPr/>
        <p:nvPr/>
      </p:nvGrpSpPr>
      <p:grpSpPr>
        <a:xfrm>
          <a:off x="0" y="0"/>
          <a:ext cx="0" cy="0"/>
          <a:chOff x="0" y="0"/>
          <a:chExt cx="0" cy="0"/>
        </a:xfrm>
      </p:grpSpPr>
      <p:sp>
        <p:nvSpPr>
          <p:cNvPr id="425" name="Google Shape;425;p5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t" sz="2800"/>
              <a:t>Companion objects</a:t>
            </a:r>
            <a:endParaRPr sz="2800"/>
          </a:p>
        </p:txBody>
      </p:sp>
      <p:sp>
        <p:nvSpPr>
          <p:cNvPr id="426" name="Google Shape;426;p51"/>
          <p:cNvSpPr txBox="1">
            <a:spLocks noGrp="1"/>
          </p:cNvSpPr>
          <p:nvPr>
            <p:ph type="body" idx="1"/>
          </p:nvPr>
        </p:nvSpPr>
        <p:spPr>
          <a:xfrm>
            <a:off x="311150" y="1091804"/>
            <a:ext cx="8521800" cy="3393300"/>
          </a:xfrm>
          <a:prstGeom prst="rect">
            <a:avLst/>
          </a:prstGeom>
        </p:spPr>
        <p:txBody>
          <a:bodyPr spcFirstLastPara="1" wrap="square" lIns="91425" tIns="45700" rIns="91425" bIns="45700" anchor="t" anchorCtr="0">
            <a:normAutofit/>
          </a:bodyPr>
          <a:lstStyle/>
          <a:p>
            <a:pPr marL="457200" lvl="0" indent="-355600" algn="l" rtl="0">
              <a:spcBef>
                <a:spcPts val="600"/>
              </a:spcBef>
              <a:spcAft>
                <a:spcPts val="0"/>
              </a:spcAft>
              <a:buSzPts val="2000"/>
              <a:buChar char="•"/>
            </a:pPr>
            <a:r>
              <a:rPr lang="it"/>
              <a:t>Properties and methods defined inside a class operate at the instance level</a:t>
            </a:r>
            <a:endParaRPr/>
          </a:p>
          <a:p>
            <a:pPr marL="914400" lvl="1" indent="-330200" algn="l" rtl="0">
              <a:spcBef>
                <a:spcPts val="0"/>
              </a:spcBef>
              <a:spcAft>
                <a:spcPts val="0"/>
              </a:spcAft>
              <a:buSzPts val="1600"/>
              <a:buChar char="○"/>
            </a:pPr>
            <a:r>
              <a:rPr lang="it"/>
              <a:t>Each instance has its own values and they are referred to via the dot-notation applied to instances of the class</a:t>
            </a:r>
            <a:endParaRPr/>
          </a:p>
          <a:p>
            <a:pPr marL="457200" lvl="0" indent="-355600" algn="l" rtl="0">
              <a:spcBef>
                <a:spcPts val="0"/>
              </a:spcBef>
              <a:spcAft>
                <a:spcPts val="0"/>
              </a:spcAft>
              <a:buSzPts val="2000"/>
              <a:buChar char="•"/>
            </a:pPr>
            <a:r>
              <a:rPr lang="it"/>
              <a:t>Sometimes it is necessary to define properties and behaviors that are shared amongst all the instances of the class</a:t>
            </a:r>
            <a:endParaRPr/>
          </a:p>
          <a:p>
            <a:pPr marL="914400" lvl="1" indent="-330200" algn="l" rtl="0">
              <a:spcBef>
                <a:spcPts val="0"/>
              </a:spcBef>
              <a:spcAft>
                <a:spcPts val="0"/>
              </a:spcAft>
              <a:buSzPts val="1600"/>
              <a:buChar char="○"/>
            </a:pPr>
            <a:r>
              <a:rPr lang="it"/>
              <a:t>Java declares them as '</a:t>
            </a:r>
            <a:r>
              <a:rPr lang="it" b="1">
                <a:solidFill>
                  <a:srgbClr val="0B5394"/>
                </a:solidFill>
                <a:latin typeface="Consolas"/>
                <a:ea typeface="Consolas"/>
                <a:cs typeface="Consolas"/>
                <a:sym typeface="Consolas"/>
              </a:rPr>
              <a:t>static</a:t>
            </a:r>
            <a:r>
              <a:rPr lang="it"/>
              <a:t>'</a:t>
            </a:r>
            <a:endParaRPr/>
          </a:p>
          <a:p>
            <a:pPr marL="914400" lvl="1" indent="-330200" algn="l" rtl="0">
              <a:spcBef>
                <a:spcPts val="0"/>
              </a:spcBef>
              <a:spcAft>
                <a:spcPts val="0"/>
              </a:spcAft>
              <a:buSzPts val="1600"/>
              <a:buChar char="○"/>
            </a:pPr>
            <a:r>
              <a:rPr lang="it"/>
              <a:t>In Kotlin, they are declared using the </a:t>
            </a:r>
            <a:r>
              <a:rPr lang="it" b="1">
                <a:solidFill>
                  <a:srgbClr val="0B5394"/>
                </a:solidFill>
                <a:latin typeface="Consolas"/>
                <a:ea typeface="Consolas"/>
                <a:cs typeface="Consolas"/>
                <a:sym typeface="Consolas"/>
              </a:rPr>
              <a:t>companion</a:t>
            </a:r>
            <a:r>
              <a:rPr lang="it"/>
              <a:t> </a:t>
            </a:r>
            <a:r>
              <a:rPr lang="it" b="1">
                <a:solidFill>
                  <a:srgbClr val="0B5394"/>
                </a:solidFill>
                <a:latin typeface="Consolas"/>
                <a:ea typeface="Consolas"/>
                <a:cs typeface="Consolas"/>
                <a:sym typeface="Consolas"/>
              </a:rPr>
              <a:t>object</a:t>
            </a:r>
            <a:r>
              <a:rPr lang="it"/>
              <a:t> keyword, and are accessed using the class name</a:t>
            </a:r>
            <a:endParaRPr/>
          </a:p>
        </p:txBody>
      </p:sp>
      <p:sp>
        <p:nvSpPr>
          <p:cNvPr id="427" name="Google Shape;427;p51"/>
          <p:cNvSpPr txBox="1"/>
          <p:nvPr/>
        </p:nvSpPr>
        <p:spPr>
          <a:xfrm>
            <a:off x="677700" y="3541100"/>
            <a:ext cx="7788600" cy="1200600"/>
          </a:xfrm>
          <a:prstGeom prst="rect">
            <a:avLst/>
          </a:prstGeom>
          <a:solidFill>
            <a:srgbClr val="FFF2CC"/>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lvl="0" indent="0" algn="l" rtl="0">
              <a:spcBef>
                <a:spcPts val="0"/>
              </a:spcBef>
              <a:spcAft>
                <a:spcPts val="0"/>
              </a:spcAft>
              <a:buSzPts val="1100"/>
              <a:buNone/>
            </a:pPr>
            <a:r>
              <a:rPr lang="it" sz="1200">
                <a:solidFill>
                  <a:schemeClr val="dk1"/>
                </a:solidFill>
                <a:latin typeface="Consolas"/>
                <a:ea typeface="Consolas"/>
                <a:cs typeface="Consolas"/>
                <a:sym typeface="Consolas"/>
              </a:rPr>
              <a:t>class Person(val name: String, var age: Int) {</a:t>
            </a:r>
            <a:endParaRPr sz="1200">
              <a:solidFill>
                <a:schemeClr val="dk1"/>
              </a:solidFill>
              <a:latin typeface="Consolas"/>
              <a:ea typeface="Consolas"/>
              <a:cs typeface="Consolas"/>
              <a:sym typeface="Consolas"/>
            </a:endParaRPr>
          </a:p>
          <a:p>
            <a:pPr marL="0" lvl="0" indent="0" algn="l" rtl="0">
              <a:spcBef>
                <a:spcPts val="0"/>
              </a:spcBef>
              <a:spcAft>
                <a:spcPts val="0"/>
              </a:spcAft>
              <a:buSzPts val="1100"/>
              <a:buNone/>
            </a:pPr>
            <a:r>
              <a:rPr lang="it" sz="1200">
                <a:solidFill>
                  <a:schemeClr val="dk1"/>
                </a:solidFill>
                <a:latin typeface="Consolas"/>
                <a:ea typeface="Consolas"/>
                <a:cs typeface="Consolas"/>
                <a:sym typeface="Consolas"/>
              </a:rPr>
              <a:t>    </a:t>
            </a:r>
            <a:r>
              <a:rPr lang="it" sz="1200" b="1">
                <a:solidFill>
                  <a:srgbClr val="0B5394"/>
                </a:solidFill>
                <a:highlight>
                  <a:schemeClr val="accent6"/>
                </a:highlight>
                <a:latin typeface="Consolas"/>
                <a:ea typeface="Consolas"/>
                <a:cs typeface="Consolas"/>
                <a:sym typeface="Consolas"/>
              </a:rPr>
              <a:t>companion object {</a:t>
            </a:r>
            <a:endParaRPr sz="1200" b="1">
              <a:solidFill>
                <a:srgbClr val="0B5394"/>
              </a:solidFill>
              <a:highlight>
                <a:schemeClr val="accent6"/>
              </a:highlight>
              <a:latin typeface="Consolas"/>
              <a:ea typeface="Consolas"/>
              <a:cs typeface="Consolas"/>
              <a:sym typeface="Consolas"/>
            </a:endParaRPr>
          </a:p>
          <a:p>
            <a:pPr marL="0" lvl="0" indent="0" algn="l" rtl="0">
              <a:spcBef>
                <a:spcPts val="0"/>
              </a:spcBef>
              <a:spcAft>
                <a:spcPts val="0"/>
              </a:spcAft>
              <a:buSzPts val="1100"/>
              <a:buNone/>
            </a:pPr>
            <a:r>
              <a:rPr lang="it" sz="1200">
                <a:solidFill>
                  <a:schemeClr val="dk1"/>
                </a:solidFill>
                <a:latin typeface="Consolas"/>
                <a:ea typeface="Consolas"/>
                <a:cs typeface="Consolas"/>
                <a:sym typeface="Consolas"/>
              </a:rPr>
              <a:t>        val defaultName = "Unknown"</a:t>
            </a:r>
            <a:endParaRPr sz="1200">
              <a:solidFill>
                <a:schemeClr val="dk1"/>
              </a:solidFill>
              <a:latin typeface="Consolas"/>
              <a:ea typeface="Consolas"/>
              <a:cs typeface="Consolas"/>
              <a:sym typeface="Consolas"/>
            </a:endParaRPr>
          </a:p>
          <a:p>
            <a:pPr marL="0" lvl="0" indent="0" algn="l" rtl="0">
              <a:spcBef>
                <a:spcPts val="0"/>
              </a:spcBef>
              <a:spcAft>
                <a:spcPts val="0"/>
              </a:spcAft>
              <a:buSzPts val="1100"/>
              <a:buNone/>
            </a:pPr>
            <a:r>
              <a:rPr lang="it" sz="1200">
                <a:solidFill>
                  <a:schemeClr val="dk1"/>
                </a:solidFill>
                <a:latin typeface="Consolas"/>
                <a:ea typeface="Consolas"/>
                <a:cs typeface="Consolas"/>
                <a:sym typeface="Consolas"/>
              </a:rPr>
              <a:t>    </a:t>
            </a:r>
            <a:r>
              <a:rPr lang="it" sz="1200" b="1">
                <a:solidFill>
                  <a:srgbClr val="0B5394"/>
                </a:solidFill>
                <a:highlight>
                  <a:schemeClr val="accent6"/>
                </a:highlight>
                <a:latin typeface="Consolas"/>
                <a:ea typeface="Consolas"/>
                <a:cs typeface="Consolas"/>
                <a:sym typeface="Consolas"/>
              </a:rPr>
              <a:t>}</a:t>
            </a:r>
            <a:endParaRPr sz="1200" b="1">
              <a:solidFill>
                <a:srgbClr val="0B5394"/>
              </a:solidFill>
              <a:highlight>
                <a:schemeClr val="accent6"/>
              </a:highlight>
              <a:latin typeface="Consolas"/>
              <a:ea typeface="Consolas"/>
              <a:cs typeface="Consolas"/>
              <a:sym typeface="Consolas"/>
            </a:endParaRPr>
          </a:p>
          <a:p>
            <a:pPr marL="0" lvl="0" indent="0" algn="l" rtl="0">
              <a:spcBef>
                <a:spcPts val="0"/>
              </a:spcBef>
              <a:spcAft>
                <a:spcPts val="0"/>
              </a:spcAft>
              <a:buSzPts val="1100"/>
              <a:buNone/>
            </a:pPr>
            <a:r>
              <a:rPr lang="it" sz="1200">
                <a:solidFill>
                  <a:schemeClr val="dk1"/>
                </a:solidFill>
                <a:latin typeface="Consolas"/>
                <a:ea typeface="Consolas"/>
                <a:cs typeface="Consolas"/>
                <a:sym typeface="Consolas"/>
              </a:rPr>
              <a:t>}</a:t>
            </a:r>
            <a:endParaRPr sz="1200">
              <a:solidFill>
                <a:schemeClr val="dk1"/>
              </a:solidFill>
              <a:latin typeface="Consolas"/>
              <a:ea typeface="Consolas"/>
              <a:cs typeface="Consolas"/>
              <a:sym typeface="Consolas"/>
            </a:endParaRPr>
          </a:p>
          <a:p>
            <a:pPr marL="0" lvl="0" indent="0" algn="l" rtl="0">
              <a:spcBef>
                <a:spcPts val="0"/>
              </a:spcBef>
              <a:spcAft>
                <a:spcPts val="0"/>
              </a:spcAft>
              <a:buNone/>
            </a:pPr>
            <a:r>
              <a:rPr lang="it" sz="1200">
                <a:solidFill>
                  <a:schemeClr val="dk1"/>
                </a:solidFill>
                <a:latin typeface="Consolas"/>
                <a:ea typeface="Consolas"/>
                <a:cs typeface="Consolas"/>
                <a:sym typeface="Consolas"/>
              </a:rPr>
              <a:t>println(</a:t>
            </a:r>
            <a:r>
              <a:rPr lang="it" sz="1200">
                <a:solidFill>
                  <a:schemeClr val="dk1"/>
                </a:solidFill>
                <a:highlight>
                  <a:schemeClr val="accent6"/>
                </a:highlight>
                <a:latin typeface="Consolas"/>
                <a:ea typeface="Consolas"/>
                <a:cs typeface="Consolas"/>
                <a:sym typeface="Consolas"/>
              </a:rPr>
              <a:t>Person.defaultName</a:t>
            </a:r>
            <a:r>
              <a:rPr lang="it" sz="1200">
                <a:solidFill>
                  <a:schemeClr val="dk1"/>
                </a:solidFill>
                <a:latin typeface="Consolas"/>
                <a:ea typeface="Consolas"/>
                <a:cs typeface="Consolas"/>
                <a:sym typeface="Consolas"/>
              </a:rPr>
              <a:t>) // → Unknown</a:t>
            </a:r>
            <a:endParaRPr sz="1200">
              <a:solidFill>
                <a:schemeClr val="dk1"/>
              </a:solidFill>
              <a:latin typeface="Consolas"/>
              <a:ea typeface="Consolas"/>
              <a:cs typeface="Consolas"/>
              <a:sym typeface="Consolas"/>
            </a:endParaRPr>
          </a:p>
        </p:txBody>
      </p:sp>
      <p:sp>
        <p:nvSpPr>
          <p:cNvPr id="428" name="Google Shape;428;p51"/>
          <p:cNvSpPr txBox="1">
            <a:spLocks noGrp="1"/>
          </p:cNvSpPr>
          <p:nvPr>
            <p:ph type="sldNum" idx="12"/>
          </p:nvPr>
        </p:nvSpPr>
        <p:spPr>
          <a:xfrm>
            <a:off x="8472458" y="476850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it"/>
              <a:t>45</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sp>
        <p:nvSpPr>
          <p:cNvPr id="433" name="Google Shape;433;p5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it" sz="2820"/>
              <a:t>Extension functions</a:t>
            </a:r>
            <a:endParaRPr sz="2820"/>
          </a:p>
        </p:txBody>
      </p:sp>
      <p:sp>
        <p:nvSpPr>
          <p:cNvPr id="434" name="Google Shape;434;p52"/>
          <p:cNvSpPr txBox="1">
            <a:spLocks noGrp="1"/>
          </p:cNvSpPr>
          <p:nvPr>
            <p:ph type="body" idx="1"/>
          </p:nvPr>
        </p:nvSpPr>
        <p:spPr>
          <a:xfrm>
            <a:off x="311150" y="1244204"/>
            <a:ext cx="8521800" cy="3393300"/>
          </a:xfrm>
          <a:prstGeom prst="rect">
            <a:avLst/>
          </a:prstGeom>
        </p:spPr>
        <p:txBody>
          <a:bodyPr spcFirstLastPara="1" wrap="square" lIns="91425" tIns="45700" rIns="91425" bIns="45700" anchor="t" anchorCtr="0">
            <a:normAutofit/>
          </a:bodyPr>
          <a:lstStyle/>
          <a:p>
            <a:pPr marL="457200" lvl="0" indent="-355600" algn="l" rtl="0">
              <a:spcBef>
                <a:spcPts val="600"/>
              </a:spcBef>
              <a:spcAft>
                <a:spcPts val="0"/>
              </a:spcAft>
              <a:buSzPts val="2000"/>
              <a:buChar char="•"/>
            </a:pPr>
            <a:r>
              <a:rPr lang="it"/>
              <a:t>An extension function is defined as a regular function, but with the class or interface that it extends as its </a:t>
            </a:r>
            <a:r>
              <a:rPr lang="it" b="1">
                <a:solidFill>
                  <a:srgbClr val="0B5394"/>
                </a:solidFill>
              </a:rPr>
              <a:t>receiver type</a:t>
            </a:r>
            <a:endParaRPr b="1">
              <a:solidFill>
                <a:srgbClr val="0B5394"/>
              </a:solidFill>
            </a:endParaRPr>
          </a:p>
          <a:p>
            <a:pPr marL="914400" lvl="1" indent="-330200" algn="l" rtl="0">
              <a:spcBef>
                <a:spcPts val="300"/>
              </a:spcBef>
              <a:spcAft>
                <a:spcPts val="0"/>
              </a:spcAft>
              <a:buSzPts val="1600"/>
              <a:buChar char="○"/>
            </a:pPr>
            <a:r>
              <a:rPr lang="it"/>
              <a:t>The function can then be called on any instance of that class or interface, as if it were a member function of that class or interface</a:t>
            </a:r>
            <a:endParaRPr/>
          </a:p>
          <a:p>
            <a:pPr marL="457200" lvl="0" indent="-355600" algn="l" rtl="0">
              <a:spcBef>
                <a:spcPts val="0"/>
              </a:spcBef>
              <a:spcAft>
                <a:spcPts val="0"/>
              </a:spcAft>
              <a:buSzPts val="2000"/>
              <a:buChar char="•"/>
            </a:pPr>
            <a:r>
              <a:rPr lang="it"/>
              <a:t>Extension functions can be used to add new functionality to an existing class without having to modify the class's source code or subclass it</a:t>
            </a:r>
            <a:endParaRPr/>
          </a:p>
          <a:p>
            <a:pPr marL="914400" lvl="1" indent="-330200" algn="l" rtl="0">
              <a:spcBef>
                <a:spcPts val="0"/>
              </a:spcBef>
              <a:spcAft>
                <a:spcPts val="0"/>
              </a:spcAft>
              <a:buSzPts val="1600"/>
              <a:buChar char="○"/>
            </a:pPr>
            <a:r>
              <a:rPr lang="it"/>
              <a:t>The compiler transforms the extension function into a regular named function having one more parameter named “</a:t>
            </a:r>
            <a:r>
              <a:rPr lang="it" b="1">
                <a:solidFill>
                  <a:srgbClr val="0B5394"/>
                </a:solidFill>
              </a:rPr>
              <a:t>this</a:t>
            </a:r>
            <a:r>
              <a:rPr lang="it"/>
              <a:t>” which is bound to the receiver object</a:t>
            </a:r>
            <a:endParaRPr/>
          </a:p>
          <a:p>
            <a:pPr marL="914400" lvl="1" indent="-330200" algn="l" rtl="0">
              <a:spcBef>
                <a:spcPts val="0"/>
              </a:spcBef>
              <a:spcAft>
                <a:spcPts val="0"/>
              </a:spcAft>
              <a:buSzPts val="1600"/>
              <a:buChar char="○"/>
            </a:pPr>
            <a:r>
              <a:rPr lang="it"/>
              <a:t>As such, the extension function has no access to the private member of the receiver and represent just a form of “syntactic sugar”, which - however - keep the code concise and expressive</a:t>
            </a:r>
            <a:endParaRPr/>
          </a:p>
        </p:txBody>
      </p:sp>
      <p:sp>
        <p:nvSpPr>
          <p:cNvPr id="435" name="Google Shape;435;p52"/>
          <p:cNvSpPr txBox="1">
            <a:spLocks noGrp="1"/>
          </p:cNvSpPr>
          <p:nvPr>
            <p:ph type="sldNum" idx="12"/>
          </p:nvPr>
        </p:nvSpPr>
        <p:spPr>
          <a:xfrm>
            <a:off x="8472458" y="476850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it"/>
              <a:t>46</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39"/>
        <p:cNvGrpSpPr/>
        <p:nvPr/>
      </p:nvGrpSpPr>
      <p:grpSpPr>
        <a:xfrm>
          <a:off x="0" y="0"/>
          <a:ext cx="0" cy="0"/>
          <a:chOff x="0" y="0"/>
          <a:chExt cx="0" cy="0"/>
        </a:xfrm>
      </p:grpSpPr>
      <p:sp>
        <p:nvSpPr>
          <p:cNvPr id="440" name="Google Shape;440;p5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it" sz="2820"/>
              <a:t>Extension functions</a:t>
            </a:r>
            <a:endParaRPr sz="2820"/>
          </a:p>
        </p:txBody>
      </p:sp>
      <p:sp>
        <p:nvSpPr>
          <p:cNvPr id="441" name="Google Shape;441;p53"/>
          <p:cNvSpPr txBox="1"/>
          <p:nvPr/>
        </p:nvSpPr>
        <p:spPr>
          <a:xfrm>
            <a:off x="412175" y="1541625"/>
            <a:ext cx="8276400" cy="2555100"/>
          </a:xfrm>
          <a:prstGeom prst="rect">
            <a:avLst/>
          </a:prstGeom>
          <a:solidFill>
            <a:srgbClr val="FFF2CC"/>
          </a:solidFill>
          <a:ln w="9525" cap="flat" cmpd="sng">
            <a:solidFill>
              <a:schemeClr val="dk1"/>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t" anchorCtr="0">
            <a:spAutoFit/>
          </a:bodyPr>
          <a:lstStyle/>
          <a:p>
            <a:pPr marL="0" lvl="0" indent="0" algn="l" rtl="0">
              <a:spcBef>
                <a:spcPts val="0"/>
              </a:spcBef>
              <a:spcAft>
                <a:spcPts val="0"/>
              </a:spcAft>
              <a:buNone/>
            </a:pPr>
            <a:r>
              <a:rPr lang="it">
                <a:latin typeface="Consolas"/>
                <a:ea typeface="Consolas"/>
                <a:cs typeface="Consolas"/>
                <a:sym typeface="Consolas"/>
              </a:rPr>
              <a:t>// add a new method to the List class named “second()”</a:t>
            </a:r>
            <a:endParaRPr>
              <a:latin typeface="Consolas"/>
              <a:ea typeface="Consolas"/>
              <a:cs typeface="Consolas"/>
              <a:sym typeface="Consolas"/>
            </a:endParaRPr>
          </a:p>
          <a:p>
            <a:pPr marL="0" lvl="0" indent="0" algn="l" rtl="0">
              <a:spcBef>
                <a:spcPts val="0"/>
              </a:spcBef>
              <a:spcAft>
                <a:spcPts val="0"/>
              </a:spcAft>
              <a:buClr>
                <a:schemeClr val="dk1"/>
              </a:buClr>
              <a:buSzPts val="1100"/>
              <a:buFont typeface="Arial"/>
              <a:buNone/>
            </a:pPr>
            <a:r>
              <a:rPr lang="it">
                <a:latin typeface="Consolas"/>
                <a:ea typeface="Consolas"/>
                <a:cs typeface="Consolas"/>
                <a:sym typeface="Consolas"/>
              </a:rPr>
              <a:t>fun &lt;T&gt; </a:t>
            </a:r>
            <a:r>
              <a:rPr lang="it" b="1">
                <a:solidFill>
                  <a:srgbClr val="0B5394"/>
                </a:solidFill>
                <a:latin typeface="Consolas"/>
                <a:ea typeface="Consolas"/>
                <a:cs typeface="Consolas"/>
                <a:sym typeface="Consolas"/>
              </a:rPr>
              <a:t>List&lt;T&gt;.second()</a:t>
            </a:r>
            <a:r>
              <a:rPr lang="it">
                <a:latin typeface="Consolas"/>
                <a:ea typeface="Consolas"/>
                <a:cs typeface="Consolas"/>
                <a:sym typeface="Consolas"/>
              </a:rPr>
              <a:t>: T? {</a:t>
            </a:r>
            <a:endParaRPr>
              <a:latin typeface="Consolas"/>
              <a:ea typeface="Consolas"/>
              <a:cs typeface="Consolas"/>
              <a:sym typeface="Consolas"/>
            </a:endParaRPr>
          </a:p>
          <a:p>
            <a:pPr marL="0" lvl="0" indent="0" algn="l" rtl="0">
              <a:spcBef>
                <a:spcPts val="0"/>
              </a:spcBef>
              <a:spcAft>
                <a:spcPts val="0"/>
              </a:spcAft>
              <a:buClr>
                <a:schemeClr val="dk1"/>
              </a:buClr>
              <a:buSzPts val="1100"/>
              <a:buFont typeface="Arial"/>
              <a:buNone/>
            </a:pPr>
            <a:r>
              <a:rPr lang="it">
                <a:latin typeface="Consolas"/>
                <a:ea typeface="Consolas"/>
                <a:cs typeface="Consolas"/>
                <a:sym typeface="Consolas"/>
              </a:rPr>
              <a:t>    return if (this.size &gt;= 2) {</a:t>
            </a:r>
            <a:endParaRPr>
              <a:latin typeface="Consolas"/>
              <a:ea typeface="Consolas"/>
              <a:cs typeface="Consolas"/>
              <a:sym typeface="Consolas"/>
            </a:endParaRPr>
          </a:p>
          <a:p>
            <a:pPr marL="0" lvl="0" indent="0" algn="l" rtl="0">
              <a:spcBef>
                <a:spcPts val="0"/>
              </a:spcBef>
              <a:spcAft>
                <a:spcPts val="0"/>
              </a:spcAft>
              <a:buClr>
                <a:schemeClr val="dk1"/>
              </a:buClr>
              <a:buSzPts val="1100"/>
              <a:buFont typeface="Arial"/>
              <a:buNone/>
            </a:pPr>
            <a:r>
              <a:rPr lang="it">
                <a:latin typeface="Consolas"/>
                <a:ea typeface="Consolas"/>
                <a:cs typeface="Consolas"/>
                <a:sym typeface="Consolas"/>
              </a:rPr>
              <a:t>        this[1]</a:t>
            </a:r>
            <a:endParaRPr>
              <a:latin typeface="Consolas"/>
              <a:ea typeface="Consolas"/>
              <a:cs typeface="Consolas"/>
              <a:sym typeface="Consolas"/>
            </a:endParaRPr>
          </a:p>
          <a:p>
            <a:pPr marL="0" lvl="0" indent="0" algn="l" rtl="0">
              <a:spcBef>
                <a:spcPts val="0"/>
              </a:spcBef>
              <a:spcAft>
                <a:spcPts val="0"/>
              </a:spcAft>
              <a:buClr>
                <a:schemeClr val="dk1"/>
              </a:buClr>
              <a:buSzPts val="1100"/>
              <a:buFont typeface="Arial"/>
              <a:buNone/>
            </a:pPr>
            <a:r>
              <a:rPr lang="it">
                <a:latin typeface="Consolas"/>
                <a:ea typeface="Consolas"/>
                <a:cs typeface="Consolas"/>
                <a:sym typeface="Consolas"/>
              </a:rPr>
              <a:t>    } else {</a:t>
            </a:r>
            <a:endParaRPr>
              <a:latin typeface="Consolas"/>
              <a:ea typeface="Consolas"/>
              <a:cs typeface="Consolas"/>
              <a:sym typeface="Consolas"/>
            </a:endParaRPr>
          </a:p>
          <a:p>
            <a:pPr marL="0" lvl="0" indent="0" algn="l" rtl="0">
              <a:spcBef>
                <a:spcPts val="0"/>
              </a:spcBef>
              <a:spcAft>
                <a:spcPts val="0"/>
              </a:spcAft>
              <a:buClr>
                <a:schemeClr val="dk1"/>
              </a:buClr>
              <a:buSzPts val="1100"/>
              <a:buFont typeface="Arial"/>
              <a:buNone/>
            </a:pPr>
            <a:r>
              <a:rPr lang="it">
                <a:latin typeface="Consolas"/>
                <a:ea typeface="Consolas"/>
                <a:cs typeface="Consolas"/>
                <a:sym typeface="Consolas"/>
              </a:rPr>
              <a:t>        null</a:t>
            </a:r>
            <a:endParaRPr>
              <a:latin typeface="Consolas"/>
              <a:ea typeface="Consolas"/>
              <a:cs typeface="Consolas"/>
              <a:sym typeface="Consolas"/>
            </a:endParaRPr>
          </a:p>
          <a:p>
            <a:pPr marL="0" lvl="0" indent="0" algn="l" rtl="0">
              <a:spcBef>
                <a:spcPts val="0"/>
              </a:spcBef>
              <a:spcAft>
                <a:spcPts val="0"/>
              </a:spcAft>
              <a:buClr>
                <a:schemeClr val="dk1"/>
              </a:buClr>
              <a:buSzPts val="1100"/>
              <a:buFont typeface="Arial"/>
              <a:buNone/>
            </a:pPr>
            <a:r>
              <a:rPr lang="it">
                <a:latin typeface="Consolas"/>
                <a:ea typeface="Consolas"/>
                <a:cs typeface="Consolas"/>
                <a:sym typeface="Consolas"/>
              </a:rPr>
              <a:t>    }</a:t>
            </a:r>
            <a:endParaRPr>
              <a:latin typeface="Consolas"/>
              <a:ea typeface="Consolas"/>
              <a:cs typeface="Consolas"/>
              <a:sym typeface="Consolas"/>
            </a:endParaRPr>
          </a:p>
          <a:p>
            <a:pPr marL="0" lvl="0" indent="0" algn="l" rtl="0">
              <a:spcBef>
                <a:spcPts val="0"/>
              </a:spcBef>
              <a:spcAft>
                <a:spcPts val="0"/>
              </a:spcAft>
              <a:buNone/>
            </a:pPr>
            <a:r>
              <a:rPr lang="it">
                <a:latin typeface="Consolas"/>
                <a:ea typeface="Consolas"/>
                <a:cs typeface="Consolas"/>
                <a:sym typeface="Consolas"/>
              </a:rPr>
              <a:t>}</a:t>
            </a:r>
            <a:endParaRPr>
              <a:latin typeface="Consolas"/>
              <a:ea typeface="Consolas"/>
              <a:cs typeface="Consolas"/>
              <a:sym typeface="Consolas"/>
            </a:endParaRPr>
          </a:p>
          <a:p>
            <a:pPr marL="0" lvl="0" indent="0" algn="l" rtl="0">
              <a:spcBef>
                <a:spcPts val="0"/>
              </a:spcBef>
              <a:spcAft>
                <a:spcPts val="0"/>
              </a:spcAft>
              <a:buNone/>
            </a:pPr>
            <a:endParaRPr>
              <a:latin typeface="Consolas"/>
              <a:ea typeface="Consolas"/>
              <a:cs typeface="Consolas"/>
              <a:sym typeface="Consolas"/>
            </a:endParaRPr>
          </a:p>
          <a:p>
            <a:pPr marL="0" lvl="0" indent="0" algn="l" rtl="0">
              <a:spcBef>
                <a:spcPts val="0"/>
              </a:spcBef>
              <a:spcAft>
                <a:spcPts val="0"/>
              </a:spcAft>
              <a:buNone/>
            </a:pPr>
            <a:r>
              <a:rPr lang="it">
                <a:latin typeface="Consolas"/>
                <a:ea typeface="Consolas"/>
                <a:cs typeface="Consolas"/>
                <a:sym typeface="Consolas"/>
              </a:rPr>
              <a:t>val list = listOf("one", "two", "three")</a:t>
            </a:r>
            <a:endParaRPr>
              <a:latin typeface="Consolas"/>
              <a:ea typeface="Consolas"/>
              <a:cs typeface="Consolas"/>
              <a:sym typeface="Consolas"/>
            </a:endParaRPr>
          </a:p>
          <a:p>
            <a:pPr marL="0" lvl="0" indent="0" algn="l" rtl="0">
              <a:spcBef>
                <a:spcPts val="0"/>
              </a:spcBef>
              <a:spcAft>
                <a:spcPts val="0"/>
              </a:spcAft>
              <a:buNone/>
            </a:pPr>
            <a:r>
              <a:rPr lang="it">
                <a:latin typeface="Consolas"/>
                <a:ea typeface="Consolas"/>
                <a:cs typeface="Consolas"/>
                <a:sym typeface="Consolas"/>
              </a:rPr>
              <a:t>val second = list.second()	// → two</a:t>
            </a:r>
            <a:endParaRPr>
              <a:latin typeface="Consolas"/>
              <a:ea typeface="Consolas"/>
              <a:cs typeface="Consolas"/>
              <a:sym typeface="Consolas"/>
            </a:endParaRPr>
          </a:p>
        </p:txBody>
      </p:sp>
      <p:sp>
        <p:nvSpPr>
          <p:cNvPr id="442" name="Google Shape;442;p53"/>
          <p:cNvSpPr txBox="1">
            <a:spLocks noGrp="1"/>
          </p:cNvSpPr>
          <p:nvPr>
            <p:ph type="sldNum" idx="12"/>
          </p:nvPr>
        </p:nvSpPr>
        <p:spPr>
          <a:xfrm>
            <a:off x="8472458" y="476850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it"/>
              <a:t>47</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46"/>
        <p:cNvGrpSpPr/>
        <p:nvPr/>
      </p:nvGrpSpPr>
      <p:grpSpPr>
        <a:xfrm>
          <a:off x="0" y="0"/>
          <a:ext cx="0" cy="0"/>
          <a:chOff x="0" y="0"/>
          <a:chExt cx="0" cy="0"/>
        </a:xfrm>
      </p:grpSpPr>
      <p:sp>
        <p:nvSpPr>
          <p:cNvPr id="447" name="Google Shape;447;p5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it" sz="2820"/>
              <a:t>Inheritance</a:t>
            </a:r>
            <a:endParaRPr sz="2820"/>
          </a:p>
        </p:txBody>
      </p:sp>
      <p:sp>
        <p:nvSpPr>
          <p:cNvPr id="448" name="Google Shape;448;p54"/>
          <p:cNvSpPr txBox="1">
            <a:spLocks noGrp="1"/>
          </p:cNvSpPr>
          <p:nvPr>
            <p:ph type="body" idx="1"/>
          </p:nvPr>
        </p:nvSpPr>
        <p:spPr>
          <a:xfrm>
            <a:off x="311150" y="1244204"/>
            <a:ext cx="8521800" cy="3393300"/>
          </a:xfrm>
          <a:prstGeom prst="rect">
            <a:avLst/>
          </a:prstGeom>
        </p:spPr>
        <p:txBody>
          <a:bodyPr spcFirstLastPara="1" wrap="square" lIns="91425" tIns="45700" rIns="91425" bIns="45700" anchor="t" anchorCtr="0">
            <a:normAutofit/>
          </a:bodyPr>
          <a:lstStyle/>
          <a:p>
            <a:pPr marL="457200" lvl="0" indent="-355600" algn="l" rtl="0">
              <a:spcBef>
                <a:spcPts val="600"/>
              </a:spcBef>
              <a:spcAft>
                <a:spcPts val="0"/>
              </a:spcAft>
              <a:buSzPts val="2000"/>
              <a:buChar char="•"/>
            </a:pPr>
            <a:r>
              <a:rPr lang="it"/>
              <a:t>Kotlin classes are part of a single-parent inheritance hierarchy</a:t>
            </a:r>
            <a:endParaRPr/>
          </a:p>
          <a:p>
            <a:pPr marL="914400" lvl="1" indent="-330200" algn="l" rtl="0">
              <a:spcBef>
                <a:spcPts val="0"/>
              </a:spcBef>
              <a:spcAft>
                <a:spcPts val="0"/>
              </a:spcAft>
              <a:buSzPts val="1600"/>
              <a:buChar char="○"/>
            </a:pPr>
            <a:r>
              <a:rPr lang="it"/>
              <a:t>The root of which is </a:t>
            </a:r>
            <a:r>
              <a:rPr lang="it" b="1">
                <a:solidFill>
                  <a:srgbClr val="0B5394"/>
                </a:solidFill>
                <a:latin typeface="Consolas"/>
                <a:ea typeface="Consolas"/>
                <a:cs typeface="Consolas"/>
                <a:sym typeface="Consolas"/>
              </a:rPr>
              <a:t>Any</a:t>
            </a:r>
            <a:endParaRPr b="1">
              <a:solidFill>
                <a:srgbClr val="0B5394"/>
              </a:solidFill>
              <a:latin typeface="Consolas"/>
              <a:ea typeface="Consolas"/>
              <a:cs typeface="Consolas"/>
              <a:sym typeface="Consolas"/>
            </a:endParaRPr>
          </a:p>
          <a:p>
            <a:pPr marL="914400" lvl="1" indent="-330200" algn="l" rtl="0">
              <a:spcBef>
                <a:spcPts val="0"/>
              </a:spcBef>
              <a:spcAft>
                <a:spcPts val="0"/>
              </a:spcAft>
              <a:buSzPts val="1600"/>
              <a:buChar char="○"/>
            </a:pPr>
            <a:r>
              <a:rPr lang="it" b="1">
                <a:solidFill>
                  <a:srgbClr val="0B5394"/>
                </a:solidFill>
                <a:latin typeface="Consolas"/>
                <a:ea typeface="Consolas"/>
                <a:cs typeface="Consolas"/>
                <a:sym typeface="Consolas"/>
              </a:rPr>
              <a:t>Any</a:t>
            </a:r>
            <a:r>
              <a:rPr lang="it"/>
              <a:t> roughly corresponds to Java </a:t>
            </a:r>
            <a:r>
              <a:rPr lang="it" b="1">
                <a:solidFill>
                  <a:srgbClr val="0B5394"/>
                </a:solidFill>
                <a:latin typeface="Consolas"/>
                <a:ea typeface="Consolas"/>
                <a:cs typeface="Consolas"/>
                <a:sym typeface="Consolas"/>
              </a:rPr>
              <a:t>Object</a:t>
            </a:r>
            <a:r>
              <a:rPr lang="it"/>
              <a:t>, but it lacks some of its methods</a:t>
            </a:r>
            <a:endParaRPr/>
          </a:p>
          <a:p>
            <a:pPr marL="457200" lvl="0" indent="-355600" algn="l" rtl="0">
              <a:spcBef>
                <a:spcPts val="0"/>
              </a:spcBef>
              <a:spcAft>
                <a:spcPts val="0"/>
              </a:spcAft>
              <a:buSzPts val="2000"/>
              <a:buChar char="•"/>
            </a:pPr>
            <a:r>
              <a:rPr lang="it"/>
              <a:t>To create a subclass, the </a:t>
            </a:r>
            <a:r>
              <a:rPr lang="it" b="1">
                <a:solidFill>
                  <a:srgbClr val="0B5394"/>
                </a:solidFill>
                <a:latin typeface="Consolas"/>
                <a:ea typeface="Consolas"/>
                <a:cs typeface="Consolas"/>
                <a:sym typeface="Consolas"/>
              </a:rPr>
              <a:t>:</a:t>
            </a:r>
            <a:r>
              <a:rPr lang="it"/>
              <a:t> symbol is used as a prefix of the superclass name</a:t>
            </a:r>
            <a:endParaRPr/>
          </a:p>
          <a:p>
            <a:pPr marL="914400" lvl="1" indent="-330200" algn="l" rtl="0">
              <a:spcBef>
                <a:spcPts val="0"/>
              </a:spcBef>
              <a:spcAft>
                <a:spcPts val="0"/>
              </a:spcAft>
              <a:buSzPts val="1600"/>
              <a:buChar char="○"/>
            </a:pPr>
            <a:r>
              <a:rPr lang="it"/>
              <a:t>If a class does not indicate a superclass, it defaults to </a:t>
            </a:r>
            <a:r>
              <a:rPr lang="it" b="1">
                <a:solidFill>
                  <a:srgbClr val="0B5394"/>
                </a:solidFill>
                <a:latin typeface="Consolas"/>
                <a:ea typeface="Consolas"/>
                <a:cs typeface="Consolas"/>
                <a:sym typeface="Consolas"/>
              </a:rPr>
              <a:t>Any</a:t>
            </a:r>
            <a:r>
              <a:rPr lang="it"/>
              <a:t> </a:t>
            </a:r>
            <a:endParaRPr/>
          </a:p>
          <a:p>
            <a:pPr marL="457200" lvl="0" indent="-355600" algn="l" rtl="0">
              <a:spcBef>
                <a:spcPts val="0"/>
              </a:spcBef>
              <a:spcAft>
                <a:spcPts val="0"/>
              </a:spcAft>
              <a:buSzPts val="2000"/>
              <a:buChar char="•"/>
            </a:pPr>
            <a:r>
              <a:rPr lang="it"/>
              <a:t>By default, classes cannot be extended</a:t>
            </a:r>
            <a:endParaRPr/>
          </a:p>
          <a:p>
            <a:pPr marL="914400" marR="0" lvl="1" indent="-330200" algn="l" rtl="0">
              <a:lnSpc>
                <a:spcPct val="115000"/>
              </a:lnSpc>
              <a:spcBef>
                <a:spcPts val="0"/>
              </a:spcBef>
              <a:spcAft>
                <a:spcPts val="0"/>
              </a:spcAft>
              <a:buSzPts val="1600"/>
              <a:buChar char="○"/>
            </a:pPr>
            <a:r>
              <a:rPr lang="it"/>
              <a:t>To allow extensions, a class should be declared with the </a:t>
            </a:r>
            <a:r>
              <a:rPr lang="it" b="1">
                <a:solidFill>
                  <a:srgbClr val="0B5394"/>
                </a:solidFill>
                <a:latin typeface="Consolas"/>
                <a:ea typeface="Consolas"/>
                <a:cs typeface="Consolas"/>
                <a:sym typeface="Consolas"/>
              </a:rPr>
              <a:t>open</a:t>
            </a:r>
            <a:r>
              <a:rPr lang="it"/>
              <a:t> annotation</a:t>
            </a:r>
            <a:endParaRPr/>
          </a:p>
          <a:p>
            <a:pPr marL="914400" marR="0" lvl="1" indent="-330200" algn="l" rtl="0">
              <a:lnSpc>
                <a:spcPct val="115000"/>
              </a:lnSpc>
              <a:spcBef>
                <a:spcPts val="0"/>
              </a:spcBef>
              <a:spcAft>
                <a:spcPts val="0"/>
              </a:spcAft>
              <a:buSzPts val="1600"/>
              <a:buChar char="○"/>
            </a:pPr>
            <a:r>
              <a:rPr lang="it"/>
              <a:t>Moreover, if any method is to be overridden, they, too, must be preceded by the </a:t>
            </a:r>
            <a:r>
              <a:rPr lang="it" b="1">
                <a:solidFill>
                  <a:srgbClr val="0B5394"/>
                </a:solidFill>
                <a:latin typeface="Consolas"/>
                <a:ea typeface="Consolas"/>
                <a:cs typeface="Consolas"/>
                <a:sym typeface="Consolas"/>
              </a:rPr>
              <a:t>open</a:t>
            </a:r>
            <a:r>
              <a:rPr lang="it"/>
              <a:t> keyword</a:t>
            </a:r>
            <a:endParaRPr/>
          </a:p>
          <a:p>
            <a:pPr marL="914400" marR="0" lvl="1" indent="-330200" algn="l" rtl="0">
              <a:lnSpc>
                <a:spcPct val="115000"/>
              </a:lnSpc>
              <a:spcBef>
                <a:spcPts val="0"/>
              </a:spcBef>
              <a:spcAft>
                <a:spcPts val="0"/>
              </a:spcAft>
              <a:buSzPts val="1600"/>
              <a:buChar char="○"/>
            </a:pPr>
            <a:r>
              <a:rPr lang="it"/>
              <a:t>In subclasses, overriding methods must be preceded by the keyword </a:t>
            </a:r>
            <a:r>
              <a:rPr lang="it" b="1">
                <a:solidFill>
                  <a:srgbClr val="0B5394"/>
                </a:solidFill>
                <a:latin typeface="Consolas"/>
                <a:ea typeface="Consolas"/>
                <a:cs typeface="Consolas"/>
                <a:sym typeface="Consolas"/>
              </a:rPr>
              <a:t>override</a:t>
            </a:r>
            <a:endParaRPr/>
          </a:p>
        </p:txBody>
      </p:sp>
      <p:pic>
        <p:nvPicPr>
          <p:cNvPr id="449" name="Google Shape;449;p54"/>
          <p:cNvPicPr preferRelativeResize="0"/>
          <p:nvPr/>
        </p:nvPicPr>
        <p:blipFill rotWithShape="1">
          <a:blip r:embed="rId3">
            <a:alphaModFix/>
          </a:blip>
          <a:srcRect l="27964" t="34798" r="27329" b="35467"/>
          <a:stretch/>
        </p:blipFill>
        <p:spPr>
          <a:xfrm>
            <a:off x="7256625" y="0"/>
            <a:ext cx="1887375" cy="1255300"/>
          </a:xfrm>
          <a:prstGeom prst="rect">
            <a:avLst/>
          </a:prstGeom>
          <a:noFill/>
          <a:ln>
            <a:noFill/>
          </a:ln>
        </p:spPr>
      </p:pic>
      <p:sp>
        <p:nvSpPr>
          <p:cNvPr id="450" name="Google Shape;450;p54"/>
          <p:cNvSpPr txBox="1">
            <a:spLocks noGrp="1"/>
          </p:cNvSpPr>
          <p:nvPr>
            <p:ph type="sldNum" idx="12"/>
          </p:nvPr>
        </p:nvSpPr>
        <p:spPr>
          <a:xfrm>
            <a:off x="8472458" y="476850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it"/>
              <a:t>48</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5" name="Google Shape;455;p5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it" sz="2820"/>
              <a:t>Inheritance</a:t>
            </a:r>
            <a:endParaRPr sz="2820"/>
          </a:p>
        </p:txBody>
      </p:sp>
      <p:sp>
        <p:nvSpPr>
          <p:cNvPr id="456" name="Google Shape;456;p55"/>
          <p:cNvSpPr txBox="1"/>
          <p:nvPr/>
        </p:nvSpPr>
        <p:spPr>
          <a:xfrm>
            <a:off x="833278" y="1511925"/>
            <a:ext cx="7498200" cy="2893800"/>
          </a:xfrm>
          <a:prstGeom prst="rect">
            <a:avLst/>
          </a:prstGeom>
          <a:solidFill>
            <a:srgbClr val="FFF2CC"/>
          </a:solidFill>
          <a:ln w="9525" cap="flat" cmpd="sng">
            <a:solidFill>
              <a:srgbClr val="000000"/>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spAutoFit/>
          </a:bodyPr>
          <a:lstStyle/>
          <a:p>
            <a:pPr marL="0" marR="0" lvl="0" indent="0" algn="l" rtl="0">
              <a:spcBef>
                <a:spcPts val="0"/>
              </a:spcBef>
              <a:spcAft>
                <a:spcPts val="0"/>
              </a:spcAft>
              <a:buNone/>
            </a:pPr>
            <a:r>
              <a:rPr lang="it" sz="1400" b="1">
                <a:solidFill>
                  <a:srgbClr val="0B5394"/>
                </a:solidFill>
                <a:latin typeface="Consolas"/>
                <a:ea typeface="Consolas"/>
                <a:cs typeface="Consolas"/>
                <a:sym typeface="Consolas"/>
              </a:rPr>
              <a:t>open</a:t>
            </a:r>
            <a:r>
              <a:rPr lang="it" sz="1400">
                <a:solidFill>
                  <a:srgbClr val="000000"/>
                </a:solidFill>
                <a:latin typeface="Consolas"/>
                <a:ea typeface="Consolas"/>
                <a:cs typeface="Consolas"/>
                <a:sym typeface="Consolas"/>
              </a:rPr>
              <a:t> class </a:t>
            </a:r>
            <a:r>
              <a:rPr lang="it" sz="1400" b="1">
                <a:solidFill>
                  <a:srgbClr val="0B5394"/>
                </a:solidFill>
                <a:latin typeface="Consolas"/>
                <a:ea typeface="Consolas"/>
                <a:cs typeface="Consolas"/>
                <a:sym typeface="Consolas"/>
              </a:rPr>
              <a:t>Base</a:t>
            </a:r>
            <a:r>
              <a:rPr lang="it" sz="1400">
                <a:solidFill>
                  <a:srgbClr val="000000"/>
                </a:solidFill>
                <a:latin typeface="Consolas"/>
                <a:ea typeface="Consolas"/>
                <a:cs typeface="Consolas"/>
                <a:sym typeface="Consolas"/>
              </a:rPr>
              <a:t>(v</a:t>
            </a:r>
            <a:r>
              <a:rPr lang="it">
                <a:latin typeface="Consolas"/>
                <a:ea typeface="Consolas"/>
                <a:cs typeface="Consolas"/>
                <a:sym typeface="Consolas"/>
              </a:rPr>
              <a:t>al </a:t>
            </a:r>
            <a:r>
              <a:rPr lang="it" sz="1400">
                <a:solidFill>
                  <a:srgbClr val="000000"/>
                </a:solidFill>
                <a:latin typeface="Consolas"/>
                <a:ea typeface="Consolas"/>
                <a:cs typeface="Consolas"/>
                <a:sym typeface="Consolas"/>
              </a:rPr>
              <a:t>p: Int) {</a:t>
            </a:r>
            <a:endParaRPr sz="1400">
              <a:solidFill>
                <a:srgbClr val="000000"/>
              </a:solidFill>
              <a:latin typeface="Consolas"/>
              <a:ea typeface="Consolas"/>
              <a:cs typeface="Consolas"/>
              <a:sym typeface="Consolas"/>
            </a:endParaRPr>
          </a:p>
          <a:p>
            <a:pPr marL="0" marR="0" lvl="0" indent="0" algn="l" rtl="0">
              <a:spcBef>
                <a:spcPts val="0"/>
              </a:spcBef>
              <a:spcAft>
                <a:spcPts val="0"/>
              </a:spcAft>
              <a:buNone/>
            </a:pPr>
            <a:r>
              <a:rPr lang="it">
                <a:latin typeface="Consolas"/>
                <a:ea typeface="Consolas"/>
                <a:cs typeface="Consolas"/>
                <a:sym typeface="Consolas"/>
              </a:rPr>
              <a:t>  </a:t>
            </a:r>
            <a:r>
              <a:rPr lang="it" b="1">
                <a:solidFill>
                  <a:srgbClr val="0B5394"/>
                </a:solidFill>
                <a:latin typeface="Consolas"/>
                <a:ea typeface="Consolas"/>
                <a:cs typeface="Consolas"/>
                <a:sym typeface="Consolas"/>
              </a:rPr>
              <a:t>open</a:t>
            </a:r>
            <a:r>
              <a:rPr lang="it">
                <a:latin typeface="Consolas"/>
                <a:ea typeface="Consolas"/>
                <a:cs typeface="Consolas"/>
                <a:sym typeface="Consolas"/>
              </a:rPr>
              <a:t> fun method1(): Int = p</a:t>
            </a:r>
            <a:endParaRPr>
              <a:latin typeface="Consolas"/>
              <a:ea typeface="Consolas"/>
              <a:cs typeface="Consolas"/>
              <a:sym typeface="Consolas"/>
            </a:endParaRPr>
          </a:p>
          <a:p>
            <a:pPr marL="0" marR="0" lvl="0" indent="0" algn="l" rtl="0">
              <a:spcBef>
                <a:spcPts val="0"/>
              </a:spcBef>
              <a:spcAft>
                <a:spcPts val="0"/>
              </a:spcAft>
              <a:buNone/>
            </a:pPr>
            <a:endParaRPr>
              <a:latin typeface="Consolas"/>
              <a:ea typeface="Consolas"/>
              <a:cs typeface="Consolas"/>
              <a:sym typeface="Consolas"/>
            </a:endParaRPr>
          </a:p>
          <a:p>
            <a:pPr marL="0" marR="0" lvl="0" indent="0" algn="l" rtl="0">
              <a:spcBef>
                <a:spcPts val="0"/>
              </a:spcBef>
              <a:spcAft>
                <a:spcPts val="0"/>
              </a:spcAft>
              <a:buNone/>
            </a:pPr>
            <a:r>
              <a:rPr lang="it">
                <a:latin typeface="Consolas"/>
                <a:ea typeface="Consolas"/>
                <a:cs typeface="Consolas"/>
                <a:sym typeface="Consolas"/>
              </a:rPr>
              <a:t>  fun method2(): String = "Cannot be overridden"</a:t>
            </a:r>
            <a:endParaRPr>
              <a:latin typeface="Consolas"/>
              <a:ea typeface="Consolas"/>
              <a:cs typeface="Consolas"/>
              <a:sym typeface="Consolas"/>
            </a:endParaRPr>
          </a:p>
          <a:p>
            <a:pPr marL="0" marR="0" lvl="0" indent="0" algn="l" rtl="0">
              <a:spcBef>
                <a:spcPts val="0"/>
              </a:spcBef>
              <a:spcAft>
                <a:spcPts val="0"/>
              </a:spcAft>
              <a:buNone/>
            </a:pPr>
            <a:r>
              <a:rPr lang="it">
                <a:latin typeface="Consolas"/>
                <a:ea typeface="Consolas"/>
                <a:cs typeface="Consolas"/>
                <a:sym typeface="Consolas"/>
              </a:rPr>
              <a:t>}</a:t>
            </a:r>
            <a:endParaRPr>
              <a:latin typeface="Consolas"/>
              <a:ea typeface="Consolas"/>
              <a:cs typeface="Consolas"/>
              <a:sym typeface="Consolas"/>
            </a:endParaRPr>
          </a:p>
          <a:p>
            <a:pPr marL="0" marR="0" lvl="0" indent="0" algn="l" rtl="0">
              <a:spcBef>
                <a:spcPts val="0"/>
              </a:spcBef>
              <a:spcAft>
                <a:spcPts val="0"/>
              </a:spcAft>
              <a:buNone/>
            </a:pPr>
            <a:endParaRPr sz="1400">
              <a:solidFill>
                <a:srgbClr val="000000"/>
              </a:solidFill>
              <a:latin typeface="Consolas"/>
              <a:ea typeface="Consolas"/>
              <a:cs typeface="Consolas"/>
              <a:sym typeface="Consolas"/>
            </a:endParaRPr>
          </a:p>
          <a:p>
            <a:pPr marL="0" marR="0" lvl="0" indent="0" algn="l" rtl="0">
              <a:spcBef>
                <a:spcPts val="0"/>
              </a:spcBef>
              <a:spcAft>
                <a:spcPts val="0"/>
              </a:spcAft>
              <a:buNone/>
            </a:pPr>
            <a:r>
              <a:rPr lang="it" sz="1400">
                <a:solidFill>
                  <a:srgbClr val="000000"/>
                </a:solidFill>
                <a:latin typeface="Consolas"/>
                <a:ea typeface="Consolas"/>
                <a:cs typeface="Consolas"/>
                <a:sym typeface="Consolas"/>
              </a:rPr>
              <a:t>class Derived(p: Int) </a:t>
            </a:r>
            <a:r>
              <a:rPr lang="it" sz="1400">
                <a:solidFill>
                  <a:srgbClr val="000000"/>
                </a:solidFill>
                <a:highlight>
                  <a:schemeClr val="accent6"/>
                </a:highlight>
                <a:latin typeface="Consolas"/>
                <a:ea typeface="Consolas"/>
                <a:cs typeface="Consolas"/>
                <a:sym typeface="Consolas"/>
              </a:rPr>
              <a:t>: </a:t>
            </a:r>
            <a:r>
              <a:rPr lang="it" sz="1400" b="1">
                <a:solidFill>
                  <a:srgbClr val="0B5394"/>
                </a:solidFill>
                <a:highlight>
                  <a:schemeClr val="accent6"/>
                </a:highlight>
                <a:latin typeface="Consolas"/>
                <a:ea typeface="Consolas"/>
                <a:cs typeface="Consolas"/>
                <a:sym typeface="Consolas"/>
              </a:rPr>
              <a:t>Base</a:t>
            </a:r>
            <a:r>
              <a:rPr lang="it" sz="1400">
                <a:solidFill>
                  <a:srgbClr val="000000"/>
                </a:solidFill>
                <a:highlight>
                  <a:schemeClr val="accent6"/>
                </a:highlight>
                <a:latin typeface="Consolas"/>
                <a:ea typeface="Consolas"/>
                <a:cs typeface="Consolas"/>
                <a:sym typeface="Consolas"/>
              </a:rPr>
              <a:t>(p) </a:t>
            </a:r>
            <a:r>
              <a:rPr lang="it" sz="1400">
                <a:solidFill>
                  <a:srgbClr val="000000"/>
                </a:solidFill>
                <a:latin typeface="Consolas"/>
                <a:ea typeface="Consolas"/>
                <a:cs typeface="Consolas"/>
                <a:sym typeface="Consolas"/>
              </a:rPr>
              <a:t>{</a:t>
            </a:r>
            <a:endParaRPr sz="1400">
              <a:solidFill>
                <a:srgbClr val="000000"/>
              </a:solidFill>
              <a:latin typeface="Consolas"/>
              <a:ea typeface="Consolas"/>
              <a:cs typeface="Consolas"/>
              <a:sym typeface="Consolas"/>
            </a:endParaRPr>
          </a:p>
          <a:p>
            <a:pPr marL="0" marR="0" lvl="0" indent="0" algn="l" rtl="0">
              <a:lnSpc>
                <a:spcPct val="100000"/>
              </a:lnSpc>
              <a:spcBef>
                <a:spcPts val="0"/>
              </a:spcBef>
              <a:spcAft>
                <a:spcPts val="0"/>
              </a:spcAft>
              <a:buNone/>
            </a:pPr>
            <a:r>
              <a:rPr lang="it">
                <a:latin typeface="Consolas"/>
                <a:ea typeface="Consolas"/>
                <a:cs typeface="Consolas"/>
                <a:sym typeface="Consolas"/>
              </a:rPr>
              <a:t>  </a:t>
            </a:r>
            <a:r>
              <a:rPr lang="it" b="1">
                <a:solidFill>
                  <a:srgbClr val="0B5394"/>
                </a:solidFill>
                <a:latin typeface="Consolas"/>
                <a:ea typeface="Consolas"/>
                <a:cs typeface="Consolas"/>
                <a:sym typeface="Consolas"/>
              </a:rPr>
              <a:t>override</a:t>
            </a:r>
            <a:r>
              <a:rPr lang="it">
                <a:latin typeface="Consolas"/>
                <a:ea typeface="Consolas"/>
                <a:cs typeface="Consolas"/>
                <a:sym typeface="Consolas"/>
              </a:rPr>
              <a:t> fun method1(): Int = p*2</a:t>
            </a:r>
            <a:endParaRPr>
              <a:latin typeface="Consolas"/>
              <a:ea typeface="Consolas"/>
              <a:cs typeface="Consolas"/>
              <a:sym typeface="Consolas"/>
            </a:endParaRPr>
          </a:p>
          <a:p>
            <a:pPr marL="0" marR="0" lvl="0" indent="0" algn="l" rtl="0">
              <a:lnSpc>
                <a:spcPct val="100000"/>
              </a:lnSpc>
              <a:spcBef>
                <a:spcPts val="0"/>
              </a:spcBef>
              <a:spcAft>
                <a:spcPts val="0"/>
              </a:spcAft>
              <a:buNone/>
            </a:pPr>
            <a:endParaRPr>
              <a:latin typeface="Consolas"/>
              <a:ea typeface="Consolas"/>
              <a:cs typeface="Consolas"/>
              <a:sym typeface="Consolas"/>
            </a:endParaRPr>
          </a:p>
          <a:p>
            <a:pPr marL="0" marR="0" lvl="0" indent="0" algn="l" rtl="0">
              <a:lnSpc>
                <a:spcPct val="100000"/>
              </a:lnSpc>
              <a:spcBef>
                <a:spcPts val="0"/>
              </a:spcBef>
              <a:spcAft>
                <a:spcPts val="0"/>
              </a:spcAft>
              <a:buNone/>
            </a:pPr>
            <a:r>
              <a:rPr lang="it">
                <a:latin typeface="Consolas"/>
                <a:ea typeface="Consolas"/>
                <a:cs typeface="Consolas"/>
                <a:sym typeface="Consolas"/>
              </a:rPr>
              <a:t>  // </a:t>
            </a:r>
            <a:r>
              <a:rPr lang="it" strike="sngStrike">
                <a:latin typeface="Consolas"/>
                <a:ea typeface="Consolas"/>
                <a:cs typeface="Consolas"/>
                <a:sym typeface="Consolas"/>
              </a:rPr>
              <a:t>override fun method2(): String = "Error"</a:t>
            </a:r>
            <a:r>
              <a:rPr lang="it">
                <a:latin typeface="Consolas"/>
                <a:ea typeface="Consolas"/>
                <a:cs typeface="Consolas"/>
                <a:sym typeface="Consolas"/>
              </a:rPr>
              <a:t> // method2 is final</a:t>
            </a:r>
            <a:br>
              <a:rPr lang="it">
                <a:latin typeface="Consolas"/>
                <a:ea typeface="Consolas"/>
                <a:cs typeface="Consolas"/>
                <a:sym typeface="Consolas"/>
              </a:rPr>
            </a:br>
            <a:r>
              <a:rPr lang="it">
                <a:latin typeface="Consolas"/>
                <a:ea typeface="Consolas"/>
                <a:cs typeface="Consolas"/>
                <a:sym typeface="Consolas"/>
              </a:rPr>
              <a:t>                                              // and cannot be overridden</a:t>
            </a:r>
            <a:endParaRPr>
              <a:latin typeface="Consolas"/>
              <a:ea typeface="Consolas"/>
              <a:cs typeface="Consolas"/>
              <a:sym typeface="Consolas"/>
            </a:endParaRPr>
          </a:p>
          <a:p>
            <a:pPr marL="0" marR="0" lvl="0" indent="0" algn="l" rtl="0">
              <a:spcBef>
                <a:spcPts val="0"/>
              </a:spcBef>
              <a:spcAft>
                <a:spcPts val="0"/>
              </a:spcAft>
              <a:buNone/>
            </a:pPr>
            <a:r>
              <a:rPr lang="it">
                <a:latin typeface="Consolas"/>
                <a:ea typeface="Consolas"/>
                <a:cs typeface="Consolas"/>
                <a:sym typeface="Consolas"/>
              </a:rPr>
              <a:t>}</a:t>
            </a:r>
            <a:endParaRPr>
              <a:latin typeface="Consolas"/>
              <a:ea typeface="Consolas"/>
              <a:cs typeface="Consolas"/>
              <a:sym typeface="Consolas"/>
            </a:endParaRPr>
          </a:p>
          <a:p>
            <a:pPr marL="0" marR="0" lvl="0" indent="0" algn="l" rtl="0">
              <a:spcBef>
                <a:spcPts val="0"/>
              </a:spcBef>
              <a:spcAft>
                <a:spcPts val="0"/>
              </a:spcAft>
              <a:buNone/>
            </a:pPr>
            <a:endParaRPr>
              <a:latin typeface="Consolas"/>
              <a:ea typeface="Consolas"/>
              <a:cs typeface="Consolas"/>
              <a:sym typeface="Consolas"/>
            </a:endParaRPr>
          </a:p>
        </p:txBody>
      </p:sp>
      <p:sp>
        <p:nvSpPr>
          <p:cNvPr id="457" name="Google Shape;457;p55"/>
          <p:cNvSpPr txBox="1">
            <a:spLocks noGrp="1"/>
          </p:cNvSpPr>
          <p:nvPr>
            <p:ph type="sldNum" idx="12"/>
          </p:nvPr>
        </p:nvSpPr>
        <p:spPr>
          <a:xfrm>
            <a:off x="8472458" y="476850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it"/>
              <a:t>49</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62"/>
        <p:cNvGrpSpPr/>
        <p:nvPr/>
      </p:nvGrpSpPr>
      <p:grpSpPr>
        <a:xfrm>
          <a:off x="0" y="0"/>
          <a:ext cx="0" cy="0"/>
          <a:chOff x="0" y="0"/>
          <a:chExt cx="0" cy="0"/>
        </a:xfrm>
      </p:grpSpPr>
      <p:sp>
        <p:nvSpPr>
          <p:cNvPr id="463" name="Google Shape;463;p56"/>
          <p:cNvSpPr txBox="1">
            <a:spLocks noGrp="1"/>
          </p:cNvSpPr>
          <p:nvPr>
            <p:ph type="sldNum" idx="12"/>
          </p:nvPr>
        </p:nvSpPr>
        <p:spPr>
          <a:xfrm>
            <a:off x="8472458" y="4768506"/>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it"/>
              <a:t>50</a:t>
            </a:fld>
            <a:endParaRPr/>
          </a:p>
        </p:txBody>
      </p:sp>
      <p:sp>
        <p:nvSpPr>
          <p:cNvPr id="464" name="Google Shape;464;p56"/>
          <p:cNvSpPr txBox="1">
            <a:spLocks noGrp="1"/>
          </p:cNvSpPr>
          <p:nvPr>
            <p:ph type="title"/>
          </p:nvPr>
        </p:nvSpPr>
        <p:spPr>
          <a:xfrm>
            <a:off x="311700" y="445025"/>
            <a:ext cx="8520600" cy="572700"/>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None/>
            </a:pPr>
            <a:r>
              <a:rPr lang="it" sz="2800"/>
              <a:t>Inheritance</a:t>
            </a:r>
            <a:endParaRPr sz="2800"/>
          </a:p>
        </p:txBody>
      </p:sp>
      <p:sp>
        <p:nvSpPr>
          <p:cNvPr id="465" name="Google Shape;465;p56"/>
          <p:cNvSpPr txBox="1">
            <a:spLocks noGrp="1"/>
          </p:cNvSpPr>
          <p:nvPr>
            <p:ph type="body" idx="1"/>
          </p:nvPr>
        </p:nvSpPr>
        <p:spPr>
          <a:xfrm>
            <a:off x="311150" y="1244204"/>
            <a:ext cx="8521800" cy="3393300"/>
          </a:xfrm>
          <a:prstGeom prst="rect">
            <a:avLst/>
          </a:prstGeom>
          <a:noFill/>
          <a:ln>
            <a:noFill/>
          </a:ln>
        </p:spPr>
        <p:txBody>
          <a:bodyPr spcFirstLastPara="1" wrap="square" lIns="91425" tIns="45700" rIns="91425" bIns="45700" anchor="t" anchorCtr="0">
            <a:normAutofit/>
          </a:bodyPr>
          <a:lstStyle/>
          <a:p>
            <a:pPr marL="269875" lvl="0" indent="-231775" algn="l" rtl="0">
              <a:lnSpc>
                <a:spcPct val="100000"/>
              </a:lnSpc>
              <a:spcBef>
                <a:spcPts val="0"/>
              </a:spcBef>
              <a:spcAft>
                <a:spcPts val="0"/>
              </a:spcAft>
              <a:buSzPts val="1800"/>
              <a:buChar char="•"/>
            </a:pPr>
            <a:r>
              <a:rPr lang="it"/>
              <a:t>A class has a single superclass and may implement zero or more interfaces</a:t>
            </a:r>
            <a:endParaRPr/>
          </a:p>
          <a:p>
            <a:pPr marL="541337" lvl="1" indent="-206375" algn="l" rtl="0">
              <a:lnSpc>
                <a:spcPct val="100000"/>
              </a:lnSpc>
              <a:spcBef>
                <a:spcPts val="600"/>
              </a:spcBef>
              <a:spcAft>
                <a:spcPts val="0"/>
              </a:spcAft>
              <a:buSzPts val="1500"/>
              <a:buChar char="○"/>
            </a:pPr>
            <a:r>
              <a:rPr lang="it"/>
              <a:t>Both the superclass and the interfaces are specified after the primary constructor, in a comma separated list</a:t>
            </a:r>
            <a:endParaRPr/>
          </a:p>
        </p:txBody>
      </p:sp>
      <p:sp>
        <p:nvSpPr>
          <p:cNvPr id="466" name="Google Shape;466;p56"/>
          <p:cNvSpPr txBox="1"/>
          <p:nvPr/>
        </p:nvSpPr>
        <p:spPr>
          <a:xfrm>
            <a:off x="647744" y="2227160"/>
            <a:ext cx="7761600" cy="2493600"/>
          </a:xfrm>
          <a:prstGeom prst="rect">
            <a:avLst/>
          </a:prstGeom>
          <a:solidFill>
            <a:srgbClr val="FFF2CC"/>
          </a:solidFill>
          <a:ln w="9525" cap="flat" cmpd="sng">
            <a:solidFill>
              <a:schemeClr val="dk1"/>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spAutoFit/>
          </a:bodyPr>
          <a:lstStyle/>
          <a:p>
            <a:pPr marL="0" marR="0" lvl="0" indent="0" algn="l" rtl="0">
              <a:spcBef>
                <a:spcPts val="0"/>
              </a:spcBef>
              <a:spcAft>
                <a:spcPts val="0"/>
              </a:spcAft>
              <a:buNone/>
            </a:pPr>
            <a:r>
              <a:rPr lang="it" sz="1200">
                <a:solidFill>
                  <a:schemeClr val="dk1"/>
                </a:solidFill>
                <a:latin typeface="Consolas"/>
                <a:ea typeface="Consolas"/>
                <a:cs typeface="Consolas"/>
                <a:sym typeface="Consolas"/>
              </a:rPr>
              <a:t>open class Rectangle(var width: Double, var height: Double) {</a:t>
            </a:r>
            <a:endParaRPr sz="1200">
              <a:latin typeface="Consolas"/>
              <a:ea typeface="Consolas"/>
              <a:cs typeface="Consolas"/>
              <a:sym typeface="Consolas"/>
            </a:endParaRPr>
          </a:p>
          <a:p>
            <a:pPr marL="0" marR="0" lvl="0" indent="0" algn="l" rtl="0">
              <a:spcBef>
                <a:spcPts val="0"/>
              </a:spcBef>
              <a:spcAft>
                <a:spcPts val="0"/>
              </a:spcAft>
              <a:buNone/>
            </a:pPr>
            <a:r>
              <a:rPr lang="it" sz="1200">
                <a:solidFill>
                  <a:schemeClr val="dk1"/>
                </a:solidFill>
                <a:latin typeface="Consolas"/>
                <a:ea typeface="Consolas"/>
                <a:cs typeface="Consolas"/>
                <a:sym typeface="Consolas"/>
              </a:rPr>
              <a:t>    open fun draw() { /* ... */ }</a:t>
            </a:r>
            <a:endParaRPr sz="1200">
              <a:latin typeface="Consolas"/>
              <a:ea typeface="Consolas"/>
              <a:cs typeface="Consolas"/>
              <a:sym typeface="Consolas"/>
            </a:endParaRPr>
          </a:p>
          <a:p>
            <a:pPr marL="0" marR="0" lvl="0" indent="0" algn="l" rtl="0">
              <a:spcBef>
                <a:spcPts val="0"/>
              </a:spcBef>
              <a:spcAft>
                <a:spcPts val="0"/>
              </a:spcAft>
              <a:buNone/>
            </a:pPr>
            <a:r>
              <a:rPr lang="it" sz="1200">
                <a:solidFill>
                  <a:schemeClr val="dk1"/>
                </a:solidFill>
                <a:latin typeface="Consolas"/>
                <a:ea typeface="Consolas"/>
                <a:cs typeface="Consolas"/>
                <a:sym typeface="Consolas"/>
              </a:rPr>
              <a:t>}</a:t>
            </a:r>
            <a:endParaRPr sz="1200">
              <a:latin typeface="Consolas"/>
              <a:ea typeface="Consolas"/>
              <a:cs typeface="Consolas"/>
              <a:sym typeface="Consolas"/>
            </a:endParaRPr>
          </a:p>
          <a:p>
            <a:pPr marL="0" marR="0" lvl="0" indent="0" algn="l" rtl="0">
              <a:spcBef>
                <a:spcPts val="0"/>
              </a:spcBef>
              <a:spcAft>
                <a:spcPts val="0"/>
              </a:spcAft>
              <a:buNone/>
            </a:pPr>
            <a:r>
              <a:rPr lang="it" sz="1200">
                <a:solidFill>
                  <a:schemeClr val="dk1"/>
                </a:solidFill>
                <a:latin typeface="Consolas"/>
                <a:ea typeface="Consolas"/>
                <a:cs typeface="Consolas"/>
                <a:sym typeface="Consolas"/>
              </a:rPr>
              <a:t>interface Polygon {</a:t>
            </a:r>
            <a:endParaRPr sz="1200">
              <a:latin typeface="Consolas"/>
              <a:ea typeface="Consolas"/>
              <a:cs typeface="Consolas"/>
              <a:sym typeface="Consolas"/>
            </a:endParaRPr>
          </a:p>
          <a:p>
            <a:pPr marL="0" marR="0" lvl="0" indent="0" algn="l" rtl="0">
              <a:spcBef>
                <a:spcPts val="0"/>
              </a:spcBef>
              <a:spcAft>
                <a:spcPts val="0"/>
              </a:spcAft>
              <a:buNone/>
            </a:pPr>
            <a:r>
              <a:rPr lang="it" sz="1200">
                <a:solidFill>
                  <a:schemeClr val="dk1"/>
                </a:solidFill>
                <a:latin typeface="Consolas"/>
                <a:ea typeface="Consolas"/>
                <a:cs typeface="Consolas"/>
                <a:sym typeface="Consolas"/>
              </a:rPr>
              <a:t>    fun area(): Double // interface members are 'open' by default</a:t>
            </a:r>
            <a:endParaRPr sz="1200">
              <a:latin typeface="Consolas"/>
              <a:ea typeface="Consolas"/>
              <a:cs typeface="Consolas"/>
              <a:sym typeface="Consolas"/>
            </a:endParaRPr>
          </a:p>
          <a:p>
            <a:pPr marL="0" marR="0" lvl="0" indent="0" algn="l" rtl="0">
              <a:spcBef>
                <a:spcPts val="0"/>
              </a:spcBef>
              <a:spcAft>
                <a:spcPts val="0"/>
              </a:spcAft>
              <a:buNone/>
            </a:pPr>
            <a:r>
              <a:rPr lang="it" sz="1200">
                <a:solidFill>
                  <a:schemeClr val="dk1"/>
                </a:solidFill>
                <a:latin typeface="Consolas"/>
                <a:ea typeface="Consolas"/>
                <a:cs typeface="Consolas"/>
                <a:sym typeface="Consolas"/>
              </a:rPr>
              <a:t>}</a:t>
            </a:r>
            <a:endParaRPr sz="1200">
              <a:latin typeface="Consolas"/>
              <a:ea typeface="Consolas"/>
              <a:cs typeface="Consolas"/>
              <a:sym typeface="Consolas"/>
            </a:endParaRPr>
          </a:p>
          <a:p>
            <a:pPr marL="0" marR="0" lvl="0" indent="0" algn="l" rtl="0">
              <a:spcBef>
                <a:spcPts val="0"/>
              </a:spcBef>
              <a:spcAft>
                <a:spcPts val="0"/>
              </a:spcAft>
              <a:buNone/>
            </a:pPr>
            <a:r>
              <a:rPr lang="it" sz="1200">
                <a:solidFill>
                  <a:schemeClr val="dk1"/>
                </a:solidFill>
                <a:latin typeface="Consolas"/>
                <a:ea typeface="Consolas"/>
                <a:cs typeface="Consolas"/>
                <a:sym typeface="Consolas"/>
              </a:rPr>
              <a:t>class Square(side: Double) </a:t>
            </a:r>
            <a:r>
              <a:rPr lang="it" sz="1200">
                <a:solidFill>
                  <a:schemeClr val="dk1"/>
                </a:solidFill>
                <a:highlight>
                  <a:schemeClr val="accent6"/>
                </a:highlight>
                <a:latin typeface="Consolas"/>
                <a:ea typeface="Consolas"/>
                <a:cs typeface="Consolas"/>
                <a:sym typeface="Consolas"/>
              </a:rPr>
              <a:t>: </a:t>
            </a:r>
            <a:r>
              <a:rPr lang="it" sz="1200" b="1">
                <a:solidFill>
                  <a:srgbClr val="0B5394"/>
                </a:solidFill>
                <a:highlight>
                  <a:schemeClr val="accent6"/>
                </a:highlight>
                <a:latin typeface="Consolas"/>
                <a:ea typeface="Consolas"/>
                <a:cs typeface="Consolas"/>
                <a:sym typeface="Consolas"/>
              </a:rPr>
              <a:t>Rectangle(side, side), Polygon</a:t>
            </a:r>
            <a:r>
              <a:rPr lang="it" sz="1200">
                <a:solidFill>
                  <a:schemeClr val="dk1"/>
                </a:solidFill>
                <a:highlight>
                  <a:schemeClr val="accent6"/>
                </a:highlight>
                <a:latin typeface="Consolas"/>
                <a:ea typeface="Consolas"/>
                <a:cs typeface="Consolas"/>
                <a:sym typeface="Consolas"/>
              </a:rPr>
              <a:t> </a:t>
            </a:r>
            <a:r>
              <a:rPr lang="it" sz="1200">
                <a:solidFill>
                  <a:schemeClr val="dk1"/>
                </a:solidFill>
                <a:latin typeface="Consolas"/>
                <a:ea typeface="Consolas"/>
                <a:cs typeface="Consolas"/>
                <a:sym typeface="Consolas"/>
              </a:rPr>
              <a:t>{</a:t>
            </a:r>
            <a:endParaRPr sz="1200">
              <a:latin typeface="Consolas"/>
              <a:ea typeface="Consolas"/>
              <a:cs typeface="Consolas"/>
              <a:sym typeface="Consolas"/>
            </a:endParaRPr>
          </a:p>
          <a:p>
            <a:pPr marL="0" marR="0" lvl="0" indent="0" algn="l" rtl="0">
              <a:spcBef>
                <a:spcPts val="0"/>
              </a:spcBef>
              <a:spcAft>
                <a:spcPts val="0"/>
              </a:spcAft>
              <a:buNone/>
            </a:pPr>
            <a:r>
              <a:rPr lang="it" sz="1200">
                <a:solidFill>
                  <a:schemeClr val="dk1"/>
                </a:solidFill>
                <a:latin typeface="Consolas"/>
                <a:ea typeface="Consolas"/>
                <a:cs typeface="Consolas"/>
                <a:sym typeface="Consolas"/>
              </a:rPr>
              <a:t>    // Both draw() and area must be overridden:</a:t>
            </a:r>
            <a:endParaRPr sz="1200">
              <a:latin typeface="Consolas"/>
              <a:ea typeface="Consolas"/>
              <a:cs typeface="Consolas"/>
              <a:sym typeface="Consolas"/>
            </a:endParaRPr>
          </a:p>
          <a:p>
            <a:pPr marL="0" marR="0" lvl="0" indent="0" algn="l" rtl="0">
              <a:spcBef>
                <a:spcPts val="0"/>
              </a:spcBef>
              <a:spcAft>
                <a:spcPts val="0"/>
              </a:spcAft>
              <a:buNone/>
            </a:pPr>
            <a:r>
              <a:rPr lang="it" sz="1200">
                <a:solidFill>
                  <a:schemeClr val="dk1"/>
                </a:solidFill>
                <a:latin typeface="Consolas"/>
                <a:ea typeface="Consolas"/>
                <a:cs typeface="Consolas"/>
                <a:sym typeface="Consolas"/>
              </a:rPr>
              <a:t>    override fun draw() {</a:t>
            </a:r>
            <a:endParaRPr sz="1200">
              <a:latin typeface="Consolas"/>
              <a:ea typeface="Consolas"/>
              <a:cs typeface="Consolas"/>
              <a:sym typeface="Consolas"/>
            </a:endParaRPr>
          </a:p>
          <a:p>
            <a:pPr marL="0" marR="0" lvl="0" indent="0" algn="l" rtl="0">
              <a:spcBef>
                <a:spcPts val="0"/>
              </a:spcBef>
              <a:spcAft>
                <a:spcPts val="0"/>
              </a:spcAft>
              <a:buNone/>
            </a:pPr>
            <a:r>
              <a:rPr lang="it" sz="1200">
                <a:solidFill>
                  <a:schemeClr val="dk1"/>
                </a:solidFill>
                <a:latin typeface="Consolas"/>
                <a:ea typeface="Consolas"/>
                <a:cs typeface="Consolas"/>
                <a:sym typeface="Consolas"/>
              </a:rPr>
              <a:t>        super&lt;Rectangle&gt;.draw() // call to Rectangle.draw()</a:t>
            </a:r>
            <a:endParaRPr sz="1200">
              <a:latin typeface="Consolas"/>
              <a:ea typeface="Consolas"/>
              <a:cs typeface="Consolas"/>
              <a:sym typeface="Consolas"/>
            </a:endParaRPr>
          </a:p>
          <a:p>
            <a:pPr marL="0" marR="0" lvl="0" indent="0" algn="l" rtl="0">
              <a:spcBef>
                <a:spcPts val="0"/>
              </a:spcBef>
              <a:spcAft>
                <a:spcPts val="0"/>
              </a:spcAft>
              <a:buNone/>
            </a:pPr>
            <a:r>
              <a:rPr lang="it" sz="1200">
                <a:solidFill>
                  <a:schemeClr val="dk1"/>
                </a:solidFill>
                <a:latin typeface="Consolas"/>
                <a:ea typeface="Consolas"/>
                <a:cs typeface="Consolas"/>
                <a:sym typeface="Consolas"/>
              </a:rPr>
              <a:t>    }</a:t>
            </a:r>
            <a:endParaRPr sz="1200">
              <a:solidFill>
                <a:schemeClr val="dk1"/>
              </a:solidFill>
              <a:latin typeface="Consolas"/>
              <a:ea typeface="Consolas"/>
              <a:cs typeface="Consolas"/>
              <a:sym typeface="Consolas"/>
            </a:endParaRPr>
          </a:p>
          <a:p>
            <a:pPr marL="0" marR="0" lvl="0" indent="0" algn="l" rtl="0">
              <a:spcBef>
                <a:spcPts val="0"/>
              </a:spcBef>
              <a:spcAft>
                <a:spcPts val="0"/>
              </a:spcAft>
              <a:buNone/>
            </a:pPr>
            <a:r>
              <a:rPr lang="it" sz="1200">
                <a:solidFill>
                  <a:schemeClr val="dk1"/>
                </a:solidFill>
                <a:latin typeface="Consolas"/>
                <a:ea typeface="Consolas"/>
                <a:cs typeface="Consolas"/>
                <a:sym typeface="Consolas"/>
              </a:rPr>
              <a:t>    override fun area() = width*height</a:t>
            </a:r>
            <a:endParaRPr sz="1200">
              <a:solidFill>
                <a:schemeClr val="dk1"/>
              </a:solidFill>
              <a:latin typeface="Consolas"/>
              <a:ea typeface="Consolas"/>
              <a:cs typeface="Consolas"/>
              <a:sym typeface="Consolas"/>
            </a:endParaRPr>
          </a:p>
          <a:p>
            <a:pPr marL="0" marR="0" lvl="0" indent="0" algn="l" rtl="0">
              <a:spcBef>
                <a:spcPts val="0"/>
              </a:spcBef>
              <a:spcAft>
                <a:spcPts val="0"/>
              </a:spcAft>
              <a:buNone/>
            </a:pPr>
            <a:r>
              <a:rPr lang="it" sz="1200">
                <a:solidFill>
                  <a:schemeClr val="dk1"/>
                </a:solidFill>
                <a:latin typeface="Consolas"/>
                <a:ea typeface="Consolas"/>
                <a:cs typeface="Consolas"/>
                <a:sym typeface="Consolas"/>
              </a:rPr>
              <a:t>}</a:t>
            </a:r>
            <a:endParaRPr sz="1200">
              <a:latin typeface="Consolas"/>
              <a:ea typeface="Consolas"/>
              <a:cs typeface="Consolas"/>
              <a:sym typeface="Consolas"/>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70"/>
        <p:cNvGrpSpPr/>
        <p:nvPr/>
      </p:nvGrpSpPr>
      <p:grpSpPr>
        <a:xfrm>
          <a:off x="0" y="0"/>
          <a:ext cx="0" cy="0"/>
          <a:chOff x="0" y="0"/>
          <a:chExt cx="0" cy="0"/>
        </a:xfrm>
      </p:grpSpPr>
      <p:sp>
        <p:nvSpPr>
          <p:cNvPr id="471" name="Google Shape;471;p5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it" sz="2800"/>
              <a:t>Data classes</a:t>
            </a:r>
            <a:endParaRPr sz="2800"/>
          </a:p>
        </p:txBody>
      </p:sp>
      <p:sp>
        <p:nvSpPr>
          <p:cNvPr id="472" name="Google Shape;472;p57"/>
          <p:cNvSpPr txBox="1">
            <a:spLocks noGrp="1"/>
          </p:cNvSpPr>
          <p:nvPr>
            <p:ph type="body" idx="1"/>
          </p:nvPr>
        </p:nvSpPr>
        <p:spPr>
          <a:xfrm>
            <a:off x="311150" y="1244204"/>
            <a:ext cx="8521800" cy="3393300"/>
          </a:xfrm>
          <a:prstGeom prst="rect">
            <a:avLst/>
          </a:prstGeom>
        </p:spPr>
        <p:txBody>
          <a:bodyPr spcFirstLastPara="1" wrap="square" lIns="91425" tIns="45700" rIns="91425" bIns="45700" anchor="t" anchorCtr="0">
            <a:normAutofit/>
          </a:bodyPr>
          <a:lstStyle/>
          <a:p>
            <a:pPr marL="457200" lvl="0" indent="-355600" algn="l" rtl="0">
              <a:spcBef>
                <a:spcPts val="600"/>
              </a:spcBef>
              <a:spcAft>
                <a:spcPts val="0"/>
              </a:spcAft>
              <a:buSzPts val="2000"/>
              <a:buChar char="•"/>
            </a:pPr>
            <a:r>
              <a:rPr lang="it"/>
              <a:t>A data class is a class that is designed to store data, and only has state but no behavior</a:t>
            </a:r>
            <a:endParaRPr/>
          </a:p>
          <a:p>
            <a:pPr marL="914400" lvl="1" indent="-330200" algn="l" rtl="0">
              <a:spcBef>
                <a:spcPts val="0"/>
              </a:spcBef>
              <a:spcAft>
                <a:spcPts val="0"/>
              </a:spcAft>
              <a:buSzPts val="1600"/>
              <a:buChar char="○"/>
            </a:pPr>
            <a:r>
              <a:rPr lang="it"/>
              <a:t>The primary constructor should have at least one parameter</a:t>
            </a:r>
            <a:endParaRPr/>
          </a:p>
          <a:p>
            <a:pPr marL="914400" lvl="1" indent="-330200" algn="l" rtl="0">
              <a:spcBef>
                <a:spcPts val="0"/>
              </a:spcBef>
              <a:spcAft>
                <a:spcPts val="0"/>
              </a:spcAft>
              <a:buSzPts val="1600"/>
              <a:buChar char="○"/>
            </a:pPr>
            <a:r>
              <a:rPr lang="it"/>
              <a:t>All primary constructor parameters should be marked either as </a:t>
            </a:r>
            <a:r>
              <a:rPr lang="it" b="1">
                <a:solidFill>
                  <a:srgbClr val="0B5394"/>
                </a:solidFill>
                <a:latin typeface="Consolas"/>
                <a:ea typeface="Consolas"/>
                <a:cs typeface="Consolas"/>
                <a:sym typeface="Consolas"/>
              </a:rPr>
              <a:t>val</a:t>
            </a:r>
            <a:r>
              <a:rPr lang="it"/>
              <a:t> or as </a:t>
            </a:r>
            <a:r>
              <a:rPr lang="it" b="1">
                <a:solidFill>
                  <a:srgbClr val="0B5394"/>
                </a:solidFill>
                <a:latin typeface="Consolas"/>
                <a:ea typeface="Consolas"/>
                <a:cs typeface="Consolas"/>
                <a:sym typeface="Consolas"/>
              </a:rPr>
              <a:t>var</a:t>
            </a:r>
            <a:r>
              <a:rPr lang="it"/>
              <a:t> </a:t>
            </a:r>
            <a:endParaRPr/>
          </a:p>
          <a:p>
            <a:pPr marL="914400" marR="0" lvl="1" indent="-330200" algn="l" rtl="0">
              <a:lnSpc>
                <a:spcPct val="115000"/>
              </a:lnSpc>
              <a:spcBef>
                <a:spcPts val="0"/>
              </a:spcBef>
              <a:spcAft>
                <a:spcPts val="0"/>
              </a:spcAft>
              <a:buSzPts val="1600"/>
              <a:buChar char="○"/>
            </a:pPr>
            <a:r>
              <a:rPr lang="it"/>
              <a:t>Data classes cannot be </a:t>
            </a:r>
            <a:r>
              <a:rPr lang="it" b="1">
                <a:solidFill>
                  <a:srgbClr val="0B5394"/>
                </a:solidFill>
                <a:latin typeface="Consolas"/>
                <a:ea typeface="Consolas"/>
                <a:cs typeface="Consolas"/>
                <a:sym typeface="Consolas"/>
              </a:rPr>
              <a:t>abstract</a:t>
            </a:r>
            <a:r>
              <a:rPr lang="it"/>
              <a:t>, </a:t>
            </a:r>
            <a:r>
              <a:rPr lang="it" b="1">
                <a:solidFill>
                  <a:srgbClr val="0B5394"/>
                </a:solidFill>
                <a:latin typeface="Consolas"/>
                <a:ea typeface="Consolas"/>
                <a:cs typeface="Consolas"/>
                <a:sym typeface="Consolas"/>
              </a:rPr>
              <a:t>open</a:t>
            </a:r>
            <a:r>
              <a:rPr lang="it"/>
              <a:t>, </a:t>
            </a:r>
            <a:r>
              <a:rPr lang="it" b="1">
                <a:solidFill>
                  <a:srgbClr val="0B5394"/>
                </a:solidFill>
                <a:latin typeface="Consolas"/>
                <a:ea typeface="Consolas"/>
                <a:cs typeface="Consolas"/>
                <a:sym typeface="Consolas"/>
              </a:rPr>
              <a:t>sealed</a:t>
            </a:r>
            <a:r>
              <a:rPr lang="it"/>
              <a:t> or </a:t>
            </a:r>
            <a:r>
              <a:rPr lang="it" b="1">
                <a:solidFill>
                  <a:srgbClr val="0B5394"/>
                </a:solidFill>
                <a:latin typeface="Consolas"/>
                <a:ea typeface="Consolas"/>
                <a:cs typeface="Consolas"/>
                <a:sym typeface="Consolas"/>
              </a:rPr>
              <a:t>inner</a:t>
            </a:r>
            <a:endParaRPr/>
          </a:p>
          <a:p>
            <a:pPr marL="457200" lvl="0" indent="-355600" algn="l" rtl="0">
              <a:spcBef>
                <a:spcPts val="0"/>
              </a:spcBef>
              <a:spcAft>
                <a:spcPts val="0"/>
              </a:spcAft>
              <a:buSzPts val="2000"/>
              <a:buChar char="•"/>
            </a:pPr>
            <a:r>
              <a:rPr lang="it"/>
              <a:t> Data classes are useful because they provide a lot of useful functionality "for free", since the compiler automatically implements several methods:</a:t>
            </a:r>
            <a:endParaRPr/>
          </a:p>
          <a:p>
            <a:pPr marL="914400" lvl="1" indent="-330200" algn="l" rtl="0">
              <a:spcBef>
                <a:spcPts val="0"/>
              </a:spcBef>
              <a:spcAft>
                <a:spcPts val="0"/>
              </a:spcAft>
              <a:buSzPts val="1600"/>
              <a:buChar char="○"/>
            </a:pPr>
            <a:r>
              <a:rPr lang="it" b="1">
                <a:solidFill>
                  <a:srgbClr val="0B5394"/>
                </a:solidFill>
                <a:latin typeface="Consolas"/>
                <a:ea typeface="Consolas"/>
                <a:cs typeface="Consolas"/>
                <a:sym typeface="Consolas"/>
              </a:rPr>
              <a:t>equals(...)</a:t>
            </a:r>
            <a:r>
              <a:rPr lang="it"/>
              <a:t>  and </a:t>
            </a:r>
            <a:r>
              <a:rPr lang="it" b="1">
                <a:solidFill>
                  <a:srgbClr val="0B5394"/>
                </a:solidFill>
                <a:latin typeface="Consolas"/>
                <a:ea typeface="Consolas"/>
                <a:cs typeface="Consolas"/>
                <a:sym typeface="Consolas"/>
              </a:rPr>
              <a:t>hashCode()</a:t>
            </a:r>
            <a:endParaRPr/>
          </a:p>
          <a:p>
            <a:pPr marL="914400" lvl="1" indent="-330200" algn="l" rtl="0">
              <a:spcBef>
                <a:spcPts val="0"/>
              </a:spcBef>
              <a:spcAft>
                <a:spcPts val="0"/>
              </a:spcAft>
              <a:buSzPts val="1600"/>
              <a:buChar char="○"/>
            </a:pPr>
            <a:r>
              <a:rPr lang="it" b="1">
                <a:solidFill>
                  <a:srgbClr val="0B5394"/>
                </a:solidFill>
                <a:latin typeface="Consolas"/>
                <a:ea typeface="Consolas"/>
                <a:cs typeface="Consolas"/>
                <a:sym typeface="Consolas"/>
              </a:rPr>
              <a:t>toString()</a:t>
            </a:r>
            <a:r>
              <a:rPr lang="it"/>
              <a:t> </a:t>
            </a:r>
            <a:endParaRPr/>
          </a:p>
          <a:p>
            <a:pPr marL="914400" lvl="1" indent="-330200" algn="l" rtl="0">
              <a:spcBef>
                <a:spcPts val="0"/>
              </a:spcBef>
              <a:spcAft>
                <a:spcPts val="0"/>
              </a:spcAft>
              <a:buSzPts val="1600"/>
              <a:buChar char="○"/>
            </a:pPr>
            <a:r>
              <a:rPr lang="it" b="1">
                <a:solidFill>
                  <a:srgbClr val="0B5394"/>
                </a:solidFill>
                <a:latin typeface="Consolas"/>
                <a:ea typeface="Consolas"/>
                <a:cs typeface="Consolas"/>
                <a:sym typeface="Consolas"/>
              </a:rPr>
              <a:t>component1()</a:t>
            </a:r>
            <a:r>
              <a:rPr lang="it"/>
              <a:t>, …, </a:t>
            </a:r>
            <a:r>
              <a:rPr lang="it" b="1">
                <a:solidFill>
                  <a:srgbClr val="0B5394"/>
                </a:solidFill>
                <a:latin typeface="Consolas"/>
                <a:ea typeface="Consolas"/>
                <a:cs typeface="Consolas"/>
                <a:sym typeface="Consolas"/>
              </a:rPr>
              <a:t>componentN()</a:t>
            </a:r>
            <a:endParaRPr/>
          </a:p>
          <a:p>
            <a:pPr marL="914400" lvl="1" indent="-330200" algn="l" rtl="0">
              <a:spcBef>
                <a:spcPts val="0"/>
              </a:spcBef>
              <a:spcAft>
                <a:spcPts val="0"/>
              </a:spcAft>
              <a:buSzPts val="1600"/>
              <a:buChar char="○"/>
            </a:pPr>
            <a:r>
              <a:rPr lang="it" b="1">
                <a:solidFill>
                  <a:srgbClr val="0B5394"/>
                </a:solidFill>
                <a:latin typeface="Consolas"/>
                <a:ea typeface="Consolas"/>
                <a:cs typeface="Consolas"/>
                <a:sym typeface="Consolas"/>
              </a:rPr>
              <a:t>copy(...)</a:t>
            </a:r>
            <a:endParaRPr/>
          </a:p>
        </p:txBody>
      </p:sp>
      <p:sp>
        <p:nvSpPr>
          <p:cNvPr id="473" name="Google Shape;473;p57"/>
          <p:cNvSpPr txBox="1">
            <a:spLocks noGrp="1"/>
          </p:cNvSpPr>
          <p:nvPr>
            <p:ph type="sldNum" idx="12"/>
          </p:nvPr>
        </p:nvSpPr>
        <p:spPr>
          <a:xfrm>
            <a:off x="8472458" y="476850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it"/>
              <a:t>51</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477"/>
        <p:cNvGrpSpPr/>
        <p:nvPr/>
      </p:nvGrpSpPr>
      <p:grpSpPr>
        <a:xfrm>
          <a:off x="0" y="0"/>
          <a:ext cx="0" cy="0"/>
          <a:chOff x="0" y="0"/>
          <a:chExt cx="0" cy="0"/>
        </a:xfrm>
      </p:grpSpPr>
      <p:sp>
        <p:nvSpPr>
          <p:cNvPr id="478" name="Google Shape;478;p58"/>
          <p:cNvSpPr txBox="1">
            <a:spLocks noGrp="1"/>
          </p:cNvSpPr>
          <p:nvPr>
            <p:ph type="sldNum" idx="12"/>
          </p:nvPr>
        </p:nvSpPr>
        <p:spPr>
          <a:xfrm>
            <a:off x="8472458" y="4768506"/>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it"/>
              <a:t>52</a:t>
            </a:fld>
            <a:endParaRPr/>
          </a:p>
        </p:txBody>
      </p:sp>
      <p:sp>
        <p:nvSpPr>
          <p:cNvPr id="479" name="Google Shape;479;p58"/>
          <p:cNvSpPr txBox="1">
            <a:spLocks noGrp="1"/>
          </p:cNvSpPr>
          <p:nvPr>
            <p:ph type="title"/>
          </p:nvPr>
        </p:nvSpPr>
        <p:spPr>
          <a:xfrm>
            <a:off x="311700" y="445025"/>
            <a:ext cx="8520600" cy="572700"/>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None/>
            </a:pPr>
            <a:r>
              <a:rPr lang="it" sz="2800"/>
              <a:t>Plain classes vs data classes</a:t>
            </a:r>
            <a:endParaRPr sz="2800"/>
          </a:p>
        </p:txBody>
      </p:sp>
      <p:sp>
        <p:nvSpPr>
          <p:cNvPr id="480" name="Google Shape;480;p58"/>
          <p:cNvSpPr txBox="1"/>
          <p:nvPr/>
        </p:nvSpPr>
        <p:spPr>
          <a:xfrm>
            <a:off x="311149" y="1580850"/>
            <a:ext cx="8520600" cy="2462700"/>
          </a:xfrm>
          <a:prstGeom prst="rect">
            <a:avLst/>
          </a:prstGeom>
          <a:solidFill>
            <a:srgbClr val="FFF2CC"/>
          </a:solidFill>
          <a:ln w="12700" cap="flat" cmpd="sng">
            <a:solidFill>
              <a:schemeClr val="dk1"/>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spAutoFit/>
          </a:bodyPr>
          <a:lstStyle/>
          <a:p>
            <a:pPr marL="0" marR="0" lvl="0" indent="0" algn="l" rtl="0">
              <a:spcBef>
                <a:spcPts val="0"/>
              </a:spcBef>
              <a:spcAft>
                <a:spcPts val="0"/>
              </a:spcAft>
              <a:buNone/>
            </a:pPr>
            <a:r>
              <a:rPr lang="it" b="1">
                <a:solidFill>
                  <a:srgbClr val="0B5394"/>
                </a:solidFill>
                <a:highlight>
                  <a:schemeClr val="accent6"/>
                </a:highlight>
                <a:latin typeface="Consolas"/>
                <a:ea typeface="Consolas"/>
                <a:cs typeface="Consolas"/>
                <a:sym typeface="Consolas"/>
              </a:rPr>
              <a:t>class</a:t>
            </a:r>
            <a:r>
              <a:rPr lang="it">
                <a:solidFill>
                  <a:srgbClr val="C00000"/>
                </a:solidFill>
                <a:latin typeface="Consolas"/>
                <a:ea typeface="Consolas"/>
                <a:cs typeface="Consolas"/>
                <a:sym typeface="Consolas"/>
              </a:rPr>
              <a:t> </a:t>
            </a:r>
            <a:r>
              <a:rPr lang="it">
                <a:solidFill>
                  <a:schemeClr val="dk1"/>
                </a:solidFill>
                <a:latin typeface="Consolas"/>
                <a:ea typeface="Consolas"/>
                <a:cs typeface="Consolas"/>
                <a:sym typeface="Consolas"/>
              </a:rPr>
              <a:t>Point( 	var x: Int, var y: Int) </a:t>
            </a:r>
            <a:endParaRPr>
              <a:solidFill>
                <a:schemeClr val="dk1"/>
              </a:solidFill>
              <a:latin typeface="Consolas"/>
              <a:ea typeface="Consolas"/>
              <a:cs typeface="Consolas"/>
              <a:sym typeface="Consolas"/>
            </a:endParaRPr>
          </a:p>
          <a:p>
            <a:pPr marL="0" marR="0" lvl="0" indent="0" algn="l" rtl="0">
              <a:spcBef>
                <a:spcPts val="0"/>
              </a:spcBef>
              <a:spcAft>
                <a:spcPts val="0"/>
              </a:spcAft>
              <a:buNone/>
            </a:pPr>
            <a:r>
              <a:rPr lang="it">
                <a:solidFill>
                  <a:schemeClr val="dk1"/>
                </a:solidFill>
                <a:latin typeface="Consolas"/>
                <a:ea typeface="Consolas"/>
                <a:cs typeface="Consolas"/>
                <a:sym typeface="Consolas"/>
              </a:rPr>
              <a:t>val p1 = Point(1,1)</a:t>
            </a:r>
            <a:endParaRPr>
              <a:solidFill>
                <a:schemeClr val="dk1"/>
              </a:solidFill>
              <a:latin typeface="Consolas"/>
              <a:ea typeface="Consolas"/>
              <a:cs typeface="Consolas"/>
              <a:sym typeface="Consolas"/>
            </a:endParaRPr>
          </a:p>
          <a:p>
            <a:pPr marL="0" marR="0" lvl="0" indent="0" algn="l" rtl="0">
              <a:spcBef>
                <a:spcPts val="0"/>
              </a:spcBef>
              <a:spcAft>
                <a:spcPts val="0"/>
              </a:spcAft>
              <a:buNone/>
            </a:pPr>
            <a:r>
              <a:rPr lang="it">
                <a:solidFill>
                  <a:schemeClr val="dk1"/>
                </a:solidFill>
                <a:latin typeface="Consolas"/>
                <a:ea typeface="Consolas"/>
                <a:cs typeface="Consolas"/>
                <a:sym typeface="Consolas"/>
              </a:rPr>
              <a:t>val p2 = Point(1,1)</a:t>
            </a:r>
            <a:endParaRPr>
              <a:solidFill>
                <a:schemeClr val="dk1"/>
              </a:solidFill>
              <a:latin typeface="Consolas"/>
              <a:ea typeface="Consolas"/>
              <a:cs typeface="Consolas"/>
              <a:sym typeface="Consolas"/>
            </a:endParaRPr>
          </a:p>
          <a:p>
            <a:pPr marL="0" marR="0" lvl="0" indent="0" algn="l" rtl="0">
              <a:spcBef>
                <a:spcPts val="0"/>
              </a:spcBef>
              <a:spcAft>
                <a:spcPts val="0"/>
              </a:spcAft>
              <a:buNone/>
            </a:pPr>
            <a:endParaRPr>
              <a:solidFill>
                <a:schemeClr val="dk1"/>
              </a:solidFill>
              <a:latin typeface="Consolas"/>
              <a:ea typeface="Consolas"/>
              <a:cs typeface="Consolas"/>
              <a:sym typeface="Consolas"/>
            </a:endParaRPr>
          </a:p>
          <a:p>
            <a:pPr marL="0" marR="0" lvl="0" indent="0" algn="l" rtl="0">
              <a:spcBef>
                <a:spcPts val="0"/>
              </a:spcBef>
              <a:spcAft>
                <a:spcPts val="0"/>
              </a:spcAft>
              <a:buNone/>
            </a:pPr>
            <a:r>
              <a:rPr lang="it">
                <a:solidFill>
                  <a:schemeClr val="dk1"/>
                </a:solidFill>
                <a:latin typeface="Consolas"/>
                <a:ea typeface="Consolas"/>
                <a:cs typeface="Consolas"/>
                <a:sym typeface="Consolas"/>
              </a:rPr>
              <a:t>println( "Same point?  ${p1 == p2}" )</a:t>
            </a:r>
            <a:endParaRPr>
              <a:solidFill>
                <a:schemeClr val="dk1"/>
              </a:solidFill>
              <a:latin typeface="Consolas"/>
              <a:ea typeface="Consolas"/>
              <a:cs typeface="Consolas"/>
              <a:sym typeface="Consolas"/>
            </a:endParaRPr>
          </a:p>
          <a:p>
            <a:pPr marL="0" marR="0" lvl="0" indent="0" algn="l" rtl="0">
              <a:spcBef>
                <a:spcPts val="0"/>
              </a:spcBef>
              <a:spcAft>
                <a:spcPts val="0"/>
              </a:spcAft>
              <a:buNone/>
            </a:pPr>
            <a:endParaRPr>
              <a:solidFill>
                <a:srgbClr val="6D6D6D"/>
              </a:solidFill>
              <a:latin typeface="Consolas"/>
              <a:ea typeface="Consolas"/>
              <a:cs typeface="Consolas"/>
              <a:sym typeface="Consolas"/>
            </a:endParaRPr>
          </a:p>
          <a:p>
            <a:pPr marL="0" marR="0" lvl="0" indent="0" algn="l" rtl="0">
              <a:spcBef>
                <a:spcPts val="0"/>
              </a:spcBef>
              <a:spcAft>
                <a:spcPts val="0"/>
              </a:spcAft>
              <a:buNone/>
            </a:pPr>
            <a:r>
              <a:rPr lang="it">
                <a:solidFill>
                  <a:srgbClr val="6D6D6D"/>
                </a:solidFill>
                <a:latin typeface="Consolas"/>
                <a:ea typeface="Consolas"/>
                <a:cs typeface="Consolas"/>
                <a:sym typeface="Consolas"/>
              </a:rPr>
              <a:t>&gt;&gt;&gt;&gt; "Same point? false" </a:t>
            </a:r>
            <a:endParaRPr>
              <a:solidFill>
                <a:srgbClr val="6D6D6D"/>
              </a:solidFill>
              <a:latin typeface="Consolas"/>
              <a:ea typeface="Consolas"/>
              <a:cs typeface="Consolas"/>
              <a:sym typeface="Consolas"/>
            </a:endParaRPr>
          </a:p>
          <a:p>
            <a:pPr marL="0" marR="0" lvl="0" indent="0" algn="l" rtl="0">
              <a:spcBef>
                <a:spcPts val="0"/>
              </a:spcBef>
              <a:spcAft>
                <a:spcPts val="0"/>
              </a:spcAft>
              <a:buNone/>
            </a:pPr>
            <a:endParaRPr>
              <a:solidFill>
                <a:srgbClr val="6D6D6D"/>
              </a:solidFill>
              <a:latin typeface="Consolas"/>
              <a:ea typeface="Consolas"/>
              <a:cs typeface="Consolas"/>
              <a:sym typeface="Consolas"/>
            </a:endParaRPr>
          </a:p>
          <a:p>
            <a:pPr marL="0" marR="0" lvl="0" indent="0" algn="l" rtl="0">
              <a:spcBef>
                <a:spcPts val="0"/>
              </a:spcBef>
              <a:spcAft>
                <a:spcPts val="0"/>
              </a:spcAft>
              <a:buNone/>
            </a:pPr>
            <a:r>
              <a:rPr lang="it">
                <a:solidFill>
                  <a:srgbClr val="6D6D6D"/>
                </a:solidFill>
                <a:latin typeface="Consolas"/>
                <a:ea typeface="Consolas"/>
                <a:cs typeface="Consolas"/>
                <a:sym typeface="Consolas"/>
              </a:rPr>
              <a:t>This definition of the Point class does not override the equals method, but refers to that of Point's base class, Any, which returns true only when an object is compared with itself</a:t>
            </a:r>
            <a:endParaRPr>
              <a:solidFill>
                <a:schemeClr val="dk1"/>
              </a:solidFill>
              <a:latin typeface="Consolas"/>
              <a:ea typeface="Consolas"/>
              <a:cs typeface="Consolas"/>
              <a:sym typeface="Consolas"/>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484"/>
        <p:cNvGrpSpPr/>
        <p:nvPr/>
      </p:nvGrpSpPr>
      <p:grpSpPr>
        <a:xfrm>
          <a:off x="0" y="0"/>
          <a:ext cx="0" cy="0"/>
          <a:chOff x="0" y="0"/>
          <a:chExt cx="0" cy="0"/>
        </a:xfrm>
      </p:grpSpPr>
      <p:sp>
        <p:nvSpPr>
          <p:cNvPr id="485" name="Google Shape;485;p59"/>
          <p:cNvSpPr txBox="1">
            <a:spLocks noGrp="1"/>
          </p:cNvSpPr>
          <p:nvPr>
            <p:ph type="sldNum" idx="12"/>
          </p:nvPr>
        </p:nvSpPr>
        <p:spPr>
          <a:xfrm>
            <a:off x="8472458" y="4768506"/>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it"/>
              <a:t>53</a:t>
            </a:fld>
            <a:endParaRPr/>
          </a:p>
        </p:txBody>
      </p:sp>
      <p:sp>
        <p:nvSpPr>
          <p:cNvPr id="486" name="Google Shape;486;p59"/>
          <p:cNvSpPr txBox="1">
            <a:spLocks noGrp="1"/>
          </p:cNvSpPr>
          <p:nvPr>
            <p:ph type="title"/>
          </p:nvPr>
        </p:nvSpPr>
        <p:spPr>
          <a:xfrm>
            <a:off x="311700" y="445025"/>
            <a:ext cx="8520600" cy="572700"/>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None/>
            </a:pPr>
            <a:r>
              <a:rPr lang="it" sz="2800"/>
              <a:t>Plain classes vs data classes</a:t>
            </a:r>
            <a:endParaRPr sz="2800"/>
          </a:p>
        </p:txBody>
      </p:sp>
      <p:sp>
        <p:nvSpPr>
          <p:cNvPr id="487" name="Google Shape;487;p59"/>
          <p:cNvSpPr txBox="1"/>
          <p:nvPr/>
        </p:nvSpPr>
        <p:spPr>
          <a:xfrm>
            <a:off x="311149" y="933150"/>
            <a:ext cx="8520600" cy="3755700"/>
          </a:xfrm>
          <a:prstGeom prst="rect">
            <a:avLst/>
          </a:prstGeom>
          <a:solidFill>
            <a:srgbClr val="FFF2CC"/>
          </a:solidFill>
          <a:ln w="12700" cap="flat" cmpd="sng">
            <a:solidFill>
              <a:schemeClr val="dk1"/>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spAutoFit/>
          </a:bodyPr>
          <a:lstStyle/>
          <a:p>
            <a:pPr marL="0" lvl="0" indent="0" algn="l" rtl="0">
              <a:spcBef>
                <a:spcPts val="0"/>
              </a:spcBef>
              <a:spcAft>
                <a:spcPts val="0"/>
              </a:spcAft>
              <a:buClr>
                <a:schemeClr val="dk1"/>
              </a:buClr>
              <a:buFont typeface="Arial"/>
              <a:buNone/>
            </a:pPr>
            <a:r>
              <a:rPr lang="it" b="1">
                <a:solidFill>
                  <a:srgbClr val="0B5394"/>
                </a:solidFill>
                <a:highlight>
                  <a:schemeClr val="accent6"/>
                </a:highlight>
                <a:latin typeface="Consolas"/>
                <a:ea typeface="Consolas"/>
                <a:cs typeface="Consolas"/>
                <a:sym typeface="Consolas"/>
              </a:rPr>
              <a:t>data class</a:t>
            </a:r>
            <a:r>
              <a:rPr lang="it">
                <a:solidFill>
                  <a:srgbClr val="C00000"/>
                </a:solidFill>
                <a:latin typeface="Consolas"/>
                <a:ea typeface="Consolas"/>
                <a:cs typeface="Consolas"/>
                <a:sym typeface="Consolas"/>
              </a:rPr>
              <a:t> </a:t>
            </a:r>
            <a:r>
              <a:rPr lang="it">
                <a:solidFill>
                  <a:schemeClr val="dk1"/>
                </a:solidFill>
                <a:latin typeface="Consolas"/>
                <a:ea typeface="Consolas"/>
                <a:cs typeface="Consolas"/>
                <a:sym typeface="Consolas"/>
              </a:rPr>
              <a:t>Point( var x: Int, var y: Int) </a:t>
            </a:r>
            <a:endParaRPr>
              <a:solidFill>
                <a:schemeClr val="dk1"/>
              </a:solidFill>
              <a:latin typeface="Consolas"/>
              <a:ea typeface="Consolas"/>
              <a:cs typeface="Consolas"/>
              <a:sym typeface="Consolas"/>
            </a:endParaRPr>
          </a:p>
          <a:p>
            <a:pPr marL="0" lvl="0" indent="0" algn="l" rtl="0">
              <a:spcBef>
                <a:spcPts val="0"/>
              </a:spcBef>
              <a:spcAft>
                <a:spcPts val="0"/>
              </a:spcAft>
              <a:buClr>
                <a:schemeClr val="dk1"/>
              </a:buClr>
              <a:buFont typeface="Arial"/>
              <a:buNone/>
            </a:pPr>
            <a:endParaRPr>
              <a:solidFill>
                <a:schemeClr val="dk1"/>
              </a:solidFill>
              <a:latin typeface="Consolas"/>
              <a:ea typeface="Consolas"/>
              <a:cs typeface="Consolas"/>
              <a:sym typeface="Consolas"/>
            </a:endParaRPr>
          </a:p>
          <a:p>
            <a:pPr marL="0" lvl="0" indent="0" algn="l" rtl="0">
              <a:spcBef>
                <a:spcPts val="0"/>
              </a:spcBef>
              <a:spcAft>
                <a:spcPts val="0"/>
              </a:spcAft>
              <a:buClr>
                <a:schemeClr val="dk1"/>
              </a:buClr>
              <a:buFont typeface="Arial"/>
              <a:buNone/>
            </a:pPr>
            <a:r>
              <a:rPr lang="it">
                <a:solidFill>
                  <a:schemeClr val="dk1"/>
                </a:solidFill>
                <a:latin typeface="Consolas"/>
                <a:ea typeface="Consolas"/>
                <a:cs typeface="Consolas"/>
                <a:sym typeface="Consolas"/>
              </a:rPr>
              <a:t>val p1 = Point(1)</a:t>
            </a:r>
            <a:endParaRPr>
              <a:solidFill>
                <a:schemeClr val="dk1"/>
              </a:solidFill>
              <a:latin typeface="Consolas"/>
              <a:ea typeface="Consolas"/>
              <a:cs typeface="Consolas"/>
              <a:sym typeface="Consolas"/>
            </a:endParaRPr>
          </a:p>
          <a:p>
            <a:pPr marL="0" lvl="0" indent="0" algn="l" rtl="0">
              <a:spcBef>
                <a:spcPts val="0"/>
              </a:spcBef>
              <a:spcAft>
                <a:spcPts val="0"/>
              </a:spcAft>
              <a:buClr>
                <a:schemeClr val="dk1"/>
              </a:buClr>
              <a:buFont typeface="Arial"/>
              <a:buNone/>
            </a:pPr>
            <a:r>
              <a:rPr lang="it">
                <a:solidFill>
                  <a:schemeClr val="dk1"/>
                </a:solidFill>
                <a:latin typeface="Consolas"/>
                <a:ea typeface="Consolas"/>
                <a:cs typeface="Consolas"/>
                <a:sym typeface="Consolas"/>
              </a:rPr>
              <a:t>val p2 = Point(1)</a:t>
            </a:r>
            <a:endParaRPr>
              <a:solidFill>
                <a:schemeClr val="dk1"/>
              </a:solidFill>
              <a:latin typeface="Consolas"/>
              <a:ea typeface="Consolas"/>
              <a:cs typeface="Consolas"/>
              <a:sym typeface="Consolas"/>
            </a:endParaRPr>
          </a:p>
          <a:p>
            <a:pPr marL="0" lvl="0" indent="0" algn="l" rtl="0">
              <a:spcBef>
                <a:spcPts val="0"/>
              </a:spcBef>
              <a:spcAft>
                <a:spcPts val="0"/>
              </a:spcAft>
              <a:buClr>
                <a:schemeClr val="dk1"/>
              </a:buClr>
              <a:buFont typeface="Arial"/>
              <a:buNone/>
            </a:pPr>
            <a:r>
              <a:rPr lang="it">
                <a:solidFill>
                  <a:schemeClr val="dk1"/>
                </a:solidFill>
                <a:latin typeface="Consolas"/>
                <a:ea typeface="Consolas"/>
                <a:cs typeface="Consolas"/>
                <a:sym typeface="Consolas"/>
              </a:rPr>
              <a:t>println("Same point? ${p1 == p2}")</a:t>
            </a:r>
            <a:endParaRPr>
              <a:solidFill>
                <a:schemeClr val="dk1"/>
              </a:solidFill>
              <a:latin typeface="Consolas"/>
              <a:ea typeface="Consolas"/>
              <a:cs typeface="Consolas"/>
              <a:sym typeface="Consolas"/>
            </a:endParaRPr>
          </a:p>
          <a:p>
            <a:pPr marL="0" marR="0" lvl="0" indent="0" algn="l" rtl="0">
              <a:spcBef>
                <a:spcPts val="0"/>
              </a:spcBef>
              <a:spcAft>
                <a:spcPts val="0"/>
              </a:spcAft>
              <a:buNone/>
            </a:pPr>
            <a:endParaRPr>
              <a:solidFill>
                <a:schemeClr val="dk1"/>
              </a:solidFill>
              <a:latin typeface="Consolas"/>
              <a:ea typeface="Consolas"/>
              <a:cs typeface="Consolas"/>
              <a:sym typeface="Consolas"/>
            </a:endParaRPr>
          </a:p>
          <a:p>
            <a:pPr marL="0" lvl="0" indent="0" algn="l" rtl="0">
              <a:spcBef>
                <a:spcPts val="0"/>
              </a:spcBef>
              <a:spcAft>
                <a:spcPts val="0"/>
              </a:spcAft>
              <a:buNone/>
            </a:pPr>
            <a:r>
              <a:rPr lang="it">
                <a:solidFill>
                  <a:srgbClr val="6D6D6D"/>
                </a:solidFill>
                <a:latin typeface="Consolas"/>
                <a:ea typeface="Consolas"/>
                <a:cs typeface="Consolas"/>
                <a:sym typeface="Consolas"/>
              </a:rPr>
              <a:t>&gt;&gt;&gt;&gt; "Same point? true"</a:t>
            </a:r>
            <a:endParaRPr>
              <a:solidFill>
                <a:srgbClr val="6D6D6D"/>
              </a:solidFill>
              <a:latin typeface="Consolas"/>
              <a:ea typeface="Consolas"/>
              <a:cs typeface="Consolas"/>
              <a:sym typeface="Consolas"/>
            </a:endParaRPr>
          </a:p>
          <a:p>
            <a:pPr marL="0" lvl="0" indent="0" algn="l" rtl="0">
              <a:spcBef>
                <a:spcPts val="0"/>
              </a:spcBef>
              <a:spcAft>
                <a:spcPts val="0"/>
              </a:spcAft>
              <a:buNone/>
            </a:pPr>
            <a:endParaRPr>
              <a:solidFill>
                <a:srgbClr val="6D6D6D"/>
              </a:solidFill>
              <a:latin typeface="Consolas"/>
              <a:ea typeface="Consolas"/>
              <a:cs typeface="Consolas"/>
              <a:sym typeface="Consolas"/>
            </a:endParaRPr>
          </a:p>
          <a:p>
            <a:pPr marL="0" lvl="0" indent="0" algn="l" rtl="0">
              <a:spcBef>
                <a:spcPts val="0"/>
              </a:spcBef>
              <a:spcAft>
                <a:spcPts val="0"/>
              </a:spcAft>
              <a:buNone/>
            </a:pPr>
            <a:r>
              <a:rPr lang="it">
                <a:solidFill>
                  <a:srgbClr val="6D6D6D"/>
                </a:solidFill>
                <a:latin typeface="Consolas"/>
                <a:ea typeface="Consolas"/>
                <a:cs typeface="Consolas"/>
                <a:sym typeface="Consolas"/>
              </a:rPr>
              <a:t>The new definition of Point as a data class automatically includes overrides for methods, as equals, whose implementation depend on the properties of the class.For example, the data class version of Point contains an equals method that is equivalent to this:</a:t>
            </a:r>
            <a:endParaRPr>
              <a:solidFill>
                <a:srgbClr val="6D6D6D"/>
              </a:solidFill>
              <a:latin typeface="Consolas"/>
              <a:ea typeface="Consolas"/>
              <a:cs typeface="Consolas"/>
              <a:sym typeface="Consolas"/>
            </a:endParaRPr>
          </a:p>
          <a:p>
            <a:pPr marL="0" lvl="0" indent="0" algn="l" rtl="0">
              <a:spcBef>
                <a:spcPts val="0"/>
              </a:spcBef>
              <a:spcAft>
                <a:spcPts val="0"/>
              </a:spcAft>
              <a:buClr>
                <a:schemeClr val="dk1"/>
              </a:buClr>
              <a:buSzPts val="1100"/>
              <a:buFont typeface="Arial"/>
              <a:buNone/>
            </a:pPr>
            <a:r>
              <a:rPr lang="it">
                <a:solidFill>
                  <a:schemeClr val="dk1"/>
                </a:solidFill>
                <a:latin typeface="Consolas"/>
                <a:ea typeface="Consolas"/>
                <a:cs typeface="Consolas"/>
                <a:sym typeface="Consolas"/>
              </a:rPr>
              <a:t>override fun equals(o: Any?): Boolean { </a:t>
            </a:r>
            <a:endParaRPr>
              <a:solidFill>
                <a:schemeClr val="dk1"/>
              </a:solidFill>
              <a:latin typeface="Consolas"/>
              <a:ea typeface="Consolas"/>
              <a:cs typeface="Consolas"/>
              <a:sym typeface="Consolas"/>
            </a:endParaRPr>
          </a:p>
          <a:p>
            <a:pPr marL="0" lvl="0" indent="0" algn="l" rtl="0">
              <a:spcBef>
                <a:spcPts val="0"/>
              </a:spcBef>
              <a:spcAft>
                <a:spcPts val="0"/>
              </a:spcAft>
              <a:buClr>
                <a:schemeClr val="dk1"/>
              </a:buClr>
              <a:buSzPts val="1100"/>
              <a:buFont typeface="Arial"/>
              <a:buNone/>
            </a:pPr>
            <a:r>
              <a:rPr lang="it">
                <a:solidFill>
                  <a:srgbClr val="6D6D6D"/>
                </a:solidFill>
                <a:latin typeface="Consolas"/>
                <a:ea typeface="Consolas"/>
                <a:cs typeface="Consolas"/>
                <a:sym typeface="Consolas"/>
              </a:rPr>
              <a:t>  // If it's not a Point, return false. Note that null is not a Point </a:t>
            </a:r>
            <a:endParaRPr>
              <a:solidFill>
                <a:srgbClr val="6D6D6D"/>
              </a:solidFill>
              <a:latin typeface="Consolas"/>
              <a:ea typeface="Consolas"/>
              <a:cs typeface="Consolas"/>
              <a:sym typeface="Consolas"/>
            </a:endParaRPr>
          </a:p>
          <a:p>
            <a:pPr marL="0" lvl="0" indent="0" algn="l" rtl="0">
              <a:spcBef>
                <a:spcPts val="0"/>
              </a:spcBef>
              <a:spcAft>
                <a:spcPts val="0"/>
              </a:spcAft>
              <a:buClr>
                <a:schemeClr val="dk1"/>
              </a:buClr>
              <a:buSzPts val="1100"/>
              <a:buFont typeface="Arial"/>
              <a:buNone/>
            </a:pPr>
            <a:r>
              <a:rPr lang="it">
                <a:solidFill>
                  <a:schemeClr val="dk1"/>
                </a:solidFill>
                <a:latin typeface="Consolas"/>
                <a:ea typeface="Consolas"/>
                <a:cs typeface="Consolas"/>
                <a:sym typeface="Consolas"/>
              </a:rPr>
              <a:t>  if (o !is Point) return false </a:t>
            </a:r>
            <a:endParaRPr>
              <a:solidFill>
                <a:schemeClr val="dk1"/>
              </a:solidFill>
              <a:latin typeface="Consolas"/>
              <a:ea typeface="Consolas"/>
              <a:cs typeface="Consolas"/>
              <a:sym typeface="Consolas"/>
            </a:endParaRPr>
          </a:p>
          <a:p>
            <a:pPr marL="0" lvl="0" indent="0" algn="l" rtl="0">
              <a:spcBef>
                <a:spcPts val="0"/>
              </a:spcBef>
              <a:spcAft>
                <a:spcPts val="0"/>
              </a:spcAft>
              <a:buClr>
                <a:schemeClr val="dk1"/>
              </a:buClr>
              <a:buSzPts val="1100"/>
              <a:buFont typeface="Arial"/>
              <a:buNone/>
            </a:pPr>
            <a:r>
              <a:rPr lang="it">
                <a:solidFill>
                  <a:schemeClr val="dk1"/>
                </a:solidFill>
                <a:latin typeface="Consolas"/>
                <a:ea typeface="Consolas"/>
                <a:cs typeface="Consolas"/>
                <a:sym typeface="Consolas"/>
              </a:rPr>
              <a:t>  return x == o.x &amp;&amp; y == o.y </a:t>
            </a:r>
            <a:endParaRPr>
              <a:solidFill>
                <a:schemeClr val="dk1"/>
              </a:solidFill>
              <a:latin typeface="Consolas"/>
              <a:ea typeface="Consolas"/>
              <a:cs typeface="Consolas"/>
              <a:sym typeface="Consolas"/>
            </a:endParaRPr>
          </a:p>
          <a:p>
            <a:pPr marL="0" lvl="0" indent="0" algn="l" rtl="0">
              <a:spcBef>
                <a:spcPts val="0"/>
              </a:spcBef>
              <a:spcAft>
                <a:spcPts val="0"/>
              </a:spcAft>
              <a:buSzPts val="1100"/>
              <a:buNone/>
            </a:pPr>
            <a:r>
              <a:rPr lang="it">
                <a:solidFill>
                  <a:schemeClr val="dk1"/>
                </a:solidFill>
                <a:latin typeface="Consolas"/>
                <a:ea typeface="Consolas"/>
                <a:cs typeface="Consolas"/>
                <a:sym typeface="Consolas"/>
              </a:rPr>
              <a:t>}</a:t>
            </a:r>
            <a:endParaRPr>
              <a:solidFill>
                <a:srgbClr val="6D6D6D"/>
              </a:solidFill>
              <a:latin typeface="Consolas"/>
              <a:ea typeface="Consolas"/>
              <a:cs typeface="Consolas"/>
              <a:sym typeface="Consolas"/>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491"/>
        <p:cNvGrpSpPr/>
        <p:nvPr/>
      </p:nvGrpSpPr>
      <p:grpSpPr>
        <a:xfrm>
          <a:off x="0" y="0"/>
          <a:ext cx="0" cy="0"/>
          <a:chOff x="0" y="0"/>
          <a:chExt cx="0" cy="0"/>
        </a:xfrm>
      </p:grpSpPr>
      <p:sp>
        <p:nvSpPr>
          <p:cNvPr id="492" name="Google Shape;492;p6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it" sz="2820"/>
              <a:t>Enum classes</a:t>
            </a:r>
            <a:endParaRPr sz="2820"/>
          </a:p>
        </p:txBody>
      </p:sp>
      <p:sp>
        <p:nvSpPr>
          <p:cNvPr id="493" name="Google Shape;493;p60"/>
          <p:cNvSpPr txBox="1">
            <a:spLocks noGrp="1"/>
          </p:cNvSpPr>
          <p:nvPr>
            <p:ph type="body" idx="1"/>
          </p:nvPr>
        </p:nvSpPr>
        <p:spPr>
          <a:xfrm>
            <a:off x="311150" y="1244204"/>
            <a:ext cx="8521800" cy="3393300"/>
          </a:xfrm>
          <a:prstGeom prst="rect">
            <a:avLst/>
          </a:prstGeom>
        </p:spPr>
        <p:txBody>
          <a:bodyPr spcFirstLastPara="1" wrap="square" lIns="91425" tIns="45700" rIns="91425" bIns="45700" anchor="t" anchorCtr="0">
            <a:normAutofit/>
          </a:bodyPr>
          <a:lstStyle/>
          <a:p>
            <a:pPr marL="457200" lvl="0" indent="-355600" algn="l" rtl="0">
              <a:spcBef>
                <a:spcPts val="600"/>
              </a:spcBef>
              <a:spcAft>
                <a:spcPts val="0"/>
              </a:spcAft>
              <a:buSzPts val="2000"/>
              <a:buChar char="•"/>
            </a:pPr>
            <a:r>
              <a:rPr lang="it"/>
              <a:t>Enums are a way of creating a class that has a specified, static set of instances</a:t>
            </a:r>
            <a:endParaRPr/>
          </a:p>
          <a:p>
            <a:pPr marL="914400" lvl="1" indent="-330200" algn="l" rtl="0">
              <a:spcBef>
                <a:spcPts val="0"/>
              </a:spcBef>
              <a:spcAft>
                <a:spcPts val="0"/>
              </a:spcAft>
              <a:buSzPts val="1600"/>
              <a:buChar char="○"/>
            </a:pPr>
            <a:r>
              <a:rPr lang="it"/>
              <a:t>The enums classes cannot subclassed, but can implement interfaces and can have constructors, properties, and methods</a:t>
            </a:r>
            <a:endParaRPr/>
          </a:p>
        </p:txBody>
      </p:sp>
      <p:sp>
        <p:nvSpPr>
          <p:cNvPr id="494" name="Google Shape;494;p60"/>
          <p:cNvSpPr txBox="1"/>
          <p:nvPr/>
        </p:nvSpPr>
        <p:spPr>
          <a:xfrm>
            <a:off x="1583100" y="2769781"/>
            <a:ext cx="5977800" cy="1816200"/>
          </a:xfrm>
          <a:prstGeom prst="rect">
            <a:avLst/>
          </a:prstGeom>
          <a:solidFill>
            <a:srgbClr val="FFF2CC"/>
          </a:solidFill>
          <a:ln w="12700" cap="flat" cmpd="sng">
            <a:solidFill>
              <a:schemeClr val="dk1"/>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spAutoFit/>
          </a:bodyPr>
          <a:lstStyle/>
          <a:p>
            <a:pPr marL="0" marR="0" lvl="0" indent="0" algn="l" rtl="0">
              <a:spcBef>
                <a:spcPts val="0"/>
              </a:spcBef>
              <a:spcAft>
                <a:spcPts val="0"/>
              </a:spcAft>
              <a:buNone/>
            </a:pPr>
            <a:r>
              <a:rPr lang="it">
                <a:solidFill>
                  <a:schemeClr val="dk1"/>
                </a:solidFill>
                <a:latin typeface="Consolas"/>
                <a:ea typeface="Consolas"/>
                <a:cs typeface="Consolas"/>
                <a:sym typeface="Consolas"/>
              </a:rPr>
              <a:t>enum class GymActivity { </a:t>
            </a:r>
            <a:endParaRPr>
              <a:solidFill>
                <a:schemeClr val="dk1"/>
              </a:solidFill>
              <a:latin typeface="Consolas"/>
              <a:ea typeface="Consolas"/>
              <a:cs typeface="Consolas"/>
              <a:sym typeface="Consolas"/>
            </a:endParaRPr>
          </a:p>
          <a:p>
            <a:pPr marL="0" marR="0" lvl="0" indent="457200" algn="l" rtl="0">
              <a:spcBef>
                <a:spcPts val="0"/>
              </a:spcBef>
              <a:spcAft>
                <a:spcPts val="0"/>
              </a:spcAft>
              <a:buNone/>
            </a:pPr>
            <a:r>
              <a:rPr lang="it">
                <a:solidFill>
                  <a:schemeClr val="dk1"/>
                </a:solidFill>
                <a:latin typeface="Consolas"/>
                <a:ea typeface="Consolas"/>
                <a:cs typeface="Consolas"/>
                <a:sym typeface="Consolas"/>
              </a:rPr>
              <a:t>BARRE, PILATES, YOGA, FLOOR, SPIN, WEIGHTS </a:t>
            </a:r>
            <a:endParaRPr>
              <a:solidFill>
                <a:schemeClr val="dk1"/>
              </a:solidFill>
              <a:latin typeface="Consolas"/>
              <a:ea typeface="Consolas"/>
              <a:cs typeface="Consolas"/>
              <a:sym typeface="Consolas"/>
            </a:endParaRPr>
          </a:p>
          <a:p>
            <a:pPr marL="0" marR="0" lvl="0" indent="0" algn="l" rtl="0">
              <a:spcBef>
                <a:spcPts val="0"/>
              </a:spcBef>
              <a:spcAft>
                <a:spcPts val="0"/>
              </a:spcAft>
              <a:buNone/>
            </a:pPr>
            <a:r>
              <a:rPr lang="it">
                <a:solidFill>
                  <a:schemeClr val="dk1"/>
                </a:solidFill>
                <a:latin typeface="Consolas"/>
                <a:ea typeface="Consolas"/>
                <a:cs typeface="Consolas"/>
                <a:sym typeface="Consolas"/>
              </a:rPr>
              <a:t>} </a:t>
            </a:r>
            <a:endParaRPr>
              <a:solidFill>
                <a:schemeClr val="dk1"/>
              </a:solidFill>
              <a:latin typeface="Consolas"/>
              <a:ea typeface="Consolas"/>
              <a:cs typeface="Consolas"/>
              <a:sym typeface="Consolas"/>
            </a:endParaRPr>
          </a:p>
          <a:p>
            <a:pPr marL="0" marR="0" lvl="0" indent="0" algn="l" rtl="0">
              <a:spcBef>
                <a:spcPts val="0"/>
              </a:spcBef>
              <a:spcAft>
                <a:spcPts val="0"/>
              </a:spcAft>
              <a:buNone/>
            </a:pPr>
            <a:endParaRPr>
              <a:solidFill>
                <a:schemeClr val="dk1"/>
              </a:solidFill>
              <a:latin typeface="Consolas"/>
              <a:ea typeface="Consolas"/>
              <a:cs typeface="Consolas"/>
              <a:sym typeface="Consolas"/>
            </a:endParaRPr>
          </a:p>
          <a:p>
            <a:pPr marL="0" marR="0" lvl="0" indent="0" algn="l" rtl="0">
              <a:spcBef>
                <a:spcPts val="0"/>
              </a:spcBef>
              <a:spcAft>
                <a:spcPts val="0"/>
              </a:spcAft>
              <a:buNone/>
            </a:pPr>
            <a:r>
              <a:rPr lang="it">
                <a:solidFill>
                  <a:schemeClr val="dk1"/>
                </a:solidFill>
                <a:latin typeface="Consolas"/>
                <a:ea typeface="Consolas"/>
                <a:cs typeface="Consolas"/>
                <a:sym typeface="Consolas"/>
              </a:rPr>
              <a:t>enum class HttpStatusCode(val value: Int) { </a:t>
            </a:r>
            <a:endParaRPr>
              <a:solidFill>
                <a:schemeClr val="dk1"/>
              </a:solidFill>
              <a:latin typeface="Consolas"/>
              <a:ea typeface="Consolas"/>
              <a:cs typeface="Consolas"/>
              <a:sym typeface="Consolas"/>
            </a:endParaRPr>
          </a:p>
          <a:p>
            <a:pPr marL="0" marR="0" lvl="0" indent="457200" algn="l" rtl="0">
              <a:spcBef>
                <a:spcPts val="0"/>
              </a:spcBef>
              <a:spcAft>
                <a:spcPts val="0"/>
              </a:spcAft>
              <a:buNone/>
            </a:pPr>
            <a:r>
              <a:rPr lang="it">
                <a:solidFill>
                  <a:schemeClr val="dk1"/>
                </a:solidFill>
                <a:latin typeface="Consolas"/>
                <a:ea typeface="Consolas"/>
                <a:cs typeface="Consolas"/>
                <a:sym typeface="Consolas"/>
              </a:rPr>
              <a:t>OK(200), CREATED(201), NOT_FOUND(404), </a:t>
            </a:r>
            <a:endParaRPr>
              <a:solidFill>
                <a:schemeClr val="dk1"/>
              </a:solidFill>
              <a:latin typeface="Consolas"/>
              <a:ea typeface="Consolas"/>
              <a:cs typeface="Consolas"/>
              <a:sym typeface="Consolas"/>
            </a:endParaRPr>
          </a:p>
          <a:p>
            <a:pPr marL="0" marR="0" lvl="0" indent="457200" algn="l" rtl="0">
              <a:spcBef>
                <a:spcPts val="0"/>
              </a:spcBef>
              <a:spcAft>
                <a:spcPts val="0"/>
              </a:spcAft>
              <a:buNone/>
            </a:pPr>
            <a:r>
              <a:rPr lang="it">
                <a:solidFill>
                  <a:schemeClr val="dk1"/>
                </a:solidFill>
                <a:latin typeface="Consolas"/>
                <a:ea typeface="Consolas"/>
                <a:cs typeface="Consolas"/>
                <a:sym typeface="Consolas"/>
              </a:rPr>
              <a:t>ACCESS_DENIED(403), INTERNAL_SERVER_ERROR(500) </a:t>
            </a:r>
            <a:endParaRPr>
              <a:solidFill>
                <a:schemeClr val="dk1"/>
              </a:solidFill>
              <a:latin typeface="Consolas"/>
              <a:ea typeface="Consolas"/>
              <a:cs typeface="Consolas"/>
              <a:sym typeface="Consolas"/>
            </a:endParaRPr>
          </a:p>
          <a:p>
            <a:pPr marL="0" marR="0" lvl="0" indent="0" algn="l" rtl="0">
              <a:spcBef>
                <a:spcPts val="0"/>
              </a:spcBef>
              <a:spcAft>
                <a:spcPts val="0"/>
              </a:spcAft>
              <a:buNone/>
            </a:pPr>
            <a:r>
              <a:rPr lang="it">
                <a:solidFill>
                  <a:schemeClr val="dk1"/>
                </a:solidFill>
                <a:latin typeface="Consolas"/>
                <a:ea typeface="Consolas"/>
                <a:cs typeface="Consolas"/>
                <a:sym typeface="Consolas"/>
              </a:rPr>
              <a:t>}</a:t>
            </a:r>
            <a:endParaRPr>
              <a:solidFill>
                <a:schemeClr val="dk1"/>
              </a:solidFill>
              <a:latin typeface="Consolas"/>
              <a:ea typeface="Consolas"/>
              <a:cs typeface="Consolas"/>
              <a:sym typeface="Consolas"/>
            </a:endParaRPr>
          </a:p>
        </p:txBody>
      </p:sp>
      <p:sp>
        <p:nvSpPr>
          <p:cNvPr id="495" name="Google Shape;495;p60"/>
          <p:cNvSpPr txBox="1">
            <a:spLocks noGrp="1"/>
          </p:cNvSpPr>
          <p:nvPr>
            <p:ph type="sldNum" idx="12"/>
          </p:nvPr>
        </p:nvSpPr>
        <p:spPr>
          <a:xfrm>
            <a:off x="8472458" y="476850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it"/>
              <a:t>54</a:t>
            </a:fld>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499"/>
        <p:cNvGrpSpPr/>
        <p:nvPr/>
      </p:nvGrpSpPr>
      <p:grpSpPr>
        <a:xfrm>
          <a:off x="0" y="0"/>
          <a:ext cx="0" cy="0"/>
          <a:chOff x="0" y="0"/>
          <a:chExt cx="0" cy="0"/>
        </a:xfrm>
      </p:grpSpPr>
      <p:sp>
        <p:nvSpPr>
          <p:cNvPr id="500" name="Google Shape;500;p6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it" sz="2820"/>
              <a:t>Enum classes</a:t>
            </a:r>
            <a:endParaRPr sz="2820"/>
          </a:p>
        </p:txBody>
      </p:sp>
      <p:sp>
        <p:nvSpPr>
          <p:cNvPr id="501" name="Google Shape;501;p61"/>
          <p:cNvSpPr txBox="1">
            <a:spLocks noGrp="1"/>
          </p:cNvSpPr>
          <p:nvPr>
            <p:ph type="body" idx="1"/>
          </p:nvPr>
        </p:nvSpPr>
        <p:spPr>
          <a:xfrm>
            <a:off x="311150" y="1244204"/>
            <a:ext cx="8521800" cy="3393300"/>
          </a:xfrm>
          <a:prstGeom prst="rect">
            <a:avLst/>
          </a:prstGeom>
        </p:spPr>
        <p:txBody>
          <a:bodyPr spcFirstLastPara="1" wrap="square" lIns="91425" tIns="45700" rIns="91425" bIns="45700" anchor="t" anchorCtr="0">
            <a:normAutofit lnSpcReduction="20000"/>
          </a:bodyPr>
          <a:lstStyle/>
          <a:p>
            <a:pPr marL="457200" lvl="0" indent="-355600" algn="l" rtl="0">
              <a:spcBef>
                <a:spcPts val="600"/>
              </a:spcBef>
              <a:spcAft>
                <a:spcPts val="0"/>
              </a:spcAft>
              <a:buSzPts val="2000"/>
              <a:buChar char="•"/>
            </a:pPr>
            <a:r>
              <a:rPr lang="it"/>
              <a:t>Storing properties in enum classes provides a convenient and type-safe way to define a fixed set of constants associated to each possible value</a:t>
            </a:r>
            <a:endParaRPr/>
          </a:p>
          <a:p>
            <a:pPr marL="914400" lvl="1" indent="-330200" algn="l" rtl="0">
              <a:spcBef>
                <a:spcPts val="0"/>
              </a:spcBef>
              <a:spcAft>
                <a:spcPts val="0"/>
              </a:spcAft>
              <a:buSzPts val="1600"/>
              <a:buChar char="○"/>
            </a:pPr>
            <a:r>
              <a:rPr lang="it"/>
              <a:t>By using an enum class, you can ensure that a variable or function parameter can only take on one of a fixed set of values, and any other value is considered invalid, thus making the code more robust</a:t>
            </a:r>
            <a:endParaRPr/>
          </a:p>
          <a:p>
            <a:pPr marL="914400" lvl="1" indent="-330200" algn="l" rtl="0">
              <a:spcBef>
                <a:spcPts val="0"/>
              </a:spcBef>
              <a:spcAft>
                <a:spcPts val="0"/>
              </a:spcAft>
              <a:buSzPts val="1600"/>
              <a:buChar char="○"/>
            </a:pPr>
            <a:r>
              <a:rPr lang="it"/>
              <a:t>By having one or more properties associated with each value, you can guarantee that when that specific value is manipulated, you will access the right constants related to it</a:t>
            </a:r>
            <a:endParaRPr/>
          </a:p>
          <a:p>
            <a:pPr marL="457200" lvl="0" indent="-355600" algn="l" rtl="0">
              <a:spcBef>
                <a:spcPts val="0"/>
              </a:spcBef>
              <a:spcAft>
                <a:spcPts val="0"/>
              </a:spcAft>
              <a:buSzPts val="2000"/>
              <a:buChar char="•"/>
            </a:pPr>
            <a:r>
              <a:rPr lang="it"/>
              <a:t>Enum classes are conveniently tested using the </a:t>
            </a:r>
            <a:r>
              <a:rPr lang="it" b="1">
                <a:solidFill>
                  <a:srgbClr val="0B5394"/>
                </a:solidFill>
                <a:latin typeface="Consolas"/>
                <a:ea typeface="Consolas"/>
                <a:cs typeface="Consolas"/>
                <a:sym typeface="Consolas"/>
              </a:rPr>
              <a:t>when</a:t>
            </a:r>
            <a:r>
              <a:rPr lang="it"/>
              <a:t> expression</a:t>
            </a:r>
            <a:endParaRPr/>
          </a:p>
          <a:p>
            <a:pPr marL="914400" lvl="1" indent="-330200" algn="l" rtl="0">
              <a:spcBef>
                <a:spcPts val="0"/>
              </a:spcBef>
              <a:spcAft>
                <a:spcPts val="0"/>
              </a:spcAft>
              <a:buSzPts val="1600"/>
              <a:buChar char="○"/>
            </a:pPr>
            <a:r>
              <a:rPr lang="it"/>
              <a:t>Since an enum has a known set of instances, Kotlin is able to determine that all possible values are covered as explicitly listed instances and allows the omission of the </a:t>
            </a:r>
            <a:r>
              <a:rPr lang="it" b="1">
                <a:solidFill>
                  <a:srgbClr val="0B5394"/>
                </a:solidFill>
                <a:latin typeface="Consolas"/>
                <a:ea typeface="Consolas"/>
                <a:cs typeface="Consolas"/>
                <a:sym typeface="Consolas"/>
              </a:rPr>
              <a:t>else</a:t>
            </a:r>
            <a:r>
              <a:rPr lang="it"/>
              <a:t> clause</a:t>
            </a:r>
            <a:endParaRPr/>
          </a:p>
          <a:p>
            <a:pPr marL="914400" lvl="1" indent="-330200" algn="l" rtl="0">
              <a:spcBef>
                <a:spcPts val="0"/>
              </a:spcBef>
              <a:spcAft>
                <a:spcPts val="0"/>
              </a:spcAft>
              <a:buSzPts val="1600"/>
              <a:buChar char="○"/>
            </a:pPr>
            <a:r>
              <a:rPr lang="it"/>
              <a:t>If, in the future, a new value is added to the enum set, a compile error will be flagged, to notify that a branch is missing</a:t>
            </a:r>
            <a:endParaRPr/>
          </a:p>
        </p:txBody>
      </p:sp>
      <p:sp>
        <p:nvSpPr>
          <p:cNvPr id="502" name="Google Shape;502;p61"/>
          <p:cNvSpPr txBox="1">
            <a:spLocks noGrp="1"/>
          </p:cNvSpPr>
          <p:nvPr>
            <p:ph type="sldNum" idx="12"/>
          </p:nvPr>
        </p:nvSpPr>
        <p:spPr>
          <a:xfrm>
            <a:off x="8472458" y="476850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it"/>
              <a:t>55</a:t>
            </a:fld>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506"/>
        <p:cNvGrpSpPr/>
        <p:nvPr/>
      </p:nvGrpSpPr>
      <p:grpSpPr>
        <a:xfrm>
          <a:off x="0" y="0"/>
          <a:ext cx="0" cy="0"/>
          <a:chOff x="0" y="0"/>
          <a:chExt cx="0" cy="0"/>
        </a:xfrm>
      </p:grpSpPr>
      <p:sp>
        <p:nvSpPr>
          <p:cNvPr id="507" name="Google Shape;507;p6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it" sz="2820"/>
              <a:t>Enum classes</a:t>
            </a:r>
            <a:endParaRPr sz="2820"/>
          </a:p>
        </p:txBody>
      </p:sp>
      <p:sp>
        <p:nvSpPr>
          <p:cNvPr id="508" name="Google Shape;508;p62"/>
          <p:cNvSpPr txBox="1"/>
          <p:nvPr/>
        </p:nvSpPr>
        <p:spPr>
          <a:xfrm>
            <a:off x="763950" y="1815175"/>
            <a:ext cx="7616100" cy="1794600"/>
          </a:xfrm>
          <a:prstGeom prst="rect">
            <a:avLst/>
          </a:prstGeom>
          <a:solidFill>
            <a:srgbClr val="FFF2CC"/>
          </a:solidFill>
          <a:ln w="12700" cap="flat" cmpd="sng">
            <a:solidFill>
              <a:schemeClr val="dk1"/>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it">
                <a:solidFill>
                  <a:schemeClr val="dk1"/>
                </a:solidFill>
                <a:latin typeface="Consolas"/>
                <a:ea typeface="Consolas"/>
                <a:cs typeface="Consolas"/>
                <a:sym typeface="Consolas"/>
              </a:rPr>
              <a:t>fun getSuccessfulCode(code: HttpStatusCode): Int? = </a:t>
            </a:r>
            <a:r>
              <a:rPr lang="it" b="1">
                <a:solidFill>
                  <a:srgbClr val="0B5394"/>
                </a:solidFill>
                <a:latin typeface="Consolas"/>
                <a:ea typeface="Consolas"/>
                <a:cs typeface="Consolas"/>
                <a:sym typeface="Consolas"/>
              </a:rPr>
              <a:t>when</a:t>
            </a:r>
            <a:r>
              <a:rPr lang="it">
                <a:solidFill>
                  <a:schemeClr val="dk1"/>
                </a:solidFill>
                <a:latin typeface="Consolas"/>
                <a:ea typeface="Consolas"/>
                <a:cs typeface="Consolas"/>
                <a:sym typeface="Consolas"/>
              </a:rPr>
              <a:t> </a:t>
            </a:r>
            <a:r>
              <a:rPr lang="it" b="1">
                <a:solidFill>
                  <a:srgbClr val="0B5394"/>
                </a:solidFill>
                <a:latin typeface="Consolas"/>
                <a:ea typeface="Consolas"/>
                <a:cs typeface="Consolas"/>
                <a:sym typeface="Consolas"/>
              </a:rPr>
              <a:t>(code)</a:t>
            </a:r>
            <a:r>
              <a:rPr lang="it">
                <a:solidFill>
                  <a:schemeClr val="dk1"/>
                </a:solidFill>
                <a:latin typeface="Consolas"/>
                <a:ea typeface="Consolas"/>
                <a:cs typeface="Consolas"/>
                <a:sym typeface="Consolas"/>
              </a:rPr>
              <a:t> {</a:t>
            </a:r>
            <a:endParaRPr>
              <a:solidFill>
                <a:schemeClr val="dk1"/>
              </a:solidFill>
              <a:latin typeface="Consolas"/>
              <a:ea typeface="Consolas"/>
              <a:cs typeface="Consolas"/>
              <a:sym typeface="Consolas"/>
            </a:endParaRPr>
          </a:p>
          <a:p>
            <a:pPr marL="0" marR="0" lvl="0" indent="0" algn="l" rtl="0">
              <a:lnSpc>
                <a:spcPct val="115000"/>
              </a:lnSpc>
              <a:spcBef>
                <a:spcPts val="0"/>
              </a:spcBef>
              <a:spcAft>
                <a:spcPts val="0"/>
              </a:spcAft>
              <a:buNone/>
            </a:pPr>
            <a:r>
              <a:rPr lang="it">
                <a:solidFill>
                  <a:schemeClr val="dk1"/>
                </a:solidFill>
                <a:latin typeface="Consolas"/>
                <a:ea typeface="Consolas"/>
                <a:cs typeface="Consolas"/>
                <a:sym typeface="Consolas"/>
              </a:rPr>
              <a:t>	HttpStatusCode.OK -&gt; code.value</a:t>
            </a:r>
            <a:endParaRPr>
              <a:solidFill>
                <a:schemeClr val="dk1"/>
              </a:solidFill>
              <a:latin typeface="Consolas"/>
              <a:ea typeface="Consolas"/>
              <a:cs typeface="Consolas"/>
              <a:sym typeface="Consolas"/>
            </a:endParaRPr>
          </a:p>
          <a:p>
            <a:pPr marL="0" marR="0" lvl="0" indent="0" algn="l" rtl="0">
              <a:lnSpc>
                <a:spcPct val="115000"/>
              </a:lnSpc>
              <a:spcBef>
                <a:spcPts val="0"/>
              </a:spcBef>
              <a:spcAft>
                <a:spcPts val="0"/>
              </a:spcAft>
              <a:buNone/>
            </a:pPr>
            <a:r>
              <a:rPr lang="it">
                <a:solidFill>
                  <a:schemeClr val="dk1"/>
                </a:solidFill>
                <a:latin typeface="Consolas"/>
                <a:ea typeface="Consolas"/>
                <a:cs typeface="Consolas"/>
                <a:sym typeface="Consolas"/>
              </a:rPr>
              <a:t>	HttpStatusCode.CREATED -&gt; code.value</a:t>
            </a:r>
            <a:endParaRPr>
              <a:solidFill>
                <a:schemeClr val="dk1"/>
              </a:solidFill>
              <a:latin typeface="Consolas"/>
              <a:ea typeface="Consolas"/>
              <a:cs typeface="Consolas"/>
              <a:sym typeface="Consolas"/>
            </a:endParaRPr>
          </a:p>
          <a:p>
            <a:pPr marL="0" marR="0" lvl="0" indent="457200" algn="l" rtl="0">
              <a:lnSpc>
                <a:spcPct val="115000"/>
              </a:lnSpc>
              <a:spcBef>
                <a:spcPts val="0"/>
              </a:spcBef>
              <a:spcAft>
                <a:spcPts val="0"/>
              </a:spcAft>
              <a:buNone/>
            </a:pPr>
            <a:r>
              <a:rPr lang="it">
                <a:solidFill>
                  <a:schemeClr val="dk1"/>
                </a:solidFill>
                <a:latin typeface="Consolas"/>
                <a:ea typeface="Consolas"/>
                <a:cs typeface="Consolas"/>
                <a:sym typeface="Consolas"/>
              </a:rPr>
              <a:t>HttpStatusCode.NOT_FOUND -&gt; null</a:t>
            </a:r>
            <a:endParaRPr>
              <a:solidFill>
                <a:schemeClr val="dk1"/>
              </a:solidFill>
              <a:latin typeface="Consolas"/>
              <a:ea typeface="Consolas"/>
              <a:cs typeface="Consolas"/>
              <a:sym typeface="Consolas"/>
            </a:endParaRPr>
          </a:p>
          <a:p>
            <a:pPr marL="0" marR="0" lvl="0" indent="457200" algn="l" rtl="0">
              <a:lnSpc>
                <a:spcPct val="115000"/>
              </a:lnSpc>
              <a:spcBef>
                <a:spcPts val="0"/>
              </a:spcBef>
              <a:spcAft>
                <a:spcPts val="0"/>
              </a:spcAft>
              <a:buNone/>
            </a:pPr>
            <a:r>
              <a:rPr lang="it">
                <a:solidFill>
                  <a:schemeClr val="dk1"/>
                </a:solidFill>
                <a:latin typeface="Consolas"/>
                <a:ea typeface="Consolas"/>
                <a:cs typeface="Consolas"/>
                <a:sym typeface="Consolas"/>
              </a:rPr>
              <a:t>HttpStatusCode.ACCESS_DENIED -&gt; null</a:t>
            </a:r>
            <a:endParaRPr>
              <a:solidFill>
                <a:schemeClr val="dk1"/>
              </a:solidFill>
              <a:latin typeface="Consolas"/>
              <a:ea typeface="Consolas"/>
              <a:cs typeface="Consolas"/>
              <a:sym typeface="Consolas"/>
            </a:endParaRPr>
          </a:p>
          <a:p>
            <a:pPr marL="0" marR="0" lvl="0" indent="457200" algn="l" rtl="0">
              <a:lnSpc>
                <a:spcPct val="115000"/>
              </a:lnSpc>
              <a:spcBef>
                <a:spcPts val="0"/>
              </a:spcBef>
              <a:spcAft>
                <a:spcPts val="0"/>
              </a:spcAft>
              <a:buNone/>
            </a:pPr>
            <a:r>
              <a:rPr lang="it">
                <a:solidFill>
                  <a:schemeClr val="dk1"/>
                </a:solidFill>
                <a:latin typeface="Consolas"/>
                <a:ea typeface="Consolas"/>
                <a:cs typeface="Consolas"/>
                <a:sym typeface="Consolas"/>
              </a:rPr>
              <a:t>HttpStatusCode.INTERNAL_SERVER_ERROR -&gt; null </a:t>
            </a:r>
            <a:endParaRPr>
              <a:solidFill>
                <a:schemeClr val="dk1"/>
              </a:solidFill>
              <a:latin typeface="Consolas"/>
              <a:ea typeface="Consolas"/>
              <a:cs typeface="Consolas"/>
              <a:sym typeface="Consolas"/>
            </a:endParaRPr>
          </a:p>
          <a:p>
            <a:pPr marL="0" marR="0" lvl="0" indent="0" algn="l" rtl="0">
              <a:lnSpc>
                <a:spcPct val="115000"/>
              </a:lnSpc>
              <a:spcBef>
                <a:spcPts val="0"/>
              </a:spcBef>
              <a:spcAft>
                <a:spcPts val="0"/>
              </a:spcAft>
              <a:buNone/>
            </a:pPr>
            <a:r>
              <a:rPr lang="it">
                <a:solidFill>
                  <a:schemeClr val="dk1"/>
                </a:solidFill>
                <a:latin typeface="Consolas"/>
                <a:ea typeface="Consolas"/>
                <a:cs typeface="Consolas"/>
                <a:sym typeface="Consolas"/>
              </a:rPr>
              <a:t>}</a:t>
            </a:r>
            <a:endParaRPr>
              <a:solidFill>
                <a:schemeClr val="dk1"/>
              </a:solidFill>
              <a:latin typeface="Consolas"/>
              <a:ea typeface="Consolas"/>
              <a:cs typeface="Consolas"/>
              <a:sym typeface="Consolas"/>
            </a:endParaRPr>
          </a:p>
        </p:txBody>
      </p:sp>
      <p:sp>
        <p:nvSpPr>
          <p:cNvPr id="509" name="Google Shape;509;p62"/>
          <p:cNvSpPr txBox="1">
            <a:spLocks noGrp="1"/>
          </p:cNvSpPr>
          <p:nvPr>
            <p:ph type="sldNum" idx="12"/>
          </p:nvPr>
        </p:nvSpPr>
        <p:spPr>
          <a:xfrm>
            <a:off x="8472458" y="476850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it"/>
              <a:t>56</a:t>
            </a:fld>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513"/>
        <p:cNvGrpSpPr/>
        <p:nvPr/>
      </p:nvGrpSpPr>
      <p:grpSpPr>
        <a:xfrm>
          <a:off x="0" y="0"/>
          <a:ext cx="0" cy="0"/>
          <a:chOff x="0" y="0"/>
          <a:chExt cx="0" cy="0"/>
        </a:xfrm>
      </p:grpSpPr>
      <p:sp>
        <p:nvSpPr>
          <p:cNvPr id="514" name="Google Shape;514;p63"/>
          <p:cNvSpPr txBox="1">
            <a:spLocks noGrp="1"/>
          </p:cNvSpPr>
          <p:nvPr>
            <p:ph type="sldNum" idx="12"/>
          </p:nvPr>
        </p:nvSpPr>
        <p:spPr>
          <a:xfrm>
            <a:off x="8472458" y="4768506"/>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it"/>
              <a:t>57</a:t>
            </a:fld>
            <a:endParaRPr/>
          </a:p>
        </p:txBody>
      </p:sp>
      <p:sp>
        <p:nvSpPr>
          <p:cNvPr id="515" name="Google Shape;515;p63"/>
          <p:cNvSpPr txBox="1">
            <a:spLocks noGrp="1"/>
          </p:cNvSpPr>
          <p:nvPr>
            <p:ph type="title"/>
          </p:nvPr>
        </p:nvSpPr>
        <p:spPr>
          <a:xfrm>
            <a:off x="311700" y="445025"/>
            <a:ext cx="8520600" cy="572700"/>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None/>
            </a:pPr>
            <a:r>
              <a:rPr lang="it"/>
              <a:t>Sealed classes</a:t>
            </a:r>
            <a:endParaRPr/>
          </a:p>
        </p:txBody>
      </p:sp>
      <p:sp>
        <p:nvSpPr>
          <p:cNvPr id="516" name="Google Shape;516;p63"/>
          <p:cNvSpPr txBox="1">
            <a:spLocks noGrp="1"/>
          </p:cNvSpPr>
          <p:nvPr>
            <p:ph type="body" idx="1"/>
          </p:nvPr>
        </p:nvSpPr>
        <p:spPr>
          <a:xfrm>
            <a:off x="311150" y="1244204"/>
            <a:ext cx="8521800" cy="3393300"/>
          </a:xfrm>
          <a:prstGeom prst="rect">
            <a:avLst/>
          </a:prstGeom>
          <a:noFill/>
          <a:ln>
            <a:noFill/>
          </a:ln>
        </p:spPr>
        <p:txBody>
          <a:bodyPr spcFirstLastPara="1" wrap="square" lIns="91425" tIns="45700" rIns="91425" bIns="45700" anchor="t" anchorCtr="0">
            <a:normAutofit/>
          </a:bodyPr>
          <a:lstStyle/>
          <a:p>
            <a:pPr marL="457200" lvl="0" indent="-355600" algn="l" rtl="0">
              <a:spcBef>
                <a:spcPts val="600"/>
              </a:spcBef>
              <a:spcAft>
                <a:spcPts val="0"/>
              </a:spcAft>
              <a:buSzPts val="2000"/>
              <a:buChar char="•"/>
            </a:pPr>
            <a:r>
              <a:rPr lang="it">
                <a:solidFill>
                  <a:schemeClr val="dk1"/>
                </a:solidFill>
              </a:rPr>
              <a:t>Sealed classes do for types what enums do for instances</a:t>
            </a:r>
            <a:r>
              <a:rPr lang="it"/>
              <a:t>:</a:t>
            </a:r>
            <a:r>
              <a:rPr lang="it">
                <a:solidFill>
                  <a:schemeClr val="dk1"/>
                </a:solidFill>
              </a:rPr>
              <a:t> they indicate the compiler that a given base type has a certain, well-defined set of subtypes</a:t>
            </a:r>
            <a:endParaRPr>
              <a:solidFill>
                <a:schemeClr val="dk1"/>
              </a:solidFill>
            </a:endParaRPr>
          </a:p>
          <a:p>
            <a:pPr marL="914400" lvl="1" indent="-330200" algn="l" rtl="0">
              <a:spcBef>
                <a:spcPts val="0"/>
              </a:spcBef>
              <a:spcAft>
                <a:spcPts val="0"/>
              </a:spcAft>
              <a:buClr>
                <a:schemeClr val="dk1"/>
              </a:buClr>
              <a:buSzPts val="1600"/>
              <a:buChar char="○"/>
            </a:pPr>
            <a:r>
              <a:rPr lang="it">
                <a:solidFill>
                  <a:schemeClr val="dk1"/>
                </a:solidFill>
              </a:rPr>
              <a:t>Subclasses of a sealed class can only be declared in the same file as the sealed one</a:t>
            </a:r>
            <a:endParaRPr>
              <a:solidFill>
                <a:schemeClr val="dk1"/>
              </a:solidFill>
            </a:endParaRPr>
          </a:p>
          <a:p>
            <a:pPr marL="914400" lvl="1" indent="-330200" algn="l" rtl="0">
              <a:spcBef>
                <a:spcPts val="0"/>
              </a:spcBef>
              <a:spcAft>
                <a:spcPts val="0"/>
              </a:spcAft>
              <a:buClr>
                <a:schemeClr val="dk1"/>
              </a:buClr>
              <a:buSzPts val="1600"/>
              <a:buChar char="○"/>
            </a:pPr>
            <a:r>
              <a:rPr lang="it">
                <a:solidFill>
                  <a:schemeClr val="dk1"/>
                </a:solidFill>
              </a:rPr>
              <a:t>Because of this, the compiler knows exactly how many they are and the </a:t>
            </a:r>
            <a:r>
              <a:rPr lang="it" b="1">
                <a:solidFill>
                  <a:srgbClr val="0B5394"/>
                </a:solidFill>
                <a:latin typeface="Consolas"/>
                <a:ea typeface="Consolas"/>
                <a:cs typeface="Consolas"/>
                <a:sym typeface="Consolas"/>
              </a:rPr>
              <a:t>else</a:t>
            </a:r>
            <a:r>
              <a:rPr lang="it">
                <a:solidFill>
                  <a:schemeClr val="dk1"/>
                </a:solidFill>
              </a:rPr>
              <a:t> branch can be removed from the </a:t>
            </a:r>
            <a:r>
              <a:rPr lang="it" b="1">
                <a:solidFill>
                  <a:srgbClr val="0B5394"/>
                </a:solidFill>
                <a:latin typeface="Consolas"/>
                <a:ea typeface="Consolas"/>
                <a:cs typeface="Consolas"/>
                <a:sym typeface="Consolas"/>
              </a:rPr>
              <a:t>when</a:t>
            </a:r>
            <a:r>
              <a:rPr lang="it">
                <a:solidFill>
                  <a:schemeClr val="dk1"/>
                </a:solidFill>
              </a:rPr>
              <a:t> clause</a:t>
            </a:r>
            <a:endParaRPr>
              <a:solidFill>
                <a:schemeClr val="dk1"/>
              </a:solidFill>
            </a:endParaRPr>
          </a:p>
        </p:txBody>
      </p:sp>
      <p:sp>
        <p:nvSpPr>
          <p:cNvPr id="517" name="Google Shape;517;p63"/>
          <p:cNvSpPr txBox="1"/>
          <p:nvPr/>
        </p:nvSpPr>
        <p:spPr>
          <a:xfrm>
            <a:off x="1079750" y="2866275"/>
            <a:ext cx="6984600" cy="1816200"/>
          </a:xfrm>
          <a:prstGeom prst="rect">
            <a:avLst/>
          </a:prstGeom>
          <a:solidFill>
            <a:srgbClr val="FFF2CC"/>
          </a:solidFill>
          <a:ln w="12700"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lvl="0" indent="0" algn="l" rtl="0">
              <a:spcBef>
                <a:spcPts val="0"/>
              </a:spcBef>
              <a:spcAft>
                <a:spcPts val="0"/>
              </a:spcAft>
              <a:buClr>
                <a:schemeClr val="dk1"/>
              </a:buClr>
              <a:buFont typeface="Arial"/>
              <a:buNone/>
            </a:pPr>
            <a:r>
              <a:rPr lang="it" b="1">
                <a:solidFill>
                  <a:srgbClr val="0B5394"/>
                </a:solidFill>
                <a:latin typeface="Consolas"/>
                <a:ea typeface="Consolas"/>
                <a:cs typeface="Consolas"/>
                <a:sym typeface="Consolas"/>
              </a:rPr>
              <a:t>sealed class</a:t>
            </a:r>
            <a:r>
              <a:rPr lang="it">
                <a:solidFill>
                  <a:schemeClr val="dk1"/>
                </a:solidFill>
                <a:latin typeface="Consolas"/>
                <a:ea typeface="Consolas"/>
                <a:cs typeface="Consolas"/>
                <a:sym typeface="Consolas"/>
              </a:rPr>
              <a:t> Result </a:t>
            </a:r>
            <a:endParaRPr>
              <a:solidFill>
                <a:schemeClr val="dk1"/>
              </a:solidFill>
              <a:latin typeface="Consolas"/>
              <a:ea typeface="Consolas"/>
              <a:cs typeface="Consolas"/>
              <a:sym typeface="Consolas"/>
            </a:endParaRPr>
          </a:p>
          <a:p>
            <a:pPr marL="0" lvl="0" indent="0" algn="l" rtl="0">
              <a:spcBef>
                <a:spcPts val="0"/>
              </a:spcBef>
              <a:spcAft>
                <a:spcPts val="0"/>
              </a:spcAft>
              <a:buClr>
                <a:schemeClr val="dk1"/>
              </a:buClr>
              <a:buFont typeface="Arial"/>
              <a:buNone/>
            </a:pPr>
            <a:r>
              <a:rPr lang="it">
                <a:solidFill>
                  <a:schemeClr val="dk1"/>
                </a:solidFill>
                <a:latin typeface="Consolas"/>
                <a:ea typeface="Consolas"/>
                <a:cs typeface="Consolas"/>
                <a:sym typeface="Consolas"/>
              </a:rPr>
              <a:t>data class </a:t>
            </a:r>
            <a:r>
              <a:rPr lang="it" b="1">
                <a:solidFill>
                  <a:srgbClr val="38761D"/>
                </a:solidFill>
                <a:latin typeface="Consolas"/>
                <a:ea typeface="Consolas"/>
                <a:cs typeface="Consolas"/>
                <a:sym typeface="Consolas"/>
              </a:rPr>
              <a:t>Success</a:t>
            </a:r>
            <a:r>
              <a:rPr lang="it">
                <a:solidFill>
                  <a:schemeClr val="dk1"/>
                </a:solidFill>
                <a:latin typeface="Consolas"/>
                <a:ea typeface="Consolas"/>
                <a:cs typeface="Consolas"/>
                <a:sym typeface="Consolas"/>
              </a:rPr>
              <a:t>(val data: List) : Result() </a:t>
            </a:r>
            <a:endParaRPr>
              <a:solidFill>
                <a:schemeClr val="dk1"/>
              </a:solidFill>
              <a:latin typeface="Consolas"/>
              <a:ea typeface="Consolas"/>
              <a:cs typeface="Consolas"/>
              <a:sym typeface="Consolas"/>
            </a:endParaRPr>
          </a:p>
          <a:p>
            <a:pPr marL="0" lvl="0" indent="0" algn="l" rtl="0">
              <a:spcBef>
                <a:spcPts val="0"/>
              </a:spcBef>
              <a:spcAft>
                <a:spcPts val="0"/>
              </a:spcAft>
              <a:buClr>
                <a:schemeClr val="dk1"/>
              </a:buClr>
              <a:buFont typeface="Arial"/>
              <a:buNone/>
            </a:pPr>
            <a:r>
              <a:rPr lang="it">
                <a:solidFill>
                  <a:schemeClr val="dk1"/>
                </a:solidFill>
                <a:latin typeface="Consolas"/>
                <a:ea typeface="Consolas"/>
                <a:cs typeface="Consolas"/>
                <a:sym typeface="Consolas"/>
              </a:rPr>
              <a:t>data class </a:t>
            </a:r>
            <a:r>
              <a:rPr lang="it" b="1">
                <a:solidFill>
                  <a:srgbClr val="38761D"/>
                </a:solidFill>
                <a:latin typeface="Consolas"/>
                <a:ea typeface="Consolas"/>
                <a:cs typeface="Consolas"/>
                <a:sym typeface="Consolas"/>
              </a:rPr>
              <a:t>Failure</a:t>
            </a:r>
            <a:r>
              <a:rPr lang="it">
                <a:solidFill>
                  <a:schemeClr val="dk1"/>
                </a:solidFill>
                <a:latin typeface="Consolas"/>
                <a:ea typeface="Consolas"/>
                <a:cs typeface="Consolas"/>
                <a:sym typeface="Consolas"/>
              </a:rPr>
              <a:t>(val error: Throwable?) : Result()</a:t>
            </a:r>
            <a:endParaRPr>
              <a:solidFill>
                <a:schemeClr val="dk1"/>
              </a:solidFill>
              <a:latin typeface="Consolas"/>
              <a:ea typeface="Consolas"/>
              <a:cs typeface="Consolas"/>
              <a:sym typeface="Consolas"/>
            </a:endParaRPr>
          </a:p>
          <a:p>
            <a:pPr marL="0" lvl="0" indent="0" algn="l" rtl="0">
              <a:spcBef>
                <a:spcPts val="0"/>
              </a:spcBef>
              <a:spcAft>
                <a:spcPts val="0"/>
              </a:spcAft>
              <a:buClr>
                <a:schemeClr val="dk1"/>
              </a:buClr>
              <a:buFont typeface="Arial"/>
              <a:buNone/>
            </a:pPr>
            <a:endParaRPr>
              <a:solidFill>
                <a:schemeClr val="dk1"/>
              </a:solidFill>
              <a:latin typeface="Consolas"/>
              <a:ea typeface="Consolas"/>
              <a:cs typeface="Consolas"/>
              <a:sym typeface="Consolas"/>
            </a:endParaRPr>
          </a:p>
          <a:p>
            <a:pPr marL="0" lvl="0" indent="0" algn="l" rtl="0">
              <a:spcBef>
                <a:spcPts val="0"/>
              </a:spcBef>
              <a:spcAft>
                <a:spcPts val="0"/>
              </a:spcAft>
              <a:buClr>
                <a:schemeClr val="dk1"/>
              </a:buClr>
              <a:buFont typeface="Arial"/>
              <a:buNone/>
            </a:pPr>
            <a:r>
              <a:rPr lang="it">
                <a:solidFill>
                  <a:schemeClr val="dk1"/>
                </a:solidFill>
                <a:latin typeface="Consolas"/>
                <a:ea typeface="Consolas"/>
                <a:cs typeface="Consolas"/>
                <a:sym typeface="Consolas"/>
              </a:rPr>
              <a:t>fun processResult(result: Result): List = </a:t>
            </a:r>
            <a:r>
              <a:rPr lang="it" b="1">
                <a:solidFill>
                  <a:srgbClr val="0B5394"/>
                </a:solidFill>
                <a:latin typeface="Consolas"/>
                <a:ea typeface="Consolas"/>
                <a:cs typeface="Consolas"/>
                <a:sym typeface="Consolas"/>
              </a:rPr>
              <a:t>when</a:t>
            </a:r>
            <a:r>
              <a:rPr lang="it">
                <a:solidFill>
                  <a:schemeClr val="dk1"/>
                </a:solidFill>
                <a:latin typeface="Consolas"/>
                <a:ea typeface="Consolas"/>
                <a:cs typeface="Consolas"/>
                <a:sym typeface="Consolas"/>
              </a:rPr>
              <a:t> (result) { </a:t>
            </a:r>
            <a:endParaRPr>
              <a:solidFill>
                <a:schemeClr val="dk1"/>
              </a:solidFill>
              <a:latin typeface="Consolas"/>
              <a:ea typeface="Consolas"/>
              <a:cs typeface="Consolas"/>
              <a:sym typeface="Consolas"/>
            </a:endParaRPr>
          </a:p>
          <a:p>
            <a:pPr marL="0" marR="0" lvl="0" indent="457200" algn="l" rtl="0">
              <a:lnSpc>
                <a:spcPct val="100000"/>
              </a:lnSpc>
              <a:spcBef>
                <a:spcPts val="0"/>
              </a:spcBef>
              <a:spcAft>
                <a:spcPts val="0"/>
              </a:spcAft>
              <a:buClr>
                <a:schemeClr val="dk1"/>
              </a:buClr>
              <a:buFont typeface="Arial"/>
              <a:buNone/>
            </a:pPr>
            <a:r>
              <a:rPr lang="it" b="1">
                <a:solidFill>
                  <a:srgbClr val="0B5394"/>
                </a:solidFill>
                <a:latin typeface="Consolas"/>
                <a:ea typeface="Consolas"/>
                <a:cs typeface="Consolas"/>
                <a:sym typeface="Consolas"/>
              </a:rPr>
              <a:t>is </a:t>
            </a:r>
            <a:r>
              <a:rPr lang="it" b="1">
                <a:solidFill>
                  <a:srgbClr val="38761D"/>
                </a:solidFill>
                <a:latin typeface="Consolas"/>
                <a:ea typeface="Consolas"/>
                <a:cs typeface="Consolas"/>
                <a:sym typeface="Consolas"/>
              </a:rPr>
              <a:t>Success</a:t>
            </a:r>
            <a:r>
              <a:rPr lang="it">
                <a:solidFill>
                  <a:schemeClr val="dk1"/>
                </a:solidFill>
                <a:latin typeface="Consolas"/>
                <a:ea typeface="Consolas"/>
                <a:cs typeface="Consolas"/>
                <a:sym typeface="Consolas"/>
              </a:rPr>
              <a:t> -&gt; result.data </a:t>
            </a:r>
            <a:endParaRPr>
              <a:solidFill>
                <a:schemeClr val="dk1"/>
              </a:solidFill>
              <a:latin typeface="Consolas"/>
              <a:ea typeface="Consolas"/>
              <a:cs typeface="Consolas"/>
              <a:sym typeface="Consolas"/>
            </a:endParaRPr>
          </a:p>
          <a:p>
            <a:pPr marL="0" marR="0" lvl="0" indent="457200" algn="l" rtl="0">
              <a:lnSpc>
                <a:spcPct val="100000"/>
              </a:lnSpc>
              <a:spcBef>
                <a:spcPts val="0"/>
              </a:spcBef>
              <a:spcAft>
                <a:spcPts val="0"/>
              </a:spcAft>
              <a:buClr>
                <a:schemeClr val="dk1"/>
              </a:buClr>
              <a:buFont typeface="Arial"/>
              <a:buNone/>
            </a:pPr>
            <a:r>
              <a:rPr lang="it" b="1">
                <a:solidFill>
                  <a:srgbClr val="0B5394"/>
                </a:solidFill>
                <a:latin typeface="Consolas"/>
                <a:ea typeface="Consolas"/>
                <a:cs typeface="Consolas"/>
                <a:sym typeface="Consolas"/>
              </a:rPr>
              <a:t>is </a:t>
            </a:r>
            <a:r>
              <a:rPr lang="it" b="1">
                <a:solidFill>
                  <a:srgbClr val="38761D"/>
                </a:solidFill>
                <a:latin typeface="Consolas"/>
                <a:ea typeface="Consolas"/>
                <a:cs typeface="Consolas"/>
                <a:sym typeface="Consolas"/>
              </a:rPr>
              <a:t>Failure</a:t>
            </a:r>
            <a:r>
              <a:rPr lang="it">
                <a:solidFill>
                  <a:schemeClr val="dk1"/>
                </a:solidFill>
                <a:latin typeface="Consolas"/>
                <a:ea typeface="Consolas"/>
                <a:cs typeface="Consolas"/>
                <a:sym typeface="Consolas"/>
              </a:rPr>
              <a:t> -&gt; listOf() </a:t>
            </a:r>
            <a:endParaRPr>
              <a:solidFill>
                <a:schemeClr val="dk1"/>
              </a:solidFill>
              <a:latin typeface="Consolas"/>
              <a:ea typeface="Consolas"/>
              <a:cs typeface="Consolas"/>
              <a:sym typeface="Consolas"/>
            </a:endParaRPr>
          </a:p>
          <a:p>
            <a:pPr marL="0" lvl="0" indent="0" algn="l" rtl="0">
              <a:spcBef>
                <a:spcPts val="0"/>
              </a:spcBef>
              <a:spcAft>
                <a:spcPts val="0"/>
              </a:spcAft>
              <a:buNone/>
            </a:pPr>
            <a:r>
              <a:rPr lang="it">
                <a:solidFill>
                  <a:schemeClr val="dk1"/>
                </a:solidFill>
                <a:latin typeface="Consolas"/>
                <a:ea typeface="Consolas"/>
                <a:cs typeface="Consolas"/>
                <a:sym typeface="Consolas"/>
              </a:rPr>
              <a:t>}</a:t>
            </a:r>
            <a:endParaRPr>
              <a:solidFill>
                <a:schemeClr val="dk1"/>
              </a:solidFill>
              <a:latin typeface="Consolas"/>
              <a:ea typeface="Consolas"/>
              <a:cs typeface="Consolas"/>
              <a:sym typeface="Consolas"/>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521"/>
        <p:cNvGrpSpPr/>
        <p:nvPr/>
      </p:nvGrpSpPr>
      <p:grpSpPr>
        <a:xfrm>
          <a:off x="0" y="0"/>
          <a:ext cx="0" cy="0"/>
          <a:chOff x="0" y="0"/>
          <a:chExt cx="0" cy="0"/>
        </a:xfrm>
      </p:grpSpPr>
      <p:sp>
        <p:nvSpPr>
          <p:cNvPr id="522" name="Google Shape;522;p6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it" sz="2820"/>
              <a:t>Sealed classes</a:t>
            </a:r>
            <a:endParaRPr sz="2820"/>
          </a:p>
        </p:txBody>
      </p:sp>
      <p:sp>
        <p:nvSpPr>
          <p:cNvPr id="523" name="Google Shape;523;p64"/>
          <p:cNvSpPr txBox="1">
            <a:spLocks noGrp="1"/>
          </p:cNvSpPr>
          <p:nvPr>
            <p:ph type="sldNum" idx="12"/>
          </p:nvPr>
        </p:nvSpPr>
        <p:spPr>
          <a:xfrm>
            <a:off x="8472458" y="476850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it"/>
              <a:t>58</a:t>
            </a:fld>
            <a:endParaRPr/>
          </a:p>
        </p:txBody>
      </p:sp>
      <p:sp>
        <p:nvSpPr>
          <p:cNvPr id="524" name="Google Shape;524;p64"/>
          <p:cNvSpPr txBox="1">
            <a:spLocks noGrp="1"/>
          </p:cNvSpPr>
          <p:nvPr>
            <p:ph type="body" idx="1"/>
          </p:nvPr>
        </p:nvSpPr>
        <p:spPr>
          <a:xfrm>
            <a:off x="311150" y="1244204"/>
            <a:ext cx="8521800" cy="3393300"/>
          </a:xfrm>
          <a:prstGeom prst="rect">
            <a:avLst/>
          </a:prstGeom>
        </p:spPr>
        <p:txBody>
          <a:bodyPr spcFirstLastPara="1" wrap="square" lIns="91425" tIns="45700" rIns="91425" bIns="45700" anchor="t" anchorCtr="0">
            <a:normAutofit/>
          </a:bodyPr>
          <a:lstStyle/>
          <a:p>
            <a:pPr marL="457200" lvl="0" indent="-355600" algn="l" rtl="0">
              <a:spcBef>
                <a:spcPts val="600"/>
              </a:spcBef>
              <a:spcAft>
                <a:spcPts val="0"/>
              </a:spcAft>
              <a:buSzPts val="2000"/>
              <a:buChar char="•"/>
            </a:pPr>
            <a:r>
              <a:rPr lang="it"/>
              <a:t>A sealed class implements an Algebraic Data Type (ADT)</a:t>
            </a:r>
            <a:endParaRPr/>
          </a:p>
          <a:p>
            <a:pPr marL="914400" lvl="1" indent="-330200" algn="l" rtl="0">
              <a:spcBef>
                <a:spcPts val="0"/>
              </a:spcBef>
              <a:spcAft>
                <a:spcPts val="0"/>
              </a:spcAft>
              <a:buSzPts val="1600"/>
              <a:buChar char="○"/>
            </a:pPr>
            <a:r>
              <a:rPr lang="it"/>
              <a:t>It is the sum of the types of the inner classes</a:t>
            </a:r>
            <a:endParaRPr/>
          </a:p>
          <a:p>
            <a:pPr marL="914400" lvl="1" indent="-330200" algn="l" rtl="0">
              <a:spcBef>
                <a:spcPts val="0"/>
              </a:spcBef>
              <a:spcAft>
                <a:spcPts val="0"/>
              </a:spcAft>
              <a:buSzPts val="1600"/>
              <a:buChar char="○"/>
            </a:pPr>
            <a:r>
              <a:rPr lang="it"/>
              <a:t>Its domain is the union of the domains of each inner class</a:t>
            </a:r>
            <a:endParaRPr/>
          </a:p>
          <a:p>
            <a:pPr marL="457200" lvl="0" indent="-355600" algn="l" rtl="0">
              <a:spcBef>
                <a:spcPts val="0"/>
              </a:spcBef>
              <a:spcAft>
                <a:spcPts val="0"/>
              </a:spcAft>
              <a:buSzPts val="2000"/>
              <a:buChar char="•"/>
            </a:pPr>
            <a:r>
              <a:rPr lang="it"/>
              <a:t>If an inner class has no attributes, it may be replaced by a data object</a:t>
            </a:r>
            <a:endParaRPr/>
          </a:p>
        </p:txBody>
      </p:sp>
      <p:sp>
        <p:nvSpPr>
          <p:cNvPr id="525" name="Google Shape;525;p64"/>
          <p:cNvSpPr txBox="1"/>
          <p:nvPr/>
        </p:nvSpPr>
        <p:spPr>
          <a:xfrm>
            <a:off x="1079750" y="2713875"/>
            <a:ext cx="6984600" cy="1816200"/>
          </a:xfrm>
          <a:prstGeom prst="rect">
            <a:avLst/>
          </a:prstGeom>
          <a:solidFill>
            <a:srgbClr val="FFF2CC"/>
          </a:solidFill>
          <a:ln w="12700"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lvl="0" indent="0" algn="l" rtl="0">
              <a:spcBef>
                <a:spcPts val="0"/>
              </a:spcBef>
              <a:spcAft>
                <a:spcPts val="0"/>
              </a:spcAft>
              <a:buClr>
                <a:schemeClr val="dk1"/>
              </a:buClr>
              <a:buFont typeface="Arial"/>
              <a:buNone/>
            </a:pPr>
            <a:r>
              <a:rPr lang="it" b="1">
                <a:solidFill>
                  <a:srgbClr val="0B5394"/>
                </a:solidFill>
                <a:latin typeface="Consolas"/>
                <a:ea typeface="Consolas"/>
                <a:cs typeface="Consolas"/>
                <a:sym typeface="Consolas"/>
              </a:rPr>
              <a:t>sealed class</a:t>
            </a:r>
            <a:r>
              <a:rPr lang="it">
                <a:solidFill>
                  <a:schemeClr val="dk1"/>
                </a:solidFill>
                <a:latin typeface="Consolas"/>
                <a:ea typeface="Consolas"/>
                <a:cs typeface="Consolas"/>
                <a:sym typeface="Consolas"/>
              </a:rPr>
              <a:t> </a:t>
            </a:r>
            <a:r>
              <a:rPr lang="it" b="1">
                <a:solidFill>
                  <a:srgbClr val="38761D"/>
                </a:solidFill>
                <a:latin typeface="Consolas"/>
                <a:ea typeface="Consolas"/>
                <a:cs typeface="Consolas"/>
                <a:sym typeface="Consolas"/>
              </a:rPr>
              <a:t>Optional&lt;out T&gt;</a:t>
            </a:r>
            <a:endParaRPr>
              <a:solidFill>
                <a:schemeClr val="dk1"/>
              </a:solidFill>
              <a:latin typeface="Consolas"/>
              <a:ea typeface="Consolas"/>
              <a:cs typeface="Consolas"/>
              <a:sym typeface="Consolas"/>
            </a:endParaRPr>
          </a:p>
          <a:p>
            <a:pPr marL="0" lvl="0" indent="0" algn="l" rtl="0">
              <a:spcBef>
                <a:spcPts val="0"/>
              </a:spcBef>
              <a:spcAft>
                <a:spcPts val="0"/>
              </a:spcAft>
              <a:buClr>
                <a:schemeClr val="dk1"/>
              </a:buClr>
              <a:buFont typeface="Arial"/>
              <a:buNone/>
            </a:pPr>
            <a:r>
              <a:rPr lang="it">
                <a:solidFill>
                  <a:schemeClr val="dk1"/>
                </a:solidFill>
                <a:latin typeface="Consolas"/>
                <a:ea typeface="Consolas"/>
                <a:cs typeface="Consolas"/>
                <a:sym typeface="Consolas"/>
              </a:rPr>
              <a:t>data class </a:t>
            </a:r>
            <a:r>
              <a:rPr lang="it" b="1">
                <a:solidFill>
                  <a:srgbClr val="38761D"/>
                </a:solidFill>
                <a:latin typeface="Consolas"/>
                <a:ea typeface="Consolas"/>
                <a:cs typeface="Consolas"/>
                <a:sym typeface="Consolas"/>
              </a:rPr>
              <a:t>Some&lt;out T&gt;</a:t>
            </a:r>
            <a:r>
              <a:rPr lang="it">
                <a:solidFill>
                  <a:schemeClr val="dk1"/>
                </a:solidFill>
                <a:latin typeface="Consolas"/>
                <a:ea typeface="Consolas"/>
                <a:cs typeface="Consolas"/>
                <a:sym typeface="Consolas"/>
              </a:rPr>
              <a:t>(val data: </a:t>
            </a:r>
            <a:r>
              <a:rPr lang="it" b="1">
                <a:solidFill>
                  <a:srgbClr val="38761D"/>
                </a:solidFill>
                <a:latin typeface="Consolas"/>
                <a:ea typeface="Consolas"/>
                <a:cs typeface="Consolas"/>
                <a:sym typeface="Consolas"/>
              </a:rPr>
              <a:t>T</a:t>
            </a:r>
            <a:r>
              <a:rPr lang="it">
                <a:solidFill>
                  <a:schemeClr val="dk1"/>
                </a:solidFill>
                <a:latin typeface="Consolas"/>
                <a:ea typeface="Consolas"/>
                <a:cs typeface="Consolas"/>
                <a:sym typeface="Consolas"/>
              </a:rPr>
              <a:t>) : </a:t>
            </a:r>
            <a:r>
              <a:rPr lang="it" b="1">
                <a:solidFill>
                  <a:srgbClr val="38761D"/>
                </a:solidFill>
                <a:latin typeface="Consolas"/>
                <a:ea typeface="Consolas"/>
                <a:cs typeface="Consolas"/>
                <a:sym typeface="Consolas"/>
              </a:rPr>
              <a:t>Optional&lt;T&gt;</a:t>
            </a:r>
            <a:r>
              <a:rPr lang="it">
                <a:solidFill>
                  <a:schemeClr val="dk1"/>
                </a:solidFill>
                <a:latin typeface="Consolas"/>
                <a:ea typeface="Consolas"/>
                <a:cs typeface="Consolas"/>
                <a:sym typeface="Consolas"/>
              </a:rPr>
              <a:t>() </a:t>
            </a:r>
            <a:endParaRPr>
              <a:solidFill>
                <a:schemeClr val="dk1"/>
              </a:solidFill>
              <a:latin typeface="Consolas"/>
              <a:ea typeface="Consolas"/>
              <a:cs typeface="Consolas"/>
              <a:sym typeface="Consolas"/>
            </a:endParaRPr>
          </a:p>
          <a:p>
            <a:pPr marL="0" lvl="0" indent="0" algn="l" rtl="0">
              <a:spcBef>
                <a:spcPts val="0"/>
              </a:spcBef>
              <a:spcAft>
                <a:spcPts val="0"/>
              </a:spcAft>
              <a:buClr>
                <a:schemeClr val="dk1"/>
              </a:buClr>
              <a:buFont typeface="Arial"/>
              <a:buNone/>
            </a:pPr>
            <a:r>
              <a:rPr lang="it">
                <a:solidFill>
                  <a:schemeClr val="dk1"/>
                </a:solidFill>
                <a:latin typeface="Consolas"/>
                <a:ea typeface="Consolas"/>
                <a:cs typeface="Consolas"/>
                <a:sym typeface="Consolas"/>
              </a:rPr>
              <a:t>data object </a:t>
            </a:r>
            <a:r>
              <a:rPr lang="it" b="1">
                <a:solidFill>
                  <a:srgbClr val="38761D"/>
                </a:solidFill>
                <a:latin typeface="Consolas"/>
                <a:ea typeface="Consolas"/>
                <a:cs typeface="Consolas"/>
                <a:sym typeface="Consolas"/>
              </a:rPr>
              <a:t>None</a:t>
            </a:r>
            <a:r>
              <a:rPr lang="it">
                <a:solidFill>
                  <a:schemeClr val="dk1"/>
                </a:solidFill>
                <a:latin typeface="Consolas"/>
                <a:ea typeface="Consolas"/>
                <a:cs typeface="Consolas"/>
                <a:sym typeface="Consolas"/>
              </a:rPr>
              <a:t> : </a:t>
            </a:r>
            <a:r>
              <a:rPr lang="it" b="1">
                <a:solidFill>
                  <a:srgbClr val="38761D"/>
                </a:solidFill>
                <a:latin typeface="Consolas"/>
                <a:ea typeface="Consolas"/>
                <a:cs typeface="Consolas"/>
                <a:sym typeface="Consolas"/>
              </a:rPr>
              <a:t>Optional&lt;Nothing&gt;</a:t>
            </a:r>
            <a:r>
              <a:rPr lang="it">
                <a:solidFill>
                  <a:schemeClr val="dk1"/>
                </a:solidFill>
                <a:latin typeface="Consolas"/>
                <a:ea typeface="Consolas"/>
                <a:cs typeface="Consolas"/>
                <a:sym typeface="Consolas"/>
              </a:rPr>
              <a:t>()</a:t>
            </a:r>
            <a:endParaRPr>
              <a:solidFill>
                <a:schemeClr val="dk1"/>
              </a:solidFill>
              <a:latin typeface="Consolas"/>
              <a:ea typeface="Consolas"/>
              <a:cs typeface="Consolas"/>
              <a:sym typeface="Consolas"/>
            </a:endParaRPr>
          </a:p>
          <a:p>
            <a:pPr marL="0" lvl="0" indent="0" algn="l" rtl="0">
              <a:spcBef>
                <a:spcPts val="0"/>
              </a:spcBef>
              <a:spcAft>
                <a:spcPts val="0"/>
              </a:spcAft>
              <a:buClr>
                <a:schemeClr val="dk1"/>
              </a:buClr>
              <a:buFont typeface="Arial"/>
              <a:buNone/>
            </a:pPr>
            <a:endParaRPr>
              <a:solidFill>
                <a:schemeClr val="dk1"/>
              </a:solidFill>
              <a:latin typeface="Consolas"/>
              <a:ea typeface="Consolas"/>
              <a:cs typeface="Consolas"/>
              <a:sym typeface="Consolas"/>
            </a:endParaRPr>
          </a:p>
          <a:p>
            <a:pPr marL="0" lvl="0" indent="0" algn="l" rtl="0">
              <a:spcBef>
                <a:spcPts val="0"/>
              </a:spcBef>
              <a:spcAft>
                <a:spcPts val="0"/>
              </a:spcAft>
              <a:buNone/>
            </a:pPr>
            <a:r>
              <a:rPr lang="it">
                <a:solidFill>
                  <a:schemeClr val="dk1"/>
                </a:solidFill>
                <a:latin typeface="Consolas"/>
                <a:ea typeface="Consolas"/>
                <a:cs typeface="Consolas"/>
                <a:sym typeface="Consolas"/>
              </a:rPr>
              <a:t>var o1: Optional = Optional.Some(10)</a:t>
            </a:r>
            <a:endParaRPr>
              <a:solidFill>
                <a:schemeClr val="dk1"/>
              </a:solidFill>
              <a:latin typeface="Consolas"/>
              <a:ea typeface="Consolas"/>
              <a:cs typeface="Consolas"/>
              <a:sym typeface="Consolas"/>
            </a:endParaRPr>
          </a:p>
          <a:p>
            <a:pPr marL="0" lvl="0" indent="0" algn="l" rtl="0">
              <a:spcBef>
                <a:spcPts val="0"/>
              </a:spcBef>
              <a:spcAft>
                <a:spcPts val="0"/>
              </a:spcAft>
              <a:buNone/>
            </a:pPr>
            <a:r>
              <a:rPr lang="it">
                <a:solidFill>
                  <a:schemeClr val="dk1"/>
                </a:solidFill>
                <a:latin typeface="Consolas"/>
                <a:ea typeface="Consolas"/>
                <a:cs typeface="Consolas"/>
                <a:sym typeface="Consolas"/>
              </a:rPr>
              <a:t>println( o1 ) // → Some(data=10)</a:t>
            </a:r>
            <a:endParaRPr>
              <a:solidFill>
                <a:schemeClr val="dk1"/>
              </a:solidFill>
              <a:latin typeface="Consolas"/>
              <a:ea typeface="Consolas"/>
              <a:cs typeface="Consolas"/>
              <a:sym typeface="Consolas"/>
            </a:endParaRPr>
          </a:p>
          <a:p>
            <a:pPr marL="0" lvl="0" indent="0" algn="l" rtl="0">
              <a:spcBef>
                <a:spcPts val="0"/>
              </a:spcBef>
              <a:spcAft>
                <a:spcPts val="0"/>
              </a:spcAft>
              <a:buNone/>
            </a:pPr>
            <a:r>
              <a:rPr lang="it">
                <a:solidFill>
                  <a:schemeClr val="dk1"/>
                </a:solidFill>
                <a:latin typeface="Consolas"/>
                <a:ea typeface="Consolas"/>
                <a:cs typeface="Consolas"/>
                <a:sym typeface="Consolas"/>
              </a:rPr>
              <a:t>o1 = None</a:t>
            </a:r>
            <a:endParaRPr>
              <a:solidFill>
                <a:schemeClr val="dk1"/>
              </a:solidFill>
              <a:latin typeface="Consolas"/>
              <a:ea typeface="Consolas"/>
              <a:cs typeface="Consolas"/>
              <a:sym typeface="Consolas"/>
            </a:endParaRPr>
          </a:p>
          <a:p>
            <a:pPr marL="0" lvl="0" indent="0" algn="l" rtl="0">
              <a:spcBef>
                <a:spcPts val="0"/>
              </a:spcBef>
              <a:spcAft>
                <a:spcPts val="0"/>
              </a:spcAft>
              <a:buNone/>
            </a:pPr>
            <a:r>
              <a:rPr lang="it">
                <a:solidFill>
                  <a:schemeClr val="dk1"/>
                </a:solidFill>
                <a:latin typeface="Consolas"/>
                <a:ea typeface="Consolas"/>
                <a:cs typeface="Consolas"/>
                <a:sym typeface="Consolas"/>
              </a:rPr>
              <a:t>println( o1 ) // → None </a:t>
            </a:r>
            <a:endParaRPr>
              <a:solidFill>
                <a:schemeClr val="dk1"/>
              </a:solidFill>
              <a:latin typeface="Consolas"/>
              <a:ea typeface="Consolas"/>
              <a:cs typeface="Consolas"/>
              <a:sym typeface="Consolas"/>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529"/>
        <p:cNvGrpSpPr/>
        <p:nvPr/>
      </p:nvGrpSpPr>
      <p:grpSpPr>
        <a:xfrm>
          <a:off x="0" y="0"/>
          <a:ext cx="0" cy="0"/>
          <a:chOff x="0" y="0"/>
          <a:chExt cx="0" cy="0"/>
        </a:xfrm>
      </p:grpSpPr>
      <p:sp>
        <p:nvSpPr>
          <p:cNvPr id="530" name="Google Shape;530;p6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t" sz="2800"/>
              <a:t>Generics</a:t>
            </a:r>
            <a:endParaRPr sz="2800"/>
          </a:p>
        </p:txBody>
      </p:sp>
      <p:sp>
        <p:nvSpPr>
          <p:cNvPr id="531" name="Google Shape;531;p65"/>
          <p:cNvSpPr txBox="1">
            <a:spLocks noGrp="1"/>
          </p:cNvSpPr>
          <p:nvPr>
            <p:ph type="body" idx="1"/>
          </p:nvPr>
        </p:nvSpPr>
        <p:spPr>
          <a:xfrm>
            <a:off x="311150" y="1244204"/>
            <a:ext cx="8521800" cy="3393300"/>
          </a:xfrm>
          <a:prstGeom prst="rect">
            <a:avLst/>
          </a:prstGeom>
        </p:spPr>
        <p:txBody>
          <a:bodyPr spcFirstLastPara="1" wrap="square" lIns="91425" tIns="45700" rIns="91425" bIns="45700" anchor="t" anchorCtr="0">
            <a:normAutofit lnSpcReduction="20000"/>
          </a:bodyPr>
          <a:lstStyle/>
          <a:p>
            <a:pPr marL="457200" lvl="0" indent="-355600" algn="l" rtl="0">
              <a:spcBef>
                <a:spcPts val="600"/>
              </a:spcBef>
              <a:spcAft>
                <a:spcPts val="0"/>
              </a:spcAft>
              <a:buSzPts val="2000"/>
              <a:buChar char="•"/>
            </a:pPr>
            <a:r>
              <a:rPr lang="it"/>
              <a:t>Generics is a programming paradigm that allows to define a class or a function that can work with different types of data</a:t>
            </a:r>
            <a:endParaRPr/>
          </a:p>
          <a:p>
            <a:pPr marL="914400" lvl="1" indent="-330200" algn="l" rtl="0">
              <a:spcBef>
                <a:spcPts val="0"/>
              </a:spcBef>
              <a:spcAft>
                <a:spcPts val="0"/>
              </a:spcAft>
              <a:buSzPts val="1600"/>
              <a:buChar char="○"/>
            </a:pPr>
            <a:r>
              <a:rPr lang="it"/>
              <a:t>Without having to rewrite the code for each specific type</a:t>
            </a:r>
            <a:endParaRPr/>
          </a:p>
          <a:p>
            <a:pPr marL="914400" lvl="1" indent="-330200" algn="l" rtl="0">
              <a:spcBef>
                <a:spcPts val="300"/>
              </a:spcBef>
              <a:spcAft>
                <a:spcPts val="0"/>
              </a:spcAft>
              <a:buSzPts val="1600"/>
              <a:buChar char="○"/>
            </a:pPr>
            <a:r>
              <a:rPr lang="it"/>
              <a:t>Functions, classes, interfaces, …, can be defined as depending on one or more type parameters, which are enclosed in angular brackets (</a:t>
            </a:r>
            <a:r>
              <a:rPr lang="it" b="1">
                <a:solidFill>
                  <a:srgbClr val="0B5394"/>
                </a:solidFill>
                <a:latin typeface="Consolas"/>
                <a:ea typeface="Consolas"/>
                <a:cs typeface="Consolas"/>
                <a:sym typeface="Consolas"/>
              </a:rPr>
              <a:t>&lt;</a:t>
            </a:r>
            <a:r>
              <a:rPr lang="it"/>
              <a:t> … </a:t>
            </a:r>
            <a:r>
              <a:rPr lang="it" b="1">
                <a:solidFill>
                  <a:srgbClr val="0B5394"/>
                </a:solidFill>
                <a:latin typeface="Consolas"/>
                <a:ea typeface="Consolas"/>
                <a:cs typeface="Consolas"/>
                <a:sym typeface="Consolas"/>
              </a:rPr>
              <a:t>&gt;</a:t>
            </a:r>
            <a:r>
              <a:rPr lang="it"/>
              <a:t>) and become part of the type name</a:t>
            </a:r>
            <a:endParaRPr/>
          </a:p>
          <a:p>
            <a:pPr marL="457200" lvl="0" indent="-355600" algn="l" rtl="0">
              <a:spcBef>
                <a:spcPts val="0"/>
              </a:spcBef>
              <a:spcAft>
                <a:spcPts val="0"/>
              </a:spcAft>
              <a:buSzPts val="2000"/>
              <a:buChar char="•"/>
            </a:pPr>
            <a:r>
              <a:rPr lang="it"/>
              <a:t>Differently from what happens in other languages, in Kotlin (and in Java) the implementation of generic types is based on type erasure</a:t>
            </a:r>
            <a:endParaRPr/>
          </a:p>
          <a:p>
            <a:pPr marL="914400" lvl="1" indent="-330200" algn="l" rtl="0">
              <a:spcBef>
                <a:spcPts val="0"/>
              </a:spcBef>
              <a:spcAft>
                <a:spcPts val="0"/>
              </a:spcAft>
              <a:buSzPts val="1600"/>
              <a:buChar char="○"/>
            </a:pPr>
            <a:r>
              <a:rPr lang="it"/>
              <a:t>This means that the type parameter information is not available at runtime because it is replaced by </a:t>
            </a:r>
            <a:r>
              <a:rPr lang="it" b="1">
                <a:solidFill>
                  <a:srgbClr val="0B5394"/>
                </a:solidFill>
                <a:latin typeface="Consolas"/>
                <a:ea typeface="Consolas"/>
                <a:cs typeface="Consolas"/>
                <a:sym typeface="Consolas"/>
              </a:rPr>
              <a:t>Any?</a:t>
            </a:r>
            <a:r>
              <a:rPr lang="it"/>
              <a:t> (or </a:t>
            </a:r>
            <a:r>
              <a:rPr lang="it" b="1">
                <a:solidFill>
                  <a:srgbClr val="0B5394"/>
                </a:solidFill>
                <a:latin typeface="Consolas"/>
                <a:ea typeface="Consolas"/>
                <a:cs typeface="Consolas"/>
                <a:sym typeface="Consolas"/>
              </a:rPr>
              <a:t>Object</a:t>
            </a:r>
            <a:r>
              <a:rPr lang="it"/>
              <a:t>, in Java) thus making the type capable to work with all other types, thanks to inheritance</a:t>
            </a:r>
            <a:endParaRPr/>
          </a:p>
          <a:p>
            <a:pPr marL="914400" lvl="1" indent="-330200" algn="l" rtl="0">
              <a:spcBef>
                <a:spcPts val="0"/>
              </a:spcBef>
              <a:spcAft>
                <a:spcPts val="0"/>
              </a:spcAft>
              <a:buSzPts val="1600"/>
              <a:buChar char="○"/>
            </a:pPr>
            <a:r>
              <a:rPr lang="it"/>
              <a:t>At compile time, however, the type information is retained and used to check the validity of the program</a:t>
            </a:r>
            <a:endParaRPr/>
          </a:p>
        </p:txBody>
      </p:sp>
      <p:sp>
        <p:nvSpPr>
          <p:cNvPr id="532" name="Google Shape;532;p65"/>
          <p:cNvSpPr txBox="1">
            <a:spLocks noGrp="1"/>
          </p:cNvSpPr>
          <p:nvPr>
            <p:ph type="sldNum" idx="12"/>
          </p:nvPr>
        </p:nvSpPr>
        <p:spPr>
          <a:xfrm>
            <a:off x="8472458" y="476850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it"/>
              <a:t>59</a:t>
            </a:fld>
            <a:endParaRPr/>
          </a:p>
        </p:txBody>
      </p:sp>
      <p:pic>
        <p:nvPicPr>
          <p:cNvPr id="533" name="Google Shape;533;p65"/>
          <p:cNvPicPr preferRelativeResize="0"/>
          <p:nvPr/>
        </p:nvPicPr>
        <p:blipFill>
          <a:blip r:embed="rId3">
            <a:alphaModFix/>
          </a:blip>
          <a:stretch>
            <a:fillRect/>
          </a:stretch>
        </p:blipFill>
        <p:spPr>
          <a:xfrm>
            <a:off x="7907575" y="113563"/>
            <a:ext cx="1047350" cy="1083225"/>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537"/>
        <p:cNvGrpSpPr/>
        <p:nvPr/>
      </p:nvGrpSpPr>
      <p:grpSpPr>
        <a:xfrm>
          <a:off x="0" y="0"/>
          <a:ext cx="0" cy="0"/>
          <a:chOff x="0" y="0"/>
          <a:chExt cx="0" cy="0"/>
        </a:xfrm>
      </p:grpSpPr>
      <p:sp>
        <p:nvSpPr>
          <p:cNvPr id="538" name="Google Shape;538;p6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it" sz="2820"/>
              <a:t>Generic functions</a:t>
            </a:r>
            <a:endParaRPr sz="2820"/>
          </a:p>
        </p:txBody>
      </p:sp>
      <p:sp>
        <p:nvSpPr>
          <p:cNvPr id="539" name="Google Shape;539;p66"/>
          <p:cNvSpPr txBox="1">
            <a:spLocks noGrp="1"/>
          </p:cNvSpPr>
          <p:nvPr>
            <p:ph type="body" idx="1"/>
          </p:nvPr>
        </p:nvSpPr>
        <p:spPr>
          <a:xfrm>
            <a:off x="311150" y="1244204"/>
            <a:ext cx="8521800" cy="3393300"/>
          </a:xfrm>
          <a:prstGeom prst="rect">
            <a:avLst/>
          </a:prstGeom>
        </p:spPr>
        <p:txBody>
          <a:bodyPr spcFirstLastPara="1" wrap="square" lIns="91425" tIns="45700" rIns="91425" bIns="45700" anchor="t" anchorCtr="0">
            <a:normAutofit/>
          </a:bodyPr>
          <a:lstStyle/>
          <a:p>
            <a:pPr marL="457200" lvl="0" indent="-355600" algn="l" rtl="0">
              <a:spcBef>
                <a:spcPts val="600"/>
              </a:spcBef>
              <a:spcAft>
                <a:spcPts val="0"/>
              </a:spcAft>
              <a:buSzPts val="2000"/>
              <a:buChar char="•"/>
            </a:pPr>
            <a:r>
              <a:rPr lang="it"/>
              <a:t>A function that receives as parameter or returns a value of generic type </a:t>
            </a:r>
            <a:r>
              <a:rPr lang="it" b="1">
                <a:solidFill>
                  <a:srgbClr val="0B5394"/>
                </a:solidFill>
                <a:latin typeface="Consolas"/>
                <a:ea typeface="Consolas"/>
                <a:cs typeface="Consolas"/>
                <a:sym typeface="Consolas"/>
              </a:rPr>
              <a:t>T</a:t>
            </a:r>
            <a:r>
              <a:rPr lang="it"/>
              <a:t> must be prefixed by the </a:t>
            </a:r>
            <a:r>
              <a:rPr lang="it" b="1">
                <a:solidFill>
                  <a:srgbClr val="0B5394"/>
                </a:solidFill>
                <a:latin typeface="Consolas"/>
                <a:ea typeface="Consolas"/>
                <a:cs typeface="Consolas"/>
                <a:sym typeface="Consolas"/>
              </a:rPr>
              <a:t>&lt;T&gt;</a:t>
            </a:r>
            <a:r>
              <a:rPr lang="it"/>
              <a:t> annotation</a:t>
            </a:r>
            <a:endParaRPr/>
          </a:p>
          <a:p>
            <a:pPr marL="914400" lvl="1" indent="-330200" algn="l" rtl="0">
              <a:spcBef>
                <a:spcPts val="0"/>
              </a:spcBef>
              <a:spcAft>
                <a:spcPts val="0"/>
              </a:spcAft>
              <a:buSzPts val="1600"/>
              <a:buChar char="○"/>
            </a:pPr>
            <a:r>
              <a:rPr lang="it"/>
              <a:t>T may be constrained to extend a given class or implement an interface by adding an upper bound after it, like </a:t>
            </a:r>
            <a:r>
              <a:rPr lang="it" b="1">
                <a:solidFill>
                  <a:srgbClr val="0B5394"/>
                </a:solidFill>
                <a:latin typeface="Consolas"/>
                <a:ea typeface="Consolas"/>
                <a:cs typeface="Consolas"/>
                <a:sym typeface="Consolas"/>
              </a:rPr>
              <a:t>&lt;T: Runnable&gt;</a:t>
            </a:r>
            <a:endParaRPr/>
          </a:p>
          <a:p>
            <a:pPr marL="914400" lvl="1" indent="-330200" algn="l" rtl="0">
              <a:spcBef>
                <a:spcPts val="0"/>
              </a:spcBef>
              <a:spcAft>
                <a:spcPts val="0"/>
              </a:spcAft>
              <a:buSzPts val="1600"/>
              <a:buChar char="○"/>
            </a:pPr>
            <a:r>
              <a:rPr lang="it"/>
              <a:t>More complex constraints may be expressed using the </a:t>
            </a:r>
            <a:r>
              <a:rPr lang="it" b="1">
                <a:solidFill>
                  <a:srgbClr val="0B5394"/>
                </a:solidFill>
                <a:latin typeface="Consolas"/>
                <a:ea typeface="Consolas"/>
                <a:cs typeface="Consolas"/>
                <a:sym typeface="Consolas"/>
              </a:rPr>
              <a:t>where</a:t>
            </a:r>
            <a:r>
              <a:rPr lang="it"/>
              <a:t> clause</a:t>
            </a:r>
            <a:endParaRPr/>
          </a:p>
        </p:txBody>
      </p:sp>
      <p:sp>
        <p:nvSpPr>
          <p:cNvPr id="540" name="Google Shape;540;p66"/>
          <p:cNvSpPr txBox="1"/>
          <p:nvPr/>
        </p:nvSpPr>
        <p:spPr>
          <a:xfrm>
            <a:off x="1139171" y="3047952"/>
            <a:ext cx="6865800" cy="1569900"/>
          </a:xfrm>
          <a:prstGeom prst="rect">
            <a:avLst/>
          </a:prstGeom>
          <a:solidFill>
            <a:srgbClr val="FFF2CC"/>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it" sz="1200">
                <a:solidFill>
                  <a:schemeClr val="dk1"/>
                </a:solidFill>
                <a:latin typeface="Consolas"/>
                <a:ea typeface="Consolas"/>
                <a:cs typeface="Consolas"/>
                <a:sym typeface="Consolas"/>
              </a:rPr>
              <a:t>fun </a:t>
            </a:r>
            <a:r>
              <a:rPr lang="it" sz="1200" b="1">
                <a:solidFill>
                  <a:srgbClr val="0B5394"/>
                </a:solidFill>
                <a:latin typeface="Consolas"/>
                <a:ea typeface="Consolas"/>
                <a:cs typeface="Consolas"/>
                <a:sym typeface="Consolas"/>
              </a:rPr>
              <a:t>&lt;T&gt;</a:t>
            </a:r>
            <a:r>
              <a:rPr lang="it" sz="1200">
                <a:solidFill>
                  <a:schemeClr val="dk1"/>
                </a:solidFill>
                <a:latin typeface="Consolas"/>
                <a:ea typeface="Consolas"/>
                <a:cs typeface="Consolas"/>
                <a:sym typeface="Consolas"/>
              </a:rPr>
              <a:t> sort(l: List</a:t>
            </a:r>
            <a:r>
              <a:rPr lang="it" sz="1200" b="1">
                <a:solidFill>
                  <a:srgbClr val="0B5394"/>
                </a:solidFill>
                <a:latin typeface="Consolas"/>
                <a:ea typeface="Consolas"/>
                <a:cs typeface="Consolas"/>
                <a:sym typeface="Consolas"/>
              </a:rPr>
              <a:t>&lt;T&gt;</a:t>
            </a:r>
            <a:r>
              <a:rPr lang="it" sz="1200">
                <a:solidFill>
                  <a:schemeClr val="dk1"/>
                </a:solidFill>
                <a:latin typeface="Consolas"/>
                <a:ea typeface="Consolas"/>
                <a:cs typeface="Consolas"/>
                <a:sym typeface="Consolas"/>
              </a:rPr>
              <a:t>) </a:t>
            </a:r>
            <a:r>
              <a:rPr lang="it" sz="1200" b="1">
                <a:solidFill>
                  <a:srgbClr val="0B5394"/>
                </a:solidFill>
                <a:latin typeface="Consolas"/>
                <a:ea typeface="Consolas"/>
                <a:cs typeface="Consolas"/>
                <a:sym typeface="Consolas"/>
              </a:rPr>
              <a:t>where T : CharSequence, T : Comparable&lt;T&gt;</a:t>
            </a:r>
            <a:r>
              <a:rPr lang="it" sz="1200">
                <a:solidFill>
                  <a:schemeClr val="dk1"/>
                </a:solidFill>
                <a:latin typeface="Consolas"/>
                <a:ea typeface="Consolas"/>
                <a:cs typeface="Consolas"/>
                <a:sym typeface="Consolas"/>
              </a:rPr>
              <a:t> { … }</a:t>
            </a:r>
            <a:endParaRPr sz="1200"/>
          </a:p>
          <a:p>
            <a:pPr marL="0" marR="0" lvl="0" indent="0" algn="l" rtl="0">
              <a:spcBef>
                <a:spcPts val="0"/>
              </a:spcBef>
              <a:spcAft>
                <a:spcPts val="0"/>
              </a:spcAft>
              <a:buNone/>
            </a:pPr>
            <a:endParaRPr sz="1200">
              <a:solidFill>
                <a:schemeClr val="dk1"/>
              </a:solidFill>
              <a:latin typeface="Consolas"/>
              <a:ea typeface="Consolas"/>
              <a:cs typeface="Consolas"/>
              <a:sym typeface="Consolas"/>
            </a:endParaRPr>
          </a:p>
          <a:p>
            <a:pPr marL="0" marR="0" lvl="0" indent="0" algn="l" rtl="0">
              <a:spcBef>
                <a:spcPts val="0"/>
              </a:spcBef>
              <a:spcAft>
                <a:spcPts val="0"/>
              </a:spcAft>
              <a:buNone/>
            </a:pPr>
            <a:r>
              <a:rPr lang="it" sz="1200">
                <a:solidFill>
                  <a:schemeClr val="dk1"/>
                </a:solidFill>
                <a:latin typeface="Consolas"/>
                <a:ea typeface="Consolas"/>
                <a:cs typeface="Consolas"/>
                <a:sym typeface="Consolas"/>
              </a:rPr>
              <a:t>sort( listOf( "three", "two", "one" ) ) //ok </a:t>
            </a:r>
            <a:endParaRPr sz="1200"/>
          </a:p>
          <a:p>
            <a:pPr marL="0" marR="0" lvl="0" indent="0" algn="l" rtl="0">
              <a:spcBef>
                <a:spcPts val="0"/>
              </a:spcBef>
              <a:spcAft>
                <a:spcPts val="0"/>
              </a:spcAft>
              <a:buNone/>
            </a:pPr>
            <a:r>
              <a:rPr lang="it" sz="1200">
                <a:solidFill>
                  <a:schemeClr val="dk1"/>
                </a:solidFill>
                <a:latin typeface="Consolas"/>
                <a:ea typeface="Consolas"/>
                <a:cs typeface="Consolas"/>
                <a:sym typeface="Consolas"/>
              </a:rPr>
              <a:t>//String implements both Comparable&lt;String&gt; and CharSequence</a:t>
            </a:r>
            <a:endParaRPr sz="1200"/>
          </a:p>
          <a:p>
            <a:pPr marL="0" marR="0" lvl="0" indent="0" algn="l" rtl="0">
              <a:spcBef>
                <a:spcPts val="0"/>
              </a:spcBef>
              <a:spcAft>
                <a:spcPts val="0"/>
              </a:spcAft>
              <a:buNone/>
            </a:pPr>
            <a:endParaRPr sz="1200">
              <a:solidFill>
                <a:schemeClr val="dk1"/>
              </a:solidFill>
              <a:latin typeface="Consolas"/>
              <a:ea typeface="Consolas"/>
              <a:cs typeface="Consolas"/>
              <a:sym typeface="Consolas"/>
            </a:endParaRPr>
          </a:p>
          <a:p>
            <a:pPr marL="0" marR="0" lvl="0" indent="0" algn="l" rtl="0">
              <a:spcBef>
                <a:spcPts val="0"/>
              </a:spcBef>
              <a:spcAft>
                <a:spcPts val="0"/>
              </a:spcAft>
              <a:buNone/>
            </a:pPr>
            <a:r>
              <a:rPr lang="it" sz="1200">
                <a:solidFill>
                  <a:schemeClr val="dk1"/>
                </a:solidFill>
                <a:latin typeface="Consolas"/>
                <a:ea typeface="Consolas"/>
                <a:cs typeface="Consolas"/>
                <a:sym typeface="Consolas"/>
              </a:rPr>
              <a:t>// </a:t>
            </a:r>
            <a:r>
              <a:rPr lang="it" sz="1200" strike="sngStrike">
                <a:solidFill>
                  <a:schemeClr val="dk1"/>
                </a:solidFill>
                <a:latin typeface="Consolas"/>
                <a:ea typeface="Consolas"/>
                <a:cs typeface="Consolas"/>
                <a:sym typeface="Consolas"/>
              </a:rPr>
              <a:t>sort( listOf( 1, 2, 3 ) )</a:t>
            </a:r>
            <a:endParaRPr sz="1200" strike="sngStrike"/>
          </a:p>
          <a:p>
            <a:pPr marL="0" marR="0" lvl="0" indent="0" algn="l" rtl="0">
              <a:spcBef>
                <a:spcPts val="0"/>
              </a:spcBef>
              <a:spcAft>
                <a:spcPts val="0"/>
              </a:spcAft>
              <a:buNone/>
            </a:pPr>
            <a:r>
              <a:rPr lang="it" sz="1200">
                <a:solidFill>
                  <a:schemeClr val="dk1"/>
                </a:solidFill>
                <a:latin typeface="Consolas"/>
                <a:ea typeface="Consolas"/>
                <a:cs typeface="Consolas"/>
                <a:sym typeface="Consolas"/>
              </a:rPr>
              <a:t>// </a:t>
            </a:r>
            <a:r>
              <a:rPr lang="it" sz="1200">
                <a:solidFill>
                  <a:srgbClr val="980000"/>
                </a:solidFill>
                <a:latin typeface="Consolas"/>
                <a:ea typeface="Consolas"/>
                <a:cs typeface="Consolas"/>
                <a:sym typeface="Consolas"/>
              </a:rPr>
              <a:t>Type mismatch: inferred type is IntegerLiteralType[Int,Long,Byte,Short]</a:t>
            </a:r>
            <a:br>
              <a:rPr lang="it" sz="1200">
                <a:solidFill>
                  <a:srgbClr val="980000"/>
                </a:solidFill>
                <a:latin typeface="Consolas"/>
                <a:ea typeface="Consolas"/>
                <a:cs typeface="Consolas"/>
                <a:sym typeface="Consolas"/>
              </a:rPr>
            </a:br>
            <a:r>
              <a:rPr lang="it" sz="1200">
                <a:solidFill>
                  <a:schemeClr val="dk1"/>
                </a:solidFill>
                <a:latin typeface="Consolas"/>
                <a:ea typeface="Consolas"/>
                <a:cs typeface="Consolas"/>
                <a:sym typeface="Consolas"/>
              </a:rPr>
              <a:t>// </a:t>
            </a:r>
            <a:r>
              <a:rPr lang="it" sz="1200">
                <a:solidFill>
                  <a:srgbClr val="980000"/>
                </a:solidFill>
                <a:latin typeface="Consolas"/>
                <a:ea typeface="Consolas"/>
                <a:cs typeface="Consolas"/>
                <a:sym typeface="Consolas"/>
              </a:rPr>
              <a:t>but CharSequence was expected</a:t>
            </a:r>
            <a:endParaRPr sz="1200">
              <a:solidFill>
                <a:srgbClr val="980000"/>
              </a:solidFill>
            </a:endParaRPr>
          </a:p>
        </p:txBody>
      </p:sp>
      <p:sp>
        <p:nvSpPr>
          <p:cNvPr id="541" name="Google Shape;541;p66"/>
          <p:cNvSpPr txBox="1">
            <a:spLocks noGrp="1"/>
          </p:cNvSpPr>
          <p:nvPr>
            <p:ph type="sldNum" idx="12"/>
          </p:nvPr>
        </p:nvSpPr>
        <p:spPr>
          <a:xfrm>
            <a:off x="8472458" y="476850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it"/>
              <a:t>60</a:t>
            </a:fld>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545"/>
        <p:cNvGrpSpPr/>
        <p:nvPr/>
      </p:nvGrpSpPr>
      <p:grpSpPr>
        <a:xfrm>
          <a:off x="0" y="0"/>
          <a:ext cx="0" cy="0"/>
          <a:chOff x="0" y="0"/>
          <a:chExt cx="0" cy="0"/>
        </a:xfrm>
      </p:grpSpPr>
      <p:sp>
        <p:nvSpPr>
          <p:cNvPr id="546" name="Google Shape;546;p6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it" sz="2820"/>
              <a:t>Generic classes</a:t>
            </a:r>
            <a:endParaRPr sz="2820"/>
          </a:p>
        </p:txBody>
      </p:sp>
      <p:sp>
        <p:nvSpPr>
          <p:cNvPr id="547" name="Google Shape;547;p67"/>
          <p:cNvSpPr txBox="1">
            <a:spLocks noGrp="1"/>
          </p:cNvSpPr>
          <p:nvPr>
            <p:ph type="body" idx="1"/>
          </p:nvPr>
        </p:nvSpPr>
        <p:spPr>
          <a:xfrm>
            <a:off x="311150" y="1168004"/>
            <a:ext cx="8521800" cy="3393300"/>
          </a:xfrm>
          <a:prstGeom prst="rect">
            <a:avLst/>
          </a:prstGeom>
        </p:spPr>
        <p:txBody>
          <a:bodyPr spcFirstLastPara="1" wrap="square" lIns="91425" tIns="45700" rIns="91425" bIns="45700" anchor="t" anchorCtr="0">
            <a:normAutofit/>
          </a:bodyPr>
          <a:lstStyle/>
          <a:p>
            <a:pPr marL="457200" lvl="0" indent="-355600" algn="l" rtl="0">
              <a:spcBef>
                <a:spcPts val="600"/>
              </a:spcBef>
              <a:spcAft>
                <a:spcPts val="0"/>
              </a:spcAft>
              <a:buSzPts val="2000"/>
              <a:buChar char="•"/>
            </a:pPr>
            <a:r>
              <a:rPr lang="it"/>
              <a:t>A class may depend on generic types, too</a:t>
            </a:r>
            <a:endParaRPr/>
          </a:p>
          <a:p>
            <a:pPr marL="914400" lvl="1" indent="-330200" algn="l" rtl="0">
              <a:spcBef>
                <a:spcPts val="0"/>
              </a:spcBef>
              <a:spcAft>
                <a:spcPts val="0"/>
              </a:spcAft>
              <a:buSzPts val="1600"/>
              <a:buChar char="○"/>
            </a:pPr>
            <a:r>
              <a:rPr lang="it"/>
              <a:t>The Kotlin syntax requires that type parameters have to be declared after the class name, before the primary constructor </a:t>
            </a:r>
            <a:endParaRPr/>
          </a:p>
          <a:p>
            <a:pPr marL="457200" lvl="0" indent="-355600" algn="l" rtl="0">
              <a:spcBef>
                <a:spcPts val="0"/>
              </a:spcBef>
              <a:spcAft>
                <a:spcPts val="0"/>
              </a:spcAft>
              <a:buSzPts val="2000"/>
              <a:buChar char="•"/>
            </a:pPr>
            <a:r>
              <a:rPr lang="it"/>
              <a:t>A generic parameter may be prefixed with the </a:t>
            </a:r>
            <a:r>
              <a:rPr lang="it" b="1">
                <a:solidFill>
                  <a:srgbClr val="0B5394"/>
                </a:solidFill>
                <a:latin typeface="Consolas"/>
                <a:ea typeface="Consolas"/>
                <a:cs typeface="Consolas"/>
                <a:sym typeface="Consolas"/>
              </a:rPr>
              <a:t>in</a:t>
            </a:r>
            <a:r>
              <a:rPr lang="it"/>
              <a:t> and </a:t>
            </a:r>
            <a:r>
              <a:rPr lang="it" b="1">
                <a:solidFill>
                  <a:srgbClr val="0B5394"/>
                </a:solidFill>
                <a:latin typeface="Consolas"/>
                <a:ea typeface="Consolas"/>
                <a:cs typeface="Consolas"/>
                <a:sym typeface="Consolas"/>
              </a:rPr>
              <a:t>out</a:t>
            </a:r>
            <a:r>
              <a:rPr lang="it"/>
              <a:t> keyword to specify variance in generic types </a:t>
            </a:r>
            <a:endParaRPr/>
          </a:p>
          <a:p>
            <a:pPr marL="914400" lvl="1" indent="-330200" algn="l" rtl="0">
              <a:spcBef>
                <a:spcPts val="0"/>
              </a:spcBef>
              <a:spcAft>
                <a:spcPts val="0"/>
              </a:spcAft>
              <a:buSzPts val="1600"/>
              <a:buChar char="○"/>
            </a:pPr>
            <a:r>
              <a:rPr lang="it"/>
              <a:t>Variance refers to the way in which the subtyping relationship between types is preserved or reversed when the types are used as type arguments</a:t>
            </a:r>
            <a:endParaRPr/>
          </a:p>
        </p:txBody>
      </p:sp>
      <p:sp>
        <p:nvSpPr>
          <p:cNvPr id="548" name="Google Shape;548;p67"/>
          <p:cNvSpPr txBox="1"/>
          <p:nvPr/>
        </p:nvSpPr>
        <p:spPr>
          <a:xfrm>
            <a:off x="480000" y="3450913"/>
            <a:ext cx="3711900" cy="861734"/>
          </a:xfrm>
          <a:prstGeom prst="rect">
            <a:avLst/>
          </a:prstGeom>
          <a:solidFill>
            <a:srgbClr val="FFF2CC"/>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SzPts val="1100"/>
              <a:buNone/>
            </a:pPr>
            <a:r>
              <a:rPr lang="it" sz="1000">
                <a:solidFill>
                  <a:schemeClr val="dk1"/>
                </a:solidFill>
                <a:latin typeface="Consolas"/>
                <a:ea typeface="Consolas"/>
                <a:cs typeface="Consolas"/>
                <a:sym typeface="Consolas"/>
              </a:rPr>
              <a:t>class Box</a:t>
            </a:r>
            <a:r>
              <a:rPr lang="it" sz="1000" b="1">
                <a:solidFill>
                  <a:srgbClr val="0B5394"/>
                </a:solidFill>
                <a:highlight>
                  <a:schemeClr val="accent6"/>
                </a:highlight>
                <a:latin typeface="Consolas"/>
                <a:ea typeface="Consolas"/>
                <a:cs typeface="Consolas"/>
                <a:sym typeface="Consolas"/>
              </a:rPr>
              <a:t>&lt;T&gt;</a:t>
            </a:r>
            <a:r>
              <a:rPr lang="it" sz="1000">
                <a:solidFill>
                  <a:schemeClr val="dk1"/>
                </a:solidFill>
                <a:latin typeface="Consolas"/>
                <a:ea typeface="Consolas"/>
                <a:cs typeface="Consolas"/>
                <a:sym typeface="Consolas"/>
              </a:rPr>
              <a:t>(private val content: </a:t>
            </a:r>
            <a:r>
              <a:rPr lang="it" sz="1000" b="1">
                <a:solidFill>
                  <a:srgbClr val="0B5394"/>
                </a:solidFill>
                <a:latin typeface="Consolas"/>
                <a:ea typeface="Consolas"/>
                <a:cs typeface="Consolas"/>
                <a:sym typeface="Consolas"/>
              </a:rPr>
              <a:t>T</a:t>
            </a:r>
            <a:r>
              <a:rPr lang="it" sz="1000">
                <a:solidFill>
                  <a:schemeClr val="dk1"/>
                </a:solidFill>
                <a:latin typeface="Consolas"/>
                <a:ea typeface="Consolas"/>
                <a:cs typeface="Consolas"/>
                <a:sym typeface="Consolas"/>
              </a:rPr>
              <a:t>) {</a:t>
            </a:r>
            <a:endParaRPr sz="1000">
              <a:solidFill>
                <a:schemeClr val="dk1"/>
              </a:solidFill>
              <a:latin typeface="Consolas"/>
              <a:ea typeface="Consolas"/>
              <a:cs typeface="Consolas"/>
              <a:sym typeface="Consolas"/>
            </a:endParaRPr>
          </a:p>
          <a:p>
            <a:pPr marL="0" marR="0" lvl="0" indent="0" algn="l" rtl="0">
              <a:spcBef>
                <a:spcPts val="0"/>
              </a:spcBef>
              <a:spcAft>
                <a:spcPts val="0"/>
              </a:spcAft>
              <a:buSzPts val="1100"/>
              <a:buNone/>
            </a:pPr>
            <a:r>
              <a:rPr lang="it" sz="1000">
                <a:solidFill>
                  <a:schemeClr val="dk1"/>
                </a:solidFill>
                <a:latin typeface="Consolas"/>
                <a:ea typeface="Consolas"/>
                <a:cs typeface="Consolas"/>
                <a:sym typeface="Consolas"/>
              </a:rPr>
              <a:t>    fun getContent(): </a:t>
            </a:r>
            <a:r>
              <a:rPr lang="it" sz="1000" b="1">
                <a:solidFill>
                  <a:srgbClr val="0B5394"/>
                </a:solidFill>
                <a:latin typeface="Consolas"/>
                <a:ea typeface="Consolas"/>
                <a:cs typeface="Consolas"/>
                <a:sym typeface="Consolas"/>
              </a:rPr>
              <a:t>T</a:t>
            </a:r>
            <a:r>
              <a:rPr lang="it" sz="1000">
                <a:solidFill>
                  <a:schemeClr val="dk1"/>
                </a:solidFill>
                <a:latin typeface="Consolas"/>
                <a:ea typeface="Consolas"/>
                <a:cs typeface="Consolas"/>
                <a:sym typeface="Consolas"/>
              </a:rPr>
              <a:t> {</a:t>
            </a:r>
            <a:endParaRPr sz="1000">
              <a:solidFill>
                <a:schemeClr val="dk1"/>
              </a:solidFill>
              <a:latin typeface="Consolas"/>
              <a:ea typeface="Consolas"/>
              <a:cs typeface="Consolas"/>
              <a:sym typeface="Consolas"/>
            </a:endParaRPr>
          </a:p>
          <a:p>
            <a:pPr marL="0" marR="0" lvl="0" indent="0" algn="l" rtl="0">
              <a:spcBef>
                <a:spcPts val="0"/>
              </a:spcBef>
              <a:spcAft>
                <a:spcPts val="0"/>
              </a:spcAft>
              <a:buSzPts val="1100"/>
              <a:buNone/>
            </a:pPr>
            <a:r>
              <a:rPr lang="it" sz="1000">
                <a:solidFill>
                  <a:schemeClr val="dk1"/>
                </a:solidFill>
                <a:latin typeface="Consolas"/>
                <a:ea typeface="Consolas"/>
                <a:cs typeface="Consolas"/>
                <a:sym typeface="Consolas"/>
              </a:rPr>
              <a:t>        return content</a:t>
            </a:r>
            <a:endParaRPr sz="1000">
              <a:solidFill>
                <a:schemeClr val="dk1"/>
              </a:solidFill>
              <a:latin typeface="Consolas"/>
              <a:ea typeface="Consolas"/>
              <a:cs typeface="Consolas"/>
              <a:sym typeface="Consolas"/>
            </a:endParaRPr>
          </a:p>
          <a:p>
            <a:pPr marL="0" marR="0" lvl="0" indent="0" algn="l" rtl="0">
              <a:spcBef>
                <a:spcPts val="0"/>
              </a:spcBef>
              <a:spcAft>
                <a:spcPts val="0"/>
              </a:spcAft>
              <a:buSzPts val="1100"/>
              <a:buNone/>
            </a:pPr>
            <a:r>
              <a:rPr lang="it" sz="1000">
                <a:solidFill>
                  <a:schemeClr val="dk1"/>
                </a:solidFill>
                <a:latin typeface="Consolas"/>
                <a:ea typeface="Consolas"/>
                <a:cs typeface="Consolas"/>
                <a:sym typeface="Consolas"/>
              </a:rPr>
              <a:t>    }</a:t>
            </a:r>
            <a:endParaRPr sz="1000">
              <a:solidFill>
                <a:schemeClr val="dk1"/>
              </a:solidFill>
              <a:latin typeface="Consolas"/>
              <a:ea typeface="Consolas"/>
              <a:cs typeface="Consolas"/>
              <a:sym typeface="Consolas"/>
            </a:endParaRPr>
          </a:p>
          <a:p>
            <a:pPr marL="0" marR="0" lvl="0" indent="0" algn="l" rtl="0">
              <a:spcBef>
                <a:spcPts val="0"/>
              </a:spcBef>
              <a:spcAft>
                <a:spcPts val="0"/>
              </a:spcAft>
              <a:buSzPts val="1100"/>
              <a:buNone/>
            </a:pPr>
            <a:r>
              <a:rPr lang="it" sz="1000">
                <a:solidFill>
                  <a:schemeClr val="dk1"/>
                </a:solidFill>
                <a:latin typeface="Consolas"/>
                <a:ea typeface="Consolas"/>
                <a:cs typeface="Consolas"/>
                <a:sym typeface="Consolas"/>
              </a:rPr>
              <a:t>}</a:t>
            </a:r>
            <a:endParaRPr sz="1000">
              <a:solidFill>
                <a:schemeClr val="dk1"/>
              </a:solidFill>
              <a:latin typeface="Consolas"/>
              <a:ea typeface="Consolas"/>
              <a:cs typeface="Consolas"/>
              <a:sym typeface="Consolas"/>
            </a:endParaRPr>
          </a:p>
        </p:txBody>
      </p:sp>
      <p:sp>
        <p:nvSpPr>
          <p:cNvPr id="549" name="Google Shape;549;p67"/>
          <p:cNvSpPr txBox="1"/>
          <p:nvPr/>
        </p:nvSpPr>
        <p:spPr>
          <a:xfrm>
            <a:off x="4376000" y="3450913"/>
            <a:ext cx="3711900" cy="861734"/>
          </a:xfrm>
          <a:prstGeom prst="rect">
            <a:avLst/>
          </a:prstGeom>
          <a:solidFill>
            <a:srgbClr val="FFF2CC"/>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SzPts val="1100"/>
              <a:buNone/>
            </a:pPr>
            <a:r>
              <a:rPr lang="it" sz="1000">
                <a:solidFill>
                  <a:schemeClr val="dk1"/>
                </a:solidFill>
                <a:latin typeface="Consolas"/>
                <a:ea typeface="Consolas"/>
                <a:cs typeface="Consolas"/>
                <a:sym typeface="Consolas"/>
              </a:rPr>
              <a:t>val b1 = Box("hello")</a:t>
            </a:r>
            <a:endParaRPr sz="1000">
              <a:solidFill>
                <a:schemeClr val="dk1"/>
              </a:solidFill>
              <a:latin typeface="Consolas"/>
              <a:ea typeface="Consolas"/>
              <a:cs typeface="Consolas"/>
              <a:sym typeface="Consolas"/>
            </a:endParaRPr>
          </a:p>
          <a:p>
            <a:pPr marL="0" marR="0" lvl="0" indent="0" algn="l" rtl="0">
              <a:spcBef>
                <a:spcPts val="0"/>
              </a:spcBef>
              <a:spcAft>
                <a:spcPts val="0"/>
              </a:spcAft>
              <a:buSzPts val="1100"/>
              <a:buNone/>
            </a:pPr>
            <a:r>
              <a:rPr lang="it" sz="1000">
                <a:solidFill>
                  <a:schemeClr val="dk1"/>
                </a:solidFill>
                <a:latin typeface="Consolas"/>
                <a:ea typeface="Consolas"/>
                <a:cs typeface="Consolas"/>
                <a:sym typeface="Consolas"/>
              </a:rPr>
              <a:t>val b2 = Box(12)</a:t>
            </a:r>
            <a:endParaRPr sz="1000">
              <a:solidFill>
                <a:schemeClr val="dk1"/>
              </a:solidFill>
              <a:latin typeface="Consolas"/>
              <a:ea typeface="Consolas"/>
              <a:cs typeface="Consolas"/>
              <a:sym typeface="Consolas"/>
            </a:endParaRPr>
          </a:p>
          <a:p>
            <a:pPr marL="0" marR="0" lvl="0" indent="0" algn="l" rtl="0">
              <a:spcBef>
                <a:spcPts val="0"/>
              </a:spcBef>
              <a:spcAft>
                <a:spcPts val="0"/>
              </a:spcAft>
              <a:buSzPts val="1100"/>
              <a:buNone/>
            </a:pPr>
            <a:r>
              <a:rPr lang="it" sz="1000">
                <a:solidFill>
                  <a:schemeClr val="dk1"/>
                </a:solidFill>
                <a:latin typeface="Consolas"/>
                <a:ea typeface="Consolas"/>
                <a:cs typeface="Consolas"/>
                <a:sym typeface="Consolas"/>
              </a:rPr>
              <a:t>val s: String = b1.getContent() // "hello"</a:t>
            </a:r>
            <a:endParaRPr sz="1000">
              <a:solidFill>
                <a:schemeClr val="dk1"/>
              </a:solidFill>
              <a:latin typeface="Consolas"/>
              <a:ea typeface="Consolas"/>
              <a:cs typeface="Consolas"/>
              <a:sym typeface="Consolas"/>
            </a:endParaRPr>
          </a:p>
          <a:p>
            <a:pPr marL="0" marR="0" lvl="0" indent="0" algn="l" rtl="0">
              <a:spcBef>
                <a:spcPts val="0"/>
              </a:spcBef>
              <a:spcAft>
                <a:spcPts val="0"/>
              </a:spcAft>
              <a:buSzPts val="1100"/>
              <a:buNone/>
            </a:pPr>
            <a:r>
              <a:rPr lang="it" sz="1000">
                <a:solidFill>
                  <a:schemeClr val="dk1"/>
                </a:solidFill>
                <a:latin typeface="Consolas"/>
                <a:ea typeface="Consolas"/>
                <a:cs typeface="Consolas"/>
                <a:sym typeface="Consolas"/>
              </a:rPr>
              <a:t>val i: Int = b2.getContent() // 12</a:t>
            </a:r>
            <a:endParaRPr sz="1000">
              <a:solidFill>
                <a:schemeClr val="dk1"/>
              </a:solidFill>
              <a:latin typeface="Consolas"/>
              <a:ea typeface="Consolas"/>
              <a:cs typeface="Consolas"/>
              <a:sym typeface="Consolas"/>
            </a:endParaRPr>
          </a:p>
          <a:p>
            <a:pPr marL="0" marR="0" lvl="0" indent="0" algn="l" rtl="0">
              <a:spcBef>
                <a:spcPts val="0"/>
              </a:spcBef>
              <a:spcAft>
                <a:spcPts val="0"/>
              </a:spcAft>
              <a:buSzPts val="1100"/>
              <a:buNone/>
            </a:pPr>
            <a:r>
              <a:rPr lang="it" sz="1000">
                <a:solidFill>
                  <a:schemeClr val="dk1"/>
                </a:solidFill>
                <a:latin typeface="Consolas"/>
                <a:ea typeface="Consolas"/>
                <a:cs typeface="Consolas"/>
                <a:sym typeface="Consolas"/>
              </a:rPr>
              <a:t>// </a:t>
            </a:r>
            <a:r>
              <a:rPr lang="it" sz="1000" strike="sngStrike">
                <a:solidFill>
                  <a:schemeClr val="dk1"/>
                </a:solidFill>
                <a:latin typeface="Consolas"/>
                <a:ea typeface="Consolas"/>
                <a:cs typeface="Consolas"/>
                <a:sym typeface="Consolas"/>
              </a:rPr>
              <a:t>val b = b1 is Box&lt;Int&gt;</a:t>
            </a:r>
            <a:endParaRPr sz="1000" strike="sngStrike">
              <a:solidFill>
                <a:schemeClr val="dk1"/>
              </a:solidFill>
              <a:latin typeface="Consolas"/>
              <a:ea typeface="Consolas"/>
              <a:cs typeface="Consolas"/>
              <a:sym typeface="Consolas"/>
            </a:endParaRPr>
          </a:p>
        </p:txBody>
      </p:sp>
      <p:sp>
        <p:nvSpPr>
          <p:cNvPr id="550" name="Google Shape;550;p67"/>
          <p:cNvSpPr/>
          <p:nvPr/>
        </p:nvSpPr>
        <p:spPr>
          <a:xfrm>
            <a:off x="4191900" y="4402800"/>
            <a:ext cx="3776100" cy="312000"/>
          </a:xfrm>
          <a:prstGeom prst="wedgeRectCallout">
            <a:avLst>
              <a:gd name="adj1" fmla="val -211"/>
              <a:gd name="adj2" fmla="val -91795"/>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it" sz="1200">
                <a:solidFill>
                  <a:srgbClr val="980000"/>
                </a:solidFill>
              </a:rPr>
              <a:t>Cannot check for instance of erased type: Box&lt;Int&gt;</a:t>
            </a:r>
            <a:endParaRPr sz="1200">
              <a:solidFill>
                <a:srgbClr val="980000"/>
              </a:solidFill>
            </a:endParaRPr>
          </a:p>
        </p:txBody>
      </p:sp>
      <p:sp>
        <p:nvSpPr>
          <p:cNvPr id="551" name="Google Shape;551;p67"/>
          <p:cNvSpPr txBox="1">
            <a:spLocks noGrp="1"/>
          </p:cNvSpPr>
          <p:nvPr>
            <p:ph type="sldNum" idx="12"/>
          </p:nvPr>
        </p:nvSpPr>
        <p:spPr>
          <a:xfrm>
            <a:off x="8472458" y="476850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it"/>
              <a:t>61</a:t>
            </a:fld>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555"/>
        <p:cNvGrpSpPr/>
        <p:nvPr/>
      </p:nvGrpSpPr>
      <p:grpSpPr>
        <a:xfrm>
          <a:off x="0" y="0"/>
          <a:ext cx="0" cy="0"/>
          <a:chOff x="0" y="0"/>
          <a:chExt cx="0" cy="0"/>
        </a:xfrm>
      </p:grpSpPr>
      <p:sp>
        <p:nvSpPr>
          <p:cNvPr id="556" name="Google Shape;556;p6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it" sz="2820"/>
              <a:t>Variance in generic classes</a:t>
            </a:r>
            <a:endParaRPr sz="2820"/>
          </a:p>
        </p:txBody>
      </p:sp>
      <p:sp>
        <p:nvSpPr>
          <p:cNvPr id="557" name="Google Shape;557;p68"/>
          <p:cNvSpPr txBox="1">
            <a:spLocks noGrp="1"/>
          </p:cNvSpPr>
          <p:nvPr>
            <p:ph type="body" idx="1"/>
          </p:nvPr>
        </p:nvSpPr>
        <p:spPr>
          <a:xfrm>
            <a:off x="313200" y="2110850"/>
            <a:ext cx="3999900" cy="2457900"/>
          </a:xfrm>
          <a:prstGeom prst="rect">
            <a:avLst/>
          </a:prstGeom>
        </p:spPr>
        <p:txBody>
          <a:bodyPr spcFirstLastPara="1" wrap="square" lIns="91425" tIns="45700" rIns="91425" bIns="45700" anchor="t" anchorCtr="0">
            <a:normAutofit/>
          </a:bodyPr>
          <a:lstStyle/>
          <a:p>
            <a:pPr marL="457200" marR="0" lvl="0" indent="-317500" algn="l" rtl="0">
              <a:lnSpc>
                <a:spcPct val="115000"/>
              </a:lnSpc>
              <a:spcBef>
                <a:spcPts val="600"/>
              </a:spcBef>
              <a:spcAft>
                <a:spcPts val="0"/>
              </a:spcAft>
              <a:buSzPts val="1400"/>
              <a:buChar char="•"/>
            </a:pPr>
            <a:r>
              <a:rPr lang="it"/>
              <a:t>The </a:t>
            </a:r>
            <a:r>
              <a:rPr lang="it" b="1">
                <a:solidFill>
                  <a:srgbClr val="0B5394"/>
                </a:solidFill>
                <a:latin typeface="Consolas"/>
                <a:ea typeface="Consolas"/>
                <a:cs typeface="Consolas"/>
                <a:sym typeface="Consolas"/>
              </a:rPr>
              <a:t>out</a:t>
            </a:r>
            <a:r>
              <a:rPr lang="it"/>
              <a:t> keyword specifies that T is a </a:t>
            </a:r>
            <a:r>
              <a:rPr lang="it" b="1">
                <a:solidFill>
                  <a:srgbClr val="0B5394"/>
                </a:solidFill>
              </a:rPr>
              <a:t>covariant</a:t>
            </a:r>
            <a:r>
              <a:rPr lang="it"/>
              <a:t> type parameter in </a:t>
            </a:r>
            <a:r>
              <a:rPr lang="it" b="1">
                <a:solidFill>
                  <a:srgbClr val="0B5394"/>
                </a:solidFill>
                <a:latin typeface="Consolas"/>
                <a:ea typeface="Consolas"/>
                <a:cs typeface="Consolas"/>
                <a:sym typeface="Consolas"/>
              </a:rPr>
              <a:t>Source</a:t>
            </a:r>
            <a:endParaRPr b="1">
              <a:solidFill>
                <a:srgbClr val="0B5394"/>
              </a:solidFill>
              <a:latin typeface="Consolas"/>
              <a:ea typeface="Consolas"/>
              <a:cs typeface="Consolas"/>
              <a:sym typeface="Consolas"/>
            </a:endParaRPr>
          </a:p>
          <a:p>
            <a:pPr marL="914400" lvl="1" indent="-304800" algn="l" rtl="0">
              <a:spcBef>
                <a:spcPts val="0"/>
              </a:spcBef>
              <a:spcAft>
                <a:spcPts val="0"/>
              </a:spcAft>
              <a:buSzPts val="1200"/>
              <a:buChar char="○"/>
            </a:pPr>
            <a:r>
              <a:rPr lang="it"/>
              <a:t>It means that </a:t>
            </a:r>
            <a:r>
              <a:rPr lang="it" b="1">
                <a:solidFill>
                  <a:srgbClr val="0B5394"/>
                </a:solidFill>
                <a:latin typeface="Consolas"/>
                <a:ea typeface="Consolas"/>
                <a:cs typeface="Consolas"/>
                <a:sym typeface="Consolas"/>
              </a:rPr>
              <a:t>Source&lt;S&gt;</a:t>
            </a:r>
            <a:r>
              <a:rPr lang="it"/>
              <a:t> is a subtype of </a:t>
            </a:r>
            <a:r>
              <a:rPr lang="it" b="1">
                <a:solidFill>
                  <a:srgbClr val="0B5394"/>
                </a:solidFill>
                <a:latin typeface="Consolas"/>
                <a:ea typeface="Consolas"/>
                <a:cs typeface="Consolas"/>
                <a:sym typeface="Consolas"/>
              </a:rPr>
              <a:t>Source&lt;T&gt;</a:t>
            </a:r>
            <a:r>
              <a:rPr lang="it"/>
              <a:t> if </a:t>
            </a:r>
            <a:r>
              <a:rPr lang="it" b="1">
                <a:solidFill>
                  <a:srgbClr val="0B5394"/>
                </a:solidFill>
                <a:latin typeface="Consolas"/>
                <a:ea typeface="Consolas"/>
                <a:cs typeface="Consolas"/>
                <a:sym typeface="Consolas"/>
              </a:rPr>
              <a:t>S</a:t>
            </a:r>
            <a:r>
              <a:rPr lang="it"/>
              <a:t> is a subtype of </a:t>
            </a:r>
            <a:r>
              <a:rPr lang="it" b="1">
                <a:solidFill>
                  <a:srgbClr val="0B5394"/>
                </a:solidFill>
                <a:latin typeface="Consolas"/>
                <a:ea typeface="Consolas"/>
                <a:cs typeface="Consolas"/>
                <a:sym typeface="Consolas"/>
              </a:rPr>
              <a:t>T</a:t>
            </a:r>
            <a:r>
              <a:rPr lang="it"/>
              <a:t> </a:t>
            </a:r>
            <a:endParaRPr/>
          </a:p>
          <a:p>
            <a:pPr marL="457200" lvl="0" indent="-317500" algn="l" rtl="0">
              <a:spcBef>
                <a:spcPts val="0"/>
              </a:spcBef>
              <a:spcAft>
                <a:spcPts val="0"/>
              </a:spcAft>
              <a:buSzPts val="1400"/>
              <a:buChar char="•"/>
            </a:pPr>
            <a:r>
              <a:rPr lang="it"/>
              <a:t>Covariant type parameters can only appear in output positions</a:t>
            </a:r>
            <a:endParaRPr/>
          </a:p>
          <a:p>
            <a:pPr marL="914400" lvl="1" indent="-304800" algn="l" rtl="0">
              <a:spcBef>
                <a:spcPts val="0"/>
              </a:spcBef>
              <a:spcAft>
                <a:spcPts val="0"/>
              </a:spcAft>
              <a:buSzPts val="1200"/>
              <a:buChar char="○"/>
            </a:pPr>
            <a:r>
              <a:rPr lang="it"/>
              <a:t>Such as the return type of a function or a property</a:t>
            </a:r>
            <a:endParaRPr/>
          </a:p>
        </p:txBody>
      </p:sp>
      <p:sp>
        <p:nvSpPr>
          <p:cNvPr id="558" name="Google Shape;558;p68"/>
          <p:cNvSpPr txBox="1">
            <a:spLocks noGrp="1"/>
          </p:cNvSpPr>
          <p:nvPr>
            <p:ph type="body" idx="2"/>
          </p:nvPr>
        </p:nvSpPr>
        <p:spPr>
          <a:xfrm>
            <a:off x="4832400" y="2110850"/>
            <a:ext cx="3999900" cy="2457900"/>
          </a:xfrm>
          <a:prstGeom prst="rect">
            <a:avLst/>
          </a:prstGeom>
        </p:spPr>
        <p:txBody>
          <a:bodyPr spcFirstLastPara="1" wrap="square" lIns="91425" tIns="45700" rIns="91425" bIns="45700" anchor="t" anchorCtr="0">
            <a:normAutofit/>
          </a:bodyPr>
          <a:lstStyle/>
          <a:p>
            <a:pPr marL="457200" marR="0" lvl="0" indent="-317500" algn="l" rtl="0">
              <a:lnSpc>
                <a:spcPct val="115000"/>
              </a:lnSpc>
              <a:spcBef>
                <a:spcPts val="600"/>
              </a:spcBef>
              <a:spcAft>
                <a:spcPts val="0"/>
              </a:spcAft>
              <a:buSzPts val="1400"/>
              <a:buChar char="•"/>
            </a:pPr>
            <a:r>
              <a:rPr lang="it"/>
              <a:t>The </a:t>
            </a:r>
            <a:r>
              <a:rPr lang="it" b="1">
                <a:solidFill>
                  <a:srgbClr val="0B5394"/>
                </a:solidFill>
                <a:latin typeface="Consolas"/>
                <a:ea typeface="Consolas"/>
                <a:cs typeface="Consolas"/>
                <a:sym typeface="Consolas"/>
              </a:rPr>
              <a:t>in</a:t>
            </a:r>
            <a:r>
              <a:rPr lang="it"/>
              <a:t> keyword specifies that T is a </a:t>
            </a:r>
            <a:r>
              <a:rPr lang="it" b="1">
                <a:solidFill>
                  <a:srgbClr val="0B5394"/>
                </a:solidFill>
              </a:rPr>
              <a:t>contravariant</a:t>
            </a:r>
            <a:r>
              <a:rPr lang="it"/>
              <a:t> type parameter in </a:t>
            </a:r>
            <a:r>
              <a:rPr lang="it" b="1">
                <a:solidFill>
                  <a:srgbClr val="0B5394"/>
                </a:solidFill>
                <a:latin typeface="Consolas"/>
                <a:ea typeface="Consolas"/>
                <a:cs typeface="Consolas"/>
                <a:sym typeface="Consolas"/>
              </a:rPr>
              <a:t>Sink</a:t>
            </a:r>
            <a:endParaRPr>
              <a:latin typeface="Consolas"/>
              <a:ea typeface="Consolas"/>
              <a:cs typeface="Consolas"/>
              <a:sym typeface="Consolas"/>
            </a:endParaRPr>
          </a:p>
          <a:p>
            <a:pPr marL="914400" marR="0" lvl="1" indent="-304800" algn="l" rtl="0">
              <a:lnSpc>
                <a:spcPct val="115000"/>
              </a:lnSpc>
              <a:spcBef>
                <a:spcPts val="0"/>
              </a:spcBef>
              <a:spcAft>
                <a:spcPts val="0"/>
              </a:spcAft>
              <a:buSzPts val="1200"/>
              <a:buChar char="○"/>
            </a:pPr>
            <a:r>
              <a:rPr lang="it"/>
              <a:t>It means that </a:t>
            </a:r>
            <a:r>
              <a:rPr lang="it" b="1">
                <a:solidFill>
                  <a:srgbClr val="0B5394"/>
                </a:solidFill>
                <a:latin typeface="Consolas"/>
                <a:ea typeface="Consolas"/>
                <a:cs typeface="Consolas"/>
                <a:sym typeface="Consolas"/>
              </a:rPr>
              <a:t>Sink&lt;S&gt;</a:t>
            </a:r>
            <a:r>
              <a:rPr lang="it"/>
              <a:t> is a subtype of </a:t>
            </a:r>
            <a:r>
              <a:rPr lang="it" b="1">
                <a:solidFill>
                  <a:srgbClr val="0B5394"/>
                </a:solidFill>
                <a:latin typeface="Consolas"/>
                <a:ea typeface="Consolas"/>
                <a:cs typeface="Consolas"/>
                <a:sym typeface="Consolas"/>
              </a:rPr>
              <a:t>Sink&lt;T&gt;</a:t>
            </a:r>
            <a:r>
              <a:rPr lang="it"/>
              <a:t> if </a:t>
            </a:r>
            <a:r>
              <a:rPr lang="it" b="1">
                <a:solidFill>
                  <a:srgbClr val="0B5394"/>
                </a:solidFill>
                <a:latin typeface="Consolas"/>
                <a:ea typeface="Consolas"/>
                <a:cs typeface="Consolas"/>
                <a:sym typeface="Consolas"/>
              </a:rPr>
              <a:t>T</a:t>
            </a:r>
            <a:r>
              <a:rPr lang="it"/>
              <a:t> is a subtype of </a:t>
            </a:r>
            <a:r>
              <a:rPr lang="it" b="1">
                <a:solidFill>
                  <a:srgbClr val="0B5394"/>
                </a:solidFill>
                <a:latin typeface="Consolas"/>
                <a:ea typeface="Consolas"/>
                <a:cs typeface="Consolas"/>
                <a:sym typeface="Consolas"/>
              </a:rPr>
              <a:t>S</a:t>
            </a:r>
            <a:r>
              <a:rPr lang="it"/>
              <a:t> </a:t>
            </a:r>
            <a:endParaRPr/>
          </a:p>
          <a:p>
            <a:pPr marL="457200" marR="0" lvl="0" indent="-317500" algn="l" rtl="0">
              <a:lnSpc>
                <a:spcPct val="115000"/>
              </a:lnSpc>
              <a:spcBef>
                <a:spcPts val="0"/>
              </a:spcBef>
              <a:spcAft>
                <a:spcPts val="0"/>
              </a:spcAft>
              <a:buSzPts val="1400"/>
              <a:buChar char="•"/>
            </a:pPr>
            <a:r>
              <a:rPr lang="it"/>
              <a:t>Contravariant type parameters can only appear in input positions</a:t>
            </a:r>
            <a:endParaRPr/>
          </a:p>
          <a:p>
            <a:pPr marL="914400" marR="0" lvl="1" indent="-304800" algn="l" rtl="0">
              <a:lnSpc>
                <a:spcPct val="115000"/>
              </a:lnSpc>
              <a:spcBef>
                <a:spcPts val="0"/>
              </a:spcBef>
              <a:spcAft>
                <a:spcPts val="0"/>
              </a:spcAft>
              <a:buSzPts val="1200"/>
              <a:buChar char="○"/>
            </a:pPr>
            <a:r>
              <a:rPr lang="it"/>
              <a:t>Such as the parameter types of a function or a property setter</a:t>
            </a:r>
            <a:endParaRPr/>
          </a:p>
        </p:txBody>
      </p:sp>
      <p:sp>
        <p:nvSpPr>
          <p:cNvPr id="559" name="Google Shape;559;p68"/>
          <p:cNvSpPr txBox="1"/>
          <p:nvPr/>
        </p:nvSpPr>
        <p:spPr>
          <a:xfrm>
            <a:off x="455700" y="1245613"/>
            <a:ext cx="3711900" cy="646500"/>
          </a:xfrm>
          <a:prstGeom prst="rect">
            <a:avLst/>
          </a:prstGeom>
          <a:solidFill>
            <a:srgbClr val="FFF2CC"/>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SzPts val="1100"/>
              <a:buNone/>
            </a:pPr>
            <a:r>
              <a:rPr lang="it" sz="1200">
                <a:solidFill>
                  <a:schemeClr val="dk1"/>
                </a:solidFill>
                <a:latin typeface="Consolas"/>
                <a:ea typeface="Consolas"/>
                <a:cs typeface="Consolas"/>
                <a:sym typeface="Consolas"/>
              </a:rPr>
              <a:t>interface Source</a:t>
            </a:r>
            <a:r>
              <a:rPr lang="it" sz="1200" b="1">
                <a:solidFill>
                  <a:srgbClr val="0B5394"/>
                </a:solidFill>
                <a:latin typeface="Consolas"/>
                <a:ea typeface="Consolas"/>
                <a:cs typeface="Consolas"/>
                <a:sym typeface="Consolas"/>
              </a:rPr>
              <a:t>&lt;out T&gt;</a:t>
            </a:r>
            <a:r>
              <a:rPr lang="it" sz="1200">
                <a:solidFill>
                  <a:schemeClr val="dk1"/>
                </a:solidFill>
                <a:latin typeface="Consolas"/>
                <a:ea typeface="Consolas"/>
                <a:cs typeface="Consolas"/>
                <a:sym typeface="Consolas"/>
              </a:rPr>
              <a:t> {</a:t>
            </a:r>
            <a:endParaRPr sz="1200">
              <a:solidFill>
                <a:schemeClr val="dk1"/>
              </a:solidFill>
              <a:latin typeface="Consolas"/>
              <a:ea typeface="Consolas"/>
              <a:cs typeface="Consolas"/>
              <a:sym typeface="Consolas"/>
            </a:endParaRPr>
          </a:p>
          <a:p>
            <a:pPr marL="0" marR="0" lvl="0" indent="0" algn="l" rtl="0">
              <a:spcBef>
                <a:spcPts val="0"/>
              </a:spcBef>
              <a:spcAft>
                <a:spcPts val="0"/>
              </a:spcAft>
              <a:buSzPts val="1100"/>
              <a:buNone/>
            </a:pPr>
            <a:r>
              <a:rPr lang="it" sz="1200">
                <a:solidFill>
                  <a:schemeClr val="dk1"/>
                </a:solidFill>
                <a:latin typeface="Consolas"/>
                <a:ea typeface="Consolas"/>
                <a:cs typeface="Consolas"/>
                <a:sym typeface="Consolas"/>
              </a:rPr>
              <a:t>    fun next(): </a:t>
            </a:r>
            <a:r>
              <a:rPr lang="it" sz="1200" b="1">
                <a:solidFill>
                  <a:srgbClr val="0B5394"/>
                </a:solidFill>
                <a:latin typeface="Consolas"/>
                <a:ea typeface="Consolas"/>
                <a:cs typeface="Consolas"/>
                <a:sym typeface="Consolas"/>
              </a:rPr>
              <a:t>T</a:t>
            </a:r>
            <a:endParaRPr sz="1200">
              <a:solidFill>
                <a:schemeClr val="dk1"/>
              </a:solidFill>
              <a:latin typeface="Consolas"/>
              <a:ea typeface="Consolas"/>
              <a:cs typeface="Consolas"/>
              <a:sym typeface="Consolas"/>
            </a:endParaRPr>
          </a:p>
          <a:p>
            <a:pPr marL="0" marR="0" lvl="0" indent="0" algn="l" rtl="0">
              <a:spcBef>
                <a:spcPts val="0"/>
              </a:spcBef>
              <a:spcAft>
                <a:spcPts val="0"/>
              </a:spcAft>
              <a:buSzPts val="1100"/>
              <a:buNone/>
            </a:pPr>
            <a:r>
              <a:rPr lang="it" sz="1200">
                <a:solidFill>
                  <a:schemeClr val="dk1"/>
                </a:solidFill>
                <a:latin typeface="Consolas"/>
                <a:ea typeface="Consolas"/>
                <a:cs typeface="Consolas"/>
                <a:sym typeface="Consolas"/>
              </a:rPr>
              <a:t>}</a:t>
            </a:r>
            <a:endParaRPr sz="1200">
              <a:solidFill>
                <a:schemeClr val="dk1"/>
              </a:solidFill>
              <a:latin typeface="Consolas"/>
              <a:ea typeface="Consolas"/>
              <a:cs typeface="Consolas"/>
              <a:sym typeface="Consolas"/>
            </a:endParaRPr>
          </a:p>
        </p:txBody>
      </p:sp>
      <p:sp>
        <p:nvSpPr>
          <p:cNvPr id="560" name="Google Shape;560;p68"/>
          <p:cNvSpPr txBox="1"/>
          <p:nvPr/>
        </p:nvSpPr>
        <p:spPr>
          <a:xfrm>
            <a:off x="4832400" y="1245613"/>
            <a:ext cx="3711900" cy="646500"/>
          </a:xfrm>
          <a:prstGeom prst="rect">
            <a:avLst/>
          </a:prstGeom>
          <a:solidFill>
            <a:srgbClr val="FFF2CC"/>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SzPts val="1100"/>
              <a:buNone/>
            </a:pPr>
            <a:r>
              <a:rPr lang="it" sz="1200">
                <a:solidFill>
                  <a:schemeClr val="dk1"/>
                </a:solidFill>
                <a:latin typeface="Consolas"/>
                <a:ea typeface="Consolas"/>
                <a:cs typeface="Consolas"/>
                <a:sym typeface="Consolas"/>
              </a:rPr>
              <a:t>interface Sink</a:t>
            </a:r>
            <a:r>
              <a:rPr lang="it" sz="1200" b="1">
                <a:solidFill>
                  <a:srgbClr val="0B5394"/>
                </a:solidFill>
                <a:latin typeface="Consolas"/>
                <a:ea typeface="Consolas"/>
                <a:cs typeface="Consolas"/>
                <a:sym typeface="Consolas"/>
              </a:rPr>
              <a:t>&lt;in T&gt;</a:t>
            </a:r>
            <a:r>
              <a:rPr lang="it" sz="1200">
                <a:solidFill>
                  <a:schemeClr val="dk1"/>
                </a:solidFill>
                <a:latin typeface="Consolas"/>
                <a:ea typeface="Consolas"/>
                <a:cs typeface="Consolas"/>
                <a:sym typeface="Consolas"/>
              </a:rPr>
              <a:t> {</a:t>
            </a:r>
            <a:endParaRPr sz="1200">
              <a:solidFill>
                <a:schemeClr val="dk1"/>
              </a:solidFill>
              <a:latin typeface="Consolas"/>
              <a:ea typeface="Consolas"/>
              <a:cs typeface="Consolas"/>
              <a:sym typeface="Consolas"/>
            </a:endParaRPr>
          </a:p>
          <a:p>
            <a:pPr marL="0" marR="0" lvl="0" indent="0" algn="l" rtl="0">
              <a:spcBef>
                <a:spcPts val="0"/>
              </a:spcBef>
              <a:spcAft>
                <a:spcPts val="0"/>
              </a:spcAft>
              <a:buSzPts val="1100"/>
              <a:buNone/>
            </a:pPr>
            <a:r>
              <a:rPr lang="it" sz="1200">
                <a:solidFill>
                  <a:schemeClr val="dk1"/>
                </a:solidFill>
                <a:latin typeface="Consolas"/>
                <a:ea typeface="Consolas"/>
                <a:cs typeface="Consolas"/>
                <a:sym typeface="Consolas"/>
              </a:rPr>
              <a:t>    fun put(item: </a:t>
            </a:r>
            <a:r>
              <a:rPr lang="it" sz="1200" b="1">
                <a:solidFill>
                  <a:srgbClr val="0B5394"/>
                </a:solidFill>
                <a:latin typeface="Consolas"/>
                <a:ea typeface="Consolas"/>
                <a:cs typeface="Consolas"/>
                <a:sym typeface="Consolas"/>
              </a:rPr>
              <a:t>T</a:t>
            </a:r>
            <a:r>
              <a:rPr lang="it" sz="1200">
                <a:solidFill>
                  <a:schemeClr val="dk1"/>
                </a:solidFill>
                <a:latin typeface="Consolas"/>
                <a:ea typeface="Consolas"/>
                <a:cs typeface="Consolas"/>
                <a:sym typeface="Consolas"/>
              </a:rPr>
              <a:t>)</a:t>
            </a:r>
            <a:endParaRPr sz="1200">
              <a:solidFill>
                <a:schemeClr val="dk1"/>
              </a:solidFill>
              <a:latin typeface="Consolas"/>
              <a:ea typeface="Consolas"/>
              <a:cs typeface="Consolas"/>
              <a:sym typeface="Consolas"/>
            </a:endParaRPr>
          </a:p>
          <a:p>
            <a:pPr marL="0" marR="0" lvl="0" indent="0" algn="l" rtl="0">
              <a:spcBef>
                <a:spcPts val="0"/>
              </a:spcBef>
              <a:spcAft>
                <a:spcPts val="0"/>
              </a:spcAft>
              <a:buSzPts val="1100"/>
              <a:buNone/>
            </a:pPr>
            <a:r>
              <a:rPr lang="it" sz="1200">
                <a:solidFill>
                  <a:schemeClr val="dk1"/>
                </a:solidFill>
                <a:latin typeface="Consolas"/>
                <a:ea typeface="Consolas"/>
                <a:cs typeface="Consolas"/>
                <a:sym typeface="Consolas"/>
              </a:rPr>
              <a:t>}</a:t>
            </a:r>
            <a:endParaRPr sz="1200">
              <a:solidFill>
                <a:schemeClr val="dk1"/>
              </a:solidFill>
              <a:latin typeface="Consolas"/>
              <a:ea typeface="Consolas"/>
              <a:cs typeface="Consolas"/>
              <a:sym typeface="Consolas"/>
            </a:endParaRPr>
          </a:p>
        </p:txBody>
      </p:sp>
      <p:sp>
        <p:nvSpPr>
          <p:cNvPr id="561" name="Google Shape;561;p68"/>
          <p:cNvSpPr txBox="1">
            <a:spLocks noGrp="1"/>
          </p:cNvSpPr>
          <p:nvPr>
            <p:ph type="sldNum" idx="12"/>
          </p:nvPr>
        </p:nvSpPr>
        <p:spPr>
          <a:xfrm>
            <a:off x="8472458" y="476850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it"/>
              <a:t>62</a:t>
            </a:fld>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565"/>
        <p:cNvGrpSpPr/>
        <p:nvPr/>
      </p:nvGrpSpPr>
      <p:grpSpPr>
        <a:xfrm>
          <a:off x="0" y="0"/>
          <a:ext cx="0" cy="0"/>
          <a:chOff x="0" y="0"/>
          <a:chExt cx="0" cy="0"/>
        </a:xfrm>
      </p:grpSpPr>
      <p:sp>
        <p:nvSpPr>
          <p:cNvPr id="566" name="Google Shape;566;p6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it" sz="2820"/>
              <a:t>Variance in generic classes</a:t>
            </a:r>
            <a:endParaRPr sz="2820"/>
          </a:p>
        </p:txBody>
      </p:sp>
      <p:sp>
        <p:nvSpPr>
          <p:cNvPr id="567" name="Google Shape;567;p69"/>
          <p:cNvSpPr txBox="1">
            <a:spLocks noGrp="1"/>
          </p:cNvSpPr>
          <p:nvPr>
            <p:ph type="body" idx="1"/>
          </p:nvPr>
        </p:nvSpPr>
        <p:spPr>
          <a:xfrm>
            <a:off x="311150" y="1244204"/>
            <a:ext cx="8521800" cy="3393300"/>
          </a:xfrm>
          <a:prstGeom prst="rect">
            <a:avLst/>
          </a:prstGeom>
        </p:spPr>
        <p:txBody>
          <a:bodyPr spcFirstLastPara="1" wrap="square" lIns="91425" tIns="45700" rIns="91425" bIns="45700" anchor="t" anchorCtr="0">
            <a:normAutofit/>
          </a:bodyPr>
          <a:lstStyle/>
          <a:p>
            <a:pPr marL="457200" lvl="0" indent="-355600" algn="l" rtl="0">
              <a:spcBef>
                <a:spcPts val="600"/>
              </a:spcBef>
              <a:spcAft>
                <a:spcPts val="0"/>
              </a:spcAft>
              <a:buSzPts val="2000"/>
              <a:buChar char="•"/>
            </a:pPr>
            <a:r>
              <a:rPr lang="it"/>
              <a:t>Class Pipeline is </a:t>
            </a:r>
            <a:r>
              <a:rPr lang="it" b="1">
                <a:solidFill>
                  <a:srgbClr val="0B5394"/>
                </a:solidFill>
              </a:rPr>
              <a:t>invariant</a:t>
            </a:r>
            <a:r>
              <a:rPr lang="it"/>
              <a:t> with respect to parameter </a:t>
            </a:r>
            <a:r>
              <a:rPr lang="it" b="1">
                <a:solidFill>
                  <a:srgbClr val="0B5394"/>
                </a:solidFill>
                <a:latin typeface="Consolas"/>
                <a:ea typeface="Consolas"/>
                <a:cs typeface="Consolas"/>
                <a:sym typeface="Consolas"/>
              </a:rPr>
              <a:t>T</a:t>
            </a:r>
            <a:r>
              <a:rPr lang="it"/>
              <a:t> </a:t>
            </a:r>
            <a:endParaRPr/>
          </a:p>
          <a:p>
            <a:pPr marL="914400" lvl="1" indent="-330200" algn="l" rtl="0">
              <a:spcBef>
                <a:spcPts val="0"/>
              </a:spcBef>
              <a:spcAft>
                <a:spcPts val="0"/>
              </a:spcAft>
              <a:buSzPts val="1600"/>
              <a:buChar char="○"/>
            </a:pPr>
            <a:r>
              <a:rPr lang="it"/>
              <a:t>This means that </a:t>
            </a:r>
            <a:r>
              <a:rPr lang="it" b="1">
                <a:solidFill>
                  <a:srgbClr val="0B5394"/>
                </a:solidFill>
                <a:latin typeface="Consolas"/>
                <a:ea typeface="Consolas"/>
                <a:cs typeface="Consolas"/>
                <a:sym typeface="Consolas"/>
              </a:rPr>
              <a:t>Pipeline&lt;S&gt;</a:t>
            </a:r>
            <a:r>
              <a:rPr lang="it"/>
              <a:t> and </a:t>
            </a:r>
            <a:r>
              <a:rPr lang="it" b="1">
                <a:solidFill>
                  <a:srgbClr val="0B5394"/>
                </a:solidFill>
                <a:latin typeface="Consolas"/>
                <a:ea typeface="Consolas"/>
                <a:cs typeface="Consolas"/>
                <a:sym typeface="Consolas"/>
              </a:rPr>
              <a:t>Pipeline&lt;T&gt;</a:t>
            </a:r>
            <a:r>
              <a:rPr lang="it"/>
              <a:t> are two unrelated classes, independently of any possible inheritance relationship between </a:t>
            </a:r>
            <a:r>
              <a:rPr lang="it" b="1">
                <a:solidFill>
                  <a:srgbClr val="0B5394"/>
                </a:solidFill>
                <a:latin typeface="Consolas"/>
                <a:ea typeface="Consolas"/>
                <a:cs typeface="Consolas"/>
                <a:sym typeface="Consolas"/>
              </a:rPr>
              <a:t>S</a:t>
            </a:r>
            <a:r>
              <a:rPr lang="it"/>
              <a:t> and </a:t>
            </a:r>
            <a:r>
              <a:rPr lang="it" b="1">
                <a:solidFill>
                  <a:srgbClr val="0B5394"/>
                </a:solidFill>
                <a:latin typeface="Consolas"/>
                <a:ea typeface="Consolas"/>
                <a:cs typeface="Consolas"/>
                <a:sym typeface="Consolas"/>
              </a:rPr>
              <a:t>T</a:t>
            </a:r>
            <a:r>
              <a:rPr lang="it"/>
              <a:t> </a:t>
            </a:r>
            <a:endParaRPr/>
          </a:p>
          <a:p>
            <a:pPr marL="457200" lvl="0" indent="-355600" algn="l" rtl="0">
              <a:spcBef>
                <a:spcPts val="0"/>
              </a:spcBef>
              <a:spcAft>
                <a:spcPts val="0"/>
              </a:spcAft>
              <a:buSzPts val="2000"/>
              <a:buChar char="•"/>
            </a:pPr>
            <a:r>
              <a:rPr lang="it"/>
              <a:t>Invariant type parameters can appear in both input and output positions</a:t>
            </a:r>
            <a:endParaRPr/>
          </a:p>
        </p:txBody>
      </p:sp>
      <p:sp>
        <p:nvSpPr>
          <p:cNvPr id="568" name="Google Shape;568;p69"/>
          <p:cNvSpPr txBox="1"/>
          <p:nvPr/>
        </p:nvSpPr>
        <p:spPr>
          <a:xfrm>
            <a:off x="312350" y="2770325"/>
            <a:ext cx="8520600" cy="1569900"/>
          </a:xfrm>
          <a:prstGeom prst="rect">
            <a:avLst/>
          </a:prstGeom>
          <a:solidFill>
            <a:srgbClr val="FFF2CC"/>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SzPts val="1100"/>
              <a:buNone/>
            </a:pPr>
            <a:r>
              <a:rPr lang="it" sz="1200">
                <a:solidFill>
                  <a:schemeClr val="dk1"/>
                </a:solidFill>
                <a:latin typeface="Consolas"/>
                <a:ea typeface="Consolas"/>
                <a:cs typeface="Consolas"/>
                <a:sym typeface="Consolas"/>
              </a:rPr>
              <a:t>class Pipeline</a:t>
            </a:r>
            <a:r>
              <a:rPr lang="it" sz="1200" b="1">
                <a:solidFill>
                  <a:srgbClr val="0B5394"/>
                </a:solidFill>
                <a:latin typeface="Consolas"/>
                <a:ea typeface="Consolas"/>
                <a:cs typeface="Consolas"/>
                <a:sym typeface="Consolas"/>
              </a:rPr>
              <a:t>&lt;T&gt;</a:t>
            </a:r>
            <a:r>
              <a:rPr lang="it" sz="1200">
                <a:solidFill>
                  <a:schemeClr val="dk1"/>
                </a:solidFill>
                <a:latin typeface="Consolas"/>
                <a:ea typeface="Consolas"/>
                <a:cs typeface="Consolas"/>
                <a:sym typeface="Consolas"/>
              </a:rPr>
              <a:t>(private val source: Source</a:t>
            </a:r>
            <a:r>
              <a:rPr lang="it" sz="1200" b="1">
                <a:solidFill>
                  <a:srgbClr val="0B5394"/>
                </a:solidFill>
                <a:latin typeface="Consolas"/>
                <a:ea typeface="Consolas"/>
                <a:cs typeface="Consolas"/>
                <a:sym typeface="Consolas"/>
              </a:rPr>
              <a:t>&lt;T&gt;</a:t>
            </a:r>
            <a:r>
              <a:rPr lang="it" sz="1200">
                <a:solidFill>
                  <a:schemeClr val="dk1"/>
                </a:solidFill>
                <a:latin typeface="Consolas"/>
                <a:ea typeface="Consolas"/>
                <a:cs typeface="Consolas"/>
                <a:sym typeface="Consolas"/>
              </a:rPr>
              <a:t>, private val sink: Sink</a:t>
            </a:r>
            <a:r>
              <a:rPr lang="it" sz="1200" b="1">
                <a:solidFill>
                  <a:srgbClr val="0B5394"/>
                </a:solidFill>
                <a:latin typeface="Consolas"/>
                <a:ea typeface="Consolas"/>
                <a:cs typeface="Consolas"/>
                <a:sym typeface="Consolas"/>
              </a:rPr>
              <a:t>&lt;T&gt;</a:t>
            </a:r>
            <a:r>
              <a:rPr lang="it" sz="1200">
                <a:solidFill>
                  <a:schemeClr val="dk1"/>
                </a:solidFill>
                <a:latin typeface="Consolas"/>
                <a:ea typeface="Consolas"/>
                <a:cs typeface="Consolas"/>
                <a:sym typeface="Consolas"/>
              </a:rPr>
              <a:t>) {</a:t>
            </a:r>
            <a:endParaRPr sz="1200">
              <a:solidFill>
                <a:schemeClr val="dk1"/>
              </a:solidFill>
              <a:latin typeface="Consolas"/>
              <a:ea typeface="Consolas"/>
              <a:cs typeface="Consolas"/>
              <a:sym typeface="Consolas"/>
            </a:endParaRPr>
          </a:p>
          <a:p>
            <a:pPr marL="0" marR="0" lvl="0" indent="0" algn="l" rtl="0">
              <a:spcBef>
                <a:spcPts val="0"/>
              </a:spcBef>
              <a:spcAft>
                <a:spcPts val="0"/>
              </a:spcAft>
              <a:buSzPts val="1100"/>
              <a:buNone/>
            </a:pPr>
            <a:r>
              <a:rPr lang="it" sz="1200">
                <a:solidFill>
                  <a:schemeClr val="dk1"/>
                </a:solidFill>
                <a:latin typeface="Consolas"/>
                <a:ea typeface="Consolas"/>
                <a:cs typeface="Consolas"/>
                <a:sym typeface="Consolas"/>
              </a:rPr>
              <a:t>    fun start() {</a:t>
            </a:r>
            <a:endParaRPr sz="1200">
              <a:solidFill>
                <a:schemeClr val="dk1"/>
              </a:solidFill>
              <a:latin typeface="Consolas"/>
              <a:ea typeface="Consolas"/>
              <a:cs typeface="Consolas"/>
              <a:sym typeface="Consolas"/>
            </a:endParaRPr>
          </a:p>
          <a:p>
            <a:pPr marL="0" marR="0" lvl="0" indent="0" algn="l" rtl="0">
              <a:spcBef>
                <a:spcPts val="0"/>
              </a:spcBef>
              <a:spcAft>
                <a:spcPts val="0"/>
              </a:spcAft>
              <a:buSzPts val="1100"/>
              <a:buNone/>
            </a:pPr>
            <a:r>
              <a:rPr lang="it" sz="1200">
                <a:solidFill>
                  <a:schemeClr val="dk1"/>
                </a:solidFill>
                <a:latin typeface="Consolas"/>
                <a:ea typeface="Consolas"/>
                <a:cs typeface="Consolas"/>
                <a:sym typeface="Consolas"/>
              </a:rPr>
              <a:t>        while (true) {</a:t>
            </a:r>
            <a:endParaRPr sz="1200">
              <a:solidFill>
                <a:schemeClr val="dk1"/>
              </a:solidFill>
              <a:latin typeface="Consolas"/>
              <a:ea typeface="Consolas"/>
              <a:cs typeface="Consolas"/>
              <a:sym typeface="Consolas"/>
            </a:endParaRPr>
          </a:p>
          <a:p>
            <a:pPr marL="0" marR="0" lvl="0" indent="0" algn="l" rtl="0">
              <a:spcBef>
                <a:spcPts val="0"/>
              </a:spcBef>
              <a:spcAft>
                <a:spcPts val="0"/>
              </a:spcAft>
              <a:buSzPts val="1100"/>
              <a:buNone/>
            </a:pPr>
            <a:r>
              <a:rPr lang="it" sz="1200">
                <a:solidFill>
                  <a:schemeClr val="dk1"/>
                </a:solidFill>
                <a:latin typeface="Consolas"/>
                <a:ea typeface="Consolas"/>
                <a:cs typeface="Consolas"/>
                <a:sym typeface="Consolas"/>
              </a:rPr>
              <a:t>            val item = source.next()</a:t>
            </a:r>
            <a:endParaRPr sz="1200">
              <a:solidFill>
                <a:schemeClr val="dk1"/>
              </a:solidFill>
              <a:latin typeface="Consolas"/>
              <a:ea typeface="Consolas"/>
              <a:cs typeface="Consolas"/>
              <a:sym typeface="Consolas"/>
            </a:endParaRPr>
          </a:p>
          <a:p>
            <a:pPr marL="0" marR="0" lvl="0" indent="0" algn="l" rtl="0">
              <a:spcBef>
                <a:spcPts val="0"/>
              </a:spcBef>
              <a:spcAft>
                <a:spcPts val="0"/>
              </a:spcAft>
              <a:buSzPts val="1100"/>
              <a:buNone/>
            </a:pPr>
            <a:r>
              <a:rPr lang="it" sz="1200">
                <a:solidFill>
                  <a:schemeClr val="dk1"/>
                </a:solidFill>
                <a:latin typeface="Consolas"/>
                <a:ea typeface="Consolas"/>
                <a:cs typeface="Consolas"/>
                <a:sym typeface="Consolas"/>
              </a:rPr>
              <a:t>            sink.put(item)</a:t>
            </a:r>
            <a:endParaRPr sz="1200">
              <a:solidFill>
                <a:schemeClr val="dk1"/>
              </a:solidFill>
              <a:latin typeface="Consolas"/>
              <a:ea typeface="Consolas"/>
              <a:cs typeface="Consolas"/>
              <a:sym typeface="Consolas"/>
            </a:endParaRPr>
          </a:p>
          <a:p>
            <a:pPr marL="0" marR="0" lvl="0" indent="0" algn="l" rtl="0">
              <a:spcBef>
                <a:spcPts val="0"/>
              </a:spcBef>
              <a:spcAft>
                <a:spcPts val="0"/>
              </a:spcAft>
              <a:buSzPts val="1100"/>
              <a:buNone/>
            </a:pPr>
            <a:r>
              <a:rPr lang="it" sz="1200">
                <a:solidFill>
                  <a:schemeClr val="dk1"/>
                </a:solidFill>
                <a:latin typeface="Consolas"/>
                <a:ea typeface="Consolas"/>
                <a:cs typeface="Consolas"/>
                <a:sym typeface="Consolas"/>
              </a:rPr>
              <a:t>        }</a:t>
            </a:r>
            <a:endParaRPr sz="1200">
              <a:solidFill>
                <a:schemeClr val="dk1"/>
              </a:solidFill>
              <a:latin typeface="Consolas"/>
              <a:ea typeface="Consolas"/>
              <a:cs typeface="Consolas"/>
              <a:sym typeface="Consolas"/>
            </a:endParaRPr>
          </a:p>
          <a:p>
            <a:pPr marL="0" marR="0" lvl="0" indent="0" algn="l" rtl="0">
              <a:spcBef>
                <a:spcPts val="0"/>
              </a:spcBef>
              <a:spcAft>
                <a:spcPts val="0"/>
              </a:spcAft>
              <a:buSzPts val="1100"/>
              <a:buNone/>
            </a:pPr>
            <a:r>
              <a:rPr lang="it" sz="1200">
                <a:solidFill>
                  <a:schemeClr val="dk1"/>
                </a:solidFill>
                <a:latin typeface="Consolas"/>
                <a:ea typeface="Consolas"/>
                <a:cs typeface="Consolas"/>
                <a:sym typeface="Consolas"/>
              </a:rPr>
              <a:t>    }</a:t>
            </a:r>
            <a:endParaRPr sz="1200">
              <a:solidFill>
                <a:schemeClr val="dk1"/>
              </a:solidFill>
              <a:latin typeface="Consolas"/>
              <a:ea typeface="Consolas"/>
              <a:cs typeface="Consolas"/>
              <a:sym typeface="Consolas"/>
            </a:endParaRPr>
          </a:p>
          <a:p>
            <a:pPr marL="0" marR="0" lvl="0" indent="0" algn="l" rtl="0">
              <a:spcBef>
                <a:spcPts val="0"/>
              </a:spcBef>
              <a:spcAft>
                <a:spcPts val="0"/>
              </a:spcAft>
              <a:buSzPts val="1100"/>
              <a:buNone/>
            </a:pPr>
            <a:r>
              <a:rPr lang="it" sz="1200">
                <a:solidFill>
                  <a:schemeClr val="dk1"/>
                </a:solidFill>
                <a:latin typeface="Consolas"/>
                <a:ea typeface="Consolas"/>
                <a:cs typeface="Consolas"/>
                <a:sym typeface="Consolas"/>
              </a:rPr>
              <a:t>}</a:t>
            </a:r>
            <a:endParaRPr sz="1200">
              <a:solidFill>
                <a:schemeClr val="dk1"/>
              </a:solidFill>
              <a:latin typeface="Consolas"/>
              <a:ea typeface="Consolas"/>
              <a:cs typeface="Consolas"/>
              <a:sym typeface="Consolas"/>
            </a:endParaRPr>
          </a:p>
        </p:txBody>
      </p:sp>
      <p:sp>
        <p:nvSpPr>
          <p:cNvPr id="569" name="Google Shape;569;p69"/>
          <p:cNvSpPr txBox="1">
            <a:spLocks noGrp="1"/>
          </p:cNvSpPr>
          <p:nvPr>
            <p:ph type="sldNum" idx="12"/>
          </p:nvPr>
        </p:nvSpPr>
        <p:spPr>
          <a:xfrm>
            <a:off x="8472458" y="476850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it"/>
              <a:t>63</a:t>
            </a:fld>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573"/>
        <p:cNvGrpSpPr/>
        <p:nvPr/>
      </p:nvGrpSpPr>
      <p:grpSpPr>
        <a:xfrm>
          <a:off x="0" y="0"/>
          <a:ext cx="0" cy="0"/>
          <a:chOff x="0" y="0"/>
          <a:chExt cx="0" cy="0"/>
        </a:xfrm>
      </p:grpSpPr>
      <p:sp>
        <p:nvSpPr>
          <p:cNvPr id="574" name="Google Shape;574;p7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it" sz="2820"/>
              <a:t>Scoped functions</a:t>
            </a:r>
            <a:endParaRPr sz="2820"/>
          </a:p>
        </p:txBody>
      </p:sp>
      <p:sp>
        <p:nvSpPr>
          <p:cNvPr id="575" name="Google Shape;575;p70"/>
          <p:cNvSpPr txBox="1">
            <a:spLocks noGrp="1"/>
          </p:cNvSpPr>
          <p:nvPr>
            <p:ph type="sldNum" idx="12"/>
          </p:nvPr>
        </p:nvSpPr>
        <p:spPr>
          <a:xfrm>
            <a:off x="8472458" y="476850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it"/>
              <a:t>64</a:t>
            </a:fld>
            <a:endParaRPr/>
          </a:p>
        </p:txBody>
      </p:sp>
      <p:sp>
        <p:nvSpPr>
          <p:cNvPr id="576" name="Google Shape;576;p70"/>
          <p:cNvSpPr txBox="1">
            <a:spLocks noGrp="1"/>
          </p:cNvSpPr>
          <p:nvPr>
            <p:ph type="body" idx="1"/>
          </p:nvPr>
        </p:nvSpPr>
        <p:spPr>
          <a:xfrm>
            <a:off x="311150" y="1244204"/>
            <a:ext cx="8521800" cy="3393300"/>
          </a:xfrm>
          <a:prstGeom prst="rect">
            <a:avLst/>
          </a:prstGeom>
        </p:spPr>
        <p:txBody>
          <a:bodyPr spcFirstLastPara="1" wrap="square" lIns="91425" tIns="45700" rIns="91425" bIns="45700" anchor="t" anchorCtr="0">
            <a:normAutofit lnSpcReduction="10000"/>
          </a:bodyPr>
          <a:lstStyle/>
          <a:p>
            <a:pPr marL="457200" lvl="0" indent="-355600" algn="l" rtl="0">
              <a:spcBef>
                <a:spcPts val="600"/>
              </a:spcBef>
              <a:spcAft>
                <a:spcPts val="0"/>
              </a:spcAft>
              <a:buSzPts val="2000"/>
              <a:buChar char="•"/>
            </a:pPr>
            <a:r>
              <a:rPr lang="it"/>
              <a:t>Scoped functions are functions that execute a block of code within the context of an object</a:t>
            </a:r>
            <a:endParaRPr/>
          </a:p>
          <a:p>
            <a:pPr marL="914400" lvl="1" indent="-330200" algn="l" rtl="0">
              <a:spcBef>
                <a:spcPts val="0"/>
              </a:spcBef>
              <a:spcAft>
                <a:spcPts val="0"/>
              </a:spcAft>
              <a:buSzPts val="1600"/>
              <a:buChar char="○"/>
            </a:pPr>
            <a:r>
              <a:rPr lang="it"/>
              <a:t>They provide a way to give temporary scope to the object under consideration where specific operations can be applied, thereby, resulting in a clean and concise code</a:t>
            </a:r>
            <a:endParaRPr/>
          </a:p>
          <a:p>
            <a:pPr marL="457200" lvl="0" indent="-355600" algn="l" rtl="0">
              <a:spcBef>
                <a:spcPts val="0"/>
              </a:spcBef>
              <a:spcAft>
                <a:spcPts val="0"/>
              </a:spcAft>
              <a:buSzPts val="2000"/>
              <a:buChar char="•"/>
            </a:pPr>
            <a:r>
              <a:rPr lang="it"/>
              <a:t>The standard library provides five ready-made scoped functions: they differ in purpose and in syntax </a:t>
            </a:r>
            <a:endParaRPr/>
          </a:p>
          <a:p>
            <a:pPr marL="914400" lvl="1" indent="-330200" algn="l" rtl="0">
              <a:spcBef>
                <a:spcPts val="0"/>
              </a:spcBef>
              <a:spcAft>
                <a:spcPts val="0"/>
              </a:spcAft>
              <a:buSzPts val="1600"/>
              <a:buChar char="○"/>
            </a:pPr>
            <a:r>
              <a:rPr lang="it" b="1">
                <a:solidFill>
                  <a:srgbClr val="0B5394"/>
                </a:solidFill>
                <a:latin typeface="Consolas"/>
                <a:ea typeface="Consolas"/>
                <a:cs typeface="Consolas"/>
                <a:sym typeface="Consolas"/>
              </a:rPr>
              <a:t>let…</a:t>
            </a:r>
            <a:r>
              <a:rPr lang="it">
                <a:solidFill>
                  <a:schemeClr val="dk1"/>
                </a:solidFill>
              </a:rPr>
              <a:t>, </a:t>
            </a:r>
            <a:r>
              <a:rPr lang="it" b="1">
                <a:solidFill>
                  <a:srgbClr val="0B5394"/>
                </a:solidFill>
                <a:latin typeface="Consolas"/>
                <a:ea typeface="Consolas"/>
                <a:cs typeface="Consolas"/>
                <a:sym typeface="Consolas"/>
              </a:rPr>
              <a:t>run…</a:t>
            </a:r>
            <a:r>
              <a:rPr lang="it">
                <a:solidFill>
                  <a:schemeClr val="dk1"/>
                </a:solidFill>
              </a:rPr>
              <a:t>, and </a:t>
            </a:r>
            <a:r>
              <a:rPr lang="it" b="1">
                <a:solidFill>
                  <a:srgbClr val="0B5394"/>
                </a:solidFill>
                <a:latin typeface="Consolas"/>
                <a:ea typeface="Consolas"/>
                <a:cs typeface="Consolas"/>
                <a:sym typeface="Consolas"/>
              </a:rPr>
              <a:t>with(…)</a:t>
            </a:r>
            <a:r>
              <a:rPr lang="it">
                <a:solidFill>
                  <a:schemeClr val="dk1"/>
                </a:solidFill>
              </a:rPr>
              <a:t> executes a block of code on an object and returns the result, while </a:t>
            </a:r>
            <a:r>
              <a:rPr lang="it" b="1">
                <a:solidFill>
                  <a:srgbClr val="0B5394"/>
                </a:solidFill>
                <a:latin typeface="Consolas"/>
                <a:ea typeface="Consolas"/>
                <a:cs typeface="Consolas"/>
                <a:sym typeface="Consolas"/>
              </a:rPr>
              <a:t>apply…</a:t>
            </a:r>
            <a:r>
              <a:rPr lang="it">
                <a:solidFill>
                  <a:schemeClr val="dk1"/>
                </a:solidFill>
              </a:rPr>
              <a:t> and </a:t>
            </a:r>
            <a:r>
              <a:rPr lang="it" b="1">
                <a:solidFill>
                  <a:srgbClr val="0B5394"/>
                </a:solidFill>
                <a:latin typeface="Consolas"/>
                <a:ea typeface="Consolas"/>
                <a:cs typeface="Consolas"/>
                <a:sym typeface="Consolas"/>
              </a:rPr>
              <a:t>also…</a:t>
            </a:r>
            <a:r>
              <a:rPr lang="it">
                <a:solidFill>
                  <a:schemeClr val="dk1"/>
                </a:solidFill>
              </a:rPr>
              <a:t> modifies the object and returns it</a:t>
            </a:r>
            <a:endParaRPr>
              <a:solidFill>
                <a:schemeClr val="dk1"/>
              </a:solidFill>
            </a:endParaRPr>
          </a:p>
          <a:p>
            <a:pPr marL="914400" lvl="1" indent="-330200" algn="l" rtl="0">
              <a:spcBef>
                <a:spcPts val="0"/>
              </a:spcBef>
              <a:spcAft>
                <a:spcPts val="0"/>
              </a:spcAft>
              <a:buClr>
                <a:schemeClr val="dk1"/>
              </a:buClr>
              <a:buSzPts val="1600"/>
              <a:buChar char="○"/>
            </a:pPr>
            <a:r>
              <a:rPr lang="it" b="1">
                <a:solidFill>
                  <a:srgbClr val="0B5394"/>
                </a:solidFill>
                <a:latin typeface="Consolas"/>
                <a:ea typeface="Consolas"/>
                <a:cs typeface="Consolas"/>
                <a:sym typeface="Consolas"/>
              </a:rPr>
              <a:t>let…</a:t>
            </a:r>
            <a:r>
              <a:rPr lang="it">
                <a:solidFill>
                  <a:schemeClr val="dk1"/>
                </a:solidFill>
              </a:rPr>
              <a:t>, </a:t>
            </a:r>
            <a:r>
              <a:rPr lang="it" b="1">
                <a:solidFill>
                  <a:srgbClr val="0B5394"/>
                </a:solidFill>
                <a:latin typeface="Consolas"/>
                <a:ea typeface="Consolas"/>
                <a:cs typeface="Consolas"/>
                <a:sym typeface="Consolas"/>
              </a:rPr>
              <a:t>run…</a:t>
            </a:r>
            <a:r>
              <a:rPr lang="it">
                <a:solidFill>
                  <a:schemeClr val="dk1"/>
                </a:solidFill>
              </a:rPr>
              <a:t>, </a:t>
            </a:r>
            <a:r>
              <a:rPr lang="it" b="1">
                <a:solidFill>
                  <a:srgbClr val="0B5394"/>
                </a:solidFill>
                <a:latin typeface="Consolas"/>
                <a:ea typeface="Consolas"/>
                <a:cs typeface="Consolas"/>
                <a:sym typeface="Consolas"/>
              </a:rPr>
              <a:t>apply…</a:t>
            </a:r>
            <a:r>
              <a:rPr lang="it">
                <a:solidFill>
                  <a:schemeClr val="dk1"/>
                </a:solidFill>
              </a:rPr>
              <a:t>, and </a:t>
            </a:r>
            <a:r>
              <a:rPr lang="it" b="1">
                <a:solidFill>
                  <a:srgbClr val="0B5394"/>
                </a:solidFill>
                <a:latin typeface="Consolas"/>
                <a:ea typeface="Consolas"/>
                <a:cs typeface="Consolas"/>
                <a:sym typeface="Consolas"/>
              </a:rPr>
              <a:t>also…</a:t>
            </a:r>
            <a:r>
              <a:rPr lang="it">
                <a:solidFill>
                  <a:schemeClr val="dk1"/>
                </a:solidFill>
              </a:rPr>
              <a:t> are extension functions of a generic type </a:t>
            </a:r>
            <a:r>
              <a:rPr lang="it" b="1">
                <a:solidFill>
                  <a:srgbClr val="0B5394"/>
                </a:solidFill>
                <a:latin typeface="Consolas"/>
                <a:ea typeface="Consolas"/>
                <a:cs typeface="Consolas"/>
                <a:sym typeface="Consolas"/>
              </a:rPr>
              <a:t>T</a:t>
            </a:r>
            <a:r>
              <a:rPr lang="it">
                <a:solidFill>
                  <a:schemeClr val="dk1"/>
                </a:solidFill>
              </a:rPr>
              <a:t>, while </a:t>
            </a:r>
            <a:r>
              <a:rPr lang="it" b="1">
                <a:solidFill>
                  <a:srgbClr val="0B5394"/>
                </a:solidFill>
                <a:latin typeface="Consolas"/>
                <a:ea typeface="Consolas"/>
                <a:cs typeface="Consolas"/>
                <a:sym typeface="Consolas"/>
              </a:rPr>
              <a:t>with(…)</a:t>
            </a:r>
            <a:r>
              <a:rPr lang="it">
                <a:solidFill>
                  <a:schemeClr val="dk1"/>
                </a:solidFill>
              </a:rPr>
              <a:t> is a regular function operating on a generic parameter </a:t>
            </a:r>
            <a:r>
              <a:rPr lang="it" b="1">
                <a:solidFill>
                  <a:srgbClr val="0B5394"/>
                </a:solidFill>
                <a:latin typeface="Consolas"/>
                <a:ea typeface="Consolas"/>
                <a:cs typeface="Consolas"/>
                <a:sym typeface="Consolas"/>
              </a:rPr>
              <a:t>T</a:t>
            </a:r>
            <a:r>
              <a:rPr lang="it">
                <a:solidFill>
                  <a:schemeClr val="dk1"/>
                </a:solidFill>
              </a:rPr>
              <a:t> </a:t>
            </a:r>
            <a:endParaRPr>
              <a:solidFill>
                <a:schemeClr val="dk1"/>
              </a:solidFill>
            </a:endParaRPr>
          </a:p>
          <a:p>
            <a:pPr marL="914400" lvl="1" indent="-330200" algn="l" rtl="0">
              <a:spcBef>
                <a:spcPts val="0"/>
              </a:spcBef>
              <a:spcAft>
                <a:spcPts val="0"/>
              </a:spcAft>
              <a:buClr>
                <a:schemeClr val="dk1"/>
              </a:buClr>
              <a:buSzPts val="1600"/>
              <a:buChar char="○"/>
            </a:pPr>
            <a:r>
              <a:rPr lang="it" b="1">
                <a:solidFill>
                  <a:srgbClr val="0B5394"/>
                </a:solidFill>
                <a:latin typeface="Consolas"/>
                <a:ea typeface="Consolas"/>
                <a:cs typeface="Consolas"/>
                <a:sym typeface="Consolas"/>
              </a:rPr>
              <a:t>run…</a:t>
            </a:r>
            <a:r>
              <a:rPr lang="it">
                <a:solidFill>
                  <a:schemeClr val="dk1"/>
                </a:solidFill>
              </a:rPr>
              <a:t>, </a:t>
            </a:r>
            <a:r>
              <a:rPr lang="it" b="1">
                <a:solidFill>
                  <a:srgbClr val="0B5394"/>
                </a:solidFill>
                <a:latin typeface="Consolas"/>
                <a:ea typeface="Consolas"/>
                <a:cs typeface="Consolas"/>
                <a:sym typeface="Consolas"/>
              </a:rPr>
              <a:t>with(…)</a:t>
            </a:r>
            <a:r>
              <a:rPr lang="it">
                <a:solidFill>
                  <a:schemeClr val="dk1"/>
                </a:solidFill>
              </a:rPr>
              <a:t>, and </a:t>
            </a:r>
            <a:r>
              <a:rPr lang="it" b="1">
                <a:solidFill>
                  <a:srgbClr val="0B5394"/>
                </a:solidFill>
                <a:latin typeface="Consolas"/>
                <a:ea typeface="Consolas"/>
                <a:cs typeface="Consolas"/>
                <a:sym typeface="Consolas"/>
              </a:rPr>
              <a:t>apply…</a:t>
            </a:r>
            <a:r>
              <a:rPr lang="it">
                <a:solidFill>
                  <a:schemeClr val="dk1"/>
                </a:solidFill>
              </a:rPr>
              <a:t> accept a block based on a lambda with receiver, while </a:t>
            </a:r>
            <a:r>
              <a:rPr lang="it" b="1">
                <a:solidFill>
                  <a:srgbClr val="0B5394"/>
                </a:solidFill>
                <a:latin typeface="Consolas"/>
                <a:ea typeface="Consolas"/>
                <a:cs typeface="Consolas"/>
                <a:sym typeface="Consolas"/>
              </a:rPr>
              <a:t>let…</a:t>
            </a:r>
            <a:r>
              <a:rPr lang="it">
                <a:solidFill>
                  <a:schemeClr val="dk1"/>
                </a:solidFill>
              </a:rPr>
              <a:t> and </a:t>
            </a:r>
            <a:r>
              <a:rPr lang="it" b="1">
                <a:solidFill>
                  <a:srgbClr val="0B5394"/>
                </a:solidFill>
                <a:latin typeface="Consolas"/>
                <a:ea typeface="Consolas"/>
                <a:cs typeface="Consolas"/>
                <a:sym typeface="Consolas"/>
              </a:rPr>
              <a:t>also…</a:t>
            </a:r>
            <a:r>
              <a:rPr lang="it">
                <a:solidFill>
                  <a:schemeClr val="dk1"/>
                </a:solidFill>
              </a:rPr>
              <a:t> have their  block defined as a simple lambda</a:t>
            </a:r>
            <a:endParaRPr>
              <a:solidFill>
                <a:schemeClr val="dk1"/>
              </a:solidFill>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580"/>
        <p:cNvGrpSpPr/>
        <p:nvPr/>
      </p:nvGrpSpPr>
      <p:grpSpPr>
        <a:xfrm>
          <a:off x="0" y="0"/>
          <a:ext cx="0" cy="0"/>
          <a:chOff x="0" y="0"/>
          <a:chExt cx="0" cy="0"/>
        </a:xfrm>
      </p:grpSpPr>
      <p:sp>
        <p:nvSpPr>
          <p:cNvPr id="581" name="Google Shape;581;p7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it" sz="2820"/>
              <a:t>Scoped functions</a:t>
            </a:r>
            <a:endParaRPr sz="2820"/>
          </a:p>
        </p:txBody>
      </p:sp>
      <p:sp>
        <p:nvSpPr>
          <p:cNvPr id="582" name="Google Shape;582;p71"/>
          <p:cNvSpPr txBox="1">
            <a:spLocks noGrp="1"/>
          </p:cNvSpPr>
          <p:nvPr>
            <p:ph type="sldNum" idx="12"/>
          </p:nvPr>
        </p:nvSpPr>
        <p:spPr>
          <a:xfrm>
            <a:off x="8472458" y="476850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it"/>
              <a:t>65</a:t>
            </a:fld>
            <a:endParaRPr/>
          </a:p>
        </p:txBody>
      </p:sp>
      <p:sp>
        <p:nvSpPr>
          <p:cNvPr id="583" name="Google Shape;583;p71"/>
          <p:cNvSpPr txBox="1"/>
          <p:nvPr/>
        </p:nvSpPr>
        <p:spPr>
          <a:xfrm>
            <a:off x="311700" y="1087975"/>
            <a:ext cx="4104300" cy="1754700"/>
          </a:xfrm>
          <a:prstGeom prst="rect">
            <a:avLst/>
          </a:prstGeom>
          <a:solidFill>
            <a:srgbClr val="FFF2CC"/>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SzPts val="1100"/>
              <a:buNone/>
            </a:pPr>
            <a:r>
              <a:rPr lang="it" sz="1200">
                <a:solidFill>
                  <a:schemeClr val="dk1"/>
                </a:solidFill>
                <a:latin typeface="Consolas"/>
                <a:ea typeface="Consolas"/>
                <a:cs typeface="Consolas"/>
                <a:sym typeface="Consolas"/>
              </a:rPr>
              <a:t>var name: String? = null</a:t>
            </a:r>
            <a:endParaRPr sz="1200">
              <a:solidFill>
                <a:schemeClr val="dk1"/>
              </a:solidFill>
              <a:latin typeface="Consolas"/>
              <a:ea typeface="Consolas"/>
              <a:cs typeface="Consolas"/>
              <a:sym typeface="Consolas"/>
            </a:endParaRPr>
          </a:p>
          <a:p>
            <a:pPr marL="0" marR="0" lvl="0" indent="0" algn="l" rtl="0">
              <a:spcBef>
                <a:spcPts val="0"/>
              </a:spcBef>
              <a:spcAft>
                <a:spcPts val="0"/>
              </a:spcAft>
              <a:buSzPts val="1100"/>
              <a:buNone/>
            </a:pPr>
            <a:r>
              <a:rPr lang="it" sz="1200">
                <a:solidFill>
                  <a:schemeClr val="dk1"/>
                </a:solidFill>
                <a:latin typeface="Consolas"/>
                <a:ea typeface="Consolas"/>
                <a:cs typeface="Consolas"/>
                <a:sym typeface="Consolas"/>
              </a:rPr>
              <a:t>// …name is updated…</a:t>
            </a:r>
            <a:endParaRPr sz="1200">
              <a:solidFill>
                <a:schemeClr val="dk1"/>
              </a:solidFill>
              <a:latin typeface="Consolas"/>
              <a:ea typeface="Consolas"/>
              <a:cs typeface="Consolas"/>
              <a:sym typeface="Consolas"/>
            </a:endParaRPr>
          </a:p>
          <a:p>
            <a:pPr marL="0" marR="0" lvl="0" indent="0" algn="l" rtl="0">
              <a:spcBef>
                <a:spcPts val="0"/>
              </a:spcBef>
              <a:spcAft>
                <a:spcPts val="0"/>
              </a:spcAft>
              <a:buSzPts val="1100"/>
              <a:buNone/>
            </a:pPr>
            <a:endParaRPr sz="1200">
              <a:solidFill>
                <a:schemeClr val="dk1"/>
              </a:solidFill>
              <a:latin typeface="Consolas"/>
              <a:ea typeface="Consolas"/>
              <a:cs typeface="Consolas"/>
              <a:sym typeface="Consolas"/>
            </a:endParaRPr>
          </a:p>
          <a:p>
            <a:pPr marL="0" marR="0" lvl="0" indent="0" algn="l" rtl="0">
              <a:spcBef>
                <a:spcPts val="0"/>
              </a:spcBef>
              <a:spcAft>
                <a:spcPts val="0"/>
              </a:spcAft>
              <a:buSzPts val="1100"/>
              <a:buNone/>
            </a:pPr>
            <a:r>
              <a:rPr lang="it" sz="1200">
                <a:solidFill>
                  <a:schemeClr val="dk1"/>
                </a:solidFill>
                <a:highlight>
                  <a:schemeClr val="accent6"/>
                </a:highlight>
                <a:latin typeface="Consolas"/>
                <a:ea typeface="Consolas"/>
                <a:cs typeface="Consolas"/>
                <a:sym typeface="Consolas"/>
              </a:rPr>
              <a:t>// let is used to prevent a </a:t>
            </a:r>
            <a:endParaRPr sz="1200">
              <a:solidFill>
                <a:schemeClr val="dk1"/>
              </a:solidFill>
              <a:highlight>
                <a:schemeClr val="accent6"/>
              </a:highlight>
              <a:latin typeface="Consolas"/>
              <a:ea typeface="Consolas"/>
              <a:cs typeface="Consolas"/>
              <a:sym typeface="Consolas"/>
            </a:endParaRPr>
          </a:p>
          <a:p>
            <a:pPr marL="0" marR="0" lvl="0" indent="0" algn="l" rtl="0">
              <a:spcBef>
                <a:spcPts val="0"/>
              </a:spcBef>
              <a:spcAft>
                <a:spcPts val="0"/>
              </a:spcAft>
              <a:buSzPts val="1100"/>
              <a:buNone/>
            </a:pPr>
            <a:r>
              <a:rPr lang="it" sz="1200">
                <a:solidFill>
                  <a:schemeClr val="dk1"/>
                </a:solidFill>
                <a:highlight>
                  <a:schemeClr val="accent6"/>
                </a:highlight>
                <a:latin typeface="Consolas"/>
                <a:ea typeface="Consolas"/>
                <a:cs typeface="Consolas"/>
                <a:sym typeface="Consolas"/>
              </a:rPr>
              <a:t>// NullPointerException from occurring</a:t>
            </a:r>
            <a:endParaRPr sz="1200">
              <a:solidFill>
                <a:schemeClr val="dk1"/>
              </a:solidFill>
              <a:highlight>
                <a:schemeClr val="accent6"/>
              </a:highlight>
              <a:latin typeface="Consolas"/>
              <a:ea typeface="Consolas"/>
              <a:cs typeface="Consolas"/>
              <a:sym typeface="Consolas"/>
            </a:endParaRPr>
          </a:p>
          <a:p>
            <a:pPr marL="0" marR="0" lvl="0" indent="0" algn="l" rtl="0">
              <a:spcBef>
                <a:spcPts val="0"/>
              </a:spcBef>
              <a:spcAft>
                <a:spcPts val="0"/>
              </a:spcAft>
              <a:buSzPts val="1100"/>
              <a:buNone/>
            </a:pPr>
            <a:r>
              <a:rPr lang="it" sz="1200">
                <a:solidFill>
                  <a:schemeClr val="dk1"/>
                </a:solidFill>
                <a:latin typeface="Consolas"/>
                <a:ea typeface="Consolas"/>
                <a:cs typeface="Consolas"/>
                <a:sym typeface="Consolas"/>
              </a:rPr>
              <a:t>name?</a:t>
            </a:r>
            <a:r>
              <a:rPr lang="it" sz="1200" b="1">
                <a:solidFill>
                  <a:srgbClr val="0B5394"/>
                </a:solidFill>
                <a:latin typeface="Consolas"/>
                <a:ea typeface="Consolas"/>
                <a:cs typeface="Consolas"/>
                <a:sym typeface="Consolas"/>
              </a:rPr>
              <a:t>.let </a:t>
            </a:r>
            <a:r>
              <a:rPr lang="it" sz="1200">
                <a:solidFill>
                  <a:schemeClr val="dk1"/>
                </a:solidFill>
                <a:latin typeface="Consolas"/>
                <a:ea typeface="Consolas"/>
                <a:cs typeface="Consolas"/>
                <a:sym typeface="Consolas"/>
              </a:rPr>
              <a:t>{</a:t>
            </a:r>
            <a:endParaRPr sz="1200">
              <a:solidFill>
                <a:schemeClr val="dk1"/>
              </a:solidFill>
              <a:latin typeface="Consolas"/>
              <a:ea typeface="Consolas"/>
              <a:cs typeface="Consolas"/>
              <a:sym typeface="Consolas"/>
            </a:endParaRPr>
          </a:p>
          <a:p>
            <a:pPr marL="0" marR="0" lvl="0" indent="0" algn="l" rtl="0">
              <a:spcBef>
                <a:spcPts val="0"/>
              </a:spcBef>
              <a:spcAft>
                <a:spcPts val="0"/>
              </a:spcAft>
              <a:buSzPts val="1100"/>
              <a:buNone/>
            </a:pPr>
            <a:r>
              <a:rPr lang="it" sz="1200">
                <a:solidFill>
                  <a:schemeClr val="dk1"/>
                </a:solidFill>
                <a:latin typeface="Consolas"/>
                <a:ea typeface="Consolas"/>
                <a:cs typeface="Consolas"/>
                <a:sym typeface="Consolas"/>
              </a:rPr>
              <a:t>  println(it.reversed)</a:t>
            </a:r>
            <a:endParaRPr sz="1200">
              <a:solidFill>
                <a:schemeClr val="dk1"/>
              </a:solidFill>
              <a:latin typeface="Consolas"/>
              <a:ea typeface="Consolas"/>
              <a:cs typeface="Consolas"/>
              <a:sym typeface="Consolas"/>
            </a:endParaRPr>
          </a:p>
          <a:p>
            <a:pPr marL="0" marR="0" lvl="0" indent="0" algn="l" rtl="0">
              <a:spcBef>
                <a:spcPts val="0"/>
              </a:spcBef>
              <a:spcAft>
                <a:spcPts val="0"/>
              </a:spcAft>
              <a:buSzPts val="1100"/>
              <a:buNone/>
            </a:pPr>
            <a:r>
              <a:rPr lang="it" sz="1200">
                <a:solidFill>
                  <a:schemeClr val="dk1"/>
                </a:solidFill>
                <a:latin typeface="Consolas"/>
                <a:ea typeface="Consolas"/>
                <a:cs typeface="Consolas"/>
                <a:sym typeface="Consolas"/>
              </a:rPr>
              <a:t>  println(it.length)</a:t>
            </a:r>
            <a:endParaRPr sz="1200">
              <a:solidFill>
                <a:schemeClr val="dk1"/>
              </a:solidFill>
              <a:latin typeface="Consolas"/>
              <a:ea typeface="Consolas"/>
              <a:cs typeface="Consolas"/>
              <a:sym typeface="Consolas"/>
            </a:endParaRPr>
          </a:p>
          <a:p>
            <a:pPr marL="0" marR="0" lvl="0" indent="0" algn="l" rtl="0">
              <a:spcBef>
                <a:spcPts val="0"/>
              </a:spcBef>
              <a:spcAft>
                <a:spcPts val="0"/>
              </a:spcAft>
              <a:buSzPts val="1100"/>
              <a:buNone/>
            </a:pPr>
            <a:r>
              <a:rPr lang="it" sz="1200">
                <a:solidFill>
                  <a:schemeClr val="dk1"/>
                </a:solidFill>
                <a:latin typeface="Consolas"/>
                <a:ea typeface="Consolas"/>
                <a:cs typeface="Consolas"/>
                <a:sym typeface="Consolas"/>
              </a:rPr>
              <a:t>}</a:t>
            </a:r>
            <a:endParaRPr sz="1200">
              <a:solidFill>
                <a:schemeClr val="dk1"/>
              </a:solidFill>
              <a:latin typeface="Consolas"/>
              <a:ea typeface="Consolas"/>
              <a:cs typeface="Consolas"/>
              <a:sym typeface="Consolas"/>
            </a:endParaRPr>
          </a:p>
        </p:txBody>
      </p:sp>
      <p:sp>
        <p:nvSpPr>
          <p:cNvPr id="584" name="Google Shape;584;p71"/>
          <p:cNvSpPr txBox="1"/>
          <p:nvPr/>
        </p:nvSpPr>
        <p:spPr>
          <a:xfrm>
            <a:off x="4728000" y="1087975"/>
            <a:ext cx="4104300" cy="1754700"/>
          </a:xfrm>
          <a:prstGeom prst="rect">
            <a:avLst/>
          </a:prstGeom>
          <a:solidFill>
            <a:srgbClr val="FFF2CC"/>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SzPts val="1100"/>
              <a:buNone/>
            </a:pPr>
            <a:r>
              <a:rPr lang="it" sz="1200">
                <a:solidFill>
                  <a:schemeClr val="dk1"/>
                </a:solidFill>
                <a:latin typeface="Consolas"/>
                <a:ea typeface="Consolas"/>
                <a:cs typeface="Consolas"/>
                <a:sym typeface="Consolas"/>
              </a:rPr>
              <a:t>class Car{ var name:String = "", </a:t>
            </a:r>
            <a:endParaRPr sz="1200">
              <a:solidFill>
                <a:schemeClr val="dk1"/>
              </a:solidFill>
              <a:latin typeface="Consolas"/>
              <a:ea typeface="Consolas"/>
              <a:cs typeface="Consolas"/>
              <a:sym typeface="Consolas"/>
            </a:endParaRPr>
          </a:p>
          <a:p>
            <a:pPr marL="0" marR="0" lvl="0" indent="0" algn="l" rtl="0">
              <a:spcBef>
                <a:spcPts val="0"/>
              </a:spcBef>
              <a:spcAft>
                <a:spcPts val="0"/>
              </a:spcAft>
              <a:buSzPts val="1100"/>
              <a:buNone/>
            </a:pPr>
            <a:r>
              <a:rPr lang="it" sz="1200">
                <a:solidFill>
                  <a:schemeClr val="dk1"/>
                </a:solidFill>
                <a:latin typeface="Consolas"/>
                <a:ea typeface="Consolas"/>
                <a:cs typeface="Consolas"/>
                <a:sym typeface="Consolas"/>
              </a:rPr>
              <a:t>           var maker:String = "" }</a:t>
            </a:r>
            <a:endParaRPr sz="1200">
              <a:solidFill>
                <a:schemeClr val="dk1"/>
              </a:solidFill>
              <a:latin typeface="Consolas"/>
              <a:ea typeface="Consolas"/>
              <a:cs typeface="Consolas"/>
              <a:sym typeface="Consolas"/>
            </a:endParaRPr>
          </a:p>
          <a:p>
            <a:pPr marL="0" marR="0" lvl="0" indent="0" algn="l" rtl="0">
              <a:spcBef>
                <a:spcPts val="0"/>
              </a:spcBef>
              <a:spcAft>
                <a:spcPts val="0"/>
              </a:spcAft>
              <a:buSzPts val="1100"/>
              <a:buNone/>
            </a:pPr>
            <a:endParaRPr sz="1200">
              <a:solidFill>
                <a:schemeClr val="dk1"/>
              </a:solidFill>
              <a:latin typeface="Consolas"/>
              <a:ea typeface="Consolas"/>
              <a:cs typeface="Consolas"/>
              <a:sym typeface="Consolas"/>
            </a:endParaRPr>
          </a:p>
          <a:p>
            <a:pPr marL="0" marR="0" lvl="0" indent="0" algn="l" rtl="0">
              <a:spcBef>
                <a:spcPts val="0"/>
              </a:spcBef>
              <a:spcAft>
                <a:spcPts val="0"/>
              </a:spcAft>
              <a:buSzPts val="1100"/>
              <a:buNone/>
            </a:pPr>
            <a:r>
              <a:rPr lang="it" sz="1200">
                <a:solidFill>
                  <a:schemeClr val="dk1"/>
                </a:solidFill>
                <a:highlight>
                  <a:schemeClr val="accent6"/>
                </a:highlight>
                <a:latin typeface="Consolas"/>
                <a:ea typeface="Consolas"/>
                <a:cs typeface="Consolas"/>
                <a:sym typeface="Consolas"/>
              </a:rPr>
              <a:t>// apply is used to configure an object</a:t>
            </a:r>
            <a:endParaRPr sz="1200">
              <a:solidFill>
                <a:schemeClr val="dk1"/>
              </a:solidFill>
              <a:highlight>
                <a:schemeClr val="accent6"/>
              </a:highlight>
              <a:latin typeface="Consolas"/>
              <a:ea typeface="Consolas"/>
              <a:cs typeface="Consolas"/>
              <a:sym typeface="Consolas"/>
            </a:endParaRPr>
          </a:p>
          <a:p>
            <a:pPr marL="0" marR="0" lvl="0" indent="0" algn="l" rtl="0">
              <a:spcBef>
                <a:spcPts val="0"/>
              </a:spcBef>
              <a:spcAft>
                <a:spcPts val="0"/>
              </a:spcAft>
              <a:buSzPts val="1100"/>
              <a:buNone/>
            </a:pPr>
            <a:r>
              <a:rPr lang="it" sz="1200">
                <a:solidFill>
                  <a:schemeClr val="dk1"/>
                </a:solidFill>
                <a:latin typeface="Consolas"/>
                <a:ea typeface="Consolas"/>
                <a:cs typeface="Consolas"/>
                <a:sym typeface="Consolas"/>
              </a:rPr>
              <a:t>val car = Car()</a:t>
            </a:r>
            <a:r>
              <a:rPr lang="it" sz="1200" b="1">
                <a:solidFill>
                  <a:srgbClr val="0B5394"/>
                </a:solidFill>
                <a:latin typeface="Consolas"/>
                <a:ea typeface="Consolas"/>
                <a:cs typeface="Consolas"/>
                <a:sym typeface="Consolas"/>
              </a:rPr>
              <a:t>.apply</a:t>
            </a:r>
            <a:r>
              <a:rPr lang="it" sz="1200">
                <a:solidFill>
                  <a:schemeClr val="dk1"/>
                </a:solidFill>
                <a:latin typeface="Consolas"/>
                <a:ea typeface="Consolas"/>
                <a:cs typeface="Consolas"/>
                <a:sym typeface="Consolas"/>
              </a:rPr>
              <a:t> {</a:t>
            </a:r>
            <a:endParaRPr sz="1200">
              <a:solidFill>
                <a:schemeClr val="dk1"/>
              </a:solidFill>
              <a:latin typeface="Consolas"/>
              <a:ea typeface="Consolas"/>
              <a:cs typeface="Consolas"/>
              <a:sym typeface="Consolas"/>
            </a:endParaRPr>
          </a:p>
          <a:p>
            <a:pPr marL="0" marR="0" lvl="0" indent="0" algn="l" rtl="0">
              <a:spcBef>
                <a:spcPts val="0"/>
              </a:spcBef>
              <a:spcAft>
                <a:spcPts val="0"/>
              </a:spcAft>
              <a:buSzPts val="1100"/>
              <a:buNone/>
            </a:pPr>
            <a:r>
              <a:rPr lang="it" sz="1200">
                <a:solidFill>
                  <a:schemeClr val="dk1"/>
                </a:solidFill>
                <a:latin typeface="Consolas"/>
                <a:ea typeface="Consolas"/>
                <a:cs typeface="Consolas"/>
                <a:sym typeface="Consolas"/>
              </a:rPr>
              <a:t>  name = "Panda"</a:t>
            </a:r>
            <a:endParaRPr sz="1200">
              <a:solidFill>
                <a:schemeClr val="dk1"/>
              </a:solidFill>
              <a:latin typeface="Consolas"/>
              <a:ea typeface="Consolas"/>
              <a:cs typeface="Consolas"/>
              <a:sym typeface="Consolas"/>
            </a:endParaRPr>
          </a:p>
          <a:p>
            <a:pPr marL="0" marR="0" lvl="0" indent="0" algn="l" rtl="0">
              <a:spcBef>
                <a:spcPts val="0"/>
              </a:spcBef>
              <a:spcAft>
                <a:spcPts val="0"/>
              </a:spcAft>
              <a:buSzPts val="1100"/>
              <a:buNone/>
            </a:pPr>
            <a:r>
              <a:rPr lang="it" sz="1200">
                <a:solidFill>
                  <a:schemeClr val="dk1"/>
                </a:solidFill>
                <a:latin typeface="Consolas"/>
                <a:ea typeface="Consolas"/>
                <a:cs typeface="Consolas"/>
                <a:sym typeface="Consolas"/>
              </a:rPr>
              <a:t>  maker = "Fiat"</a:t>
            </a:r>
            <a:endParaRPr sz="1200">
              <a:solidFill>
                <a:schemeClr val="dk1"/>
              </a:solidFill>
              <a:latin typeface="Consolas"/>
              <a:ea typeface="Consolas"/>
              <a:cs typeface="Consolas"/>
              <a:sym typeface="Consolas"/>
            </a:endParaRPr>
          </a:p>
          <a:p>
            <a:pPr marL="0" marR="0" lvl="0" indent="0" algn="l" rtl="0">
              <a:spcBef>
                <a:spcPts val="0"/>
              </a:spcBef>
              <a:spcAft>
                <a:spcPts val="0"/>
              </a:spcAft>
              <a:buSzPts val="1100"/>
              <a:buNone/>
            </a:pPr>
            <a:r>
              <a:rPr lang="it" sz="1200">
                <a:solidFill>
                  <a:schemeClr val="dk1"/>
                </a:solidFill>
                <a:latin typeface="Consolas"/>
                <a:ea typeface="Consolas"/>
                <a:cs typeface="Consolas"/>
                <a:sym typeface="Consolas"/>
              </a:rPr>
              <a:t>}</a:t>
            </a:r>
            <a:endParaRPr sz="1200">
              <a:solidFill>
                <a:schemeClr val="dk1"/>
              </a:solidFill>
              <a:latin typeface="Consolas"/>
              <a:ea typeface="Consolas"/>
              <a:cs typeface="Consolas"/>
              <a:sym typeface="Consolas"/>
            </a:endParaRPr>
          </a:p>
          <a:p>
            <a:pPr marL="0" marR="0" lvl="0" indent="0" algn="l" rtl="0">
              <a:spcBef>
                <a:spcPts val="0"/>
              </a:spcBef>
              <a:spcAft>
                <a:spcPts val="0"/>
              </a:spcAft>
              <a:buSzPts val="1100"/>
              <a:buNone/>
            </a:pPr>
            <a:endParaRPr sz="1200">
              <a:solidFill>
                <a:schemeClr val="dk1"/>
              </a:solidFill>
              <a:latin typeface="Consolas"/>
              <a:ea typeface="Consolas"/>
              <a:cs typeface="Consolas"/>
              <a:sym typeface="Consolas"/>
            </a:endParaRPr>
          </a:p>
        </p:txBody>
      </p:sp>
      <p:sp>
        <p:nvSpPr>
          <p:cNvPr id="585" name="Google Shape;585;p71"/>
          <p:cNvSpPr txBox="1"/>
          <p:nvPr/>
        </p:nvSpPr>
        <p:spPr>
          <a:xfrm>
            <a:off x="311700" y="2934479"/>
            <a:ext cx="4104300" cy="1754700"/>
          </a:xfrm>
          <a:prstGeom prst="rect">
            <a:avLst/>
          </a:prstGeom>
          <a:solidFill>
            <a:srgbClr val="FFF2CC"/>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SzPts val="1100"/>
              <a:buNone/>
            </a:pPr>
            <a:r>
              <a:rPr lang="it" sz="1200">
                <a:solidFill>
                  <a:schemeClr val="dk1"/>
                </a:solidFill>
                <a:latin typeface="Consolas"/>
                <a:ea typeface="Consolas"/>
                <a:cs typeface="Consolas"/>
                <a:sym typeface="Consolas"/>
              </a:rPr>
              <a:t>var occurrences: MutableMap&lt;String,Int&gt; = …</a:t>
            </a:r>
            <a:endParaRPr sz="1200">
              <a:solidFill>
                <a:schemeClr val="dk1"/>
              </a:solidFill>
              <a:latin typeface="Consolas"/>
              <a:ea typeface="Consolas"/>
              <a:cs typeface="Consolas"/>
              <a:sym typeface="Consolas"/>
            </a:endParaRPr>
          </a:p>
          <a:p>
            <a:pPr marL="0" marR="0" lvl="0" indent="0" algn="l" rtl="0">
              <a:spcBef>
                <a:spcPts val="0"/>
              </a:spcBef>
              <a:spcAft>
                <a:spcPts val="0"/>
              </a:spcAft>
              <a:buSzPts val="1100"/>
              <a:buNone/>
            </a:pPr>
            <a:r>
              <a:rPr lang="it" sz="1200">
                <a:solidFill>
                  <a:schemeClr val="dk1"/>
                </a:solidFill>
                <a:latin typeface="Consolas"/>
                <a:ea typeface="Consolas"/>
                <a:cs typeface="Consolas"/>
                <a:sym typeface="Consolas"/>
              </a:rPr>
              <a:t>var name: String? = null</a:t>
            </a:r>
            <a:endParaRPr sz="1200">
              <a:solidFill>
                <a:schemeClr val="dk1"/>
              </a:solidFill>
              <a:latin typeface="Consolas"/>
              <a:ea typeface="Consolas"/>
              <a:cs typeface="Consolas"/>
              <a:sym typeface="Consolas"/>
            </a:endParaRPr>
          </a:p>
          <a:p>
            <a:pPr marL="0" marR="0" lvl="0" indent="0" algn="l" rtl="0">
              <a:spcBef>
                <a:spcPts val="0"/>
              </a:spcBef>
              <a:spcAft>
                <a:spcPts val="0"/>
              </a:spcAft>
              <a:buSzPts val="1100"/>
              <a:buNone/>
            </a:pPr>
            <a:r>
              <a:rPr lang="it" sz="1200">
                <a:solidFill>
                  <a:schemeClr val="dk1"/>
                </a:solidFill>
                <a:latin typeface="Consolas"/>
                <a:ea typeface="Consolas"/>
                <a:cs typeface="Consolas"/>
                <a:sym typeface="Consolas"/>
              </a:rPr>
              <a:t>// …name is updated…</a:t>
            </a:r>
            <a:endParaRPr sz="1200">
              <a:solidFill>
                <a:schemeClr val="dk1"/>
              </a:solidFill>
              <a:latin typeface="Consolas"/>
              <a:ea typeface="Consolas"/>
              <a:cs typeface="Consolas"/>
              <a:sym typeface="Consolas"/>
            </a:endParaRPr>
          </a:p>
          <a:p>
            <a:pPr marL="0" marR="0" lvl="0" indent="0" algn="l" rtl="0">
              <a:spcBef>
                <a:spcPts val="0"/>
              </a:spcBef>
              <a:spcAft>
                <a:spcPts val="0"/>
              </a:spcAft>
              <a:buSzPts val="1100"/>
              <a:buNone/>
            </a:pPr>
            <a:endParaRPr sz="1200">
              <a:solidFill>
                <a:schemeClr val="dk1"/>
              </a:solidFill>
              <a:latin typeface="Consolas"/>
              <a:ea typeface="Consolas"/>
              <a:cs typeface="Consolas"/>
              <a:sym typeface="Consolas"/>
            </a:endParaRPr>
          </a:p>
          <a:p>
            <a:pPr marL="0" marR="0" lvl="0" indent="0" algn="l" rtl="0">
              <a:spcBef>
                <a:spcPts val="0"/>
              </a:spcBef>
              <a:spcAft>
                <a:spcPts val="0"/>
              </a:spcAft>
              <a:buSzPts val="1100"/>
              <a:buNone/>
            </a:pPr>
            <a:r>
              <a:rPr lang="it" sz="1200">
                <a:solidFill>
                  <a:schemeClr val="dk1"/>
                </a:solidFill>
                <a:highlight>
                  <a:schemeClr val="accent6"/>
                </a:highlight>
                <a:latin typeface="Consolas"/>
                <a:ea typeface="Consolas"/>
                <a:cs typeface="Consolas"/>
                <a:sym typeface="Consolas"/>
              </a:rPr>
              <a:t>// run is used to operate on a nullable object</a:t>
            </a:r>
            <a:endParaRPr sz="1200">
              <a:solidFill>
                <a:schemeClr val="dk1"/>
              </a:solidFill>
              <a:highlight>
                <a:schemeClr val="accent6"/>
              </a:highlight>
              <a:latin typeface="Consolas"/>
              <a:ea typeface="Consolas"/>
              <a:cs typeface="Consolas"/>
              <a:sym typeface="Consolas"/>
            </a:endParaRPr>
          </a:p>
          <a:p>
            <a:pPr marL="0" marR="0" lvl="0" indent="0" algn="l" rtl="0">
              <a:spcBef>
                <a:spcPts val="0"/>
              </a:spcBef>
              <a:spcAft>
                <a:spcPts val="0"/>
              </a:spcAft>
              <a:buSzPts val="1100"/>
              <a:buNone/>
            </a:pPr>
            <a:r>
              <a:rPr lang="it" sz="1200">
                <a:solidFill>
                  <a:schemeClr val="dk1"/>
                </a:solidFill>
                <a:latin typeface="Consolas"/>
                <a:ea typeface="Consolas"/>
                <a:cs typeface="Consolas"/>
                <a:sym typeface="Consolas"/>
              </a:rPr>
              <a:t>val count = name?</a:t>
            </a:r>
            <a:r>
              <a:rPr lang="it" sz="1200" b="1">
                <a:solidFill>
                  <a:srgbClr val="0B5394"/>
                </a:solidFill>
                <a:latin typeface="Consolas"/>
                <a:ea typeface="Consolas"/>
                <a:cs typeface="Consolas"/>
                <a:sym typeface="Consolas"/>
              </a:rPr>
              <a:t>.run</a:t>
            </a:r>
            <a:r>
              <a:rPr lang="it" sz="1200">
                <a:solidFill>
                  <a:schemeClr val="dk1"/>
                </a:solidFill>
                <a:latin typeface="Consolas"/>
                <a:ea typeface="Consolas"/>
                <a:cs typeface="Consolas"/>
                <a:sym typeface="Consolas"/>
              </a:rPr>
              <a:t> {</a:t>
            </a:r>
            <a:endParaRPr sz="1200">
              <a:solidFill>
                <a:schemeClr val="dk1"/>
              </a:solidFill>
              <a:latin typeface="Consolas"/>
              <a:ea typeface="Consolas"/>
              <a:cs typeface="Consolas"/>
              <a:sym typeface="Consolas"/>
            </a:endParaRPr>
          </a:p>
          <a:p>
            <a:pPr marL="0" marR="0" lvl="0" indent="0" algn="l" rtl="0">
              <a:spcBef>
                <a:spcPts val="0"/>
              </a:spcBef>
              <a:spcAft>
                <a:spcPts val="0"/>
              </a:spcAft>
              <a:buSzPts val="1100"/>
              <a:buNone/>
            </a:pPr>
            <a:r>
              <a:rPr lang="it" sz="1200">
                <a:solidFill>
                  <a:schemeClr val="dk1"/>
                </a:solidFill>
                <a:latin typeface="Consolas"/>
                <a:ea typeface="Consolas"/>
                <a:cs typeface="Consolas"/>
                <a:sym typeface="Consolas"/>
              </a:rPr>
              <a:t>  val c = (occurrences[this]?:0) + 1</a:t>
            </a:r>
            <a:endParaRPr sz="1200">
              <a:solidFill>
                <a:schemeClr val="dk1"/>
              </a:solidFill>
              <a:latin typeface="Consolas"/>
              <a:ea typeface="Consolas"/>
              <a:cs typeface="Consolas"/>
              <a:sym typeface="Consolas"/>
            </a:endParaRPr>
          </a:p>
          <a:p>
            <a:pPr marL="0" marR="0" lvl="0" indent="0" algn="l" rtl="0">
              <a:spcBef>
                <a:spcPts val="0"/>
              </a:spcBef>
              <a:spcAft>
                <a:spcPts val="0"/>
              </a:spcAft>
              <a:buSzPts val="1100"/>
              <a:buNone/>
            </a:pPr>
            <a:r>
              <a:rPr lang="it" sz="1200">
                <a:solidFill>
                  <a:schemeClr val="dk1"/>
                </a:solidFill>
                <a:latin typeface="Consolas"/>
                <a:ea typeface="Consolas"/>
                <a:cs typeface="Consolas"/>
                <a:sym typeface="Consolas"/>
              </a:rPr>
              <a:t>  occurrences[this] = c; c</a:t>
            </a:r>
            <a:endParaRPr sz="1200">
              <a:solidFill>
                <a:schemeClr val="dk1"/>
              </a:solidFill>
              <a:latin typeface="Consolas"/>
              <a:ea typeface="Consolas"/>
              <a:cs typeface="Consolas"/>
              <a:sym typeface="Consolas"/>
            </a:endParaRPr>
          </a:p>
          <a:p>
            <a:pPr marL="0" marR="0" lvl="0" indent="0" algn="l" rtl="0">
              <a:spcBef>
                <a:spcPts val="0"/>
              </a:spcBef>
              <a:spcAft>
                <a:spcPts val="0"/>
              </a:spcAft>
              <a:buSzPts val="1100"/>
              <a:buNone/>
            </a:pPr>
            <a:r>
              <a:rPr lang="it" sz="1200">
                <a:solidFill>
                  <a:schemeClr val="dk1"/>
                </a:solidFill>
                <a:latin typeface="Consolas"/>
                <a:ea typeface="Consolas"/>
                <a:cs typeface="Consolas"/>
                <a:sym typeface="Consolas"/>
              </a:rPr>
              <a:t>}</a:t>
            </a:r>
            <a:endParaRPr sz="1200">
              <a:solidFill>
                <a:schemeClr val="dk1"/>
              </a:solidFill>
              <a:latin typeface="Consolas"/>
              <a:ea typeface="Consolas"/>
              <a:cs typeface="Consolas"/>
              <a:sym typeface="Consolas"/>
            </a:endParaRPr>
          </a:p>
        </p:txBody>
      </p:sp>
      <p:sp>
        <p:nvSpPr>
          <p:cNvPr id="586" name="Google Shape;586;p71"/>
          <p:cNvSpPr txBox="1"/>
          <p:nvPr/>
        </p:nvSpPr>
        <p:spPr>
          <a:xfrm>
            <a:off x="4728000" y="2934479"/>
            <a:ext cx="4104300" cy="1754700"/>
          </a:xfrm>
          <a:prstGeom prst="rect">
            <a:avLst/>
          </a:prstGeom>
          <a:solidFill>
            <a:srgbClr val="FFF2CC"/>
          </a:solidFill>
          <a:ln w="952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SzPts val="1100"/>
              <a:buNone/>
            </a:pPr>
            <a:r>
              <a:rPr lang="it" sz="1200">
                <a:solidFill>
                  <a:schemeClr val="dk1"/>
                </a:solidFill>
                <a:latin typeface="Consolas"/>
                <a:ea typeface="Consolas"/>
                <a:cs typeface="Consolas"/>
                <a:sym typeface="Consolas"/>
              </a:rPr>
              <a:t>val car = Car()</a:t>
            </a:r>
            <a:endParaRPr sz="1200">
              <a:solidFill>
                <a:schemeClr val="dk1"/>
              </a:solidFill>
              <a:latin typeface="Consolas"/>
              <a:ea typeface="Consolas"/>
              <a:cs typeface="Consolas"/>
              <a:sym typeface="Consolas"/>
            </a:endParaRPr>
          </a:p>
          <a:p>
            <a:pPr marL="0" marR="0" lvl="0" indent="0" algn="l" rtl="0">
              <a:spcBef>
                <a:spcPts val="0"/>
              </a:spcBef>
              <a:spcAft>
                <a:spcPts val="0"/>
              </a:spcAft>
              <a:buSzPts val="1100"/>
              <a:buNone/>
            </a:pPr>
            <a:r>
              <a:rPr lang="it" sz="1200">
                <a:solidFill>
                  <a:schemeClr val="dk1"/>
                </a:solidFill>
                <a:latin typeface="Consolas"/>
                <a:ea typeface="Consolas"/>
                <a:cs typeface="Consolas"/>
                <a:sym typeface="Consolas"/>
              </a:rPr>
              <a:t>// configure car…</a:t>
            </a:r>
            <a:endParaRPr sz="1200">
              <a:solidFill>
                <a:schemeClr val="dk1"/>
              </a:solidFill>
              <a:latin typeface="Consolas"/>
              <a:ea typeface="Consolas"/>
              <a:cs typeface="Consolas"/>
              <a:sym typeface="Consolas"/>
            </a:endParaRPr>
          </a:p>
          <a:p>
            <a:pPr marL="0" marR="0" lvl="0" indent="0" algn="l" rtl="0">
              <a:spcBef>
                <a:spcPts val="0"/>
              </a:spcBef>
              <a:spcAft>
                <a:spcPts val="0"/>
              </a:spcAft>
              <a:buSzPts val="1100"/>
              <a:buNone/>
            </a:pPr>
            <a:endParaRPr sz="1200">
              <a:solidFill>
                <a:schemeClr val="dk1"/>
              </a:solidFill>
              <a:latin typeface="Consolas"/>
              <a:ea typeface="Consolas"/>
              <a:cs typeface="Consolas"/>
              <a:sym typeface="Consolas"/>
            </a:endParaRPr>
          </a:p>
          <a:p>
            <a:pPr marL="0" marR="0" lvl="0" indent="0" algn="l" rtl="0">
              <a:spcBef>
                <a:spcPts val="0"/>
              </a:spcBef>
              <a:spcAft>
                <a:spcPts val="0"/>
              </a:spcAft>
              <a:buSzPts val="1100"/>
              <a:buNone/>
            </a:pPr>
            <a:r>
              <a:rPr lang="it" sz="1200">
                <a:solidFill>
                  <a:schemeClr val="dk1"/>
                </a:solidFill>
                <a:highlight>
                  <a:schemeClr val="accent6"/>
                </a:highlight>
                <a:latin typeface="Consolas"/>
                <a:ea typeface="Consolas"/>
                <a:cs typeface="Consolas"/>
                <a:sym typeface="Consolas"/>
              </a:rPr>
              <a:t>// with operates on a non-null object</a:t>
            </a:r>
            <a:endParaRPr sz="1200">
              <a:solidFill>
                <a:schemeClr val="dk1"/>
              </a:solidFill>
              <a:highlight>
                <a:schemeClr val="accent6"/>
              </a:highlight>
              <a:latin typeface="Consolas"/>
              <a:ea typeface="Consolas"/>
              <a:cs typeface="Consolas"/>
              <a:sym typeface="Consolas"/>
            </a:endParaRPr>
          </a:p>
          <a:p>
            <a:pPr marL="0" marR="0" lvl="0" indent="0" algn="l" rtl="0">
              <a:spcBef>
                <a:spcPts val="0"/>
              </a:spcBef>
              <a:spcAft>
                <a:spcPts val="0"/>
              </a:spcAft>
              <a:buSzPts val="1100"/>
              <a:buNone/>
            </a:pPr>
            <a:r>
              <a:rPr lang="it" sz="1200" b="1">
                <a:solidFill>
                  <a:srgbClr val="0B5394"/>
                </a:solidFill>
                <a:latin typeface="Consolas"/>
                <a:ea typeface="Consolas"/>
                <a:cs typeface="Consolas"/>
                <a:sym typeface="Consolas"/>
              </a:rPr>
              <a:t>with (car)</a:t>
            </a:r>
            <a:r>
              <a:rPr lang="it" sz="1200">
                <a:solidFill>
                  <a:schemeClr val="dk1"/>
                </a:solidFill>
                <a:latin typeface="Consolas"/>
                <a:ea typeface="Consolas"/>
                <a:cs typeface="Consolas"/>
                <a:sym typeface="Consolas"/>
              </a:rPr>
              <a:t> {</a:t>
            </a:r>
            <a:endParaRPr sz="1200">
              <a:solidFill>
                <a:schemeClr val="dk1"/>
              </a:solidFill>
              <a:latin typeface="Consolas"/>
              <a:ea typeface="Consolas"/>
              <a:cs typeface="Consolas"/>
              <a:sym typeface="Consolas"/>
            </a:endParaRPr>
          </a:p>
          <a:p>
            <a:pPr marL="0" marR="0" lvl="0" indent="0" algn="l" rtl="0">
              <a:spcBef>
                <a:spcPts val="0"/>
              </a:spcBef>
              <a:spcAft>
                <a:spcPts val="0"/>
              </a:spcAft>
              <a:buSzPts val="1100"/>
              <a:buNone/>
            </a:pPr>
            <a:r>
              <a:rPr lang="it" sz="1200">
                <a:solidFill>
                  <a:schemeClr val="dk1"/>
                </a:solidFill>
                <a:latin typeface="Consolas"/>
                <a:ea typeface="Consolas"/>
                <a:cs typeface="Consolas"/>
                <a:sym typeface="Consolas"/>
              </a:rPr>
              <a:t>    println(name)</a:t>
            </a:r>
            <a:endParaRPr sz="1200">
              <a:solidFill>
                <a:schemeClr val="dk1"/>
              </a:solidFill>
              <a:latin typeface="Consolas"/>
              <a:ea typeface="Consolas"/>
              <a:cs typeface="Consolas"/>
              <a:sym typeface="Consolas"/>
            </a:endParaRPr>
          </a:p>
          <a:p>
            <a:pPr marL="0" marR="0" lvl="0" indent="0" algn="l" rtl="0">
              <a:spcBef>
                <a:spcPts val="0"/>
              </a:spcBef>
              <a:spcAft>
                <a:spcPts val="0"/>
              </a:spcAft>
              <a:buSzPts val="1100"/>
              <a:buNone/>
            </a:pPr>
            <a:r>
              <a:rPr lang="it" sz="1200">
                <a:solidFill>
                  <a:schemeClr val="dk1"/>
                </a:solidFill>
                <a:latin typeface="Consolas"/>
                <a:ea typeface="Consolas"/>
                <a:cs typeface="Consolas"/>
                <a:sym typeface="Consolas"/>
              </a:rPr>
              <a:t>    println(maker)</a:t>
            </a:r>
            <a:endParaRPr sz="1200">
              <a:solidFill>
                <a:schemeClr val="dk1"/>
              </a:solidFill>
              <a:latin typeface="Consolas"/>
              <a:ea typeface="Consolas"/>
              <a:cs typeface="Consolas"/>
              <a:sym typeface="Consolas"/>
            </a:endParaRPr>
          </a:p>
          <a:p>
            <a:pPr marL="0" marR="0" lvl="0" indent="0" algn="l" rtl="0">
              <a:spcBef>
                <a:spcPts val="0"/>
              </a:spcBef>
              <a:spcAft>
                <a:spcPts val="0"/>
              </a:spcAft>
              <a:buSzPts val="1100"/>
              <a:buNone/>
            </a:pPr>
            <a:r>
              <a:rPr lang="it" sz="1200">
                <a:solidFill>
                  <a:schemeClr val="dk1"/>
                </a:solidFill>
                <a:latin typeface="Consolas"/>
                <a:ea typeface="Consolas"/>
                <a:cs typeface="Consolas"/>
                <a:sym typeface="Consolas"/>
              </a:rPr>
              <a:t>} </a:t>
            </a:r>
            <a:endParaRPr sz="1200">
              <a:solidFill>
                <a:schemeClr val="dk1"/>
              </a:solidFill>
              <a:latin typeface="Consolas"/>
              <a:ea typeface="Consolas"/>
              <a:cs typeface="Consolas"/>
              <a:sym typeface="Consolas"/>
            </a:endParaRPr>
          </a:p>
          <a:p>
            <a:pPr marL="0" marR="0" lvl="0" indent="0" algn="l" rtl="0">
              <a:spcBef>
                <a:spcPts val="0"/>
              </a:spcBef>
              <a:spcAft>
                <a:spcPts val="0"/>
              </a:spcAft>
              <a:buSzPts val="1100"/>
              <a:buNone/>
            </a:pPr>
            <a:endParaRPr sz="1200">
              <a:solidFill>
                <a:schemeClr val="dk1"/>
              </a:solidFill>
              <a:latin typeface="Consolas"/>
              <a:ea typeface="Consolas"/>
              <a:cs typeface="Consolas"/>
              <a:sym typeface="Consolas"/>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590"/>
        <p:cNvGrpSpPr/>
        <p:nvPr/>
      </p:nvGrpSpPr>
      <p:grpSpPr>
        <a:xfrm>
          <a:off x="0" y="0"/>
          <a:ext cx="0" cy="0"/>
          <a:chOff x="0" y="0"/>
          <a:chExt cx="0" cy="0"/>
        </a:xfrm>
      </p:grpSpPr>
      <p:sp>
        <p:nvSpPr>
          <p:cNvPr id="591" name="Google Shape;591;p7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it" sz="2820"/>
              <a:t>Choosing a scoped function</a:t>
            </a:r>
            <a:endParaRPr sz="2820"/>
          </a:p>
        </p:txBody>
      </p:sp>
      <p:sp>
        <p:nvSpPr>
          <p:cNvPr id="592" name="Google Shape;592;p72"/>
          <p:cNvSpPr txBox="1">
            <a:spLocks noGrp="1"/>
          </p:cNvSpPr>
          <p:nvPr>
            <p:ph type="sldNum" idx="12"/>
          </p:nvPr>
        </p:nvSpPr>
        <p:spPr>
          <a:xfrm>
            <a:off x="8472458" y="476850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it"/>
              <a:t>66</a:t>
            </a:fld>
            <a:endParaRPr/>
          </a:p>
        </p:txBody>
      </p:sp>
      <p:pic>
        <p:nvPicPr>
          <p:cNvPr id="593" name="Google Shape;593;p72"/>
          <p:cNvPicPr preferRelativeResize="0"/>
          <p:nvPr/>
        </p:nvPicPr>
        <p:blipFill rotWithShape="1">
          <a:blip r:embed="rId3">
            <a:alphaModFix/>
          </a:blip>
          <a:srcRect/>
          <a:stretch/>
        </p:blipFill>
        <p:spPr>
          <a:xfrm>
            <a:off x="861144" y="1235834"/>
            <a:ext cx="7421700" cy="3125700"/>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597"/>
        <p:cNvGrpSpPr/>
        <p:nvPr/>
      </p:nvGrpSpPr>
      <p:grpSpPr>
        <a:xfrm>
          <a:off x="0" y="0"/>
          <a:ext cx="0" cy="0"/>
          <a:chOff x="0" y="0"/>
          <a:chExt cx="0" cy="0"/>
        </a:xfrm>
      </p:grpSpPr>
      <p:sp>
        <p:nvSpPr>
          <p:cNvPr id="598" name="Google Shape;598;p7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it" sz="2820"/>
              <a:t>Type checking and casting</a:t>
            </a:r>
            <a:endParaRPr sz="2820"/>
          </a:p>
        </p:txBody>
      </p:sp>
      <p:sp>
        <p:nvSpPr>
          <p:cNvPr id="599" name="Google Shape;599;p73"/>
          <p:cNvSpPr txBox="1">
            <a:spLocks noGrp="1"/>
          </p:cNvSpPr>
          <p:nvPr>
            <p:ph type="sldNum" idx="12"/>
          </p:nvPr>
        </p:nvSpPr>
        <p:spPr>
          <a:xfrm>
            <a:off x="8472458" y="476850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it"/>
              <a:t>67</a:t>
            </a:fld>
            <a:endParaRPr/>
          </a:p>
        </p:txBody>
      </p:sp>
      <p:sp>
        <p:nvSpPr>
          <p:cNvPr id="600" name="Google Shape;600;p73"/>
          <p:cNvSpPr txBox="1">
            <a:spLocks noGrp="1"/>
          </p:cNvSpPr>
          <p:nvPr>
            <p:ph type="body" idx="1"/>
          </p:nvPr>
        </p:nvSpPr>
        <p:spPr>
          <a:xfrm>
            <a:off x="311150" y="1244204"/>
            <a:ext cx="8521800" cy="3393300"/>
          </a:xfrm>
          <a:prstGeom prst="rect">
            <a:avLst/>
          </a:prstGeom>
        </p:spPr>
        <p:txBody>
          <a:bodyPr spcFirstLastPara="1" wrap="square" lIns="91425" tIns="45700" rIns="91425" bIns="45700" anchor="t" anchorCtr="0">
            <a:normAutofit lnSpcReduction="10000"/>
          </a:bodyPr>
          <a:lstStyle/>
          <a:p>
            <a:pPr marL="457200" lvl="0" indent="-355600" algn="l" rtl="0">
              <a:spcBef>
                <a:spcPts val="600"/>
              </a:spcBef>
              <a:spcAft>
                <a:spcPts val="0"/>
              </a:spcAft>
              <a:buSzPts val="2000"/>
              <a:buChar char="•"/>
            </a:pPr>
            <a:r>
              <a:rPr lang="it"/>
              <a:t>In some situations, it is necessary to assess the actual type of the value stored in a variable</a:t>
            </a:r>
            <a:endParaRPr/>
          </a:p>
          <a:p>
            <a:pPr marL="914400" lvl="1" indent="-330200" algn="l" rtl="0">
              <a:spcBef>
                <a:spcPts val="0"/>
              </a:spcBef>
              <a:spcAft>
                <a:spcPts val="0"/>
              </a:spcAft>
              <a:buSzPts val="1600"/>
              <a:buChar char="○"/>
            </a:pPr>
            <a:r>
              <a:rPr lang="it"/>
              <a:t>Operator </a:t>
            </a:r>
            <a:r>
              <a:rPr lang="it" b="1">
                <a:solidFill>
                  <a:srgbClr val="0B5394"/>
                </a:solidFill>
                <a:latin typeface="Consolas"/>
                <a:ea typeface="Consolas"/>
                <a:cs typeface="Consolas"/>
                <a:sym typeface="Consolas"/>
              </a:rPr>
              <a:t>is</a:t>
            </a:r>
            <a:r>
              <a:rPr lang="it"/>
              <a:t> (and its negated form </a:t>
            </a:r>
            <a:r>
              <a:rPr lang="it" b="1">
                <a:solidFill>
                  <a:srgbClr val="0B5394"/>
                </a:solidFill>
                <a:latin typeface="Consolas"/>
                <a:ea typeface="Consolas"/>
                <a:cs typeface="Consolas"/>
                <a:sym typeface="Consolas"/>
              </a:rPr>
              <a:t>!is</a:t>
            </a:r>
            <a:r>
              <a:rPr lang="it"/>
              <a:t>) can be used to this purpose</a:t>
            </a:r>
            <a:endParaRPr/>
          </a:p>
          <a:p>
            <a:pPr marL="914400" lvl="1" indent="-330200" algn="l" rtl="0">
              <a:spcBef>
                <a:spcPts val="0"/>
              </a:spcBef>
              <a:spcAft>
                <a:spcPts val="0"/>
              </a:spcAft>
              <a:buSzPts val="1600"/>
              <a:buChar char="○"/>
            </a:pPr>
            <a:r>
              <a:rPr lang="it" b="1">
                <a:solidFill>
                  <a:srgbClr val="0B5394"/>
                </a:solidFill>
                <a:latin typeface="Consolas"/>
                <a:ea typeface="Consolas"/>
                <a:cs typeface="Consolas"/>
                <a:sym typeface="Consolas"/>
              </a:rPr>
              <a:t>var v: Any = …; if (v is String) { … }</a:t>
            </a:r>
            <a:r>
              <a:rPr lang="it"/>
              <a:t> </a:t>
            </a:r>
            <a:endParaRPr/>
          </a:p>
          <a:p>
            <a:pPr marL="457200" lvl="0" indent="-355600" algn="l" rtl="0">
              <a:spcBef>
                <a:spcPts val="0"/>
              </a:spcBef>
              <a:spcAft>
                <a:spcPts val="0"/>
              </a:spcAft>
              <a:buSzPts val="2000"/>
              <a:buChar char="•"/>
            </a:pPr>
            <a:r>
              <a:rPr lang="it"/>
              <a:t>A value can be casted to a different type using the unsafe </a:t>
            </a:r>
            <a:r>
              <a:rPr lang="it" b="1">
                <a:solidFill>
                  <a:srgbClr val="0B5394"/>
                </a:solidFill>
                <a:latin typeface="Consolas"/>
                <a:ea typeface="Consolas"/>
                <a:cs typeface="Consolas"/>
                <a:sym typeface="Consolas"/>
              </a:rPr>
              <a:t>as</a:t>
            </a:r>
            <a:r>
              <a:rPr lang="it"/>
              <a:t> operator</a:t>
            </a:r>
            <a:endParaRPr/>
          </a:p>
          <a:p>
            <a:pPr marL="914400" lvl="1" indent="-330200" algn="l" rtl="0">
              <a:spcBef>
                <a:spcPts val="0"/>
              </a:spcBef>
              <a:spcAft>
                <a:spcPts val="0"/>
              </a:spcAft>
              <a:buSzPts val="1600"/>
              <a:buChar char="○"/>
            </a:pPr>
            <a:r>
              <a:rPr lang="it"/>
              <a:t>It will throw an exception if the conversion is not possible</a:t>
            </a:r>
            <a:endParaRPr/>
          </a:p>
          <a:p>
            <a:pPr marL="457200" lvl="0" indent="-355600" algn="l" rtl="0">
              <a:spcBef>
                <a:spcPts val="0"/>
              </a:spcBef>
              <a:spcAft>
                <a:spcPts val="0"/>
              </a:spcAft>
              <a:buSzPts val="2000"/>
              <a:buChar char="•"/>
            </a:pPr>
            <a:r>
              <a:rPr lang="it"/>
              <a:t>Alternatively, the </a:t>
            </a:r>
            <a:r>
              <a:rPr lang="it" b="1">
                <a:solidFill>
                  <a:srgbClr val="0B5394"/>
                </a:solidFill>
                <a:latin typeface="Consolas"/>
                <a:ea typeface="Consolas"/>
                <a:cs typeface="Consolas"/>
                <a:sym typeface="Consolas"/>
              </a:rPr>
              <a:t>as?</a:t>
            </a:r>
            <a:r>
              <a:rPr lang="it">
                <a:solidFill>
                  <a:schemeClr val="dk1"/>
                </a:solidFill>
              </a:rPr>
              <a:t> </a:t>
            </a:r>
            <a:r>
              <a:rPr lang="it"/>
              <a:t>safe cast operator can be used</a:t>
            </a:r>
            <a:endParaRPr/>
          </a:p>
          <a:p>
            <a:pPr marL="914400" marR="0" lvl="1" indent="-330200" algn="l" rtl="0">
              <a:lnSpc>
                <a:spcPct val="110000"/>
              </a:lnSpc>
              <a:spcBef>
                <a:spcPts val="0"/>
              </a:spcBef>
              <a:spcAft>
                <a:spcPts val="0"/>
              </a:spcAft>
              <a:buSzPts val="1600"/>
              <a:buChar char="○"/>
            </a:pPr>
            <a:r>
              <a:rPr lang="it"/>
              <a:t>It will return </a:t>
            </a:r>
            <a:r>
              <a:rPr lang="it" b="1">
                <a:solidFill>
                  <a:srgbClr val="0B5394"/>
                </a:solidFill>
                <a:latin typeface="Consolas"/>
                <a:ea typeface="Consolas"/>
                <a:cs typeface="Consolas"/>
                <a:sym typeface="Consolas"/>
              </a:rPr>
              <a:t>null</a:t>
            </a:r>
            <a:r>
              <a:rPr lang="it"/>
              <a:t> if the conversion is not possible</a:t>
            </a:r>
            <a:endParaRPr/>
          </a:p>
          <a:p>
            <a:pPr marL="457200" marR="0" lvl="0" indent="-355600" algn="l" rtl="0">
              <a:lnSpc>
                <a:spcPct val="110000"/>
              </a:lnSpc>
              <a:spcBef>
                <a:spcPts val="0"/>
              </a:spcBef>
              <a:spcAft>
                <a:spcPts val="0"/>
              </a:spcAft>
              <a:buSzPts val="2000"/>
              <a:buChar char="•"/>
            </a:pPr>
            <a:r>
              <a:rPr lang="it"/>
              <a:t>The compiler tracks is-checks</a:t>
            </a:r>
            <a:endParaRPr/>
          </a:p>
          <a:p>
            <a:pPr marL="914400" marR="0" lvl="1" indent="-330200" algn="l" rtl="0">
              <a:lnSpc>
                <a:spcPct val="110000"/>
              </a:lnSpc>
              <a:spcBef>
                <a:spcPts val="0"/>
              </a:spcBef>
              <a:spcAft>
                <a:spcPts val="0"/>
              </a:spcAft>
              <a:buSzPts val="1600"/>
              <a:buChar char="○"/>
            </a:pPr>
            <a:r>
              <a:rPr lang="it"/>
              <a:t>It inserts safe casts on your behalf</a:t>
            </a:r>
            <a:endParaRPr/>
          </a:p>
          <a:p>
            <a:pPr marL="914400" marR="0" lvl="1" indent="-330200" algn="l" rtl="0">
              <a:lnSpc>
                <a:spcPct val="110000"/>
              </a:lnSpc>
              <a:spcBef>
                <a:spcPts val="0"/>
              </a:spcBef>
              <a:spcAft>
                <a:spcPts val="0"/>
              </a:spcAft>
              <a:buSzPts val="1600"/>
              <a:buChar char="○"/>
            </a:pPr>
            <a:r>
              <a:rPr lang="it"/>
              <a:t>This includes also negative checks &amp; short circuiting</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604"/>
        <p:cNvGrpSpPr/>
        <p:nvPr/>
      </p:nvGrpSpPr>
      <p:grpSpPr>
        <a:xfrm>
          <a:off x="0" y="0"/>
          <a:ext cx="0" cy="0"/>
          <a:chOff x="0" y="0"/>
          <a:chExt cx="0" cy="0"/>
        </a:xfrm>
      </p:grpSpPr>
      <p:sp>
        <p:nvSpPr>
          <p:cNvPr id="605" name="Google Shape;605;p7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it" sz="2820"/>
              <a:t>Smart casts</a:t>
            </a:r>
            <a:endParaRPr sz="2820"/>
          </a:p>
        </p:txBody>
      </p:sp>
      <p:sp>
        <p:nvSpPr>
          <p:cNvPr id="606" name="Google Shape;606;p74"/>
          <p:cNvSpPr txBox="1">
            <a:spLocks noGrp="1"/>
          </p:cNvSpPr>
          <p:nvPr>
            <p:ph type="sldNum" idx="12"/>
          </p:nvPr>
        </p:nvSpPr>
        <p:spPr>
          <a:xfrm>
            <a:off x="8472458" y="476850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it"/>
              <a:t>68</a:t>
            </a:fld>
            <a:endParaRPr/>
          </a:p>
        </p:txBody>
      </p:sp>
      <p:sp>
        <p:nvSpPr>
          <p:cNvPr id="607" name="Google Shape;607;p74"/>
          <p:cNvSpPr txBox="1">
            <a:spLocks noGrp="1"/>
          </p:cNvSpPr>
          <p:nvPr>
            <p:ph type="body" idx="1"/>
          </p:nvPr>
        </p:nvSpPr>
        <p:spPr>
          <a:xfrm>
            <a:off x="311150" y="1244204"/>
            <a:ext cx="8521800" cy="3393300"/>
          </a:xfrm>
          <a:prstGeom prst="rect">
            <a:avLst/>
          </a:prstGeom>
        </p:spPr>
        <p:txBody>
          <a:bodyPr spcFirstLastPara="1" wrap="square" lIns="91425" tIns="45700" rIns="91425" bIns="45700" anchor="t" anchorCtr="0">
            <a:normAutofit/>
          </a:bodyPr>
          <a:lstStyle/>
          <a:p>
            <a:pPr marL="457200" lvl="0" indent="-355600" algn="l" rtl="0">
              <a:spcBef>
                <a:spcPts val="600"/>
              </a:spcBef>
              <a:spcAft>
                <a:spcPts val="0"/>
              </a:spcAft>
              <a:buSzPts val="2000"/>
              <a:buChar char="•"/>
            </a:pPr>
            <a:r>
              <a:rPr lang="it"/>
              <a:t>After an is-check, the compiler tries to automatically cast the checked variable to the verified class</a:t>
            </a:r>
            <a:endParaRPr/>
          </a:p>
          <a:p>
            <a:pPr marL="914400" lvl="1" indent="-330200" algn="l" rtl="0">
              <a:spcBef>
                <a:spcPts val="0"/>
              </a:spcBef>
              <a:spcAft>
                <a:spcPts val="0"/>
              </a:spcAft>
              <a:buSzPts val="1600"/>
              <a:buChar char="○"/>
            </a:pPr>
            <a:r>
              <a:rPr lang="it"/>
              <a:t>This is called smart casting</a:t>
            </a:r>
            <a:endParaRPr/>
          </a:p>
          <a:p>
            <a:pPr marL="457200" lvl="0" indent="-355600" algn="l" rtl="0">
              <a:spcBef>
                <a:spcPts val="0"/>
              </a:spcBef>
              <a:spcAft>
                <a:spcPts val="0"/>
              </a:spcAft>
              <a:buSzPts val="2000"/>
              <a:buChar char="•"/>
            </a:pPr>
            <a:r>
              <a:rPr lang="it"/>
              <a:t>Smart casting only applies if the compiler can guarantee that the field cannot be mutated since the is-check</a:t>
            </a:r>
            <a:endParaRPr/>
          </a:p>
          <a:p>
            <a:pPr marL="914400" lvl="1" indent="-330200" algn="l" rtl="0">
              <a:spcBef>
                <a:spcPts val="0"/>
              </a:spcBef>
              <a:spcAft>
                <a:spcPts val="0"/>
              </a:spcAft>
              <a:buSzPts val="1600"/>
              <a:buChar char="○"/>
            </a:pPr>
            <a:r>
              <a:rPr lang="it" b="1">
                <a:solidFill>
                  <a:srgbClr val="0B5394"/>
                </a:solidFill>
                <a:latin typeface="Consolas"/>
                <a:ea typeface="Consolas"/>
                <a:cs typeface="Consolas"/>
                <a:sym typeface="Consolas"/>
              </a:rPr>
              <a:t>val</a:t>
            </a:r>
            <a:r>
              <a:rPr lang="it"/>
              <a:t> </a:t>
            </a:r>
            <a:r>
              <a:rPr lang="it">
                <a:solidFill>
                  <a:srgbClr val="0B5394"/>
                </a:solidFill>
              </a:rPr>
              <a:t>local variables</a:t>
            </a:r>
            <a:r>
              <a:rPr lang="it"/>
              <a:t> – smart cast is always performed</a:t>
            </a:r>
            <a:endParaRPr/>
          </a:p>
          <a:p>
            <a:pPr marL="914400" marR="0" lvl="1" indent="-330200" algn="l" rtl="0">
              <a:lnSpc>
                <a:spcPct val="110000"/>
              </a:lnSpc>
              <a:spcBef>
                <a:spcPts val="0"/>
              </a:spcBef>
              <a:spcAft>
                <a:spcPts val="0"/>
              </a:spcAft>
              <a:buSzPts val="1600"/>
              <a:buChar char="○"/>
            </a:pPr>
            <a:r>
              <a:rPr lang="it" b="1">
                <a:solidFill>
                  <a:srgbClr val="0B5394"/>
                </a:solidFill>
                <a:latin typeface="Consolas"/>
                <a:ea typeface="Consolas"/>
                <a:cs typeface="Consolas"/>
                <a:sym typeface="Consolas"/>
              </a:rPr>
              <a:t>val</a:t>
            </a:r>
            <a:r>
              <a:rPr lang="it"/>
              <a:t> </a:t>
            </a:r>
            <a:r>
              <a:rPr lang="it">
                <a:solidFill>
                  <a:srgbClr val="0B5394"/>
                </a:solidFill>
              </a:rPr>
              <a:t>properties</a:t>
            </a:r>
            <a:r>
              <a:rPr lang="it"/>
              <a:t> - if the property is private or internal or the check is performed in the same module where the property is declared, the smart cast is performed</a:t>
            </a:r>
            <a:endParaRPr/>
          </a:p>
          <a:p>
            <a:pPr marL="914400" marR="0" lvl="1" indent="-330200" algn="l" rtl="0">
              <a:lnSpc>
                <a:spcPct val="110000"/>
              </a:lnSpc>
              <a:spcBef>
                <a:spcPts val="0"/>
              </a:spcBef>
              <a:spcAft>
                <a:spcPts val="0"/>
              </a:spcAft>
              <a:buSzPts val="1600"/>
              <a:buChar char="○"/>
            </a:pPr>
            <a:r>
              <a:rPr lang="it" b="1">
                <a:solidFill>
                  <a:srgbClr val="0B5394"/>
                </a:solidFill>
                <a:latin typeface="Consolas"/>
                <a:ea typeface="Consolas"/>
                <a:cs typeface="Consolas"/>
                <a:sym typeface="Consolas"/>
              </a:rPr>
              <a:t>var</a:t>
            </a:r>
            <a:r>
              <a:rPr lang="it"/>
              <a:t> </a:t>
            </a:r>
            <a:r>
              <a:rPr lang="it">
                <a:solidFill>
                  <a:srgbClr val="0B5394"/>
                </a:solidFill>
              </a:rPr>
              <a:t>local variables</a:t>
            </a:r>
            <a:r>
              <a:rPr lang="it"/>
              <a:t> – if the variable is not modified between the check and its usage and it is not captured in a lambda that may modify it, the smart cast is performed</a:t>
            </a:r>
            <a:endParaRPr/>
          </a:p>
          <a:p>
            <a:pPr marL="914400" marR="0" lvl="1" indent="-330200" algn="l" rtl="0">
              <a:lnSpc>
                <a:spcPct val="110000"/>
              </a:lnSpc>
              <a:spcBef>
                <a:spcPts val="0"/>
              </a:spcBef>
              <a:spcAft>
                <a:spcPts val="0"/>
              </a:spcAft>
              <a:buSzPts val="1600"/>
              <a:buChar char="○"/>
            </a:pPr>
            <a:r>
              <a:rPr lang="it" b="1">
                <a:solidFill>
                  <a:srgbClr val="0B5394"/>
                </a:solidFill>
                <a:latin typeface="Consolas"/>
                <a:ea typeface="Consolas"/>
                <a:cs typeface="Consolas"/>
                <a:sym typeface="Consolas"/>
              </a:rPr>
              <a:t>var</a:t>
            </a:r>
            <a:r>
              <a:rPr lang="it"/>
              <a:t> </a:t>
            </a:r>
            <a:r>
              <a:rPr lang="it">
                <a:solidFill>
                  <a:srgbClr val="0B5394"/>
                </a:solidFill>
              </a:rPr>
              <a:t>properties</a:t>
            </a:r>
            <a:r>
              <a:rPr lang="it"/>
              <a:t> - the smart cast is never performed</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611"/>
        <p:cNvGrpSpPr/>
        <p:nvPr/>
      </p:nvGrpSpPr>
      <p:grpSpPr>
        <a:xfrm>
          <a:off x="0" y="0"/>
          <a:ext cx="0" cy="0"/>
          <a:chOff x="0" y="0"/>
          <a:chExt cx="0" cy="0"/>
        </a:xfrm>
      </p:grpSpPr>
      <p:sp>
        <p:nvSpPr>
          <p:cNvPr id="612" name="Google Shape;612;p75"/>
          <p:cNvSpPr txBox="1">
            <a:spLocks noGrp="1"/>
          </p:cNvSpPr>
          <p:nvPr>
            <p:ph type="sldNum" idx="12"/>
          </p:nvPr>
        </p:nvSpPr>
        <p:spPr>
          <a:xfrm>
            <a:off x="8472458" y="4768506"/>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it"/>
              <a:t>69</a:t>
            </a:fld>
            <a:endParaRPr/>
          </a:p>
        </p:txBody>
      </p:sp>
      <p:sp>
        <p:nvSpPr>
          <p:cNvPr id="613" name="Google Shape;613;p75"/>
          <p:cNvSpPr txBox="1">
            <a:spLocks noGrp="1"/>
          </p:cNvSpPr>
          <p:nvPr>
            <p:ph type="title"/>
          </p:nvPr>
        </p:nvSpPr>
        <p:spPr>
          <a:xfrm>
            <a:off x="311700" y="445025"/>
            <a:ext cx="8520600" cy="572700"/>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None/>
            </a:pPr>
            <a:r>
              <a:rPr lang="it"/>
              <a:t>The Kotlin collection library</a:t>
            </a:r>
            <a:endParaRPr/>
          </a:p>
        </p:txBody>
      </p:sp>
      <p:cxnSp>
        <p:nvCxnSpPr>
          <p:cNvPr id="614" name="Google Shape;614;p75"/>
          <p:cNvCxnSpPr>
            <a:stCxn id="615" idx="3"/>
            <a:endCxn id="616" idx="0"/>
          </p:cNvCxnSpPr>
          <p:nvPr/>
        </p:nvCxnSpPr>
        <p:spPr>
          <a:xfrm rot="-5400000" flipH="1">
            <a:off x="3724874" y="1603492"/>
            <a:ext cx="243900" cy="600"/>
          </a:xfrm>
          <a:prstGeom prst="bentConnector3">
            <a:avLst>
              <a:gd name="adj1" fmla="val 50012"/>
            </a:avLst>
          </a:prstGeom>
          <a:solidFill>
            <a:schemeClr val="lt1"/>
          </a:solidFill>
          <a:ln w="25400" cap="flat" cmpd="sng">
            <a:solidFill>
              <a:schemeClr val="dk1"/>
            </a:solidFill>
            <a:prstDash val="solid"/>
            <a:round/>
            <a:headEnd type="none" w="med" len="med"/>
            <a:tailEnd type="none" w="med" len="med"/>
          </a:ln>
        </p:spPr>
      </p:cxnSp>
      <p:cxnSp>
        <p:nvCxnSpPr>
          <p:cNvPr id="617" name="Google Shape;617;p75"/>
          <p:cNvCxnSpPr>
            <a:stCxn id="618" idx="3"/>
            <a:endCxn id="619" idx="1"/>
          </p:cNvCxnSpPr>
          <p:nvPr/>
        </p:nvCxnSpPr>
        <p:spPr>
          <a:xfrm>
            <a:off x="5239399" y="1179944"/>
            <a:ext cx="732900" cy="600"/>
          </a:xfrm>
          <a:prstGeom prst="bentConnector3">
            <a:avLst>
              <a:gd name="adj1" fmla="val 49993"/>
            </a:avLst>
          </a:prstGeom>
          <a:solidFill>
            <a:schemeClr val="lt1"/>
          </a:solidFill>
          <a:ln w="25400" cap="flat" cmpd="sng">
            <a:solidFill>
              <a:schemeClr val="dk1"/>
            </a:solidFill>
            <a:prstDash val="solid"/>
            <a:round/>
            <a:headEnd type="none" w="med" len="med"/>
            <a:tailEnd type="none" w="med" len="med"/>
          </a:ln>
        </p:spPr>
      </p:cxnSp>
      <p:cxnSp>
        <p:nvCxnSpPr>
          <p:cNvPr id="620" name="Google Shape;620;p75"/>
          <p:cNvCxnSpPr>
            <a:stCxn id="621" idx="3"/>
            <a:endCxn id="622" idx="0"/>
          </p:cNvCxnSpPr>
          <p:nvPr/>
        </p:nvCxnSpPr>
        <p:spPr>
          <a:xfrm rot="-5400000" flipH="1">
            <a:off x="6995449" y="1789492"/>
            <a:ext cx="616200" cy="600"/>
          </a:xfrm>
          <a:prstGeom prst="bentConnector3">
            <a:avLst>
              <a:gd name="adj1" fmla="val 49995"/>
            </a:avLst>
          </a:prstGeom>
          <a:solidFill>
            <a:schemeClr val="lt1"/>
          </a:solidFill>
          <a:ln w="25400" cap="flat" cmpd="sng">
            <a:solidFill>
              <a:schemeClr val="dk1"/>
            </a:solidFill>
            <a:prstDash val="solid"/>
            <a:round/>
            <a:headEnd type="none" w="med" len="med"/>
            <a:tailEnd type="none" w="med" len="med"/>
          </a:ln>
        </p:spPr>
      </p:cxnSp>
      <p:cxnSp>
        <p:nvCxnSpPr>
          <p:cNvPr id="623" name="Google Shape;623;p75"/>
          <p:cNvCxnSpPr>
            <a:stCxn id="624" idx="3"/>
            <a:endCxn id="625" idx="0"/>
          </p:cNvCxnSpPr>
          <p:nvPr/>
        </p:nvCxnSpPr>
        <p:spPr>
          <a:xfrm rot="5400000">
            <a:off x="3054008" y="2204705"/>
            <a:ext cx="277500" cy="282900"/>
          </a:xfrm>
          <a:prstGeom prst="bentConnector3">
            <a:avLst>
              <a:gd name="adj1" fmla="val 49982"/>
            </a:avLst>
          </a:prstGeom>
          <a:solidFill>
            <a:schemeClr val="lt1"/>
          </a:solidFill>
          <a:ln w="25400" cap="flat" cmpd="sng">
            <a:solidFill>
              <a:schemeClr val="dk1"/>
            </a:solidFill>
            <a:prstDash val="solid"/>
            <a:round/>
            <a:headEnd type="none" w="med" len="med"/>
            <a:tailEnd type="none" w="med" len="med"/>
          </a:ln>
        </p:spPr>
      </p:cxnSp>
      <p:cxnSp>
        <p:nvCxnSpPr>
          <p:cNvPr id="626" name="Google Shape;626;p75"/>
          <p:cNvCxnSpPr>
            <a:stCxn id="627" idx="3"/>
            <a:endCxn id="628" idx="0"/>
          </p:cNvCxnSpPr>
          <p:nvPr/>
        </p:nvCxnSpPr>
        <p:spPr>
          <a:xfrm rot="-5400000" flipH="1">
            <a:off x="4508908" y="2057042"/>
            <a:ext cx="277500" cy="578100"/>
          </a:xfrm>
          <a:prstGeom prst="bentConnector3">
            <a:avLst>
              <a:gd name="adj1" fmla="val 49993"/>
            </a:avLst>
          </a:prstGeom>
          <a:solidFill>
            <a:schemeClr val="lt1"/>
          </a:solidFill>
          <a:ln w="25400" cap="flat" cmpd="sng">
            <a:solidFill>
              <a:schemeClr val="dk1"/>
            </a:solidFill>
            <a:prstDash val="solid"/>
            <a:round/>
            <a:headEnd type="none" w="med" len="med"/>
            <a:tailEnd type="none" w="med" len="med"/>
          </a:ln>
        </p:spPr>
      </p:cxnSp>
      <p:grpSp>
        <p:nvGrpSpPr>
          <p:cNvPr id="629" name="Google Shape;629;p75"/>
          <p:cNvGrpSpPr/>
          <p:nvPr/>
        </p:nvGrpSpPr>
        <p:grpSpPr>
          <a:xfrm>
            <a:off x="4104678" y="2484802"/>
            <a:ext cx="1663800" cy="468206"/>
            <a:chOff x="3261769" y="4269559"/>
            <a:chExt cx="1663800" cy="624275"/>
          </a:xfrm>
        </p:grpSpPr>
        <p:sp>
          <p:nvSpPr>
            <p:cNvPr id="628" name="Google Shape;628;p75"/>
            <p:cNvSpPr/>
            <p:nvPr/>
          </p:nvSpPr>
          <p:spPr>
            <a:xfrm>
              <a:off x="3261769" y="4269559"/>
              <a:ext cx="1663800" cy="441300"/>
            </a:xfrm>
            <a:prstGeom prst="rect">
              <a:avLst/>
            </a:prstGeom>
            <a:solidFill>
              <a:srgbClr val="E69138"/>
            </a:solidFill>
            <a:ln w="25400" cap="flat" cmpd="sng">
              <a:solidFill>
                <a:srgbClr val="B45F06"/>
              </a:solidFill>
              <a:prstDash val="solid"/>
              <a:round/>
              <a:headEnd type="none" w="sm" len="sm"/>
              <a:tailEnd type="none" w="sm" len="sm"/>
            </a:ln>
          </p:spPr>
          <p:txBody>
            <a:bodyPr spcFirstLastPara="1" wrap="square" lIns="90475" tIns="44450" rIns="90475" bIns="44450" anchor="ctr" anchorCtr="0">
              <a:noAutofit/>
            </a:bodyPr>
            <a:lstStyle/>
            <a:p>
              <a:pPr marL="0" marR="0" lvl="0" indent="0" algn="ctr" rtl="0">
                <a:lnSpc>
                  <a:spcPct val="100000"/>
                </a:lnSpc>
                <a:spcBef>
                  <a:spcPts val="0"/>
                </a:spcBef>
                <a:spcAft>
                  <a:spcPts val="0"/>
                </a:spcAft>
                <a:buClr>
                  <a:schemeClr val="lt1"/>
                </a:buClr>
                <a:buSzPts val="2000"/>
                <a:buFont typeface="Consolas"/>
                <a:buNone/>
              </a:pPr>
              <a:r>
                <a:rPr lang="it" sz="1600">
                  <a:solidFill>
                    <a:schemeClr val="lt1"/>
                  </a:solidFill>
                  <a:latin typeface="Consolas"/>
                  <a:ea typeface="Consolas"/>
                  <a:cs typeface="Consolas"/>
                  <a:sym typeface="Consolas"/>
                </a:rPr>
                <a:t>Set&lt;out T&gt;</a:t>
              </a:r>
              <a:endParaRPr sz="1600"/>
            </a:p>
          </p:txBody>
        </p:sp>
        <p:sp>
          <p:nvSpPr>
            <p:cNvPr id="630" name="Google Shape;630;p75"/>
            <p:cNvSpPr/>
            <p:nvPr/>
          </p:nvSpPr>
          <p:spPr>
            <a:xfrm>
              <a:off x="3987458" y="4710834"/>
              <a:ext cx="212400" cy="183000"/>
            </a:xfrm>
            <a:prstGeom prst="triangle">
              <a:avLst>
                <a:gd name="adj" fmla="val 50000"/>
              </a:avLst>
            </a:prstGeom>
            <a:solidFill>
              <a:schemeClr val="lt1"/>
            </a:solidFill>
            <a:ln w="25400" cap="flat" cmpd="sng">
              <a:solidFill>
                <a:schemeClr val="dk1"/>
              </a:solidFill>
              <a:prstDash val="solid"/>
              <a:round/>
              <a:headEnd type="none" w="sm" len="sm"/>
              <a:tailEnd type="none" w="sm" len="sm"/>
            </a:ln>
          </p:spPr>
          <p:txBody>
            <a:bodyPr spcFirstLastPara="1" wrap="square" lIns="90475" tIns="44450" rIns="90475" bIns="44450" anchor="ctr" anchorCtr="0">
              <a:noAutofit/>
            </a:bodyPr>
            <a:lstStyle/>
            <a:p>
              <a:pPr marL="0" marR="0" lvl="0" indent="0" algn="ctr" rtl="0">
                <a:spcBef>
                  <a:spcPts val="0"/>
                </a:spcBef>
                <a:spcAft>
                  <a:spcPts val="0"/>
                </a:spcAft>
                <a:buNone/>
              </a:pPr>
              <a:endParaRPr sz="2400">
                <a:solidFill>
                  <a:schemeClr val="lt1"/>
                </a:solidFill>
                <a:latin typeface="Consolas"/>
                <a:ea typeface="Consolas"/>
                <a:cs typeface="Consolas"/>
                <a:sym typeface="Consolas"/>
              </a:endParaRPr>
            </a:p>
          </p:txBody>
        </p:sp>
      </p:grpSp>
      <p:grpSp>
        <p:nvGrpSpPr>
          <p:cNvPr id="631" name="Google Shape;631;p75"/>
          <p:cNvGrpSpPr/>
          <p:nvPr/>
        </p:nvGrpSpPr>
        <p:grpSpPr>
          <a:xfrm>
            <a:off x="2171872" y="2484803"/>
            <a:ext cx="1758900" cy="468206"/>
            <a:chOff x="1328963" y="4269560"/>
            <a:chExt cx="1758900" cy="624274"/>
          </a:xfrm>
        </p:grpSpPr>
        <p:sp>
          <p:nvSpPr>
            <p:cNvPr id="625" name="Google Shape;625;p75"/>
            <p:cNvSpPr/>
            <p:nvPr/>
          </p:nvSpPr>
          <p:spPr>
            <a:xfrm>
              <a:off x="1328963" y="4269560"/>
              <a:ext cx="1758900" cy="441300"/>
            </a:xfrm>
            <a:prstGeom prst="rect">
              <a:avLst/>
            </a:prstGeom>
            <a:solidFill>
              <a:srgbClr val="E69138"/>
            </a:solidFill>
            <a:ln w="25400" cap="flat" cmpd="sng">
              <a:solidFill>
                <a:srgbClr val="B45F06"/>
              </a:solidFill>
              <a:prstDash val="solid"/>
              <a:round/>
              <a:headEnd type="none" w="sm" len="sm"/>
              <a:tailEnd type="none" w="sm" len="sm"/>
            </a:ln>
          </p:spPr>
          <p:txBody>
            <a:bodyPr spcFirstLastPara="1" wrap="square" lIns="90475" tIns="44450" rIns="90475" bIns="44450" anchor="ctr" anchorCtr="0">
              <a:noAutofit/>
            </a:bodyPr>
            <a:lstStyle/>
            <a:p>
              <a:pPr marL="0" marR="0" lvl="0" indent="0" algn="ctr" rtl="0">
                <a:lnSpc>
                  <a:spcPct val="100000"/>
                </a:lnSpc>
                <a:spcBef>
                  <a:spcPts val="0"/>
                </a:spcBef>
                <a:spcAft>
                  <a:spcPts val="0"/>
                </a:spcAft>
                <a:buClr>
                  <a:schemeClr val="lt1"/>
                </a:buClr>
                <a:buSzPts val="2000"/>
                <a:buFont typeface="Consolas"/>
                <a:buNone/>
              </a:pPr>
              <a:r>
                <a:rPr lang="it" sz="1600">
                  <a:solidFill>
                    <a:schemeClr val="lt1"/>
                  </a:solidFill>
                  <a:latin typeface="Consolas"/>
                  <a:ea typeface="Consolas"/>
                  <a:cs typeface="Consolas"/>
                  <a:sym typeface="Consolas"/>
                </a:rPr>
                <a:t>List&lt;out T&gt;</a:t>
              </a:r>
              <a:endParaRPr sz="1600"/>
            </a:p>
          </p:txBody>
        </p:sp>
        <p:sp>
          <p:nvSpPr>
            <p:cNvPr id="632" name="Google Shape;632;p75"/>
            <p:cNvSpPr/>
            <p:nvPr/>
          </p:nvSpPr>
          <p:spPr>
            <a:xfrm>
              <a:off x="2102252" y="4710834"/>
              <a:ext cx="212400" cy="183000"/>
            </a:xfrm>
            <a:prstGeom prst="triangle">
              <a:avLst>
                <a:gd name="adj" fmla="val 50000"/>
              </a:avLst>
            </a:prstGeom>
            <a:solidFill>
              <a:schemeClr val="lt1"/>
            </a:solidFill>
            <a:ln w="25400" cap="flat" cmpd="sng">
              <a:solidFill>
                <a:schemeClr val="dk1"/>
              </a:solidFill>
              <a:prstDash val="solid"/>
              <a:round/>
              <a:headEnd type="none" w="sm" len="sm"/>
              <a:tailEnd type="none" w="sm" len="sm"/>
            </a:ln>
          </p:spPr>
          <p:txBody>
            <a:bodyPr spcFirstLastPara="1" wrap="square" lIns="90475" tIns="44450" rIns="90475" bIns="44450" anchor="ctr" anchorCtr="0">
              <a:noAutofit/>
            </a:bodyPr>
            <a:lstStyle/>
            <a:p>
              <a:pPr marL="0" marR="0" lvl="0" indent="0" algn="ctr" rtl="0">
                <a:spcBef>
                  <a:spcPts val="0"/>
                </a:spcBef>
                <a:spcAft>
                  <a:spcPts val="0"/>
                </a:spcAft>
                <a:buNone/>
              </a:pPr>
              <a:endParaRPr sz="1600">
                <a:solidFill>
                  <a:schemeClr val="lt1"/>
                </a:solidFill>
                <a:latin typeface="Consolas"/>
                <a:ea typeface="Consolas"/>
                <a:cs typeface="Consolas"/>
                <a:sym typeface="Consolas"/>
              </a:endParaRPr>
            </a:p>
          </p:txBody>
        </p:sp>
      </p:grpSp>
      <p:cxnSp>
        <p:nvCxnSpPr>
          <p:cNvPr id="633" name="Google Shape;633;p75"/>
          <p:cNvCxnSpPr>
            <a:stCxn id="632" idx="3"/>
            <a:endCxn id="634" idx="1"/>
          </p:cNvCxnSpPr>
          <p:nvPr/>
        </p:nvCxnSpPr>
        <p:spPr>
          <a:xfrm rot="-5400000" flipH="1">
            <a:off x="2971711" y="3032659"/>
            <a:ext cx="717000" cy="557700"/>
          </a:xfrm>
          <a:prstGeom prst="bentConnector2">
            <a:avLst/>
          </a:prstGeom>
          <a:solidFill>
            <a:schemeClr val="lt1"/>
          </a:solidFill>
          <a:ln w="25400" cap="flat" cmpd="sng">
            <a:solidFill>
              <a:schemeClr val="dk1"/>
            </a:solidFill>
            <a:prstDash val="solid"/>
            <a:round/>
            <a:headEnd type="none" w="med" len="med"/>
            <a:tailEnd type="none" w="med" len="med"/>
          </a:ln>
        </p:spPr>
      </p:cxnSp>
      <p:cxnSp>
        <p:nvCxnSpPr>
          <p:cNvPr id="635" name="Google Shape;635;p75"/>
          <p:cNvCxnSpPr>
            <a:stCxn id="636" idx="3"/>
            <a:endCxn id="634" idx="3"/>
          </p:cNvCxnSpPr>
          <p:nvPr/>
        </p:nvCxnSpPr>
        <p:spPr>
          <a:xfrm rot="5400000">
            <a:off x="5584507" y="2463305"/>
            <a:ext cx="1095300" cy="1318500"/>
          </a:xfrm>
          <a:prstGeom prst="bentConnector2">
            <a:avLst/>
          </a:prstGeom>
          <a:solidFill>
            <a:schemeClr val="lt1"/>
          </a:solidFill>
          <a:ln w="25400" cap="flat" cmpd="sng">
            <a:solidFill>
              <a:schemeClr val="dk1"/>
            </a:solidFill>
            <a:prstDash val="solid"/>
            <a:round/>
            <a:headEnd type="none" w="med" len="med"/>
            <a:tailEnd type="none" w="med" len="med"/>
          </a:ln>
        </p:spPr>
      </p:cxnSp>
      <p:cxnSp>
        <p:nvCxnSpPr>
          <p:cNvPr id="637" name="Google Shape;637;p75"/>
          <p:cNvCxnSpPr>
            <a:stCxn id="630" idx="3"/>
            <a:endCxn id="638" idx="1"/>
          </p:cNvCxnSpPr>
          <p:nvPr/>
        </p:nvCxnSpPr>
        <p:spPr>
          <a:xfrm rot="-5400000" flipH="1">
            <a:off x="5728117" y="2161459"/>
            <a:ext cx="363000" cy="1946100"/>
          </a:xfrm>
          <a:prstGeom prst="bentConnector2">
            <a:avLst/>
          </a:prstGeom>
          <a:solidFill>
            <a:schemeClr val="lt1"/>
          </a:solidFill>
          <a:ln w="25400" cap="flat" cmpd="sng">
            <a:solidFill>
              <a:schemeClr val="dk1"/>
            </a:solidFill>
            <a:prstDash val="solid"/>
            <a:round/>
            <a:headEnd type="none" w="med" len="med"/>
            <a:tailEnd type="none" w="med" len="med"/>
          </a:ln>
        </p:spPr>
      </p:cxnSp>
      <p:cxnSp>
        <p:nvCxnSpPr>
          <p:cNvPr id="639" name="Google Shape;639;p75"/>
          <p:cNvCxnSpPr>
            <a:stCxn id="640" idx="3"/>
            <a:endCxn id="638" idx="0"/>
          </p:cNvCxnSpPr>
          <p:nvPr/>
        </p:nvCxnSpPr>
        <p:spPr>
          <a:xfrm rot="5400000">
            <a:off x="7527357" y="2862092"/>
            <a:ext cx="575700" cy="1200"/>
          </a:xfrm>
          <a:prstGeom prst="bentConnector3">
            <a:avLst>
              <a:gd name="adj1" fmla="val 49999"/>
            </a:avLst>
          </a:prstGeom>
          <a:solidFill>
            <a:schemeClr val="lt1"/>
          </a:solidFill>
          <a:ln w="25400" cap="flat" cmpd="sng">
            <a:solidFill>
              <a:schemeClr val="dk1"/>
            </a:solidFill>
            <a:prstDash val="solid"/>
            <a:round/>
            <a:headEnd type="none" w="med" len="med"/>
            <a:tailEnd type="none" w="med" len="med"/>
          </a:ln>
        </p:spPr>
      </p:cxnSp>
      <p:sp>
        <p:nvSpPr>
          <p:cNvPr id="641" name="Google Shape;641;p75"/>
          <p:cNvSpPr/>
          <p:nvPr/>
        </p:nvSpPr>
        <p:spPr>
          <a:xfrm>
            <a:off x="3609135" y="4339656"/>
            <a:ext cx="1863900" cy="330900"/>
          </a:xfrm>
          <a:prstGeom prst="rect">
            <a:avLst/>
          </a:prstGeom>
          <a:solidFill>
            <a:srgbClr val="999999"/>
          </a:solidFill>
          <a:ln w="25400" cap="flat" cmpd="sng">
            <a:solidFill>
              <a:srgbClr val="434343"/>
            </a:solidFill>
            <a:prstDash val="solid"/>
            <a:round/>
            <a:headEnd type="none" w="sm" len="sm"/>
            <a:tailEnd type="none" w="sm" len="sm"/>
          </a:ln>
        </p:spPr>
        <p:txBody>
          <a:bodyPr spcFirstLastPara="1" wrap="square" lIns="90475" tIns="44450" rIns="90475" bIns="44450" anchor="ctr" anchorCtr="0">
            <a:noAutofit/>
          </a:bodyPr>
          <a:lstStyle/>
          <a:p>
            <a:pPr marL="0" marR="0" lvl="0" indent="0" algn="ctr" rtl="0">
              <a:lnSpc>
                <a:spcPct val="100000"/>
              </a:lnSpc>
              <a:spcBef>
                <a:spcPts val="0"/>
              </a:spcBef>
              <a:spcAft>
                <a:spcPts val="0"/>
              </a:spcAft>
              <a:buClr>
                <a:schemeClr val="lt1"/>
              </a:buClr>
              <a:buSzPts val="2000"/>
              <a:buFont typeface="Consolas"/>
              <a:buNone/>
            </a:pPr>
            <a:r>
              <a:rPr lang="it" sz="1600">
                <a:solidFill>
                  <a:schemeClr val="lt1"/>
                </a:solidFill>
                <a:latin typeface="Consolas"/>
                <a:ea typeface="Consolas"/>
                <a:cs typeface="Consolas"/>
                <a:sym typeface="Consolas"/>
              </a:rPr>
              <a:t>ArrayList&lt;T&gt;</a:t>
            </a:r>
            <a:endParaRPr sz="1600"/>
          </a:p>
        </p:txBody>
      </p:sp>
      <p:grpSp>
        <p:nvGrpSpPr>
          <p:cNvPr id="642" name="Google Shape;642;p75"/>
          <p:cNvGrpSpPr/>
          <p:nvPr/>
        </p:nvGrpSpPr>
        <p:grpSpPr>
          <a:xfrm>
            <a:off x="3609135" y="3504575"/>
            <a:ext cx="1863900" cy="481895"/>
            <a:chOff x="1526289" y="5076058"/>
            <a:chExt cx="1863900" cy="642526"/>
          </a:xfrm>
        </p:grpSpPr>
        <p:sp>
          <p:nvSpPr>
            <p:cNvPr id="634" name="Google Shape;634;p75"/>
            <p:cNvSpPr/>
            <p:nvPr/>
          </p:nvSpPr>
          <p:spPr>
            <a:xfrm>
              <a:off x="1526289" y="5076058"/>
              <a:ext cx="1863900" cy="441300"/>
            </a:xfrm>
            <a:prstGeom prst="rect">
              <a:avLst/>
            </a:prstGeom>
            <a:solidFill>
              <a:srgbClr val="6AA84F"/>
            </a:solidFill>
            <a:ln w="25400" cap="flat" cmpd="sng">
              <a:solidFill>
                <a:srgbClr val="38761D"/>
              </a:solidFill>
              <a:prstDash val="solid"/>
              <a:round/>
              <a:headEnd type="none" w="sm" len="sm"/>
              <a:tailEnd type="none" w="sm" len="sm"/>
            </a:ln>
          </p:spPr>
          <p:txBody>
            <a:bodyPr spcFirstLastPara="1" wrap="square" lIns="90475" tIns="44450" rIns="90475" bIns="44450" anchor="ctr" anchorCtr="0">
              <a:noAutofit/>
            </a:bodyPr>
            <a:lstStyle/>
            <a:p>
              <a:pPr marL="0" marR="0" lvl="0" indent="0" algn="ctr" rtl="0">
                <a:lnSpc>
                  <a:spcPct val="100000"/>
                </a:lnSpc>
                <a:spcBef>
                  <a:spcPts val="0"/>
                </a:spcBef>
                <a:spcAft>
                  <a:spcPts val="0"/>
                </a:spcAft>
                <a:buClr>
                  <a:schemeClr val="lt1"/>
                </a:buClr>
                <a:buSzPts val="2000"/>
                <a:buFont typeface="Consolas"/>
                <a:buNone/>
              </a:pPr>
              <a:r>
                <a:rPr lang="it" sz="1600">
                  <a:solidFill>
                    <a:schemeClr val="lt1"/>
                  </a:solidFill>
                  <a:latin typeface="Consolas"/>
                  <a:ea typeface="Consolas"/>
                  <a:cs typeface="Consolas"/>
                  <a:sym typeface="Consolas"/>
                </a:rPr>
                <a:t>MutableList&lt;T&gt;</a:t>
              </a:r>
              <a:endParaRPr sz="1600"/>
            </a:p>
          </p:txBody>
        </p:sp>
        <p:sp>
          <p:nvSpPr>
            <p:cNvPr id="643" name="Google Shape;643;p75"/>
            <p:cNvSpPr/>
            <p:nvPr/>
          </p:nvSpPr>
          <p:spPr>
            <a:xfrm>
              <a:off x="2352146" y="5535584"/>
              <a:ext cx="212400" cy="183000"/>
            </a:xfrm>
            <a:prstGeom prst="triangle">
              <a:avLst>
                <a:gd name="adj" fmla="val 50000"/>
              </a:avLst>
            </a:prstGeom>
            <a:solidFill>
              <a:schemeClr val="lt1"/>
            </a:solidFill>
            <a:ln w="25400" cap="flat" cmpd="sng">
              <a:solidFill>
                <a:schemeClr val="dk1"/>
              </a:solidFill>
              <a:prstDash val="solid"/>
              <a:round/>
              <a:headEnd type="none" w="sm" len="sm"/>
              <a:tailEnd type="none" w="sm" len="sm"/>
            </a:ln>
          </p:spPr>
          <p:txBody>
            <a:bodyPr spcFirstLastPara="1" wrap="square" lIns="90475" tIns="44450" rIns="90475" bIns="44450" anchor="ctr" anchorCtr="0">
              <a:noAutofit/>
            </a:bodyPr>
            <a:lstStyle/>
            <a:p>
              <a:pPr marL="0" marR="0" lvl="0" indent="0" algn="ctr" rtl="0">
                <a:spcBef>
                  <a:spcPts val="0"/>
                </a:spcBef>
                <a:spcAft>
                  <a:spcPts val="0"/>
                </a:spcAft>
                <a:buNone/>
              </a:pPr>
              <a:endParaRPr sz="1600">
                <a:solidFill>
                  <a:schemeClr val="lt1"/>
                </a:solidFill>
                <a:latin typeface="Consolas"/>
                <a:ea typeface="Consolas"/>
                <a:cs typeface="Consolas"/>
                <a:sym typeface="Consolas"/>
              </a:endParaRPr>
            </a:p>
          </p:txBody>
        </p:sp>
      </p:grpSp>
      <p:cxnSp>
        <p:nvCxnSpPr>
          <p:cNvPr id="644" name="Google Shape;644;p75"/>
          <p:cNvCxnSpPr>
            <a:stCxn id="643" idx="3"/>
            <a:endCxn id="641" idx="0"/>
          </p:cNvCxnSpPr>
          <p:nvPr/>
        </p:nvCxnSpPr>
        <p:spPr>
          <a:xfrm rot="-5400000" flipH="1">
            <a:off x="4364941" y="4162720"/>
            <a:ext cx="353100" cy="600"/>
          </a:xfrm>
          <a:prstGeom prst="bentConnector3">
            <a:avLst>
              <a:gd name="adj1" fmla="val 50012"/>
            </a:avLst>
          </a:prstGeom>
          <a:solidFill>
            <a:schemeClr val="lt1"/>
          </a:solidFill>
          <a:ln w="25400" cap="flat" cmpd="sng">
            <a:solidFill>
              <a:schemeClr val="dk1"/>
            </a:solidFill>
            <a:prstDash val="solid"/>
            <a:round/>
            <a:headEnd type="none" w="med" len="med"/>
            <a:tailEnd type="none" w="med" len="med"/>
          </a:ln>
        </p:spPr>
      </p:cxnSp>
      <p:grpSp>
        <p:nvGrpSpPr>
          <p:cNvPr id="645" name="Google Shape;645;p75"/>
          <p:cNvGrpSpPr/>
          <p:nvPr/>
        </p:nvGrpSpPr>
        <p:grpSpPr>
          <a:xfrm>
            <a:off x="6882661" y="3150525"/>
            <a:ext cx="1863900" cy="481895"/>
            <a:chOff x="1526277" y="5076058"/>
            <a:chExt cx="1863900" cy="642526"/>
          </a:xfrm>
        </p:grpSpPr>
        <p:sp>
          <p:nvSpPr>
            <p:cNvPr id="638" name="Google Shape;638;p75"/>
            <p:cNvSpPr/>
            <p:nvPr/>
          </p:nvSpPr>
          <p:spPr>
            <a:xfrm>
              <a:off x="1526277" y="5076058"/>
              <a:ext cx="1863900" cy="441300"/>
            </a:xfrm>
            <a:prstGeom prst="rect">
              <a:avLst/>
            </a:prstGeom>
            <a:solidFill>
              <a:srgbClr val="6AA84F"/>
            </a:solidFill>
            <a:ln w="25400" cap="flat" cmpd="sng">
              <a:solidFill>
                <a:srgbClr val="38761D"/>
              </a:solidFill>
              <a:prstDash val="solid"/>
              <a:round/>
              <a:headEnd type="none" w="sm" len="sm"/>
              <a:tailEnd type="none" w="sm" len="sm"/>
            </a:ln>
          </p:spPr>
          <p:txBody>
            <a:bodyPr spcFirstLastPara="1" wrap="square" lIns="90475" tIns="44450" rIns="90475" bIns="44450" anchor="ctr" anchorCtr="0">
              <a:noAutofit/>
            </a:bodyPr>
            <a:lstStyle/>
            <a:p>
              <a:pPr marL="0" marR="0" lvl="0" indent="0" algn="ctr" rtl="0">
                <a:lnSpc>
                  <a:spcPct val="100000"/>
                </a:lnSpc>
                <a:spcBef>
                  <a:spcPts val="0"/>
                </a:spcBef>
                <a:spcAft>
                  <a:spcPts val="0"/>
                </a:spcAft>
                <a:buClr>
                  <a:schemeClr val="lt1"/>
                </a:buClr>
                <a:buSzPts val="2000"/>
                <a:buFont typeface="Consolas"/>
                <a:buNone/>
              </a:pPr>
              <a:r>
                <a:rPr lang="it" sz="1600">
                  <a:solidFill>
                    <a:schemeClr val="lt1"/>
                  </a:solidFill>
                  <a:latin typeface="Consolas"/>
                  <a:ea typeface="Consolas"/>
                  <a:cs typeface="Consolas"/>
                  <a:sym typeface="Consolas"/>
                </a:rPr>
                <a:t>MutableSet&lt;T&gt;</a:t>
              </a:r>
              <a:endParaRPr sz="1600"/>
            </a:p>
          </p:txBody>
        </p:sp>
        <p:sp>
          <p:nvSpPr>
            <p:cNvPr id="646" name="Google Shape;646;p75"/>
            <p:cNvSpPr/>
            <p:nvPr/>
          </p:nvSpPr>
          <p:spPr>
            <a:xfrm>
              <a:off x="2352146" y="5535584"/>
              <a:ext cx="212400" cy="183000"/>
            </a:xfrm>
            <a:prstGeom prst="triangle">
              <a:avLst>
                <a:gd name="adj" fmla="val 50000"/>
              </a:avLst>
            </a:prstGeom>
            <a:solidFill>
              <a:schemeClr val="lt1"/>
            </a:solidFill>
            <a:ln w="25400" cap="flat" cmpd="sng">
              <a:solidFill>
                <a:schemeClr val="dk1"/>
              </a:solidFill>
              <a:prstDash val="solid"/>
              <a:round/>
              <a:headEnd type="none" w="sm" len="sm"/>
              <a:tailEnd type="none" w="sm" len="sm"/>
            </a:ln>
          </p:spPr>
          <p:txBody>
            <a:bodyPr spcFirstLastPara="1" wrap="square" lIns="90475" tIns="44450" rIns="90475" bIns="44450" anchor="ctr" anchorCtr="0">
              <a:noAutofit/>
            </a:bodyPr>
            <a:lstStyle/>
            <a:p>
              <a:pPr marL="0" marR="0" lvl="0" indent="0" algn="ctr" rtl="0">
                <a:spcBef>
                  <a:spcPts val="0"/>
                </a:spcBef>
                <a:spcAft>
                  <a:spcPts val="0"/>
                </a:spcAft>
                <a:buNone/>
              </a:pPr>
              <a:endParaRPr sz="1600">
                <a:solidFill>
                  <a:schemeClr val="lt1"/>
                </a:solidFill>
                <a:latin typeface="Consolas"/>
                <a:ea typeface="Consolas"/>
                <a:cs typeface="Consolas"/>
                <a:sym typeface="Consolas"/>
              </a:endParaRPr>
            </a:p>
          </p:txBody>
        </p:sp>
      </p:grpSp>
      <p:grpSp>
        <p:nvGrpSpPr>
          <p:cNvPr id="647" name="Google Shape;647;p75"/>
          <p:cNvGrpSpPr/>
          <p:nvPr/>
        </p:nvGrpSpPr>
        <p:grpSpPr>
          <a:xfrm>
            <a:off x="2612999" y="1014450"/>
            <a:ext cx="2626400" cy="467392"/>
            <a:chOff x="1626399" y="1052550"/>
            <a:chExt cx="2626400" cy="467392"/>
          </a:xfrm>
        </p:grpSpPr>
        <p:sp>
          <p:nvSpPr>
            <p:cNvPr id="648" name="Google Shape;648;p75"/>
            <p:cNvSpPr/>
            <p:nvPr/>
          </p:nvSpPr>
          <p:spPr>
            <a:xfrm>
              <a:off x="1626399" y="1052550"/>
              <a:ext cx="2466900" cy="330900"/>
            </a:xfrm>
            <a:prstGeom prst="rect">
              <a:avLst/>
            </a:prstGeom>
            <a:solidFill>
              <a:srgbClr val="B45F06"/>
            </a:solidFill>
            <a:ln w="25400" cap="flat" cmpd="sng">
              <a:solidFill>
                <a:srgbClr val="783F04"/>
              </a:solidFill>
              <a:prstDash val="solid"/>
              <a:round/>
              <a:headEnd type="none" w="sm" len="sm"/>
              <a:tailEnd type="none" w="sm" len="sm"/>
            </a:ln>
          </p:spPr>
          <p:txBody>
            <a:bodyPr spcFirstLastPara="1" wrap="square" lIns="90475" tIns="44450" rIns="90475" bIns="44450" anchor="ctr" anchorCtr="0">
              <a:noAutofit/>
            </a:bodyPr>
            <a:lstStyle/>
            <a:p>
              <a:pPr marL="0" marR="0" lvl="0" indent="0" algn="ctr" rtl="0">
                <a:lnSpc>
                  <a:spcPct val="100000"/>
                </a:lnSpc>
                <a:spcBef>
                  <a:spcPts val="0"/>
                </a:spcBef>
                <a:spcAft>
                  <a:spcPts val="0"/>
                </a:spcAft>
                <a:buClr>
                  <a:schemeClr val="lt1"/>
                </a:buClr>
                <a:buSzPts val="2000"/>
                <a:buFont typeface="Consolas"/>
                <a:buNone/>
              </a:pPr>
              <a:r>
                <a:rPr lang="it" sz="1600">
                  <a:solidFill>
                    <a:schemeClr val="lt1"/>
                  </a:solidFill>
                  <a:latin typeface="Consolas"/>
                  <a:ea typeface="Consolas"/>
                  <a:cs typeface="Consolas"/>
                  <a:sym typeface="Consolas"/>
                </a:rPr>
                <a:t>Iterable&lt;out T&gt;</a:t>
              </a:r>
              <a:endParaRPr sz="1600"/>
            </a:p>
          </p:txBody>
        </p:sp>
        <p:sp>
          <p:nvSpPr>
            <p:cNvPr id="615" name="Google Shape;615;p75"/>
            <p:cNvSpPr/>
            <p:nvPr/>
          </p:nvSpPr>
          <p:spPr>
            <a:xfrm>
              <a:off x="2753724" y="1382542"/>
              <a:ext cx="212400" cy="137400"/>
            </a:xfrm>
            <a:prstGeom prst="triangle">
              <a:avLst>
                <a:gd name="adj" fmla="val 50000"/>
              </a:avLst>
            </a:prstGeom>
            <a:solidFill>
              <a:schemeClr val="lt1"/>
            </a:solidFill>
            <a:ln w="25400" cap="flat" cmpd="sng">
              <a:solidFill>
                <a:schemeClr val="dk1"/>
              </a:solidFill>
              <a:prstDash val="solid"/>
              <a:round/>
              <a:headEnd type="none" w="sm" len="sm"/>
              <a:tailEnd type="none" w="sm" len="sm"/>
            </a:ln>
          </p:spPr>
          <p:txBody>
            <a:bodyPr spcFirstLastPara="1" wrap="square" lIns="90475" tIns="44450" rIns="90475" bIns="44450" anchor="ctr" anchorCtr="0">
              <a:noAutofit/>
            </a:bodyPr>
            <a:lstStyle/>
            <a:p>
              <a:pPr marL="0" marR="0" lvl="0" indent="0" algn="ctr" rtl="0">
                <a:spcBef>
                  <a:spcPts val="0"/>
                </a:spcBef>
                <a:spcAft>
                  <a:spcPts val="0"/>
                </a:spcAft>
                <a:buNone/>
              </a:pPr>
              <a:endParaRPr sz="1600">
                <a:solidFill>
                  <a:schemeClr val="lt1"/>
                </a:solidFill>
                <a:latin typeface="Consolas"/>
                <a:ea typeface="Consolas"/>
                <a:cs typeface="Consolas"/>
                <a:sym typeface="Consolas"/>
              </a:endParaRPr>
            </a:p>
          </p:txBody>
        </p:sp>
        <p:sp>
          <p:nvSpPr>
            <p:cNvPr id="618" name="Google Shape;618;p75"/>
            <p:cNvSpPr/>
            <p:nvPr/>
          </p:nvSpPr>
          <p:spPr>
            <a:xfrm rot="-5400000">
              <a:off x="4077899" y="1149344"/>
              <a:ext cx="212400" cy="137400"/>
            </a:xfrm>
            <a:prstGeom prst="triangle">
              <a:avLst>
                <a:gd name="adj" fmla="val 50000"/>
              </a:avLst>
            </a:prstGeom>
            <a:solidFill>
              <a:schemeClr val="lt1"/>
            </a:solidFill>
            <a:ln w="25400" cap="flat" cmpd="sng">
              <a:solidFill>
                <a:schemeClr val="dk1"/>
              </a:solidFill>
              <a:prstDash val="solid"/>
              <a:round/>
              <a:headEnd type="none" w="sm" len="sm"/>
              <a:tailEnd type="none" w="sm" len="sm"/>
            </a:ln>
          </p:spPr>
          <p:txBody>
            <a:bodyPr spcFirstLastPara="1" wrap="square" lIns="90475" tIns="44450" rIns="90475" bIns="44450" anchor="ctr" anchorCtr="0">
              <a:noAutofit/>
            </a:bodyPr>
            <a:lstStyle/>
            <a:p>
              <a:pPr marL="0" marR="0" lvl="0" indent="0" algn="ctr" rtl="0">
                <a:spcBef>
                  <a:spcPts val="0"/>
                </a:spcBef>
                <a:spcAft>
                  <a:spcPts val="0"/>
                </a:spcAft>
                <a:buNone/>
              </a:pPr>
              <a:endParaRPr sz="1600">
                <a:solidFill>
                  <a:schemeClr val="lt1"/>
                </a:solidFill>
                <a:latin typeface="Consolas"/>
                <a:ea typeface="Consolas"/>
                <a:cs typeface="Consolas"/>
                <a:sym typeface="Consolas"/>
              </a:endParaRPr>
            </a:p>
          </p:txBody>
        </p:sp>
      </p:grpSp>
      <p:grpSp>
        <p:nvGrpSpPr>
          <p:cNvPr id="649" name="Google Shape;649;p75"/>
          <p:cNvGrpSpPr/>
          <p:nvPr/>
        </p:nvGrpSpPr>
        <p:grpSpPr>
          <a:xfrm>
            <a:off x="5972200" y="1014450"/>
            <a:ext cx="2799300" cy="467242"/>
            <a:chOff x="1672566" y="1427858"/>
            <a:chExt cx="2799300" cy="622989"/>
          </a:xfrm>
        </p:grpSpPr>
        <p:sp>
          <p:nvSpPr>
            <p:cNvPr id="619" name="Google Shape;619;p75"/>
            <p:cNvSpPr/>
            <p:nvPr/>
          </p:nvSpPr>
          <p:spPr>
            <a:xfrm>
              <a:off x="1672566" y="1427858"/>
              <a:ext cx="2799300" cy="441300"/>
            </a:xfrm>
            <a:prstGeom prst="rect">
              <a:avLst/>
            </a:prstGeom>
            <a:solidFill>
              <a:srgbClr val="38761D"/>
            </a:solidFill>
            <a:ln w="25400" cap="flat" cmpd="sng">
              <a:solidFill>
                <a:srgbClr val="274E13"/>
              </a:solidFill>
              <a:prstDash val="solid"/>
              <a:round/>
              <a:headEnd type="none" w="sm" len="sm"/>
              <a:tailEnd type="none" w="sm" len="sm"/>
            </a:ln>
          </p:spPr>
          <p:txBody>
            <a:bodyPr spcFirstLastPara="1" wrap="square" lIns="90475" tIns="44450" rIns="90475" bIns="44450" anchor="ctr" anchorCtr="0">
              <a:noAutofit/>
            </a:bodyPr>
            <a:lstStyle/>
            <a:p>
              <a:pPr marL="0" marR="0" lvl="0" indent="0" algn="ctr" rtl="0">
                <a:lnSpc>
                  <a:spcPct val="100000"/>
                </a:lnSpc>
                <a:spcBef>
                  <a:spcPts val="0"/>
                </a:spcBef>
                <a:spcAft>
                  <a:spcPts val="0"/>
                </a:spcAft>
                <a:buClr>
                  <a:schemeClr val="lt1"/>
                </a:buClr>
                <a:buSzPts val="2000"/>
                <a:buFont typeface="Consolas"/>
                <a:buNone/>
              </a:pPr>
              <a:r>
                <a:rPr lang="it" sz="1600">
                  <a:solidFill>
                    <a:schemeClr val="lt1"/>
                  </a:solidFill>
                  <a:latin typeface="Consolas"/>
                  <a:ea typeface="Consolas"/>
                  <a:cs typeface="Consolas"/>
                  <a:sym typeface="Consolas"/>
                </a:rPr>
                <a:t>MutableIterable&lt;T&gt;</a:t>
              </a:r>
              <a:endParaRPr sz="1600"/>
            </a:p>
          </p:txBody>
        </p:sp>
        <p:sp>
          <p:nvSpPr>
            <p:cNvPr id="621" name="Google Shape;621;p75"/>
            <p:cNvSpPr/>
            <p:nvPr/>
          </p:nvSpPr>
          <p:spPr>
            <a:xfrm>
              <a:off x="2897415" y="1867847"/>
              <a:ext cx="212400" cy="183000"/>
            </a:xfrm>
            <a:prstGeom prst="triangle">
              <a:avLst>
                <a:gd name="adj" fmla="val 50000"/>
              </a:avLst>
            </a:prstGeom>
            <a:solidFill>
              <a:schemeClr val="lt1"/>
            </a:solidFill>
            <a:ln w="25400" cap="flat" cmpd="sng">
              <a:solidFill>
                <a:schemeClr val="dk1"/>
              </a:solidFill>
              <a:prstDash val="solid"/>
              <a:round/>
              <a:headEnd type="none" w="sm" len="sm"/>
              <a:tailEnd type="none" w="sm" len="sm"/>
            </a:ln>
          </p:spPr>
          <p:txBody>
            <a:bodyPr spcFirstLastPara="1" wrap="square" lIns="90475" tIns="44450" rIns="90475" bIns="44450" anchor="ctr" anchorCtr="0">
              <a:noAutofit/>
            </a:bodyPr>
            <a:lstStyle/>
            <a:p>
              <a:pPr marL="0" marR="0" lvl="0" indent="0" algn="ctr" rtl="0">
                <a:spcBef>
                  <a:spcPts val="0"/>
                </a:spcBef>
                <a:spcAft>
                  <a:spcPts val="0"/>
                </a:spcAft>
                <a:buNone/>
              </a:pPr>
              <a:endParaRPr sz="1600">
                <a:solidFill>
                  <a:schemeClr val="lt1"/>
                </a:solidFill>
                <a:latin typeface="Consolas"/>
                <a:ea typeface="Consolas"/>
                <a:cs typeface="Consolas"/>
                <a:sym typeface="Consolas"/>
              </a:endParaRPr>
            </a:p>
          </p:txBody>
        </p:sp>
      </p:grpSp>
      <p:grpSp>
        <p:nvGrpSpPr>
          <p:cNvPr id="650" name="Google Shape;650;p75"/>
          <p:cNvGrpSpPr/>
          <p:nvPr/>
        </p:nvGrpSpPr>
        <p:grpSpPr>
          <a:xfrm>
            <a:off x="5903962" y="2097825"/>
            <a:ext cx="2799300" cy="477080"/>
            <a:chOff x="5137962" y="1754925"/>
            <a:chExt cx="2799300" cy="477080"/>
          </a:xfrm>
        </p:grpSpPr>
        <p:sp>
          <p:nvSpPr>
            <p:cNvPr id="622" name="Google Shape;622;p75"/>
            <p:cNvSpPr/>
            <p:nvPr/>
          </p:nvSpPr>
          <p:spPr>
            <a:xfrm>
              <a:off x="5137962" y="1754925"/>
              <a:ext cx="2799300" cy="330900"/>
            </a:xfrm>
            <a:prstGeom prst="rect">
              <a:avLst/>
            </a:prstGeom>
            <a:solidFill>
              <a:srgbClr val="38761D"/>
            </a:solidFill>
            <a:ln w="25400" cap="flat" cmpd="sng">
              <a:solidFill>
                <a:srgbClr val="274E13"/>
              </a:solidFill>
              <a:prstDash val="solid"/>
              <a:round/>
              <a:headEnd type="none" w="sm" len="sm"/>
              <a:tailEnd type="none" w="sm" len="sm"/>
            </a:ln>
          </p:spPr>
          <p:txBody>
            <a:bodyPr spcFirstLastPara="1" wrap="square" lIns="90475" tIns="44450" rIns="90475" bIns="44450" anchor="ctr" anchorCtr="0">
              <a:noAutofit/>
            </a:bodyPr>
            <a:lstStyle/>
            <a:p>
              <a:pPr marL="0" marR="0" lvl="0" indent="0" algn="ctr" rtl="0">
                <a:lnSpc>
                  <a:spcPct val="100000"/>
                </a:lnSpc>
                <a:spcBef>
                  <a:spcPts val="0"/>
                </a:spcBef>
                <a:spcAft>
                  <a:spcPts val="0"/>
                </a:spcAft>
                <a:buClr>
                  <a:schemeClr val="lt1"/>
                </a:buClr>
                <a:buSzPts val="2000"/>
                <a:buFont typeface="Consolas"/>
                <a:buNone/>
              </a:pPr>
              <a:r>
                <a:rPr lang="it" sz="1600">
                  <a:solidFill>
                    <a:schemeClr val="lt1"/>
                  </a:solidFill>
                  <a:latin typeface="Consolas"/>
                  <a:ea typeface="Consolas"/>
                  <a:cs typeface="Consolas"/>
                  <a:sym typeface="Consolas"/>
                </a:rPr>
                <a:t>MutableCollection&lt;T&gt;</a:t>
              </a:r>
              <a:endParaRPr sz="1600"/>
            </a:p>
          </p:txBody>
        </p:sp>
        <p:grpSp>
          <p:nvGrpSpPr>
            <p:cNvPr id="651" name="Google Shape;651;p75"/>
            <p:cNvGrpSpPr/>
            <p:nvPr/>
          </p:nvGrpSpPr>
          <p:grpSpPr>
            <a:xfrm>
              <a:off x="5914557" y="2094542"/>
              <a:ext cx="1246100" cy="137463"/>
              <a:chOff x="5954874" y="2094542"/>
              <a:chExt cx="1246100" cy="137463"/>
            </a:xfrm>
          </p:grpSpPr>
          <p:sp>
            <p:nvSpPr>
              <p:cNvPr id="636" name="Google Shape;636;p75"/>
              <p:cNvSpPr/>
              <p:nvPr/>
            </p:nvSpPr>
            <p:spPr>
              <a:xfrm>
                <a:off x="5954874" y="2094605"/>
                <a:ext cx="221700" cy="137400"/>
              </a:xfrm>
              <a:prstGeom prst="triangle">
                <a:avLst>
                  <a:gd name="adj" fmla="val 50000"/>
                </a:avLst>
              </a:prstGeom>
              <a:solidFill>
                <a:schemeClr val="lt1"/>
              </a:solidFill>
              <a:ln w="25400" cap="flat" cmpd="sng">
                <a:solidFill>
                  <a:schemeClr val="dk1"/>
                </a:solidFill>
                <a:prstDash val="solid"/>
                <a:round/>
                <a:headEnd type="none" w="sm" len="sm"/>
                <a:tailEnd type="none" w="sm" len="sm"/>
              </a:ln>
            </p:spPr>
            <p:txBody>
              <a:bodyPr spcFirstLastPara="1" wrap="square" lIns="90475" tIns="44450" rIns="90475" bIns="44450" anchor="ctr" anchorCtr="0">
                <a:noAutofit/>
              </a:bodyPr>
              <a:lstStyle/>
              <a:p>
                <a:pPr marL="0" marR="0" lvl="0" indent="0" algn="ctr" rtl="0">
                  <a:spcBef>
                    <a:spcPts val="0"/>
                  </a:spcBef>
                  <a:spcAft>
                    <a:spcPts val="0"/>
                  </a:spcAft>
                  <a:buNone/>
                </a:pPr>
                <a:endParaRPr sz="1600">
                  <a:solidFill>
                    <a:schemeClr val="lt1"/>
                  </a:solidFill>
                  <a:latin typeface="Consolas"/>
                  <a:ea typeface="Consolas"/>
                  <a:cs typeface="Consolas"/>
                  <a:sym typeface="Consolas"/>
                </a:endParaRPr>
              </a:p>
            </p:txBody>
          </p:sp>
          <p:sp>
            <p:nvSpPr>
              <p:cNvPr id="640" name="Google Shape;640;p75"/>
              <p:cNvSpPr/>
              <p:nvPr/>
            </p:nvSpPr>
            <p:spPr>
              <a:xfrm>
                <a:off x="6979274" y="2094542"/>
                <a:ext cx="221700" cy="137400"/>
              </a:xfrm>
              <a:prstGeom prst="triangle">
                <a:avLst>
                  <a:gd name="adj" fmla="val 50000"/>
                </a:avLst>
              </a:prstGeom>
              <a:solidFill>
                <a:schemeClr val="lt1"/>
              </a:solidFill>
              <a:ln w="25400" cap="flat" cmpd="sng">
                <a:solidFill>
                  <a:schemeClr val="dk1"/>
                </a:solidFill>
                <a:prstDash val="solid"/>
                <a:round/>
                <a:headEnd type="none" w="sm" len="sm"/>
                <a:tailEnd type="none" w="sm" len="sm"/>
              </a:ln>
            </p:spPr>
            <p:txBody>
              <a:bodyPr spcFirstLastPara="1" wrap="square" lIns="90475" tIns="44450" rIns="90475" bIns="44450" anchor="ctr" anchorCtr="0">
                <a:noAutofit/>
              </a:bodyPr>
              <a:lstStyle/>
              <a:p>
                <a:pPr marL="0" marR="0" lvl="0" indent="0" algn="ctr" rtl="0">
                  <a:spcBef>
                    <a:spcPts val="0"/>
                  </a:spcBef>
                  <a:spcAft>
                    <a:spcPts val="0"/>
                  </a:spcAft>
                  <a:buNone/>
                </a:pPr>
                <a:endParaRPr sz="1600">
                  <a:solidFill>
                    <a:schemeClr val="lt1"/>
                  </a:solidFill>
                  <a:latin typeface="Consolas"/>
                  <a:ea typeface="Consolas"/>
                  <a:cs typeface="Consolas"/>
                  <a:sym typeface="Consolas"/>
                </a:endParaRPr>
              </a:p>
            </p:txBody>
          </p:sp>
        </p:grpSp>
      </p:grpSp>
      <p:grpSp>
        <p:nvGrpSpPr>
          <p:cNvPr id="652" name="Google Shape;652;p75"/>
          <p:cNvGrpSpPr/>
          <p:nvPr/>
        </p:nvGrpSpPr>
        <p:grpSpPr>
          <a:xfrm>
            <a:off x="2586452" y="1725650"/>
            <a:ext cx="2520000" cy="481755"/>
            <a:chOff x="1599852" y="1763750"/>
            <a:chExt cx="2520000" cy="481755"/>
          </a:xfrm>
        </p:grpSpPr>
        <p:sp>
          <p:nvSpPr>
            <p:cNvPr id="616" name="Google Shape;616;p75"/>
            <p:cNvSpPr/>
            <p:nvPr/>
          </p:nvSpPr>
          <p:spPr>
            <a:xfrm>
              <a:off x="1599852" y="1763750"/>
              <a:ext cx="2520000" cy="330900"/>
            </a:xfrm>
            <a:prstGeom prst="rect">
              <a:avLst/>
            </a:prstGeom>
            <a:solidFill>
              <a:srgbClr val="B45F06"/>
            </a:solidFill>
            <a:ln w="25400" cap="flat" cmpd="sng">
              <a:solidFill>
                <a:srgbClr val="783F04"/>
              </a:solidFill>
              <a:prstDash val="solid"/>
              <a:round/>
              <a:headEnd type="none" w="sm" len="sm"/>
              <a:tailEnd type="none" w="sm" len="sm"/>
            </a:ln>
          </p:spPr>
          <p:txBody>
            <a:bodyPr spcFirstLastPara="1" wrap="square" lIns="90475" tIns="44450" rIns="90475" bIns="44450" anchor="ctr" anchorCtr="0">
              <a:noAutofit/>
            </a:bodyPr>
            <a:lstStyle/>
            <a:p>
              <a:pPr marL="0" marR="0" lvl="0" indent="0" algn="ctr" rtl="0">
                <a:lnSpc>
                  <a:spcPct val="100000"/>
                </a:lnSpc>
                <a:spcBef>
                  <a:spcPts val="0"/>
                </a:spcBef>
                <a:spcAft>
                  <a:spcPts val="0"/>
                </a:spcAft>
                <a:buClr>
                  <a:schemeClr val="lt1"/>
                </a:buClr>
                <a:buSzPts val="2000"/>
                <a:buFont typeface="Consolas"/>
                <a:buNone/>
              </a:pPr>
              <a:r>
                <a:rPr lang="it" sz="1600">
                  <a:solidFill>
                    <a:schemeClr val="lt1"/>
                  </a:solidFill>
                  <a:latin typeface="Consolas"/>
                  <a:ea typeface="Consolas"/>
                  <a:cs typeface="Consolas"/>
                  <a:sym typeface="Consolas"/>
                </a:rPr>
                <a:t>Collection&lt;out T&gt;</a:t>
              </a:r>
              <a:endParaRPr sz="1600"/>
            </a:p>
          </p:txBody>
        </p:sp>
        <p:grpSp>
          <p:nvGrpSpPr>
            <p:cNvPr id="653" name="Google Shape;653;p75"/>
            <p:cNvGrpSpPr/>
            <p:nvPr/>
          </p:nvGrpSpPr>
          <p:grpSpPr>
            <a:xfrm>
              <a:off x="2236758" y="2108042"/>
              <a:ext cx="1246100" cy="137463"/>
              <a:chOff x="5954874" y="2094542"/>
              <a:chExt cx="1246100" cy="137463"/>
            </a:xfrm>
          </p:grpSpPr>
          <p:sp>
            <p:nvSpPr>
              <p:cNvPr id="624" name="Google Shape;624;p75"/>
              <p:cNvSpPr/>
              <p:nvPr/>
            </p:nvSpPr>
            <p:spPr>
              <a:xfrm>
                <a:off x="5954874" y="2094605"/>
                <a:ext cx="221700" cy="137400"/>
              </a:xfrm>
              <a:prstGeom prst="triangle">
                <a:avLst>
                  <a:gd name="adj" fmla="val 50000"/>
                </a:avLst>
              </a:prstGeom>
              <a:solidFill>
                <a:schemeClr val="lt1"/>
              </a:solidFill>
              <a:ln w="25400" cap="flat" cmpd="sng">
                <a:solidFill>
                  <a:schemeClr val="dk1"/>
                </a:solidFill>
                <a:prstDash val="solid"/>
                <a:round/>
                <a:headEnd type="none" w="sm" len="sm"/>
                <a:tailEnd type="none" w="sm" len="sm"/>
              </a:ln>
            </p:spPr>
            <p:txBody>
              <a:bodyPr spcFirstLastPara="1" wrap="square" lIns="90475" tIns="44450" rIns="90475" bIns="44450" anchor="ctr" anchorCtr="0">
                <a:noAutofit/>
              </a:bodyPr>
              <a:lstStyle/>
              <a:p>
                <a:pPr marL="0" marR="0" lvl="0" indent="0" algn="ctr" rtl="0">
                  <a:spcBef>
                    <a:spcPts val="0"/>
                  </a:spcBef>
                  <a:spcAft>
                    <a:spcPts val="0"/>
                  </a:spcAft>
                  <a:buNone/>
                </a:pPr>
                <a:endParaRPr sz="1600">
                  <a:solidFill>
                    <a:schemeClr val="lt1"/>
                  </a:solidFill>
                  <a:latin typeface="Consolas"/>
                  <a:ea typeface="Consolas"/>
                  <a:cs typeface="Consolas"/>
                  <a:sym typeface="Consolas"/>
                </a:endParaRPr>
              </a:p>
            </p:txBody>
          </p:sp>
          <p:sp>
            <p:nvSpPr>
              <p:cNvPr id="627" name="Google Shape;627;p75"/>
              <p:cNvSpPr/>
              <p:nvPr/>
            </p:nvSpPr>
            <p:spPr>
              <a:xfrm>
                <a:off x="6979274" y="2094542"/>
                <a:ext cx="221700" cy="137400"/>
              </a:xfrm>
              <a:prstGeom prst="triangle">
                <a:avLst>
                  <a:gd name="adj" fmla="val 50000"/>
                </a:avLst>
              </a:prstGeom>
              <a:solidFill>
                <a:schemeClr val="lt1"/>
              </a:solidFill>
              <a:ln w="25400" cap="flat" cmpd="sng">
                <a:solidFill>
                  <a:schemeClr val="dk1"/>
                </a:solidFill>
                <a:prstDash val="solid"/>
                <a:round/>
                <a:headEnd type="none" w="sm" len="sm"/>
                <a:tailEnd type="none" w="sm" len="sm"/>
              </a:ln>
            </p:spPr>
            <p:txBody>
              <a:bodyPr spcFirstLastPara="1" wrap="square" lIns="90475" tIns="44450" rIns="90475" bIns="44450" anchor="ctr" anchorCtr="0">
                <a:noAutofit/>
              </a:bodyPr>
              <a:lstStyle/>
              <a:p>
                <a:pPr marL="0" marR="0" lvl="0" indent="0" algn="ctr" rtl="0">
                  <a:spcBef>
                    <a:spcPts val="0"/>
                  </a:spcBef>
                  <a:spcAft>
                    <a:spcPts val="0"/>
                  </a:spcAft>
                  <a:buNone/>
                </a:pPr>
                <a:endParaRPr sz="1600">
                  <a:solidFill>
                    <a:schemeClr val="lt1"/>
                  </a:solidFill>
                  <a:latin typeface="Consolas"/>
                  <a:ea typeface="Consolas"/>
                  <a:cs typeface="Consolas"/>
                  <a:sym typeface="Consolas"/>
                </a:endParaRPr>
              </a:p>
            </p:txBody>
          </p:sp>
        </p:grpSp>
      </p:grpSp>
      <p:sp>
        <p:nvSpPr>
          <p:cNvPr id="654" name="Google Shape;654;p75"/>
          <p:cNvSpPr/>
          <p:nvPr/>
        </p:nvSpPr>
        <p:spPr>
          <a:xfrm>
            <a:off x="6796800" y="4339656"/>
            <a:ext cx="2035500" cy="330900"/>
          </a:xfrm>
          <a:prstGeom prst="rect">
            <a:avLst/>
          </a:prstGeom>
          <a:solidFill>
            <a:srgbClr val="999999"/>
          </a:solidFill>
          <a:ln w="25400" cap="flat" cmpd="sng">
            <a:solidFill>
              <a:srgbClr val="434343"/>
            </a:solidFill>
            <a:prstDash val="solid"/>
            <a:round/>
            <a:headEnd type="none" w="sm" len="sm"/>
            <a:tailEnd type="none" w="sm" len="sm"/>
          </a:ln>
        </p:spPr>
        <p:txBody>
          <a:bodyPr spcFirstLastPara="1" wrap="square" lIns="90475" tIns="44450" rIns="90475" bIns="44450" anchor="ctr" anchorCtr="0">
            <a:noAutofit/>
          </a:bodyPr>
          <a:lstStyle/>
          <a:p>
            <a:pPr marL="0" marR="0" lvl="0" indent="0" algn="ctr" rtl="0">
              <a:lnSpc>
                <a:spcPct val="100000"/>
              </a:lnSpc>
              <a:spcBef>
                <a:spcPts val="0"/>
              </a:spcBef>
              <a:spcAft>
                <a:spcPts val="0"/>
              </a:spcAft>
              <a:buClr>
                <a:schemeClr val="lt1"/>
              </a:buClr>
              <a:buSzPts val="2000"/>
              <a:buFont typeface="Consolas"/>
              <a:buNone/>
            </a:pPr>
            <a:r>
              <a:rPr lang="it" sz="1600">
                <a:solidFill>
                  <a:schemeClr val="lt1"/>
                </a:solidFill>
                <a:latin typeface="Consolas"/>
                <a:ea typeface="Consolas"/>
                <a:cs typeface="Consolas"/>
                <a:sym typeface="Consolas"/>
              </a:rPr>
              <a:t>LinkedHashSet&lt;T&gt;</a:t>
            </a:r>
            <a:endParaRPr sz="1600"/>
          </a:p>
        </p:txBody>
      </p:sp>
      <p:cxnSp>
        <p:nvCxnSpPr>
          <p:cNvPr id="655" name="Google Shape;655;p75"/>
          <p:cNvCxnSpPr>
            <a:stCxn id="646" idx="3"/>
            <a:endCxn id="654" idx="0"/>
          </p:cNvCxnSpPr>
          <p:nvPr/>
        </p:nvCxnSpPr>
        <p:spPr>
          <a:xfrm rot="-5400000" flipH="1">
            <a:off x="7461480" y="3985670"/>
            <a:ext cx="707100" cy="600"/>
          </a:xfrm>
          <a:prstGeom prst="bentConnector3">
            <a:avLst>
              <a:gd name="adj1" fmla="val 50010"/>
            </a:avLst>
          </a:prstGeom>
          <a:solidFill>
            <a:schemeClr val="lt1"/>
          </a:solidFill>
          <a:ln w="25400" cap="flat" cmpd="sng">
            <a:solidFill>
              <a:schemeClr val="dk1"/>
            </a:solidFill>
            <a:prstDash val="solid"/>
            <a:round/>
            <a:headEnd type="none" w="med" len="med"/>
            <a:tailEnd type="none" w="med" len="med"/>
          </a:ln>
        </p:spPr>
      </p:cxnSp>
      <p:grpSp>
        <p:nvGrpSpPr>
          <p:cNvPr id="656" name="Google Shape;656;p75"/>
          <p:cNvGrpSpPr/>
          <p:nvPr/>
        </p:nvGrpSpPr>
        <p:grpSpPr>
          <a:xfrm>
            <a:off x="346280" y="2493102"/>
            <a:ext cx="1663800" cy="468206"/>
            <a:chOff x="3261769" y="4269559"/>
            <a:chExt cx="1663800" cy="624275"/>
          </a:xfrm>
        </p:grpSpPr>
        <p:sp>
          <p:nvSpPr>
            <p:cNvPr id="657" name="Google Shape;657;p75"/>
            <p:cNvSpPr/>
            <p:nvPr/>
          </p:nvSpPr>
          <p:spPr>
            <a:xfrm>
              <a:off x="3261769" y="4269559"/>
              <a:ext cx="1663800" cy="441300"/>
            </a:xfrm>
            <a:prstGeom prst="rect">
              <a:avLst/>
            </a:prstGeom>
            <a:solidFill>
              <a:srgbClr val="E69138"/>
            </a:solidFill>
            <a:ln w="25400" cap="flat" cmpd="sng">
              <a:solidFill>
                <a:srgbClr val="B45F06"/>
              </a:solidFill>
              <a:prstDash val="solid"/>
              <a:round/>
              <a:headEnd type="none" w="sm" len="sm"/>
              <a:tailEnd type="none" w="sm" len="sm"/>
            </a:ln>
          </p:spPr>
          <p:txBody>
            <a:bodyPr spcFirstLastPara="1" wrap="square" lIns="90475" tIns="44450" rIns="90475" bIns="44450" anchor="ctr" anchorCtr="0">
              <a:noAutofit/>
            </a:bodyPr>
            <a:lstStyle/>
            <a:p>
              <a:pPr marL="0" marR="0" lvl="0" indent="0" algn="ctr" rtl="0">
                <a:lnSpc>
                  <a:spcPct val="100000"/>
                </a:lnSpc>
                <a:spcBef>
                  <a:spcPts val="0"/>
                </a:spcBef>
                <a:spcAft>
                  <a:spcPts val="0"/>
                </a:spcAft>
                <a:buClr>
                  <a:schemeClr val="lt1"/>
                </a:buClr>
                <a:buSzPts val="2000"/>
                <a:buFont typeface="Consolas"/>
                <a:buNone/>
              </a:pPr>
              <a:r>
                <a:rPr lang="it" sz="1600">
                  <a:solidFill>
                    <a:schemeClr val="lt1"/>
                  </a:solidFill>
                  <a:latin typeface="Consolas"/>
                  <a:ea typeface="Consolas"/>
                  <a:cs typeface="Consolas"/>
                  <a:sym typeface="Consolas"/>
                </a:rPr>
                <a:t>Map&lt;K,out V&gt;</a:t>
              </a:r>
              <a:endParaRPr sz="1600"/>
            </a:p>
          </p:txBody>
        </p:sp>
        <p:sp>
          <p:nvSpPr>
            <p:cNvPr id="658" name="Google Shape;658;p75"/>
            <p:cNvSpPr/>
            <p:nvPr/>
          </p:nvSpPr>
          <p:spPr>
            <a:xfrm>
              <a:off x="3987458" y="4710834"/>
              <a:ext cx="212400" cy="183000"/>
            </a:xfrm>
            <a:prstGeom prst="triangle">
              <a:avLst>
                <a:gd name="adj" fmla="val 50000"/>
              </a:avLst>
            </a:prstGeom>
            <a:solidFill>
              <a:schemeClr val="lt1"/>
            </a:solidFill>
            <a:ln w="25400" cap="flat" cmpd="sng">
              <a:solidFill>
                <a:schemeClr val="dk1"/>
              </a:solidFill>
              <a:prstDash val="solid"/>
              <a:round/>
              <a:headEnd type="none" w="sm" len="sm"/>
              <a:tailEnd type="none" w="sm" len="sm"/>
            </a:ln>
          </p:spPr>
          <p:txBody>
            <a:bodyPr spcFirstLastPara="1" wrap="square" lIns="90475" tIns="44450" rIns="90475" bIns="44450" anchor="ctr" anchorCtr="0">
              <a:noAutofit/>
            </a:bodyPr>
            <a:lstStyle/>
            <a:p>
              <a:pPr marL="0" marR="0" lvl="0" indent="0" algn="ctr" rtl="0">
                <a:spcBef>
                  <a:spcPts val="0"/>
                </a:spcBef>
                <a:spcAft>
                  <a:spcPts val="0"/>
                </a:spcAft>
                <a:buNone/>
              </a:pPr>
              <a:endParaRPr sz="2400">
                <a:solidFill>
                  <a:schemeClr val="lt1"/>
                </a:solidFill>
                <a:latin typeface="Consolas"/>
                <a:ea typeface="Consolas"/>
                <a:cs typeface="Consolas"/>
                <a:sym typeface="Consolas"/>
              </a:endParaRPr>
            </a:p>
          </p:txBody>
        </p:sp>
      </p:grpSp>
      <p:grpSp>
        <p:nvGrpSpPr>
          <p:cNvPr id="659" name="Google Shape;659;p75"/>
          <p:cNvGrpSpPr/>
          <p:nvPr/>
        </p:nvGrpSpPr>
        <p:grpSpPr>
          <a:xfrm>
            <a:off x="75524" y="3475025"/>
            <a:ext cx="2205300" cy="481895"/>
            <a:chOff x="1355570" y="5076058"/>
            <a:chExt cx="2205300" cy="642526"/>
          </a:xfrm>
        </p:grpSpPr>
        <p:sp>
          <p:nvSpPr>
            <p:cNvPr id="660" name="Google Shape;660;p75"/>
            <p:cNvSpPr/>
            <p:nvPr/>
          </p:nvSpPr>
          <p:spPr>
            <a:xfrm>
              <a:off x="1355570" y="5076058"/>
              <a:ext cx="2205300" cy="441300"/>
            </a:xfrm>
            <a:prstGeom prst="rect">
              <a:avLst/>
            </a:prstGeom>
            <a:solidFill>
              <a:srgbClr val="6AA84F"/>
            </a:solidFill>
            <a:ln w="25400" cap="flat" cmpd="sng">
              <a:solidFill>
                <a:srgbClr val="38761D"/>
              </a:solidFill>
              <a:prstDash val="solid"/>
              <a:round/>
              <a:headEnd type="none" w="sm" len="sm"/>
              <a:tailEnd type="none" w="sm" len="sm"/>
            </a:ln>
          </p:spPr>
          <p:txBody>
            <a:bodyPr spcFirstLastPara="1" wrap="square" lIns="18000" tIns="44450" rIns="18000" bIns="44450" anchor="ctr" anchorCtr="0">
              <a:noAutofit/>
            </a:bodyPr>
            <a:lstStyle/>
            <a:p>
              <a:pPr marL="0" marR="0" lvl="0" indent="0" algn="ctr" rtl="0">
                <a:lnSpc>
                  <a:spcPct val="100000"/>
                </a:lnSpc>
                <a:spcBef>
                  <a:spcPts val="0"/>
                </a:spcBef>
                <a:spcAft>
                  <a:spcPts val="0"/>
                </a:spcAft>
                <a:buClr>
                  <a:schemeClr val="lt1"/>
                </a:buClr>
                <a:buSzPts val="2000"/>
                <a:buFont typeface="Consolas"/>
                <a:buNone/>
              </a:pPr>
              <a:r>
                <a:rPr lang="it" sz="1600">
                  <a:solidFill>
                    <a:schemeClr val="lt1"/>
                  </a:solidFill>
                  <a:latin typeface="Consolas"/>
                  <a:ea typeface="Consolas"/>
                  <a:cs typeface="Consolas"/>
                  <a:sym typeface="Consolas"/>
                </a:rPr>
                <a:t>MutableMap&lt;K,V&gt;</a:t>
              </a:r>
              <a:endParaRPr sz="1600"/>
            </a:p>
          </p:txBody>
        </p:sp>
        <p:sp>
          <p:nvSpPr>
            <p:cNvPr id="661" name="Google Shape;661;p75"/>
            <p:cNvSpPr/>
            <p:nvPr/>
          </p:nvSpPr>
          <p:spPr>
            <a:xfrm>
              <a:off x="2352146" y="5535584"/>
              <a:ext cx="212400" cy="183000"/>
            </a:xfrm>
            <a:prstGeom prst="triangle">
              <a:avLst>
                <a:gd name="adj" fmla="val 50000"/>
              </a:avLst>
            </a:prstGeom>
            <a:solidFill>
              <a:schemeClr val="lt1"/>
            </a:solidFill>
            <a:ln w="25400" cap="flat" cmpd="sng">
              <a:solidFill>
                <a:schemeClr val="dk1"/>
              </a:solidFill>
              <a:prstDash val="solid"/>
              <a:round/>
              <a:headEnd type="none" w="sm" len="sm"/>
              <a:tailEnd type="none" w="sm" len="sm"/>
            </a:ln>
          </p:spPr>
          <p:txBody>
            <a:bodyPr spcFirstLastPara="1" wrap="square" lIns="90475" tIns="44450" rIns="90475" bIns="44450" anchor="ctr" anchorCtr="0">
              <a:noAutofit/>
            </a:bodyPr>
            <a:lstStyle/>
            <a:p>
              <a:pPr marL="0" marR="0" lvl="0" indent="0" algn="ctr" rtl="0">
                <a:spcBef>
                  <a:spcPts val="0"/>
                </a:spcBef>
                <a:spcAft>
                  <a:spcPts val="0"/>
                </a:spcAft>
                <a:buNone/>
              </a:pPr>
              <a:endParaRPr sz="1600">
                <a:solidFill>
                  <a:schemeClr val="lt1"/>
                </a:solidFill>
                <a:latin typeface="Consolas"/>
                <a:ea typeface="Consolas"/>
                <a:cs typeface="Consolas"/>
                <a:sym typeface="Consolas"/>
              </a:endParaRPr>
            </a:p>
          </p:txBody>
        </p:sp>
      </p:grpSp>
      <p:sp>
        <p:nvSpPr>
          <p:cNvPr id="662" name="Google Shape;662;p75"/>
          <p:cNvSpPr/>
          <p:nvPr/>
        </p:nvSpPr>
        <p:spPr>
          <a:xfrm>
            <a:off x="75530" y="4339656"/>
            <a:ext cx="2205300" cy="330900"/>
          </a:xfrm>
          <a:prstGeom prst="rect">
            <a:avLst/>
          </a:prstGeom>
          <a:solidFill>
            <a:srgbClr val="999999"/>
          </a:solidFill>
          <a:ln w="25400" cap="flat" cmpd="sng">
            <a:solidFill>
              <a:srgbClr val="434343"/>
            </a:solidFill>
            <a:prstDash val="solid"/>
            <a:round/>
            <a:headEnd type="none" w="sm" len="sm"/>
            <a:tailEnd type="none" w="sm" len="sm"/>
          </a:ln>
        </p:spPr>
        <p:txBody>
          <a:bodyPr spcFirstLastPara="1" wrap="square" lIns="90475" tIns="44450" rIns="90475" bIns="44450" anchor="ctr" anchorCtr="0">
            <a:noAutofit/>
          </a:bodyPr>
          <a:lstStyle/>
          <a:p>
            <a:pPr marL="0" marR="0" lvl="0" indent="0" algn="ctr" rtl="0">
              <a:lnSpc>
                <a:spcPct val="100000"/>
              </a:lnSpc>
              <a:spcBef>
                <a:spcPts val="0"/>
              </a:spcBef>
              <a:spcAft>
                <a:spcPts val="0"/>
              </a:spcAft>
              <a:buClr>
                <a:schemeClr val="lt1"/>
              </a:buClr>
              <a:buSzPts val="2000"/>
              <a:buFont typeface="Consolas"/>
              <a:buNone/>
            </a:pPr>
            <a:r>
              <a:rPr lang="it" sz="1600">
                <a:solidFill>
                  <a:schemeClr val="lt1"/>
                </a:solidFill>
                <a:latin typeface="Consolas"/>
                <a:ea typeface="Consolas"/>
                <a:cs typeface="Consolas"/>
                <a:sym typeface="Consolas"/>
              </a:rPr>
              <a:t>LinkedHashMap&lt;K,V&gt;</a:t>
            </a:r>
            <a:endParaRPr sz="1600"/>
          </a:p>
        </p:txBody>
      </p:sp>
      <p:cxnSp>
        <p:nvCxnSpPr>
          <p:cNvPr id="663" name="Google Shape;663;p75"/>
          <p:cNvCxnSpPr>
            <a:stCxn id="661" idx="3"/>
            <a:endCxn id="662" idx="0"/>
          </p:cNvCxnSpPr>
          <p:nvPr/>
        </p:nvCxnSpPr>
        <p:spPr>
          <a:xfrm rot="-5400000" flipH="1">
            <a:off x="987200" y="4148020"/>
            <a:ext cx="382800" cy="600"/>
          </a:xfrm>
          <a:prstGeom prst="bentConnector3">
            <a:avLst>
              <a:gd name="adj1" fmla="val 49992"/>
            </a:avLst>
          </a:prstGeom>
          <a:solidFill>
            <a:schemeClr val="lt1"/>
          </a:solidFill>
          <a:ln w="25400" cap="flat" cmpd="sng">
            <a:solidFill>
              <a:schemeClr val="dk1"/>
            </a:solidFill>
            <a:prstDash val="solid"/>
            <a:round/>
            <a:headEnd type="none" w="med" len="med"/>
            <a:tailEnd type="none" w="med" len="med"/>
          </a:ln>
        </p:spPr>
      </p:cxnSp>
      <p:cxnSp>
        <p:nvCxnSpPr>
          <p:cNvPr id="664" name="Google Shape;664;p75"/>
          <p:cNvCxnSpPr>
            <a:stCxn id="660" idx="0"/>
            <a:endCxn id="658" idx="3"/>
          </p:cNvCxnSpPr>
          <p:nvPr/>
        </p:nvCxnSpPr>
        <p:spPr>
          <a:xfrm rot="-5400000">
            <a:off x="921674" y="3217925"/>
            <a:ext cx="513600" cy="600"/>
          </a:xfrm>
          <a:prstGeom prst="bentConnector3">
            <a:avLst>
              <a:gd name="adj1" fmla="val 50011"/>
            </a:avLst>
          </a:prstGeom>
          <a:solidFill>
            <a:schemeClr val="lt1"/>
          </a:solidFill>
          <a:ln w="25400" cap="flat" cmpd="sng">
            <a:solidFill>
              <a:schemeClr val="dk1"/>
            </a:solidFill>
            <a:prstDash val="solid"/>
            <a:round/>
            <a:headEnd type="none" w="med" len="med"/>
            <a:tailEnd type="none" w="med" len="med"/>
          </a:ln>
        </p:spPr>
      </p:cxnSp>
      <p:sp>
        <p:nvSpPr>
          <p:cNvPr id="665" name="Google Shape;665;p75"/>
          <p:cNvSpPr/>
          <p:nvPr/>
        </p:nvSpPr>
        <p:spPr>
          <a:xfrm>
            <a:off x="346705" y="1338102"/>
            <a:ext cx="1663800" cy="330900"/>
          </a:xfrm>
          <a:prstGeom prst="rect">
            <a:avLst/>
          </a:prstGeom>
          <a:solidFill>
            <a:srgbClr val="E69138"/>
          </a:solidFill>
          <a:ln w="25400" cap="flat" cmpd="sng">
            <a:solidFill>
              <a:srgbClr val="B45F06"/>
            </a:solidFill>
            <a:prstDash val="solid"/>
            <a:round/>
            <a:headEnd type="none" w="sm" len="sm"/>
            <a:tailEnd type="none" w="sm" len="sm"/>
          </a:ln>
        </p:spPr>
        <p:txBody>
          <a:bodyPr spcFirstLastPara="1" wrap="square" lIns="90475" tIns="44450" rIns="90475" bIns="44450" anchor="ctr" anchorCtr="0">
            <a:noAutofit/>
          </a:bodyPr>
          <a:lstStyle/>
          <a:p>
            <a:pPr marL="0" marR="0" lvl="0" indent="0" algn="ctr" rtl="0">
              <a:lnSpc>
                <a:spcPct val="100000"/>
              </a:lnSpc>
              <a:spcBef>
                <a:spcPts val="0"/>
              </a:spcBef>
              <a:spcAft>
                <a:spcPts val="0"/>
              </a:spcAft>
              <a:buClr>
                <a:schemeClr val="lt1"/>
              </a:buClr>
              <a:buSzPts val="2000"/>
              <a:buFont typeface="Consolas"/>
              <a:buNone/>
            </a:pPr>
            <a:r>
              <a:rPr lang="it" sz="1600">
                <a:solidFill>
                  <a:schemeClr val="lt1"/>
                </a:solidFill>
                <a:latin typeface="Consolas"/>
                <a:ea typeface="Consolas"/>
                <a:cs typeface="Consolas"/>
                <a:sym typeface="Consolas"/>
              </a:rPr>
              <a:t>Array&lt;T&gt;</a:t>
            </a:r>
            <a:endParaRPr sz="160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669"/>
        <p:cNvGrpSpPr/>
        <p:nvPr/>
      </p:nvGrpSpPr>
      <p:grpSpPr>
        <a:xfrm>
          <a:off x="0" y="0"/>
          <a:ext cx="0" cy="0"/>
          <a:chOff x="0" y="0"/>
          <a:chExt cx="0" cy="0"/>
        </a:xfrm>
      </p:grpSpPr>
      <p:sp>
        <p:nvSpPr>
          <p:cNvPr id="670" name="Google Shape;670;p7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it" sz="2820"/>
              <a:t>Working with collections </a:t>
            </a:r>
            <a:endParaRPr sz="2820"/>
          </a:p>
        </p:txBody>
      </p:sp>
      <p:sp>
        <p:nvSpPr>
          <p:cNvPr id="671" name="Google Shape;671;p76"/>
          <p:cNvSpPr txBox="1">
            <a:spLocks noGrp="1"/>
          </p:cNvSpPr>
          <p:nvPr>
            <p:ph type="body" idx="1"/>
          </p:nvPr>
        </p:nvSpPr>
        <p:spPr>
          <a:xfrm>
            <a:off x="311150" y="1244204"/>
            <a:ext cx="8521800" cy="3393300"/>
          </a:xfrm>
          <a:prstGeom prst="rect">
            <a:avLst/>
          </a:prstGeom>
        </p:spPr>
        <p:txBody>
          <a:bodyPr spcFirstLastPara="1" wrap="square" lIns="91425" tIns="45700" rIns="91425" bIns="45700" anchor="t" anchorCtr="0">
            <a:normAutofit/>
          </a:bodyPr>
          <a:lstStyle/>
          <a:p>
            <a:pPr marL="457200" lvl="0" indent="-355600" algn="l" rtl="0">
              <a:spcBef>
                <a:spcPts val="600"/>
              </a:spcBef>
              <a:spcAft>
                <a:spcPts val="0"/>
              </a:spcAft>
              <a:buSzPts val="2000"/>
              <a:buChar char="•"/>
            </a:pPr>
            <a:r>
              <a:rPr lang="it"/>
              <a:t>The Kotlin Standard Library provides several </a:t>
            </a:r>
            <a:r>
              <a:rPr lang="it" b="1">
                <a:solidFill>
                  <a:srgbClr val="0B5394"/>
                </a:solidFill>
              </a:rPr>
              <a:t>helper functions</a:t>
            </a:r>
            <a:r>
              <a:rPr lang="it"/>
              <a:t> to create and initialize collections</a:t>
            </a:r>
            <a:endParaRPr/>
          </a:p>
          <a:p>
            <a:pPr marL="914400" lvl="1" indent="-330200" algn="l" rtl="0">
              <a:spcBef>
                <a:spcPts val="0"/>
              </a:spcBef>
              <a:spcAft>
                <a:spcPts val="0"/>
              </a:spcAft>
              <a:buSzPts val="1600"/>
              <a:buChar char="○"/>
            </a:pPr>
            <a:r>
              <a:rPr lang="it"/>
              <a:t>Immutable factories:</a:t>
            </a:r>
            <a:endParaRPr/>
          </a:p>
          <a:p>
            <a:pPr marL="1371600" marR="0" lvl="2" indent="-317500" algn="l" rtl="0">
              <a:lnSpc>
                <a:spcPct val="115000"/>
              </a:lnSpc>
              <a:spcBef>
                <a:spcPts val="0"/>
              </a:spcBef>
              <a:spcAft>
                <a:spcPts val="0"/>
              </a:spcAft>
              <a:buSzPts val="1400"/>
              <a:buChar char="▪"/>
            </a:pPr>
            <a:r>
              <a:rPr lang="it" b="1">
                <a:solidFill>
                  <a:srgbClr val="0B5394"/>
                </a:solidFill>
                <a:latin typeface="Consolas"/>
                <a:ea typeface="Consolas"/>
                <a:cs typeface="Consolas"/>
                <a:sym typeface="Consolas"/>
              </a:rPr>
              <a:t>listOf(</a:t>
            </a:r>
            <a:r>
              <a:rPr lang="it" b="1" i="1">
                <a:solidFill>
                  <a:srgbClr val="0B5394"/>
                </a:solidFill>
                <a:latin typeface="Consolas"/>
                <a:ea typeface="Consolas"/>
                <a:cs typeface="Consolas"/>
                <a:sym typeface="Consolas"/>
              </a:rPr>
              <a:t>values</a:t>
            </a:r>
            <a:r>
              <a:rPr lang="it" b="1">
                <a:solidFill>
                  <a:srgbClr val="0B5394"/>
                </a:solidFill>
                <a:latin typeface="Consolas"/>
                <a:ea typeface="Consolas"/>
                <a:cs typeface="Consolas"/>
                <a:sym typeface="Consolas"/>
              </a:rPr>
              <a:t>...)</a:t>
            </a:r>
            <a:r>
              <a:rPr lang="it"/>
              <a:t>, </a:t>
            </a:r>
            <a:r>
              <a:rPr lang="it" b="1">
                <a:solidFill>
                  <a:srgbClr val="073763"/>
                </a:solidFill>
                <a:latin typeface="Consolas"/>
                <a:ea typeface="Consolas"/>
                <a:cs typeface="Consolas"/>
                <a:sym typeface="Consolas"/>
              </a:rPr>
              <a:t>s</a:t>
            </a:r>
            <a:r>
              <a:rPr lang="it" b="1">
                <a:solidFill>
                  <a:srgbClr val="0B5394"/>
                </a:solidFill>
                <a:latin typeface="Consolas"/>
                <a:ea typeface="Consolas"/>
                <a:cs typeface="Consolas"/>
                <a:sym typeface="Consolas"/>
              </a:rPr>
              <a:t>etOf(</a:t>
            </a:r>
            <a:r>
              <a:rPr lang="it" b="1" i="1">
                <a:solidFill>
                  <a:srgbClr val="0B5394"/>
                </a:solidFill>
                <a:latin typeface="Consolas"/>
                <a:ea typeface="Consolas"/>
                <a:cs typeface="Consolas"/>
                <a:sym typeface="Consolas"/>
              </a:rPr>
              <a:t>values…</a:t>
            </a:r>
            <a:r>
              <a:rPr lang="it" b="1">
                <a:solidFill>
                  <a:srgbClr val="0B5394"/>
                </a:solidFill>
                <a:latin typeface="Consolas"/>
                <a:ea typeface="Consolas"/>
                <a:cs typeface="Consolas"/>
                <a:sym typeface="Consolas"/>
              </a:rPr>
              <a:t>)</a:t>
            </a:r>
            <a:r>
              <a:rPr lang="it"/>
              <a:t>, </a:t>
            </a:r>
            <a:r>
              <a:rPr lang="it" b="1">
                <a:solidFill>
                  <a:srgbClr val="0B5394"/>
                </a:solidFill>
                <a:latin typeface="Consolas"/>
                <a:ea typeface="Consolas"/>
                <a:cs typeface="Consolas"/>
                <a:sym typeface="Consolas"/>
              </a:rPr>
              <a:t>mapOf(</a:t>
            </a:r>
            <a:r>
              <a:rPr lang="it" b="1" i="1">
                <a:solidFill>
                  <a:srgbClr val="0B5394"/>
                </a:solidFill>
                <a:latin typeface="Consolas"/>
                <a:ea typeface="Consolas"/>
                <a:cs typeface="Consolas"/>
                <a:sym typeface="Consolas"/>
              </a:rPr>
              <a:t>values…</a:t>
            </a:r>
            <a:r>
              <a:rPr lang="it" b="1">
                <a:solidFill>
                  <a:srgbClr val="0B5394"/>
                </a:solidFill>
                <a:latin typeface="Consolas"/>
                <a:ea typeface="Consolas"/>
                <a:cs typeface="Consolas"/>
                <a:sym typeface="Consolas"/>
              </a:rPr>
              <a:t>)</a:t>
            </a:r>
            <a:r>
              <a:rPr lang="it"/>
              <a:t>, </a:t>
            </a:r>
            <a:r>
              <a:rPr lang="it" b="1">
                <a:solidFill>
                  <a:srgbClr val="0B5394"/>
                </a:solidFill>
                <a:latin typeface="Consolas"/>
                <a:ea typeface="Consolas"/>
                <a:cs typeface="Consolas"/>
                <a:sym typeface="Consolas"/>
              </a:rPr>
              <a:t>arrayOf(</a:t>
            </a:r>
            <a:r>
              <a:rPr lang="it" b="1" i="1">
                <a:solidFill>
                  <a:srgbClr val="0B5394"/>
                </a:solidFill>
                <a:latin typeface="Consolas"/>
                <a:ea typeface="Consolas"/>
                <a:cs typeface="Consolas"/>
                <a:sym typeface="Consolas"/>
              </a:rPr>
              <a:t>values…</a:t>
            </a:r>
            <a:r>
              <a:rPr lang="it" b="1">
                <a:solidFill>
                  <a:srgbClr val="0B5394"/>
                </a:solidFill>
                <a:latin typeface="Consolas"/>
                <a:ea typeface="Consolas"/>
                <a:cs typeface="Consolas"/>
                <a:sym typeface="Consolas"/>
              </a:rPr>
              <a:t>)</a:t>
            </a:r>
            <a:r>
              <a:rPr lang="it"/>
              <a:t>, </a:t>
            </a:r>
            <a:r>
              <a:rPr lang="it" b="1">
                <a:solidFill>
                  <a:srgbClr val="0B5394"/>
                </a:solidFill>
                <a:latin typeface="Consolas"/>
                <a:ea typeface="Consolas"/>
                <a:cs typeface="Consolas"/>
                <a:sym typeface="Consolas"/>
              </a:rPr>
              <a:t>listOfNotNull(</a:t>
            </a:r>
            <a:r>
              <a:rPr lang="it" b="1" i="1">
                <a:solidFill>
                  <a:srgbClr val="0B5394"/>
                </a:solidFill>
                <a:latin typeface="Consolas"/>
                <a:ea typeface="Consolas"/>
                <a:cs typeface="Consolas"/>
                <a:sym typeface="Consolas"/>
              </a:rPr>
              <a:t>collection</a:t>
            </a:r>
            <a:r>
              <a:rPr lang="it" b="1">
                <a:solidFill>
                  <a:srgbClr val="0B5394"/>
                </a:solidFill>
                <a:latin typeface="Consolas"/>
                <a:ea typeface="Consolas"/>
                <a:cs typeface="Consolas"/>
                <a:sym typeface="Consolas"/>
              </a:rPr>
              <a:t>)</a:t>
            </a:r>
            <a:r>
              <a:rPr lang="it"/>
              <a:t>, </a:t>
            </a:r>
            <a:r>
              <a:rPr lang="it" b="1">
                <a:solidFill>
                  <a:srgbClr val="0B5394"/>
                </a:solidFill>
                <a:latin typeface="Consolas"/>
                <a:ea typeface="Consolas"/>
                <a:cs typeface="Consolas"/>
                <a:sym typeface="Consolas"/>
              </a:rPr>
              <a:t>emptyList()</a:t>
            </a:r>
            <a:r>
              <a:rPr lang="it"/>
              <a:t>, </a:t>
            </a:r>
            <a:r>
              <a:rPr lang="it" b="1">
                <a:solidFill>
                  <a:srgbClr val="0B5394"/>
                </a:solidFill>
                <a:latin typeface="Consolas"/>
                <a:ea typeface="Consolas"/>
                <a:cs typeface="Consolas"/>
                <a:sym typeface="Consolas"/>
              </a:rPr>
              <a:t>emptySet()</a:t>
            </a:r>
            <a:r>
              <a:rPr lang="it"/>
              <a:t>, </a:t>
            </a:r>
            <a:r>
              <a:rPr lang="it" b="1">
                <a:solidFill>
                  <a:srgbClr val="0B5394"/>
                </a:solidFill>
                <a:latin typeface="Consolas"/>
                <a:ea typeface="Consolas"/>
                <a:cs typeface="Consolas"/>
                <a:sym typeface="Consolas"/>
              </a:rPr>
              <a:t>emptyMap()</a:t>
            </a:r>
            <a:endParaRPr b="1">
              <a:solidFill>
                <a:srgbClr val="0B5394"/>
              </a:solidFill>
              <a:latin typeface="Consolas"/>
              <a:ea typeface="Consolas"/>
              <a:cs typeface="Consolas"/>
              <a:sym typeface="Consolas"/>
            </a:endParaRPr>
          </a:p>
          <a:p>
            <a:pPr marL="914400" lvl="1" indent="-330200" algn="l" rtl="0">
              <a:spcBef>
                <a:spcPts val="0"/>
              </a:spcBef>
              <a:spcAft>
                <a:spcPts val="0"/>
              </a:spcAft>
              <a:buSzPts val="1600"/>
              <a:buChar char="○"/>
            </a:pPr>
            <a:r>
              <a:rPr lang="it"/>
              <a:t>Mutable factories:</a:t>
            </a:r>
            <a:endParaRPr/>
          </a:p>
          <a:p>
            <a:pPr marL="1371600" lvl="2" indent="-317500" algn="l" rtl="0">
              <a:spcBef>
                <a:spcPts val="0"/>
              </a:spcBef>
              <a:spcAft>
                <a:spcPts val="0"/>
              </a:spcAft>
              <a:buSzPts val="1400"/>
              <a:buChar char="▪"/>
            </a:pPr>
            <a:r>
              <a:rPr lang="it" b="1">
                <a:solidFill>
                  <a:srgbClr val="0B5394"/>
                </a:solidFill>
                <a:latin typeface="Consolas"/>
                <a:ea typeface="Consolas"/>
                <a:cs typeface="Consolas"/>
                <a:sym typeface="Consolas"/>
              </a:rPr>
              <a:t>mutableListOf(</a:t>
            </a:r>
            <a:r>
              <a:rPr lang="it" b="1" i="1">
                <a:solidFill>
                  <a:srgbClr val="0B5394"/>
                </a:solidFill>
                <a:latin typeface="Consolas"/>
                <a:ea typeface="Consolas"/>
                <a:cs typeface="Consolas"/>
                <a:sym typeface="Consolas"/>
              </a:rPr>
              <a:t>values</a:t>
            </a:r>
            <a:r>
              <a:rPr lang="it" b="1">
                <a:solidFill>
                  <a:srgbClr val="0B5394"/>
                </a:solidFill>
                <a:latin typeface="Consolas"/>
                <a:ea typeface="Consolas"/>
                <a:cs typeface="Consolas"/>
                <a:sym typeface="Consolas"/>
              </a:rPr>
              <a:t>...)</a:t>
            </a:r>
            <a:r>
              <a:rPr lang="it"/>
              <a:t>, </a:t>
            </a:r>
            <a:r>
              <a:rPr lang="it" b="1">
                <a:solidFill>
                  <a:srgbClr val="0B5394"/>
                </a:solidFill>
                <a:latin typeface="Consolas"/>
                <a:ea typeface="Consolas"/>
                <a:cs typeface="Consolas"/>
                <a:sym typeface="Consolas"/>
              </a:rPr>
              <a:t>mutableSetOf(</a:t>
            </a:r>
            <a:r>
              <a:rPr lang="it" b="1" i="1">
                <a:solidFill>
                  <a:srgbClr val="0B5394"/>
                </a:solidFill>
                <a:latin typeface="Consolas"/>
                <a:ea typeface="Consolas"/>
                <a:cs typeface="Consolas"/>
                <a:sym typeface="Consolas"/>
              </a:rPr>
              <a:t>values…</a:t>
            </a:r>
            <a:r>
              <a:rPr lang="it" b="1">
                <a:solidFill>
                  <a:srgbClr val="0B5394"/>
                </a:solidFill>
                <a:latin typeface="Consolas"/>
                <a:ea typeface="Consolas"/>
                <a:cs typeface="Consolas"/>
                <a:sym typeface="Consolas"/>
              </a:rPr>
              <a:t>)</a:t>
            </a:r>
            <a:r>
              <a:rPr lang="it"/>
              <a:t>, </a:t>
            </a:r>
            <a:r>
              <a:rPr lang="it" b="1">
                <a:solidFill>
                  <a:srgbClr val="0B5394"/>
                </a:solidFill>
                <a:latin typeface="Consolas"/>
                <a:ea typeface="Consolas"/>
                <a:cs typeface="Consolas"/>
                <a:sym typeface="Consolas"/>
              </a:rPr>
              <a:t>mutableMapOf(</a:t>
            </a:r>
            <a:r>
              <a:rPr lang="it" b="1" i="1">
                <a:solidFill>
                  <a:srgbClr val="0B5394"/>
                </a:solidFill>
                <a:latin typeface="Consolas"/>
                <a:ea typeface="Consolas"/>
                <a:cs typeface="Consolas"/>
                <a:sym typeface="Consolas"/>
              </a:rPr>
              <a:t>values…</a:t>
            </a:r>
            <a:r>
              <a:rPr lang="it" b="1">
                <a:solidFill>
                  <a:srgbClr val="0B5394"/>
                </a:solidFill>
                <a:latin typeface="Consolas"/>
                <a:ea typeface="Consolas"/>
                <a:cs typeface="Consolas"/>
                <a:sym typeface="Consolas"/>
              </a:rPr>
              <a:t>)</a:t>
            </a:r>
            <a:endParaRPr>
              <a:solidFill>
                <a:srgbClr val="0B5394"/>
              </a:solidFill>
            </a:endParaRPr>
          </a:p>
          <a:p>
            <a:pPr marL="457200" lvl="0" indent="-355600" algn="l" rtl="0">
              <a:spcBef>
                <a:spcPts val="600"/>
              </a:spcBef>
              <a:spcAft>
                <a:spcPts val="0"/>
              </a:spcAft>
              <a:buSzPts val="2000"/>
              <a:buChar char="•"/>
            </a:pPr>
            <a:r>
              <a:rPr lang="it"/>
              <a:t>Moreover, a large set of </a:t>
            </a:r>
            <a:r>
              <a:rPr lang="it" b="1">
                <a:solidFill>
                  <a:srgbClr val="0B5394"/>
                </a:solidFill>
              </a:rPr>
              <a:t>manipulation methods</a:t>
            </a:r>
            <a:r>
              <a:rPr lang="it"/>
              <a:t> is available</a:t>
            </a:r>
            <a:endParaRPr/>
          </a:p>
          <a:p>
            <a:pPr marL="914400" lvl="1" indent="-330200" algn="l" rtl="0">
              <a:spcBef>
                <a:spcPts val="0"/>
              </a:spcBef>
              <a:spcAft>
                <a:spcPts val="0"/>
              </a:spcAft>
              <a:buSzPts val="1600"/>
              <a:buChar char="○"/>
            </a:pPr>
            <a:r>
              <a:rPr lang="it"/>
              <a:t>Providing support for filtering, grouping, mapping, and testing values inside the collection</a:t>
            </a:r>
            <a:endParaRPr/>
          </a:p>
          <a:p>
            <a:pPr marL="457200" lvl="0" indent="-355600" algn="l" rtl="0">
              <a:spcBef>
                <a:spcPts val="0"/>
              </a:spcBef>
              <a:spcAft>
                <a:spcPts val="0"/>
              </a:spcAft>
              <a:buSzPts val="2000"/>
              <a:buChar char="•"/>
            </a:pPr>
            <a:r>
              <a:rPr lang="it"/>
              <a:t>These functions are designed to be easy to use and can help you write more concise and expressive code when working with collections 	</a:t>
            </a:r>
            <a:endParaRPr/>
          </a:p>
        </p:txBody>
      </p:sp>
      <p:sp>
        <p:nvSpPr>
          <p:cNvPr id="672" name="Google Shape;672;p76"/>
          <p:cNvSpPr txBox="1">
            <a:spLocks noGrp="1"/>
          </p:cNvSpPr>
          <p:nvPr>
            <p:ph type="sldNum" idx="12"/>
          </p:nvPr>
        </p:nvSpPr>
        <p:spPr>
          <a:xfrm>
            <a:off x="8472458" y="476850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it"/>
              <a:t>70</a:t>
            </a:fld>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676"/>
        <p:cNvGrpSpPr/>
        <p:nvPr/>
      </p:nvGrpSpPr>
      <p:grpSpPr>
        <a:xfrm>
          <a:off x="0" y="0"/>
          <a:ext cx="0" cy="0"/>
          <a:chOff x="0" y="0"/>
          <a:chExt cx="0" cy="0"/>
        </a:xfrm>
      </p:grpSpPr>
      <p:sp>
        <p:nvSpPr>
          <p:cNvPr id="677" name="Google Shape;677;p7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it" sz="2820"/>
              <a:t>Filtering methods</a:t>
            </a:r>
            <a:endParaRPr sz="2820"/>
          </a:p>
        </p:txBody>
      </p:sp>
      <p:sp>
        <p:nvSpPr>
          <p:cNvPr id="678" name="Google Shape;678;p77"/>
          <p:cNvSpPr txBox="1">
            <a:spLocks noGrp="1"/>
          </p:cNvSpPr>
          <p:nvPr>
            <p:ph type="body" idx="1"/>
          </p:nvPr>
        </p:nvSpPr>
        <p:spPr>
          <a:xfrm>
            <a:off x="311150" y="1244204"/>
            <a:ext cx="8521800" cy="3393300"/>
          </a:xfrm>
          <a:prstGeom prst="rect">
            <a:avLst/>
          </a:prstGeom>
        </p:spPr>
        <p:txBody>
          <a:bodyPr spcFirstLastPara="1" wrap="square" lIns="91425" tIns="45700" rIns="91425" bIns="45700" anchor="t" anchorCtr="0">
            <a:normAutofit/>
          </a:bodyPr>
          <a:lstStyle/>
          <a:p>
            <a:pPr marL="457200" lvl="0" indent="-355600" algn="l" rtl="0">
              <a:spcBef>
                <a:spcPts val="600"/>
              </a:spcBef>
              <a:spcAft>
                <a:spcPts val="0"/>
              </a:spcAft>
              <a:buSzPts val="2000"/>
              <a:buFont typeface="Consolas"/>
              <a:buChar char="•"/>
            </a:pPr>
            <a:r>
              <a:rPr lang="it" b="1">
                <a:solidFill>
                  <a:srgbClr val="0B5394"/>
                </a:solidFill>
                <a:latin typeface="Consolas"/>
                <a:ea typeface="Consolas"/>
                <a:cs typeface="Consolas"/>
                <a:sym typeface="Consolas"/>
              </a:rPr>
              <a:t>filter(predicate:  (T) -&gt; Boolean): List&lt;T&gt;</a:t>
            </a:r>
            <a:r>
              <a:rPr lang="it">
                <a:latin typeface="Consolas"/>
                <a:ea typeface="Consolas"/>
                <a:cs typeface="Consolas"/>
                <a:sym typeface="Consolas"/>
              </a:rPr>
              <a:t> </a:t>
            </a:r>
            <a:endParaRPr>
              <a:latin typeface="Consolas"/>
              <a:ea typeface="Consolas"/>
              <a:cs typeface="Consolas"/>
              <a:sym typeface="Consolas"/>
            </a:endParaRPr>
          </a:p>
          <a:p>
            <a:pPr marL="914400" lvl="1" indent="-330200" algn="l" rtl="0">
              <a:spcBef>
                <a:spcPts val="300"/>
              </a:spcBef>
              <a:spcAft>
                <a:spcPts val="0"/>
              </a:spcAft>
              <a:buSzPts val="1600"/>
              <a:buChar char="○"/>
            </a:pPr>
            <a:r>
              <a:rPr lang="it"/>
              <a:t>returns a list containing only elements matching the predicate</a:t>
            </a:r>
            <a:endParaRPr b="1">
              <a:solidFill>
                <a:srgbClr val="0B5394"/>
              </a:solidFill>
              <a:latin typeface="Consolas"/>
              <a:ea typeface="Consolas"/>
              <a:cs typeface="Consolas"/>
              <a:sym typeface="Consolas"/>
            </a:endParaRPr>
          </a:p>
          <a:p>
            <a:pPr marL="914400" lvl="1" indent="-330200" algn="l" rtl="0">
              <a:spcBef>
                <a:spcPts val="0"/>
              </a:spcBef>
              <a:spcAft>
                <a:spcPts val="0"/>
              </a:spcAft>
              <a:buSzPts val="1600"/>
              <a:buChar char="○"/>
            </a:pPr>
            <a:r>
              <a:rPr lang="it" b="1">
                <a:solidFill>
                  <a:srgbClr val="0B5394"/>
                </a:solidFill>
                <a:latin typeface="Consolas"/>
                <a:ea typeface="Consolas"/>
                <a:cs typeface="Consolas"/>
                <a:sym typeface="Consolas"/>
              </a:rPr>
              <a:t>filterNot(...)</a:t>
            </a:r>
            <a:r>
              <a:rPr lang="it"/>
              <a:t> does the reverse</a:t>
            </a:r>
            <a:endParaRPr/>
          </a:p>
          <a:p>
            <a:pPr marL="914400" lvl="1" indent="-330200" algn="l" rtl="0">
              <a:spcBef>
                <a:spcPts val="0"/>
              </a:spcBef>
              <a:spcAft>
                <a:spcPts val="0"/>
              </a:spcAft>
              <a:buSzPts val="1600"/>
              <a:buChar char="○"/>
            </a:pPr>
            <a:r>
              <a:rPr lang="it" b="1">
                <a:solidFill>
                  <a:srgbClr val="0B5394"/>
                </a:solidFill>
                <a:latin typeface="Consolas"/>
                <a:ea typeface="Consolas"/>
                <a:cs typeface="Consolas"/>
                <a:sym typeface="Consolas"/>
              </a:rPr>
              <a:t>filterNotNull(...)</a:t>
            </a:r>
            <a:r>
              <a:rPr lang="it"/>
              <a:t> removes all of the nulls from a collection</a:t>
            </a:r>
            <a:endParaRPr/>
          </a:p>
          <a:p>
            <a:pPr marL="457200" lvl="0" indent="-342900" algn="l" rtl="0">
              <a:lnSpc>
                <a:spcPct val="100000"/>
              </a:lnSpc>
              <a:spcBef>
                <a:spcPts val="600"/>
              </a:spcBef>
              <a:spcAft>
                <a:spcPts val="0"/>
              </a:spcAft>
              <a:buSzPts val="1800"/>
              <a:buFont typeface="Consolas"/>
              <a:buChar char="•"/>
            </a:pPr>
            <a:r>
              <a:rPr lang="it" sz="2000" b="1">
                <a:solidFill>
                  <a:srgbClr val="0B5394"/>
                </a:solidFill>
                <a:latin typeface="Consolas"/>
                <a:ea typeface="Consolas"/>
                <a:cs typeface="Consolas"/>
                <a:sym typeface="Consolas"/>
              </a:rPr>
              <a:t>fi</a:t>
            </a:r>
            <a:r>
              <a:rPr lang="it" b="1">
                <a:solidFill>
                  <a:srgbClr val="0B5394"/>
                </a:solidFill>
                <a:latin typeface="Consolas"/>
                <a:ea typeface="Consolas"/>
                <a:cs typeface="Consolas"/>
                <a:sym typeface="Consolas"/>
              </a:rPr>
              <a:t>nd</a:t>
            </a:r>
            <a:r>
              <a:rPr lang="it" sz="2000" b="1">
                <a:solidFill>
                  <a:srgbClr val="0B5394"/>
                </a:solidFill>
                <a:latin typeface="Consolas"/>
                <a:ea typeface="Consolas"/>
                <a:cs typeface="Consolas"/>
                <a:sym typeface="Consolas"/>
              </a:rPr>
              <a:t>(predicate:  (T) -&gt; Boolean): </a:t>
            </a:r>
            <a:r>
              <a:rPr lang="it" b="1">
                <a:solidFill>
                  <a:srgbClr val="0B5394"/>
                </a:solidFill>
                <a:latin typeface="Consolas"/>
                <a:ea typeface="Consolas"/>
                <a:cs typeface="Consolas"/>
                <a:sym typeface="Consolas"/>
              </a:rPr>
              <a:t>T?</a:t>
            </a:r>
            <a:r>
              <a:rPr lang="it" sz="2000">
                <a:solidFill>
                  <a:schemeClr val="dk1"/>
                </a:solidFill>
                <a:latin typeface="Consolas"/>
                <a:ea typeface="Consolas"/>
                <a:cs typeface="Consolas"/>
                <a:sym typeface="Consolas"/>
              </a:rPr>
              <a:t> </a:t>
            </a:r>
            <a:endParaRPr b="1">
              <a:solidFill>
                <a:srgbClr val="0B5394"/>
              </a:solidFill>
              <a:latin typeface="Consolas"/>
              <a:ea typeface="Consolas"/>
              <a:cs typeface="Consolas"/>
              <a:sym typeface="Consolas"/>
            </a:endParaRPr>
          </a:p>
          <a:p>
            <a:pPr marL="914400" lvl="1" indent="-330200" algn="l" rtl="0">
              <a:spcBef>
                <a:spcPts val="0"/>
              </a:spcBef>
              <a:spcAft>
                <a:spcPts val="0"/>
              </a:spcAft>
              <a:buSzPts val="1600"/>
              <a:buChar char="○"/>
            </a:pPr>
            <a:r>
              <a:rPr lang="it"/>
              <a:t>returns the first element matching the given predicate, or </a:t>
            </a:r>
            <a:r>
              <a:rPr lang="it" b="1">
                <a:solidFill>
                  <a:srgbClr val="0B5394"/>
                </a:solidFill>
                <a:latin typeface="Consolas"/>
                <a:ea typeface="Consolas"/>
                <a:cs typeface="Consolas"/>
                <a:sym typeface="Consolas"/>
              </a:rPr>
              <a:t>null</a:t>
            </a:r>
            <a:r>
              <a:rPr lang="it"/>
              <a:t> if none is found</a:t>
            </a:r>
            <a:endParaRPr/>
          </a:p>
          <a:p>
            <a:pPr marL="0" lvl="0" indent="0" algn="l" rtl="0">
              <a:spcBef>
                <a:spcPts val="600"/>
              </a:spcBef>
              <a:spcAft>
                <a:spcPts val="0"/>
              </a:spcAft>
              <a:buNone/>
            </a:pPr>
            <a:endParaRPr/>
          </a:p>
        </p:txBody>
      </p:sp>
      <p:sp>
        <p:nvSpPr>
          <p:cNvPr id="679" name="Google Shape;679;p77"/>
          <p:cNvSpPr txBox="1"/>
          <p:nvPr/>
        </p:nvSpPr>
        <p:spPr>
          <a:xfrm>
            <a:off x="745200" y="3262194"/>
            <a:ext cx="7653600" cy="1169700"/>
          </a:xfrm>
          <a:prstGeom prst="rect">
            <a:avLst/>
          </a:prstGeom>
          <a:solidFill>
            <a:srgbClr val="FFF2CC"/>
          </a:solidFill>
          <a:ln w="9525" cap="flat" cmpd="sng">
            <a:solidFill>
              <a:schemeClr val="dk1"/>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spAutoFit/>
          </a:bodyPr>
          <a:lstStyle/>
          <a:p>
            <a:pPr marL="0" marR="0" lvl="0" indent="0" algn="l" rtl="0">
              <a:spcBef>
                <a:spcPts val="0"/>
              </a:spcBef>
              <a:spcAft>
                <a:spcPts val="0"/>
              </a:spcAft>
              <a:buNone/>
            </a:pPr>
            <a:r>
              <a:rPr lang="it">
                <a:solidFill>
                  <a:schemeClr val="dk1"/>
                </a:solidFill>
                <a:latin typeface="Consolas"/>
                <a:ea typeface="Consolas"/>
                <a:cs typeface="Consolas"/>
                <a:sym typeface="Consolas"/>
              </a:rPr>
              <a:t>val nums = listOf(10, 20, 100, 5) </a:t>
            </a:r>
            <a:endParaRPr>
              <a:solidFill>
                <a:schemeClr val="dk1"/>
              </a:solidFill>
              <a:latin typeface="Consolas"/>
              <a:ea typeface="Consolas"/>
              <a:cs typeface="Consolas"/>
              <a:sym typeface="Consolas"/>
            </a:endParaRPr>
          </a:p>
          <a:p>
            <a:pPr marL="0" marR="0" lvl="0" indent="0" algn="l" rtl="0">
              <a:spcBef>
                <a:spcPts val="0"/>
              </a:spcBef>
              <a:spcAft>
                <a:spcPts val="0"/>
              </a:spcAft>
              <a:buNone/>
            </a:pPr>
            <a:r>
              <a:rPr lang="it">
                <a:solidFill>
                  <a:schemeClr val="dk1"/>
                </a:solidFill>
                <a:latin typeface="Consolas"/>
                <a:ea typeface="Consolas"/>
                <a:cs typeface="Consolas"/>
                <a:sym typeface="Consolas"/>
              </a:rPr>
              <a:t>val numbers = nums.</a:t>
            </a:r>
            <a:r>
              <a:rPr lang="it" b="1">
                <a:solidFill>
                  <a:srgbClr val="0B5394"/>
                </a:solidFill>
                <a:latin typeface="Consolas"/>
                <a:ea typeface="Consolas"/>
                <a:cs typeface="Consolas"/>
                <a:sym typeface="Consolas"/>
              </a:rPr>
              <a:t>filter</a:t>
            </a:r>
            <a:r>
              <a:rPr lang="it">
                <a:solidFill>
                  <a:schemeClr val="dk1"/>
                </a:solidFill>
                <a:latin typeface="Consolas"/>
                <a:ea typeface="Consolas"/>
                <a:cs typeface="Consolas"/>
                <a:sym typeface="Consolas"/>
              </a:rPr>
              <a:t> { it &gt; 20 } </a:t>
            </a:r>
            <a:r>
              <a:rPr lang="it">
                <a:solidFill>
                  <a:srgbClr val="6D6D6D"/>
                </a:solidFill>
                <a:latin typeface="Consolas"/>
                <a:ea typeface="Consolas"/>
                <a:cs typeface="Consolas"/>
                <a:sym typeface="Consolas"/>
              </a:rPr>
              <a:t>// → [100]</a:t>
            </a:r>
            <a:endParaRPr>
              <a:solidFill>
                <a:srgbClr val="6D6D6D"/>
              </a:solidFill>
              <a:latin typeface="Consolas"/>
              <a:ea typeface="Consolas"/>
              <a:cs typeface="Consolas"/>
              <a:sym typeface="Consolas"/>
            </a:endParaRPr>
          </a:p>
          <a:p>
            <a:pPr marL="0" marR="0" lvl="0" indent="0" algn="l" rtl="0">
              <a:spcBef>
                <a:spcPts val="0"/>
              </a:spcBef>
              <a:spcAft>
                <a:spcPts val="0"/>
              </a:spcAft>
              <a:buNone/>
            </a:pPr>
            <a:endParaRPr>
              <a:solidFill>
                <a:schemeClr val="dk1"/>
              </a:solidFill>
              <a:latin typeface="Consolas"/>
              <a:ea typeface="Consolas"/>
              <a:cs typeface="Consolas"/>
              <a:sym typeface="Consolas"/>
            </a:endParaRPr>
          </a:p>
          <a:p>
            <a:pPr marL="0" marR="0" lvl="0" indent="0" algn="l" rtl="0">
              <a:lnSpc>
                <a:spcPct val="100000"/>
              </a:lnSpc>
              <a:spcBef>
                <a:spcPts val="0"/>
              </a:spcBef>
              <a:spcAft>
                <a:spcPts val="0"/>
              </a:spcAft>
              <a:buNone/>
            </a:pPr>
            <a:r>
              <a:rPr lang="it">
                <a:solidFill>
                  <a:schemeClr val="dk1"/>
                </a:solidFill>
                <a:latin typeface="Consolas"/>
                <a:ea typeface="Consolas"/>
                <a:cs typeface="Consolas"/>
                <a:sym typeface="Consolas"/>
              </a:rPr>
              <a:t>val divisibleByThree = nums.</a:t>
            </a:r>
            <a:r>
              <a:rPr lang="it" b="1">
                <a:solidFill>
                  <a:srgbClr val="0B5394"/>
                </a:solidFill>
                <a:latin typeface="Consolas"/>
                <a:ea typeface="Consolas"/>
                <a:cs typeface="Consolas"/>
                <a:sym typeface="Consolas"/>
              </a:rPr>
              <a:t>find</a:t>
            </a:r>
            <a:r>
              <a:rPr lang="it">
                <a:solidFill>
                  <a:schemeClr val="dk1"/>
                </a:solidFill>
                <a:latin typeface="Consolas"/>
                <a:ea typeface="Consolas"/>
                <a:cs typeface="Consolas"/>
                <a:sym typeface="Consolas"/>
              </a:rPr>
              <a:t> { it % 3 == 0} </a:t>
            </a:r>
            <a:r>
              <a:rPr lang="it">
                <a:solidFill>
                  <a:srgbClr val="6D6D6D"/>
                </a:solidFill>
                <a:latin typeface="Consolas"/>
                <a:ea typeface="Consolas"/>
                <a:cs typeface="Consolas"/>
                <a:sym typeface="Consolas"/>
              </a:rPr>
              <a:t>// → null</a:t>
            </a:r>
            <a:endParaRPr>
              <a:solidFill>
                <a:srgbClr val="6D6D6D"/>
              </a:solidFill>
              <a:latin typeface="Consolas"/>
              <a:ea typeface="Consolas"/>
              <a:cs typeface="Consolas"/>
              <a:sym typeface="Consolas"/>
            </a:endParaRPr>
          </a:p>
          <a:p>
            <a:pPr marL="0" lvl="0" indent="0" algn="l" rtl="0">
              <a:spcBef>
                <a:spcPts val="0"/>
              </a:spcBef>
              <a:spcAft>
                <a:spcPts val="0"/>
              </a:spcAft>
              <a:buNone/>
            </a:pPr>
            <a:r>
              <a:rPr lang="it">
                <a:solidFill>
                  <a:schemeClr val="dk1"/>
                </a:solidFill>
                <a:latin typeface="Consolas"/>
                <a:ea typeface="Consolas"/>
                <a:cs typeface="Consolas"/>
                <a:sym typeface="Consolas"/>
              </a:rPr>
              <a:t>val divisibleByFour = nums.</a:t>
            </a:r>
            <a:r>
              <a:rPr lang="it" b="1">
                <a:solidFill>
                  <a:srgbClr val="0B5394"/>
                </a:solidFill>
                <a:latin typeface="Consolas"/>
                <a:ea typeface="Consolas"/>
                <a:cs typeface="Consolas"/>
                <a:sym typeface="Consolas"/>
              </a:rPr>
              <a:t>find</a:t>
            </a:r>
            <a:r>
              <a:rPr lang="it">
                <a:solidFill>
                  <a:schemeClr val="dk1"/>
                </a:solidFill>
                <a:latin typeface="Consolas"/>
                <a:ea typeface="Consolas"/>
                <a:cs typeface="Consolas"/>
                <a:sym typeface="Consolas"/>
              </a:rPr>
              <a:t> { it % 4 == 0} </a:t>
            </a:r>
            <a:r>
              <a:rPr lang="it">
                <a:solidFill>
                  <a:srgbClr val="6D6D6D"/>
                </a:solidFill>
                <a:latin typeface="Consolas"/>
                <a:ea typeface="Consolas"/>
                <a:cs typeface="Consolas"/>
                <a:sym typeface="Consolas"/>
              </a:rPr>
              <a:t>// → 20</a:t>
            </a:r>
            <a:endParaRPr>
              <a:solidFill>
                <a:srgbClr val="6D6D6D"/>
              </a:solidFill>
              <a:latin typeface="Consolas"/>
              <a:ea typeface="Consolas"/>
              <a:cs typeface="Consolas"/>
              <a:sym typeface="Consolas"/>
            </a:endParaRPr>
          </a:p>
        </p:txBody>
      </p:sp>
      <p:sp>
        <p:nvSpPr>
          <p:cNvPr id="680" name="Google Shape;680;p77"/>
          <p:cNvSpPr txBox="1">
            <a:spLocks noGrp="1"/>
          </p:cNvSpPr>
          <p:nvPr>
            <p:ph type="sldNum" idx="12"/>
          </p:nvPr>
        </p:nvSpPr>
        <p:spPr>
          <a:xfrm>
            <a:off x="8472458" y="476850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it"/>
              <a:t>71</a:t>
            </a:fld>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684"/>
        <p:cNvGrpSpPr/>
        <p:nvPr/>
      </p:nvGrpSpPr>
      <p:grpSpPr>
        <a:xfrm>
          <a:off x="0" y="0"/>
          <a:ext cx="0" cy="0"/>
          <a:chOff x="0" y="0"/>
          <a:chExt cx="0" cy="0"/>
        </a:xfrm>
      </p:grpSpPr>
      <p:sp>
        <p:nvSpPr>
          <p:cNvPr id="685" name="Google Shape;685;p7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it" sz="2820"/>
              <a:t>Grouping methods</a:t>
            </a:r>
            <a:endParaRPr sz="2820"/>
          </a:p>
        </p:txBody>
      </p:sp>
      <p:sp>
        <p:nvSpPr>
          <p:cNvPr id="686" name="Google Shape;686;p78"/>
          <p:cNvSpPr txBox="1">
            <a:spLocks noGrp="1"/>
          </p:cNvSpPr>
          <p:nvPr>
            <p:ph type="body" idx="1"/>
          </p:nvPr>
        </p:nvSpPr>
        <p:spPr>
          <a:xfrm>
            <a:off x="311150" y="1244204"/>
            <a:ext cx="8521800" cy="3393300"/>
          </a:xfrm>
          <a:prstGeom prst="rect">
            <a:avLst/>
          </a:prstGeom>
        </p:spPr>
        <p:txBody>
          <a:bodyPr spcFirstLastPara="1" wrap="square" lIns="91425" tIns="45700" rIns="91425" bIns="45700" anchor="t" anchorCtr="0">
            <a:normAutofit/>
          </a:bodyPr>
          <a:lstStyle/>
          <a:p>
            <a:pPr marL="457200" lvl="0" indent="-355600" algn="l" rtl="0">
              <a:spcBef>
                <a:spcPts val="600"/>
              </a:spcBef>
              <a:spcAft>
                <a:spcPts val="0"/>
              </a:spcAft>
              <a:buSzPts val="2000"/>
              <a:buFont typeface="Consolas"/>
              <a:buChar char="•"/>
            </a:pPr>
            <a:r>
              <a:rPr lang="it" b="1">
                <a:solidFill>
                  <a:srgbClr val="0B5394"/>
                </a:solidFill>
                <a:latin typeface="Consolas"/>
                <a:ea typeface="Consolas"/>
                <a:cs typeface="Consolas"/>
                <a:sym typeface="Consolas"/>
              </a:rPr>
              <a:t>groupBy(keySelector:  (T) -&gt; K): Map&lt;K, List&lt;T&gt;&gt;</a:t>
            </a:r>
            <a:r>
              <a:rPr lang="it">
                <a:latin typeface="Consolas"/>
                <a:ea typeface="Consolas"/>
                <a:cs typeface="Consolas"/>
                <a:sym typeface="Consolas"/>
              </a:rPr>
              <a:t> </a:t>
            </a:r>
            <a:endParaRPr>
              <a:latin typeface="Consolas"/>
              <a:ea typeface="Consolas"/>
              <a:cs typeface="Consolas"/>
              <a:sym typeface="Consolas"/>
            </a:endParaRPr>
          </a:p>
          <a:p>
            <a:pPr marL="914400" lvl="1" indent="-330200" algn="l" rtl="0">
              <a:spcBef>
                <a:spcPts val="0"/>
              </a:spcBef>
              <a:spcAft>
                <a:spcPts val="0"/>
              </a:spcAft>
              <a:buSzPts val="1600"/>
              <a:buChar char="○"/>
            </a:pPr>
            <a:r>
              <a:rPr lang="it"/>
              <a:t>groups elements having the same key into a list and returns a map where each key is associated to its list</a:t>
            </a:r>
            <a:endParaRPr/>
          </a:p>
        </p:txBody>
      </p:sp>
      <p:sp>
        <p:nvSpPr>
          <p:cNvPr id="687" name="Google Shape;687;p78"/>
          <p:cNvSpPr txBox="1"/>
          <p:nvPr/>
        </p:nvSpPr>
        <p:spPr>
          <a:xfrm>
            <a:off x="697850" y="2321563"/>
            <a:ext cx="7865700" cy="2247300"/>
          </a:xfrm>
          <a:prstGeom prst="rect">
            <a:avLst/>
          </a:prstGeom>
          <a:solidFill>
            <a:srgbClr val="FFF2CC"/>
          </a:solidFill>
          <a:ln w="9525" cap="flat" cmpd="sng">
            <a:solidFill>
              <a:schemeClr val="dk1"/>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spAutoFit/>
          </a:bodyPr>
          <a:lstStyle/>
          <a:p>
            <a:pPr marL="0" marR="0" lvl="0" indent="0" algn="l" rtl="0">
              <a:spcBef>
                <a:spcPts val="0"/>
              </a:spcBef>
              <a:spcAft>
                <a:spcPts val="0"/>
              </a:spcAft>
              <a:buNone/>
            </a:pPr>
            <a:r>
              <a:rPr lang="it">
                <a:solidFill>
                  <a:schemeClr val="dk1"/>
                </a:solidFill>
                <a:latin typeface="Consolas"/>
                <a:ea typeface="Consolas"/>
                <a:cs typeface="Consolas"/>
                <a:sym typeface="Consolas"/>
              </a:rPr>
              <a:t>val numbers = listOf(1, 20, 18, 37, 2) </a:t>
            </a:r>
            <a:endParaRPr>
              <a:solidFill>
                <a:schemeClr val="dk1"/>
              </a:solidFill>
              <a:latin typeface="Consolas"/>
              <a:ea typeface="Consolas"/>
              <a:cs typeface="Consolas"/>
              <a:sym typeface="Consolas"/>
            </a:endParaRPr>
          </a:p>
          <a:p>
            <a:pPr marL="0" marR="0" lvl="0" indent="0" algn="l" rtl="0">
              <a:spcBef>
                <a:spcPts val="0"/>
              </a:spcBef>
              <a:spcAft>
                <a:spcPts val="0"/>
              </a:spcAft>
              <a:buNone/>
            </a:pPr>
            <a:r>
              <a:rPr lang="it">
                <a:solidFill>
                  <a:schemeClr val="dk1"/>
                </a:solidFill>
                <a:latin typeface="Consolas"/>
                <a:ea typeface="Consolas"/>
                <a:cs typeface="Consolas"/>
                <a:sym typeface="Consolas"/>
              </a:rPr>
              <a:t>val groupedNumbers = numbers.</a:t>
            </a:r>
            <a:r>
              <a:rPr lang="it" b="1">
                <a:solidFill>
                  <a:srgbClr val="0B5394"/>
                </a:solidFill>
                <a:latin typeface="Consolas"/>
                <a:ea typeface="Consolas"/>
                <a:cs typeface="Consolas"/>
                <a:sym typeface="Consolas"/>
              </a:rPr>
              <a:t>groupBy</a:t>
            </a:r>
            <a:r>
              <a:rPr lang="it">
                <a:solidFill>
                  <a:schemeClr val="dk1"/>
                </a:solidFill>
                <a:latin typeface="Consolas"/>
                <a:ea typeface="Consolas"/>
                <a:cs typeface="Consolas"/>
                <a:sym typeface="Consolas"/>
              </a:rPr>
              <a:t> { </a:t>
            </a:r>
            <a:endParaRPr>
              <a:solidFill>
                <a:schemeClr val="dk1"/>
              </a:solidFill>
              <a:latin typeface="Consolas"/>
              <a:ea typeface="Consolas"/>
              <a:cs typeface="Consolas"/>
              <a:sym typeface="Consolas"/>
            </a:endParaRPr>
          </a:p>
          <a:p>
            <a:pPr marL="0" marR="0" lvl="0" indent="457200" algn="l" rtl="0">
              <a:spcBef>
                <a:spcPts val="0"/>
              </a:spcBef>
              <a:spcAft>
                <a:spcPts val="0"/>
              </a:spcAft>
              <a:buNone/>
            </a:pPr>
            <a:r>
              <a:rPr lang="it">
                <a:solidFill>
                  <a:schemeClr val="dk1"/>
                </a:solidFill>
                <a:latin typeface="Consolas"/>
                <a:ea typeface="Consolas"/>
                <a:cs typeface="Consolas"/>
                <a:sym typeface="Consolas"/>
              </a:rPr>
              <a:t>when { </a:t>
            </a:r>
            <a:endParaRPr>
              <a:solidFill>
                <a:schemeClr val="dk1"/>
              </a:solidFill>
              <a:latin typeface="Consolas"/>
              <a:ea typeface="Consolas"/>
              <a:cs typeface="Consolas"/>
              <a:sym typeface="Consolas"/>
            </a:endParaRPr>
          </a:p>
          <a:p>
            <a:pPr marL="457200" marR="0" lvl="0" indent="457200" algn="l" rtl="0">
              <a:spcBef>
                <a:spcPts val="0"/>
              </a:spcBef>
              <a:spcAft>
                <a:spcPts val="0"/>
              </a:spcAft>
              <a:buNone/>
            </a:pPr>
            <a:r>
              <a:rPr lang="it">
                <a:solidFill>
                  <a:schemeClr val="dk1"/>
                </a:solidFill>
                <a:latin typeface="Consolas"/>
                <a:ea typeface="Consolas"/>
                <a:cs typeface="Consolas"/>
                <a:sym typeface="Consolas"/>
              </a:rPr>
              <a:t>it &lt; 20 -&gt; "less than 20" </a:t>
            </a:r>
            <a:endParaRPr>
              <a:solidFill>
                <a:schemeClr val="dk1"/>
              </a:solidFill>
              <a:latin typeface="Consolas"/>
              <a:ea typeface="Consolas"/>
              <a:cs typeface="Consolas"/>
              <a:sym typeface="Consolas"/>
            </a:endParaRPr>
          </a:p>
          <a:p>
            <a:pPr marL="457200" marR="0" lvl="0" indent="457200" algn="l" rtl="0">
              <a:spcBef>
                <a:spcPts val="0"/>
              </a:spcBef>
              <a:spcAft>
                <a:spcPts val="0"/>
              </a:spcAft>
              <a:buNone/>
            </a:pPr>
            <a:r>
              <a:rPr lang="it">
                <a:solidFill>
                  <a:schemeClr val="dk1"/>
                </a:solidFill>
                <a:latin typeface="Consolas"/>
                <a:ea typeface="Consolas"/>
                <a:cs typeface="Consolas"/>
                <a:sym typeface="Consolas"/>
              </a:rPr>
              <a:t>else -&gt; "greater than or equal to 20"</a:t>
            </a:r>
            <a:endParaRPr>
              <a:solidFill>
                <a:schemeClr val="dk1"/>
              </a:solidFill>
              <a:latin typeface="Consolas"/>
              <a:ea typeface="Consolas"/>
              <a:cs typeface="Consolas"/>
              <a:sym typeface="Consolas"/>
            </a:endParaRPr>
          </a:p>
          <a:p>
            <a:pPr marL="457200" marR="0" lvl="0" indent="0" algn="l" rtl="0">
              <a:spcBef>
                <a:spcPts val="0"/>
              </a:spcBef>
              <a:spcAft>
                <a:spcPts val="0"/>
              </a:spcAft>
              <a:buNone/>
            </a:pPr>
            <a:r>
              <a:rPr lang="it">
                <a:solidFill>
                  <a:schemeClr val="dk1"/>
                </a:solidFill>
                <a:latin typeface="Consolas"/>
                <a:ea typeface="Consolas"/>
                <a:cs typeface="Consolas"/>
                <a:sym typeface="Consolas"/>
              </a:rPr>
              <a:t>} </a:t>
            </a:r>
            <a:endParaRPr>
              <a:solidFill>
                <a:schemeClr val="dk1"/>
              </a:solidFill>
              <a:latin typeface="Consolas"/>
              <a:ea typeface="Consolas"/>
              <a:cs typeface="Consolas"/>
              <a:sym typeface="Consolas"/>
            </a:endParaRPr>
          </a:p>
          <a:p>
            <a:pPr marL="0" marR="0" lvl="0" indent="0" algn="l" rtl="0">
              <a:spcBef>
                <a:spcPts val="0"/>
              </a:spcBef>
              <a:spcAft>
                <a:spcPts val="0"/>
              </a:spcAft>
              <a:buNone/>
            </a:pPr>
            <a:r>
              <a:rPr lang="it">
                <a:solidFill>
                  <a:schemeClr val="dk1"/>
                </a:solidFill>
                <a:latin typeface="Consolas"/>
                <a:ea typeface="Consolas"/>
                <a:cs typeface="Consolas"/>
                <a:sym typeface="Consolas"/>
              </a:rPr>
              <a:t>}</a:t>
            </a:r>
            <a:endParaRPr>
              <a:solidFill>
                <a:schemeClr val="dk1"/>
              </a:solidFill>
              <a:latin typeface="Consolas"/>
              <a:ea typeface="Consolas"/>
              <a:cs typeface="Consolas"/>
              <a:sym typeface="Consolas"/>
            </a:endParaRPr>
          </a:p>
          <a:p>
            <a:pPr marL="0" marR="0" lvl="0" indent="0" algn="l" rtl="0">
              <a:spcBef>
                <a:spcPts val="0"/>
              </a:spcBef>
              <a:spcAft>
                <a:spcPts val="0"/>
              </a:spcAft>
              <a:buNone/>
            </a:pPr>
            <a:r>
              <a:rPr lang="it">
                <a:solidFill>
                  <a:srgbClr val="6D6D6D"/>
                </a:solidFill>
                <a:latin typeface="Consolas"/>
                <a:ea typeface="Consolas"/>
                <a:cs typeface="Consolas"/>
                <a:sym typeface="Consolas"/>
              </a:rPr>
              <a:t>// The variable groupedNumbers now contains a Map&gt;. The map has two keys, “less than 20” whose value is [1, 18, 2], and “greater than or equal to 20” whose value is [20, 37]</a:t>
            </a:r>
            <a:endParaRPr>
              <a:solidFill>
                <a:srgbClr val="6D6D6D"/>
              </a:solidFill>
              <a:latin typeface="Consolas"/>
              <a:ea typeface="Consolas"/>
              <a:cs typeface="Consolas"/>
              <a:sym typeface="Consolas"/>
            </a:endParaRPr>
          </a:p>
        </p:txBody>
      </p:sp>
      <p:sp>
        <p:nvSpPr>
          <p:cNvPr id="688" name="Google Shape;688;p78"/>
          <p:cNvSpPr txBox="1">
            <a:spLocks noGrp="1"/>
          </p:cNvSpPr>
          <p:nvPr>
            <p:ph type="sldNum" idx="12"/>
          </p:nvPr>
        </p:nvSpPr>
        <p:spPr>
          <a:xfrm>
            <a:off x="8472458" y="476850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it"/>
              <a:t>72</a:t>
            </a:fld>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692"/>
        <p:cNvGrpSpPr/>
        <p:nvPr/>
      </p:nvGrpSpPr>
      <p:grpSpPr>
        <a:xfrm>
          <a:off x="0" y="0"/>
          <a:ext cx="0" cy="0"/>
          <a:chOff x="0" y="0"/>
          <a:chExt cx="0" cy="0"/>
        </a:xfrm>
      </p:grpSpPr>
      <p:sp>
        <p:nvSpPr>
          <p:cNvPr id="693" name="Google Shape;693;p79"/>
          <p:cNvSpPr/>
          <p:nvPr/>
        </p:nvSpPr>
        <p:spPr>
          <a:xfrm>
            <a:off x="956425" y="4100150"/>
            <a:ext cx="7200600" cy="543600"/>
          </a:xfrm>
          <a:prstGeom prst="roundRect">
            <a:avLst>
              <a:gd name="adj" fmla="val 16667"/>
            </a:avLst>
          </a:prstGeom>
          <a:solidFill>
            <a:srgbClr val="F7F7F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7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it" sz="2820"/>
              <a:t>Grouping methods</a:t>
            </a:r>
            <a:endParaRPr sz="2820"/>
          </a:p>
        </p:txBody>
      </p:sp>
      <p:sp>
        <p:nvSpPr>
          <p:cNvPr id="695" name="Google Shape;695;p79"/>
          <p:cNvSpPr txBox="1">
            <a:spLocks noGrp="1"/>
          </p:cNvSpPr>
          <p:nvPr>
            <p:ph type="body" idx="1"/>
          </p:nvPr>
        </p:nvSpPr>
        <p:spPr>
          <a:xfrm>
            <a:off x="311150" y="1244204"/>
            <a:ext cx="8521800" cy="3393300"/>
          </a:xfrm>
          <a:prstGeom prst="rect">
            <a:avLst/>
          </a:prstGeom>
        </p:spPr>
        <p:txBody>
          <a:bodyPr spcFirstLastPara="1" wrap="square" lIns="91425" tIns="45700" rIns="91425" bIns="45700" anchor="t" anchorCtr="0">
            <a:normAutofit/>
          </a:bodyPr>
          <a:lstStyle/>
          <a:p>
            <a:pPr marL="457200" lvl="0" indent="-355600" algn="l" rtl="0">
              <a:spcBef>
                <a:spcPts val="600"/>
              </a:spcBef>
              <a:spcAft>
                <a:spcPts val="0"/>
              </a:spcAft>
              <a:buSzPts val="2000"/>
              <a:buFont typeface="Consolas"/>
              <a:buChar char="•"/>
            </a:pPr>
            <a:r>
              <a:rPr lang="it" b="1">
                <a:solidFill>
                  <a:srgbClr val="0B5394"/>
                </a:solidFill>
                <a:latin typeface="Consolas"/>
                <a:ea typeface="Consolas"/>
                <a:cs typeface="Consolas"/>
                <a:sym typeface="Consolas"/>
              </a:rPr>
              <a:t>partition(predicate: (T) -&gt; Boolean): </a:t>
            </a:r>
            <a:br>
              <a:rPr lang="it" b="1">
                <a:solidFill>
                  <a:srgbClr val="0B5394"/>
                </a:solidFill>
                <a:latin typeface="Consolas"/>
                <a:ea typeface="Consolas"/>
                <a:cs typeface="Consolas"/>
                <a:sym typeface="Consolas"/>
              </a:rPr>
            </a:br>
            <a:r>
              <a:rPr lang="it" b="1">
                <a:solidFill>
                  <a:srgbClr val="0B5394"/>
                </a:solidFill>
                <a:latin typeface="Consolas"/>
                <a:ea typeface="Consolas"/>
                <a:cs typeface="Consolas"/>
                <a:sym typeface="Consolas"/>
              </a:rPr>
              <a:t>                                 Pair&lt;List&lt;T&gt;, List&lt;T&gt;&gt;</a:t>
            </a:r>
            <a:r>
              <a:rPr lang="it" b="1">
                <a:latin typeface="Consolas"/>
                <a:ea typeface="Consolas"/>
                <a:cs typeface="Consolas"/>
                <a:sym typeface="Consolas"/>
              </a:rPr>
              <a:t> </a:t>
            </a:r>
            <a:endParaRPr b="1">
              <a:latin typeface="Consolas"/>
              <a:ea typeface="Consolas"/>
              <a:cs typeface="Consolas"/>
              <a:sym typeface="Consolas"/>
            </a:endParaRPr>
          </a:p>
          <a:p>
            <a:pPr marL="914400" lvl="1" indent="-330200" algn="l" rtl="0">
              <a:spcBef>
                <a:spcPts val="0"/>
              </a:spcBef>
              <a:spcAft>
                <a:spcPts val="0"/>
              </a:spcAft>
              <a:buSzPts val="1600"/>
              <a:buChar char="○"/>
            </a:pPr>
            <a:r>
              <a:rPr lang="it"/>
              <a:t>Splits the collection into a pair of lists: the first element contains all elements that satisfy the predicate, the second one contains all the others</a:t>
            </a:r>
            <a:endParaRPr/>
          </a:p>
          <a:p>
            <a:pPr marL="457200" lvl="0" indent="-355600" algn="l" rtl="0">
              <a:spcBef>
                <a:spcPts val="0"/>
              </a:spcBef>
              <a:spcAft>
                <a:spcPts val="0"/>
              </a:spcAft>
              <a:buSzPts val="2000"/>
              <a:buChar char="•"/>
            </a:pPr>
            <a:r>
              <a:rPr lang="it" b="1">
                <a:solidFill>
                  <a:srgbClr val="0B5394"/>
                </a:solidFill>
                <a:latin typeface="Consolas"/>
                <a:ea typeface="Consolas"/>
                <a:cs typeface="Consolas"/>
                <a:sym typeface="Consolas"/>
              </a:rPr>
              <a:t>fold(initial: R, operation: (R,T) -&gt; R): R</a:t>
            </a:r>
            <a:r>
              <a:rPr lang="it"/>
              <a:t> </a:t>
            </a:r>
            <a:endParaRPr/>
          </a:p>
          <a:p>
            <a:pPr marL="914400" marR="0" lvl="1" indent="-330200" algn="l" rtl="0">
              <a:lnSpc>
                <a:spcPct val="110000"/>
              </a:lnSpc>
              <a:spcBef>
                <a:spcPts val="0"/>
              </a:spcBef>
              <a:spcAft>
                <a:spcPts val="0"/>
              </a:spcAft>
              <a:buSzPts val="1600"/>
              <a:buChar char="○"/>
            </a:pPr>
            <a:r>
              <a:rPr lang="it"/>
              <a:t>Accumulates a value starting with </a:t>
            </a:r>
            <a:r>
              <a:rPr lang="it" b="1">
                <a:solidFill>
                  <a:srgbClr val="0B5394"/>
                </a:solidFill>
                <a:latin typeface="Consolas"/>
                <a:ea typeface="Consolas"/>
                <a:cs typeface="Consolas"/>
                <a:sym typeface="Consolas"/>
              </a:rPr>
              <a:t>initial</a:t>
            </a:r>
            <a:r>
              <a:rPr lang="it"/>
              <a:t> and applying </a:t>
            </a:r>
            <a:r>
              <a:rPr lang="it" b="1">
                <a:solidFill>
                  <a:srgbClr val="0B5394"/>
                </a:solidFill>
                <a:latin typeface="Consolas"/>
                <a:ea typeface="Consolas"/>
                <a:cs typeface="Consolas"/>
                <a:sym typeface="Consolas"/>
              </a:rPr>
              <a:t>operation</a:t>
            </a:r>
            <a:r>
              <a:rPr lang="it"/>
              <a:t> from left to right</a:t>
            </a:r>
            <a:endParaRPr/>
          </a:p>
        </p:txBody>
      </p:sp>
      <p:sp>
        <p:nvSpPr>
          <p:cNvPr id="696" name="Google Shape;696;p79"/>
          <p:cNvSpPr/>
          <p:nvPr/>
        </p:nvSpPr>
        <p:spPr>
          <a:xfrm>
            <a:off x="1063738" y="4149500"/>
            <a:ext cx="455700" cy="455700"/>
          </a:xfrm>
          <a:prstGeom prst="rect">
            <a:avLst/>
          </a:prstGeom>
          <a:solidFill>
            <a:srgbClr val="FCE5C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it"/>
              <a:t>t</a:t>
            </a:r>
            <a:r>
              <a:rPr lang="it" baseline="-25000"/>
              <a:t>1</a:t>
            </a:r>
            <a:endParaRPr baseline="-25000"/>
          </a:p>
        </p:txBody>
      </p:sp>
      <p:sp>
        <p:nvSpPr>
          <p:cNvPr id="697" name="Google Shape;697;p79"/>
          <p:cNvSpPr/>
          <p:nvPr/>
        </p:nvSpPr>
        <p:spPr>
          <a:xfrm>
            <a:off x="2368298" y="4149500"/>
            <a:ext cx="455700" cy="455700"/>
          </a:xfrm>
          <a:prstGeom prst="rect">
            <a:avLst/>
          </a:prstGeom>
          <a:solidFill>
            <a:srgbClr val="FCE5C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it"/>
              <a:t>t</a:t>
            </a:r>
            <a:r>
              <a:rPr lang="it" baseline="-25000"/>
              <a:t>2</a:t>
            </a:r>
            <a:endParaRPr baseline="-25000"/>
          </a:p>
        </p:txBody>
      </p:sp>
      <p:sp>
        <p:nvSpPr>
          <p:cNvPr id="698" name="Google Shape;698;p79"/>
          <p:cNvSpPr/>
          <p:nvPr/>
        </p:nvSpPr>
        <p:spPr>
          <a:xfrm>
            <a:off x="3672857" y="4149500"/>
            <a:ext cx="455700" cy="455700"/>
          </a:xfrm>
          <a:prstGeom prst="rect">
            <a:avLst/>
          </a:prstGeom>
          <a:solidFill>
            <a:srgbClr val="FCE5C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it"/>
              <a:t>t</a:t>
            </a:r>
            <a:r>
              <a:rPr lang="it" baseline="-25000"/>
              <a:t>3</a:t>
            </a:r>
            <a:endParaRPr baseline="-25000"/>
          </a:p>
        </p:txBody>
      </p:sp>
      <p:sp>
        <p:nvSpPr>
          <p:cNvPr id="699" name="Google Shape;699;p79"/>
          <p:cNvSpPr/>
          <p:nvPr/>
        </p:nvSpPr>
        <p:spPr>
          <a:xfrm>
            <a:off x="4977418" y="4149500"/>
            <a:ext cx="455700" cy="455700"/>
          </a:xfrm>
          <a:prstGeom prst="rect">
            <a:avLst/>
          </a:prstGeom>
          <a:solidFill>
            <a:srgbClr val="FCE5C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it"/>
              <a:t>t</a:t>
            </a:r>
            <a:r>
              <a:rPr lang="it" baseline="-25000"/>
              <a:t>4</a:t>
            </a:r>
            <a:endParaRPr baseline="-25000"/>
          </a:p>
        </p:txBody>
      </p:sp>
      <p:sp>
        <p:nvSpPr>
          <p:cNvPr id="700" name="Google Shape;700;p79"/>
          <p:cNvSpPr/>
          <p:nvPr/>
        </p:nvSpPr>
        <p:spPr>
          <a:xfrm>
            <a:off x="6281978" y="4149500"/>
            <a:ext cx="455700" cy="455700"/>
          </a:xfrm>
          <a:prstGeom prst="rect">
            <a:avLst/>
          </a:prstGeom>
          <a:solidFill>
            <a:srgbClr val="FCE5C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it"/>
              <a:t>…</a:t>
            </a:r>
            <a:endParaRPr baseline="-25000"/>
          </a:p>
        </p:txBody>
      </p:sp>
      <p:sp>
        <p:nvSpPr>
          <p:cNvPr id="701" name="Google Shape;701;p79"/>
          <p:cNvSpPr/>
          <p:nvPr/>
        </p:nvSpPr>
        <p:spPr>
          <a:xfrm>
            <a:off x="7586538" y="4149500"/>
            <a:ext cx="455700" cy="455700"/>
          </a:xfrm>
          <a:prstGeom prst="rect">
            <a:avLst/>
          </a:prstGeom>
          <a:solidFill>
            <a:srgbClr val="FCE5C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it"/>
              <a:t>t</a:t>
            </a:r>
            <a:r>
              <a:rPr lang="it" baseline="-25000"/>
              <a:t>n</a:t>
            </a:r>
            <a:endParaRPr baseline="-25000"/>
          </a:p>
        </p:txBody>
      </p:sp>
      <p:sp>
        <p:nvSpPr>
          <p:cNvPr id="702" name="Google Shape;702;p79"/>
          <p:cNvSpPr/>
          <p:nvPr/>
        </p:nvSpPr>
        <p:spPr>
          <a:xfrm>
            <a:off x="419575" y="3363100"/>
            <a:ext cx="455700" cy="455700"/>
          </a:xfrm>
          <a:prstGeom prst="rect">
            <a:avLst/>
          </a:prstGeom>
          <a:solidFill>
            <a:srgbClr val="FFF2CC"/>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it"/>
              <a:t>r</a:t>
            </a:r>
            <a:r>
              <a:rPr lang="it" baseline="-25000"/>
              <a:t>0</a:t>
            </a:r>
            <a:endParaRPr baseline="-25000"/>
          </a:p>
        </p:txBody>
      </p:sp>
      <p:sp>
        <p:nvSpPr>
          <p:cNvPr id="703" name="Google Shape;703;p79"/>
          <p:cNvSpPr/>
          <p:nvPr/>
        </p:nvSpPr>
        <p:spPr>
          <a:xfrm>
            <a:off x="1722663" y="3363100"/>
            <a:ext cx="455700" cy="455700"/>
          </a:xfrm>
          <a:prstGeom prst="rect">
            <a:avLst/>
          </a:prstGeom>
          <a:solidFill>
            <a:srgbClr val="FFF2CC"/>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it"/>
              <a:t>r</a:t>
            </a:r>
            <a:r>
              <a:rPr lang="it" baseline="-25000"/>
              <a:t>1</a:t>
            </a:r>
            <a:endParaRPr baseline="-25000"/>
          </a:p>
        </p:txBody>
      </p:sp>
      <p:sp>
        <p:nvSpPr>
          <p:cNvPr id="704" name="Google Shape;704;p79"/>
          <p:cNvSpPr/>
          <p:nvPr/>
        </p:nvSpPr>
        <p:spPr>
          <a:xfrm>
            <a:off x="3025750" y="3363100"/>
            <a:ext cx="455700" cy="455700"/>
          </a:xfrm>
          <a:prstGeom prst="rect">
            <a:avLst/>
          </a:prstGeom>
          <a:solidFill>
            <a:srgbClr val="FFF2CC"/>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it"/>
              <a:t>r</a:t>
            </a:r>
            <a:r>
              <a:rPr lang="it" baseline="-25000"/>
              <a:t>2</a:t>
            </a:r>
            <a:endParaRPr baseline="-25000"/>
          </a:p>
        </p:txBody>
      </p:sp>
      <p:sp>
        <p:nvSpPr>
          <p:cNvPr id="705" name="Google Shape;705;p79"/>
          <p:cNvSpPr/>
          <p:nvPr/>
        </p:nvSpPr>
        <p:spPr>
          <a:xfrm>
            <a:off x="4328838" y="3363100"/>
            <a:ext cx="455700" cy="455700"/>
          </a:xfrm>
          <a:prstGeom prst="rect">
            <a:avLst/>
          </a:prstGeom>
          <a:solidFill>
            <a:srgbClr val="FFF2CC"/>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it"/>
              <a:t>r</a:t>
            </a:r>
            <a:r>
              <a:rPr lang="it" baseline="-25000"/>
              <a:t>3</a:t>
            </a:r>
            <a:endParaRPr baseline="-25000"/>
          </a:p>
        </p:txBody>
      </p:sp>
      <p:sp>
        <p:nvSpPr>
          <p:cNvPr id="706" name="Google Shape;706;p79"/>
          <p:cNvSpPr/>
          <p:nvPr/>
        </p:nvSpPr>
        <p:spPr>
          <a:xfrm>
            <a:off x="5631925" y="3363100"/>
            <a:ext cx="455700" cy="455700"/>
          </a:xfrm>
          <a:prstGeom prst="rect">
            <a:avLst/>
          </a:prstGeom>
          <a:solidFill>
            <a:srgbClr val="FFF2CC"/>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it"/>
              <a:t>r</a:t>
            </a:r>
            <a:r>
              <a:rPr lang="it" baseline="-25000"/>
              <a:t>4</a:t>
            </a:r>
            <a:endParaRPr baseline="-25000"/>
          </a:p>
        </p:txBody>
      </p:sp>
      <p:sp>
        <p:nvSpPr>
          <p:cNvPr id="707" name="Google Shape;707;p79"/>
          <p:cNvSpPr/>
          <p:nvPr/>
        </p:nvSpPr>
        <p:spPr>
          <a:xfrm>
            <a:off x="6935013" y="3363100"/>
            <a:ext cx="455700" cy="455700"/>
          </a:xfrm>
          <a:prstGeom prst="rect">
            <a:avLst/>
          </a:prstGeom>
          <a:solidFill>
            <a:srgbClr val="FFF2CC"/>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it"/>
              <a:t>r</a:t>
            </a:r>
            <a:r>
              <a:rPr lang="it" baseline="-25000"/>
              <a:t>n-1</a:t>
            </a:r>
            <a:endParaRPr baseline="-25000"/>
          </a:p>
        </p:txBody>
      </p:sp>
      <p:sp>
        <p:nvSpPr>
          <p:cNvPr id="708" name="Google Shape;708;p79"/>
          <p:cNvSpPr/>
          <p:nvPr/>
        </p:nvSpPr>
        <p:spPr>
          <a:xfrm>
            <a:off x="8238100" y="3363100"/>
            <a:ext cx="455700" cy="455700"/>
          </a:xfrm>
          <a:prstGeom prst="rect">
            <a:avLst/>
          </a:prstGeom>
          <a:solidFill>
            <a:srgbClr val="FFF2CC"/>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it"/>
              <a:t>r</a:t>
            </a:r>
            <a:r>
              <a:rPr lang="it" baseline="-25000"/>
              <a:t>n</a:t>
            </a:r>
            <a:endParaRPr baseline="-25000"/>
          </a:p>
        </p:txBody>
      </p:sp>
      <p:cxnSp>
        <p:nvCxnSpPr>
          <p:cNvPr id="709" name="Google Shape;709;p79"/>
          <p:cNvCxnSpPr>
            <a:stCxn id="702" idx="3"/>
            <a:endCxn id="710" idx="2"/>
          </p:cNvCxnSpPr>
          <p:nvPr/>
        </p:nvCxnSpPr>
        <p:spPr>
          <a:xfrm>
            <a:off x="875275" y="3590950"/>
            <a:ext cx="222900" cy="1800"/>
          </a:xfrm>
          <a:prstGeom prst="straightConnector1">
            <a:avLst/>
          </a:prstGeom>
          <a:noFill/>
          <a:ln w="9525" cap="flat" cmpd="sng">
            <a:solidFill>
              <a:schemeClr val="dk2"/>
            </a:solidFill>
            <a:prstDash val="solid"/>
            <a:round/>
            <a:headEnd type="none" w="med" len="med"/>
            <a:tailEnd type="triangle" w="med" len="med"/>
          </a:ln>
        </p:spPr>
      </p:cxnSp>
      <p:cxnSp>
        <p:nvCxnSpPr>
          <p:cNvPr id="711" name="Google Shape;711;p79"/>
          <p:cNvCxnSpPr>
            <a:stCxn id="696" idx="0"/>
            <a:endCxn id="710" idx="4"/>
          </p:cNvCxnSpPr>
          <p:nvPr/>
        </p:nvCxnSpPr>
        <p:spPr>
          <a:xfrm rot="-5400000">
            <a:off x="1110238" y="3967550"/>
            <a:ext cx="363300" cy="600"/>
          </a:xfrm>
          <a:prstGeom prst="curvedConnector3">
            <a:avLst>
              <a:gd name="adj1" fmla="val 50010"/>
            </a:avLst>
          </a:prstGeom>
          <a:noFill/>
          <a:ln w="9525" cap="flat" cmpd="sng">
            <a:solidFill>
              <a:schemeClr val="dk2"/>
            </a:solidFill>
            <a:prstDash val="solid"/>
            <a:round/>
            <a:headEnd type="none" w="med" len="med"/>
            <a:tailEnd type="triangle" w="med" len="med"/>
          </a:ln>
        </p:spPr>
      </p:cxnSp>
      <p:cxnSp>
        <p:nvCxnSpPr>
          <p:cNvPr id="712" name="Google Shape;712;p79"/>
          <p:cNvCxnSpPr>
            <a:stCxn id="703" idx="3"/>
            <a:endCxn id="713" idx="2"/>
          </p:cNvCxnSpPr>
          <p:nvPr/>
        </p:nvCxnSpPr>
        <p:spPr>
          <a:xfrm>
            <a:off x="2178363" y="3590950"/>
            <a:ext cx="230400" cy="0"/>
          </a:xfrm>
          <a:prstGeom prst="straightConnector1">
            <a:avLst/>
          </a:prstGeom>
          <a:noFill/>
          <a:ln w="9525" cap="flat" cmpd="sng">
            <a:solidFill>
              <a:schemeClr val="dk2"/>
            </a:solidFill>
            <a:prstDash val="solid"/>
            <a:round/>
            <a:headEnd type="none" w="med" len="med"/>
            <a:tailEnd type="triangle" w="med" len="med"/>
          </a:ln>
        </p:spPr>
      </p:cxnSp>
      <p:cxnSp>
        <p:nvCxnSpPr>
          <p:cNvPr id="714" name="Google Shape;714;p79"/>
          <p:cNvCxnSpPr>
            <a:stCxn id="697" idx="0"/>
            <a:endCxn id="713" idx="4"/>
          </p:cNvCxnSpPr>
          <p:nvPr/>
        </p:nvCxnSpPr>
        <p:spPr>
          <a:xfrm rot="-5400000">
            <a:off x="2416598" y="3963950"/>
            <a:ext cx="365100" cy="6000"/>
          </a:xfrm>
          <a:prstGeom prst="curvedConnector3">
            <a:avLst>
              <a:gd name="adj1" fmla="val 50014"/>
            </a:avLst>
          </a:prstGeom>
          <a:noFill/>
          <a:ln w="9525" cap="flat" cmpd="sng">
            <a:solidFill>
              <a:schemeClr val="dk2"/>
            </a:solidFill>
            <a:prstDash val="solid"/>
            <a:round/>
            <a:headEnd type="none" w="med" len="med"/>
            <a:tailEnd type="triangle" w="med" len="med"/>
          </a:ln>
        </p:spPr>
      </p:cxnSp>
      <p:cxnSp>
        <p:nvCxnSpPr>
          <p:cNvPr id="715" name="Google Shape;715;p79"/>
          <p:cNvCxnSpPr>
            <a:stCxn id="698" idx="0"/>
            <a:endCxn id="716" idx="4"/>
          </p:cNvCxnSpPr>
          <p:nvPr/>
        </p:nvCxnSpPr>
        <p:spPr>
          <a:xfrm rot="-5400000">
            <a:off x="3721307" y="3965600"/>
            <a:ext cx="363300" cy="4500"/>
          </a:xfrm>
          <a:prstGeom prst="curvedConnector3">
            <a:avLst>
              <a:gd name="adj1" fmla="val 50010"/>
            </a:avLst>
          </a:prstGeom>
          <a:noFill/>
          <a:ln w="9525" cap="flat" cmpd="sng">
            <a:solidFill>
              <a:schemeClr val="dk2"/>
            </a:solidFill>
            <a:prstDash val="solid"/>
            <a:round/>
            <a:headEnd type="none" w="med" len="med"/>
            <a:tailEnd type="triangle" w="med" len="med"/>
          </a:ln>
        </p:spPr>
      </p:cxnSp>
      <p:cxnSp>
        <p:nvCxnSpPr>
          <p:cNvPr id="717" name="Google Shape;717;p79"/>
          <p:cNvCxnSpPr>
            <a:stCxn id="699" idx="0"/>
            <a:endCxn id="718" idx="4"/>
          </p:cNvCxnSpPr>
          <p:nvPr/>
        </p:nvCxnSpPr>
        <p:spPr>
          <a:xfrm rot="-5400000">
            <a:off x="5024218" y="3965450"/>
            <a:ext cx="365100" cy="3000"/>
          </a:xfrm>
          <a:prstGeom prst="curvedConnector3">
            <a:avLst>
              <a:gd name="adj1" fmla="val 50014"/>
            </a:avLst>
          </a:prstGeom>
          <a:noFill/>
          <a:ln w="9525" cap="flat" cmpd="sng">
            <a:solidFill>
              <a:schemeClr val="dk2"/>
            </a:solidFill>
            <a:prstDash val="solid"/>
            <a:round/>
            <a:headEnd type="none" w="med" len="med"/>
            <a:tailEnd type="triangle" w="med" len="med"/>
          </a:ln>
        </p:spPr>
      </p:cxnSp>
      <p:cxnSp>
        <p:nvCxnSpPr>
          <p:cNvPr id="719" name="Google Shape;719;p79"/>
          <p:cNvCxnSpPr>
            <a:stCxn id="700" idx="0"/>
            <a:endCxn id="720" idx="4"/>
          </p:cNvCxnSpPr>
          <p:nvPr/>
        </p:nvCxnSpPr>
        <p:spPr>
          <a:xfrm rot="-5400000">
            <a:off x="6328028" y="3966200"/>
            <a:ext cx="365100" cy="1500"/>
          </a:xfrm>
          <a:prstGeom prst="curvedConnector3">
            <a:avLst>
              <a:gd name="adj1" fmla="val 50014"/>
            </a:avLst>
          </a:prstGeom>
          <a:noFill/>
          <a:ln w="9525" cap="flat" cmpd="sng">
            <a:solidFill>
              <a:schemeClr val="dk2"/>
            </a:solidFill>
            <a:prstDash val="dash"/>
            <a:round/>
            <a:headEnd type="none" w="med" len="med"/>
            <a:tailEnd type="triangle" w="med" len="med"/>
          </a:ln>
        </p:spPr>
      </p:cxnSp>
      <p:cxnSp>
        <p:nvCxnSpPr>
          <p:cNvPr id="721" name="Google Shape;721;p79"/>
          <p:cNvCxnSpPr>
            <a:stCxn id="701" idx="0"/>
            <a:endCxn id="722" idx="4"/>
          </p:cNvCxnSpPr>
          <p:nvPr/>
        </p:nvCxnSpPr>
        <p:spPr>
          <a:xfrm rot="-5400000">
            <a:off x="7632138" y="3966650"/>
            <a:ext cx="365100" cy="600"/>
          </a:xfrm>
          <a:prstGeom prst="curvedConnector3">
            <a:avLst>
              <a:gd name="adj1" fmla="val 50014"/>
            </a:avLst>
          </a:prstGeom>
          <a:noFill/>
          <a:ln w="9525" cap="flat" cmpd="sng">
            <a:solidFill>
              <a:schemeClr val="dk2"/>
            </a:solidFill>
            <a:prstDash val="solid"/>
            <a:round/>
            <a:headEnd type="none" w="med" len="med"/>
            <a:tailEnd type="triangle" w="med" len="med"/>
          </a:ln>
        </p:spPr>
      </p:cxnSp>
      <p:cxnSp>
        <p:nvCxnSpPr>
          <p:cNvPr id="723" name="Google Shape;723;p79"/>
          <p:cNvCxnSpPr>
            <a:stCxn id="704" idx="3"/>
            <a:endCxn id="716" idx="2"/>
          </p:cNvCxnSpPr>
          <p:nvPr/>
        </p:nvCxnSpPr>
        <p:spPr>
          <a:xfrm>
            <a:off x="3481450" y="3590950"/>
            <a:ext cx="230400" cy="1800"/>
          </a:xfrm>
          <a:prstGeom prst="straightConnector1">
            <a:avLst/>
          </a:prstGeom>
          <a:noFill/>
          <a:ln w="9525" cap="flat" cmpd="sng">
            <a:solidFill>
              <a:schemeClr val="dk2"/>
            </a:solidFill>
            <a:prstDash val="solid"/>
            <a:round/>
            <a:headEnd type="none" w="med" len="med"/>
            <a:tailEnd type="triangle" w="med" len="med"/>
          </a:ln>
        </p:spPr>
      </p:cxnSp>
      <p:cxnSp>
        <p:nvCxnSpPr>
          <p:cNvPr id="724" name="Google Shape;724;p79"/>
          <p:cNvCxnSpPr>
            <a:stCxn id="705" idx="3"/>
            <a:endCxn id="718" idx="2"/>
          </p:cNvCxnSpPr>
          <p:nvPr/>
        </p:nvCxnSpPr>
        <p:spPr>
          <a:xfrm>
            <a:off x="4784538" y="3590950"/>
            <a:ext cx="230400" cy="0"/>
          </a:xfrm>
          <a:prstGeom prst="straightConnector1">
            <a:avLst/>
          </a:prstGeom>
          <a:noFill/>
          <a:ln w="9525" cap="flat" cmpd="sng">
            <a:solidFill>
              <a:schemeClr val="dk2"/>
            </a:solidFill>
            <a:prstDash val="solid"/>
            <a:round/>
            <a:headEnd type="none" w="med" len="med"/>
            <a:tailEnd type="triangle" w="med" len="med"/>
          </a:ln>
        </p:spPr>
      </p:cxnSp>
      <p:cxnSp>
        <p:nvCxnSpPr>
          <p:cNvPr id="725" name="Google Shape;725;p79"/>
          <p:cNvCxnSpPr>
            <a:stCxn id="706" idx="3"/>
            <a:endCxn id="720" idx="2"/>
          </p:cNvCxnSpPr>
          <p:nvPr/>
        </p:nvCxnSpPr>
        <p:spPr>
          <a:xfrm>
            <a:off x="6087625" y="3590950"/>
            <a:ext cx="230400" cy="0"/>
          </a:xfrm>
          <a:prstGeom prst="straightConnector1">
            <a:avLst/>
          </a:prstGeom>
          <a:noFill/>
          <a:ln w="9525" cap="flat" cmpd="sng">
            <a:solidFill>
              <a:schemeClr val="dk2"/>
            </a:solidFill>
            <a:prstDash val="dash"/>
            <a:round/>
            <a:headEnd type="none" w="med" len="med"/>
            <a:tailEnd type="triangle" w="med" len="med"/>
          </a:ln>
        </p:spPr>
      </p:cxnSp>
      <p:cxnSp>
        <p:nvCxnSpPr>
          <p:cNvPr id="726" name="Google Shape;726;p79"/>
          <p:cNvCxnSpPr>
            <a:stCxn id="707" idx="3"/>
            <a:endCxn id="722" idx="2"/>
          </p:cNvCxnSpPr>
          <p:nvPr/>
        </p:nvCxnSpPr>
        <p:spPr>
          <a:xfrm>
            <a:off x="7390713" y="3590950"/>
            <a:ext cx="230400" cy="0"/>
          </a:xfrm>
          <a:prstGeom prst="straightConnector1">
            <a:avLst/>
          </a:prstGeom>
          <a:noFill/>
          <a:ln w="9525" cap="flat" cmpd="sng">
            <a:solidFill>
              <a:schemeClr val="dk2"/>
            </a:solidFill>
            <a:prstDash val="solid"/>
            <a:round/>
            <a:headEnd type="none" w="med" len="med"/>
            <a:tailEnd type="triangle" w="med" len="med"/>
          </a:ln>
        </p:spPr>
      </p:cxnSp>
      <p:sp>
        <p:nvSpPr>
          <p:cNvPr id="710" name="Google Shape;710;p79"/>
          <p:cNvSpPr/>
          <p:nvPr/>
        </p:nvSpPr>
        <p:spPr>
          <a:xfrm>
            <a:off x="1098241" y="3399425"/>
            <a:ext cx="386700" cy="386700"/>
          </a:xfrm>
          <a:prstGeom prst="ellipse">
            <a:avLst/>
          </a:prstGeom>
          <a:solidFill>
            <a:srgbClr val="D9EAD3"/>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it"/>
              <a:t>op</a:t>
            </a:r>
            <a:endParaRPr/>
          </a:p>
        </p:txBody>
      </p:sp>
      <p:cxnSp>
        <p:nvCxnSpPr>
          <p:cNvPr id="727" name="Google Shape;727;p79"/>
          <p:cNvCxnSpPr>
            <a:stCxn id="710" idx="6"/>
            <a:endCxn id="703" idx="1"/>
          </p:cNvCxnSpPr>
          <p:nvPr/>
        </p:nvCxnSpPr>
        <p:spPr>
          <a:xfrm rot="10800000" flipH="1">
            <a:off x="1484941" y="3590975"/>
            <a:ext cx="237600" cy="1800"/>
          </a:xfrm>
          <a:prstGeom prst="straightConnector1">
            <a:avLst/>
          </a:prstGeom>
          <a:noFill/>
          <a:ln w="9525" cap="flat" cmpd="sng">
            <a:solidFill>
              <a:schemeClr val="dk2"/>
            </a:solidFill>
            <a:prstDash val="solid"/>
            <a:round/>
            <a:headEnd type="none" w="med" len="med"/>
            <a:tailEnd type="triangle" w="med" len="med"/>
          </a:ln>
        </p:spPr>
      </p:cxnSp>
      <p:sp>
        <p:nvSpPr>
          <p:cNvPr id="713" name="Google Shape;713;p79"/>
          <p:cNvSpPr/>
          <p:nvPr/>
        </p:nvSpPr>
        <p:spPr>
          <a:xfrm>
            <a:off x="2408706" y="3397600"/>
            <a:ext cx="386700" cy="386700"/>
          </a:xfrm>
          <a:prstGeom prst="ellipse">
            <a:avLst/>
          </a:prstGeom>
          <a:solidFill>
            <a:srgbClr val="D9EAD3"/>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it"/>
              <a:t>op</a:t>
            </a:r>
            <a:endParaRPr/>
          </a:p>
        </p:txBody>
      </p:sp>
      <p:cxnSp>
        <p:nvCxnSpPr>
          <p:cNvPr id="728" name="Google Shape;728;p79"/>
          <p:cNvCxnSpPr>
            <a:stCxn id="713" idx="6"/>
            <a:endCxn id="704" idx="1"/>
          </p:cNvCxnSpPr>
          <p:nvPr/>
        </p:nvCxnSpPr>
        <p:spPr>
          <a:xfrm>
            <a:off x="2795406" y="3590950"/>
            <a:ext cx="230400" cy="0"/>
          </a:xfrm>
          <a:prstGeom prst="straightConnector1">
            <a:avLst/>
          </a:prstGeom>
          <a:noFill/>
          <a:ln w="9525" cap="flat" cmpd="sng">
            <a:solidFill>
              <a:schemeClr val="dk2"/>
            </a:solidFill>
            <a:prstDash val="solid"/>
            <a:round/>
            <a:headEnd type="none" w="med" len="med"/>
            <a:tailEnd type="triangle" w="med" len="med"/>
          </a:ln>
        </p:spPr>
      </p:cxnSp>
      <p:sp>
        <p:nvSpPr>
          <p:cNvPr id="716" name="Google Shape;716;p79"/>
          <p:cNvSpPr/>
          <p:nvPr/>
        </p:nvSpPr>
        <p:spPr>
          <a:xfrm>
            <a:off x="3711806" y="3399425"/>
            <a:ext cx="386700" cy="386700"/>
          </a:xfrm>
          <a:prstGeom prst="ellipse">
            <a:avLst/>
          </a:prstGeom>
          <a:solidFill>
            <a:srgbClr val="D9EAD3"/>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it"/>
              <a:t>op</a:t>
            </a:r>
            <a:endParaRPr/>
          </a:p>
        </p:txBody>
      </p:sp>
      <p:cxnSp>
        <p:nvCxnSpPr>
          <p:cNvPr id="729" name="Google Shape;729;p79"/>
          <p:cNvCxnSpPr>
            <a:stCxn id="716" idx="6"/>
            <a:endCxn id="705" idx="1"/>
          </p:cNvCxnSpPr>
          <p:nvPr/>
        </p:nvCxnSpPr>
        <p:spPr>
          <a:xfrm rot="10800000" flipH="1">
            <a:off x="4098506" y="3590975"/>
            <a:ext cx="230400" cy="1800"/>
          </a:xfrm>
          <a:prstGeom prst="straightConnector1">
            <a:avLst/>
          </a:prstGeom>
          <a:noFill/>
          <a:ln w="9525" cap="flat" cmpd="sng">
            <a:solidFill>
              <a:schemeClr val="dk2"/>
            </a:solidFill>
            <a:prstDash val="solid"/>
            <a:round/>
            <a:headEnd type="none" w="med" len="med"/>
            <a:tailEnd type="triangle" w="med" len="med"/>
          </a:ln>
        </p:spPr>
      </p:cxnSp>
      <p:sp>
        <p:nvSpPr>
          <p:cNvPr id="718" name="Google Shape;718;p79"/>
          <p:cNvSpPr/>
          <p:nvPr/>
        </p:nvSpPr>
        <p:spPr>
          <a:xfrm>
            <a:off x="5014894" y="3397600"/>
            <a:ext cx="386700" cy="386700"/>
          </a:xfrm>
          <a:prstGeom prst="ellipse">
            <a:avLst/>
          </a:prstGeom>
          <a:solidFill>
            <a:srgbClr val="D9EAD3"/>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it"/>
              <a:t>op</a:t>
            </a:r>
            <a:endParaRPr/>
          </a:p>
        </p:txBody>
      </p:sp>
      <p:cxnSp>
        <p:nvCxnSpPr>
          <p:cNvPr id="730" name="Google Shape;730;p79"/>
          <p:cNvCxnSpPr>
            <a:stCxn id="718" idx="6"/>
            <a:endCxn id="706" idx="1"/>
          </p:cNvCxnSpPr>
          <p:nvPr/>
        </p:nvCxnSpPr>
        <p:spPr>
          <a:xfrm>
            <a:off x="5401594" y="3590950"/>
            <a:ext cx="230400" cy="0"/>
          </a:xfrm>
          <a:prstGeom prst="straightConnector1">
            <a:avLst/>
          </a:prstGeom>
          <a:noFill/>
          <a:ln w="9525" cap="flat" cmpd="sng">
            <a:solidFill>
              <a:schemeClr val="dk2"/>
            </a:solidFill>
            <a:prstDash val="solid"/>
            <a:round/>
            <a:headEnd type="none" w="med" len="med"/>
            <a:tailEnd type="triangle" w="med" len="med"/>
          </a:ln>
        </p:spPr>
      </p:cxnSp>
      <p:sp>
        <p:nvSpPr>
          <p:cNvPr id="720" name="Google Shape;720;p79"/>
          <p:cNvSpPr/>
          <p:nvPr/>
        </p:nvSpPr>
        <p:spPr>
          <a:xfrm>
            <a:off x="6317969" y="3397600"/>
            <a:ext cx="386700" cy="386700"/>
          </a:xfrm>
          <a:prstGeom prst="ellipse">
            <a:avLst/>
          </a:prstGeom>
          <a:solidFill>
            <a:srgbClr val="D9EAD3"/>
          </a:solidFill>
          <a:ln w="9525" cap="flat" cmpd="sng">
            <a:solidFill>
              <a:schemeClr val="dk2"/>
            </a:solidFill>
            <a:prstDash val="dash"/>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it"/>
              <a:t>op</a:t>
            </a:r>
            <a:endParaRPr/>
          </a:p>
        </p:txBody>
      </p:sp>
      <p:cxnSp>
        <p:nvCxnSpPr>
          <p:cNvPr id="731" name="Google Shape;731;p79"/>
          <p:cNvCxnSpPr>
            <a:stCxn id="720" idx="6"/>
            <a:endCxn id="707" idx="1"/>
          </p:cNvCxnSpPr>
          <p:nvPr/>
        </p:nvCxnSpPr>
        <p:spPr>
          <a:xfrm>
            <a:off x="6704669" y="3590950"/>
            <a:ext cx="230400" cy="0"/>
          </a:xfrm>
          <a:prstGeom prst="straightConnector1">
            <a:avLst/>
          </a:prstGeom>
          <a:noFill/>
          <a:ln w="9525" cap="flat" cmpd="sng">
            <a:solidFill>
              <a:schemeClr val="dk2"/>
            </a:solidFill>
            <a:prstDash val="dash"/>
            <a:round/>
            <a:headEnd type="none" w="med" len="med"/>
            <a:tailEnd type="triangle" w="med" len="med"/>
          </a:ln>
        </p:spPr>
      </p:cxnSp>
      <p:sp>
        <p:nvSpPr>
          <p:cNvPr id="722" name="Google Shape;722;p79"/>
          <p:cNvSpPr/>
          <p:nvPr/>
        </p:nvSpPr>
        <p:spPr>
          <a:xfrm>
            <a:off x="7621056" y="3397600"/>
            <a:ext cx="386700" cy="386700"/>
          </a:xfrm>
          <a:prstGeom prst="ellipse">
            <a:avLst/>
          </a:prstGeom>
          <a:solidFill>
            <a:srgbClr val="D9EAD3"/>
          </a:solidFill>
          <a:ln w="9525"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it"/>
              <a:t>op</a:t>
            </a:r>
            <a:endParaRPr/>
          </a:p>
        </p:txBody>
      </p:sp>
      <p:cxnSp>
        <p:nvCxnSpPr>
          <p:cNvPr id="732" name="Google Shape;732;p79"/>
          <p:cNvCxnSpPr>
            <a:stCxn id="722" idx="6"/>
            <a:endCxn id="708" idx="1"/>
          </p:cNvCxnSpPr>
          <p:nvPr/>
        </p:nvCxnSpPr>
        <p:spPr>
          <a:xfrm>
            <a:off x="8007756" y="3590950"/>
            <a:ext cx="230400" cy="0"/>
          </a:xfrm>
          <a:prstGeom prst="straightConnector1">
            <a:avLst/>
          </a:prstGeom>
          <a:noFill/>
          <a:ln w="9525" cap="flat" cmpd="sng">
            <a:solidFill>
              <a:schemeClr val="dk2"/>
            </a:solidFill>
            <a:prstDash val="solid"/>
            <a:round/>
            <a:headEnd type="none" w="med" len="med"/>
            <a:tailEnd type="triangle" w="med" len="med"/>
          </a:ln>
        </p:spPr>
      </p:cxnSp>
      <p:sp>
        <p:nvSpPr>
          <p:cNvPr id="733" name="Google Shape;733;p79"/>
          <p:cNvSpPr txBox="1">
            <a:spLocks noGrp="1"/>
          </p:cNvSpPr>
          <p:nvPr>
            <p:ph type="sldNum" idx="12"/>
          </p:nvPr>
        </p:nvSpPr>
        <p:spPr>
          <a:xfrm>
            <a:off x="8472458" y="476850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it"/>
              <a:t>73</a:t>
            </a:fld>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737"/>
        <p:cNvGrpSpPr/>
        <p:nvPr/>
      </p:nvGrpSpPr>
      <p:grpSpPr>
        <a:xfrm>
          <a:off x="0" y="0"/>
          <a:ext cx="0" cy="0"/>
          <a:chOff x="0" y="0"/>
          <a:chExt cx="0" cy="0"/>
        </a:xfrm>
      </p:grpSpPr>
      <p:sp>
        <p:nvSpPr>
          <p:cNvPr id="738" name="Google Shape;738;p8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it" sz="2820"/>
              <a:t>Mapping methods</a:t>
            </a:r>
            <a:endParaRPr sz="2820"/>
          </a:p>
        </p:txBody>
      </p:sp>
      <p:sp>
        <p:nvSpPr>
          <p:cNvPr id="739" name="Google Shape;739;p80"/>
          <p:cNvSpPr txBox="1">
            <a:spLocks noGrp="1"/>
          </p:cNvSpPr>
          <p:nvPr>
            <p:ph type="body" idx="1"/>
          </p:nvPr>
        </p:nvSpPr>
        <p:spPr>
          <a:xfrm>
            <a:off x="311150" y="1244204"/>
            <a:ext cx="8521800" cy="3393300"/>
          </a:xfrm>
          <a:prstGeom prst="rect">
            <a:avLst/>
          </a:prstGeom>
        </p:spPr>
        <p:txBody>
          <a:bodyPr spcFirstLastPara="1" wrap="square" lIns="91425" tIns="45700" rIns="91425" bIns="45700" anchor="t" anchorCtr="0">
            <a:normAutofit/>
          </a:bodyPr>
          <a:lstStyle/>
          <a:p>
            <a:pPr marL="457200" lvl="0" indent="-355600" algn="l" rtl="0">
              <a:spcBef>
                <a:spcPts val="600"/>
              </a:spcBef>
              <a:spcAft>
                <a:spcPts val="0"/>
              </a:spcAft>
              <a:buSzPts val="2000"/>
              <a:buChar char="•"/>
            </a:pPr>
            <a:r>
              <a:rPr lang="it" b="1">
                <a:solidFill>
                  <a:srgbClr val="0B5394"/>
                </a:solidFill>
                <a:latin typeface="Consolas"/>
                <a:ea typeface="Consolas"/>
                <a:cs typeface="Consolas"/>
                <a:sym typeface="Consolas"/>
              </a:rPr>
              <a:t>map(transform:  (T) -&gt; R): List&lt;R&gt;</a:t>
            </a:r>
            <a:r>
              <a:rPr lang="it"/>
              <a:t> </a:t>
            </a:r>
            <a:endParaRPr/>
          </a:p>
          <a:p>
            <a:pPr marL="914400" lvl="1" indent="-330200" algn="l" rtl="0">
              <a:spcBef>
                <a:spcPts val="0"/>
              </a:spcBef>
              <a:spcAft>
                <a:spcPts val="0"/>
              </a:spcAft>
              <a:buSzPts val="1600"/>
              <a:buChar char="○"/>
            </a:pPr>
            <a:r>
              <a:rPr lang="it"/>
              <a:t>Transforms all the elements of the collection by applying them the given function</a:t>
            </a:r>
            <a:endParaRPr/>
          </a:p>
          <a:p>
            <a:pPr marL="914400" lvl="1" indent="-330200" algn="l" rtl="0">
              <a:spcBef>
                <a:spcPts val="0"/>
              </a:spcBef>
              <a:spcAft>
                <a:spcPts val="0"/>
              </a:spcAft>
              <a:buSzPts val="1600"/>
              <a:buChar char="○"/>
            </a:pPr>
            <a:r>
              <a:rPr lang="it"/>
              <a:t>It does not mutate the collection to which it is applied, but it returns a new list</a:t>
            </a:r>
            <a:endParaRPr/>
          </a:p>
          <a:p>
            <a:pPr marL="457200" lvl="0" indent="-355600" algn="l" rtl="0">
              <a:spcBef>
                <a:spcPts val="0"/>
              </a:spcBef>
              <a:spcAft>
                <a:spcPts val="0"/>
              </a:spcAft>
              <a:buSzPts val="2000"/>
              <a:buChar char="•"/>
            </a:pPr>
            <a:r>
              <a:rPr lang="it" b="1">
                <a:solidFill>
                  <a:srgbClr val="0B5394"/>
                </a:solidFill>
                <a:latin typeface="Consolas"/>
                <a:ea typeface="Consolas"/>
                <a:cs typeface="Consolas"/>
                <a:sym typeface="Consolas"/>
              </a:rPr>
              <a:t>mapIndexed(transform: (index: Int, T) -&gt; R): List&lt;R&gt;</a:t>
            </a:r>
            <a:r>
              <a:rPr lang="it"/>
              <a:t> </a:t>
            </a:r>
            <a:endParaRPr/>
          </a:p>
          <a:p>
            <a:pPr marL="914400" lvl="1" indent="-330200" algn="l" rtl="0">
              <a:spcBef>
                <a:spcPts val="0"/>
              </a:spcBef>
              <a:spcAft>
                <a:spcPts val="0"/>
              </a:spcAft>
              <a:buSzPts val="1600"/>
              <a:buChar char="○"/>
            </a:pPr>
            <a:r>
              <a:rPr lang="it"/>
              <a:t>The transforming function is supplied with both the element and the corresponding index </a:t>
            </a:r>
            <a:endParaRPr/>
          </a:p>
          <a:p>
            <a:pPr marL="457200" lvl="0" indent="-355600" algn="l" rtl="0">
              <a:spcBef>
                <a:spcPts val="0"/>
              </a:spcBef>
              <a:spcAft>
                <a:spcPts val="0"/>
              </a:spcAft>
              <a:buClr>
                <a:srgbClr val="0B5394"/>
              </a:buClr>
              <a:buSzPts val="2000"/>
              <a:buFont typeface="Consolas"/>
              <a:buChar char="•"/>
            </a:pPr>
            <a:r>
              <a:rPr lang="it" b="1">
                <a:solidFill>
                  <a:srgbClr val="0B5394"/>
                </a:solidFill>
                <a:latin typeface="Consolas"/>
                <a:ea typeface="Consolas"/>
                <a:cs typeface="Consolas"/>
                <a:sym typeface="Consolas"/>
              </a:rPr>
              <a:t>mapNotNull(transform: (T) -&gt; R?): List&lt;R&gt;</a:t>
            </a:r>
            <a:endParaRPr b="1">
              <a:solidFill>
                <a:srgbClr val="0B5394"/>
              </a:solidFill>
              <a:latin typeface="Consolas"/>
              <a:ea typeface="Consolas"/>
              <a:cs typeface="Consolas"/>
              <a:sym typeface="Consolas"/>
            </a:endParaRPr>
          </a:p>
          <a:p>
            <a:pPr marL="914400" lvl="1" indent="-330200" algn="l" rtl="0">
              <a:spcBef>
                <a:spcPts val="0"/>
              </a:spcBef>
              <a:spcAft>
                <a:spcPts val="0"/>
              </a:spcAft>
              <a:buSzPts val="1600"/>
              <a:buChar char="○"/>
            </a:pPr>
            <a:r>
              <a:rPr lang="it"/>
              <a:t>returns a list of all non-null outcomes obtained applying the supplied transform function to each element of the original collection</a:t>
            </a:r>
            <a:endParaRPr/>
          </a:p>
        </p:txBody>
      </p:sp>
      <p:sp>
        <p:nvSpPr>
          <p:cNvPr id="740" name="Google Shape;740;p80"/>
          <p:cNvSpPr txBox="1"/>
          <p:nvPr/>
        </p:nvSpPr>
        <p:spPr>
          <a:xfrm>
            <a:off x="1073900" y="3876000"/>
            <a:ext cx="6996300" cy="738900"/>
          </a:xfrm>
          <a:prstGeom prst="rect">
            <a:avLst/>
          </a:prstGeom>
          <a:solidFill>
            <a:srgbClr val="FFF2CC"/>
          </a:solidFill>
          <a:ln w="9525" cap="flat" cmpd="sng">
            <a:solidFill>
              <a:schemeClr val="dk1"/>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spAutoFit/>
          </a:bodyPr>
          <a:lstStyle/>
          <a:p>
            <a:pPr marL="0" marR="0" lvl="0" indent="0" algn="l" rtl="0">
              <a:spcBef>
                <a:spcPts val="0"/>
              </a:spcBef>
              <a:spcAft>
                <a:spcPts val="0"/>
              </a:spcAft>
              <a:buNone/>
            </a:pPr>
            <a:r>
              <a:rPr lang="it">
                <a:solidFill>
                  <a:schemeClr val="dk1"/>
                </a:solidFill>
                <a:latin typeface="Consolas"/>
                <a:ea typeface="Consolas"/>
                <a:cs typeface="Consolas"/>
                <a:sym typeface="Consolas"/>
              </a:rPr>
              <a:t>val doubles: List = listOf(1.0, 2.0, 3.0, null, 5.0) </a:t>
            </a:r>
            <a:endParaRPr>
              <a:solidFill>
                <a:schemeClr val="dk1"/>
              </a:solidFill>
              <a:latin typeface="Consolas"/>
              <a:ea typeface="Consolas"/>
              <a:cs typeface="Consolas"/>
              <a:sym typeface="Consolas"/>
            </a:endParaRPr>
          </a:p>
          <a:p>
            <a:pPr marL="0" marR="0" lvl="0" indent="0" algn="l" rtl="0">
              <a:spcBef>
                <a:spcPts val="0"/>
              </a:spcBef>
              <a:spcAft>
                <a:spcPts val="0"/>
              </a:spcAft>
              <a:buNone/>
            </a:pPr>
            <a:r>
              <a:rPr lang="it">
                <a:solidFill>
                  <a:schemeClr val="dk1"/>
                </a:solidFill>
                <a:latin typeface="Consolas"/>
                <a:ea typeface="Consolas"/>
                <a:cs typeface="Consolas"/>
                <a:sym typeface="Consolas"/>
              </a:rPr>
              <a:t>val squares: List = doubles.</a:t>
            </a:r>
            <a:r>
              <a:rPr lang="it" b="1">
                <a:solidFill>
                  <a:srgbClr val="0B5394"/>
                </a:solidFill>
                <a:latin typeface="Consolas"/>
                <a:ea typeface="Consolas"/>
                <a:cs typeface="Consolas"/>
                <a:sym typeface="Consolas"/>
              </a:rPr>
              <a:t>mapNotNull</a:t>
            </a:r>
            <a:r>
              <a:rPr lang="it">
                <a:solidFill>
                  <a:schemeClr val="dk1"/>
                </a:solidFill>
                <a:latin typeface="Consolas"/>
                <a:ea typeface="Consolas"/>
                <a:cs typeface="Consolas"/>
                <a:sym typeface="Consolas"/>
              </a:rPr>
              <a:t> { it?.pow(2) } </a:t>
            </a:r>
            <a:endParaRPr>
              <a:solidFill>
                <a:schemeClr val="dk1"/>
              </a:solidFill>
              <a:latin typeface="Consolas"/>
              <a:ea typeface="Consolas"/>
              <a:cs typeface="Consolas"/>
              <a:sym typeface="Consolas"/>
            </a:endParaRPr>
          </a:p>
          <a:p>
            <a:pPr marL="0" marR="0" lvl="0" indent="0" algn="l" rtl="0">
              <a:spcBef>
                <a:spcPts val="0"/>
              </a:spcBef>
              <a:spcAft>
                <a:spcPts val="0"/>
              </a:spcAft>
              <a:buNone/>
            </a:pPr>
            <a:r>
              <a:rPr lang="it">
                <a:solidFill>
                  <a:srgbClr val="6D6D6D"/>
                </a:solidFill>
                <a:latin typeface="Consolas"/>
                <a:ea typeface="Consolas"/>
                <a:cs typeface="Consolas"/>
                <a:sym typeface="Consolas"/>
              </a:rPr>
              <a:t>//squares = [1.0, 4.0, 9.0, 25.0]</a:t>
            </a:r>
            <a:endParaRPr>
              <a:solidFill>
                <a:srgbClr val="6D6D6D"/>
              </a:solidFill>
              <a:latin typeface="Consolas"/>
              <a:ea typeface="Consolas"/>
              <a:cs typeface="Consolas"/>
              <a:sym typeface="Consolas"/>
            </a:endParaRPr>
          </a:p>
        </p:txBody>
      </p:sp>
      <p:sp>
        <p:nvSpPr>
          <p:cNvPr id="741" name="Google Shape;741;p80"/>
          <p:cNvSpPr txBox="1">
            <a:spLocks noGrp="1"/>
          </p:cNvSpPr>
          <p:nvPr>
            <p:ph type="sldNum" idx="12"/>
          </p:nvPr>
        </p:nvSpPr>
        <p:spPr>
          <a:xfrm>
            <a:off x="8472458" y="476850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it"/>
              <a:t>74</a:t>
            </a:fld>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745"/>
        <p:cNvGrpSpPr/>
        <p:nvPr/>
      </p:nvGrpSpPr>
      <p:grpSpPr>
        <a:xfrm>
          <a:off x="0" y="0"/>
          <a:ext cx="0" cy="0"/>
          <a:chOff x="0" y="0"/>
          <a:chExt cx="0" cy="0"/>
        </a:xfrm>
      </p:grpSpPr>
      <p:sp>
        <p:nvSpPr>
          <p:cNvPr id="746" name="Google Shape;746;p8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it" sz="2820"/>
              <a:t>Mapping methods</a:t>
            </a:r>
            <a:endParaRPr sz="2820"/>
          </a:p>
        </p:txBody>
      </p:sp>
      <p:sp>
        <p:nvSpPr>
          <p:cNvPr id="747" name="Google Shape;747;p81"/>
          <p:cNvSpPr txBox="1">
            <a:spLocks noGrp="1"/>
          </p:cNvSpPr>
          <p:nvPr>
            <p:ph type="body" idx="1"/>
          </p:nvPr>
        </p:nvSpPr>
        <p:spPr>
          <a:xfrm>
            <a:off x="311150" y="1244204"/>
            <a:ext cx="8521800" cy="3393300"/>
          </a:xfrm>
          <a:prstGeom prst="rect">
            <a:avLst/>
          </a:prstGeom>
        </p:spPr>
        <p:txBody>
          <a:bodyPr spcFirstLastPara="1" wrap="square" lIns="91425" tIns="45700" rIns="91425" bIns="45700" anchor="t" anchorCtr="0">
            <a:normAutofit/>
          </a:bodyPr>
          <a:lstStyle/>
          <a:p>
            <a:pPr marL="457200" lvl="0" indent="-355600" algn="l" rtl="0">
              <a:spcBef>
                <a:spcPts val="600"/>
              </a:spcBef>
              <a:spcAft>
                <a:spcPts val="0"/>
              </a:spcAft>
              <a:buSzPts val="2000"/>
              <a:buChar char="•"/>
            </a:pPr>
            <a:r>
              <a:rPr lang="it" b="1">
                <a:solidFill>
                  <a:srgbClr val="0B5394"/>
                </a:solidFill>
                <a:latin typeface="Consolas"/>
                <a:ea typeface="Consolas"/>
                <a:cs typeface="Consolas"/>
                <a:sym typeface="Consolas"/>
              </a:rPr>
              <a:t>flatMap(transform: (T) -&gt; Iterable&lt;R&gt;): List&lt;R&gt;</a:t>
            </a:r>
            <a:r>
              <a:rPr lang="it"/>
              <a:t> </a:t>
            </a:r>
            <a:endParaRPr/>
          </a:p>
          <a:p>
            <a:pPr marL="914400" lvl="1" indent="-330200" algn="l" rtl="0">
              <a:spcBef>
                <a:spcPts val="0"/>
              </a:spcBef>
              <a:spcAft>
                <a:spcPts val="0"/>
              </a:spcAft>
              <a:buSzPts val="1600"/>
              <a:buChar char="○"/>
            </a:pPr>
            <a:r>
              <a:rPr lang="it"/>
              <a:t>Applies a transformation function to each element of the original collection, and then flattens the resulting collections into a collection of plain values</a:t>
            </a:r>
            <a:endParaRPr/>
          </a:p>
        </p:txBody>
      </p:sp>
      <p:sp>
        <p:nvSpPr>
          <p:cNvPr id="748" name="Google Shape;748;p81"/>
          <p:cNvSpPr txBox="1"/>
          <p:nvPr/>
        </p:nvSpPr>
        <p:spPr>
          <a:xfrm>
            <a:off x="742200" y="2270475"/>
            <a:ext cx="7659600" cy="803400"/>
          </a:xfrm>
          <a:prstGeom prst="rect">
            <a:avLst/>
          </a:prstGeom>
          <a:solidFill>
            <a:srgbClr val="FFF2CC"/>
          </a:solidFill>
          <a:ln w="9525" cap="flat" cmpd="sng">
            <a:solidFill>
              <a:schemeClr val="dk1"/>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it">
                <a:solidFill>
                  <a:schemeClr val="dk1"/>
                </a:solidFill>
                <a:latin typeface="Consolas"/>
                <a:ea typeface="Consolas"/>
                <a:cs typeface="Consolas"/>
                <a:sym typeface="Consolas"/>
              </a:rPr>
              <a:t>val list: List&gt; = listOf(listOf(1, 2, 3, 4), listOf(5, 6)) </a:t>
            </a:r>
            <a:endParaRPr>
              <a:solidFill>
                <a:schemeClr val="dk1"/>
              </a:solidFill>
              <a:latin typeface="Consolas"/>
              <a:ea typeface="Consolas"/>
              <a:cs typeface="Consolas"/>
              <a:sym typeface="Consolas"/>
            </a:endParaRPr>
          </a:p>
          <a:p>
            <a:pPr marL="0" marR="0" lvl="0" indent="0" algn="l" rtl="0">
              <a:lnSpc>
                <a:spcPct val="115000"/>
              </a:lnSpc>
              <a:spcBef>
                <a:spcPts val="0"/>
              </a:spcBef>
              <a:spcAft>
                <a:spcPts val="0"/>
              </a:spcAft>
              <a:buNone/>
            </a:pPr>
            <a:r>
              <a:rPr lang="it">
                <a:solidFill>
                  <a:schemeClr val="dk1"/>
                </a:solidFill>
                <a:latin typeface="Consolas"/>
                <a:ea typeface="Consolas"/>
                <a:cs typeface="Consolas"/>
                <a:sym typeface="Consolas"/>
              </a:rPr>
              <a:t>val flatList: List = list.</a:t>
            </a:r>
            <a:r>
              <a:rPr lang="it" b="1">
                <a:solidFill>
                  <a:srgbClr val="0B5394"/>
                </a:solidFill>
                <a:latin typeface="Consolas"/>
                <a:ea typeface="Consolas"/>
                <a:cs typeface="Consolas"/>
                <a:sym typeface="Consolas"/>
              </a:rPr>
              <a:t>flatMap</a:t>
            </a:r>
            <a:r>
              <a:rPr lang="it">
                <a:solidFill>
                  <a:schemeClr val="dk1"/>
                </a:solidFill>
                <a:latin typeface="Consolas"/>
                <a:ea typeface="Consolas"/>
                <a:cs typeface="Consolas"/>
                <a:sym typeface="Consolas"/>
              </a:rPr>
              <a:t> { it.filter {v -&gt; v%2 == 0} } </a:t>
            </a:r>
            <a:endParaRPr>
              <a:solidFill>
                <a:schemeClr val="dk1"/>
              </a:solidFill>
              <a:latin typeface="Consolas"/>
              <a:ea typeface="Consolas"/>
              <a:cs typeface="Consolas"/>
              <a:sym typeface="Consolas"/>
            </a:endParaRPr>
          </a:p>
          <a:p>
            <a:pPr marL="0" marR="0" lvl="0" indent="0" algn="l" rtl="0">
              <a:lnSpc>
                <a:spcPct val="115000"/>
              </a:lnSpc>
              <a:spcBef>
                <a:spcPts val="0"/>
              </a:spcBef>
              <a:spcAft>
                <a:spcPts val="0"/>
              </a:spcAft>
              <a:buNone/>
            </a:pPr>
            <a:r>
              <a:rPr lang="it">
                <a:solidFill>
                  <a:srgbClr val="6D6D6D"/>
                </a:solidFill>
                <a:latin typeface="Consolas"/>
                <a:ea typeface="Consolas"/>
                <a:cs typeface="Consolas"/>
                <a:sym typeface="Consolas"/>
              </a:rPr>
              <a:t>//	The variable flatList will have the value [ 2, 4, 6].</a:t>
            </a:r>
            <a:endParaRPr>
              <a:solidFill>
                <a:schemeClr val="dk1"/>
              </a:solidFill>
              <a:latin typeface="Consolas"/>
              <a:ea typeface="Consolas"/>
              <a:cs typeface="Consolas"/>
              <a:sym typeface="Consolas"/>
            </a:endParaRPr>
          </a:p>
        </p:txBody>
      </p:sp>
      <p:sp>
        <p:nvSpPr>
          <p:cNvPr id="749" name="Google Shape;749;p81"/>
          <p:cNvSpPr txBox="1">
            <a:spLocks noGrp="1"/>
          </p:cNvSpPr>
          <p:nvPr>
            <p:ph type="sldNum" idx="12"/>
          </p:nvPr>
        </p:nvSpPr>
        <p:spPr>
          <a:xfrm>
            <a:off x="8472458" y="476850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it"/>
              <a:t>75</a:t>
            </a:fld>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753"/>
        <p:cNvGrpSpPr/>
        <p:nvPr/>
      </p:nvGrpSpPr>
      <p:grpSpPr>
        <a:xfrm>
          <a:off x="0" y="0"/>
          <a:ext cx="0" cy="0"/>
          <a:chOff x="0" y="0"/>
          <a:chExt cx="0" cy="0"/>
        </a:xfrm>
      </p:grpSpPr>
      <p:sp>
        <p:nvSpPr>
          <p:cNvPr id="754" name="Google Shape;754;p82"/>
          <p:cNvSpPr txBox="1">
            <a:spLocks noGrp="1"/>
          </p:cNvSpPr>
          <p:nvPr>
            <p:ph type="sldNum" idx="12"/>
          </p:nvPr>
        </p:nvSpPr>
        <p:spPr>
          <a:xfrm>
            <a:off x="8472458" y="476850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it"/>
              <a:t>76</a:t>
            </a:fld>
            <a:endParaRPr/>
          </a:p>
        </p:txBody>
      </p:sp>
      <p:sp>
        <p:nvSpPr>
          <p:cNvPr id="755" name="Google Shape;755;p8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it" sz="2820"/>
              <a:t>Mapping methods</a:t>
            </a:r>
            <a:endParaRPr sz="2820"/>
          </a:p>
        </p:txBody>
      </p:sp>
      <p:sp>
        <p:nvSpPr>
          <p:cNvPr id="756" name="Google Shape;756;p82"/>
          <p:cNvSpPr txBox="1"/>
          <p:nvPr/>
        </p:nvSpPr>
        <p:spPr>
          <a:xfrm>
            <a:off x="311700" y="1248469"/>
            <a:ext cx="8521800" cy="3324600"/>
          </a:xfrm>
          <a:prstGeom prst="rect">
            <a:avLst/>
          </a:prstGeom>
          <a:solidFill>
            <a:srgbClr val="FFF2CC"/>
          </a:solidFill>
          <a:ln w="9525" cap="flat" cmpd="sng">
            <a:solidFill>
              <a:schemeClr val="dk1"/>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spAutoFit/>
          </a:bodyPr>
          <a:lstStyle/>
          <a:p>
            <a:pPr marL="0" marR="0" lvl="0" indent="0" algn="l" rtl="0">
              <a:spcBef>
                <a:spcPts val="0"/>
              </a:spcBef>
              <a:spcAft>
                <a:spcPts val="0"/>
              </a:spcAft>
              <a:buNone/>
            </a:pPr>
            <a:r>
              <a:rPr lang="it">
                <a:solidFill>
                  <a:srgbClr val="6D6D6D"/>
                </a:solidFill>
                <a:latin typeface="Consolas"/>
                <a:ea typeface="Consolas"/>
                <a:cs typeface="Consolas"/>
                <a:sym typeface="Consolas"/>
              </a:rPr>
              <a:t>// example that returns a list of valid starting dates for employee records </a:t>
            </a:r>
            <a:endParaRPr>
              <a:solidFill>
                <a:srgbClr val="6D6D6D"/>
              </a:solidFill>
              <a:latin typeface="Consolas"/>
              <a:ea typeface="Consolas"/>
              <a:cs typeface="Consolas"/>
              <a:sym typeface="Consolas"/>
            </a:endParaRPr>
          </a:p>
          <a:p>
            <a:pPr marL="0" marR="0" lvl="0" indent="0" algn="l" rtl="0">
              <a:spcBef>
                <a:spcPts val="0"/>
              </a:spcBef>
              <a:spcAft>
                <a:spcPts val="0"/>
              </a:spcAft>
              <a:buNone/>
            </a:pPr>
            <a:r>
              <a:rPr lang="it">
                <a:solidFill>
                  <a:srgbClr val="6D6D6D"/>
                </a:solidFill>
                <a:latin typeface="Consolas"/>
                <a:ea typeface="Consolas"/>
                <a:cs typeface="Consolas"/>
                <a:sym typeface="Consolas"/>
              </a:rPr>
              <a:t>// that have those starting dates stored as strings:</a:t>
            </a:r>
            <a:endParaRPr>
              <a:solidFill>
                <a:srgbClr val="6D6D6D"/>
              </a:solidFill>
              <a:latin typeface="Consolas"/>
              <a:ea typeface="Consolas"/>
              <a:cs typeface="Consolas"/>
              <a:sym typeface="Consolas"/>
            </a:endParaRPr>
          </a:p>
          <a:p>
            <a:pPr marL="0" marR="0" lvl="0" indent="0" algn="l" rtl="0">
              <a:spcBef>
                <a:spcPts val="0"/>
              </a:spcBef>
              <a:spcAft>
                <a:spcPts val="0"/>
              </a:spcAft>
              <a:buNone/>
            </a:pPr>
            <a:endParaRPr>
              <a:solidFill>
                <a:srgbClr val="6D6D6D"/>
              </a:solidFill>
              <a:latin typeface="Consolas"/>
              <a:ea typeface="Consolas"/>
              <a:cs typeface="Consolas"/>
              <a:sym typeface="Consolas"/>
            </a:endParaRPr>
          </a:p>
          <a:p>
            <a:pPr marL="0" marR="0" lvl="0" indent="0" algn="l" rtl="0">
              <a:spcBef>
                <a:spcPts val="0"/>
              </a:spcBef>
              <a:spcAft>
                <a:spcPts val="0"/>
              </a:spcAft>
              <a:buNone/>
            </a:pPr>
            <a:r>
              <a:rPr lang="it">
                <a:solidFill>
                  <a:schemeClr val="dk1"/>
                </a:solidFill>
                <a:latin typeface="Consolas"/>
                <a:ea typeface="Consolas"/>
                <a:cs typeface="Consolas"/>
                <a:sym typeface="Consolas"/>
              </a:rPr>
              <a:t>data class Hire( </a:t>
            </a:r>
            <a:endParaRPr>
              <a:solidFill>
                <a:schemeClr val="dk1"/>
              </a:solidFill>
              <a:latin typeface="Consolas"/>
              <a:ea typeface="Consolas"/>
              <a:cs typeface="Consolas"/>
              <a:sym typeface="Consolas"/>
            </a:endParaRPr>
          </a:p>
          <a:p>
            <a:pPr marL="0" marR="0" lvl="0" indent="457200" algn="l" rtl="0">
              <a:spcBef>
                <a:spcPts val="0"/>
              </a:spcBef>
              <a:spcAft>
                <a:spcPts val="0"/>
              </a:spcAft>
              <a:buNone/>
            </a:pPr>
            <a:r>
              <a:rPr lang="it">
                <a:solidFill>
                  <a:schemeClr val="dk1"/>
                </a:solidFill>
                <a:latin typeface="Consolas"/>
                <a:ea typeface="Consolas"/>
                <a:cs typeface="Consolas"/>
                <a:sym typeface="Consolas"/>
              </a:rPr>
              <a:t>val name: String, </a:t>
            </a:r>
            <a:endParaRPr>
              <a:solidFill>
                <a:schemeClr val="dk1"/>
              </a:solidFill>
              <a:latin typeface="Consolas"/>
              <a:ea typeface="Consolas"/>
              <a:cs typeface="Consolas"/>
              <a:sym typeface="Consolas"/>
            </a:endParaRPr>
          </a:p>
          <a:p>
            <a:pPr marL="457200" marR="0" lvl="0" indent="0" algn="l" rtl="0">
              <a:spcBef>
                <a:spcPts val="0"/>
              </a:spcBef>
              <a:spcAft>
                <a:spcPts val="0"/>
              </a:spcAft>
              <a:buNone/>
            </a:pPr>
            <a:r>
              <a:rPr lang="it">
                <a:solidFill>
                  <a:schemeClr val="dk1"/>
                </a:solidFill>
                <a:latin typeface="Consolas"/>
                <a:ea typeface="Consolas"/>
                <a:cs typeface="Consolas"/>
                <a:sym typeface="Consolas"/>
              </a:rPr>
              <a:t>val position: String, </a:t>
            </a:r>
            <a:endParaRPr>
              <a:solidFill>
                <a:schemeClr val="dk1"/>
              </a:solidFill>
              <a:latin typeface="Consolas"/>
              <a:ea typeface="Consolas"/>
              <a:cs typeface="Consolas"/>
              <a:sym typeface="Consolas"/>
            </a:endParaRPr>
          </a:p>
          <a:p>
            <a:pPr marL="457200" marR="0" lvl="0" indent="0" algn="l" rtl="0">
              <a:spcBef>
                <a:spcPts val="0"/>
              </a:spcBef>
              <a:spcAft>
                <a:spcPts val="0"/>
              </a:spcAft>
              <a:buNone/>
            </a:pPr>
            <a:r>
              <a:rPr lang="it">
                <a:solidFill>
                  <a:schemeClr val="dk1"/>
                </a:solidFill>
                <a:latin typeface="Consolas"/>
                <a:ea typeface="Consolas"/>
                <a:cs typeface="Consolas"/>
                <a:sym typeface="Consolas"/>
              </a:rPr>
              <a:t>val startDate: String ) </a:t>
            </a:r>
            <a:endParaRPr>
              <a:solidFill>
                <a:schemeClr val="dk1"/>
              </a:solidFill>
              <a:latin typeface="Consolas"/>
              <a:ea typeface="Consolas"/>
              <a:cs typeface="Consolas"/>
              <a:sym typeface="Consolas"/>
            </a:endParaRPr>
          </a:p>
          <a:p>
            <a:pPr marL="457200" marR="0" lvl="0" indent="0" algn="l" rtl="0">
              <a:spcBef>
                <a:spcPts val="0"/>
              </a:spcBef>
              <a:spcAft>
                <a:spcPts val="0"/>
              </a:spcAft>
              <a:buNone/>
            </a:pPr>
            <a:endParaRPr>
              <a:solidFill>
                <a:schemeClr val="dk1"/>
              </a:solidFill>
              <a:latin typeface="Consolas"/>
              <a:ea typeface="Consolas"/>
              <a:cs typeface="Consolas"/>
              <a:sym typeface="Consolas"/>
            </a:endParaRPr>
          </a:p>
          <a:p>
            <a:pPr marL="0" marR="0" lvl="0" indent="0" algn="l" rtl="0">
              <a:spcBef>
                <a:spcPts val="0"/>
              </a:spcBef>
              <a:spcAft>
                <a:spcPts val="0"/>
              </a:spcAft>
              <a:buNone/>
            </a:pPr>
            <a:r>
              <a:rPr lang="it">
                <a:solidFill>
                  <a:schemeClr val="dk1"/>
                </a:solidFill>
                <a:latin typeface="Consolas"/>
                <a:ea typeface="Consolas"/>
                <a:cs typeface="Consolas"/>
                <a:sym typeface="Consolas"/>
              </a:rPr>
              <a:t>fun getStartDates(l: List&lt;Hire&gt;): List&lt;Date&gt; { </a:t>
            </a:r>
            <a:endParaRPr>
              <a:solidFill>
                <a:schemeClr val="dk1"/>
              </a:solidFill>
              <a:latin typeface="Consolas"/>
              <a:ea typeface="Consolas"/>
              <a:cs typeface="Consolas"/>
              <a:sym typeface="Consolas"/>
            </a:endParaRPr>
          </a:p>
          <a:p>
            <a:pPr marL="0" marR="0" lvl="0" indent="457200" algn="l" rtl="0">
              <a:spcBef>
                <a:spcPts val="0"/>
              </a:spcBef>
              <a:spcAft>
                <a:spcPts val="0"/>
              </a:spcAft>
              <a:buNone/>
            </a:pPr>
            <a:r>
              <a:rPr lang="it">
                <a:solidFill>
                  <a:schemeClr val="dk1"/>
                </a:solidFill>
                <a:latin typeface="Consolas"/>
                <a:ea typeface="Consolas"/>
                <a:cs typeface="Consolas"/>
                <a:sym typeface="Consolas"/>
              </a:rPr>
              <a:t>val formatter = SimpleDateFormat("yyyy-MM-d", Locale.getDefault()) </a:t>
            </a:r>
            <a:endParaRPr>
              <a:solidFill>
                <a:schemeClr val="dk1"/>
              </a:solidFill>
              <a:latin typeface="Consolas"/>
              <a:ea typeface="Consolas"/>
              <a:cs typeface="Consolas"/>
              <a:sym typeface="Consolas"/>
            </a:endParaRPr>
          </a:p>
          <a:p>
            <a:pPr marL="0" marR="0" lvl="0" indent="457200" algn="l" rtl="0">
              <a:spcBef>
                <a:spcPts val="0"/>
              </a:spcBef>
              <a:spcAft>
                <a:spcPts val="0"/>
              </a:spcAft>
              <a:buNone/>
            </a:pPr>
            <a:r>
              <a:rPr lang="it">
                <a:solidFill>
                  <a:schemeClr val="dk1"/>
                </a:solidFill>
                <a:latin typeface="Consolas"/>
                <a:ea typeface="Consolas"/>
                <a:cs typeface="Consolas"/>
                <a:sym typeface="Consolas"/>
              </a:rPr>
              <a:t>return l.</a:t>
            </a:r>
            <a:r>
              <a:rPr lang="it" b="1">
                <a:solidFill>
                  <a:srgbClr val="0B5394"/>
                </a:solidFill>
                <a:latin typeface="Consolas"/>
                <a:ea typeface="Consolas"/>
                <a:cs typeface="Consolas"/>
                <a:sym typeface="Consolas"/>
              </a:rPr>
              <a:t>mapNotNull</a:t>
            </a:r>
            <a:r>
              <a:rPr lang="it">
                <a:solidFill>
                  <a:schemeClr val="dk1"/>
                </a:solidFill>
                <a:latin typeface="Consolas"/>
                <a:ea typeface="Consolas"/>
                <a:cs typeface="Consolas"/>
                <a:sym typeface="Consolas"/>
              </a:rPr>
              <a:t> { </a:t>
            </a:r>
            <a:endParaRPr>
              <a:solidFill>
                <a:schemeClr val="dk1"/>
              </a:solidFill>
              <a:latin typeface="Consolas"/>
              <a:ea typeface="Consolas"/>
              <a:cs typeface="Consolas"/>
              <a:sym typeface="Consolas"/>
            </a:endParaRPr>
          </a:p>
          <a:p>
            <a:pPr marL="457200" marR="0" lvl="0" indent="457200" algn="l" rtl="0">
              <a:spcBef>
                <a:spcPts val="0"/>
              </a:spcBef>
              <a:spcAft>
                <a:spcPts val="0"/>
              </a:spcAft>
              <a:buNone/>
            </a:pPr>
            <a:r>
              <a:rPr lang="it">
                <a:solidFill>
                  <a:schemeClr val="dk1"/>
                </a:solidFill>
                <a:latin typeface="Consolas"/>
                <a:ea typeface="Consolas"/>
                <a:cs typeface="Consolas"/>
                <a:sym typeface="Consolas"/>
              </a:rPr>
              <a:t>try { formatter.parse(it.startDate) } </a:t>
            </a:r>
            <a:endParaRPr>
              <a:solidFill>
                <a:schemeClr val="dk1"/>
              </a:solidFill>
              <a:latin typeface="Consolas"/>
              <a:ea typeface="Consolas"/>
              <a:cs typeface="Consolas"/>
              <a:sym typeface="Consolas"/>
            </a:endParaRPr>
          </a:p>
          <a:p>
            <a:pPr marL="457200" marR="0" lvl="0" indent="457200" algn="l" rtl="0">
              <a:spcBef>
                <a:spcPts val="0"/>
              </a:spcBef>
              <a:spcAft>
                <a:spcPts val="0"/>
              </a:spcAft>
              <a:buNone/>
            </a:pPr>
            <a:r>
              <a:rPr lang="it">
                <a:solidFill>
                  <a:schemeClr val="dk1"/>
                </a:solidFill>
                <a:latin typeface="Consolas"/>
                <a:ea typeface="Consolas"/>
                <a:cs typeface="Consolas"/>
                <a:sym typeface="Consolas"/>
              </a:rPr>
              <a:t>catch (e: Exception) { null } </a:t>
            </a:r>
            <a:endParaRPr>
              <a:solidFill>
                <a:schemeClr val="dk1"/>
              </a:solidFill>
              <a:latin typeface="Consolas"/>
              <a:ea typeface="Consolas"/>
              <a:cs typeface="Consolas"/>
              <a:sym typeface="Consolas"/>
            </a:endParaRPr>
          </a:p>
          <a:p>
            <a:pPr marL="0" marR="0" lvl="0" indent="457200" algn="l" rtl="0">
              <a:spcBef>
                <a:spcPts val="0"/>
              </a:spcBef>
              <a:spcAft>
                <a:spcPts val="0"/>
              </a:spcAft>
              <a:buNone/>
            </a:pPr>
            <a:r>
              <a:rPr lang="it">
                <a:solidFill>
                  <a:schemeClr val="dk1"/>
                </a:solidFill>
                <a:latin typeface="Consolas"/>
                <a:ea typeface="Consolas"/>
                <a:cs typeface="Consolas"/>
                <a:sym typeface="Consolas"/>
              </a:rPr>
              <a:t>} </a:t>
            </a:r>
            <a:endParaRPr>
              <a:solidFill>
                <a:schemeClr val="dk1"/>
              </a:solidFill>
              <a:latin typeface="Consolas"/>
              <a:ea typeface="Consolas"/>
              <a:cs typeface="Consolas"/>
              <a:sym typeface="Consolas"/>
            </a:endParaRPr>
          </a:p>
          <a:p>
            <a:pPr marL="0" marR="0" lvl="0" indent="0" algn="l" rtl="0">
              <a:spcBef>
                <a:spcPts val="0"/>
              </a:spcBef>
              <a:spcAft>
                <a:spcPts val="0"/>
              </a:spcAft>
              <a:buNone/>
            </a:pPr>
            <a:r>
              <a:rPr lang="it">
                <a:solidFill>
                  <a:schemeClr val="dk1"/>
                </a:solidFill>
                <a:latin typeface="Consolas"/>
                <a:ea typeface="Consolas"/>
                <a:cs typeface="Consolas"/>
                <a:sym typeface="Consolas"/>
              </a:rPr>
              <a:t>}</a:t>
            </a:r>
            <a:endParaRPr>
              <a:solidFill>
                <a:schemeClr val="dk1"/>
              </a:solidFill>
              <a:latin typeface="Consolas"/>
              <a:ea typeface="Consolas"/>
              <a:cs typeface="Consolas"/>
              <a:sym typeface="Consolas"/>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760"/>
        <p:cNvGrpSpPr/>
        <p:nvPr/>
      </p:nvGrpSpPr>
      <p:grpSpPr>
        <a:xfrm>
          <a:off x="0" y="0"/>
          <a:ext cx="0" cy="0"/>
          <a:chOff x="0" y="0"/>
          <a:chExt cx="0" cy="0"/>
        </a:xfrm>
      </p:grpSpPr>
      <p:sp>
        <p:nvSpPr>
          <p:cNvPr id="761" name="Google Shape;761;p8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it" sz="2820"/>
              <a:t>Boolean methods</a:t>
            </a:r>
            <a:endParaRPr sz="2820"/>
          </a:p>
        </p:txBody>
      </p:sp>
      <p:sp>
        <p:nvSpPr>
          <p:cNvPr id="762" name="Google Shape;762;p83"/>
          <p:cNvSpPr txBox="1">
            <a:spLocks noGrp="1"/>
          </p:cNvSpPr>
          <p:nvPr>
            <p:ph type="sldNum" idx="12"/>
          </p:nvPr>
        </p:nvSpPr>
        <p:spPr>
          <a:xfrm>
            <a:off x="8472458" y="476850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it"/>
              <a:t>77</a:t>
            </a:fld>
            <a:endParaRPr/>
          </a:p>
        </p:txBody>
      </p:sp>
      <p:sp>
        <p:nvSpPr>
          <p:cNvPr id="763" name="Google Shape;763;p83"/>
          <p:cNvSpPr txBox="1">
            <a:spLocks noGrp="1"/>
          </p:cNvSpPr>
          <p:nvPr>
            <p:ph type="body" idx="1"/>
          </p:nvPr>
        </p:nvSpPr>
        <p:spPr>
          <a:xfrm>
            <a:off x="311150" y="1244204"/>
            <a:ext cx="8521800" cy="3393300"/>
          </a:xfrm>
          <a:prstGeom prst="rect">
            <a:avLst/>
          </a:prstGeom>
        </p:spPr>
        <p:txBody>
          <a:bodyPr spcFirstLastPara="1" wrap="square" lIns="91425" tIns="45700" rIns="91425" bIns="45700" anchor="t" anchorCtr="0">
            <a:normAutofit/>
          </a:bodyPr>
          <a:lstStyle/>
          <a:p>
            <a:pPr marL="457200" lvl="0" indent="-355600" algn="l" rtl="0">
              <a:spcBef>
                <a:spcPts val="600"/>
              </a:spcBef>
              <a:spcAft>
                <a:spcPts val="0"/>
              </a:spcAft>
              <a:buClr>
                <a:schemeClr val="dk1"/>
              </a:buClr>
              <a:buSzPts val="2000"/>
              <a:buChar char="•"/>
            </a:pPr>
            <a:r>
              <a:rPr lang="it" b="1">
                <a:solidFill>
                  <a:srgbClr val="0B5394"/>
                </a:solidFill>
                <a:latin typeface="Consolas"/>
                <a:ea typeface="Consolas"/>
                <a:cs typeface="Consolas"/>
                <a:sym typeface="Consolas"/>
              </a:rPr>
              <a:t>any(predicate: (T) -&gt; Boolean) : Boolean</a:t>
            </a:r>
            <a:r>
              <a:rPr lang="it">
                <a:solidFill>
                  <a:schemeClr val="dk1"/>
                </a:solidFill>
              </a:rPr>
              <a:t>  </a:t>
            </a:r>
            <a:endParaRPr>
              <a:solidFill>
                <a:schemeClr val="dk1"/>
              </a:solidFill>
            </a:endParaRPr>
          </a:p>
          <a:p>
            <a:pPr marL="914400" lvl="1" indent="-330200" algn="l" rtl="0">
              <a:spcBef>
                <a:spcPts val="0"/>
              </a:spcBef>
              <a:spcAft>
                <a:spcPts val="0"/>
              </a:spcAft>
              <a:buClr>
                <a:schemeClr val="dk1"/>
              </a:buClr>
              <a:buSzPts val="1600"/>
              <a:buChar char="○"/>
            </a:pPr>
            <a:r>
              <a:rPr lang="it">
                <a:solidFill>
                  <a:schemeClr val="dk1"/>
                </a:solidFill>
              </a:rPr>
              <a:t>Will return true if the predicate evaluates true for any element in the collection</a:t>
            </a:r>
            <a:endParaRPr>
              <a:solidFill>
                <a:schemeClr val="dk1"/>
              </a:solidFill>
            </a:endParaRPr>
          </a:p>
          <a:p>
            <a:pPr marL="457200" lvl="0" indent="-355600" algn="l" rtl="0">
              <a:spcBef>
                <a:spcPts val="0"/>
              </a:spcBef>
              <a:spcAft>
                <a:spcPts val="0"/>
              </a:spcAft>
              <a:buClr>
                <a:schemeClr val="dk1"/>
              </a:buClr>
              <a:buSzPts val="2000"/>
              <a:buChar char="•"/>
            </a:pPr>
            <a:r>
              <a:rPr lang="it" b="1">
                <a:solidFill>
                  <a:srgbClr val="0B5394"/>
                </a:solidFill>
                <a:latin typeface="Consolas"/>
                <a:ea typeface="Consolas"/>
                <a:cs typeface="Consolas"/>
                <a:sym typeface="Consolas"/>
              </a:rPr>
              <a:t>all(predicate: (T) -&gt; Boolean): Boolean</a:t>
            </a:r>
            <a:r>
              <a:rPr lang="it">
                <a:solidFill>
                  <a:schemeClr val="dk1"/>
                </a:solidFill>
              </a:rPr>
              <a:t> </a:t>
            </a:r>
            <a:endParaRPr>
              <a:solidFill>
                <a:schemeClr val="dk1"/>
              </a:solidFill>
            </a:endParaRPr>
          </a:p>
          <a:p>
            <a:pPr marL="914400" lvl="1" indent="-330200" algn="l" rtl="0">
              <a:spcBef>
                <a:spcPts val="0"/>
              </a:spcBef>
              <a:spcAft>
                <a:spcPts val="0"/>
              </a:spcAft>
              <a:buClr>
                <a:schemeClr val="dk1"/>
              </a:buClr>
              <a:buSzPts val="1600"/>
              <a:buChar char="○"/>
            </a:pPr>
            <a:r>
              <a:rPr lang="it">
                <a:solidFill>
                  <a:schemeClr val="dk1"/>
                </a:solidFill>
              </a:rPr>
              <a:t>returns true only if every element in the list matches the predicate</a:t>
            </a:r>
            <a:endParaRPr>
              <a:solidFill>
                <a:schemeClr val="dk1"/>
              </a:solidFill>
            </a:endParaRPr>
          </a:p>
          <a:p>
            <a:pPr marL="457200" lvl="0" indent="-355600" algn="l" rtl="0">
              <a:spcBef>
                <a:spcPts val="0"/>
              </a:spcBef>
              <a:spcAft>
                <a:spcPts val="0"/>
              </a:spcAft>
              <a:buClr>
                <a:schemeClr val="dk1"/>
              </a:buClr>
              <a:buSzPts val="2000"/>
              <a:buChar char="•"/>
            </a:pPr>
            <a:r>
              <a:rPr lang="it" b="1">
                <a:solidFill>
                  <a:srgbClr val="0B5394"/>
                </a:solidFill>
                <a:latin typeface="Consolas"/>
                <a:ea typeface="Consolas"/>
                <a:cs typeface="Consolas"/>
                <a:sym typeface="Consolas"/>
              </a:rPr>
              <a:t>none() : Boolean</a:t>
            </a:r>
            <a:r>
              <a:rPr lang="it">
                <a:solidFill>
                  <a:schemeClr val="dk1"/>
                </a:solidFill>
              </a:rPr>
              <a:t> </a:t>
            </a:r>
            <a:endParaRPr>
              <a:solidFill>
                <a:schemeClr val="dk1"/>
              </a:solidFill>
            </a:endParaRPr>
          </a:p>
          <a:p>
            <a:pPr marL="914400" lvl="1" indent="-330200" algn="l" rtl="0">
              <a:spcBef>
                <a:spcPts val="0"/>
              </a:spcBef>
              <a:spcAft>
                <a:spcPts val="0"/>
              </a:spcAft>
              <a:buClr>
                <a:schemeClr val="dk1"/>
              </a:buClr>
              <a:buSzPts val="1600"/>
              <a:buChar char="○"/>
            </a:pPr>
            <a:r>
              <a:rPr lang="it">
                <a:solidFill>
                  <a:schemeClr val="dk1"/>
                </a:solidFill>
              </a:rPr>
              <a:t>Returns true only if there the collection is empty</a:t>
            </a:r>
            <a:endParaRPr>
              <a:solidFill>
                <a:schemeClr val="dk1"/>
              </a:solidFill>
            </a:endParaRPr>
          </a:p>
          <a:p>
            <a:pPr marL="457200" lvl="0" indent="-355600" algn="l" rtl="0">
              <a:spcBef>
                <a:spcPts val="0"/>
              </a:spcBef>
              <a:spcAft>
                <a:spcPts val="0"/>
              </a:spcAft>
              <a:buClr>
                <a:schemeClr val="dk1"/>
              </a:buClr>
              <a:buSzPts val="2000"/>
              <a:buChar char="•"/>
            </a:pPr>
            <a:r>
              <a:rPr lang="it" b="1">
                <a:solidFill>
                  <a:srgbClr val="0B5394"/>
                </a:solidFill>
                <a:latin typeface="Consolas"/>
                <a:ea typeface="Consolas"/>
                <a:cs typeface="Consolas"/>
                <a:sym typeface="Consolas"/>
              </a:rPr>
              <a:t>none(predicate: (T) -&gt; Boolean): Boolean</a:t>
            </a:r>
            <a:r>
              <a:rPr lang="it">
                <a:solidFill>
                  <a:schemeClr val="dk1"/>
                </a:solidFill>
              </a:rPr>
              <a:t> </a:t>
            </a:r>
            <a:endParaRPr>
              <a:solidFill>
                <a:schemeClr val="dk1"/>
              </a:solidFill>
            </a:endParaRPr>
          </a:p>
          <a:p>
            <a:pPr marL="914400" lvl="1" indent="-330200" algn="l" rtl="0">
              <a:spcBef>
                <a:spcPts val="0"/>
              </a:spcBef>
              <a:spcAft>
                <a:spcPts val="0"/>
              </a:spcAft>
              <a:buClr>
                <a:schemeClr val="dk1"/>
              </a:buClr>
              <a:buSzPts val="1600"/>
              <a:buChar char="○"/>
            </a:pPr>
            <a:r>
              <a:rPr lang="it">
                <a:solidFill>
                  <a:schemeClr val="dk1"/>
                </a:solidFill>
              </a:rPr>
              <a:t>returns true only if the predicate evaluates to true for none of the elements in the collection</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767"/>
        <p:cNvGrpSpPr/>
        <p:nvPr/>
      </p:nvGrpSpPr>
      <p:grpSpPr>
        <a:xfrm>
          <a:off x="0" y="0"/>
          <a:ext cx="0" cy="0"/>
          <a:chOff x="0" y="0"/>
          <a:chExt cx="0" cy="0"/>
        </a:xfrm>
      </p:grpSpPr>
      <p:sp>
        <p:nvSpPr>
          <p:cNvPr id="768" name="Google Shape;768;p84"/>
          <p:cNvSpPr txBox="1">
            <a:spLocks noGrp="1"/>
          </p:cNvSpPr>
          <p:nvPr>
            <p:ph type="sldNum" idx="12"/>
          </p:nvPr>
        </p:nvSpPr>
        <p:spPr>
          <a:xfrm>
            <a:off x="8472458" y="476850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it"/>
              <a:t>78</a:t>
            </a:fld>
            <a:endParaRPr/>
          </a:p>
        </p:txBody>
      </p:sp>
      <p:sp>
        <p:nvSpPr>
          <p:cNvPr id="769" name="Google Shape;769;p8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it" sz="2820"/>
              <a:t>Boolean methods</a:t>
            </a:r>
            <a:endParaRPr sz="2820"/>
          </a:p>
        </p:txBody>
      </p:sp>
      <p:sp>
        <p:nvSpPr>
          <p:cNvPr id="770" name="Google Shape;770;p84"/>
          <p:cNvSpPr txBox="1"/>
          <p:nvPr/>
        </p:nvSpPr>
        <p:spPr>
          <a:xfrm>
            <a:off x="311100" y="1376156"/>
            <a:ext cx="8521800" cy="3033900"/>
          </a:xfrm>
          <a:prstGeom prst="rect">
            <a:avLst/>
          </a:prstGeom>
          <a:solidFill>
            <a:srgbClr val="FFF2CC"/>
          </a:solidFill>
          <a:ln w="9525" cap="flat" cmpd="sng">
            <a:solidFill>
              <a:schemeClr val="dk1"/>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spAutoFit/>
          </a:bodyPr>
          <a:lstStyle/>
          <a:p>
            <a:pPr marL="0" marR="0" lvl="0" indent="0" algn="l" rtl="0">
              <a:lnSpc>
                <a:spcPct val="115000"/>
              </a:lnSpc>
              <a:spcBef>
                <a:spcPts val="0"/>
              </a:spcBef>
              <a:spcAft>
                <a:spcPts val="0"/>
              </a:spcAft>
              <a:buClr>
                <a:schemeClr val="dk1"/>
              </a:buClr>
              <a:buSzPts val="1100"/>
              <a:buFont typeface="Arial"/>
              <a:buNone/>
            </a:pPr>
            <a:r>
              <a:rPr lang="it">
                <a:solidFill>
                  <a:schemeClr val="dk1"/>
                </a:solidFill>
                <a:latin typeface="Consolas"/>
                <a:ea typeface="Consolas"/>
                <a:cs typeface="Consolas"/>
                <a:sym typeface="Consolas"/>
              </a:rPr>
              <a:t>val nums = listOf(10, 20, 100, 5) </a:t>
            </a:r>
            <a:endParaRPr>
              <a:solidFill>
                <a:schemeClr val="dk1"/>
              </a:solidFill>
              <a:latin typeface="Consolas"/>
              <a:ea typeface="Consolas"/>
              <a:cs typeface="Consolas"/>
              <a:sym typeface="Consolas"/>
            </a:endParaRPr>
          </a:p>
          <a:p>
            <a:pPr marL="0" marR="0" lvl="0" indent="0" algn="l" rtl="0">
              <a:lnSpc>
                <a:spcPct val="115000"/>
              </a:lnSpc>
              <a:spcBef>
                <a:spcPts val="0"/>
              </a:spcBef>
              <a:spcAft>
                <a:spcPts val="0"/>
              </a:spcAft>
              <a:buClr>
                <a:schemeClr val="dk1"/>
              </a:buClr>
              <a:buSzPts val="1100"/>
              <a:buFont typeface="Arial"/>
              <a:buNone/>
            </a:pPr>
            <a:r>
              <a:rPr lang="it">
                <a:solidFill>
                  <a:schemeClr val="dk1"/>
                </a:solidFill>
                <a:latin typeface="Consolas"/>
                <a:ea typeface="Consolas"/>
                <a:cs typeface="Consolas"/>
                <a:sym typeface="Consolas"/>
              </a:rPr>
              <a:t>val isAny = nums.</a:t>
            </a:r>
            <a:r>
              <a:rPr lang="it" b="1">
                <a:solidFill>
                  <a:srgbClr val="0B5394"/>
                </a:solidFill>
                <a:latin typeface="Consolas"/>
                <a:ea typeface="Consolas"/>
                <a:cs typeface="Consolas"/>
                <a:sym typeface="Consolas"/>
              </a:rPr>
              <a:t>any()</a:t>
            </a:r>
            <a:r>
              <a:rPr lang="it">
                <a:solidFill>
                  <a:schemeClr val="dk1"/>
                </a:solidFill>
                <a:latin typeface="Consolas"/>
                <a:ea typeface="Consolas"/>
                <a:cs typeface="Consolas"/>
                <a:sym typeface="Consolas"/>
              </a:rPr>
              <a:t> // true </a:t>
            </a:r>
            <a:endParaRPr>
              <a:solidFill>
                <a:schemeClr val="dk1"/>
              </a:solidFill>
              <a:latin typeface="Consolas"/>
              <a:ea typeface="Consolas"/>
              <a:cs typeface="Consolas"/>
              <a:sym typeface="Consolas"/>
            </a:endParaRPr>
          </a:p>
          <a:p>
            <a:pPr marL="0" marR="0" lvl="0" indent="0" algn="l" rtl="0">
              <a:lnSpc>
                <a:spcPct val="115000"/>
              </a:lnSpc>
              <a:spcBef>
                <a:spcPts val="0"/>
              </a:spcBef>
              <a:spcAft>
                <a:spcPts val="0"/>
              </a:spcAft>
              <a:buClr>
                <a:schemeClr val="dk1"/>
              </a:buClr>
              <a:buSzPts val="1100"/>
              <a:buFont typeface="Arial"/>
              <a:buNone/>
            </a:pPr>
            <a:endParaRPr>
              <a:solidFill>
                <a:schemeClr val="dk1"/>
              </a:solidFill>
              <a:latin typeface="Consolas"/>
              <a:ea typeface="Consolas"/>
              <a:cs typeface="Consolas"/>
              <a:sym typeface="Consolas"/>
            </a:endParaRPr>
          </a:p>
          <a:p>
            <a:pPr marL="0" marR="0" lvl="0" indent="0" algn="l" rtl="0">
              <a:lnSpc>
                <a:spcPct val="115000"/>
              </a:lnSpc>
              <a:spcBef>
                <a:spcPts val="0"/>
              </a:spcBef>
              <a:spcAft>
                <a:spcPts val="0"/>
              </a:spcAft>
              <a:buClr>
                <a:schemeClr val="dk1"/>
              </a:buClr>
              <a:buSzPts val="1100"/>
              <a:buFont typeface="Arial"/>
              <a:buNone/>
            </a:pPr>
            <a:r>
              <a:rPr lang="it">
                <a:solidFill>
                  <a:schemeClr val="dk1"/>
                </a:solidFill>
                <a:latin typeface="Consolas"/>
                <a:ea typeface="Consolas"/>
                <a:cs typeface="Consolas"/>
                <a:sym typeface="Consolas"/>
              </a:rPr>
              <a:t>val isAnyOdd = nums</a:t>
            </a:r>
            <a:r>
              <a:rPr lang="it" b="1">
                <a:solidFill>
                  <a:srgbClr val="0B5394"/>
                </a:solidFill>
                <a:latin typeface="Consolas"/>
                <a:ea typeface="Consolas"/>
                <a:cs typeface="Consolas"/>
                <a:sym typeface="Consolas"/>
              </a:rPr>
              <a:t>.any</a:t>
            </a:r>
            <a:r>
              <a:rPr lang="it">
                <a:solidFill>
                  <a:schemeClr val="dk1"/>
                </a:solidFill>
                <a:latin typeface="Consolas"/>
                <a:ea typeface="Consolas"/>
                <a:cs typeface="Consolas"/>
                <a:sym typeface="Consolas"/>
              </a:rPr>
              <a:t> { it % 2 &gt; 0 } // true </a:t>
            </a:r>
            <a:endParaRPr>
              <a:solidFill>
                <a:schemeClr val="dk1"/>
              </a:solidFill>
              <a:latin typeface="Consolas"/>
              <a:ea typeface="Consolas"/>
              <a:cs typeface="Consolas"/>
              <a:sym typeface="Consolas"/>
            </a:endParaRPr>
          </a:p>
          <a:p>
            <a:pPr marL="0" marR="0" lvl="0" indent="0" algn="l" rtl="0">
              <a:lnSpc>
                <a:spcPct val="115000"/>
              </a:lnSpc>
              <a:spcBef>
                <a:spcPts val="0"/>
              </a:spcBef>
              <a:spcAft>
                <a:spcPts val="0"/>
              </a:spcAft>
              <a:buClr>
                <a:schemeClr val="dk1"/>
              </a:buClr>
              <a:buSzPts val="1100"/>
              <a:buFont typeface="Arial"/>
              <a:buNone/>
            </a:pPr>
            <a:endParaRPr>
              <a:solidFill>
                <a:schemeClr val="dk1"/>
              </a:solidFill>
              <a:latin typeface="Consolas"/>
              <a:ea typeface="Consolas"/>
              <a:cs typeface="Consolas"/>
              <a:sym typeface="Consolas"/>
            </a:endParaRPr>
          </a:p>
          <a:p>
            <a:pPr marL="0" marR="0" lvl="0" indent="0" algn="l" rtl="0">
              <a:lnSpc>
                <a:spcPct val="115000"/>
              </a:lnSpc>
              <a:spcBef>
                <a:spcPts val="0"/>
              </a:spcBef>
              <a:spcAft>
                <a:spcPts val="0"/>
              </a:spcAft>
              <a:buClr>
                <a:schemeClr val="dk1"/>
              </a:buClr>
              <a:buSzPts val="1100"/>
              <a:buFont typeface="Arial"/>
              <a:buNone/>
            </a:pPr>
            <a:r>
              <a:rPr lang="it">
                <a:solidFill>
                  <a:schemeClr val="dk1"/>
                </a:solidFill>
                <a:latin typeface="Consolas"/>
                <a:ea typeface="Consolas"/>
                <a:cs typeface="Consolas"/>
                <a:sym typeface="Consolas"/>
              </a:rPr>
              <a:t>val isAnyBig = nums</a:t>
            </a:r>
            <a:r>
              <a:rPr lang="it" b="1">
                <a:solidFill>
                  <a:srgbClr val="0B5394"/>
                </a:solidFill>
                <a:latin typeface="Consolas"/>
                <a:ea typeface="Consolas"/>
                <a:cs typeface="Consolas"/>
                <a:sym typeface="Consolas"/>
              </a:rPr>
              <a:t>.any</a:t>
            </a:r>
            <a:r>
              <a:rPr lang="it">
                <a:solidFill>
                  <a:schemeClr val="dk1"/>
                </a:solidFill>
                <a:latin typeface="Consolas"/>
                <a:ea typeface="Consolas"/>
                <a:cs typeface="Consolas"/>
                <a:sym typeface="Consolas"/>
              </a:rPr>
              <a:t> { it &gt; 1000} // false</a:t>
            </a:r>
            <a:endParaRPr>
              <a:solidFill>
                <a:schemeClr val="dk1"/>
              </a:solidFill>
              <a:latin typeface="Consolas"/>
              <a:ea typeface="Consolas"/>
              <a:cs typeface="Consolas"/>
              <a:sym typeface="Consolas"/>
            </a:endParaRPr>
          </a:p>
          <a:p>
            <a:pPr marL="0" marR="0" lvl="0" indent="0" algn="l" rtl="0">
              <a:lnSpc>
                <a:spcPct val="115000"/>
              </a:lnSpc>
              <a:spcBef>
                <a:spcPts val="0"/>
              </a:spcBef>
              <a:spcAft>
                <a:spcPts val="0"/>
              </a:spcAft>
              <a:buClr>
                <a:schemeClr val="dk1"/>
              </a:buClr>
              <a:buSzPts val="1100"/>
              <a:buFont typeface="Arial"/>
              <a:buNone/>
            </a:pPr>
            <a:endParaRPr>
              <a:solidFill>
                <a:schemeClr val="dk1"/>
              </a:solidFill>
              <a:latin typeface="Consolas"/>
              <a:ea typeface="Consolas"/>
              <a:cs typeface="Consolas"/>
              <a:sym typeface="Consolas"/>
            </a:endParaRPr>
          </a:p>
          <a:p>
            <a:pPr marL="0" marR="0" lvl="0" indent="0" algn="l" rtl="0">
              <a:lnSpc>
                <a:spcPct val="115000"/>
              </a:lnSpc>
              <a:spcBef>
                <a:spcPts val="0"/>
              </a:spcBef>
              <a:spcAft>
                <a:spcPts val="0"/>
              </a:spcAft>
              <a:buClr>
                <a:schemeClr val="dk1"/>
              </a:buClr>
              <a:buSzPts val="1100"/>
              <a:buFont typeface="Arial"/>
              <a:buNone/>
            </a:pPr>
            <a:r>
              <a:rPr lang="it">
                <a:solidFill>
                  <a:schemeClr val="dk1"/>
                </a:solidFill>
                <a:latin typeface="Consolas"/>
                <a:ea typeface="Consolas"/>
                <a:cs typeface="Consolas"/>
                <a:sym typeface="Consolas"/>
              </a:rPr>
              <a:t>val areAllEven = nums</a:t>
            </a:r>
            <a:r>
              <a:rPr lang="it" b="1">
                <a:solidFill>
                  <a:srgbClr val="0B5394"/>
                </a:solidFill>
                <a:latin typeface="Consolas"/>
                <a:ea typeface="Consolas"/>
                <a:cs typeface="Consolas"/>
                <a:sym typeface="Consolas"/>
              </a:rPr>
              <a:t>.all</a:t>
            </a:r>
            <a:r>
              <a:rPr lang="it">
                <a:solidFill>
                  <a:schemeClr val="dk1"/>
                </a:solidFill>
                <a:latin typeface="Consolas"/>
                <a:ea typeface="Consolas"/>
                <a:cs typeface="Consolas"/>
                <a:sym typeface="Consolas"/>
              </a:rPr>
              <a:t> { it % 2 == 0 } // false</a:t>
            </a:r>
            <a:endParaRPr>
              <a:solidFill>
                <a:schemeClr val="dk1"/>
              </a:solidFill>
              <a:latin typeface="Consolas"/>
              <a:ea typeface="Consolas"/>
              <a:cs typeface="Consolas"/>
              <a:sym typeface="Consolas"/>
            </a:endParaRPr>
          </a:p>
          <a:p>
            <a:pPr marL="0" marR="0" lvl="0" indent="0" algn="l" rtl="0">
              <a:lnSpc>
                <a:spcPct val="115000"/>
              </a:lnSpc>
              <a:spcBef>
                <a:spcPts val="0"/>
              </a:spcBef>
              <a:spcAft>
                <a:spcPts val="0"/>
              </a:spcAft>
              <a:buClr>
                <a:schemeClr val="dk1"/>
              </a:buClr>
              <a:buSzPts val="1100"/>
              <a:buFont typeface="Arial"/>
              <a:buNone/>
            </a:pPr>
            <a:endParaRPr>
              <a:solidFill>
                <a:schemeClr val="dk1"/>
              </a:solidFill>
              <a:latin typeface="Consolas"/>
              <a:ea typeface="Consolas"/>
              <a:cs typeface="Consolas"/>
              <a:sym typeface="Consolas"/>
            </a:endParaRPr>
          </a:p>
          <a:p>
            <a:pPr marL="0" marR="0" lvl="0" indent="0" algn="l" rtl="0">
              <a:lnSpc>
                <a:spcPct val="115000"/>
              </a:lnSpc>
              <a:spcBef>
                <a:spcPts val="0"/>
              </a:spcBef>
              <a:spcAft>
                <a:spcPts val="0"/>
              </a:spcAft>
              <a:buClr>
                <a:schemeClr val="dk1"/>
              </a:buClr>
              <a:buSzPts val="1100"/>
              <a:buFont typeface="Arial"/>
              <a:buNone/>
            </a:pPr>
            <a:r>
              <a:rPr lang="it">
                <a:solidFill>
                  <a:schemeClr val="dk1"/>
                </a:solidFill>
                <a:latin typeface="Consolas"/>
                <a:ea typeface="Consolas"/>
                <a:cs typeface="Consolas"/>
                <a:sym typeface="Consolas"/>
              </a:rPr>
              <a:t>val isNone = nums</a:t>
            </a:r>
            <a:r>
              <a:rPr lang="it" b="1">
                <a:solidFill>
                  <a:srgbClr val="0B5394"/>
                </a:solidFill>
                <a:latin typeface="Consolas"/>
                <a:ea typeface="Consolas"/>
                <a:cs typeface="Consolas"/>
                <a:sym typeface="Consolas"/>
              </a:rPr>
              <a:t>.none()</a:t>
            </a:r>
            <a:r>
              <a:rPr lang="it">
                <a:solidFill>
                  <a:schemeClr val="dk1"/>
                </a:solidFill>
                <a:latin typeface="Consolas"/>
                <a:ea typeface="Consolas"/>
                <a:cs typeface="Consolas"/>
                <a:sym typeface="Consolas"/>
              </a:rPr>
              <a:t> // false</a:t>
            </a:r>
            <a:endParaRPr>
              <a:solidFill>
                <a:schemeClr val="dk1"/>
              </a:solidFill>
              <a:latin typeface="Consolas"/>
              <a:ea typeface="Consolas"/>
              <a:cs typeface="Consolas"/>
              <a:sym typeface="Consolas"/>
            </a:endParaRPr>
          </a:p>
          <a:p>
            <a:pPr marL="0" marR="0" lvl="0" indent="0" algn="l" rtl="0">
              <a:lnSpc>
                <a:spcPct val="115000"/>
              </a:lnSpc>
              <a:spcBef>
                <a:spcPts val="0"/>
              </a:spcBef>
              <a:spcAft>
                <a:spcPts val="0"/>
              </a:spcAft>
              <a:buClr>
                <a:schemeClr val="dk1"/>
              </a:buClr>
              <a:buSzPts val="1100"/>
              <a:buFont typeface="Arial"/>
              <a:buNone/>
            </a:pPr>
            <a:endParaRPr>
              <a:solidFill>
                <a:schemeClr val="dk1"/>
              </a:solidFill>
              <a:latin typeface="Consolas"/>
              <a:ea typeface="Consolas"/>
              <a:cs typeface="Consolas"/>
              <a:sym typeface="Consolas"/>
            </a:endParaRPr>
          </a:p>
          <a:p>
            <a:pPr marL="0" marR="0" lvl="0" indent="0" algn="l" rtl="0">
              <a:lnSpc>
                <a:spcPct val="115000"/>
              </a:lnSpc>
              <a:spcBef>
                <a:spcPts val="0"/>
              </a:spcBef>
              <a:spcAft>
                <a:spcPts val="0"/>
              </a:spcAft>
              <a:buSzPts val="1100"/>
              <a:buNone/>
            </a:pPr>
            <a:r>
              <a:rPr lang="it">
                <a:solidFill>
                  <a:schemeClr val="dk1"/>
                </a:solidFill>
                <a:latin typeface="Consolas"/>
                <a:ea typeface="Consolas"/>
                <a:cs typeface="Consolas"/>
                <a:sym typeface="Consolas"/>
              </a:rPr>
              <a:t>val isNone4 = nums</a:t>
            </a:r>
            <a:r>
              <a:rPr lang="it" b="1">
                <a:solidFill>
                  <a:srgbClr val="0B5394"/>
                </a:solidFill>
                <a:latin typeface="Consolas"/>
                <a:ea typeface="Consolas"/>
                <a:cs typeface="Consolas"/>
                <a:sym typeface="Consolas"/>
              </a:rPr>
              <a:t>.none</a:t>
            </a:r>
            <a:r>
              <a:rPr lang="it">
                <a:solidFill>
                  <a:schemeClr val="dk1"/>
                </a:solidFill>
                <a:latin typeface="Consolas"/>
                <a:ea typeface="Consolas"/>
                <a:cs typeface="Consolas"/>
                <a:sym typeface="Consolas"/>
              </a:rPr>
              <a:t> { it == 4 } // true	</a:t>
            </a:r>
            <a:endParaRPr>
              <a:solidFill>
                <a:schemeClr val="dk1"/>
              </a:solidFill>
              <a:latin typeface="Consolas"/>
              <a:ea typeface="Consolas"/>
              <a:cs typeface="Consolas"/>
              <a:sym typeface="Consolas"/>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774"/>
        <p:cNvGrpSpPr/>
        <p:nvPr/>
      </p:nvGrpSpPr>
      <p:grpSpPr>
        <a:xfrm>
          <a:off x="0" y="0"/>
          <a:ext cx="0" cy="0"/>
          <a:chOff x="0" y="0"/>
          <a:chExt cx="0" cy="0"/>
        </a:xfrm>
      </p:grpSpPr>
      <p:sp>
        <p:nvSpPr>
          <p:cNvPr id="775" name="Google Shape;775;p8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it" sz="2820"/>
              <a:t>Sequences</a:t>
            </a:r>
            <a:endParaRPr sz="2820"/>
          </a:p>
        </p:txBody>
      </p:sp>
      <p:sp>
        <p:nvSpPr>
          <p:cNvPr id="776" name="Google Shape;776;p85"/>
          <p:cNvSpPr txBox="1">
            <a:spLocks noGrp="1"/>
          </p:cNvSpPr>
          <p:nvPr>
            <p:ph type="body" idx="1"/>
          </p:nvPr>
        </p:nvSpPr>
        <p:spPr>
          <a:xfrm>
            <a:off x="311150" y="1244204"/>
            <a:ext cx="8521800" cy="3393300"/>
          </a:xfrm>
          <a:prstGeom prst="rect">
            <a:avLst/>
          </a:prstGeom>
        </p:spPr>
        <p:txBody>
          <a:bodyPr spcFirstLastPara="1" wrap="square" lIns="91425" tIns="45700" rIns="91425" bIns="45700" anchor="t" anchorCtr="0">
            <a:normAutofit/>
          </a:bodyPr>
          <a:lstStyle/>
          <a:p>
            <a:pPr marL="457200" lvl="0" indent="-355600" algn="l" rtl="0">
              <a:spcBef>
                <a:spcPts val="600"/>
              </a:spcBef>
              <a:spcAft>
                <a:spcPts val="0"/>
              </a:spcAft>
              <a:buSzPts val="2000"/>
              <a:buChar char="•"/>
            </a:pPr>
            <a:r>
              <a:rPr lang="it"/>
              <a:t>A </a:t>
            </a:r>
            <a:r>
              <a:rPr lang="it" b="1">
                <a:solidFill>
                  <a:srgbClr val="0B5394"/>
                </a:solidFill>
                <a:latin typeface="Consolas"/>
                <a:ea typeface="Consolas"/>
                <a:cs typeface="Consolas"/>
                <a:sym typeface="Consolas"/>
              </a:rPr>
              <a:t>Sequence&lt;T&gt;</a:t>
            </a:r>
            <a:r>
              <a:rPr lang="it"/>
              <a:t> is an iterable container type that operate </a:t>
            </a:r>
            <a:r>
              <a:rPr lang="it" b="1">
                <a:solidFill>
                  <a:srgbClr val="0B5394"/>
                </a:solidFill>
              </a:rPr>
              <a:t>lazily</a:t>
            </a:r>
            <a:r>
              <a:rPr lang="it"/>
              <a:t>, potentially allowing infinite elements</a:t>
            </a:r>
            <a:endParaRPr/>
          </a:p>
          <a:p>
            <a:pPr marL="914400" lvl="1" indent="-330200" algn="l" rtl="0">
              <a:spcBef>
                <a:spcPts val="0"/>
              </a:spcBef>
              <a:spcAft>
                <a:spcPts val="0"/>
              </a:spcAft>
              <a:buSzPts val="1600"/>
              <a:buChar char="○"/>
            </a:pPr>
            <a:r>
              <a:rPr lang="it"/>
              <a:t>Similar to Java 8+ </a:t>
            </a:r>
            <a:r>
              <a:rPr lang="it" b="1">
                <a:solidFill>
                  <a:srgbClr val="0B5394"/>
                </a:solidFill>
                <a:latin typeface="Consolas"/>
                <a:ea typeface="Consolas"/>
                <a:cs typeface="Consolas"/>
                <a:sym typeface="Consolas"/>
              </a:rPr>
              <a:t>java.util.stream.Stream&lt;T&gt;</a:t>
            </a:r>
            <a:endParaRPr b="1">
              <a:solidFill>
                <a:srgbClr val="0B5394"/>
              </a:solidFill>
              <a:latin typeface="Consolas"/>
              <a:ea typeface="Consolas"/>
              <a:cs typeface="Consolas"/>
              <a:sym typeface="Consolas"/>
            </a:endParaRPr>
          </a:p>
          <a:p>
            <a:pPr marL="914400" marR="0" lvl="1" indent="-330200" algn="l" rtl="0">
              <a:lnSpc>
                <a:spcPct val="110000"/>
              </a:lnSpc>
              <a:spcBef>
                <a:spcPts val="0"/>
              </a:spcBef>
              <a:spcAft>
                <a:spcPts val="0"/>
              </a:spcAft>
              <a:buSzPts val="1600"/>
              <a:buChar char="○"/>
            </a:pPr>
            <a:r>
              <a:rPr lang="it"/>
              <a:t>Applying operators to a a </a:t>
            </a:r>
            <a:r>
              <a:rPr lang="it" b="1">
                <a:solidFill>
                  <a:srgbClr val="0B5394"/>
                </a:solidFill>
                <a:latin typeface="Consolas"/>
                <a:ea typeface="Consolas"/>
                <a:cs typeface="Consolas"/>
                <a:sym typeface="Consolas"/>
              </a:rPr>
              <a:t>Sequence</a:t>
            </a:r>
            <a:r>
              <a:rPr lang="it"/>
              <a:t> has no effect unless there is a final </a:t>
            </a:r>
            <a:r>
              <a:rPr lang="it" b="1" i="1">
                <a:solidFill>
                  <a:srgbClr val="0B5394"/>
                </a:solidFill>
              </a:rPr>
              <a:t>consumer</a:t>
            </a:r>
            <a:endParaRPr b="1" i="1">
              <a:solidFill>
                <a:srgbClr val="0B5394"/>
              </a:solidFill>
            </a:endParaRPr>
          </a:p>
          <a:p>
            <a:pPr marL="457200" lvl="0" indent="-355600" algn="l" rtl="0">
              <a:spcBef>
                <a:spcPts val="0"/>
              </a:spcBef>
              <a:spcAft>
                <a:spcPts val="0"/>
              </a:spcAft>
              <a:buSzPts val="2000"/>
              <a:buChar char="•"/>
            </a:pPr>
            <a:r>
              <a:rPr lang="it"/>
              <a:t>When a sequence undergoes a multi-step processing, elements are extracted and processed one-by-one</a:t>
            </a:r>
            <a:endParaRPr/>
          </a:p>
          <a:p>
            <a:pPr marL="914400" lvl="1" indent="-330200" algn="l" rtl="0">
              <a:spcBef>
                <a:spcPts val="300"/>
              </a:spcBef>
              <a:spcAft>
                <a:spcPts val="0"/>
              </a:spcAft>
              <a:buSzPts val="1600"/>
              <a:buChar char="○"/>
            </a:pPr>
            <a:r>
              <a:rPr lang="it"/>
              <a:t>While collections such as lists, sets, and maps are eagerly evaluated, sequences are evaluated only when necessary</a:t>
            </a:r>
            <a:endParaRPr/>
          </a:p>
          <a:p>
            <a:pPr marL="914400" lvl="1" indent="-330200" algn="l" rtl="0">
              <a:spcBef>
                <a:spcPts val="0"/>
              </a:spcBef>
              <a:spcAft>
                <a:spcPts val="0"/>
              </a:spcAft>
              <a:buSzPts val="1600"/>
              <a:buChar char="○"/>
            </a:pPr>
            <a:r>
              <a:rPr lang="it"/>
              <a:t>No intermediate container is usually created, improving the performance of the chain</a:t>
            </a:r>
            <a:endParaRPr/>
          </a:p>
          <a:p>
            <a:pPr marL="0" lvl="0" indent="0" algn="l" rtl="0">
              <a:spcBef>
                <a:spcPts val="600"/>
              </a:spcBef>
              <a:spcAft>
                <a:spcPts val="0"/>
              </a:spcAft>
              <a:buNone/>
            </a:pPr>
            <a:endParaRPr/>
          </a:p>
        </p:txBody>
      </p:sp>
      <p:sp>
        <p:nvSpPr>
          <p:cNvPr id="777" name="Google Shape;777;p85"/>
          <p:cNvSpPr txBox="1">
            <a:spLocks noGrp="1"/>
          </p:cNvSpPr>
          <p:nvPr>
            <p:ph type="sldNum" idx="12"/>
          </p:nvPr>
        </p:nvSpPr>
        <p:spPr>
          <a:xfrm>
            <a:off x="8472458" y="476850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it"/>
              <a:t>79</a:t>
            </a:fld>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781"/>
        <p:cNvGrpSpPr/>
        <p:nvPr/>
      </p:nvGrpSpPr>
      <p:grpSpPr>
        <a:xfrm>
          <a:off x="0" y="0"/>
          <a:ext cx="0" cy="0"/>
          <a:chOff x="0" y="0"/>
          <a:chExt cx="0" cy="0"/>
        </a:xfrm>
      </p:grpSpPr>
      <p:sp>
        <p:nvSpPr>
          <p:cNvPr id="782" name="Google Shape;782;p8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it" sz="2820"/>
              <a:t>Creating sequences</a:t>
            </a:r>
            <a:endParaRPr sz="2820"/>
          </a:p>
        </p:txBody>
      </p:sp>
      <p:sp>
        <p:nvSpPr>
          <p:cNvPr id="783" name="Google Shape;783;p86"/>
          <p:cNvSpPr txBox="1">
            <a:spLocks noGrp="1"/>
          </p:cNvSpPr>
          <p:nvPr>
            <p:ph type="body" idx="1"/>
          </p:nvPr>
        </p:nvSpPr>
        <p:spPr>
          <a:xfrm>
            <a:off x="311150" y="1244204"/>
            <a:ext cx="8521800" cy="3393300"/>
          </a:xfrm>
          <a:prstGeom prst="rect">
            <a:avLst/>
          </a:prstGeom>
        </p:spPr>
        <p:txBody>
          <a:bodyPr spcFirstLastPara="1" wrap="square" lIns="91425" tIns="45700" rIns="91425" bIns="45700" anchor="t" anchorCtr="0">
            <a:normAutofit lnSpcReduction="10000"/>
          </a:bodyPr>
          <a:lstStyle/>
          <a:p>
            <a:pPr marL="457200" lvl="0" indent="-355600" algn="l" rtl="0">
              <a:spcBef>
                <a:spcPts val="600"/>
              </a:spcBef>
              <a:spcAft>
                <a:spcPts val="0"/>
              </a:spcAft>
              <a:buSzPts val="2000"/>
              <a:buChar char="•"/>
            </a:pPr>
            <a:r>
              <a:rPr lang="it"/>
              <a:t>From elements</a:t>
            </a:r>
            <a:endParaRPr/>
          </a:p>
          <a:p>
            <a:pPr marL="914400" lvl="1" indent="-330200" algn="l" rtl="0">
              <a:spcBef>
                <a:spcPts val="0"/>
              </a:spcBef>
              <a:spcAft>
                <a:spcPts val="0"/>
              </a:spcAft>
              <a:buSzPts val="1600"/>
              <a:buChar char="○"/>
            </a:pPr>
            <a:r>
              <a:rPr lang="it" b="1">
                <a:solidFill>
                  <a:srgbClr val="0B5394"/>
                </a:solidFill>
                <a:latin typeface="Consolas"/>
                <a:ea typeface="Consolas"/>
                <a:cs typeface="Consolas"/>
                <a:sym typeface="Consolas"/>
              </a:rPr>
              <a:t>val numbers = sequenceOf( "three",  "two", "one" )</a:t>
            </a:r>
            <a:r>
              <a:rPr lang="it"/>
              <a:t> </a:t>
            </a:r>
            <a:endParaRPr b="1">
              <a:solidFill>
                <a:srgbClr val="0B5394"/>
              </a:solidFill>
              <a:latin typeface="Consolas"/>
              <a:ea typeface="Consolas"/>
              <a:cs typeface="Consolas"/>
              <a:sym typeface="Consolas"/>
            </a:endParaRPr>
          </a:p>
          <a:p>
            <a:pPr marL="457200" lvl="0" indent="-355600" algn="l" rtl="0">
              <a:spcBef>
                <a:spcPts val="0"/>
              </a:spcBef>
              <a:spcAft>
                <a:spcPts val="0"/>
              </a:spcAft>
              <a:buSzPts val="2000"/>
              <a:buChar char="•"/>
            </a:pPr>
            <a:r>
              <a:rPr lang="it"/>
              <a:t>From any Iterable</a:t>
            </a:r>
            <a:endParaRPr/>
          </a:p>
          <a:p>
            <a:pPr marL="914400" lvl="1" indent="-330200" algn="l" rtl="0">
              <a:spcBef>
                <a:spcPts val="0"/>
              </a:spcBef>
              <a:spcAft>
                <a:spcPts val="0"/>
              </a:spcAft>
              <a:buSzPts val="1600"/>
              <a:buChar char="○"/>
            </a:pPr>
            <a:r>
              <a:rPr lang="it" b="1">
                <a:solidFill>
                  <a:srgbClr val="0B5394"/>
                </a:solidFill>
                <a:latin typeface="Consolas"/>
                <a:ea typeface="Consolas"/>
                <a:cs typeface="Consolas"/>
                <a:sym typeface="Consolas"/>
              </a:rPr>
              <a:t>val numbers = listOf("three", "two", "one").asSequence()</a:t>
            </a:r>
            <a:r>
              <a:rPr lang="it"/>
              <a:t> </a:t>
            </a:r>
            <a:endParaRPr b="1">
              <a:solidFill>
                <a:srgbClr val="0B5394"/>
              </a:solidFill>
              <a:latin typeface="Consolas"/>
              <a:ea typeface="Consolas"/>
              <a:cs typeface="Consolas"/>
              <a:sym typeface="Consolas"/>
            </a:endParaRPr>
          </a:p>
          <a:p>
            <a:pPr marL="457200" lvl="0" indent="-355600" algn="l" rtl="0">
              <a:spcBef>
                <a:spcPts val="0"/>
              </a:spcBef>
              <a:spcAft>
                <a:spcPts val="0"/>
              </a:spcAft>
              <a:buSzPts val="2000"/>
              <a:buChar char="•"/>
            </a:pPr>
            <a:r>
              <a:rPr lang="it"/>
              <a:t>From a function</a:t>
            </a:r>
            <a:endParaRPr/>
          </a:p>
          <a:p>
            <a:pPr marL="914400" lvl="1" indent="-330200" algn="l" rtl="0">
              <a:spcBef>
                <a:spcPts val="0"/>
              </a:spcBef>
              <a:spcAft>
                <a:spcPts val="0"/>
              </a:spcAft>
              <a:buSzPts val="1600"/>
              <a:buChar char="○"/>
            </a:pPr>
            <a:r>
              <a:rPr lang="it" b="1">
                <a:solidFill>
                  <a:srgbClr val="0B5394"/>
                </a:solidFill>
                <a:latin typeface="Consolas"/>
                <a:ea typeface="Consolas"/>
                <a:cs typeface="Consolas"/>
                <a:sym typeface="Consolas"/>
              </a:rPr>
              <a:t>val numbers = generateSequence { try { readLine().toInt() }</a:t>
            </a:r>
            <a:br>
              <a:rPr lang="it" b="1">
                <a:solidFill>
                  <a:srgbClr val="0B5394"/>
                </a:solidFill>
                <a:latin typeface="Consolas"/>
                <a:ea typeface="Consolas"/>
                <a:cs typeface="Consolas"/>
                <a:sym typeface="Consolas"/>
              </a:rPr>
            </a:br>
            <a:r>
              <a:rPr lang="it" b="1">
                <a:solidFill>
                  <a:srgbClr val="0B5394"/>
                </a:solidFill>
                <a:latin typeface="Consolas"/>
                <a:ea typeface="Consolas"/>
                <a:cs typeface="Consolas"/>
                <a:sym typeface="Consolas"/>
              </a:rPr>
              <a:t>                                 catch (e:Exception) { null } }</a:t>
            </a:r>
            <a:r>
              <a:rPr lang="it"/>
              <a:t> </a:t>
            </a:r>
            <a:endParaRPr b="1">
              <a:solidFill>
                <a:srgbClr val="0B5394"/>
              </a:solidFill>
              <a:latin typeface="Consolas"/>
              <a:ea typeface="Consolas"/>
              <a:cs typeface="Consolas"/>
              <a:sym typeface="Consolas"/>
            </a:endParaRPr>
          </a:p>
          <a:p>
            <a:pPr marL="457200" lvl="0" indent="-355600" algn="l" rtl="0">
              <a:spcBef>
                <a:spcPts val="0"/>
              </a:spcBef>
              <a:spcAft>
                <a:spcPts val="0"/>
              </a:spcAft>
              <a:buSzPts val="2000"/>
              <a:buChar char="•"/>
            </a:pPr>
            <a:r>
              <a:rPr lang="it"/>
              <a:t>From chunks</a:t>
            </a:r>
            <a:endParaRPr/>
          </a:p>
          <a:p>
            <a:pPr marL="914400" lvl="1" indent="-330200" algn="l" rtl="0">
              <a:spcBef>
                <a:spcPts val="0"/>
              </a:spcBef>
              <a:spcAft>
                <a:spcPts val="0"/>
              </a:spcAft>
              <a:buSzPts val="1600"/>
              <a:buChar char="○"/>
            </a:pPr>
            <a:r>
              <a:rPr lang="it" b="1">
                <a:solidFill>
                  <a:srgbClr val="0B5394"/>
                </a:solidFill>
                <a:latin typeface="Consolas"/>
                <a:ea typeface="Consolas"/>
                <a:cs typeface="Consolas"/>
                <a:sym typeface="Consolas"/>
              </a:rPr>
              <a:t>val primes = sequence { </a:t>
            </a:r>
            <a:br>
              <a:rPr lang="it" b="1">
                <a:solidFill>
                  <a:srgbClr val="0B5394"/>
                </a:solidFill>
                <a:latin typeface="Consolas"/>
                <a:ea typeface="Consolas"/>
                <a:cs typeface="Consolas"/>
                <a:sym typeface="Consolas"/>
              </a:rPr>
            </a:br>
            <a:r>
              <a:rPr lang="it" b="1">
                <a:solidFill>
                  <a:srgbClr val="0B5394"/>
                </a:solidFill>
                <a:latin typeface="Consolas"/>
                <a:ea typeface="Consolas"/>
                <a:cs typeface="Consolas"/>
                <a:sym typeface="Consolas"/>
              </a:rPr>
              <a:t>      yield(1)</a:t>
            </a:r>
            <a:br>
              <a:rPr lang="it" b="1">
                <a:solidFill>
                  <a:srgbClr val="0B5394"/>
                </a:solidFill>
                <a:latin typeface="Consolas"/>
                <a:ea typeface="Consolas"/>
                <a:cs typeface="Consolas"/>
                <a:sym typeface="Consolas"/>
              </a:rPr>
            </a:br>
            <a:r>
              <a:rPr lang="it" b="1">
                <a:solidFill>
                  <a:srgbClr val="0B5394"/>
                </a:solidFill>
                <a:latin typeface="Consolas"/>
                <a:ea typeface="Consolas"/>
                <a:cs typeface="Consolas"/>
                <a:sym typeface="Consolas"/>
              </a:rPr>
              <a:t>      yieldAll( listOf(2,3,5) )</a:t>
            </a:r>
            <a:br>
              <a:rPr lang="it" b="1">
                <a:solidFill>
                  <a:srgbClr val="0B5394"/>
                </a:solidFill>
                <a:latin typeface="Consolas"/>
                <a:ea typeface="Consolas"/>
                <a:cs typeface="Consolas"/>
                <a:sym typeface="Consolas"/>
              </a:rPr>
            </a:br>
            <a:r>
              <a:rPr lang="it" b="1">
                <a:solidFill>
                  <a:srgbClr val="0B5394"/>
                </a:solidFill>
                <a:latin typeface="Consolas"/>
                <a:ea typeface="Consolas"/>
                <a:cs typeface="Consolas"/>
                <a:sym typeface="Consolas"/>
              </a:rPr>
              <a:t>}</a:t>
            </a:r>
            <a:r>
              <a:rPr lang="it"/>
              <a:t> </a:t>
            </a:r>
            <a:endParaRPr b="1">
              <a:solidFill>
                <a:srgbClr val="0B5394"/>
              </a:solidFill>
              <a:latin typeface="Consolas"/>
              <a:ea typeface="Consolas"/>
              <a:cs typeface="Consolas"/>
              <a:sym typeface="Consolas"/>
            </a:endParaRPr>
          </a:p>
        </p:txBody>
      </p:sp>
      <p:sp>
        <p:nvSpPr>
          <p:cNvPr id="784" name="Google Shape;784;p86"/>
          <p:cNvSpPr txBox="1">
            <a:spLocks noGrp="1"/>
          </p:cNvSpPr>
          <p:nvPr>
            <p:ph type="sldNum" idx="12"/>
          </p:nvPr>
        </p:nvSpPr>
        <p:spPr>
          <a:xfrm>
            <a:off x="8472458" y="476850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it"/>
              <a:t>80</a:t>
            </a:fld>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788"/>
        <p:cNvGrpSpPr/>
        <p:nvPr/>
      </p:nvGrpSpPr>
      <p:grpSpPr>
        <a:xfrm>
          <a:off x="0" y="0"/>
          <a:ext cx="0" cy="0"/>
          <a:chOff x="0" y="0"/>
          <a:chExt cx="0" cy="0"/>
        </a:xfrm>
      </p:grpSpPr>
      <p:sp>
        <p:nvSpPr>
          <p:cNvPr id="789" name="Google Shape;789;p87"/>
          <p:cNvSpPr txBox="1">
            <a:spLocks noGrp="1"/>
          </p:cNvSpPr>
          <p:nvPr>
            <p:ph type="sldNum" idx="12"/>
          </p:nvPr>
        </p:nvSpPr>
        <p:spPr>
          <a:xfrm>
            <a:off x="8472458" y="4768506"/>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it"/>
              <a:t>81</a:t>
            </a:fld>
            <a:endParaRPr/>
          </a:p>
        </p:txBody>
      </p:sp>
      <p:sp>
        <p:nvSpPr>
          <p:cNvPr id="790" name="Google Shape;790;p87"/>
          <p:cNvSpPr txBox="1">
            <a:spLocks noGrp="1"/>
          </p:cNvSpPr>
          <p:nvPr>
            <p:ph type="title"/>
          </p:nvPr>
        </p:nvSpPr>
        <p:spPr>
          <a:xfrm>
            <a:off x="311700" y="445025"/>
            <a:ext cx="8520600" cy="572700"/>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None/>
            </a:pPr>
            <a:r>
              <a:rPr lang="it"/>
              <a:t>Operating on collections vs sequences</a:t>
            </a:r>
            <a:endParaRPr/>
          </a:p>
        </p:txBody>
      </p:sp>
      <p:sp>
        <p:nvSpPr>
          <p:cNvPr id="791" name="Google Shape;791;p87"/>
          <p:cNvSpPr txBox="1"/>
          <p:nvPr/>
        </p:nvSpPr>
        <p:spPr>
          <a:xfrm>
            <a:off x="760750" y="1055725"/>
            <a:ext cx="7622400" cy="1182300"/>
          </a:xfrm>
          <a:prstGeom prst="rect">
            <a:avLst/>
          </a:prstGeom>
          <a:solidFill>
            <a:srgbClr val="FFF2CC"/>
          </a:solidFill>
          <a:ln w="9525" cap="flat" cmpd="sng">
            <a:solidFill>
              <a:schemeClr val="dk1"/>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r>
              <a:rPr lang="it">
                <a:solidFill>
                  <a:schemeClr val="dk1"/>
                </a:solidFill>
                <a:latin typeface="Consolas"/>
                <a:ea typeface="Consolas"/>
                <a:cs typeface="Consolas"/>
                <a:sym typeface="Consolas"/>
              </a:rPr>
              <a:t>val words = "The quick brown fox jumps over the lazy dog".split(" ")</a:t>
            </a:r>
            <a:endParaRPr>
              <a:latin typeface="Consolas"/>
              <a:ea typeface="Consolas"/>
              <a:cs typeface="Consolas"/>
              <a:sym typeface="Consolas"/>
            </a:endParaRPr>
          </a:p>
          <a:p>
            <a:pPr marL="0" marR="0" lvl="0" indent="0" algn="l" rtl="0">
              <a:spcBef>
                <a:spcPts val="0"/>
              </a:spcBef>
              <a:spcAft>
                <a:spcPts val="0"/>
              </a:spcAft>
              <a:buNone/>
            </a:pPr>
            <a:endParaRPr>
              <a:solidFill>
                <a:schemeClr val="dk1"/>
              </a:solidFill>
              <a:latin typeface="Consolas"/>
              <a:ea typeface="Consolas"/>
              <a:cs typeface="Consolas"/>
              <a:sym typeface="Consolas"/>
            </a:endParaRPr>
          </a:p>
          <a:p>
            <a:pPr marL="0" marR="0" lvl="0" indent="0" algn="l" rtl="0">
              <a:spcBef>
                <a:spcPts val="0"/>
              </a:spcBef>
              <a:spcAft>
                <a:spcPts val="0"/>
              </a:spcAft>
              <a:buNone/>
            </a:pPr>
            <a:r>
              <a:rPr lang="it">
                <a:solidFill>
                  <a:schemeClr val="dk1"/>
                </a:solidFill>
                <a:latin typeface="Consolas"/>
                <a:ea typeface="Consolas"/>
                <a:cs typeface="Consolas"/>
                <a:sym typeface="Consolas"/>
              </a:rPr>
              <a:t>val lengthsList = words.filter { it.length &gt; 3 }</a:t>
            </a:r>
            <a:endParaRPr>
              <a:latin typeface="Consolas"/>
              <a:ea typeface="Consolas"/>
              <a:cs typeface="Consolas"/>
              <a:sym typeface="Consolas"/>
            </a:endParaRPr>
          </a:p>
          <a:p>
            <a:pPr marL="0" marR="0" lvl="0" indent="0" algn="l" rtl="0">
              <a:spcBef>
                <a:spcPts val="0"/>
              </a:spcBef>
              <a:spcAft>
                <a:spcPts val="0"/>
              </a:spcAft>
              <a:buNone/>
            </a:pPr>
            <a:r>
              <a:rPr lang="it">
                <a:solidFill>
                  <a:schemeClr val="dk1"/>
                </a:solidFill>
                <a:latin typeface="Consolas"/>
                <a:ea typeface="Consolas"/>
                <a:cs typeface="Consolas"/>
                <a:sym typeface="Consolas"/>
              </a:rPr>
              <a:t>    .map { it.length }</a:t>
            </a:r>
            <a:endParaRPr>
              <a:latin typeface="Consolas"/>
              <a:ea typeface="Consolas"/>
              <a:cs typeface="Consolas"/>
              <a:sym typeface="Consolas"/>
            </a:endParaRPr>
          </a:p>
          <a:p>
            <a:pPr marL="0" marR="0" lvl="0" indent="0" algn="l" rtl="0">
              <a:spcBef>
                <a:spcPts val="0"/>
              </a:spcBef>
              <a:spcAft>
                <a:spcPts val="0"/>
              </a:spcAft>
              <a:buNone/>
            </a:pPr>
            <a:r>
              <a:rPr lang="it">
                <a:solidFill>
                  <a:schemeClr val="dk1"/>
                </a:solidFill>
                <a:latin typeface="Consolas"/>
                <a:ea typeface="Consolas"/>
                <a:cs typeface="Consolas"/>
                <a:sym typeface="Consolas"/>
              </a:rPr>
              <a:t>    .take(4)</a:t>
            </a:r>
            <a:endParaRPr>
              <a:solidFill>
                <a:schemeClr val="dk1"/>
              </a:solidFill>
              <a:latin typeface="Consolas"/>
              <a:ea typeface="Consolas"/>
              <a:cs typeface="Consolas"/>
              <a:sym typeface="Consolas"/>
            </a:endParaRPr>
          </a:p>
          <a:p>
            <a:pPr marL="0" marR="0" lvl="0" indent="0" algn="l" rtl="0">
              <a:spcBef>
                <a:spcPts val="0"/>
              </a:spcBef>
              <a:spcAft>
                <a:spcPts val="0"/>
              </a:spcAft>
              <a:buNone/>
            </a:pPr>
            <a:endParaRPr>
              <a:latin typeface="Consolas"/>
              <a:ea typeface="Consolas"/>
              <a:cs typeface="Consolas"/>
              <a:sym typeface="Consolas"/>
            </a:endParaRPr>
          </a:p>
        </p:txBody>
      </p:sp>
      <p:pic>
        <p:nvPicPr>
          <p:cNvPr id="792" name="Google Shape;792;p87" descr="List processing"/>
          <p:cNvPicPr preferRelativeResize="0"/>
          <p:nvPr/>
        </p:nvPicPr>
        <p:blipFill rotWithShape="1">
          <a:blip r:embed="rId3">
            <a:alphaModFix/>
          </a:blip>
          <a:srcRect/>
          <a:stretch/>
        </p:blipFill>
        <p:spPr>
          <a:xfrm>
            <a:off x="1759692" y="2458500"/>
            <a:ext cx="5624512" cy="2141416"/>
          </a:xfrm>
          <a:prstGeom prst="rect">
            <a:avLst/>
          </a:prstGeom>
          <a:noFill/>
          <a:ln>
            <a:noFill/>
          </a:ln>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796"/>
        <p:cNvGrpSpPr/>
        <p:nvPr/>
      </p:nvGrpSpPr>
      <p:grpSpPr>
        <a:xfrm>
          <a:off x="0" y="0"/>
          <a:ext cx="0" cy="0"/>
          <a:chOff x="0" y="0"/>
          <a:chExt cx="0" cy="0"/>
        </a:xfrm>
      </p:grpSpPr>
      <p:sp>
        <p:nvSpPr>
          <p:cNvPr id="797" name="Google Shape;797;p88"/>
          <p:cNvSpPr txBox="1">
            <a:spLocks noGrp="1"/>
          </p:cNvSpPr>
          <p:nvPr>
            <p:ph type="title"/>
          </p:nvPr>
        </p:nvSpPr>
        <p:spPr>
          <a:xfrm>
            <a:off x="311700" y="445025"/>
            <a:ext cx="8520600" cy="572700"/>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None/>
            </a:pPr>
            <a:r>
              <a:rPr lang="it"/>
              <a:t>Operating on collections vs sequences</a:t>
            </a:r>
            <a:endParaRPr/>
          </a:p>
        </p:txBody>
      </p:sp>
      <p:sp>
        <p:nvSpPr>
          <p:cNvPr id="798" name="Google Shape;798;p88"/>
          <p:cNvSpPr txBox="1">
            <a:spLocks noGrp="1"/>
          </p:cNvSpPr>
          <p:nvPr>
            <p:ph type="sldNum" idx="12"/>
          </p:nvPr>
        </p:nvSpPr>
        <p:spPr>
          <a:xfrm>
            <a:off x="8472458" y="4768506"/>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it"/>
              <a:t>82</a:t>
            </a:fld>
            <a:endParaRPr/>
          </a:p>
        </p:txBody>
      </p:sp>
      <p:pic>
        <p:nvPicPr>
          <p:cNvPr id="799" name="Google Shape;799;p88" descr="Sequences processing"/>
          <p:cNvPicPr preferRelativeResize="0"/>
          <p:nvPr/>
        </p:nvPicPr>
        <p:blipFill rotWithShape="1">
          <a:blip r:embed="rId3">
            <a:alphaModFix/>
          </a:blip>
          <a:srcRect/>
          <a:stretch/>
        </p:blipFill>
        <p:spPr>
          <a:xfrm>
            <a:off x="2176671" y="2628364"/>
            <a:ext cx="4790659" cy="2065972"/>
          </a:xfrm>
          <a:prstGeom prst="rect">
            <a:avLst/>
          </a:prstGeom>
          <a:noFill/>
          <a:ln>
            <a:noFill/>
          </a:ln>
        </p:spPr>
      </p:pic>
      <p:sp>
        <p:nvSpPr>
          <p:cNvPr id="800" name="Google Shape;800;p88"/>
          <p:cNvSpPr txBox="1"/>
          <p:nvPr/>
        </p:nvSpPr>
        <p:spPr>
          <a:xfrm>
            <a:off x="770450" y="1004224"/>
            <a:ext cx="7701900" cy="1392900"/>
          </a:xfrm>
          <a:prstGeom prst="rect">
            <a:avLst/>
          </a:prstGeom>
          <a:solidFill>
            <a:srgbClr val="FFF2CC"/>
          </a:solidFill>
          <a:ln w="9525" cap="flat" cmpd="sng">
            <a:solidFill>
              <a:schemeClr val="dk1"/>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r>
              <a:rPr lang="it">
                <a:solidFill>
                  <a:schemeClr val="dk1"/>
                </a:solidFill>
                <a:latin typeface="Consolas"/>
                <a:ea typeface="Consolas"/>
                <a:cs typeface="Consolas"/>
                <a:sym typeface="Consolas"/>
              </a:rPr>
              <a:t>val words = "The quick brown fox jumps over the lazy dog".split(" ")</a:t>
            </a:r>
            <a:endParaRPr>
              <a:latin typeface="Consolas"/>
              <a:ea typeface="Consolas"/>
              <a:cs typeface="Consolas"/>
              <a:sym typeface="Consolas"/>
            </a:endParaRPr>
          </a:p>
          <a:p>
            <a:pPr marL="0" marR="0" lvl="0" indent="0" algn="l" rtl="0">
              <a:spcBef>
                <a:spcPts val="0"/>
              </a:spcBef>
              <a:spcAft>
                <a:spcPts val="0"/>
              </a:spcAft>
              <a:buNone/>
            </a:pPr>
            <a:r>
              <a:rPr lang="it">
                <a:solidFill>
                  <a:schemeClr val="dk1"/>
                </a:solidFill>
                <a:latin typeface="Consolas"/>
                <a:ea typeface="Consolas"/>
                <a:cs typeface="Consolas"/>
                <a:sym typeface="Consolas"/>
              </a:rPr>
              <a:t>val wordsSequence = words</a:t>
            </a:r>
            <a:r>
              <a:rPr lang="it">
                <a:solidFill>
                  <a:schemeClr val="dk1"/>
                </a:solidFill>
                <a:highlight>
                  <a:schemeClr val="accent6"/>
                </a:highlight>
                <a:latin typeface="Consolas"/>
                <a:ea typeface="Consolas"/>
                <a:cs typeface="Consolas"/>
                <a:sym typeface="Consolas"/>
              </a:rPr>
              <a:t>.asSequence()</a:t>
            </a:r>
            <a:endParaRPr>
              <a:solidFill>
                <a:schemeClr val="dk1"/>
              </a:solidFill>
              <a:highlight>
                <a:schemeClr val="accent6"/>
              </a:highlight>
              <a:latin typeface="Consolas"/>
              <a:ea typeface="Consolas"/>
              <a:cs typeface="Consolas"/>
              <a:sym typeface="Consolas"/>
            </a:endParaRPr>
          </a:p>
          <a:p>
            <a:pPr marL="0" marR="0" lvl="0" indent="0" algn="l" rtl="0">
              <a:spcBef>
                <a:spcPts val="0"/>
              </a:spcBef>
              <a:spcAft>
                <a:spcPts val="0"/>
              </a:spcAft>
              <a:buNone/>
            </a:pPr>
            <a:r>
              <a:rPr lang="it">
                <a:solidFill>
                  <a:schemeClr val="dk1"/>
                </a:solidFill>
                <a:latin typeface="Consolas"/>
                <a:ea typeface="Consolas"/>
                <a:cs typeface="Consolas"/>
                <a:sym typeface="Consolas"/>
              </a:rPr>
              <a:t>val lengthsList = wordsSequence.filter {it.length &gt; 3 }</a:t>
            </a:r>
            <a:endParaRPr>
              <a:latin typeface="Consolas"/>
              <a:ea typeface="Consolas"/>
              <a:cs typeface="Consolas"/>
              <a:sym typeface="Consolas"/>
            </a:endParaRPr>
          </a:p>
          <a:p>
            <a:pPr marL="0" marR="0" lvl="0" indent="0" algn="l" rtl="0">
              <a:spcBef>
                <a:spcPts val="0"/>
              </a:spcBef>
              <a:spcAft>
                <a:spcPts val="0"/>
              </a:spcAft>
              <a:buNone/>
            </a:pPr>
            <a:r>
              <a:rPr lang="it">
                <a:solidFill>
                  <a:schemeClr val="dk1"/>
                </a:solidFill>
                <a:latin typeface="Consolas"/>
                <a:ea typeface="Consolas"/>
                <a:cs typeface="Consolas"/>
                <a:sym typeface="Consolas"/>
              </a:rPr>
              <a:t>    .map { it.length }</a:t>
            </a:r>
            <a:endParaRPr>
              <a:latin typeface="Consolas"/>
              <a:ea typeface="Consolas"/>
              <a:cs typeface="Consolas"/>
              <a:sym typeface="Consolas"/>
            </a:endParaRPr>
          </a:p>
          <a:p>
            <a:pPr marL="0" marR="0" lvl="0" indent="0" algn="l" rtl="0">
              <a:spcBef>
                <a:spcPts val="0"/>
              </a:spcBef>
              <a:spcAft>
                <a:spcPts val="0"/>
              </a:spcAft>
              <a:buNone/>
            </a:pPr>
            <a:r>
              <a:rPr lang="it">
                <a:solidFill>
                  <a:schemeClr val="dk1"/>
                </a:solidFill>
                <a:latin typeface="Consolas"/>
                <a:ea typeface="Consolas"/>
                <a:cs typeface="Consolas"/>
                <a:sym typeface="Consolas"/>
              </a:rPr>
              <a:t>    .take(4)</a:t>
            </a:r>
            <a:endParaRPr>
              <a:latin typeface="Consolas"/>
              <a:ea typeface="Consolas"/>
              <a:cs typeface="Consolas"/>
              <a:sym typeface="Consolas"/>
            </a:endParaRPr>
          </a:p>
          <a:p>
            <a:pPr marL="0" marR="0" lvl="0" indent="0" algn="l" rtl="0">
              <a:spcBef>
                <a:spcPts val="0"/>
              </a:spcBef>
              <a:spcAft>
                <a:spcPts val="0"/>
              </a:spcAft>
              <a:buNone/>
            </a:pPr>
            <a:r>
              <a:rPr lang="it">
                <a:solidFill>
                  <a:schemeClr val="dk1"/>
                </a:solidFill>
                <a:latin typeface="Consolas"/>
                <a:ea typeface="Consolas"/>
                <a:cs typeface="Consolas"/>
                <a:sym typeface="Consolas"/>
              </a:rPr>
              <a:t>    .toList()  //consumer</a:t>
            </a:r>
            <a:endParaRPr>
              <a:latin typeface="Consolas"/>
              <a:ea typeface="Consolas"/>
              <a:cs typeface="Consolas"/>
              <a:sym typeface="Consolas"/>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804"/>
        <p:cNvGrpSpPr/>
        <p:nvPr/>
      </p:nvGrpSpPr>
      <p:grpSpPr>
        <a:xfrm>
          <a:off x="0" y="0"/>
          <a:ext cx="0" cy="0"/>
          <a:chOff x="0" y="0"/>
          <a:chExt cx="0" cy="0"/>
        </a:xfrm>
      </p:grpSpPr>
      <p:sp>
        <p:nvSpPr>
          <p:cNvPr id="805" name="Google Shape;805;p8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it" sz="2820"/>
              <a:t>Learning more</a:t>
            </a:r>
            <a:endParaRPr sz="2820"/>
          </a:p>
        </p:txBody>
      </p:sp>
      <p:sp>
        <p:nvSpPr>
          <p:cNvPr id="806" name="Google Shape;806;p89"/>
          <p:cNvSpPr txBox="1">
            <a:spLocks noGrp="1"/>
          </p:cNvSpPr>
          <p:nvPr>
            <p:ph type="body" idx="1"/>
          </p:nvPr>
        </p:nvSpPr>
        <p:spPr>
          <a:xfrm>
            <a:off x="311150" y="1244204"/>
            <a:ext cx="8521800" cy="3393300"/>
          </a:xfrm>
          <a:prstGeom prst="rect">
            <a:avLst/>
          </a:prstGeom>
        </p:spPr>
        <p:txBody>
          <a:bodyPr spcFirstLastPara="1" wrap="square" lIns="91425" tIns="45700" rIns="91425" bIns="45700" anchor="t" anchorCtr="0">
            <a:normAutofit/>
          </a:bodyPr>
          <a:lstStyle/>
          <a:p>
            <a:pPr marL="457200" lvl="0" indent="-355600" algn="l" rtl="0">
              <a:spcBef>
                <a:spcPts val="600"/>
              </a:spcBef>
              <a:spcAft>
                <a:spcPts val="0"/>
              </a:spcAft>
              <a:buSzPts val="2000"/>
              <a:buChar char="•"/>
            </a:pPr>
            <a:r>
              <a:rPr lang="it"/>
              <a:t>Diving Deeper Into Kotlin Standard Library Functions</a:t>
            </a:r>
            <a:endParaRPr/>
          </a:p>
          <a:p>
            <a:pPr marL="914400" lvl="1" indent="-330200" algn="l" rtl="0">
              <a:spcBef>
                <a:spcPts val="300"/>
              </a:spcBef>
              <a:spcAft>
                <a:spcPts val="0"/>
              </a:spcAft>
              <a:buSzPts val="1600"/>
              <a:buChar char="○"/>
            </a:pPr>
            <a:r>
              <a:rPr lang="it" u="sng">
                <a:solidFill>
                  <a:schemeClr val="hlink"/>
                </a:solidFill>
                <a:hlinkClick r:id="rId3"/>
              </a:rPr>
              <a:t>https://blog.kiprosh.com/kotlin-standard-library-functions/</a:t>
            </a:r>
            <a:r>
              <a:rPr lang="it"/>
              <a:t> </a:t>
            </a:r>
            <a:endParaRPr/>
          </a:p>
          <a:p>
            <a:pPr marL="457200" lvl="0" indent="-355600" algn="l" rtl="0">
              <a:spcBef>
                <a:spcPts val="600"/>
              </a:spcBef>
              <a:spcAft>
                <a:spcPts val="0"/>
              </a:spcAft>
              <a:buSzPts val="2000"/>
              <a:buChar char="•"/>
            </a:pPr>
            <a:r>
              <a:rPr lang="it"/>
              <a:t>Kotlin Nitpicks: Language and Standard Library</a:t>
            </a:r>
            <a:endParaRPr/>
          </a:p>
          <a:p>
            <a:pPr marL="914400" lvl="1" indent="-330200" algn="l" rtl="0">
              <a:spcBef>
                <a:spcPts val="300"/>
              </a:spcBef>
              <a:spcAft>
                <a:spcPts val="0"/>
              </a:spcAft>
              <a:buSzPts val="1600"/>
              <a:buChar char="○"/>
            </a:pPr>
            <a:r>
              <a:rPr lang="it" u="sng">
                <a:solidFill>
                  <a:schemeClr val="hlink"/>
                </a:solidFill>
                <a:hlinkClick r:id="rId4"/>
              </a:rPr>
              <a:t>https://niklaslochschmidt.com/blog/2022/kotlin-nitpicks-language-and-stdlib/</a:t>
            </a:r>
            <a:r>
              <a:rPr lang="it"/>
              <a:t> </a:t>
            </a:r>
            <a:endParaRPr/>
          </a:p>
          <a:p>
            <a:pPr marL="457200" lvl="0" indent="-355600" algn="l" rtl="0">
              <a:spcBef>
                <a:spcPts val="600"/>
              </a:spcBef>
              <a:spcAft>
                <a:spcPts val="0"/>
              </a:spcAft>
              <a:buSzPts val="2000"/>
              <a:buChar char="•"/>
            </a:pPr>
            <a:r>
              <a:rPr lang="it"/>
              <a:t>Kotlin’s way to make DSLs and many standard library functions work</a:t>
            </a:r>
            <a:endParaRPr/>
          </a:p>
          <a:p>
            <a:pPr marL="914400" lvl="1" indent="-330200" algn="l" rtl="0">
              <a:spcBef>
                <a:spcPts val="300"/>
              </a:spcBef>
              <a:spcAft>
                <a:spcPts val="0"/>
              </a:spcAft>
              <a:buSzPts val="1600"/>
              <a:buChar char="○"/>
            </a:pPr>
            <a:r>
              <a:rPr lang="it" u="sng">
                <a:solidFill>
                  <a:schemeClr val="hlink"/>
                </a:solidFill>
                <a:hlinkClick r:id="rId5"/>
              </a:rPr>
              <a:t>https://proandroiddev.com/kotlins-way-to-make-dsls-and-many-standard-library-functions-work-a8e750c38628</a:t>
            </a:r>
            <a:r>
              <a:rPr lang="it"/>
              <a:t> </a:t>
            </a:r>
            <a:endParaRPr/>
          </a:p>
          <a:p>
            <a:pPr marL="0" lvl="0" indent="0" algn="l" rtl="0">
              <a:spcBef>
                <a:spcPts val="600"/>
              </a:spcBef>
              <a:spcAft>
                <a:spcPts val="0"/>
              </a:spcAft>
              <a:buNone/>
            </a:pPr>
            <a:endParaRPr/>
          </a:p>
        </p:txBody>
      </p:sp>
      <p:sp>
        <p:nvSpPr>
          <p:cNvPr id="807" name="Google Shape;807;p89"/>
          <p:cNvSpPr txBox="1">
            <a:spLocks noGrp="1"/>
          </p:cNvSpPr>
          <p:nvPr>
            <p:ph type="sldNum" idx="12"/>
          </p:nvPr>
        </p:nvSpPr>
        <p:spPr>
          <a:xfrm>
            <a:off x="8472458" y="4768506"/>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it"/>
              <a:t>83</a:t>
            </a:fld>
            <a:endParaRPr/>
          </a:p>
        </p:txBody>
      </p:sp>
      <p:pic>
        <p:nvPicPr>
          <p:cNvPr id="808" name="Google Shape;808;p89"/>
          <p:cNvPicPr preferRelativeResize="0"/>
          <p:nvPr/>
        </p:nvPicPr>
        <p:blipFill rotWithShape="1">
          <a:blip r:embed="rId6">
            <a:alphaModFix/>
          </a:blip>
          <a:srcRect l="17234" t="18799" r="17234" b="18805"/>
          <a:stretch/>
        </p:blipFill>
        <p:spPr>
          <a:xfrm>
            <a:off x="7771925" y="156614"/>
            <a:ext cx="1249224" cy="1189485"/>
          </a:xfrm>
          <a:prstGeom prst="rect">
            <a:avLst/>
          </a:prstGeom>
          <a:noFill/>
          <a:ln>
            <a:noFill/>
          </a:ln>
        </p:spPr>
      </p:pic>
    </p:spTree>
  </p:cSld>
  <p:clrMapOvr>
    <a:masterClrMapping/>
  </p:clrMapOvr>
</p:sld>
</file>

<file path=ppt/theme/theme1.xml><?xml version="1.0" encoding="utf-8"?>
<a:theme xmlns:a="http://schemas.openxmlformats.org/drawingml/2006/main" name="Polito">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9192</Words>
  <Application>Microsoft Macintosh PowerPoint</Application>
  <PresentationFormat>On-screen Show (16:9)</PresentationFormat>
  <Paragraphs>1015</Paragraphs>
  <Slides>83</Slides>
  <Notes>83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83</vt:i4>
      </vt:variant>
    </vt:vector>
  </HeadingPairs>
  <TitlesOfParts>
    <vt:vector size="87" baseType="lpstr">
      <vt:lpstr>Arial</vt:lpstr>
      <vt:lpstr>Calibri</vt:lpstr>
      <vt:lpstr>Consolas</vt:lpstr>
      <vt:lpstr>Polito</vt:lpstr>
      <vt:lpstr>The Kotlin programming language</vt:lpstr>
      <vt:lpstr>Introduction and history</vt:lpstr>
      <vt:lpstr>The Kotlin timeline</vt:lpstr>
      <vt:lpstr>Playing around with Kotlin</vt:lpstr>
      <vt:lpstr>The Kotlin type system</vt:lpstr>
      <vt:lpstr>Primitive types</vt:lpstr>
      <vt:lpstr>Null safety</vt:lpstr>
      <vt:lpstr>Kotlin type system hierarchy</vt:lpstr>
      <vt:lpstr>Using nullable types </vt:lpstr>
      <vt:lpstr>Using nullable types</vt:lpstr>
      <vt:lpstr>The Unit type</vt:lpstr>
      <vt:lpstr>Variables and values</vt:lpstr>
      <vt:lpstr>Variables and values</vt:lpstr>
      <vt:lpstr>Function types</vt:lpstr>
      <vt:lpstr>Named functions</vt:lpstr>
      <vt:lpstr>Function parameters</vt:lpstr>
      <vt:lpstr>Function body</vt:lpstr>
      <vt:lpstr>Control statements</vt:lpstr>
      <vt:lpstr>Control statements</vt:lpstr>
      <vt:lpstr>Loops and iterators</vt:lpstr>
      <vt:lpstr>Function literals</vt:lpstr>
      <vt:lpstr>Lambda expressions</vt:lpstr>
      <vt:lpstr>Trailing lambdas</vt:lpstr>
      <vt:lpstr>Higher order functions</vt:lpstr>
      <vt:lpstr>Closures</vt:lpstr>
      <vt:lpstr>User defined types</vt:lpstr>
      <vt:lpstr>Classes</vt:lpstr>
      <vt:lpstr>Constructors</vt:lpstr>
      <vt:lpstr>Constructors</vt:lpstr>
      <vt:lpstr>Properties</vt:lpstr>
      <vt:lpstr>Inner fields</vt:lpstr>
      <vt:lpstr>Properties</vt:lpstr>
      <vt:lpstr>Visibility modifiers</vt:lpstr>
      <vt:lpstr>Lateinit var properties</vt:lpstr>
      <vt:lpstr>Delegates</vt:lpstr>
      <vt:lpstr>Lazy properties</vt:lpstr>
      <vt:lpstr>Observable properties</vt:lpstr>
      <vt:lpstr>Custom delegates</vt:lpstr>
      <vt:lpstr>Methods</vt:lpstr>
      <vt:lpstr>Operator overloading</vt:lpstr>
      <vt:lpstr>Equality testing</vt:lpstr>
      <vt:lpstr>hashCode()</vt:lpstr>
      <vt:lpstr>Order testing</vt:lpstr>
      <vt:lpstr>Singleton objects</vt:lpstr>
      <vt:lpstr>Companion objects</vt:lpstr>
      <vt:lpstr>Extension functions</vt:lpstr>
      <vt:lpstr>Extension functions</vt:lpstr>
      <vt:lpstr>Inheritance</vt:lpstr>
      <vt:lpstr>Inheritance</vt:lpstr>
      <vt:lpstr>Inheritance</vt:lpstr>
      <vt:lpstr>Data classes</vt:lpstr>
      <vt:lpstr>Plain classes vs data classes</vt:lpstr>
      <vt:lpstr>Plain classes vs data classes</vt:lpstr>
      <vt:lpstr>Enum classes</vt:lpstr>
      <vt:lpstr>Enum classes</vt:lpstr>
      <vt:lpstr>Enum classes</vt:lpstr>
      <vt:lpstr>Sealed classes</vt:lpstr>
      <vt:lpstr>Sealed classes</vt:lpstr>
      <vt:lpstr>Generics</vt:lpstr>
      <vt:lpstr>Generic functions</vt:lpstr>
      <vt:lpstr>Generic classes</vt:lpstr>
      <vt:lpstr>Variance in generic classes</vt:lpstr>
      <vt:lpstr>Variance in generic classes</vt:lpstr>
      <vt:lpstr>Scoped functions</vt:lpstr>
      <vt:lpstr>Scoped functions</vt:lpstr>
      <vt:lpstr>Choosing a scoped function</vt:lpstr>
      <vt:lpstr>Type checking and casting</vt:lpstr>
      <vt:lpstr>Smart casts</vt:lpstr>
      <vt:lpstr>The Kotlin collection library</vt:lpstr>
      <vt:lpstr>Working with collections </vt:lpstr>
      <vt:lpstr>Filtering methods</vt:lpstr>
      <vt:lpstr>Grouping methods</vt:lpstr>
      <vt:lpstr>Grouping methods</vt:lpstr>
      <vt:lpstr>Mapping methods</vt:lpstr>
      <vt:lpstr>Mapping methods</vt:lpstr>
      <vt:lpstr>Mapping methods</vt:lpstr>
      <vt:lpstr>Boolean methods</vt:lpstr>
      <vt:lpstr>Boolean methods</vt:lpstr>
      <vt:lpstr>Sequences</vt:lpstr>
      <vt:lpstr>Creating sequences</vt:lpstr>
      <vt:lpstr>Operating on collections vs sequences</vt:lpstr>
      <vt:lpstr>Operating on collections vs sequences</vt:lpstr>
      <vt:lpstr>Learning more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Kotlin programming language</dc:title>
  <cp:lastModifiedBy>Giovanni Malnati</cp:lastModifiedBy>
  <cp:revision>1</cp:revision>
  <dcterms:modified xsi:type="dcterms:W3CDTF">2024-03-01T15:56:53Z</dcterms:modified>
</cp:coreProperties>
</file>