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5"/>
  </p:normalViewPr>
  <p:slideViewPr>
    <p:cSldViewPr snapToGrid="0" showGuides="1">
      <p:cViewPr varScale="1">
        <p:scale>
          <a:sx n="160" d="100"/>
          <a:sy n="160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ac34362738_0_9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ac34362738_0_9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c34362738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2ac34362738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c34362738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c34362738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c34362738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ac34362738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c34362738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c34362738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cdff78f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acdff78f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34362738_0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34362738_0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c34362738_0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ac34362738_0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c34362738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c34362738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ac34362738_0_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ac34362738_0_9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c34362738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ac34362738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ac34362738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ac34362738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c34362738_0_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ac34362738_0_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cdff78ff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cdff78ff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acdff78ff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acdff78ff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cdff78ff9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acdff78ff9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cdff78ff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acdff78ff9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ac34362738_0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ac34362738_0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f16960a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af16960a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c34362738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ac34362738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2ac34362738_0_6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c34362738_0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ac34362738_0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2ac34362738_0_6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c34362738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2ac34362738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ac34362738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2ac34362738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ac67ba29e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ac67ba29e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af16960aa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af16960aa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af16960a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af16960a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ac34362738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2ac34362738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ac34362738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ac34362738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ac34362738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ac67ba29e1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ac67ba29e1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ac67ba29e1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2ac67ba29e1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ac67ba29e1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2ac67ba29e1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ac67ba29e1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ac67ba29e1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2ac67ba29e1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ac67ba29e1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ac67ba29e1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2ac67ba29e1_0_3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ac67ba29e1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ac67ba29e1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ac67ba29e1_0_3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ac67ba29e1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ac67ba29e1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2ac67ba29e1_0_2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ac67ba29e1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ac67ba29e1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2ac67ba29e1_0_2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b1aaafd9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b1aaafd9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b1aaafd9d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b1aaafd9d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b1aaafd9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b1aaafd9d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b1aaafd9d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b1aaafd9d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b143395f3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2b143395f3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b4f84cc1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b4f84cc1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b143395f3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2b143395f3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b4f84cc1d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b4f84cc1d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b143395f3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g2b143395f3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b143395f3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g2b143395f3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b143395f3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2b143395f3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ac67ba29e1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2ac67ba29e1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ac67ba29e1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g2ac67ba29e1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ac67ba29e1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00" name="Google Shape;600;g2ac67ba29e1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g2ac67ba29e1_0_4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ac67ba29e1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g2ac67ba29e1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ac67ba29e1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g2ac67ba29e1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ac67ba29e1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2ac67ba29e1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ac67ba29e1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2ac67ba29e1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ac67ba29e1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g2ac67ba29e1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ac67ba29e1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g2ac67ba29e1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ac67ba29e1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ac67ba29e1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2ac67ba29e1_0_5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ac67ba29e1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2ac67ba29e1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b143395f3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b143395f3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af16960aa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af16960aa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ac67ba29e1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g2ac67ba29e1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ac67ba29e1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2ac67ba29e1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ac67ba29e1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g2ac67ba29e1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ac67ba29e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g2ac67ba29e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ac67ba29e1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g2ac67ba29e1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ac67ba29e1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g2ac67ba29e1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ac67ba29e1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g2ac67ba29e1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ac67ba29e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g2ac67ba29e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ac67ba29e1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g2ac67ba29e1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192854a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192854a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b192854ae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b192854ae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b192854ae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b192854ae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b192854ae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b192854ae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b192854ae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b192854ae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ac67ba29e1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g2ac67ba29e1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ac67ba29e1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g2ac67ba29e1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ac67ba29e1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g2ac67ba29e1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ac67ba29e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g2ac67ba29e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ac67ba29e1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g2ac67ba29e1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ac67ba29e1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g2ac67ba29e1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ac34362738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g2ac34362738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596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1750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1750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una colonna">
  <p:cSld name="TITLE_AND_TWO_COLUMNS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17500" rtl="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>
  <p:cSld name="Titolo e contenu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ourier New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Courier New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250371" y="205740"/>
            <a:ext cx="8683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6"/>
                </a:highlight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9949" y="1143000"/>
            <a:ext cx="41271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o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2"/>
          </p:nvPr>
        </p:nvSpPr>
        <p:spPr>
          <a:xfrm>
            <a:off x="4757060" y="1143000"/>
            <a:ext cx="417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i="1">
                <a:solidFill>
                  <a:schemeClr val="lt1"/>
                </a:solidFill>
              </a:rPr>
              <a:t>© G. Malnati, A. Rabino, 2021-24</a:t>
            </a:r>
            <a:endParaRPr sz="1100" i="1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34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tlin/kotlinx.coroutin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androiddev.com/how-do-coroutines-work-under-the-hood-803e6e9da8bb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robert.baricevicpetrus/kotlin-flows-animated-55640aa48ac9" TargetMode="External"/><Relationship Id="rId5" Type="http://schemas.openxmlformats.org/officeDocument/2006/relationships/hyperlink" Target="https://medium.com/@lucianoalmeida1/an-overview-on-kotlin-coroutines-d55e123e137b" TargetMode="External"/><Relationship Id="rId4" Type="http://schemas.openxmlformats.org/officeDocument/2006/relationships/hyperlink" Target="https://doordash.engineering/2021/11/09/the-beginners-guide-to-kotlin-coroutine-intern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4800"/>
              <a:t>Coroutines</a:t>
            </a:r>
            <a:endParaRPr sz="4800"/>
          </a:p>
        </p:txBody>
      </p:sp>
      <p:sp>
        <p:nvSpPr>
          <p:cNvPr id="54" name="Google Shape;54;p12"/>
          <p:cNvSpPr txBox="1">
            <a:spLocks noGrp="1"/>
          </p:cNvSpPr>
          <p:nvPr>
            <p:ph type="subTitle" idx="1"/>
          </p:nvPr>
        </p:nvSpPr>
        <p:spPr>
          <a:xfrm>
            <a:off x="311700" y="3596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55" name="Google Shape;55;p12" descr="Understanding Kotlin Coroutines with this mental model | by Lukas Lechner |  ProAndroidDev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0650" y="331587"/>
            <a:ext cx="2302700" cy="21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Kotlin coroutines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44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Coroutines create an </a:t>
            </a:r>
            <a:r>
              <a:rPr lang="it" b="1">
                <a:solidFill>
                  <a:srgbClr val="0B5394"/>
                </a:solidFill>
              </a:rPr>
              <a:t>abstraction layer</a:t>
            </a:r>
            <a:r>
              <a:rPr lang="it"/>
              <a:t> on top of system threading, providing a more consistent, scalable, and maintainable abstraction for writing asynchronous code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They achieve their result extending the Kotlin language with a new concept (suspending functions) and providing a consistent library to support their working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They also leverage on the compiler support, the manages in a completely different way the code which is generated by suspending functions</a:t>
            </a:r>
            <a:endParaRPr/>
          </a:p>
          <a:p>
            <a:pPr marL="269875" lvl="0" indent="-244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theory behind coroutines is quite old: it dates back to 1960s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But their implementation has become viable only recently, thanks to the larger computational resources available, the influence of the functional programming paradigm, and the support provided by modern languages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Coroutines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44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Formally, a coroutine is an instance of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suspendable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computation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That is, a computation that can suspend at a given point, freeze its own state, and later be resumed, possibly in different thread from the one in which it started</a:t>
            </a:r>
            <a:endParaRPr/>
          </a:p>
          <a:p>
            <a:pPr marL="269875" lvl="0" indent="-244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This concept enables several cooperative programming paradigms, which will be explored and detailed later on 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i="1"/>
              <a:t>Asynchronous and concurrent execution</a:t>
            </a:r>
            <a:endParaRPr i="1"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i="1"/>
              <a:t>Futures</a:t>
            </a:r>
            <a:endParaRPr i="1"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i="1"/>
              <a:t>Generators</a:t>
            </a:r>
            <a:endParaRPr i="1"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i="1"/>
              <a:t>Channels</a:t>
            </a:r>
            <a:endParaRPr i="1"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i="1"/>
              <a:t>Flows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coroutines do provide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44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Possibility to express sequential logic, while coping with asynchronous computation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Sequential code is easier to write and to understand: no callback hell, standard semantics for handling exceptions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Asynchronous computation allows not to block on the main thread</a:t>
            </a:r>
            <a:endParaRPr/>
          </a:p>
          <a:p>
            <a:pPr marL="269875" lvl="0" indent="-244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Composability and cancellability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Several cooperating computations may be grouped in task and subtask, easily tracking termination, failure, and cancelation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Easy-to-refactor code to deal with more complex situations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thread-based approach to concurrency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When a "standard" function is executed, it performs its computation up to the end or to a failure point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If, at any point, it cannot continue because it needs a resource that is not available at the moment (e.g., when performing I/O), the OS will block the thread, marking it as "not_runnable", until the resource becomes available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any other operation has to be performed meanwhile, it must be scheduled on a different thread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approach, while working, does not scale well: since each thread is going to consume a set of kernel resources as well as a bunch of process memory to allocate its stack, the practical number of thread that can be allocated per process is in the range of several hundreds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rationale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 dirty="0">
                <a:solidFill>
                  <a:schemeClr val="dk1"/>
                </a:solidFill>
              </a:rPr>
              <a:t>The main idea behind Kotlin coroutines is that, instead of creating a new thread, it is possible to suspend a computation and resume it later on</a:t>
            </a:r>
            <a:endParaRPr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dirty="0">
                <a:solidFill>
                  <a:schemeClr val="dk1"/>
                </a:solidFill>
              </a:rPr>
              <a:t>The current thread becomes now eligible to process a different computation</a:t>
            </a:r>
            <a:endParaRPr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dirty="0">
                <a:solidFill>
                  <a:schemeClr val="dk1"/>
                </a:solidFill>
              </a:rPr>
              <a:t>This allows to achieve a form of concurrency that is easier to understand and more scalable</a:t>
            </a:r>
            <a:endParaRPr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dirty="0"/>
              <a:t>Thus coroutines can be used wherever threads would be directly used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dirty="0"/>
              <a:t>Internally, coroutines are powered by one or more threads provided by the underlying platform</a:t>
            </a:r>
            <a:endParaRPr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dirty="0"/>
              <a:t>Thus they can benefit from the potential parallelism stemming from it</a:t>
            </a:r>
            <a:endParaRPr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dirty="0"/>
              <a:t>But they are not constrained by the limits of threads imposed by the operating system, since it is possible to achieve concurrency even in presence of a single thread of execution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rationale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With coroutines, a computation that cannot proceed may </a:t>
            </a:r>
            <a:r>
              <a:rPr lang="it" b="1">
                <a:solidFill>
                  <a:srgbClr val="0B5394"/>
                </a:solidFill>
              </a:rPr>
              <a:t>suspend</a:t>
            </a:r>
            <a:r>
              <a:rPr lang="it">
                <a:solidFill>
                  <a:schemeClr val="dk1"/>
                </a:solidFill>
              </a:rPr>
              <a:t> itself 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When this happens, it first arranges a way to resume, than it freezes its state into an object, freeing the the thread, which can be used to resume a different computation, if any is available</a:t>
            </a:r>
            <a:endParaRPr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This assumes that tasks to be executed (coroutines) have their own identity, not tied to the identity of the thread running them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And that there exists a scheduling system that manages their state, so that all computations can proceed concurrently and, eventually, terminate</a:t>
            </a:r>
            <a:endParaRPr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A coroutine system may be backed by one or more threads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Their number defines the maximum level of parallelism that is achievable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rationale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  <p:cxnSp>
        <p:nvCxnSpPr>
          <p:cNvPr id="104" name="Google Shape;104;p19"/>
          <p:cNvCxnSpPr/>
          <p:nvPr/>
        </p:nvCxnSpPr>
        <p:spPr>
          <a:xfrm>
            <a:off x="542425" y="3512875"/>
            <a:ext cx="7899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5" name="Google Shape;105;p19"/>
          <p:cNvSpPr txBox="1"/>
          <p:nvPr/>
        </p:nvSpPr>
        <p:spPr>
          <a:xfrm>
            <a:off x="210575" y="3412775"/>
            <a:ext cx="202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Calibri"/>
                <a:ea typeface="Calibri"/>
                <a:cs typeface="Calibri"/>
                <a:sym typeface="Calibri"/>
              </a:rPr>
              <a:t>Operating System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210575" y="3031775"/>
            <a:ext cx="202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19"/>
          <p:cNvGrpSpPr/>
          <p:nvPr/>
        </p:nvGrpSpPr>
        <p:grpSpPr>
          <a:xfrm>
            <a:off x="519300" y="1408938"/>
            <a:ext cx="8105400" cy="1701900"/>
            <a:chOff x="519300" y="1408938"/>
            <a:chExt cx="8105400" cy="1701900"/>
          </a:xfrm>
        </p:grpSpPr>
        <p:sp>
          <p:nvSpPr>
            <p:cNvPr id="108" name="Google Shape;108;p19"/>
            <p:cNvSpPr/>
            <p:nvPr/>
          </p:nvSpPr>
          <p:spPr>
            <a:xfrm>
              <a:off x="519300" y="1408938"/>
              <a:ext cx="8105400" cy="17019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alibri"/>
                  <a:ea typeface="Calibri"/>
                  <a:cs typeface="Calibri"/>
                  <a:sym typeface="Calibri"/>
                </a:rPr>
                <a:t>Coroutine scheduler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" name="Google Shape;109;p19"/>
            <p:cNvGrpSpPr/>
            <p:nvPr/>
          </p:nvGrpSpPr>
          <p:grpSpPr>
            <a:xfrm>
              <a:off x="818200" y="1773295"/>
              <a:ext cx="7507600" cy="973200"/>
              <a:chOff x="818200" y="1773295"/>
              <a:chExt cx="7507600" cy="973200"/>
            </a:xfrm>
          </p:grpSpPr>
          <p:grpSp>
            <p:nvGrpSpPr>
              <p:cNvPr id="110" name="Google Shape;110;p19"/>
              <p:cNvGrpSpPr/>
              <p:nvPr/>
            </p:nvGrpSpPr>
            <p:grpSpPr>
              <a:xfrm>
                <a:off x="818200" y="1773295"/>
                <a:ext cx="973200" cy="973200"/>
                <a:chOff x="818200" y="1773303"/>
                <a:chExt cx="973200" cy="973200"/>
              </a:xfrm>
            </p:grpSpPr>
            <p:grpSp>
              <p:nvGrpSpPr>
                <p:cNvPr id="111" name="Google Shape;111;p19"/>
                <p:cNvGrpSpPr/>
                <p:nvPr/>
              </p:nvGrpSpPr>
              <p:grpSpPr>
                <a:xfrm>
                  <a:off x="818200" y="1773303"/>
                  <a:ext cx="973200" cy="973200"/>
                  <a:chOff x="531350" y="1777600"/>
                  <a:chExt cx="973200" cy="973200"/>
                </a:xfrm>
              </p:grpSpPr>
              <p:sp>
                <p:nvSpPr>
                  <p:cNvPr id="112" name="Google Shape;112;p19"/>
                  <p:cNvSpPr/>
                  <p:nvPr/>
                </p:nvSpPr>
                <p:spPr>
                  <a:xfrm>
                    <a:off x="531350" y="1777600"/>
                    <a:ext cx="973200" cy="9732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CE5CD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t">
                        <a:latin typeface="Calibri"/>
                        <a:ea typeface="Calibri"/>
                        <a:cs typeface="Calibri"/>
                        <a:sym typeface="Calibri"/>
                      </a:rPr>
                      <a:t>Coro1</a:t>
                    </a: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13" name="Google Shape;113;p19"/>
                  <p:cNvPicPr preferRelativeResize="0"/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1052450" y="1777600"/>
                    <a:ext cx="452100" cy="452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14" name="Google Shape;114;p19"/>
                <p:cNvGrpSpPr/>
                <p:nvPr/>
              </p:nvGrpSpPr>
              <p:grpSpPr>
                <a:xfrm>
                  <a:off x="818200" y="2352975"/>
                  <a:ext cx="393528" cy="393528"/>
                  <a:chOff x="4882675" y="-5300"/>
                  <a:chExt cx="1579800" cy="1579800"/>
                </a:xfrm>
              </p:grpSpPr>
              <p:sp>
                <p:nvSpPr>
                  <p:cNvPr id="115" name="Google Shape;115;p19"/>
                  <p:cNvSpPr/>
                  <p:nvPr/>
                </p:nvSpPr>
                <p:spPr>
                  <a:xfrm>
                    <a:off x="4882675" y="-5300"/>
                    <a:ext cx="1579800" cy="1579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16" name="Google Shape;116;p19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5017237" y="129262"/>
                    <a:ext cx="1310676" cy="13106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17" name="Google Shape;117;p19"/>
              <p:cNvGrpSpPr/>
              <p:nvPr/>
            </p:nvGrpSpPr>
            <p:grpSpPr>
              <a:xfrm>
                <a:off x="2125080" y="1773295"/>
                <a:ext cx="973200" cy="973200"/>
                <a:chOff x="2125080" y="1773288"/>
                <a:chExt cx="973200" cy="973200"/>
              </a:xfrm>
            </p:grpSpPr>
            <p:grpSp>
              <p:nvGrpSpPr>
                <p:cNvPr id="118" name="Google Shape;118;p19"/>
                <p:cNvGrpSpPr/>
                <p:nvPr/>
              </p:nvGrpSpPr>
              <p:grpSpPr>
                <a:xfrm>
                  <a:off x="2125080" y="1773288"/>
                  <a:ext cx="973200" cy="973200"/>
                  <a:chOff x="1795850" y="1778700"/>
                  <a:chExt cx="973200" cy="973200"/>
                </a:xfrm>
              </p:grpSpPr>
              <p:sp>
                <p:nvSpPr>
                  <p:cNvPr id="119" name="Google Shape;119;p19"/>
                  <p:cNvSpPr/>
                  <p:nvPr/>
                </p:nvSpPr>
                <p:spPr>
                  <a:xfrm>
                    <a:off x="1795850" y="1778700"/>
                    <a:ext cx="973200" cy="9732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D9EAD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t">
                        <a:latin typeface="Calibri"/>
                        <a:ea typeface="Calibri"/>
                        <a:cs typeface="Calibri"/>
                        <a:sym typeface="Calibri"/>
                      </a:rPr>
                      <a:t>Coro2</a:t>
                    </a: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0" name="Google Shape;120;p19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2407450" y="1853725"/>
                    <a:ext cx="299850" cy="2998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1" name="Google Shape;121;p19"/>
                <p:cNvGrpSpPr/>
                <p:nvPr/>
              </p:nvGrpSpPr>
              <p:grpSpPr>
                <a:xfrm>
                  <a:off x="2125080" y="2352959"/>
                  <a:ext cx="393528" cy="393528"/>
                  <a:chOff x="4882675" y="-5300"/>
                  <a:chExt cx="1579800" cy="1579800"/>
                </a:xfrm>
              </p:grpSpPr>
              <p:sp>
                <p:nvSpPr>
                  <p:cNvPr id="122" name="Google Shape;122;p19"/>
                  <p:cNvSpPr/>
                  <p:nvPr/>
                </p:nvSpPr>
                <p:spPr>
                  <a:xfrm>
                    <a:off x="4882675" y="-5300"/>
                    <a:ext cx="1579800" cy="1579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3" name="Google Shape;123;p19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5017237" y="129262"/>
                    <a:ext cx="1310676" cy="13106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24" name="Google Shape;124;p19"/>
              <p:cNvGrpSpPr/>
              <p:nvPr/>
            </p:nvGrpSpPr>
            <p:grpSpPr>
              <a:xfrm>
                <a:off x="3431960" y="1773295"/>
                <a:ext cx="973200" cy="973200"/>
                <a:chOff x="3431960" y="1773288"/>
                <a:chExt cx="973200" cy="973200"/>
              </a:xfrm>
            </p:grpSpPr>
            <p:grpSp>
              <p:nvGrpSpPr>
                <p:cNvPr id="125" name="Google Shape;125;p19"/>
                <p:cNvGrpSpPr/>
                <p:nvPr/>
              </p:nvGrpSpPr>
              <p:grpSpPr>
                <a:xfrm>
                  <a:off x="3431960" y="1773288"/>
                  <a:ext cx="973200" cy="973200"/>
                  <a:chOff x="3113325" y="1778700"/>
                  <a:chExt cx="973200" cy="973200"/>
                </a:xfrm>
              </p:grpSpPr>
              <p:sp>
                <p:nvSpPr>
                  <p:cNvPr id="126" name="Google Shape;126;p19"/>
                  <p:cNvSpPr/>
                  <p:nvPr/>
                </p:nvSpPr>
                <p:spPr>
                  <a:xfrm>
                    <a:off x="3113325" y="1778700"/>
                    <a:ext cx="973200" cy="9732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2CC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t">
                        <a:latin typeface="Calibri"/>
                        <a:ea typeface="Calibri"/>
                        <a:cs typeface="Calibri"/>
                        <a:sym typeface="Calibri"/>
                      </a:rPr>
                      <a:t>Coro3</a:t>
                    </a: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7" name="Google Shape;127;p19"/>
                  <p:cNvPicPr preferRelativeResize="0"/>
                  <p:nvPr/>
                </p:nvPicPr>
                <p:blipFill>
                  <a:blip r:embed="rId6">
                    <a:alphaModFix/>
                  </a:blip>
                  <a:stretch>
                    <a:fillRect/>
                  </a:stretch>
                </p:blipFill>
                <p:spPr>
                  <a:xfrm>
                    <a:off x="3704342" y="1830569"/>
                    <a:ext cx="335925" cy="3359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8" name="Google Shape;128;p19"/>
                <p:cNvGrpSpPr/>
                <p:nvPr/>
              </p:nvGrpSpPr>
              <p:grpSpPr>
                <a:xfrm>
                  <a:off x="3431960" y="2352959"/>
                  <a:ext cx="393528" cy="393528"/>
                  <a:chOff x="4882675" y="-5300"/>
                  <a:chExt cx="1579800" cy="1579800"/>
                </a:xfrm>
              </p:grpSpPr>
              <p:sp>
                <p:nvSpPr>
                  <p:cNvPr id="129" name="Google Shape;129;p19"/>
                  <p:cNvSpPr/>
                  <p:nvPr/>
                </p:nvSpPr>
                <p:spPr>
                  <a:xfrm>
                    <a:off x="4882675" y="-5300"/>
                    <a:ext cx="1579800" cy="1579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0" name="Google Shape;130;p19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5017237" y="129262"/>
                    <a:ext cx="1310676" cy="13106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31" name="Google Shape;131;p19"/>
              <p:cNvGrpSpPr/>
              <p:nvPr/>
            </p:nvGrpSpPr>
            <p:grpSpPr>
              <a:xfrm>
                <a:off x="4738840" y="1773295"/>
                <a:ext cx="973200" cy="973200"/>
                <a:chOff x="4738840" y="1773288"/>
                <a:chExt cx="973200" cy="973200"/>
              </a:xfrm>
            </p:grpSpPr>
            <p:grpSp>
              <p:nvGrpSpPr>
                <p:cNvPr id="132" name="Google Shape;132;p19"/>
                <p:cNvGrpSpPr/>
                <p:nvPr/>
              </p:nvGrpSpPr>
              <p:grpSpPr>
                <a:xfrm>
                  <a:off x="4738840" y="1773288"/>
                  <a:ext cx="973200" cy="973200"/>
                  <a:chOff x="1795850" y="1778700"/>
                  <a:chExt cx="973200" cy="973200"/>
                </a:xfrm>
              </p:grpSpPr>
              <p:sp>
                <p:nvSpPr>
                  <p:cNvPr id="133" name="Google Shape;133;p19"/>
                  <p:cNvSpPr/>
                  <p:nvPr/>
                </p:nvSpPr>
                <p:spPr>
                  <a:xfrm>
                    <a:off x="1795850" y="1778700"/>
                    <a:ext cx="973200" cy="9732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D9EAD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t">
                        <a:latin typeface="Calibri"/>
                        <a:ea typeface="Calibri"/>
                        <a:cs typeface="Calibri"/>
                        <a:sym typeface="Calibri"/>
                      </a:rPr>
                      <a:t>Coro4</a:t>
                    </a: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4" name="Google Shape;134;p19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2407450" y="1853725"/>
                    <a:ext cx="299850" cy="2998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35" name="Google Shape;135;p19"/>
                <p:cNvGrpSpPr/>
                <p:nvPr/>
              </p:nvGrpSpPr>
              <p:grpSpPr>
                <a:xfrm>
                  <a:off x="4738840" y="2352959"/>
                  <a:ext cx="393528" cy="393528"/>
                  <a:chOff x="4882675" y="-5300"/>
                  <a:chExt cx="1579800" cy="1579800"/>
                </a:xfrm>
              </p:grpSpPr>
              <p:sp>
                <p:nvSpPr>
                  <p:cNvPr id="136" name="Google Shape;136;p19"/>
                  <p:cNvSpPr/>
                  <p:nvPr/>
                </p:nvSpPr>
                <p:spPr>
                  <a:xfrm>
                    <a:off x="4882675" y="-5300"/>
                    <a:ext cx="1579800" cy="1579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7" name="Google Shape;137;p19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5017237" y="129262"/>
                    <a:ext cx="1310676" cy="13106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38" name="Google Shape;138;p19"/>
              <p:cNvGrpSpPr/>
              <p:nvPr/>
            </p:nvGrpSpPr>
            <p:grpSpPr>
              <a:xfrm>
                <a:off x="6045720" y="1773295"/>
                <a:ext cx="973200" cy="973200"/>
                <a:chOff x="6045720" y="1773288"/>
                <a:chExt cx="973200" cy="973200"/>
              </a:xfrm>
            </p:grpSpPr>
            <p:grpSp>
              <p:nvGrpSpPr>
                <p:cNvPr id="139" name="Google Shape;139;p19"/>
                <p:cNvGrpSpPr/>
                <p:nvPr/>
              </p:nvGrpSpPr>
              <p:grpSpPr>
                <a:xfrm>
                  <a:off x="6045720" y="1773288"/>
                  <a:ext cx="973200" cy="973200"/>
                  <a:chOff x="531350" y="1777600"/>
                  <a:chExt cx="973200" cy="973200"/>
                </a:xfrm>
              </p:grpSpPr>
              <p:sp>
                <p:nvSpPr>
                  <p:cNvPr id="140" name="Google Shape;140;p19"/>
                  <p:cNvSpPr/>
                  <p:nvPr/>
                </p:nvSpPr>
                <p:spPr>
                  <a:xfrm>
                    <a:off x="531350" y="1777600"/>
                    <a:ext cx="973200" cy="9732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CE5CD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t">
                        <a:latin typeface="Calibri"/>
                        <a:ea typeface="Calibri"/>
                        <a:cs typeface="Calibri"/>
                        <a:sym typeface="Calibri"/>
                      </a:rPr>
                      <a:t>Coro5</a:t>
                    </a: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1" name="Google Shape;141;p19"/>
                  <p:cNvPicPr preferRelativeResize="0"/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1052450" y="1777600"/>
                    <a:ext cx="452100" cy="452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2" name="Google Shape;142;p19"/>
                <p:cNvGrpSpPr/>
                <p:nvPr/>
              </p:nvGrpSpPr>
              <p:grpSpPr>
                <a:xfrm>
                  <a:off x="6045720" y="2352959"/>
                  <a:ext cx="393528" cy="393528"/>
                  <a:chOff x="4882675" y="-5300"/>
                  <a:chExt cx="1579800" cy="1579800"/>
                </a:xfrm>
              </p:grpSpPr>
              <p:sp>
                <p:nvSpPr>
                  <p:cNvPr id="143" name="Google Shape;143;p19"/>
                  <p:cNvSpPr/>
                  <p:nvPr/>
                </p:nvSpPr>
                <p:spPr>
                  <a:xfrm>
                    <a:off x="4882675" y="-5300"/>
                    <a:ext cx="1579800" cy="1579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4" name="Google Shape;144;p19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5017237" y="129262"/>
                    <a:ext cx="1310676" cy="13106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45" name="Google Shape;145;p19"/>
              <p:cNvGrpSpPr/>
              <p:nvPr/>
            </p:nvGrpSpPr>
            <p:grpSpPr>
              <a:xfrm>
                <a:off x="7352600" y="1773295"/>
                <a:ext cx="973200" cy="973200"/>
                <a:chOff x="7352600" y="1773288"/>
                <a:chExt cx="973200" cy="973200"/>
              </a:xfrm>
            </p:grpSpPr>
            <p:grpSp>
              <p:nvGrpSpPr>
                <p:cNvPr id="146" name="Google Shape;146;p19"/>
                <p:cNvGrpSpPr/>
                <p:nvPr/>
              </p:nvGrpSpPr>
              <p:grpSpPr>
                <a:xfrm>
                  <a:off x="7352600" y="1773288"/>
                  <a:ext cx="973200" cy="973200"/>
                  <a:chOff x="1795850" y="1778700"/>
                  <a:chExt cx="973200" cy="973200"/>
                </a:xfrm>
              </p:grpSpPr>
              <p:sp>
                <p:nvSpPr>
                  <p:cNvPr id="147" name="Google Shape;147;p19"/>
                  <p:cNvSpPr/>
                  <p:nvPr/>
                </p:nvSpPr>
                <p:spPr>
                  <a:xfrm>
                    <a:off x="1795850" y="1778700"/>
                    <a:ext cx="973200" cy="9732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D9EAD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t">
                        <a:latin typeface="Calibri"/>
                        <a:ea typeface="Calibri"/>
                        <a:cs typeface="Calibri"/>
                        <a:sym typeface="Calibri"/>
                      </a:rPr>
                      <a:t>Coro6</a:t>
                    </a: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8" name="Google Shape;148;p19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2407450" y="1853725"/>
                    <a:ext cx="299850" cy="2998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9" name="Google Shape;149;p19"/>
                <p:cNvGrpSpPr/>
                <p:nvPr/>
              </p:nvGrpSpPr>
              <p:grpSpPr>
                <a:xfrm>
                  <a:off x="7352600" y="2352959"/>
                  <a:ext cx="393528" cy="393528"/>
                  <a:chOff x="4882675" y="-5300"/>
                  <a:chExt cx="1579800" cy="1579800"/>
                </a:xfrm>
              </p:grpSpPr>
              <p:sp>
                <p:nvSpPr>
                  <p:cNvPr id="150" name="Google Shape;150;p19"/>
                  <p:cNvSpPr/>
                  <p:nvPr/>
                </p:nvSpPr>
                <p:spPr>
                  <a:xfrm>
                    <a:off x="4882675" y="-5300"/>
                    <a:ext cx="1579800" cy="1579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1" name="Google Shape;151;p19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5017237" y="129262"/>
                    <a:ext cx="1310676" cy="13106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</p:grpSp>
      <p:cxnSp>
        <p:nvCxnSpPr>
          <p:cNvPr id="152" name="Google Shape;152;p19"/>
          <p:cNvCxnSpPr>
            <a:stCxn id="119" idx="2"/>
            <a:endCxn id="153" idx="0"/>
          </p:cNvCxnSpPr>
          <p:nvPr/>
        </p:nvCxnSpPr>
        <p:spPr>
          <a:xfrm rot="-5400000" flipH="1">
            <a:off x="2593980" y="2764195"/>
            <a:ext cx="1041900" cy="10065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19"/>
          <p:cNvCxnSpPr>
            <a:stCxn id="133" idx="2"/>
            <a:endCxn id="155" idx="0"/>
          </p:cNvCxnSpPr>
          <p:nvPr/>
        </p:nvCxnSpPr>
        <p:spPr>
          <a:xfrm rot="5400000">
            <a:off x="4377790" y="2940745"/>
            <a:ext cx="1041900" cy="6534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19"/>
          <p:cNvCxnSpPr>
            <a:stCxn id="147" idx="2"/>
            <a:endCxn id="157" idx="0"/>
          </p:cNvCxnSpPr>
          <p:nvPr/>
        </p:nvCxnSpPr>
        <p:spPr>
          <a:xfrm rot="5400000">
            <a:off x="6161600" y="2110795"/>
            <a:ext cx="1041900" cy="23133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158" name="Google Shape;158;p19"/>
          <p:cNvGrpSpPr/>
          <p:nvPr/>
        </p:nvGrpSpPr>
        <p:grpSpPr>
          <a:xfrm>
            <a:off x="2999550" y="3711075"/>
            <a:ext cx="3144900" cy="818400"/>
            <a:chOff x="2999550" y="3711075"/>
            <a:chExt cx="3144900" cy="818400"/>
          </a:xfrm>
        </p:grpSpPr>
        <p:grpSp>
          <p:nvGrpSpPr>
            <p:cNvPr id="159" name="Google Shape;159;p19"/>
            <p:cNvGrpSpPr/>
            <p:nvPr/>
          </p:nvGrpSpPr>
          <p:grpSpPr>
            <a:xfrm>
              <a:off x="2999550" y="3711075"/>
              <a:ext cx="3144900" cy="818400"/>
              <a:chOff x="2855475" y="3702250"/>
              <a:chExt cx="3144900" cy="818400"/>
            </a:xfrm>
          </p:grpSpPr>
          <p:sp>
            <p:nvSpPr>
              <p:cNvPr id="160" name="Google Shape;160;p19"/>
              <p:cNvSpPr/>
              <p:nvPr/>
            </p:nvSpPr>
            <p:spPr>
              <a:xfrm>
                <a:off x="2855475" y="3702250"/>
                <a:ext cx="3144900" cy="8184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0" rIns="91425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OS</a:t>
                </a:r>
                <a:r>
                  <a:rPr lang="it">
                    <a:latin typeface="Calibri"/>
                    <a:ea typeface="Calibri"/>
                    <a:cs typeface="Calibri"/>
                    <a:sym typeface="Calibri"/>
                  </a:rPr>
                  <a:t> scheduler</a:t>
                </a: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1" name="Google Shape;161;p19"/>
              <p:cNvGrpSpPr/>
              <p:nvPr/>
            </p:nvGrpSpPr>
            <p:grpSpPr>
              <a:xfrm>
                <a:off x="3142062" y="3779437"/>
                <a:ext cx="2571726" cy="664026"/>
                <a:chOff x="3091125" y="3765137"/>
                <a:chExt cx="2571726" cy="664026"/>
              </a:xfrm>
            </p:grpSpPr>
            <p:pic>
              <p:nvPicPr>
                <p:cNvPr id="153" name="Google Shape;153;p19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3091125" y="3765137"/>
                  <a:ext cx="664026" cy="66402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5" name="Google Shape;155;p19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4044975" y="3765137"/>
                  <a:ext cx="664026" cy="66402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7" name="Google Shape;157;p19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4998825" y="3765137"/>
                  <a:ext cx="664026" cy="66402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62" name="Google Shape;162;p19"/>
            <p:cNvSpPr txBox="1"/>
            <p:nvPr/>
          </p:nvSpPr>
          <p:spPr>
            <a:xfrm>
              <a:off x="3737875" y="3914900"/>
              <a:ext cx="40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T1</a:t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4709425" y="3914900"/>
              <a:ext cx="40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T2</a:t>
              </a:r>
              <a:endParaRPr/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5642875" y="3914900"/>
              <a:ext cx="40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T3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Suspending functions</a:t>
            </a:r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Together with the idea of coroutines, Kotlin has introduced a new kind of functions: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>
                <a:solidFill>
                  <a:schemeClr val="dk1"/>
                </a:solidFill>
              </a:rPr>
              <a:t>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is the only kind of function that can be suspended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All "normal" functions are executed from their beginning to their end (or to a failure)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Suspending functions can only be invoked inside a coroutine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Moreover, while a suspend fun may invoke a "normal" function, the reverse is not possible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Coroutines can only be created inside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CoroutineScope</a:t>
            </a:r>
            <a:r>
              <a:rPr lang="it"/>
              <a:t> which encompasses their lifetime and offers a set of builder functions to create new coroutines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Each scope encapsulates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CoroutineContext</a:t>
            </a:r>
            <a:r>
              <a:rPr lang="it">
                <a:solidFill>
                  <a:schemeClr val="dk1"/>
                </a:solidFill>
              </a:rPr>
              <a:t> that controls the run-time behaviour of the coroutines spawned from it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Suspending functions</a:t>
            </a:r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body" idx="1"/>
          </p:nvPr>
        </p:nvSpPr>
        <p:spPr>
          <a:xfrm>
            <a:off x="311150" y="1244200"/>
            <a:ext cx="8521800" cy="3524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When a suspending function is invoked, the computation will proceed until it reaches a </a:t>
            </a:r>
            <a:r>
              <a:rPr lang="it" b="1" i="1">
                <a:solidFill>
                  <a:srgbClr val="0B5394"/>
                </a:solidFill>
              </a:rPr>
              <a:t>suspension point</a:t>
            </a:r>
            <a:r>
              <a:rPr lang="it">
                <a:solidFill>
                  <a:schemeClr val="dk1"/>
                </a:solidFill>
              </a:rPr>
              <a:t>, where it may decide to suspend</a:t>
            </a:r>
            <a:endParaRPr b="1" i="1">
              <a:solidFill>
                <a:srgbClr val="0B5394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this happens, the scheduler steps in, freezes the state of the current computation (local variables, history of calls, next statement to be executed, …) and start executing another ready-to-resume coroutine, from the place where it suspended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When, in the future, the conditions that caused the suspension do not hold any more, the coroutine can be resumed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Suspension points correspond to the invocation of other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</a:t>
            </a:r>
            <a:r>
              <a:rPr lang="it"/>
              <a:t>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a suspending function has no suspension points, it will behave like a "normal" function and will execute thoroughly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Suspension points are labelled in the IDE with the icon </a:t>
            </a:r>
            <a:endParaRPr/>
          </a:p>
        </p:txBody>
      </p:sp>
      <p:pic>
        <p:nvPicPr>
          <p:cNvPr id="179" name="Google Shape;179;p21" descr="Understanding Kotlin Coroutines with this mental model | by Lukas Lechner |  ProAndroidDev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0670" y="4222458"/>
            <a:ext cx="282789" cy="2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Using coroutines</a:t>
            </a:r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Coroutines are part of the standard Kotlin library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But they have some specific implementation for Android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See also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https://github.com/Kotlin/kotlinx.coroutines</a:t>
            </a:r>
            <a:r>
              <a:rPr lang="it"/>
              <a:t> 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672550" y="3527000"/>
            <a:ext cx="7798800" cy="404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implementation "org.jetbrains.kotlinx:kotlinx-coroutines-android:1.8.0"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Creating a coroutine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>
                <a:solidFill>
                  <a:schemeClr val="dk1"/>
                </a:solidFill>
              </a:rPr>
              <a:t>A coroutine is created using one of the following methods of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CoroutineScope</a:t>
            </a:r>
            <a:r>
              <a:rPr lang="it">
                <a:solidFill>
                  <a:schemeClr val="dk1"/>
                </a:solidFill>
              </a:rPr>
              <a:t> instance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launch(…)</a:t>
            </a:r>
            <a:r>
              <a:rPr lang="it"/>
              <a:t> – Launches a new coroutine without blocking the current computation and returns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>
                <a:solidFill>
                  <a:schemeClr val="dk1"/>
                </a:solidFill>
              </a:rPr>
              <a:t> that represents the launched computation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async(…)</a:t>
            </a:r>
            <a:r>
              <a:rPr lang="it"/>
              <a:t> – Creates a coroutine and returns its future result as 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Deferred</a:t>
            </a:r>
            <a:r>
              <a:rPr lang="it"/>
              <a:t> object: this can be later awaited for, in order to access the returned value</a:t>
            </a:r>
            <a:endParaRPr/>
          </a:p>
          <a:p>
            <a:pPr marL="269875" lvl="0" indent="-244475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A special coroutine builder function is available as a regular function</a:t>
            </a:r>
            <a:endParaRPr>
              <a:solidFill>
                <a:schemeClr val="dk1"/>
              </a:solidFill>
            </a:endParaRPr>
          </a:p>
          <a:p>
            <a:pPr marL="541337" lvl="1" indent="-21272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runBlocking(...)</a:t>
            </a:r>
            <a:r>
              <a:rPr lang="it" b="1">
                <a:solidFill>
                  <a:srgbClr val="0070C0"/>
                </a:solidFill>
              </a:rPr>
              <a:t> </a:t>
            </a:r>
            <a:r>
              <a:rPr lang="it">
                <a:solidFill>
                  <a:schemeClr val="dk1"/>
                </a:solidFill>
              </a:rPr>
              <a:t>– Launches a new coroutine, blocking the current thread until it and all its sub-coroutines finish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Example</a:t>
            </a:r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610919" y="1043450"/>
            <a:ext cx="3888000" cy="2559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suspend fun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task1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println("Starting task1");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delay(1000);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println("Ending task1");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suspend fun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task2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println("Starting task2");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delay(1000);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println("Ending task2");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4645081" y="1043450"/>
            <a:ext cx="3888000" cy="2559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//no suspension is possible here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runBlocking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//the code here MAY suspend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launch {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task1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launch {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task2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println("This is printed first")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//no suspension is possible here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3196875" y="3489925"/>
            <a:ext cx="2647800" cy="11826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This is printed first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Starting task1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Starting task2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Ending task1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Ending task2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3268300" y="1648450"/>
            <a:ext cx="1685700" cy="918000"/>
          </a:xfrm>
          <a:prstGeom prst="wedgeRoundRectCallout">
            <a:avLst>
              <a:gd name="adj1" fmla="val 64619"/>
              <a:gd name="adj2" fmla="val 10221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Creates two new coroutines inside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 scope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7047500" y="466300"/>
            <a:ext cx="1685700" cy="856500"/>
          </a:xfrm>
          <a:prstGeom prst="wedgeRoundRectCallout">
            <a:avLst>
              <a:gd name="adj1" fmla="val -111289"/>
              <a:gd name="adj2" fmla="val 9446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CoroutineScope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based on a single thread scheduler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816950" y="3801175"/>
            <a:ext cx="1685700" cy="918000"/>
          </a:xfrm>
          <a:prstGeom prst="wedgeRoundRectCallout">
            <a:avLst>
              <a:gd name="adj1" fmla="val -27150"/>
              <a:gd name="adj2" fmla="val -13101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Suspend the current coroutine for the given time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6428150" y="3456550"/>
            <a:ext cx="2171700" cy="856500"/>
          </a:xfrm>
          <a:prstGeom prst="wedgeRoundRectCallout">
            <a:avLst>
              <a:gd name="adj1" fmla="val -112914"/>
              <a:gd name="adj2" fmla="val -102306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This block terminate only when ALL the coroutines created inside it finish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38" y="2832802"/>
            <a:ext cx="376963" cy="2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38" y="1537402"/>
            <a:ext cx="376963" cy="2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Example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14</a:t>
            </a:fld>
            <a:endParaRPr/>
          </a:p>
        </p:txBody>
      </p:sp>
      <p:cxnSp>
        <p:nvCxnSpPr>
          <p:cNvPr id="216" name="Google Shape;216;p25"/>
          <p:cNvCxnSpPr/>
          <p:nvPr/>
        </p:nvCxnSpPr>
        <p:spPr>
          <a:xfrm>
            <a:off x="479450" y="4001675"/>
            <a:ext cx="8099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" name="Google Shape;217;p25"/>
          <p:cNvSpPr/>
          <p:nvPr/>
        </p:nvSpPr>
        <p:spPr>
          <a:xfrm>
            <a:off x="540000" y="3548775"/>
            <a:ext cx="79326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main()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804450" y="3313195"/>
            <a:ext cx="74037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runBlocking(...)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1015525" y="1379200"/>
            <a:ext cx="7012500" cy="19773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25"/>
          <p:cNvCxnSpPr>
            <a:stCxn id="221" idx="3"/>
            <a:endCxn id="222" idx="1"/>
          </p:cNvCxnSpPr>
          <p:nvPr/>
        </p:nvCxnSpPr>
        <p:spPr>
          <a:xfrm>
            <a:off x="4408750" y="2381000"/>
            <a:ext cx="154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5"/>
          <p:cNvSpPr/>
          <p:nvPr/>
        </p:nvSpPr>
        <p:spPr>
          <a:xfrm>
            <a:off x="1213475" y="156442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launch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1895123" y="156442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launch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25"/>
          <p:cNvCxnSpPr>
            <a:stCxn id="223" idx="2"/>
            <a:endCxn id="226" idx="1"/>
          </p:cNvCxnSpPr>
          <p:nvPr/>
        </p:nvCxnSpPr>
        <p:spPr>
          <a:xfrm rot="-5400000" flipH="1">
            <a:off x="2055575" y="1282425"/>
            <a:ext cx="555900" cy="1641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25"/>
          <p:cNvCxnSpPr>
            <a:stCxn id="224" idx="2"/>
            <a:endCxn id="228" idx="1"/>
          </p:cNvCxnSpPr>
          <p:nvPr/>
        </p:nvCxnSpPr>
        <p:spPr>
          <a:xfrm rot="-5400000" flipH="1">
            <a:off x="2717573" y="1302075"/>
            <a:ext cx="1241700" cy="2287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29" name="Google Shape;229;p25"/>
          <p:cNvSpPr/>
          <p:nvPr/>
        </p:nvSpPr>
        <p:spPr>
          <a:xfrm>
            <a:off x="2561950" y="156442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println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25"/>
          <p:cNvCxnSpPr/>
          <p:nvPr/>
        </p:nvCxnSpPr>
        <p:spPr>
          <a:xfrm>
            <a:off x="1100675" y="1694775"/>
            <a:ext cx="11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1" name="Google Shape;231;p25"/>
          <p:cNvCxnSpPr>
            <a:stCxn id="224" idx="1"/>
            <a:endCxn id="223" idx="3"/>
          </p:cNvCxnSpPr>
          <p:nvPr/>
        </p:nvCxnSpPr>
        <p:spPr>
          <a:xfrm rot="10800000">
            <a:off x="1812323" y="1694775"/>
            <a:ext cx="8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5"/>
          <p:cNvCxnSpPr>
            <a:stCxn id="229" idx="1"/>
            <a:endCxn id="224" idx="3"/>
          </p:cNvCxnSpPr>
          <p:nvPr/>
        </p:nvCxnSpPr>
        <p:spPr>
          <a:xfrm rot="10800000">
            <a:off x="2493850" y="1694775"/>
            <a:ext cx="6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25"/>
          <p:cNvSpPr/>
          <p:nvPr/>
        </p:nvSpPr>
        <p:spPr>
          <a:xfrm>
            <a:off x="3809950" y="22506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delay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5"/>
          <p:cNvCxnSpPr>
            <a:stCxn id="226" idx="3"/>
            <a:endCxn id="221" idx="1"/>
          </p:cNvCxnSpPr>
          <p:nvPr/>
        </p:nvCxnSpPr>
        <p:spPr>
          <a:xfrm>
            <a:off x="3752941" y="2381000"/>
            <a:ext cx="57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5"/>
          <p:cNvSpPr/>
          <p:nvPr/>
        </p:nvSpPr>
        <p:spPr>
          <a:xfrm>
            <a:off x="3154141" y="22506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println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113124" y="29364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delay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25"/>
          <p:cNvCxnSpPr>
            <a:stCxn id="228" idx="3"/>
            <a:endCxn id="234" idx="1"/>
          </p:cNvCxnSpPr>
          <p:nvPr/>
        </p:nvCxnSpPr>
        <p:spPr>
          <a:xfrm>
            <a:off x="5081075" y="3066800"/>
            <a:ext cx="3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228;p25"/>
          <p:cNvSpPr/>
          <p:nvPr/>
        </p:nvSpPr>
        <p:spPr>
          <a:xfrm>
            <a:off x="4482275" y="29364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println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953135" y="22506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println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25"/>
          <p:cNvCxnSpPr/>
          <p:nvPr/>
        </p:nvCxnSpPr>
        <p:spPr>
          <a:xfrm rot="10800000" flipH="1">
            <a:off x="6367875" y="3063200"/>
            <a:ext cx="7131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" name="Google Shape;237;p25"/>
          <p:cNvSpPr/>
          <p:nvPr/>
        </p:nvSpPr>
        <p:spPr>
          <a:xfrm>
            <a:off x="7080975" y="29346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println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1925" y="3002475"/>
            <a:ext cx="1369200" cy="120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alibri"/>
                <a:ea typeface="Calibri"/>
                <a:cs typeface="Calibri"/>
                <a:sym typeface="Calibri"/>
              </a:rPr>
              <a:t>suspend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1033125" y="1625525"/>
            <a:ext cx="112800" cy="14970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 flipH="1">
            <a:off x="7891125" y="1625525"/>
            <a:ext cx="112800" cy="14970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5"/>
          <p:cNvCxnSpPr/>
          <p:nvPr/>
        </p:nvCxnSpPr>
        <p:spPr>
          <a:xfrm>
            <a:off x="3160875" y="1694775"/>
            <a:ext cx="4751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p25"/>
          <p:cNvCxnSpPr>
            <a:stCxn id="222" idx="3"/>
          </p:cNvCxnSpPr>
          <p:nvPr/>
        </p:nvCxnSpPr>
        <p:spPr>
          <a:xfrm rot="10800000" flipH="1">
            <a:off x="6551935" y="1695500"/>
            <a:ext cx="210000" cy="685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3" name="Google Shape;243;p25"/>
          <p:cNvCxnSpPr>
            <a:stCxn id="237" idx="3"/>
          </p:cNvCxnSpPr>
          <p:nvPr/>
        </p:nvCxnSpPr>
        <p:spPr>
          <a:xfrm rot="10800000" flipH="1">
            <a:off x="7679775" y="1695500"/>
            <a:ext cx="51000" cy="1369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44" name="Google Shape;244;p25"/>
          <p:cNvSpPr txBox="1"/>
          <p:nvPr/>
        </p:nvSpPr>
        <p:spPr>
          <a:xfrm>
            <a:off x="8281350" y="3856250"/>
            <a:ext cx="27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Calibri"/>
                <a:ea typeface="Calibri"/>
                <a:cs typeface="Calibri"/>
                <a:sym typeface="Calibri"/>
              </a:rPr>
              <a:t>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4408200" y="2320800"/>
            <a:ext cx="1544400" cy="120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alibri"/>
                <a:ea typeface="Calibri"/>
                <a:cs typeface="Calibri"/>
                <a:sym typeface="Calibri"/>
              </a:rPr>
              <a:t>suspend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1076151" y="1264088"/>
            <a:ext cx="22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latin typeface="Calibri"/>
                <a:ea typeface="Calibri"/>
                <a:cs typeface="Calibri"/>
                <a:sym typeface="Calibri"/>
              </a:rPr>
              <a:t>@coro1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3057351" y="1949888"/>
            <a:ext cx="22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latin typeface="Calibri"/>
                <a:ea typeface="Calibri"/>
                <a:cs typeface="Calibri"/>
                <a:sym typeface="Calibri"/>
              </a:rPr>
              <a:t>@coro2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4352751" y="2635688"/>
            <a:ext cx="22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latin typeface="Calibri"/>
                <a:ea typeface="Calibri"/>
                <a:cs typeface="Calibri"/>
                <a:sym typeface="Calibri"/>
              </a:rPr>
              <a:t>@coro3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Awaitable computations</a:t>
            </a:r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15</a:t>
            </a:fld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While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launch(…)</a:t>
            </a:r>
            <a:r>
              <a:rPr lang="it"/>
              <a:t> method is useful for </a:t>
            </a:r>
            <a:r>
              <a:rPr lang="it" i="1"/>
              <a:t>fire-and-forget</a:t>
            </a:r>
            <a:r>
              <a:rPr lang="it"/>
              <a:t> behaviour, relying on the side effects it may have,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async(…)</a:t>
            </a:r>
            <a:r>
              <a:rPr lang="it"/>
              <a:t> is convenient for starting a computation that returns a value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returns an instance of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Deferred&lt;T&gt;</a:t>
            </a:r>
            <a:r>
              <a:rPr lang="it"/>
              <a:t>, where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is the type returned by the computation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These objects offer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</a:t>
            </a:r>
            <a:r>
              <a:rPr lang="it"/>
              <a:t>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await()</a:t>
            </a:r>
            <a:r>
              <a:rPr lang="it"/>
              <a:t> method that suspends the invoker until a result is available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this way, it is possible to create several sub-tasks which execute concurrently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Depending on the scope, they may also be executed in parallel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the requested computation has failed with an exception,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await()</a:t>
            </a:r>
            <a:r>
              <a:rPr lang="it"/>
              <a:t> method re-throws it, instead of returning a value	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Thus making it simple to cope with sub-task failure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Awaitable computations</a:t>
            </a:r>
            <a:endParaRPr/>
          </a:p>
        </p:txBody>
      </p:sp>
      <p:sp>
        <p:nvSpPr>
          <p:cNvPr id="261" name="Google Shape;261;p2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16</a:t>
            </a:fld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610919" y="1272050"/>
            <a:ext cx="3888000" cy="2990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suspend fun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loadData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(i: Int):Int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delay(1000);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return i*i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 main() = runBlocking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v1 = async { loadData(10)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v2 = async { loadData(20)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println("Values requested…")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val res = v1.await() + v2.await()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println("Result is $res")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6390250" y="2113038"/>
            <a:ext cx="2171700" cy="269400"/>
          </a:xfrm>
          <a:prstGeom prst="wedgeRoundRectCallout">
            <a:avLst>
              <a:gd name="adj1" fmla="val -163186"/>
              <a:gd name="adj2" fmla="val 128847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Start computing v1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6390250" y="2491163"/>
            <a:ext cx="2171700" cy="269400"/>
          </a:xfrm>
          <a:prstGeom prst="wedgeRoundRectCallout">
            <a:avLst>
              <a:gd name="adj1" fmla="val -162597"/>
              <a:gd name="adj2" fmla="val 5007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Start computing v2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6390250" y="3791948"/>
            <a:ext cx="2171700" cy="496800"/>
          </a:xfrm>
          <a:prstGeom prst="wedgeRoundRectCallout">
            <a:avLst>
              <a:gd name="adj1" fmla="val -152019"/>
              <a:gd name="adj2" fmla="val -78718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Suspend until they both are ready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6390250" y="2912950"/>
            <a:ext cx="2171700" cy="269400"/>
          </a:xfrm>
          <a:prstGeom prst="wedgeRoundRectCallout">
            <a:avLst>
              <a:gd name="adj1" fmla="val -162597"/>
              <a:gd name="adj2" fmla="val 5007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Do other work…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38" y="3485057"/>
            <a:ext cx="376963" cy="2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38" y="2646857"/>
            <a:ext cx="376963" cy="2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38" y="2418257"/>
            <a:ext cx="376963" cy="2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38" y="1580057"/>
            <a:ext cx="376963" cy="2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Awaitable computation</a:t>
            </a:r>
            <a:endParaRPr/>
          </a:p>
        </p:txBody>
      </p:sp>
      <p:sp>
        <p:nvSpPr>
          <p:cNvPr id="276" name="Google Shape;276;p2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17</a:t>
            </a:fld>
            <a:endParaRPr/>
          </a:p>
        </p:txBody>
      </p:sp>
      <p:cxnSp>
        <p:nvCxnSpPr>
          <p:cNvPr id="277" name="Google Shape;277;p28"/>
          <p:cNvCxnSpPr/>
          <p:nvPr/>
        </p:nvCxnSpPr>
        <p:spPr>
          <a:xfrm>
            <a:off x="479450" y="4001675"/>
            <a:ext cx="8099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8" name="Google Shape;278;p28"/>
          <p:cNvSpPr/>
          <p:nvPr/>
        </p:nvSpPr>
        <p:spPr>
          <a:xfrm>
            <a:off x="540000" y="3548775"/>
            <a:ext cx="79326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main()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804450" y="3313195"/>
            <a:ext cx="74037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runBlocking(...)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1022750" y="1379275"/>
            <a:ext cx="7012500" cy="19773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28"/>
          <p:cNvCxnSpPr>
            <a:stCxn id="282" idx="3"/>
            <a:endCxn id="283" idx="1"/>
          </p:cNvCxnSpPr>
          <p:nvPr/>
        </p:nvCxnSpPr>
        <p:spPr>
          <a:xfrm>
            <a:off x="4472565" y="2381000"/>
            <a:ext cx="629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28"/>
          <p:cNvSpPr/>
          <p:nvPr/>
        </p:nvSpPr>
        <p:spPr>
          <a:xfrm>
            <a:off x="1213475" y="156442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async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1895123" y="156442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async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28"/>
          <p:cNvCxnSpPr>
            <a:stCxn id="284" idx="2"/>
            <a:endCxn id="282" idx="1"/>
          </p:cNvCxnSpPr>
          <p:nvPr/>
        </p:nvCxnSpPr>
        <p:spPr>
          <a:xfrm rot="-5400000" flipH="1">
            <a:off x="2415425" y="922575"/>
            <a:ext cx="555900" cy="23610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28"/>
          <p:cNvCxnSpPr>
            <a:stCxn id="285" idx="2"/>
            <a:endCxn id="288" idx="1"/>
          </p:cNvCxnSpPr>
          <p:nvPr/>
        </p:nvCxnSpPr>
        <p:spPr>
          <a:xfrm rot="-5400000" flipH="1">
            <a:off x="2717573" y="1302075"/>
            <a:ext cx="1241700" cy="2287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89" name="Google Shape;289;p28"/>
          <p:cNvSpPr/>
          <p:nvPr/>
        </p:nvSpPr>
        <p:spPr>
          <a:xfrm>
            <a:off x="2561950" y="156442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println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28"/>
          <p:cNvCxnSpPr/>
          <p:nvPr/>
        </p:nvCxnSpPr>
        <p:spPr>
          <a:xfrm>
            <a:off x="1100675" y="1694775"/>
            <a:ext cx="11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91" name="Google Shape;291;p28"/>
          <p:cNvCxnSpPr>
            <a:stCxn id="285" idx="1"/>
            <a:endCxn id="284" idx="3"/>
          </p:cNvCxnSpPr>
          <p:nvPr/>
        </p:nvCxnSpPr>
        <p:spPr>
          <a:xfrm rot="10800000">
            <a:off x="1812323" y="1694775"/>
            <a:ext cx="8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28"/>
          <p:cNvCxnSpPr>
            <a:stCxn id="289" idx="1"/>
            <a:endCxn id="285" idx="3"/>
          </p:cNvCxnSpPr>
          <p:nvPr/>
        </p:nvCxnSpPr>
        <p:spPr>
          <a:xfrm rot="10800000">
            <a:off x="2493850" y="1694775"/>
            <a:ext cx="6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" name="Google Shape;282;p28"/>
          <p:cNvSpPr/>
          <p:nvPr/>
        </p:nvSpPr>
        <p:spPr>
          <a:xfrm>
            <a:off x="3873765" y="22506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delay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4482275" y="29364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delay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5102172" y="22506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return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6547575" y="2934650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retun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1033125" y="1625525"/>
            <a:ext cx="112800" cy="14970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 flipH="1">
            <a:off x="7903888" y="1625525"/>
            <a:ext cx="112800" cy="14970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28"/>
          <p:cNvCxnSpPr/>
          <p:nvPr/>
        </p:nvCxnSpPr>
        <p:spPr>
          <a:xfrm>
            <a:off x="7789647" y="1690925"/>
            <a:ext cx="15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97" name="Google Shape;297;p28"/>
          <p:cNvSpPr txBox="1"/>
          <p:nvPr/>
        </p:nvSpPr>
        <p:spPr>
          <a:xfrm>
            <a:off x="8281350" y="3856250"/>
            <a:ext cx="27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Calibri"/>
                <a:ea typeface="Calibri"/>
                <a:cs typeface="Calibri"/>
                <a:sym typeface="Calibri"/>
              </a:rPr>
              <a:t>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4472100" y="2320800"/>
            <a:ext cx="630300" cy="120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alibri"/>
                <a:ea typeface="Calibri"/>
                <a:cs typeface="Calibri"/>
                <a:sym typeface="Calibri"/>
              </a:rPr>
              <a:t>suspend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 txBox="1"/>
          <p:nvPr/>
        </p:nvSpPr>
        <p:spPr>
          <a:xfrm>
            <a:off x="1076151" y="1264100"/>
            <a:ext cx="81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latin typeface="Calibri"/>
                <a:ea typeface="Calibri"/>
                <a:cs typeface="Calibri"/>
                <a:sym typeface="Calibri"/>
              </a:rPr>
              <a:t>@coro1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3743150" y="1949900"/>
            <a:ext cx="87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latin typeface="Calibri"/>
                <a:ea typeface="Calibri"/>
                <a:cs typeface="Calibri"/>
                <a:sym typeface="Calibri"/>
              </a:rPr>
              <a:t>@coro2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4352751" y="2635700"/>
            <a:ext cx="81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latin typeface="Calibri"/>
                <a:ea typeface="Calibri"/>
                <a:cs typeface="Calibri"/>
                <a:sym typeface="Calibri"/>
              </a:rPr>
              <a:t>@coro3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3848175" y="1639350"/>
            <a:ext cx="1926900" cy="120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alibri"/>
                <a:ea typeface="Calibri"/>
                <a:cs typeface="Calibri"/>
                <a:sym typeface="Calibri"/>
              </a:rPr>
              <a:t>suspend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3247750" y="156442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await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28"/>
          <p:cNvCxnSpPr>
            <a:stCxn id="303" idx="1"/>
            <a:endCxn id="289" idx="3"/>
          </p:cNvCxnSpPr>
          <p:nvPr/>
        </p:nvCxnSpPr>
        <p:spPr>
          <a:xfrm rot="10800000">
            <a:off x="3160750" y="1694775"/>
            <a:ext cx="87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28"/>
          <p:cNvSpPr/>
          <p:nvPr/>
        </p:nvSpPr>
        <p:spPr>
          <a:xfrm>
            <a:off x="5775200" y="1569025"/>
            <a:ext cx="5487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await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6330976" y="1639525"/>
            <a:ext cx="874800" cy="120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alibri"/>
                <a:ea typeface="Calibri"/>
                <a:cs typeface="Calibri"/>
                <a:sym typeface="Calibri"/>
              </a:rPr>
              <a:t>suspend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7190847" y="1560575"/>
            <a:ext cx="598800" cy="26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alibri"/>
                <a:ea typeface="Calibri"/>
                <a:cs typeface="Calibri"/>
                <a:sym typeface="Calibri"/>
              </a:rPr>
              <a:t>println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086385" y="3002650"/>
            <a:ext cx="1461300" cy="120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alibri"/>
                <a:ea typeface="Calibri"/>
                <a:cs typeface="Calibri"/>
                <a:sym typeface="Calibri"/>
              </a:rPr>
              <a:t>suspend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28"/>
          <p:cNvCxnSpPr>
            <a:stCxn id="293" idx="3"/>
            <a:endCxn id="307" idx="1"/>
          </p:cNvCxnSpPr>
          <p:nvPr/>
        </p:nvCxnSpPr>
        <p:spPr>
          <a:xfrm rot="10800000" flipH="1">
            <a:off x="7146375" y="1691000"/>
            <a:ext cx="44400" cy="1374000"/>
          </a:xfrm>
          <a:prstGeom prst="bentConnector3">
            <a:avLst>
              <a:gd name="adj1" fmla="val 50081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8"/>
          <p:cNvCxnSpPr>
            <a:stCxn id="283" idx="3"/>
            <a:endCxn id="305" idx="1"/>
          </p:cNvCxnSpPr>
          <p:nvPr/>
        </p:nvCxnSpPr>
        <p:spPr>
          <a:xfrm rot="10800000" flipH="1">
            <a:off x="5700972" y="1699400"/>
            <a:ext cx="74100" cy="681600"/>
          </a:xfrm>
          <a:prstGeom prst="bentConnector3">
            <a:avLst>
              <a:gd name="adj1" fmla="val 50086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Structured concurrency</a:t>
            </a:r>
            <a:endParaRPr/>
          </a:p>
        </p:txBody>
      </p:sp>
      <p:sp>
        <p:nvSpPr>
          <p:cNvPr id="316" name="Google Shape;316;p2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18</a:t>
            </a:fld>
            <a:endParaRPr/>
          </a:p>
        </p:txBody>
      </p:sp>
      <p:sp>
        <p:nvSpPr>
          <p:cNvPr id="317" name="Google Shape;317;p2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OS scheduler manages its threads as independent computations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Internally, they do not keep any reference to each other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Kotlin coroutines, instead, maintain their parent/child relationship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Children inherit context from their parents (even if they can overwrite it)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parent suspends until all its children are finished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the parent is canceled, its children coroutines are canceled as well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a child raises an error, it also destroys the parent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This is possible because the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CoroutineScope</a:t>
            </a:r>
            <a:r>
              <a:rPr lang="it"/>
              <a:t> not only provides methods for creating new coroutines, but it also tracks their relationships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a new coroutine is created using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launch(…)</a:t>
            </a:r>
            <a:r>
              <a:rPr lang="it"/>
              <a:t> or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async(…)</a:t>
            </a:r>
            <a:r>
              <a:rPr lang="it"/>
              <a:t> in the body of another coroutine builder, it automatically becomes a child of the one in which it was created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Structured concurrency</a:t>
            </a:r>
            <a:endParaRPr/>
          </a:p>
        </p:txBody>
      </p:sp>
      <p:sp>
        <p:nvSpPr>
          <p:cNvPr id="323" name="Google Shape;323;p3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19</a:t>
            </a:fld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458527" y="1119650"/>
            <a:ext cx="5208900" cy="3421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 main() = runBlocking { </a:t>
            </a:r>
            <a:r>
              <a:rPr lang="it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//this: CoroutineScope#1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B4A7D6"/>
                </a:highlight>
                <a:latin typeface="Consolas"/>
                <a:ea typeface="Consolas"/>
                <a:cs typeface="Consolas"/>
                <a:sym typeface="Consolas"/>
              </a:rPr>
              <a:t>  launch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it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//this: CoroutineScope#2</a:t>
            </a:r>
            <a:endParaRPr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    delay(1000)</a:t>
            </a:r>
            <a:endParaRPr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    launch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it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//this: CoroutineScope#4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F9CB9C"/>
                </a:highlight>
                <a:latin typeface="Consolas"/>
                <a:ea typeface="Consolas"/>
                <a:cs typeface="Consolas"/>
                <a:sym typeface="Consolas"/>
              </a:rPr>
              <a:t>      delay(250)</a:t>
            </a:r>
            <a:endParaRPr>
              <a:highlight>
                <a:srgbClr val="F9CB9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F9CB9C"/>
                </a:highlight>
                <a:latin typeface="Consolas"/>
                <a:ea typeface="Consolas"/>
                <a:cs typeface="Consolas"/>
                <a:sym typeface="Consolas"/>
              </a:rPr>
              <a:t>      println("Grandchild finished")</a:t>
            </a:r>
            <a:endParaRPr>
              <a:highlight>
                <a:srgbClr val="F9CB9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    println("Child 1 done")</a:t>
            </a:r>
            <a:endParaRPr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B4A7D6"/>
                </a:highlight>
                <a:latin typeface="Consolas"/>
                <a:ea typeface="Consolas"/>
                <a:cs typeface="Consolas"/>
                <a:sym typeface="Consolas"/>
              </a:rPr>
              <a:t>  launch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lang="it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//this: CoroutineScope#3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9FC5E8"/>
                </a:highlight>
                <a:latin typeface="Consolas"/>
                <a:ea typeface="Consolas"/>
                <a:cs typeface="Consolas"/>
                <a:sym typeface="Consolas"/>
              </a:rPr>
              <a:t>    delay(500)</a:t>
            </a:r>
            <a:endParaRPr>
              <a:highlight>
                <a:srgbClr val="9FC5E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9FC5E8"/>
                </a:highlight>
                <a:latin typeface="Consolas"/>
                <a:ea typeface="Consolas"/>
                <a:cs typeface="Consolas"/>
                <a:sym typeface="Consolas"/>
              </a:rPr>
              <a:t>    println("Child 2 done")</a:t>
            </a:r>
            <a:endParaRPr>
              <a:highlight>
                <a:srgbClr val="9FC5E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rgbClr val="B4A7D6"/>
                </a:highlight>
                <a:latin typeface="Consolas"/>
                <a:ea typeface="Consolas"/>
                <a:cs typeface="Consolas"/>
                <a:sym typeface="Consolas"/>
              </a:rPr>
              <a:t>  println("Parent done")</a:t>
            </a:r>
            <a:endParaRPr>
              <a:highlight>
                <a:srgbClr val="B4A7D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6803375" y="826925"/>
            <a:ext cx="1399500" cy="466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Scope#1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6803375" y="1508810"/>
            <a:ext cx="1399500" cy="466500"/>
          </a:xfrm>
          <a:prstGeom prst="roundRect">
            <a:avLst>
              <a:gd name="adj" fmla="val 50000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6009025" y="2872580"/>
            <a:ext cx="1399500" cy="466500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Child1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6009025" y="3554465"/>
            <a:ext cx="1399500" cy="466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Scope#4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6009025" y="4236350"/>
            <a:ext cx="1399500" cy="466500"/>
          </a:xfrm>
          <a:prstGeom prst="roundRect">
            <a:avLst>
              <a:gd name="adj" fmla="val 50000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Grandchild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30"/>
          <p:cNvGrpSpPr/>
          <p:nvPr/>
        </p:nvGrpSpPr>
        <p:grpSpPr>
          <a:xfrm>
            <a:off x="6009025" y="2190670"/>
            <a:ext cx="2988200" cy="466525"/>
            <a:chOff x="6009025" y="2190670"/>
            <a:chExt cx="2988200" cy="466525"/>
          </a:xfrm>
        </p:grpSpPr>
        <p:sp>
          <p:nvSpPr>
            <p:cNvPr id="331" name="Google Shape;331;p30"/>
            <p:cNvSpPr/>
            <p:nvPr/>
          </p:nvSpPr>
          <p:spPr>
            <a:xfrm>
              <a:off x="6009025" y="2190695"/>
              <a:ext cx="1399500" cy="466500"/>
            </a:xfrm>
            <a:prstGeom prst="roundRect">
              <a:avLst>
                <a:gd name="adj" fmla="val 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alibri"/>
                  <a:ea typeface="Calibri"/>
                  <a:cs typeface="Calibri"/>
                  <a:sym typeface="Calibri"/>
                </a:rPr>
                <a:t>Scope#2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7597725" y="2190670"/>
              <a:ext cx="1399500" cy="466500"/>
            </a:xfrm>
            <a:prstGeom prst="roundRect">
              <a:avLst>
                <a:gd name="adj" fmla="val 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alibri"/>
                  <a:ea typeface="Calibri"/>
                  <a:cs typeface="Calibri"/>
                  <a:sym typeface="Calibri"/>
                </a:rPr>
                <a:t>Scope#3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30"/>
          <p:cNvSpPr/>
          <p:nvPr/>
        </p:nvSpPr>
        <p:spPr>
          <a:xfrm>
            <a:off x="7597725" y="2872555"/>
            <a:ext cx="1399500" cy="466500"/>
          </a:xfrm>
          <a:prstGeom prst="roundRect">
            <a:avLst>
              <a:gd name="adj" fmla="val 50000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Child2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30"/>
          <p:cNvCxnSpPr>
            <a:endCxn id="326" idx="0"/>
          </p:cNvCxnSpPr>
          <p:nvPr/>
        </p:nvCxnSpPr>
        <p:spPr>
          <a:xfrm rot="-5400000" flipH="1">
            <a:off x="7395125" y="1400810"/>
            <a:ext cx="215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5" name="Google Shape;335;p30"/>
          <p:cNvCxnSpPr>
            <a:stCxn id="326" idx="2"/>
            <a:endCxn id="331" idx="0"/>
          </p:cNvCxnSpPr>
          <p:nvPr/>
        </p:nvCxnSpPr>
        <p:spPr>
          <a:xfrm rot="5400000">
            <a:off x="6998225" y="1685810"/>
            <a:ext cx="215400" cy="7944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6" name="Google Shape;336;p30"/>
          <p:cNvCxnSpPr>
            <a:stCxn id="326" idx="2"/>
            <a:endCxn id="332" idx="0"/>
          </p:cNvCxnSpPr>
          <p:nvPr/>
        </p:nvCxnSpPr>
        <p:spPr>
          <a:xfrm rot="-5400000" flipH="1">
            <a:off x="7792625" y="1685810"/>
            <a:ext cx="215400" cy="794400"/>
          </a:xfrm>
          <a:prstGeom prst="bentConnector3">
            <a:avLst>
              <a:gd name="adj1" fmla="val 4998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30"/>
          <p:cNvCxnSpPr>
            <a:stCxn id="331" idx="2"/>
            <a:endCxn id="327" idx="0"/>
          </p:cNvCxnSpPr>
          <p:nvPr/>
        </p:nvCxnSpPr>
        <p:spPr>
          <a:xfrm rot="-5400000" flipH="1">
            <a:off x="6601375" y="2764595"/>
            <a:ext cx="2154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" name="Google Shape;338;p30"/>
          <p:cNvCxnSpPr>
            <a:stCxn id="332" idx="2"/>
            <a:endCxn id="333" idx="0"/>
          </p:cNvCxnSpPr>
          <p:nvPr/>
        </p:nvCxnSpPr>
        <p:spPr>
          <a:xfrm rot="-5400000" flipH="1">
            <a:off x="8190075" y="2764570"/>
            <a:ext cx="2154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9" name="Google Shape;339;p30"/>
          <p:cNvCxnSpPr>
            <a:stCxn id="327" idx="2"/>
            <a:endCxn id="328" idx="0"/>
          </p:cNvCxnSpPr>
          <p:nvPr/>
        </p:nvCxnSpPr>
        <p:spPr>
          <a:xfrm rot="-5400000" flipH="1">
            <a:off x="6601375" y="3446480"/>
            <a:ext cx="215400" cy="6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0" name="Google Shape;340;p30"/>
          <p:cNvCxnSpPr>
            <a:stCxn id="328" idx="2"/>
            <a:endCxn id="329" idx="0"/>
          </p:cNvCxnSpPr>
          <p:nvPr/>
        </p:nvCxnSpPr>
        <p:spPr>
          <a:xfrm rot="-5400000" flipH="1">
            <a:off x="6601375" y="4128365"/>
            <a:ext cx="2154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20</a:t>
            </a:fld>
            <a:endParaRPr/>
          </a:p>
        </p:txBody>
      </p:sp>
      <p:sp>
        <p:nvSpPr>
          <p:cNvPr id="347" name="Google Shape;34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CoroutineScope</a:t>
            </a:r>
            <a:endParaRPr/>
          </a:p>
        </p:txBody>
      </p:sp>
      <p:sp>
        <p:nvSpPr>
          <p:cNvPr id="348" name="Google Shape;348;p3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Interface that encapsulates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CoroutineContext</a:t>
            </a:r>
            <a:r>
              <a:rPr lang="it"/>
              <a:t> and defines a set of extension functions useful for managing (creating, destroying)  a group of related coroutines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Coroutines </a:t>
            </a:r>
            <a:r>
              <a:rPr lang="it"/>
              <a:t>execution is confined inside the scope in which they were created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specific scope is typically bound to those entities that have a well-defined lifecycle, so that when the entity is destroyed, the scope is cancelled, actually terminating all contained coroutines that are still alive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Function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CoroutineScope(…)</a:t>
            </a:r>
            <a:r>
              <a:rPr lang="it">
                <a:solidFill>
                  <a:schemeClr val="dk1"/>
                </a:solidFill>
              </a:rPr>
              <a:t> creates a new scope, based on the given coroutine context 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Kotlin defines also a couple of ready made scopes,  namely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MainScope</a:t>
            </a:r>
            <a:r>
              <a:rPr lang="it">
                <a:solidFill>
                  <a:schemeClr val="dk1"/>
                </a:solidFill>
              </a:rPr>
              <a:t> and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GlobalScope</a:t>
            </a:r>
            <a:r>
              <a:rPr lang="it">
                <a:solidFill>
                  <a:schemeClr val="dk1"/>
                </a:solidFill>
              </a:rPr>
              <a:t>, which have some restrictions on their usage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  <p:sp>
        <p:nvSpPr>
          <p:cNvPr id="355" name="Google Shape;35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Custom scopes</a:t>
            </a:r>
            <a:endParaRPr/>
          </a:p>
        </p:txBody>
      </p:sp>
      <p:sp>
        <p:nvSpPr>
          <p:cNvPr id="356" name="Google Shape;356;p3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Android defines a set of scopes for several of its abstractions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viewModelScope</a:t>
            </a:r>
            <a:r>
              <a:rPr lang="it">
                <a:solidFill>
                  <a:schemeClr val="dk1"/>
                </a:solidFill>
              </a:rPr>
              <a:t> - used for creating a coroutine bound to a ViewModel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lifecycleScope</a:t>
            </a:r>
            <a:r>
              <a:rPr lang="it">
                <a:solidFill>
                  <a:schemeClr val="dk1"/>
                </a:solidFill>
              </a:rPr>
              <a:t> - used for creating a coroutine bound to any lifecycle-owning object (activity, fragment, …)</a:t>
            </a:r>
            <a:endParaRPr>
              <a:solidFill>
                <a:schemeClr val="dk1"/>
              </a:solidFill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mainScope</a:t>
            </a:r>
            <a:r>
              <a:rPr lang="it">
                <a:solidFill>
                  <a:schemeClr val="dk1"/>
                </a:solidFill>
              </a:rPr>
              <a:t> - used for creating a coroutine based on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Dispatchers.Main</a:t>
            </a:r>
            <a:endParaRPr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Whenever the object bound to a custom scope reaches the end of its life cycle, the scope is cancelled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Thus, all the coroutines that might still be running on behalf of it are cancelled as well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Although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runBlocking(…)</a:t>
            </a:r>
            <a:r>
              <a:rPr lang="it">
                <a:solidFill>
                  <a:schemeClr val="dk1"/>
                </a:solidFill>
              </a:rPr>
              <a:t> can also be used to create a scope, it is practically used only for testing purposes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22</a:t>
            </a:fld>
            <a:endParaRPr/>
          </a:p>
        </p:txBody>
      </p:sp>
      <p:sp>
        <p:nvSpPr>
          <p:cNvPr id="362" name="Google Shape;36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contexts</a:t>
            </a:r>
            <a:endParaRPr/>
          </a:p>
        </p:txBody>
      </p:sp>
      <p:sp>
        <p:nvSpPr>
          <p:cNvPr id="363" name="Google Shape;363;p3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Every scope encapsulates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CoroutineContext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 a coroutine is created inside a scope, it inherits its context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context defines the run-time behaviour of a coroutine, in terms of a set of properties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CoroutineDispatcher</a:t>
            </a:r>
            <a:r>
              <a:rPr lang="it"/>
              <a:t> defines the set of threads used to execute the coroutine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solidFill>
                  <a:schemeClr val="dk1"/>
                </a:solidFill>
              </a:rPr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represents the state of the computation of the coroutine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solidFill>
                  <a:schemeClr val="dk1"/>
                </a:solidFill>
              </a:rPr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CoroutineExceptionHandler</a:t>
            </a:r>
            <a:r>
              <a:rPr lang="it"/>
              <a:t> defines how exceptions thrown inside the coroutine are handled, if it has been launched</a:t>
            </a:r>
            <a:endParaRPr/>
          </a:p>
          <a:p>
            <a:pPr marL="541337" lvl="1" indent="-212725" algn="l" rtl="0"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CoroutineName</a:t>
            </a:r>
            <a:r>
              <a:rPr lang="it">
                <a:solidFill>
                  <a:schemeClr val="dk1"/>
                </a:solidFill>
              </a:rPr>
              <a:t> specifies the name of the coroutine for debugging purposes</a:t>
            </a:r>
            <a:endParaRPr>
              <a:solidFill>
                <a:schemeClr val="dk1"/>
              </a:solidFill>
            </a:endParaRPr>
          </a:p>
          <a:p>
            <a:pPr marL="269875" lvl="0" indent="-244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Contexts are typically created adding the elements they are made of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 ctx: CoroutineContext = Dispatchers.IO + SupervisorJob()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23</a:t>
            </a:fld>
            <a:endParaRPr/>
          </a:p>
        </p:txBody>
      </p:sp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Dispatchers</a:t>
            </a:r>
            <a:endParaRPr/>
          </a:p>
        </p:txBody>
      </p:sp>
      <p:sp>
        <p:nvSpPr>
          <p:cNvPr id="370" name="Google Shape;370;p34"/>
          <p:cNvSpPr txBox="1">
            <a:spLocks noGrp="1"/>
          </p:cNvSpPr>
          <p:nvPr>
            <p:ph type="body" idx="1"/>
          </p:nvPr>
        </p:nvSpPr>
        <p:spPr>
          <a:xfrm>
            <a:off x="311150" y="1244200"/>
            <a:ext cx="8521800" cy="3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18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4"/>
              <a:buChar char="•"/>
            </a:pPr>
            <a:r>
              <a:rPr lang="it"/>
              <a:t>The coroutine context includes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CoroutineDispatcher</a:t>
            </a:r>
            <a:r>
              <a:rPr lang="it"/>
              <a:t> that determines what thread or threads the corresponding coroutine uses for its execution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/>
              <a:t>The coroutine dispatcher can confine coroutine execution to a specific thread, dispatch it to a thread pool, or let it run unconfined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Each dispatcher will have its own scheduling strategy, which can fit or not a given usage</a:t>
            </a:r>
            <a:endParaRPr/>
          </a:p>
          <a:p>
            <a:pPr marL="457200" lvl="0" indent="-3418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84"/>
              <a:buChar char="•"/>
            </a:pPr>
            <a:r>
              <a:rPr lang="it">
                <a:solidFill>
                  <a:schemeClr val="dk1"/>
                </a:solidFill>
              </a:rPr>
              <a:t>Class </a:t>
            </a:r>
            <a:r>
              <a:rPr lang="it" sz="16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kotlinx.coroutines.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Dispatchers</a:t>
            </a:r>
            <a:r>
              <a:rPr lang="it">
                <a:solidFill>
                  <a:schemeClr val="dk1"/>
                </a:solidFill>
              </a:rPr>
              <a:t> provide several ready-made dispatchers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Others can be created for coping with custom needs: for example, function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newSingleThreadContext(…)</a:t>
            </a:r>
            <a:r>
              <a:rPr lang="it">
                <a:solidFill>
                  <a:schemeClr val="dk1"/>
                </a:solidFill>
              </a:rPr>
              <a:t> creates a dispatcher based on a single thread which is created ad hoc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Dispatchers</a:t>
            </a:r>
            <a:endParaRPr/>
          </a:p>
        </p:txBody>
      </p:sp>
      <p:sp>
        <p:nvSpPr>
          <p:cNvPr id="376" name="Google Shape;376;p3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24</a:t>
            </a:fld>
            <a:endParaRPr/>
          </a:p>
        </p:txBody>
      </p:sp>
      <p:sp>
        <p:nvSpPr>
          <p:cNvPr id="377" name="Google Shape;377;p3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Dispatchers.Main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Contains the main thread, only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Only available in Android and for GUI-based applications!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Used for accessing the UI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Dispatchers.IO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Contains a large thread pool, optimized for disk and network IO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Used for reading/writing files, accessing databases, networking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Dispatchers.Default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Contains a small thread pool, optimized for CPU intensive work off the main thread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Used for task like sorting, parsing JSON, encrypting and decrypting, …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Dispatchers.Unconfined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Uses whichever thread is available, without restrictions (for specific case only!)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Setting a custom dispatcher</a:t>
            </a:r>
            <a:endParaRPr/>
          </a:p>
        </p:txBody>
      </p:sp>
      <p:sp>
        <p:nvSpPr>
          <p:cNvPr id="383" name="Google Shape;383;p3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25</a:t>
            </a:fld>
            <a:endParaRPr/>
          </a:p>
        </p:txBody>
      </p:sp>
      <p:sp>
        <p:nvSpPr>
          <p:cNvPr id="384" name="Google Shape;384;p36"/>
          <p:cNvSpPr txBox="1">
            <a:spLocks noGrp="1"/>
          </p:cNvSpPr>
          <p:nvPr>
            <p:ph type="body" idx="1"/>
          </p:nvPr>
        </p:nvSpPr>
        <p:spPr>
          <a:xfrm>
            <a:off x="311150" y="1244200"/>
            <a:ext cx="8521800" cy="364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dispatcher can be passed as an argument to the coroutine builder function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whole coroutine will be based on it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myScope.launch(Dispatchers.IO) { … }</a:t>
            </a:r>
            <a:r>
              <a:rPr lang="it"/>
              <a:t>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Alternatively, it is possible (and quite frequent) control which specific part of a coroutine should be executed using a given dispatcher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withContext(...)</a:t>
            </a:r>
            <a:r>
              <a:rPr lang="it"/>
              <a:t> suspending function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lifeCycleScope.launch(Disparchers.IO) { </a:t>
            </a:r>
            <a:b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val result = loadRemoteData()</a:t>
            </a:r>
            <a:b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withContext(Dispatchers.Main) { updateUI(result) }</a:t>
            </a:r>
            <a:b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Setting a custom dispatcher</a:t>
            </a:r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26</a:t>
            </a:fld>
            <a:endParaRPr/>
          </a:p>
        </p:txBody>
      </p:sp>
      <p:cxnSp>
        <p:nvCxnSpPr>
          <p:cNvPr id="391" name="Google Shape;391;p37"/>
          <p:cNvCxnSpPr/>
          <p:nvPr/>
        </p:nvCxnSpPr>
        <p:spPr>
          <a:xfrm>
            <a:off x="752500" y="1831425"/>
            <a:ext cx="7561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stealth" w="med" len="med"/>
          </a:ln>
        </p:spPr>
      </p:cxnSp>
      <p:sp>
        <p:nvSpPr>
          <p:cNvPr id="392" name="Google Shape;392;p37"/>
          <p:cNvSpPr txBox="1"/>
          <p:nvPr/>
        </p:nvSpPr>
        <p:spPr>
          <a:xfrm>
            <a:off x="737700" y="1317950"/>
            <a:ext cx="155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workerThread-n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1633825" y="1671850"/>
            <a:ext cx="2860200" cy="31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val result = loadRemoteData()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737700" y="3070550"/>
            <a:ext cx="155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main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37"/>
          <p:cNvCxnSpPr/>
          <p:nvPr/>
        </p:nvCxnSpPr>
        <p:spPr>
          <a:xfrm>
            <a:off x="791100" y="3514125"/>
            <a:ext cx="7561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stealth" w="med" len="med"/>
          </a:ln>
        </p:spPr>
      </p:cxnSp>
      <p:sp>
        <p:nvSpPr>
          <p:cNvPr id="396" name="Google Shape;396;p37"/>
          <p:cNvSpPr/>
          <p:nvPr/>
        </p:nvSpPr>
        <p:spPr>
          <a:xfrm>
            <a:off x="4855125" y="3354525"/>
            <a:ext cx="2860200" cy="31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updateUI(result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37"/>
          <p:cNvCxnSpPr>
            <a:endCxn id="393" idx="1"/>
          </p:cNvCxnSpPr>
          <p:nvPr/>
        </p:nvCxnSpPr>
        <p:spPr>
          <a:xfrm>
            <a:off x="798925" y="1831450"/>
            <a:ext cx="834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98" name="Google Shape;398;p37"/>
          <p:cNvCxnSpPr>
            <a:stCxn id="393" idx="3"/>
            <a:endCxn id="396" idx="1"/>
          </p:cNvCxnSpPr>
          <p:nvPr/>
        </p:nvCxnSpPr>
        <p:spPr>
          <a:xfrm>
            <a:off x="4494025" y="1831450"/>
            <a:ext cx="361200" cy="1682700"/>
          </a:xfrm>
          <a:prstGeom prst="bentConnector3">
            <a:avLst>
              <a:gd name="adj1" fmla="val 4998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99" name="Google Shape;399;p37"/>
          <p:cNvSpPr txBox="1"/>
          <p:nvPr/>
        </p:nvSpPr>
        <p:spPr>
          <a:xfrm rot="5400000">
            <a:off x="4057225" y="2450013"/>
            <a:ext cx="155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withContex(...)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37"/>
          <p:cNvCxnSpPr>
            <a:stCxn id="396" idx="3"/>
          </p:cNvCxnSpPr>
          <p:nvPr/>
        </p:nvCxnSpPr>
        <p:spPr>
          <a:xfrm rot="10800000" flipH="1">
            <a:off x="7715325" y="1831425"/>
            <a:ext cx="264900" cy="16827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Setting a custom dispatcher</a:t>
            </a:r>
            <a:endParaRPr/>
          </a:p>
        </p:txBody>
      </p:sp>
      <p:sp>
        <p:nvSpPr>
          <p:cNvPr id="406" name="Google Shape;406;p3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27</a:t>
            </a:fld>
            <a:endParaRPr/>
          </a:p>
        </p:txBody>
      </p:sp>
      <p:sp>
        <p:nvSpPr>
          <p:cNvPr id="407" name="Google Shape;407;p38"/>
          <p:cNvSpPr txBox="1"/>
          <p:nvPr/>
        </p:nvSpPr>
        <p:spPr>
          <a:xfrm>
            <a:off x="933087" y="1133810"/>
            <a:ext cx="7277700" cy="3387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loadImage(imageURL: String) {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val </a:t>
            </a:r>
            <a:r>
              <a:rPr lang="it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MainScope().launch {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imageView.setImageResource(</a:t>
            </a:r>
            <a:b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R.drawable.loading)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bmp = withContext(</a:t>
            </a:r>
            <a:r>
              <a:rPr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Dispatcher.IO</a:t>
            </a: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loadRemoteUrl(imageURL)</a:t>
            </a:r>
            <a:endParaRPr sz="16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imageView.setImageDrawable(bmp);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Context handling</a:t>
            </a:r>
            <a:endParaRPr/>
          </a:p>
        </p:txBody>
      </p:sp>
      <p:sp>
        <p:nvSpPr>
          <p:cNvPr id="414" name="Google Shape;414;p3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When a coroutine is created inside a scope, a new context context is created joining the scope context with any element supplied as parameter of the creation function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Then a new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object is created and marked as a child of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contained in the parent context </a:t>
            </a:r>
            <a:endParaRPr/>
          </a:p>
        </p:txBody>
      </p:sp>
      <p:sp>
        <p:nvSpPr>
          <p:cNvPr id="415" name="Google Shape;415;p3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28</a:t>
            </a:fld>
            <a:endParaRPr/>
          </a:p>
        </p:txBody>
      </p:sp>
      <p:pic>
        <p:nvPicPr>
          <p:cNvPr id="416" name="Google Shape;4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475" y="2928579"/>
            <a:ext cx="3864769" cy="1764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29</a:t>
            </a:fld>
            <a:endParaRPr/>
          </a:p>
        </p:txBody>
      </p:sp>
      <p:sp>
        <p:nvSpPr>
          <p:cNvPr id="422" name="Google Shape;42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Jobs</a:t>
            </a:r>
            <a:endParaRPr/>
          </a:p>
        </p:txBody>
      </p:sp>
      <p:sp>
        <p:nvSpPr>
          <p:cNvPr id="423" name="Google Shape;423;p4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Representations of background tasks carried out by coroutines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job may have six states, expressed as a combination of three boolean properties</a:t>
            </a:r>
            <a:endParaRPr/>
          </a:p>
          <a:p>
            <a:pPr marL="541337" marR="0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isActive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isCompleted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isCancelled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Jobs are organized in an hierarchy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job may have 0 or more children</a:t>
            </a:r>
            <a:endParaRPr/>
          </a:p>
          <a:p>
            <a:pPr marL="269875" lvl="0" indent="-244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the computation represented by a job fails, failure is propagated to sibling jobs in the same scope as well as to the parent job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the job is cancelled, only sibling jobs are cancelled</a:t>
            </a:r>
            <a:endParaRPr/>
          </a:p>
          <a:p>
            <a:pPr marL="269875" lvl="0" indent="-244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SupervisorJob</a:t>
            </a:r>
            <a:r>
              <a:rPr lang="it"/>
              <a:t> is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subclass that allows children to fail independently of each other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30</a:t>
            </a:fld>
            <a:endParaRPr/>
          </a:p>
        </p:txBody>
      </p:sp>
      <p:sp>
        <p:nvSpPr>
          <p:cNvPr id="429" name="Google Shape;429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Job states</a:t>
            </a:r>
            <a:endParaRPr/>
          </a:p>
        </p:txBody>
      </p:sp>
      <p:sp>
        <p:nvSpPr>
          <p:cNvPr id="430" name="Google Shape;430;p41"/>
          <p:cNvSpPr/>
          <p:nvPr/>
        </p:nvSpPr>
        <p:spPr>
          <a:xfrm>
            <a:off x="634606" y="2011301"/>
            <a:ext cx="1175700" cy="876300"/>
          </a:xfrm>
          <a:prstGeom prst="ellipse">
            <a:avLst/>
          </a:prstGeom>
          <a:solidFill>
            <a:srgbClr val="F9CB9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/>
          </a:p>
        </p:txBody>
      </p:sp>
      <p:sp>
        <p:nvSpPr>
          <p:cNvPr id="431" name="Google Shape;431;p41"/>
          <p:cNvSpPr/>
          <p:nvPr/>
        </p:nvSpPr>
        <p:spPr>
          <a:xfrm>
            <a:off x="2857500" y="2011301"/>
            <a:ext cx="1175700" cy="876300"/>
          </a:xfrm>
          <a:prstGeom prst="ellipse">
            <a:avLst/>
          </a:prstGeom>
          <a:solidFill>
            <a:srgbClr val="F9CB9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/>
          </a:p>
        </p:txBody>
      </p:sp>
      <p:sp>
        <p:nvSpPr>
          <p:cNvPr id="432" name="Google Shape;432;p41"/>
          <p:cNvSpPr/>
          <p:nvPr/>
        </p:nvSpPr>
        <p:spPr>
          <a:xfrm>
            <a:off x="5080393" y="2011300"/>
            <a:ext cx="1175700" cy="876300"/>
          </a:xfrm>
          <a:prstGeom prst="ellipse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completing</a:t>
            </a:r>
            <a:endParaRPr sz="1800"/>
          </a:p>
        </p:txBody>
      </p:sp>
      <p:sp>
        <p:nvSpPr>
          <p:cNvPr id="433" name="Google Shape;433;p41"/>
          <p:cNvSpPr/>
          <p:nvPr/>
        </p:nvSpPr>
        <p:spPr>
          <a:xfrm>
            <a:off x="7303287" y="2010814"/>
            <a:ext cx="1175700" cy="876300"/>
          </a:xfrm>
          <a:prstGeom prst="ellipse">
            <a:avLst/>
          </a:prstGeom>
          <a:solidFill>
            <a:srgbClr val="F9CB9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/>
          </a:p>
        </p:txBody>
      </p:sp>
      <p:sp>
        <p:nvSpPr>
          <p:cNvPr id="434" name="Google Shape;434;p41"/>
          <p:cNvSpPr/>
          <p:nvPr/>
        </p:nvSpPr>
        <p:spPr>
          <a:xfrm>
            <a:off x="3948218" y="3604970"/>
            <a:ext cx="1175700" cy="876300"/>
          </a:xfrm>
          <a:prstGeom prst="ellipse">
            <a:avLst/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cancelling</a:t>
            </a:r>
            <a:endParaRPr/>
          </a:p>
        </p:txBody>
      </p:sp>
      <p:sp>
        <p:nvSpPr>
          <p:cNvPr id="435" name="Google Shape;435;p41"/>
          <p:cNvSpPr/>
          <p:nvPr/>
        </p:nvSpPr>
        <p:spPr>
          <a:xfrm>
            <a:off x="7303287" y="3604969"/>
            <a:ext cx="1175700" cy="876300"/>
          </a:xfrm>
          <a:prstGeom prst="ellipse">
            <a:avLst/>
          </a:prstGeom>
          <a:solidFill>
            <a:srgbClr val="F9CB9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cancelled</a:t>
            </a:r>
            <a:endParaRPr/>
          </a:p>
        </p:txBody>
      </p:sp>
      <p:cxnSp>
        <p:nvCxnSpPr>
          <p:cNvPr id="436" name="Google Shape;436;p41"/>
          <p:cNvCxnSpPr>
            <a:stCxn id="430" idx="6"/>
            <a:endCxn id="431" idx="2"/>
          </p:cNvCxnSpPr>
          <p:nvPr/>
        </p:nvCxnSpPr>
        <p:spPr>
          <a:xfrm>
            <a:off x="1810306" y="2449451"/>
            <a:ext cx="1047300" cy="600"/>
          </a:xfrm>
          <a:prstGeom prst="curvedConnector3">
            <a:avLst>
              <a:gd name="adj1" fmla="val 49995"/>
            </a:avLst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7" name="Google Shape;437;p41"/>
          <p:cNvCxnSpPr>
            <a:stCxn id="431" idx="6"/>
            <a:endCxn id="432" idx="2"/>
          </p:cNvCxnSpPr>
          <p:nvPr/>
        </p:nvCxnSpPr>
        <p:spPr>
          <a:xfrm>
            <a:off x="4033200" y="2449451"/>
            <a:ext cx="1047300" cy="600"/>
          </a:xfrm>
          <a:prstGeom prst="curvedConnector3">
            <a:avLst>
              <a:gd name="adj1" fmla="val 49995"/>
            </a:avLst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8" name="Google Shape;438;p41"/>
          <p:cNvCxnSpPr>
            <a:stCxn id="431" idx="4"/>
            <a:endCxn id="434" idx="1"/>
          </p:cNvCxnSpPr>
          <p:nvPr/>
        </p:nvCxnSpPr>
        <p:spPr>
          <a:xfrm rot="-5400000" flipH="1">
            <a:off x="3360000" y="2972951"/>
            <a:ext cx="845700" cy="675000"/>
          </a:xfrm>
          <a:prstGeom prst="curvedConnector3">
            <a:avLst>
              <a:gd name="adj1" fmla="val 42413"/>
            </a:avLst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9" name="Google Shape;439;p41"/>
          <p:cNvCxnSpPr>
            <a:stCxn id="432" idx="4"/>
            <a:endCxn id="434" idx="7"/>
          </p:cNvCxnSpPr>
          <p:nvPr/>
        </p:nvCxnSpPr>
        <p:spPr>
          <a:xfrm rot="5400000">
            <a:off x="4887193" y="2952250"/>
            <a:ext cx="845700" cy="716400"/>
          </a:xfrm>
          <a:prstGeom prst="curvedConnector3">
            <a:avLst>
              <a:gd name="adj1" fmla="val 42413"/>
            </a:avLst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0" name="Google Shape;440;p41"/>
          <p:cNvCxnSpPr>
            <a:stCxn id="434" idx="6"/>
            <a:endCxn id="435" idx="2"/>
          </p:cNvCxnSpPr>
          <p:nvPr/>
        </p:nvCxnSpPr>
        <p:spPr>
          <a:xfrm>
            <a:off x="5123918" y="4043120"/>
            <a:ext cx="2179500" cy="600"/>
          </a:xfrm>
          <a:prstGeom prst="curvedConnector3">
            <a:avLst>
              <a:gd name="adj1" fmla="val 49997"/>
            </a:avLst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1" name="Google Shape;441;p41"/>
          <p:cNvCxnSpPr>
            <a:stCxn id="432" idx="6"/>
            <a:endCxn id="433" idx="2"/>
          </p:cNvCxnSpPr>
          <p:nvPr/>
        </p:nvCxnSpPr>
        <p:spPr>
          <a:xfrm>
            <a:off x="6256093" y="2449450"/>
            <a:ext cx="1047300" cy="600"/>
          </a:xfrm>
          <a:prstGeom prst="curvedConnector3">
            <a:avLst>
              <a:gd name="adj1" fmla="val 49995"/>
            </a:avLst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2" name="Google Shape;442;p41"/>
          <p:cNvSpPr/>
          <p:nvPr/>
        </p:nvSpPr>
        <p:spPr>
          <a:xfrm>
            <a:off x="1821234" y="2096317"/>
            <a:ext cx="633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1"/>
          <p:cNvSpPr/>
          <p:nvPr/>
        </p:nvSpPr>
        <p:spPr>
          <a:xfrm>
            <a:off x="3847278" y="3030131"/>
            <a:ext cx="1338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cancel / fail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1"/>
          <p:cNvSpPr/>
          <p:nvPr/>
        </p:nvSpPr>
        <p:spPr>
          <a:xfrm>
            <a:off x="5582114" y="3733320"/>
            <a:ext cx="7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1"/>
          <p:cNvSpPr/>
          <p:nvPr/>
        </p:nvSpPr>
        <p:spPr>
          <a:xfrm>
            <a:off x="6275132" y="2096317"/>
            <a:ext cx="723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1"/>
          <p:cNvSpPr/>
          <p:nvPr/>
        </p:nvSpPr>
        <p:spPr>
          <a:xfrm>
            <a:off x="4726377" y="1672663"/>
            <a:ext cx="1827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wait for children</a:t>
            </a:r>
            <a:endParaRPr sz="1800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1"/>
          <p:cNvSpPr/>
          <p:nvPr/>
        </p:nvSpPr>
        <p:spPr>
          <a:xfrm>
            <a:off x="3756821" y="4481400"/>
            <a:ext cx="1723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cancel children</a:t>
            </a:r>
            <a:endParaRPr sz="1800"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1"/>
          <p:cNvSpPr/>
          <p:nvPr/>
        </p:nvSpPr>
        <p:spPr>
          <a:xfrm>
            <a:off x="3940609" y="2096325"/>
            <a:ext cx="1125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31</a:t>
            </a:fld>
            <a:endParaRPr/>
          </a:p>
        </p:txBody>
      </p:sp>
      <p:sp>
        <p:nvSpPr>
          <p:cNvPr id="454" name="Google Shape;45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Jobs</a:t>
            </a:r>
            <a:endParaRPr/>
          </a:p>
        </p:txBody>
      </p:sp>
      <p:sp>
        <p:nvSpPr>
          <p:cNvPr id="455" name="Google Shape;455;p4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Jobs offer several methods to control their state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 start()</a:t>
            </a:r>
            <a:r>
              <a:rPr lang="it">
                <a:solidFill>
                  <a:srgbClr val="0070C0"/>
                </a:solidFill>
              </a:rPr>
              <a:t> </a:t>
            </a:r>
            <a:r>
              <a:rPr lang="it"/>
              <a:t>– start the coroutine related to the job if not started yet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fun cancel(cause)</a:t>
            </a:r>
            <a:r>
              <a:rPr lang="it"/>
              <a:t> – cancel the job with an optional cancellation cause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 fun join()</a:t>
            </a:r>
            <a:r>
              <a:rPr lang="it"/>
              <a:t> – suspends the invoking coroutine until the job is complete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32</a:t>
            </a:fld>
            <a:endParaRPr/>
          </a:p>
        </p:txBody>
      </p:sp>
      <p:sp>
        <p:nvSpPr>
          <p:cNvPr id="462" name="Google Shape;46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Handling exceptions in coroutine</a:t>
            </a:r>
            <a:endParaRPr/>
          </a:p>
        </p:txBody>
      </p:sp>
      <p:sp>
        <p:nvSpPr>
          <p:cNvPr id="463" name="Google Shape;463;p4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fire and forget nature of the </a:t>
            </a:r>
            <a:r>
              <a:rPr lang="it" b="1">
                <a:solidFill>
                  <a:srgbClr val="0B5394"/>
                </a:solidFill>
              </a:rPr>
              <a:t>launch</a:t>
            </a:r>
            <a:r>
              <a:rPr lang="it"/>
              <a:t> builder function does not require explicit handling of exceptions thrown by the coroutines it builds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However, in order to avoid have them swallowed by the system and be treated as uncaught exceptions, it is possible to install in the coroutine context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CoroutineExceptionHandler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Children coroutines usually delegate exception handling to their parent coroutine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Unless their context is populated with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SupervisorJob()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Coroutines created with the async builder function always catches all their exceptions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And throw them when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await()</a:t>
            </a:r>
            <a:r>
              <a:rPr lang="it"/>
              <a:t> is invoked on the deferred result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33</a:t>
            </a:fld>
            <a:endParaRPr/>
          </a:p>
        </p:txBody>
      </p:sp>
      <p:sp>
        <p:nvSpPr>
          <p:cNvPr id="470" name="Google Shape;47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cancellation</a:t>
            </a:r>
            <a:endParaRPr/>
          </a:p>
        </p:txBody>
      </p:sp>
      <p:sp>
        <p:nvSpPr>
          <p:cNvPr id="471" name="Google Shape;471;p4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All suspending functions from kotlinx.coroutines package are cancellable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User provided suspend functions must be cooperative with cancellation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a function start executing a CPU intensive task that does not invoke any other suspend functions, a periodic check to the </a:t>
            </a:r>
            <a:r>
              <a:rPr lang="it" b="1">
                <a:solidFill>
                  <a:srgbClr val="0B5394"/>
                </a:solidFill>
              </a:rPr>
              <a:t>isActive</a:t>
            </a:r>
            <a:r>
              <a:rPr lang="it"/>
              <a:t> property  or an invocation of the </a:t>
            </a:r>
            <a:r>
              <a:rPr lang="it" b="1">
                <a:solidFill>
                  <a:srgbClr val="0B5394"/>
                </a:solidFill>
              </a:rPr>
              <a:t>yield()</a:t>
            </a:r>
            <a:r>
              <a:rPr lang="it"/>
              <a:t>  method should be performed, in order to quit in case of cancellation  </a:t>
            </a:r>
            <a:endParaRPr/>
          </a:p>
        </p:txBody>
      </p:sp>
      <p:sp>
        <p:nvSpPr>
          <p:cNvPr id="472" name="Google Shape;472;p44"/>
          <p:cNvSpPr txBox="1"/>
          <p:nvPr/>
        </p:nvSpPr>
        <p:spPr>
          <a:xfrm>
            <a:off x="870850" y="2814638"/>
            <a:ext cx="7769700" cy="1847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suspend fun decrypt(ins: InputStream, outs: OutputStream, key: Key)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val buffer = ByteArray(2048)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while (true)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val size = ins.read(buffer,0, buffer.size)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if (size == -1) break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outs.write( process(buffer, size, key) 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yield()</a:t>
            </a:r>
            <a:endParaRPr sz="1200"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34</a:t>
            </a:fld>
            <a:endParaRPr/>
          </a:p>
        </p:txBody>
      </p:sp>
      <p:sp>
        <p:nvSpPr>
          <p:cNvPr id="479" name="Google Shape;479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cancellation</a:t>
            </a:r>
            <a:endParaRPr/>
          </a:p>
        </p:txBody>
      </p:sp>
      <p:sp>
        <p:nvSpPr>
          <p:cNvPr id="480" name="Google Shape;480;p4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object set in the context determines how cancellation will be propagated  among sibling coroutines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the context contains an instance of the base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interface, cancellation of a single coroutine will propagate to siblings  causing their cancellation as well</a:t>
            </a:r>
            <a:endParaRPr/>
          </a:p>
          <a:p>
            <a:pPr marL="914400" marR="0" lvl="1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Conversely, if it contains an instance of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SupervisorJob</a:t>
            </a:r>
            <a:r>
              <a:rPr lang="it"/>
              <a:t> class, cancellation will not propagate to sibling coroutines</a:t>
            </a:r>
            <a:endParaRPr/>
          </a:p>
          <a:p>
            <a:pPr marL="457200" marR="0" lvl="0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Function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supervisorScope(…)</a:t>
            </a:r>
            <a:r>
              <a:rPr lang="it"/>
              <a:t> creates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CoroutineScope</a:t>
            </a:r>
            <a:r>
              <a:rPr lang="it"/>
              <a:t> with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SupervisorJob</a:t>
            </a:r>
            <a:r>
              <a:rPr lang="it"/>
              <a:t> and calls the specified suspend block with this scope</a:t>
            </a:r>
            <a:endParaRPr/>
          </a:p>
          <a:p>
            <a:pPr marL="914400" marR="0" lvl="1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provided scope inherits its context from the outer scope, but overrides context's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with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SupervisorJob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35</a:t>
            </a:fld>
            <a:endParaRPr/>
          </a:p>
        </p:txBody>
      </p:sp>
      <p:sp>
        <p:nvSpPr>
          <p:cNvPr id="487" name="Google Shape;48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cancellation</a:t>
            </a:r>
            <a:endParaRPr/>
          </a:p>
        </p:txBody>
      </p:sp>
      <p:sp>
        <p:nvSpPr>
          <p:cNvPr id="488" name="Google Shape;488;p46"/>
          <p:cNvSpPr txBox="1">
            <a:spLocks noGrp="1"/>
          </p:cNvSpPr>
          <p:nvPr>
            <p:ph type="body" idx="1"/>
          </p:nvPr>
        </p:nvSpPr>
        <p:spPr>
          <a:xfrm>
            <a:off x="311150" y="1015600"/>
            <a:ext cx="8521800" cy="138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launch(...)</a:t>
            </a:r>
            <a:r>
              <a:rPr lang="it"/>
              <a:t> spawns cancellable tasks (a.k.a. Fire and forget)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coroutine can be created to execute a subtask, without waiting for its completion, somewhat similarly to what can be done spawning a new thread, dedicated to execute the task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However, differently from threads, coroutines can be easily cancelled</a:t>
            </a:r>
            <a:endParaRPr/>
          </a:p>
        </p:txBody>
      </p:sp>
      <p:sp>
        <p:nvSpPr>
          <p:cNvPr id="489" name="Google Shape;489;p46"/>
          <p:cNvSpPr txBox="1"/>
          <p:nvPr/>
        </p:nvSpPr>
        <p:spPr>
          <a:xfrm>
            <a:off x="582375" y="2284406"/>
            <a:ext cx="3918900" cy="1847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val scope = CoroutineScope(Job())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scope.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launch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while(true)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delay(1000)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println("Coroutine - tick")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//…do other work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scope.cancel()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46"/>
          <p:cNvSpPr txBox="1"/>
          <p:nvPr/>
        </p:nvSpPr>
        <p:spPr>
          <a:xfrm>
            <a:off x="4782150" y="2284406"/>
            <a:ext cx="3918900" cy="2401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val t = Thread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try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while(!Thread.currentThread()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     .isInterrupted)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Thread.sleep(1000)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println("Thread - tick")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 catch (e:InterruptedException){}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}.apply { start()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//…do other work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t.interrupt()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t.join()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36</a:t>
            </a:fld>
            <a:endParaRPr/>
          </a:p>
        </p:txBody>
      </p:sp>
      <p:sp>
        <p:nvSpPr>
          <p:cNvPr id="497" name="Google Shape;49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cancellation</a:t>
            </a:r>
            <a:endParaRPr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It is easy to implement timeouts, even in case of multiple concurrent tasks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To implement it with standard threads it is necessary to resort to class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CompletableFuture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9" name="Google Shape;499;p47"/>
          <p:cNvSpPr txBox="1"/>
          <p:nvPr/>
        </p:nvSpPr>
        <p:spPr>
          <a:xfrm>
            <a:off x="464100" y="2258415"/>
            <a:ext cx="3918900" cy="1477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val res = runBlocking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withTimeoutOrNull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(1500)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val d1 = async { task1()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val d2 = async { task2()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d1.await() + d2.await()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47"/>
          <p:cNvSpPr txBox="1"/>
          <p:nvPr/>
        </p:nvSpPr>
        <p:spPr>
          <a:xfrm>
            <a:off x="4705950" y="2028709"/>
            <a:ext cx="3918900" cy="2586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t1 = CompletableFuture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.supplyAsync{ task1()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t2 = CompletableFuture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.supplyAsync{ task2()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all = CompletableFuture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.allOf(t1,t2)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.orTimeout(1500,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TimeUnit.MILLISECONDS)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res = try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all.join()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t1.get() + t2.get()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catch(e: CompletionException)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null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Synchronization</a:t>
            </a:r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37</a:t>
            </a:fld>
            <a:endParaRPr/>
          </a:p>
        </p:txBody>
      </p:sp>
      <p:sp>
        <p:nvSpPr>
          <p:cNvPr id="507" name="Google Shape;507;p4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Since coroutines do introduce concurrency in programs, they are open to all the challenges that usual concurrent programs are subject to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Interference can stem from accessing the same value from different threads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To this purpose, the library provides a couple of classes which support synchronization leveraging on suspension rather than on blocking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Class 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kotlinx.coroutines.sync.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it"/>
              <a:t> protects all modifications of the shared state with a critical section that is never executed concurrently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Class 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kotlinx.coroutines.sync.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Semaphore</a:t>
            </a:r>
            <a:r>
              <a:rPr lang="it"/>
              <a:t> limits the number of coroutines that can execute specified code at the same time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Synchronization</a:t>
            </a:r>
            <a:endParaRPr/>
          </a:p>
        </p:txBody>
      </p:sp>
      <p:sp>
        <p:nvSpPr>
          <p:cNvPr id="513" name="Google Shape;513;p4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38</a:t>
            </a:fld>
            <a:endParaRPr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 possible approach to avoid interference, is to confine shared state modifications to blocks manipulated by a single-thread dispatcher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is essentially what Android does for UI-related code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All modifications of the UI can only happen in the main thread and, </a:t>
            </a:r>
            <a:r>
              <a:rPr lang="it" b="1">
                <a:solidFill>
                  <a:srgbClr val="0B5394"/>
                </a:solidFill>
              </a:rPr>
              <a:t>if critical sections are not interspersed with suspension points</a:t>
            </a:r>
            <a:r>
              <a:rPr lang="it"/>
              <a:t>, they are run from the beginning to the end, guaranteeing state-invariant preservation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approach can be used for custom code too, by creating a custom dispatcher using the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.limitedParallelism(1)</a:t>
            </a:r>
            <a:r>
              <a:rPr lang="it"/>
              <a:t> extension function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Such a dispatcher can be used to create a context that wraps entire functions (like one downloading a resource from a server) or just those few lines of code where shared state is modified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mutex</a:t>
            </a:r>
            <a:endParaRPr/>
          </a:p>
        </p:txBody>
      </p:sp>
      <p:sp>
        <p:nvSpPr>
          <p:cNvPr id="520" name="Google Shape;520;p5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39</a:t>
            </a:fld>
            <a:endParaRPr/>
          </a:p>
        </p:txBody>
      </p:sp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it"/>
              <a:t> has two states: locked and unlocked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Extension function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withLock { … }</a:t>
            </a:r>
            <a:r>
              <a:rPr lang="it"/>
              <a:t> is used to suspend until it is possible to grab it, after which the provided block is executed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it"/>
              <a:t> is non-reentrant: trying to lock it from the same thread/coroutine that currently holds the lock suspends the invoker leading to a deadlock</a:t>
            </a:r>
            <a:endParaRPr/>
          </a:p>
        </p:txBody>
      </p:sp>
      <p:sp>
        <p:nvSpPr>
          <p:cNvPr id="522" name="Google Shape;522;p50"/>
          <p:cNvSpPr txBox="1"/>
          <p:nvPr/>
        </p:nvSpPr>
        <p:spPr>
          <a:xfrm>
            <a:off x="4553550" y="1152465"/>
            <a:ext cx="3918900" cy="295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main() = runBlocking&lt;Unit&gt;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var mutex = Mutex()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var n = 0;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runBlocking(Dispatchers.Default)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launch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for ( i in 1..1_000_000 )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mutex.withLock 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{ n++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launch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for ( i in 1..1_000_000 )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mutex.withLock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{ n++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println("Final value: $n")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semaphores</a:t>
            </a:r>
            <a:endParaRPr/>
          </a:p>
        </p:txBody>
      </p:sp>
      <p:sp>
        <p:nvSpPr>
          <p:cNvPr id="528" name="Google Shape;528;p5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40</a:t>
            </a:fld>
            <a:endParaRPr/>
          </a:p>
        </p:txBody>
      </p:sp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it"/>
              <a:t>When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Semaphore</a:t>
            </a:r>
            <a:r>
              <a:rPr lang="it"/>
              <a:t> is created, it is assigned a given number of permits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To control the degree of concurrency, extension function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withPermit {…}</a:t>
            </a:r>
            <a:r>
              <a:rPr lang="it">
                <a:solidFill>
                  <a:schemeClr val="dk1"/>
                </a:solidFill>
              </a:rPr>
              <a:t> is invoked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If no permits are available, the execution is suspended until one is returned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Otherwise, the permit count is decremented while the provided block is executing, and then incremented again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Semaphore</a:t>
            </a:r>
            <a:r>
              <a:rPr lang="it"/>
              <a:t> with one permit behaves similarly to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it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530" name="Google Shape;530;p51"/>
          <p:cNvSpPr txBox="1"/>
          <p:nvPr/>
        </p:nvSpPr>
        <p:spPr>
          <a:xfrm>
            <a:off x="4553550" y="1152465"/>
            <a:ext cx="3918900" cy="3140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suspend fun loadData(name: String)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println("Begin $name")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delay((Math.random()*300+500).toLong())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println("End $name")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main() = runBlocking&lt;Unit&gt;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var semaphore = Semaphore(2)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runBlocking(Dispatchers.Default)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for (i in 0..3)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launch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semaphore.withPermit {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loadData("t$i")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51"/>
          <p:cNvSpPr/>
          <p:nvPr/>
        </p:nvSpPr>
        <p:spPr>
          <a:xfrm>
            <a:off x="8040550" y="2361450"/>
            <a:ext cx="980700" cy="220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Begin t0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Begin t1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End t1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Begin t3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End t0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Begin t2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End t2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End t3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41</a:t>
            </a:fld>
            <a:endParaRPr/>
          </a:p>
        </p:txBody>
      </p:sp>
      <p:sp>
        <p:nvSpPr>
          <p:cNvPr id="537" name="Google Shape;53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typical usage patterns</a:t>
            </a:r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marR="0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Function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rememberCoroutineScope()</a:t>
            </a:r>
            <a:r>
              <a:rPr lang="it"/>
              <a:t> in composable functions returns a scope that lasts as long as the composable is on the screen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Cancelling all pending coroutines when it is removed from it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Thread switch is achieved via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withContext(…)</a:t>
            </a:r>
            <a:r>
              <a:rPr lang="it"/>
              <a:t> 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order to perform I/O or CPU intensive operations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Coroutine results can be modelled by a generic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Result&lt;T&gt;</a:t>
            </a:r>
            <a:r>
              <a:rPr lang="it"/>
              <a:t> class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Encapsulating the data or an error</a:t>
            </a:r>
            <a:endParaRPr/>
          </a:p>
        </p:txBody>
      </p:sp>
      <p:sp>
        <p:nvSpPr>
          <p:cNvPr id="539" name="Google Shape;539;p52"/>
          <p:cNvSpPr txBox="1"/>
          <p:nvPr/>
        </p:nvSpPr>
        <p:spPr>
          <a:xfrm>
            <a:off x="1186044" y="4078631"/>
            <a:ext cx="6771900" cy="404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Result&lt;out T&gt;(</a:t>
            </a:r>
            <a:r>
              <a:rPr lang="it" sz="800"/>
              <a:t>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value: T?,</a:t>
            </a:r>
            <a:r>
              <a:rPr lang="it" sz="800"/>
              <a:t> 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throwable: Throwable? )</a:t>
            </a:r>
            <a:endParaRPr sz="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typical usage patterns</a:t>
            </a:r>
            <a:endParaRPr/>
          </a:p>
        </p:txBody>
      </p:sp>
      <p:sp>
        <p:nvSpPr>
          <p:cNvPr id="545" name="Google Shape;545;p5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42</a:t>
            </a:fld>
            <a:endParaRPr/>
          </a:p>
        </p:txBody>
      </p:sp>
      <p:sp>
        <p:nvSpPr>
          <p:cNvPr id="546" name="Google Shape;546;p53"/>
          <p:cNvSpPr txBox="1"/>
          <p:nvPr/>
        </p:nvSpPr>
        <p:spPr>
          <a:xfrm>
            <a:off x="380093" y="1136115"/>
            <a:ext cx="7317000" cy="2405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SomeWidget(...)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val reveal = viewModel.isShowingPassword.observeAsState()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val scope = rememberCoroutineScope()</a:t>
            </a:r>
            <a:endParaRPr sz="12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Row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if (reveal?.value == true)  { Text(viewModel.password)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else { Text("****")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Button(onClick = { </a:t>
            </a:r>
            <a:r>
              <a:rPr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scope.launch { viewModel.showPasswordBriefly() }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Text("Reveal password")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53"/>
          <p:cNvSpPr txBox="1"/>
          <p:nvPr/>
        </p:nvSpPr>
        <p:spPr>
          <a:xfrm>
            <a:off x="3566098" y="2873100"/>
            <a:ext cx="5425500" cy="1851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class SomeViewModel: ViewModel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val isShowingPassword = MutableLiveData&lt;Boolean&gt;(false)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suspend fun showPasswordBriefly()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isShowingPassword.value = true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delay(3000)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isShowingPassword.value = false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//…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typical usage patterns</a:t>
            </a:r>
            <a:endParaRPr/>
          </a:p>
        </p:txBody>
      </p:sp>
      <p:sp>
        <p:nvSpPr>
          <p:cNvPr id="553" name="Google Shape;553;p5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43</a:t>
            </a:fld>
            <a:endParaRPr/>
          </a:p>
        </p:txBody>
      </p:sp>
      <p:sp>
        <p:nvSpPr>
          <p:cNvPr id="554" name="Google Shape;554;p54"/>
          <p:cNvSpPr txBox="1"/>
          <p:nvPr/>
        </p:nvSpPr>
        <p:spPr>
          <a:xfrm>
            <a:off x="913493" y="1059915"/>
            <a:ext cx="7317000" cy="3652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MyRepository {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suspend fun getMyData(id: Int): Result&lt;MyData&gt; =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5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withContext(Dispatchers.IO)</a:t>
            </a: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 localData = async { myDAO.getMyData(id) }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val remoteData = async { myAPI.getMyData(id) }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try {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val l = localData.await()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val r = remoteData.await()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if (r.</a:t>
            </a:r>
            <a:r>
              <a:rPr lang="it" sz="1500" i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isValid()</a:t>
            </a: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 return Result(r,null)</a:t>
            </a:r>
            <a:b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else return (Result(l,null)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} catch ( error: Throwable) { 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return Result(null,error)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00">
              <a:solidFill>
                <a:srgbClr val="0B539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typical usage patterns</a:t>
            </a:r>
            <a:endParaRPr/>
          </a:p>
        </p:txBody>
      </p:sp>
      <p:sp>
        <p:nvSpPr>
          <p:cNvPr id="560" name="Google Shape;560;p5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44</a:t>
            </a:fld>
            <a:endParaRPr/>
          </a:p>
        </p:txBody>
      </p:sp>
      <p:sp>
        <p:nvSpPr>
          <p:cNvPr id="561" name="Google Shape;561;p55"/>
          <p:cNvSpPr txBox="1"/>
          <p:nvPr/>
        </p:nvSpPr>
        <p:spPr>
          <a:xfrm>
            <a:off x="380093" y="1136115"/>
            <a:ext cx="7317000" cy="3421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suspend fun deleteAllNotes() = withContext(Dispatchers.IO)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// This creates a new scope and suspends the current coroutine 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// until all child coroutines in it have completed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// Equivalent to: do these things in parallel then return 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// when they are all done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5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coroutineScope </a:t>
            </a: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launch { remoteDataSource.deleteAllNotes() 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launch { localDataSource.deleteAllNotes() 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45</a:t>
            </a:fld>
            <a:endParaRPr/>
          </a:p>
        </p:txBody>
      </p:sp>
      <p:sp>
        <p:nvSpPr>
          <p:cNvPr id="567" name="Google Shape;567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Invoking the Repository</a:t>
            </a:r>
            <a:endParaRPr/>
          </a:p>
        </p:txBody>
      </p:sp>
      <p:sp>
        <p:nvSpPr>
          <p:cNvPr id="568" name="Google Shape;568;p5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Androidx viewmodel library introduces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viewModelScope</a:t>
            </a:r>
            <a:r>
              <a:rPr lang="it"/>
              <a:t> extension property that provides a dedicated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CoroutineScope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can be used to launch coroutines from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</a:t>
            </a:r>
            <a:r>
              <a:rPr lang="it"/>
              <a:t> instance, all having 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SupervisorJob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ViewModel</a:t>
            </a:r>
            <a:r>
              <a:rPr lang="it"/>
              <a:t> is cleared, all pending coroutines are automatically cancelled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Dispatchers.Main</a:t>
            </a:r>
            <a:r>
              <a:rPr lang="it"/>
              <a:t> is set as the default dispatcher</a:t>
            </a:r>
            <a:endParaRPr/>
          </a:p>
          <a:p>
            <a:pPr marL="269875" marR="0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Activities and fragments have a corresponding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lifecycleScope</a:t>
            </a:r>
            <a:r>
              <a:rPr lang="it">
                <a:solidFill>
                  <a:schemeClr val="dk1"/>
                </a:solidFill>
              </a:rPr>
              <a:t> extension property</a:t>
            </a:r>
            <a:r>
              <a:rPr lang="it"/>
              <a:t> 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they reach the end of their lifecycle, all pending coroutines created via it are cancelled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46</a:t>
            </a:fld>
            <a:endParaRPr/>
          </a:p>
        </p:txBody>
      </p:sp>
      <p:sp>
        <p:nvSpPr>
          <p:cNvPr id="574" name="Google Shape;574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Invoking the repository</a:t>
            </a:r>
            <a:endParaRPr/>
          </a:p>
        </p:txBody>
      </p:sp>
      <p:sp>
        <p:nvSpPr>
          <p:cNvPr id="575" name="Google Shape;575;p57"/>
          <p:cNvSpPr txBox="1"/>
          <p:nvPr/>
        </p:nvSpPr>
        <p:spPr>
          <a:xfrm>
            <a:off x="920024" y="1106298"/>
            <a:ext cx="7304100" cy="35139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MyViewModel(val repo:MyRepository):ViewModel() {  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fun getMyData() {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8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viewModelScope.launch </a:t>
            </a: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val data = repo.getMyData()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if (data.error != null )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//display error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else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//update UI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 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  </a:t>
            </a:r>
            <a:endParaRPr sz="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47</a:t>
            </a:fld>
            <a:endParaRPr/>
          </a:p>
        </p:txBody>
      </p:sp>
      <p:sp>
        <p:nvSpPr>
          <p:cNvPr id="581" name="Google Shape;581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Coroutine summary</a:t>
            </a:r>
            <a:endParaRPr/>
          </a:p>
        </p:txBody>
      </p:sp>
      <p:sp>
        <p:nvSpPr>
          <p:cNvPr id="582" name="Google Shape;582;p5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JVM does not provide native support for coroutines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Kotlin implements coroutines in the compiler via transformation of suspending functions into state machines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Kotlin uses a single keyword for the implementation, the rest is done in libraries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Kotlin uses Continuation Passing Style (CPS) to implement coroutines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By using dispatchers, its easy to switch thread and keep the code simple to read and maintain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48</a:t>
            </a:fld>
            <a:endParaRPr/>
          </a:p>
        </p:txBody>
      </p:sp>
      <p:sp>
        <p:nvSpPr>
          <p:cNvPr id="588" name="Google Shape;588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34375"/>
              <a:buNone/>
            </a:pPr>
            <a:r>
              <a:rPr lang="it"/>
              <a:t>Coroutines under the hood</a:t>
            </a:r>
            <a:endParaRPr/>
          </a:p>
        </p:txBody>
      </p:sp>
      <p:sp>
        <p:nvSpPr>
          <p:cNvPr id="589" name="Google Shape;589;p5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internal behaviour of suspension is made possible by a specific support provided by the compiler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Which treats suspend fun invocation in a totally different way respect to traditional functions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a computation suspends, the threads that is executing it is freed of the current job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it were part of a thread pool, it becomes eligible to execute other tasks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it did operate as a Looper (looping on a message queue for tasks to be executed), it fetches the next task (typical of event threads in GUIs)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it were a dedicated thread, it would becomes useless (but Kotlin libraries prevents this case)</a:t>
            </a:r>
            <a:endParaRPr/>
          </a:p>
        </p:txBody>
      </p:sp>
      <p:pic>
        <p:nvPicPr>
          <p:cNvPr id="590" name="Google Shape;59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9800" y="122850"/>
            <a:ext cx="1121349" cy="112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49</a:t>
            </a:fld>
            <a:endParaRPr/>
          </a:p>
        </p:txBody>
      </p:sp>
      <p:sp>
        <p:nvSpPr>
          <p:cNvPr id="596" name="Google Shape;596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34375"/>
              <a:buNone/>
            </a:pPr>
            <a:r>
              <a:rPr lang="it"/>
              <a:t>Coroutines under the hood</a:t>
            </a:r>
            <a:endParaRPr/>
          </a:p>
        </p:txBody>
      </p:sp>
      <p:sp>
        <p:nvSpPr>
          <p:cNvPr id="597" name="Google Shape;597;p6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Saving the computation state into an object can be expensive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naïve solution would require duplicating the stack into a heap-allocated object (and restoring it when the computation resumes)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order to reduce this cost, a different function invocation style is introduced by the compiler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called Continuation Passing Style – CPS 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relies on keeping the state in hidden parameter, the continuation, and not onto the stack</a:t>
            </a:r>
            <a:endParaRPr/>
          </a:p>
          <a:p>
            <a:pPr marL="269875" lvl="0" indent="-244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compiler is responsible to rewrite functions marked with </a:t>
            </a:r>
            <a:r>
              <a:rPr lang="it">
                <a:solidFill>
                  <a:schemeClr val="dk1"/>
                </a:solidFill>
              </a:rPr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</a:t>
            </a:r>
            <a:r>
              <a:rPr lang="it">
                <a:solidFill>
                  <a:schemeClr val="dk1"/>
                </a:solidFill>
              </a:rPr>
              <a:t> keyword, so that they employ this style</a:t>
            </a:r>
            <a:r>
              <a:rPr lang="it"/>
              <a:t> of invocation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1"/>
          <p:cNvSpPr txBox="1">
            <a:spLocks noGrp="1"/>
          </p:cNvSpPr>
          <p:nvPr>
            <p:ph type="body" idx="1"/>
          </p:nvPr>
        </p:nvSpPr>
        <p:spPr>
          <a:xfrm>
            <a:off x="311150" y="11680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Per each suspend fun containing at least one suspension point, the compiler generates an anonymous class implementing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Continuation&lt;T&gt;</a:t>
            </a:r>
            <a:r>
              <a:rPr lang="it"/>
              <a:t> interface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class contains the state of the (partial) execution of the function (set of local variables and the point from which the computation should resume, represented as a integer label)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original function is rewritten as a state machine and an extra parameter, having the Continuation type, is added</a:t>
            </a:r>
            <a:endParaRPr/>
          </a:p>
        </p:txBody>
      </p:sp>
      <p:sp>
        <p:nvSpPr>
          <p:cNvPr id="604" name="Google Shape;604;p6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50</a:t>
            </a:fld>
            <a:endParaRPr/>
          </a:p>
        </p:txBody>
      </p:sp>
      <p:sp>
        <p:nvSpPr>
          <p:cNvPr id="605" name="Google Shape;605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Function invocation styles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51</a:t>
            </a:fld>
            <a:endParaRPr/>
          </a:p>
        </p:txBody>
      </p:sp>
      <p:sp>
        <p:nvSpPr>
          <p:cNvPr id="611" name="Google Shape;611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Continuation-passing style</a:t>
            </a:r>
            <a:endParaRPr/>
          </a:p>
        </p:txBody>
      </p:sp>
      <p:sp>
        <p:nvSpPr>
          <p:cNvPr id="612" name="Google Shape;612;p6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Using this style, the code AFTER the function is not referenced by a return address pushed on the stack, before invoking it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But via its continuation, which is is passed as an extra parameter to the invoked function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invoked function does not RETURN when it finishes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Since the stack would not contain the address of the invoker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Instead, it invokes the continuation, passing its result value as an argument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Continuation-passing style</a:t>
            </a:r>
            <a:endParaRPr/>
          </a:p>
        </p:txBody>
      </p:sp>
      <p:sp>
        <p:nvSpPr>
          <p:cNvPr id="618" name="Google Shape;618;p6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52</a:t>
            </a:fld>
            <a:endParaRPr/>
          </a:p>
        </p:txBody>
      </p:sp>
      <p:sp>
        <p:nvSpPr>
          <p:cNvPr id="619" name="Google Shape;619;p63"/>
          <p:cNvSpPr txBox="1"/>
          <p:nvPr/>
        </p:nvSpPr>
        <p:spPr>
          <a:xfrm>
            <a:off x="900430" y="1244489"/>
            <a:ext cx="7343100" cy="31689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interface Continuation&lt;in T&gt;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  <a:t>    /* Resumes the execution of the suspending</a:t>
            </a:r>
            <a:endParaRPr b="0" i="0" u="none" strike="noStrike" cap="none">
              <a:solidFill>
                <a:srgbClr val="48814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  <a:t>       function passing [value] as return value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  <a:t>       of the last suspension point */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fun </a:t>
            </a:r>
            <a:r>
              <a:rPr lang="it" b="1" i="0" u="none" strike="noStrike" cap="none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resumeWith</a:t>
            </a: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(value: 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  <a:t>    /* Context of the suspending function,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  <a:t>       and information about the thread </a:t>
            </a:r>
            <a:b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b="0" i="0" u="none" strike="noStrike" cap="none">
                <a:solidFill>
                  <a:srgbClr val="488148"/>
                </a:solidFill>
                <a:latin typeface="Consolas"/>
                <a:ea typeface="Consolas"/>
                <a:cs typeface="Consolas"/>
                <a:sym typeface="Consolas"/>
              </a:rPr>
              <a:t>       to be used when resumed */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val context: CoroutineContext</a:t>
            </a:r>
            <a:endParaRPr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53</a:t>
            </a:fld>
            <a:endParaRPr/>
          </a:p>
        </p:txBody>
      </p:sp>
      <p:sp>
        <p:nvSpPr>
          <p:cNvPr id="625" name="Google Shape;625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Continuation-passing style</a:t>
            </a:r>
            <a:endParaRPr/>
          </a:p>
        </p:txBody>
      </p:sp>
      <p:sp>
        <p:nvSpPr>
          <p:cNvPr id="626" name="Google Shape;626;p6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44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 CPS is enabled in Kotlin by prefixing a function with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/>
              <a:t>the keyword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suspend</a:t>
            </a:r>
            <a:r>
              <a:rPr lang="it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7" name="Google Shape;627;p64"/>
          <p:cNvSpPr txBox="1"/>
          <p:nvPr/>
        </p:nvSpPr>
        <p:spPr>
          <a:xfrm>
            <a:off x="1099220" y="1888929"/>
            <a:ext cx="6902400" cy="404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suspend fun someFunction (a: Int, b: Int): Int</a:t>
            </a:r>
            <a:endParaRPr/>
          </a:p>
        </p:txBody>
      </p:sp>
      <p:sp>
        <p:nvSpPr>
          <p:cNvPr id="628" name="Google Shape;628;p64"/>
          <p:cNvSpPr/>
          <p:nvPr/>
        </p:nvSpPr>
        <p:spPr>
          <a:xfrm>
            <a:off x="4095204" y="2381066"/>
            <a:ext cx="953700" cy="55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AE8EB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9" name="Google Shape;629;p64"/>
          <p:cNvSpPr txBox="1"/>
          <p:nvPr/>
        </p:nvSpPr>
        <p:spPr>
          <a:xfrm>
            <a:off x="822325" y="3075133"/>
            <a:ext cx="7499400" cy="620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3600" rIns="91425" bIns="93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Object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someFunction(</a:t>
            </a:r>
            <a:endParaRPr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</a:t>
            </a: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a, int b, </a:t>
            </a:r>
            <a:r>
              <a:rPr lang="it" b="1" i="0" u="none" strike="noStrike" cap="none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@NotNull Continuation</a:t>
            </a:r>
            <a:r>
              <a:rPr lang="it" b="1" i="0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c)</a:t>
            </a:r>
            <a:endParaRPr/>
          </a:p>
        </p:txBody>
      </p:sp>
      <p:sp>
        <p:nvSpPr>
          <p:cNvPr id="630" name="Google Shape;630;p64"/>
          <p:cNvSpPr txBox="1"/>
          <p:nvPr/>
        </p:nvSpPr>
        <p:spPr>
          <a:xfrm>
            <a:off x="326997" y="3819342"/>
            <a:ext cx="8505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9875" marR="0" lvl="0" indent="-244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it" sz="2000">
                <a:latin typeface="Calibri"/>
                <a:ea typeface="Calibri"/>
                <a:cs typeface="Calibri"/>
                <a:sym typeface="Calibri"/>
              </a:rPr>
              <a:t>The continuation encloses both the state of the execution inside the function and the address of callback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54</a:t>
            </a:fld>
            <a:endParaRPr/>
          </a:p>
        </p:txBody>
      </p:sp>
      <p:sp>
        <p:nvSpPr>
          <p:cNvPr id="636" name="Google Shape;636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Continuation-passing style</a:t>
            </a:r>
            <a:endParaRPr/>
          </a:p>
        </p:txBody>
      </p:sp>
      <p:sp>
        <p:nvSpPr>
          <p:cNvPr id="637" name="Google Shape;637;p6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code in the function has the opportunity to control </a:t>
            </a:r>
            <a:r>
              <a:rPr lang="it" b="1">
                <a:solidFill>
                  <a:srgbClr val="0B5394"/>
                </a:solidFill>
              </a:rPr>
              <a:t>when</a:t>
            </a:r>
            <a:r>
              <a:rPr lang="it"/>
              <a:t> and </a:t>
            </a:r>
            <a:r>
              <a:rPr lang="it" b="1">
                <a:solidFill>
                  <a:srgbClr val="0B5394"/>
                </a:solidFill>
              </a:rPr>
              <a:t>how</a:t>
            </a:r>
            <a:r>
              <a:rPr lang="it"/>
              <a:t> the continuation is invoked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Synchronously, in the same thread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Asynchronously, in another thread</a:t>
            </a:r>
            <a:endParaRPr/>
          </a:p>
        </p:txBody>
      </p:sp>
      <p:pic>
        <p:nvPicPr>
          <p:cNvPr id="638" name="Google Shape;638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1580" y="2655277"/>
            <a:ext cx="2377081" cy="176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9464" y="2655277"/>
            <a:ext cx="2501536" cy="1767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55</a:t>
            </a:fld>
            <a:endParaRPr/>
          </a:p>
        </p:txBody>
      </p:sp>
      <p:sp>
        <p:nvSpPr>
          <p:cNvPr id="645" name="Google Shape;645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Continuation passing style</a:t>
            </a:r>
            <a:endParaRPr/>
          </a:p>
        </p:txBody>
      </p:sp>
      <p:sp>
        <p:nvSpPr>
          <p:cNvPr id="646" name="Google Shape;646;p6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suspend function may invoke, inside its body, both regular and suspend functions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latter will introduce a suspension point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regular function </a:t>
            </a:r>
            <a:r>
              <a:rPr lang="it" b="1">
                <a:solidFill>
                  <a:srgbClr val="0B5394"/>
                </a:solidFill>
              </a:rPr>
              <a:t>cannot invoke</a:t>
            </a:r>
            <a:r>
              <a:rPr lang="it">
                <a:solidFill>
                  <a:srgbClr val="C00000"/>
                </a:solidFill>
              </a:rPr>
              <a:t> </a:t>
            </a:r>
            <a:r>
              <a:rPr lang="it"/>
              <a:t>a suspending one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compiler rewrites the body of a suspend function, transforming it into a Finite State Machine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there are N suspension points, the FSM will have N+1 states (the beginning of the function, and all the suspension points)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56</a:t>
            </a:fld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Continuation passing style</a:t>
            </a:r>
            <a:endParaRPr/>
          </a:p>
        </p:txBody>
      </p:sp>
      <p:sp>
        <p:nvSpPr>
          <p:cNvPr id="653" name="Google Shape;653;p6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continuation is actually a closure that contains: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current state of the FSM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set of local variables inside the suspending function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result of the previous computation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callback that will be invoked when the function terminates,  to return its value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coroutine context with all its details:</a:t>
            </a:r>
            <a:endParaRPr/>
          </a:p>
          <a:p>
            <a:pPr marL="715962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Dispatcher</a:t>
            </a:r>
            <a:r>
              <a:rPr lang="it"/>
              <a:t> responsible to invoke the continuation</a:t>
            </a:r>
            <a:endParaRPr/>
          </a:p>
          <a:p>
            <a:pPr marL="715962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Job</a:t>
            </a:r>
            <a:r>
              <a:rPr lang="it"/>
              <a:t> that conveys information about how the current coroutine relates to other (parent, siblings, children) coroutines</a:t>
            </a:r>
            <a:endParaRPr/>
          </a:p>
          <a:p>
            <a:pPr marL="715962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ExceptionHandler</a:t>
            </a:r>
            <a:r>
              <a:rPr lang="it"/>
              <a:t> that deals with failures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57</a:t>
            </a:fld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Continuation passing style</a:t>
            </a:r>
            <a:endParaRPr/>
          </a:p>
        </p:txBody>
      </p:sp>
      <p:sp>
        <p:nvSpPr>
          <p:cNvPr id="661" name="Google Shape;661;p68"/>
          <p:cNvSpPr txBox="1"/>
          <p:nvPr/>
        </p:nvSpPr>
        <p:spPr>
          <a:xfrm>
            <a:off x="471900" y="879019"/>
            <a:ext cx="8200200" cy="3879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object : Continuation&lt;Unit&gt;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private var 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label = 0  </a:t>
            </a:r>
            <a:r>
              <a:rPr lang="it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 where to start the execution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private var d: SomeData? = null</a:t>
            </a:r>
            <a:r>
              <a:rPr lang="it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// variable to be preserved when suspending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val context: CoroutineContext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fun </a:t>
            </a:r>
            <a:r>
              <a:rPr lang="it" sz="1000" b="1">
                <a:latin typeface="Consolas"/>
                <a:ea typeface="Consolas"/>
                <a:cs typeface="Consolas"/>
                <a:sym typeface="Consolas"/>
              </a:rPr>
              <a:t>resumeWith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(result:Any)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when (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-&gt; {  // the function has just been invoked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label = 1</a:t>
            </a:r>
            <a:endParaRPr sz="1000"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var tmp1 = </a:t>
            </a:r>
            <a:r>
              <a:rPr lang="it" sz="10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fetchData(this)</a:t>
            </a:r>
            <a:endParaRPr sz="1000"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if (tmp1 == COROUTINE_SUSPENDED) return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000" b="1">
                <a:latin typeface="Consolas"/>
                <a:ea typeface="Consolas"/>
                <a:cs typeface="Consolas"/>
                <a:sym typeface="Consolas"/>
              </a:rPr>
              <a:t>resumeWith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(tmp1)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-&gt; {  // fetchData() has terminated successfully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d = result as SomeData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label = 2</a:t>
            </a:r>
            <a:endParaRPr sz="1000"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var tmp2 = </a:t>
            </a:r>
            <a:r>
              <a:rPr lang="it" sz="10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processData(d, this)</a:t>
            </a:r>
            <a:endParaRPr sz="1000"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if (tmp2 == COROUTINE_SUSPENDED) return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000" b="1">
                <a:latin typeface="Consolas"/>
                <a:ea typeface="Consolas"/>
                <a:cs typeface="Consolas"/>
                <a:sym typeface="Consolas"/>
              </a:rPr>
              <a:t>resumeWith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(tmp2)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-&gt; </a:t>
            </a:r>
            <a:r>
              <a:rPr lang="it" sz="10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displayData(result as SomeData) </a:t>
            </a:r>
            <a:endParaRPr sz="1000"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it" sz="1000" b="1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-&gt; throw IllegalStateException()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62" name="Google Shape;662;p68"/>
          <p:cNvGrpSpPr/>
          <p:nvPr/>
        </p:nvGrpSpPr>
        <p:grpSpPr>
          <a:xfrm>
            <a:off x="6043650" y="187331"/>
            <a:ext cx="2895300" cy="1262250"/>
            <a:chOff x="355850" y="1455700"/>
            <a:chExt cx="2895300" cy="1683000"/>
          </a:xfrm>
        </p:grpSpPr>
        <p:sp>
          <p:nvSpPr>
            <p:cNvPr id="663" name="Google Shape;663;p68"/>
            <p:cNvSpPr txBox="1"/>
            <p:nvPr/>
          </p:nvSpPr>
          <p:spPr>
            <a:xfrm>
              <a:off x="355850" y="1455700"/>
              <a:ext cx="2895300" cy="168300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suspend fun showData() {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val d = fetchData()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val r = processData(d)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  displayData(r)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664" name="Google Shape;664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4799" y="1939470"/>
              <a:ext cx="198050" cy="188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5" name="Google Shape;665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4799" y="2173513"/>
              <a:ext cx="198050" cy="188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6" name="Google Shape;666;p68"/>
          <p:cNvSpPr txBox="1"/>
          <p:nvPr/>
        </p:nvSpPr>
        <p:spPr>
          <a:xfrm rot="-1376704">
            <a:off x="5656979" y="2697736"/>
            <a:ext cx="2537141" cy="63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PSEUDO_CODE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58</a:t>
            </a:fld>
            <a:endParaRPr/>
          </a:p>
        </p:txBody>
      </p:sp>
      <p:sp>
        <p:nvSpPr>
          <p:cNvPr id="672" name="Google Shape;672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Execution details</a:t>
            </a:r>
            <a:endParaRPr/>
          </a:p>
        </p:txBody>
      </p:sp>
      <p:sp>
        <p:nvSpPr>
          <p:cNvPr id="673" name="Google Shape;673;p6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Not every suspend fun invocation inside a coroutine will actually suspend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compiler takes care of that by introducing a special return value to mark a suspension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Two typical cases where suspension occurs: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delay(milliseconds: Int)</a:t>
            </a:r>
            <a:r>
              <a:rPr lang="it">
                <a:solidFill>
                  <a:srgbClr val="0070C0"/>
                </a:solidFill>
              </a:rPr>
              <a:t> </a:t>
            </a:r>
            <a:r>
              <a:rPr lang="it"/>
              <a:t>– causes the current thread to be suspended and resumed in the given number of milliseconds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withContext(ctx: CoroutineContext) { λ }</a:t>
            </a:r>
            <a:r>
              <a:rPr lang="it">
                <a:solidFill>
                  <a:srgbClr val="0070C0"/>
                </a:solidFill>
              </a:rPr>
              <a:t> </a:t>
            </a:r>
            <a:r>
              <a:rPr lang="it"/>
              <a:t>– suspends the current thread, delegating the execution to any thread inside the given context; current thread will be resumed with the value/exception returned by the provided lambda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0"/>
          <p:cNvSpPr txBox="1">
            <a:spLocks noGrp="1"/>
          </p:cNvSpPr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Flows</a:t>
            </a:r>
            <a:endParaRPr/>
          </a:p>
        </p:txBody>
      </p:sp>
      <p:sp>
        <p:nvSpPr>
          <p:cNvPr id="679" name="Google Shape;679;p70"/>
          <p:cNvSpPr txBox="1">
            <a:spLocks noGrp="1"/>
          </p:cNvSpPr>
          <p:nvPr>
            <p:ph type="subTitle" idx="1"/>
          </p:nvPr>
        </p:nvSpPr>
        <p:spPr>
          <a:xfrm>
            <a:off x="311700" y="3596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"/>
              <a:t>Exchanging multiple values along time</a:t>
            </a:r>
            <a:endParaRPr/>
          </a:p>
        </p:txBody>
      </p:sp>
      <p:pic>
        <p:nvPicPr>
          <p:cNvPr id="680" name="Google Shape;68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601725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Flow abstraction</a:t>
            </a:r>
            <a:endParaRPr/>
          </a:p>
        </p:txBody>
      </p:sp>
      <p:sp>
        <p:nvSpPr>
          <p:cNvPr id="686" name="Google Shape;686;p7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60</a:t>
            </a:fld>
            <a:endParaRPr/>
          </a:p>
        </p:txBody>
      </p:sp>
      <p:sp>
        <p:nvSpPr>
          <p:cNvPr id="687" name="Google Shape;687;p7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While coroutines have the capacity to suspend their execution, waiting for data to be available, they are still restricted to return a single value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At best, such a value can be a collection of data, but its semantic is still all-or-nothing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Even if part of the data inside the collection is already available to the coroutine, it must wait to collect them all before returning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practice, there are cases where data could be streamed as they are produced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Enabling computations to proceed in a pipelined fashion along the call chain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61</a:t>
            </a:fld>
            <a:endParaRPr/>
          </a:p>
        </p:txBody>
      </p:sp>
      <p:sp>
        <p:nvSpPr>
          <p:cNvPr id="693" name="Google Shape;693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Flow abstraction</a:t>
            </a:r>
            <a:endParaRPr/>
          </a:p>
        </p:txBody>
      </p:sp>
      <p:sp>
        <p:nvSpPr>
          <p:cNvPr id="694" name="Google Shape;694;p7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Kotlin coroutine library introduces a new interface named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Flow&lt;T&gt;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represents an asynchronous data stream that sequentially emits values (i.e., inside the same coroutine)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can either complete normally or with an exception</a:t>
            </a:r>
            <a:endParaRPr/>
          </a:p>
          <a:p>
            <a:pPr marL="269875" marR="0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bunch of extension functions (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take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it"/>
              <a:t>, …) provide intermediate operators implementation that transform the original flow into a different one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Adding/removing elements, changing their type, waiting for other events, …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are applied on upstream flow(s) and return a downstream one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invoked, they just set up a set of operations for future execution and quickly return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62</a:t>
            </a:fld>
            <a:endParaRPr/>
          </a:p>
        </p:txBody>
      </p:sp>
      <p:sp>
        <p:nvSpPr>
          <p:cNvPr id="700" name="Google Shape;700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Flow abstraction</a:t>
            </a:r>
            <a:endParaRPr/>
          </a:p>
        </p:txBody>
      </p:sp>
      <p:sp>
        <p:nvSpPr>
          <p:cNvPr id="701" name="Google Shape;701;p7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Terminal operators are either suspending functions (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collect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single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reduce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toList</a:t>
            </a:r>
            <a:r>
              <a:rPr lang="it"/>
              <a:t>,…) or operators that trigger execution of further processing steps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complete normally or exceptionally depending on successful or failed execution of all the flow operations upstream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Most flow operations are executed sequentially in the same coroutine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Few operations (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buffer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flatMapMerge</a:t>
            </a:r>
            <a:r>
              <a:rPr lang="it"/>
              <a:t>) are designed to introduce concurrency into flow execution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Flows can be </a:t>
            </a:r>
            <a:r>
              <a:rPr lang="it" b="1">
                <a:solidFill>
                  <a:srgbClr val="0B5394"/>
                </a:solidFill>
              </a:rPr>
              <a:t>cold</a:t>
            </a:r>
            <a:r>
              <a:rPr lang="it"/>
              <a:t> or </a:t>
            </a:r>
            <a:r>
              <a:rPr lang="it" b="1">
                <a:solidFill>
                  <a:srgbClr val="0B5394"/>
                </a:solidFill>
              </a:rPr>
              <a:t>hot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cold flow does not produce any value unless it is collected, while a hot flow can emit values even if no one is listening to it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set of operators are provided to convert a cold flow into a hot one or into hot channel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63</a:t>
            </a:fld>
            <a:endParaRPr/>
          </a:p>
        </p:txBody>
      </p:sp>
      <p:sp>
        <p:nvSpPr>
          <p:cNvPr id="707" name="Google Shape;707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Flow abstraction</a:t>
            </a:r>
            <a:endParaRPr/>
          </a:p>
        </p:txBody>
      </p:sp>
      <p:sp>
        <p:nvSpPr>
          <p:cNvPr id="708" name="Google Shape;708;p74"/>
          <p:cNvSpPr txBox="1"/>
          <p:nvPr/>
        </p:nvSpPr>
        <p:spPr>
          <a:xfrm>
            <a:off x="822960" y="1574777"/>
            <a:ext cx="7498200" cy="2586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interface Flow&lt;out T&gt; {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//Internal method not to be used directly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suspend fun collect(collector: FlowCollector&lt;T&gt;)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interface FlowCollector&lt;in T&gt; {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//Not thread safe – MUST BE INVOKED SEQUENTIALLY</a:t>
            </a:r>
            <a:endParaRPr sz="18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suspend fun emit(value: T)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64</a:t>
            </a:fld>
            <a:endParaRPr/>
          </a:p>
        </p:txBody>
      </p:sp>
      <p:sp>
        <p:nvSpPr>
          <p:cNvPr id="714" name="Google Shape;714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Flow abstraction</a:t>
            </a:r>
            <a:endParaRPr/>
          </a:p>
        </p:txBody>
      </p:sp>
      <p:sp>
        <p:nvSpPr>
          <p:cNvPr id="715" name="Google Shape;715;p75"/>
          <p:cNvSpPr txBox="1"/>
          <p:nvPr/>
        </p:nvSpPr>
        <p:spPr>
          <a:xfrm>
            <a:off x="2193234" y="1043042"/>
            <a:ext cx="4757400" cy="1077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stream(): Flow&lt;Int&gt; = flow {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emit(1)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emit(2)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</p:txBody>
      </p:sp>
      <p:sp>
        <p:nvSpPr>
          <p:cNvPr id="716" name="Google Shape;716;p75"/>
          <p:cNvSpPr/>
          <p:nvPr/>
        </p:nvSpPr>
        <p:spPr>
          <a:xfrm>
            <a:off x="515289" y="2227067"/>
            <a:ext cx="1544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stream()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7" name="Google Shape;717;p75"/>
          <p:cNvCxnSpPr>
            <a:stCxn id="716" idx="3"/>
          </p:cNvCxnSpPr>
          <p:nvPr/>
        </p:nvCxnSpPr>
        <p:spPr>
          <a:xfrm>
            <a:off x="2059389" y="2400167"/>
            <a:ext cx="6299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8" name="Google Shape;718;p75"/>
          <p:cNvSpPr txBox="1"/>
          <p:nvPr/>
        </p:nvSpPr>
        <p:spPr>
          <a:xfrm>
            <a:off x="2193234" y="3411675"/>
            <a:ext cx="4757400" cy="1323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main() = runBlocking {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stream().collect { value -&gt;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println(value)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</p:txBody>
      </p:sp>
      <p:sp>
        <p:nvSpPr>
          <p:cNvPr id="719" name="Google Shape;719;p75"/>
          <p:cNvSpPr/>
          <p:nvPr/>
        </p:nvSpPr>
        <p:spPr>
          <a:xfrm>
            <a:off x="855125" y="2927775"/>
            <a:ext cx="1204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0" name="Google Shape;720;p75"/>
          <p:cNvCxnSpPr>
            <a:stCxn id="719" idx="3"/>
          </p:cNvCxnSpPr>
          <p:nvPr/>
        </p:nvCxnSpPr>
        <p:spPr>
          <a:xfrm>
            <a:off x="2059325" y="3100875"/>
            <a:ext cx="6320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21" name="Google Shape;721;p75"/>
          <p:cNvSpPr/>
          <p:nvPr/>
        </p:nvSpPr>
        <p:spPr>
          <a:xfrm>
            <a:off x="2135435" y="2406023"/>
            <a:ext cx="808382" cy="695739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75"/>
          <p:cNvSpPr/>
          <p:nvPr/>
        </p:nvSpPr>
        <p:spPr>
          <a:xfrm rot="10800000" flipH="1">
            <a:off x="2948806" y="2410924"/>
            <a:ext cx="563846" cy="684143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miter lim="800000"/>
            <a:headEnd type="oval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75"/>
          <p:cNvSpPr/>
          <p:nvPr/>
        </p:nvSpPr>
        <p:spPr>
          <a:xfrm>
            <a:off x="3490401" y="2401166"/>
            <a:ext cx="998352" cy="695739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75"/>
          <p:cNvSpPr/>
          <p:nvPr/>
        </p:nvSpPr>
        <p:spPr>
          <a:xfrm>
            <a:off x="3570188" y="2780139"/>
            <a:ext cx="97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collect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75"/>
          <p:cNvSpPr/>
          <p:nvPr/>
        </p:nvSpPr>
        <p:spPr>
          <a:xfrm rot="10800000" flipH="1">
            <a:off x="4514290" y="2415895"/>
            <a:ext cx="563846" cy="684143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miter lim="800000"/>
            <a:headEnd type="oval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75"/>
          <p:cNvSpPr/>
          <p:nvPr/>
        </p:nvSpPr>
        <p:spPr>
          <a:xfrm>
            <a:off x="5029423" y="2354656"/>
            <a:ext cx="97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emit(1)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75"/>
          <p:cNvSpPr/>
          <p:nvPr/>
        </p:nvSpPr>
        <p:spPr>
          <a:xfrm>
            <a:off x="5060874" y="2395766"/>
            <a:ext cx="998352" cy="695739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75"/>
          <p:cNvSpPr/>
          <p:nvPr/>
        </p:nvSpPr>
        <p:spPr>
          <a:xfrm>
            <a:off x="5127274" y="2765723"/>
            <a:ext cx="97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p75"/>
          <p:cNvSpPr/>
          <p:nvPr/>
        </p:nvSpPr>
        <p:spPr>
          <a:xfrm>
            <a:off x="5432074" y="3077613"/>
            <a:ext cx="3546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75"/>
          <p:cNvSpPr/>
          <p:nvPr/>
        </p:nvSpPr>
        <p:spPr>
          <a:xfrm rot="10800000" flipH="1">
            <a:off x="6097411" y="2416737"/>
            <a:ext cx="563846" cy="684143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miter lim="800000"/>
            <a:headEnd type="oval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75"/>
          <p:cNvSpPr/>
          <p:nvPr/>
        </p:nvSpPr>
        <p:spPr>
          <a:xfrm>
            <a:off x="6613013" y="2361536"/>
            <a:ext cx="97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emit(2)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75"/>
          <p:cNvSpPr/>
          <p:nvPr/>
        </p:nvSpPr>
        <p:spPr>
          <a:xfrm>
            <a:off x="6644948" y="2390124"/>
            <a:ext cx="998352" cy="695739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p75"/>
          <p:cNvSpPr/>
          <p:nvPr/>
        </p:nvSpPr>
        <p:spPr>
          <a:xfrm>
            <a:off x="6735962" y="2780139"/>
            <a:ext cx="97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4" name="Google Shape;734;p75"/>
          <p:cNvSpPr/>
          <p:nvPr/>
        </p:nvSpPr>
        <p:spPr>
          <a:xfrm rot="10800000" flipH="1">
            <a:off x="7662895" y="2411722"/>
            <a:ext cx="381960" cy="684143"/>
          </a:xfrm>
          <a:custGeom>
            <a:avLst/>
            <a:gdLst/>
            <a:ahLst/>
            <a:cxnLst/>
            <a:rect l="l" t="t" r="r" b="b"/>
            <a:pathLst>
              <a:path w="808382" h="927652" extrusionOk="0">
                <a:moveTo>
                  <a:pt x="0" y="927652"/>
                </a:moveTo>
                <a:lnTo>
                  <a:pt x="808382" y="927652"/>
                </a:lnTo>
                <a:lnTo>
                  <a:pt x="808382" y="0"/>
                </a:ln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miter lim="800000"/>
            <a:headEnd type="oval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75"/>
          <p:cNvSpPr/>
          <p:nvPr/>
        </p:nvSpPr>
        <p:spPr>
          <a:xfrm>
            <a:off x="8060793" y="2433827"/>
            <a:ext cx="297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ø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6" name="Google Shape;736;p75"/>
          <p:cNvCxnSpPr>
            <a:stCxn id="734" idx="2"/>
          </p:cNvCxnSpPr>
          <p:nvPr/>
        </p:nvCxnSpPr>
        <p:spPr>
          <a:xfrm>
            <a:off x="8045744" y="3095865"/>
            <a:ext cx="426600" cy="12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7" name="Google Shape;737;p75"/>
          <p:cNvSpPr/>
          <p:nvPr/>
        </p:nvSpPr>
        <p:spPr>
          <a:xfrm>
            <a:off x="6987836" y="3077613"/>
            <a:ext cx="3546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8" name="Google Shape;738;p75"/>
          <p:cNvSpPr/>
          <p:nvPr/>
        </p:nvSpPr>
        <p:spPr>
          <a:xfrm>
            <a:off x="3505423" y="2354656"/>
            <a:ext cx="97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flow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65</a:t>
            </a:fld>
            <a:endParaRPr/>
          </a:p>
        </p:txBody>
      </p:sp>
      <p:sp>
        <p:nvSpPr>
          <p:cNvPr id="744" name="Google Shape;744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 builders</a:t>
            </a:r>
            <a:endParaRPr/>
          </a:p>
        </p:txBody>
      </p:sp>
      <p:sp>
        <p:nvSpPr>
          <p:cNvPr id="745" name="Google Shape;745;p7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Helper functions are used to create a flow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flowOf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(vararg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elements: T): Flow&lt;T&gt;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Iterator&lt;T&gt;.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(): Flow&lt;T&gt;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Iterable&lt;T&gt;.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(): Flow&lt;T&gt;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Array&lt;T&gt;.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(): Flow&lt;T&gt;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Sequence&lt;T&gt;.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(): Flow&lt;T&gt;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IntRange.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(): Flow&lt;T&gt;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(() -&gt; T).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(): Flow&lt;T&gt;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emptyFlow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(): Flow&lt;T&gt;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fun</a:t>
            </a:r>
            <a:r>
              <a:rPr lang="it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it"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latin typeface="Consolas"/>
                <a:ea typeface="Consolas"/>
                <a:cs typeface="Consolas"/>
                <a:sym typeface="Consolas"/>
              </a:rPr>
              <a:t>  block: suspend FlowCollector&lt;T&gt;.()-&gt;Unit</a:t>
            </a:r>
            <a:br>
              <a:rPr lang="it"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latin typeface="Consolas"/>
                <a:ea typeface="Consolas"/>
                <a:cs typeface="Consolas"/>
                <a:sym typeface="Consolas"/>
              </a:rPr>
              <a:t>): Flow&lt;T&gt;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66</a:t>
            </a:fld>
            <a:endParaRPr/>
          </a:p>
        </p:txBody>
      </p:sp>
      <p:sp>
        <p:nvSpPr>
          <p:cNvPr id="751" name="Google Shape;751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 builders</a:t>
            </a:r>
            <a:endParaRPr/>
          </a:p>
        </p:txBody>
      </p:sp>
      <p:sp>
        <p:nvSpPr>
          <p:cNvPr id="752" name="Google Shape;752;p77"/>
          <p:cNvSpPr txBox="1"/>
          <p:nvPr/>
        </p:nvSpPr>
        <p:spPr>
          <a:xfrm>
            <a:off x="973534" y="1230282"/>
            <a:ext cx="7197000" cy="31092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flowA = </a:t>
            </a:r>
            <a:r>
              <a:rPr lang="it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flowOf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( 1, 2, 3 )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flowB = { -&gt; listof("a","b","c") }.</a:t>
            </a:r>
            <a:r>
              <a:rPr lang="it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flowC = arrayOf("Hello","World").</a:t>
            </a:r>
            <a:r>
              <a:rPr lang="it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asFlow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flowD = </a:t>
            </a:r>
            <a:r>
              <a:rPr lang="it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flow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    //Lambda function with receiver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i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this.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emit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("Zero")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(i in 1..100)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delay(100)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emit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("s$i")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emit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("Last")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67</a:t>
            </a:fld>
            <a:endParaRPr/>
          </a:p>
        </p:txBody>
      </p:sp>
      <p:sp>
        <p:nvSpPr>
          <p:cNvPr id="758" name="Google Shape;758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Intermediate operators</a:t>
            </a:r>
            <a:endParaRPr/>
          </a:p>
        </p:txBody>
      </p:sp>
      <p:sp>
        <p:nvSpPr>
          <p:cNvPr id="759" name="Google Shape;759;p7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map(…)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mapNotNull(…)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Transform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Flow&lt;T&gt; </a:t>
            </a:r>
            <a:r>
              <a:rPr lang="it"/>
              <a:t>into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Flow&lt;R&gt;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mapLatest(…)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upstream flow emits a new value, computation of the previous transform is cancelled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debounce(…)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sample(…)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Drop elements emitted too frequently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filter(…)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filterIsInstance()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filterNot(…)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filterNotNull(…)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Selectively emit elements according to the given predicate 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68</a:t>
            </a:fld>
            <a:endParaRPr/>
          </a:p>
        </p:txBody>
      </p:sp>
      <p:sp>
        <p:nvSpPr>
          <p:cNvPr id="765" name="Google Shape;765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Intermediate operators</a:t>
            </a:r>
            <a:endParaRPr/>
          </a:p>
        </p:txBody>
      </p:sp>
      <p:sp>
        <p:nvSpPr>
          <p:cNvPr id="766" name="Google Shape;766;p7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flatMapConcat(…)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flatMapLatest(…)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flatMapMerge(…)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Apply a transformation that produces a new flow per each element and flatten it using different strategies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onStart(…)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onEach(…)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onEmpty(…)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onCompletion(…)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Perform a given action when the corresponding event happens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zip(…)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Zip value of the current flow with another one, applying a transformation</a:t>
            </a:r>
            <a:endParaRPr/>
          </a:p>
          <a:p>
            <a:pPr marL="269875" marR="0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Several other operators…</a:t>
            </a:r>
            <a:endParaRPr/>
          </a:p>
          <a:p>
            <a:pPr marL="541337" marR="0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Check the online documentation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69</a:t>
            </a:fld>
            <a:endParaRPr/>
          </a:p>
        </p:txBody>
      </p:sp>
      <p:sp>
        <p:nvSpPr>
          <p:cNvPr id="772" name="Google Shape;772;p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Terminal operators</a:t>
            </a:r>
            <a:endParaRPr/>
          </a:p>
        </p:txBody>
      </p:sp>
      <p:sp>
        <p:nvSpPr>
          <p:cNvPr id="773" name="Google Shape;773;p8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collect(…)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Terminal flow operator that collects the given flow with a provided action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any exception occurs during collect or in the provided flow, it is rethrown from this method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single()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first()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Await for the only/first element of the flow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toList()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toSet()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toCollection()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Collect the flow elements into a destination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fold(…)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reduce(…)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Accumulates values in the flow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Flows vs sequences</a:t>
            </a:r>
            <a:endParaRPr/>
          </a:p>
        </p:txBody>
      </p:sp>
      <p:sp>
        <p:nvSpPr>
          <p:cNvPr id="779" name="Google Shape;779;p8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70</a:t>
            </a:fld>
            <a:endParaRPr/>
          </a:p>
        </p:txBody>
      </p:sp>
      <p:sp>
        <p:nvSpPr>
          <p:cNvPr id="780" name="Google Shape;780;p8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Flows and sequences share a similar approach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They both operate lazily, driven by the terminal operator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big difference between them is that flow is powered by a coroutine, while a sequence operates synchronously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Code in callbacks can suspend, change context, be cancelled or propagate a failure to the parent coroutine</a:t>
            </a:r>
            <a:endParaRPr/>
          </a:p>
        </p:txBody>
      </p:sp>
      <p:sp>
        <p:nvSpPr>
          <p:cNvPr id="781" name="Google Shape;781;p81"/>
          <p:cNvSpPr txBox="1"/>
          <p:nvPr/>
        </p:nvSpPr>
        <p:spPr>
          <a:xfrm>
            <a:off x="720000" y="3198000"/>
            <a:ext cx="3886200" cy="1477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(1..3).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asSequence()</a:t>
            </a:r>
            <a:endParaRPr sz="1200"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.map {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println("sequence mapping $it")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it * 2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.first { it &gt; 2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.let { println("sequence $it")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2" name="Google Shape;782;p81"/>
          <p:cNvSpPr txBox="1"/>
          <p:nvPr/>
        </p:nvSpPr>
        <p:spPr>
          <a:xfrm>
            <a:off x="4798812" y="3198000"/>
            <a:ext cx="3886200" cy="1477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(1..3).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asFlow()</a:t>
            </a:r>
            <a:endParaRPr sz="1200"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.map {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println("flow mapping $it")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it * 2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.first { it &gt; 2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.let { println("flow result $it")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Flows vs sequences</a:t>
            </a:r>
            <a:endParaRPr/>
          </a:p>
        </p:txBody>
      </p:sp>
      <p:sp>
        <p:nvSpPr>
          <p:cNvPr id="788" name="Google Shape;788;p8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71</a:t>
            </a:fld>
            <a:endParaRPr/>
          </a:p>
        </p:txBody>
      </p:sp>
      <p:sp>
        <p:nvSpPr>
          <p:cNvPr id="789" name="Google Shape;789;p8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Operations in flows can be suspended, while sequences can only block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This allows the flow to be evaluated concurrently with other tasks, if available</a:t>
            </a:r>
            <a:endParaRPr/>
          </a:p>
        </p:txBody>
      </p:sp>
      <p:sp>
        <p:nvSpPr>
          <p:cNvPr id="790" name="Google Shape;790;p82"/>
          <p:cNvSpPr txBox="1"/>
          <p:nvPr/>
        </p:nvSpPr>
        <p:spPr>
          <a:xfrm>
            <a:off x="937037" y="1930325"/>
            <a:ext cx="3886200" cy="27705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simple() = flow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(1..3).forEach { delay(100); emit(it)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main() = runBlocking&lt;Unit&gt;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launch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for (k in 1..3)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println("Coroutine $k")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delay(100)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  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simple().collect { v -&gt;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println("Flow $v")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82"/>
          <p:cNvSpPr/>
          <p:nvPr/>
        </p:nvSpPr>
        <p:spPr>
          <a:xfrm>
            <a:off x="5424075" y="2495625"/>
            <a:ext cx="3175500" cy="175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Coroutine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Flow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Coroutine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Flow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Coroutine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Flow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Flows vs sequences</a:t>
            </a:r>
            <a:endParaRPr/>
          </a:p>
        </p:txBody>
      </p:sp>
      <p:sp>
        <p:nvSpPr>
          <p:cNvPr id="797" name="Google Shape;797;p8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72</a:t>
            </a:fld>
            <a:endParaRPr/>
          </a:p>
        </p:txBody>
      </p:sp>
      <p:sp>
        <p:nvSpPr>
          <p:cNvPr id="798" name="Google Shape;798;p8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Flows can be canceled, sequences cannot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Potentially infinite flows make no harm</a:t>
            </a:r>
            <a:endParaRPr/>
          </a:p>
        </p:txBody>
      </p:sp>
      <p:sp>
        <p:nvSpPr>
          <p:cNvPr id="799" name="Google Shape;799;p83"/>
          <p:cNvSpPr txBox="1"/>
          <p:nvPr/>
        </p:nvSpPr>
        <p:spPr>
          <a:xfrm>
            <a:off x="937037" y="2023925"/>
            <a:ext cx="3886200" cy="25860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infinite() = flow&lt;Int&gt;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var i= 0;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while(true) { delay(100); emit(++i)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main() = runBlocking&lt;Unit&gt;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withTimeoutOrNull(350)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infinite().collect {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v -&gt; println(v)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println("done")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0" name="Google Shape;800;p83"/>
          <p:cNvSpPr/>
          <p:nvPr/>
        </p:nvSpPr>
        <p:spPr>
          <a:xfrm>
            <a:off x="5424075" y="2495625"/>
            <a:ext cx="3175500" cy="175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Flows vs sequences</a:t>
            </a:r>
            <a:endParaRPr/>
          </a:p>
        </p:txBody>
      </p:sp>
      <p:sp>
        <p:nvSpPr>
          <p:cNvPr id="806" name="Google Shape;806;p8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73</a:t>
            </a:fld>
            <a:endParaRPr/>
          </a:p>
        </p:txBody>
      </p:sp>
      <p:sp>
        <p:nvSpPr>
          <p:cNvPr id="807" name="Google Shape;807;p8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Flows can easily add more items along the pipeline, using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transform</a:t>
            </a:r>
            <a:r>
              <a:rPr lang="it"/>
              <a:t> operator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Sequences need to produce collections that should be flatMapped</a:t>
            </a:r>
            <a:endParaRPr/>
          </a:p>
        </p:txBody>
      </p:sp>
      <p:sp>
        <p:nvSpPr>
          <p:cNvPr id="808" name="Google Shape;808;p84"/>
          <p:cNvSpPr txBox="1"/>
          <p:nvPr/>
        </p:nvSpPr>
        <p:spPr>
          <a:xfrm>
            <a:off x="937037" y="2373451"/>
            <a:ext cx="3886200" cy="2216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main() = runBlocking&lt;Unit&gt;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(1..3)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.asFlow()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.map { it*2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.transform {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emit(it-1)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emit(it)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.collect { println(it)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println("done")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9" name="Google Shape;809;p84"/>
          <p:cNvSpPr/>
          <p:nvPr/>
        </p:nvSpPr>
        <p:spPr>
          <a:xfrm>
            <a:off x="5424075" y="2495625"/>
            <a:ext cx="3175500" cy="175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Flows vs sequences</a:t>
            </a:r>
            <a:endParaRPr/>
          </a:p>
        </p:txBody>
      </p:sp>
      <p:sp>
        <p:nvSpPr>
          <p:cNvPr id="815" name="Google Shape;815;p8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74</a:t>
            </a:fld>
            <a:endParaRPr/>
          </a:p>
        </p:txBody>
      </p:sp>
      <p:sp>
        <p:nvSpPr>
          <p:cNvPr id="816" name="Google Shape;816;p8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Flows can eliminate slow/fast items, sequences cannot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conflate</a:t>
            </a:r>
            <a:r>
              <a:rPr lang="it"/>
              <a:t> operator runs the producer in a separate coroutine and keeps the most recent value, thus avoiding overwhelming a slow consumer</a:t>
            </a:r>
            <a:endParaRPr/>
          </a:p>
        </p:txBody>
      </p:sp>
      <p:sp>
        <p:nvSpPr>
          <p:cNvPr id="817" name="Google Shape;817;p85"/>
          <p:cNvSpPr txBox="1"/>
          <p:nvPr/>
        </p:nvSpPr>
        <p:spPr>
          <a:xfrm>
            <a:off x="937037" y="2280018"/>
            <a:ext cx="3886200" cy="2400627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fun simple() = flow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for (i in 1..3) { delay(100); emit(i) 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fun main() = runBlocking&lt;Unit&gt;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val time = measureTimeMillis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    simple()</a:t>
            </a:r>
            <a:r>
              <a:rPr lang="it" sz="1200" b="1" dirty="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.conflate()</a:t>
            </a: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.collect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        delay(300)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        println(it)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    println("Collected in $time ms")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8" name="Google Shape;818;p85"/>
          <p:cNvSpPr/>
          <p:nvPr/>
        </p:nvSpPr>
        <p:spPr>
          <a:xfrm>
            <a:off x="5424075" y="2571825"/>
            <a:ext cx="3175500" cy="175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Collected in 738 ms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8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75</a:t>
            </a:fld>
            <a:endParaRPr/>
          </a:p>
        </p:txBody>
      </p:sp>
      <p:sp>
        <p:nvSpPr>
          <p:cNvPr id="824" name="Google Shape;824;p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 constraints</a:t>
            </a:r>
            <a:endParaRPr/>
          </a:p>
        </p:txBody>
      </p:sp>
      <p:sp>
        <p:nvSpPr>
          <p:cNvPr id="825" name="Google Shape;825;p8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All implementations of the 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</a:t>
            </a:r>
            <a:r>
              <a:rPr lang="it"/>
              <a:t> interface must adhere to two key properties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</a:rPr>
              <a:t>Context preservation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</a:rPr>
              <a:t>Exception transparency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These properties ensure the ability to perform local reasoning about the code with flows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modularize the code in such a way that upstream flow emitters can be developed separately from downstream flow collectors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 Code using a flow does not need to be aware of implementation details of the upstream flows it accesses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76</a:t>
            </a:fld>
            <a:endParaRPr/>
          </a:p>
        </p:txBody>
      </p:sp>
      <p:sp>
        <p:nvSpPr>
          <p:cNvPr id="831" name="Google Shape;831;p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Context preservation</a:t>
            </a:r>
            <a:endParaRPr/>
          </a:p>
        </p:txBody>
      </p:sp>
      <p:sp>
        <p:nvSpPr>
          <p:cNvPr id="832" name="Google Shape;832;p8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Flows preserve execution context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encapsulate their execution context (dispatcher, coroutine, …) and never propagate it downstream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flow should only emit values from the same coroutine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cannot start a new one, nor switch thread or coroutine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Operator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flowOn(d: Dispatcher)</a:t>
            </a:r>
            <a:r>
              <a:rPr lang="it"/>
              <a:t> casues the upstream flow to be executed on the given dispatcher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ChannelFlow</a:t>
            </a:r>
            <a:r>
              <a:rPr lang="it"/>
              <a:t> encapsulates all the context preservation work, allowing collection and emission to happen in different coroutines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77</a:t>
            </a:fld>
            <a:endParaRPr/>
          </a:p>
        </p:txBody>
      </p:sp>
      <p:sp>
        <p:nvSpPr>
          <p:cNvPr id="838" name="Google Shape;838;p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Flow execution</a:t>
            </a:r>
            <a:endParaRPr/>
          </a:p>
        </p:txBody>
      </p:sp>
      <p:sp>
        <p:nvSpPr>
          <p:cNvPr id="839" name="Google Shape;839;p88"/>
          <p:cNvSpPr txBox="1"/>
          <p:nvPr/>
        </p:nvSpPr>
        <p:spPr>
          <a:xfrm>
            <a:off x="968938" y="985245"/>
            <a:ext cx="7041900" cy="2942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main() = runBlocking {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flow {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emit("Emitted in ${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Thread.currentThread().name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}")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3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.flowOn(Dispatchers.IO)</a:t>
            </a:r>
            <a:br>
              <a:rPr lang="it" sz="13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.map{ it -&gt; "$it\nProcessed in ${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Thread.currentThread().name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}"}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.collect{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println(it)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/>
          </a:p>
        </p:txBody>
      </p:sp>
      <p:sp>
        <p:nvSpPr>
          <p:cNvPr id="840" name="Google Shape;840;p88"/>
          <p:cNvSpPr txBox="1"/>
          <p:nvPr/>
        </p:nvSpPr>
        <p:spPr>
          <a:xfrm>
            <a:off x="995442" y="4086512"/>
            <a:ext cx="7015200" cy="526800"/>
          </a:xfrm>
          <a:prstGeom prst="rect">
            <a:avLst/>
          </a:prstGeom>
          <a:solidFill>
            <a:srgbClr val="EAE8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Emitted in DefaultDispatcher-worker-1</a:t>
            </a:r>
            <a:endParaRPr sz="9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Processed in main</a:t>
            </a:r>
            <a:endParaRPr sz="900"/>
          </a:p>
        </p:txBody>
      </p:sp>
      <p:cxnSp>
        <p:nvCxnSpPr>
          <p:cNvPr id="841" name="Google Shape;841;p88"/>
          <p:cNvCxnSpPr/>
          <p:nvPr/>
        </p:nvCxnSpPr>
        <p:spPr>
          <a:xfrm>
            <a:off x="3545600" y="2347175"/>
            <a:ext cx="44652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lgDashDot"/>
            <a:round/>
            <a:headEnd type="none" w="sm" len="sm"/>
            <a:tailEnd type="none" w="sm" len="sm"/>
          </a:ln>
        </p:spPr>
      </p:cxnSp>
      <p:cxnSp>
        <p:nvCxnSpPr>
          <p:cNvPr id="842" name="Google Shape;842;p88"/>
          <p:cNvCxnSpPr/>
          <p:nvPr/>
        </p:nvCxnSpPr>
        <p:spPr>
          <a:xfrm>
            <a:off x="990000" y="2347175"/>
            <a:ext cx="464700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lgDashDot"/>
            <a:round/>
            <a:headEnd type="none" w="sm" len="sm"/>
            <a:tailEnd type="none" w="sm" len="sm"/>
          </a:ln>
        </p:spPr>
      </p:cxnSp>
      <p:sp>
        <p:nvSpPr>
          <p:cNvPr id="843" name="Google Shape;843;p88"/>
          <p:cNvSpPr/>
          <p:nvPr/>
        </p:nvSpPr>
        <p:spPr>
          <a:xfrm>
            <a:off x="4997599" y="1989355"/>
            <a:ext cx="675900" cy="3579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33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9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78</a:t>
            </a:fld>
            <a:endParaRPr/>
          </a:p>
        </p:txBody>
      </p:sp>
      <p:sp>
        <p:nvSpPr>
          <p:cNvPr id="849" name="Google Shape;849;p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Exception transparency</a:t>
            </a:r>
            <a:endParaRPr/>
          </a:p>
        </p:txBody>
      </p:sp>
      <p:sp>
        <p:nvSpPr>
          <p:cNvPr id="850" name="Google Shape;850;p8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Flows are transparent to exceptions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downstream exception must always be propagated to the collector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No value should ever be emitted from try/catch blocks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Flow can use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catch(...)</a:t>
            </a:r>
            <a:r>
              <a:rPr lang="it"/>
              <a:t> operator to handle upstream exceptions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Terminal operators throw any unhandled exception that occurs in their code or in upstream flows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onCompletion(…)</a:t>
            </a:r>
            <a:r>
              <a:rPr lang="it"/>
              <a:t> operator replaces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it"/>
              <a:t> block</a:t>
            </a:r>
            <a:endParaRPr/>
          </a:p>
          <a:p>
            <a:pPr marL="269875" lvl="0" indent="-1174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9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79</a:t>
            </a:fld>
            <a:endParaRPr/>
          </a:p>
        </p:txBody>
      </p:sp>
      <p:sp>
        <p:nvSpPr>
          <p:cNvPr id="856" name="Google Shape;856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Exception transparency</a:t>
            </a:r>
            <a:endParaRPr/>
          </a:p>
        </p:txBody>
      </p:sp>
      <p:sp>
        <p:nvSpPr>
          <p:cNvPr id="857" name="Google Shape;857;p90"/>
          <p:cNvSpPr txBox="1"/>
          <p:nvPr/>
        </p:nvSpPr>
        <p:spPr>
          <a:xfrm>
            <a:off x="973534" y="1133810"/>
            <a:ext cx="7197000" cy="3356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flow {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emit(1); emit(2); emit(3)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.map {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computeOne(it)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.catch { ... } </a:t>
            </a:r>
            <a:r>
              <a:rPr lang="it" sz="1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 catches exceptions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      // in emitting data and computeOne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.map {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computeTwo(it)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.collect {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process(it) </a:t>
            </a:r>
            <a:endParaRPr sz="15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it" sz="1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 throws exceptions from process and computeTwo</a:t>
            </a:r>
            <a:endParaRPr sz="15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80</a:t>
            </a:fld>
            <a:endParaRPr/>
          </a:p>
        </p:txBody>
      </p:sp>
      <p:sp>
        <p:nvSpPr>
          <p:cNvPr id="863" name="Google Shape;863;p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Reactive Stream equivalence</a:t>
            </a:r>
            <a:endParaRPr/>
          </a:p>
        </p:txBody>
      </p:sp>
      <p:sp>
        <p:nvSpPr>
          <p:cNvPr id="864" name="Google Shape;864;p9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JavaRx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Observable</a:t>
            </a:r>
            <a:r>
              <a:rPr lang="it" i="1"/>
              <a:t>s</a:t>
            </a:r>
            <a:r>
              <a:rPr lang="it"/>
              <a:t> can be transformed into flows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.asFlow()</a:t>
            </a:r>
            <a:r>
              <a:rPr lang="it"/>
              <a:t> extension function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Flows can be transformed into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Observable</a:t>
            </a:r>
            <a:r>
              <a:rPr lang="it"/>
              <a:t>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.asObservable()</a:t>
            </a:r>
            <a:r>
              <a:rPr lang="it"/>
              <a:t> extension function</a:t>
            </a:r>
            <a:endParaRPr/>
          </a:p>
        </p:txBody>
      </p:sp>
      <p:sp>
        <p:nvSpPr>
          <p:cNvPr id="865" name="Google Shape;865;p91"/>
          <p:cNvSpPr txBox="1"/>
          <p:nvPr/>
        </p:nvSpPr>
        <p:spPr>
          <a:xfrm>
            <a:off x="924083" y="2633297"/>
            <a:ext cx="3179100" cy="1604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aFlow():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Flow&lt;String&gt;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Mono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.just("a")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.asFlow()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866" name="Google Shape;866;p91"/>
          <p:cNvSpPr txBox="1"/>
          <p:nvPr/>
        </p:nvSpPr>
        <p:spPr>
          <a:xfrm>
            <a:off x="4720831" y="2633297"/>
            <a:ext cx="3179100" cy="1604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anObservable():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Observable&lt;String&gt;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flow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emit("a")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.asObservable()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81</a:t>
            </a:fld>
            <a:endParaRPr/>
          </a:p>
        </p:txBody>
      </p:sp>
      <p:sp>
        <p:nvSpPr>
          <p:cNvPr id="872" name="Google Shape;872;p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Learning more…</a:t>
            </a:r>
            <a:endParaRPr/>
          </a:p>
        </p:txBody>
      </p:sp>
      <p:sp>
        <p:nvSpPr>
          <p:cNvPr id="873" name="Google Shape;873;p9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Programming Android with Kotlin:  </a:t>
            </a:r>
            <a:r>
              <a:rPr lang="it" sz="1900"/>
              <a:t>achieving structured concurrency with coroutines</a:t>
            </a:r>
            <a:endParaRPr sz="1900"/>
          </a:p>
          <a:p>
            <a:pPr marL="541337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O'Reilly, 2022 - ISBN: 9781492063001</a:t>
            </a:r>
            <a:endParaRPr/>
          </a:p>
          <a:p>
            <a:pPr marL="269875" marR="0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Suspend functions under the hood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https://proandroiddev.com/how-do-coroutines-work-under-the-hood-803e6e9da8bb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Beginner’s Guide to Kotlin Coroutine Internals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https://doordash.engineering/2021/11/09/the-beginners-guide-to-kotlin-coroutine-internals/</a:t>
            </a:r>
            <a:r>
              <a:rPr lang="it"/>
              <a:t>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Overview on Kotlin Coroutines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https://medium.com/@lucianoalmeida1/an-overview-on-kotlin-coroutines-d55e123e137b</a:t>
            </a:r>
            <a:endParaRPr/>
          </a:p>
          <a:p>
            <a:pPr marL="269875" marR="0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Kotlin Flows animated</a:t>
            </a:r>
            <a:endParaRPr/>
          </a:p>
          <a:p>
            <a:pPr marL="541337" marR="0" lvl="1" indent="-212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https://medium.com/@robert.baricevicpetrus/kotlin-flows-animated-55640aa48ac9</a:t>
            </a:r>
            <a:r>
              <a:rPr lang="it"/>
              <a:t> </a:t>
            </a:r>
            <a:endParaRPr/>
          </a:p>
        </p:txBody>
      </p:sp>
      <p:pic>
        <p:nvPicPr>
          <p:cNvPr id="874" name="Google Shape;874;p92"/>
          <p:cNvPicPr preferRelativeResize="0"/>
          <p:nvPr/>
        </p:nvPicPr>
        <p:blipFill rotWithShape="1">
          <a:blip r:embed="rId7">
            <a:alphaModFix/>
          </a:blip>
          <a:srcRect l="17234" t="18799" r="17234" b="18805"/>
          <a:stretch/>
        </p:blipFill>
        <p:spPr>
          <a:xfrm>
            <a:off x="7771925" y="156614"/>
            <a:ext cx="1249224" cy="118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7550</Words>
  <Application>Microsoft Macintosh PowerPoint</Application>
  <PresentationFormat>On-screen Show (16:9)</PresentationFormat>
  <Paragraphs>1005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Arial</vt:lpstr>
      <vt:lpstr>Calibri</vt:lpstr>
      <vt:lpstr>Consolas</vt:lpstr>
      <vt:lpstr>Courier New</vt:lpstr>
      <vt:lpstr>Noto Sans Symbols</vt:lpstr>
      <vt:lpstr>Times New Roman</vt:lpstr>
      <vt:lpstr>Polito</vt:lpstr>
      <vt:lpstr>Coroutines</vt:lpstr>
      <vt:lpstr>Kotlin coroutines</vt:lpstr>
      <vt:lpstr>Coroutines</vt:lpstr>
      <vt:lpstr>What coroutines do provide</vt:lpstr>
      <vt:lpstr>The thread-based approach to concurrency</vt:lpstr>
      <vt:lpstr>Coroutine rationale</vt:lpstr>
      <vt:lpstr>Coroutine rationale</vt:lpstr>
      <vt:lpstr>Coroutine rationale</vt:lpstr>
      <vt:lpstr>Suspending functions</vt:lpstr>
      <vt:lpstr>Suspending functions</vt:lpstr>
      <vt:lpstr>Using coroutines</vt:lpstr>
      <vt:lpstr>Creating a coroutine</vt:lpstr>
      <vt:lpstr>Example</vt:lpstr>
      <vt:lpstr>Example</vt:lpstr>
      <vt:lpstr>Awaitable computations</vt:lpstr>
      <vt:lpstr>Awaitable computations</vt:lpstr>
      <vt:lpstr>Awaitable computation</vt:lpstr>
      <vt:lpstr>Structured concurrency</vt:lpstr>
      <vt:lpstr>Structured concurrency</vt:lpstr>
      <vt:lpstr>CoroutineScope</vt:lpstr>
      <vt:lpstr>Custom scopes</vt:lpstr>
      <vt:lpstr>Coroutine contexts</vt:lpstr>
      <vt:lpstr>Dispatchers</vt:lpstr>
      <vt:lpstr>Dispatchers</vt:lpstr>
      <vt:lpstr>Setting a custom dispatcher</vt:lpstr>
      <vt:lpstr>Setting a custom dispatcher</vt:lpstr>
      <vt:lpstr>Setting a custom dispatcher</vt:lpstr>
      <vt:lpstr>Context handling</vt:lpstr>
      <vt:lpstr>Jobs</vt:lpstr>
      <vt:lpstr>Job states</vt:lpstr>
      <vt:lpstr>Jobs</vt:lpstr>
      <vt:lpstr>Handling exceptions in coroutine</vt:lpstr>
      <vt:lpstr>Coroutine cancellation</vt:lpstr>
      <vt:lpstr>Coroutine cancellation</vt:lpstr>
      <vt:lpstr>Coroutine cancellation</vt:lpstr>
      <vt:lpstr>Coroutine cancellation</vt:lpstr>
      <vt:lpstr>Synchronization</vt:lpstr>
      <vt:lpstr>Synchronization</vt:lpstr>
      <vt:lpstr>Coroutine mutex</vt:lpstr>
      <vt:lpstr>Coroutine semaphores</vt:lpstr>
      <vt:lpstr>Android typical usage patterns</vt:lpstr>
      <vt:lpstr>Android typical usage patterns</vt:lpstr>
      <vt:lpstr>Android typical usage patterns</vt:lpstr>
      <vt:lpstr>Android typical usage patterns</vt:lpstr>
      <vt:lpstr>Invoking the Repository</vt:lpstr>
      <vt:lpstr>Invoking the repository</vt:lpstr>
      <vt:lpstr>Coroutine summary</vt:lpstr>
      <vt:lpstr>Coroutines under the hood</vt:lpstr>
      <vt:lpstr>Coroutines under the hood</vt:lpstr>
      <vt:lpstr>Function invocation styles</vt:lpstr>
      <vt:lpstr>Continuation-passing style</vt:lpstr>
      <vt:lpstr>Continuation-passing style</vt:lpstr>
      <vt:lpstr>Continuation-passing style</vt:lpstr>
      <vt:lpstr>Continuation-passing style</vt:lpstr>
      <vt:lpstr>Continuation passing style</vt:lpstr>
      <vt:lpstr>Continuation passing style</vt:lpstr>
      <vt:lpstr>Continuation passing style</vt:lpstr>
      <vt:lpstr>Execution details</vt:lpstr>
      <vt:lpstr>Flows</vt:lpstr>
      <vt:lpstr>The Flow abstraction</vt:lpstr>
      <vt:lpstr>The Flow abstraction</vt:lpstr>
      <vt:lpstr>The Flow abstraction</vt:lpstr>
      <vt:lpstr>The Flow abstraction</vt:lpstr>
      <vt:lpstr>The Flow abstraction</vt:lpstr>
      <vt:lpstr>Flow builders</vt:lpstr>
      <vt:lpstr>Flow builders</vt:lpstr>
      <vt:lpstr>Intermediate operators</vt:lpstr>
      <vt:lpstr>Intermediate operators</vt:lpstr>
      <vt:lpstr>Terminal operators</vt:lpstr>
      <vt:lpstr>Flows vs sequences</vt:lpstr>
      <vt:lpstr>Flows vs sequences</vt:lpstr>
      <vt:lpstr>Flows vs sequences</vt:lpstr>
      <vt:lpstr>Flows vs sequences</vt:lpstr>
      <vt:lpstr>Flows vs sequences</vt:lpstr>
      <vt:lpstr>Flow constraints</vt:lpstr>
      <vt:lpstr>Context preservation</vt:lpstr>
      <vt:lpstr>Flow execution</vt:lpstr>
      <vt:lpstr>Exception transparency</vt:lpstr>
      <vt:lpstr>Exception transparency</vt:lpstr>
      <vt:lpstr>Reactive Stream equivalence</vt:lpstr>
      <vt:lpstr>Learning more…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Coroutines</dc:title>
  <cp:lastModifiedBy>Giovanni Malnati</cp:lastModifiedBy>
  <cp:revision>1</cp:revision>
  <dcterms:modified xsi:type="dcterms:W3CDTF">2024-03-01T16:14:15Z</dcterms:modified>
</cp:coreProperties>
</file>