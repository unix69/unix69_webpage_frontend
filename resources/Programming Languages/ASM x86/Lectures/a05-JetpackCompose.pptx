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Gill Sans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GillSans-bold.fntdata"/><Relationship Id="rId50" Type="http://schemas.openxmlformats.org/officeDocument/2006/relationships/font" Target="fonts/GillSans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8e766786b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28e766786b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" name="Google Shape;41;g28e766786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8e766786ba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28e766786ba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8e766786b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28e766786ba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8e766786b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28e766786ba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8e766786b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28e766786ba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8e766786ba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8e766786ba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e766786b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28e766786ba_0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8e766786ba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8e766786ba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8e766786ba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8e766786ba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b534e4d4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ab534e4d4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8e766786ba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8e766786ba_0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8e766786ba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8e766786ba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8e766786ba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8e766786ba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d1c3a68d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bd1c3a68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2bd1c3a68df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8e766786ba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8e766786ba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ab534e4d4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ab534e4d4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ab534e4d4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ab534e4d4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8e766786ba_0_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8e766786b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28e766786ba_0_20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b534e4d4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ab534e4d4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ab534e4d4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ab534e4d4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8e766786b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28e766786ba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8e766786b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8e766786ba_0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8e766786b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8e766786ba_0_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8e766786b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8e766786ba_0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ab534e4d4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ab534e4d4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b534e4d4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ab534e4d4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8e766786b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8e766786ba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8e766786ba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28e766786ba_0_2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8e766786b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28e766786ba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8e766786b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28e766786ba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8e766786b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28e766786ba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ab534e4d4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ab534e4d4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8e766786b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28e766786ba_0_2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8e766786b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28e766786ba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8e766786b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28e766786ba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8e766786b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28e766786ba_0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8e766786b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28e766786ba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ab534e4d46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ab534e4d4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ab534e4d46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ab534e4d46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ab534e4d46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ab534e4d46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ab534e4d4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ab534e4d4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ab534e4d4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ab534e4d4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8e766786b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28e766786ba_0_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8e766786ba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28e766786ba_0_3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>
              <a:spcBef>
                <a:spcPts val="3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▪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7328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1pPr>
            <a:lvl2pPr indent="-317500" lvl="1" marL="914400" rtl="0">
              <a:spcBef>
                <a:spcPts val="3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▪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  <a:defRPr/>
            </a:lvl1pPr>
            <a:lvl2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Noto Sans Symbols"/>
              <a:buChar char="▪"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250371" y="205740"/>
            <a:ext cx="8683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 rtl="0"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 rtl="0"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 sz="32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A. Rabino, 2021-24</a:t>
            </a:r>
            <a:endParaRPr i="1" sz="1100">
              <a:solidFill>
                <a:schemeClr val="lt1"/>
              </a:solidFill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m3.material.io/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medium.com/androiddevelopers/under-the-hood-of-jetpack-compose-part-2-of-2-37b2c20c6cdd" TargetMode="External"/><Relationship Id="rId4" Type="http://schemas.openxmlformats.org/officeDocument/2006/relationships/hyperlink" Target="https://medium.com/androiddevelopers/under-the-hood-of-jetpack-compose-part-2-of-2-37b2c20c6cdd" TargetMode="External"/><Relationship Id="rId5" Type="http://schemas.openxmlformats.org/officeDocument/2006/relationships/hyperlink" Target="https://medium.com/@takahirom/jetpack-compose-state-guideline-494d467b6e76" TargetMode="External"/><Relationship Id="rId6" Type="http://schemas.openxmlformats.org/officeDocument/2006/relationships/hyperlink" Target="https://blog.canopas.com/jetpack-compose-mvvm-state-management-in-a-simple-way-4c632fa6f554" TargetMode="External"/><Relationship Id="rId7" Type="http://schemas.openxmlformats.org/officeDocument/2006/relationships/hyperlink" Target="https://tigeroakes.com/posts/react-to-compose-dictionary/" TargetMode="External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311708" y="1777631"/>
            <a:ext cx="8520600" cy="15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>
                <a:latin typeface="Gill Sans"/>
                <a:ea typeface="Gill Sans"/>
                <a:cs typeface="Gill Sans"/>
                <a:sym typeface="Gill Sans"/>
              </a:rPr>
              <a:t>Jetpack Compose</a:t>
            </a:r>
            <a:endParaRPr/>
          </a:p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311700" y="3344794"/>
            <a:ext cx="85206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2743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rPr lang="it"/>
              <a:t>2023-24</a:t>
            </a:r>
            <a:endParaRPr/>
          </a:p>
        </p:txBody>
      </p:sp>
      <p:pic>
        <p:nvPicPr>
          <p:cNvPr descr="Perchè usare Jetpack Compose per sviluppare Android Apps" id="45" name="Google Shape;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4463" y="261050"/>
            <a:ext cx="2021306" cy="2186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Implementing a GUI</a:t>
            </a:r>
            <a:endParaRPr/>
          </a:p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Traditionally, the creation of GUIs in Android relied on a set of classes inheriting from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android.view.View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approach was </a:t>
            </a:r>
            <a:r>
              <a:rPr lang="it"/>
              <a:t>highly</a:t>
            </a:r>
            <a:r>
              <a:rPr lang="it"/>
              <a:t> consistent with many other frameworks and leveraged on object oriented patterns, like composite, observer, strategy, …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Creating a GUI required instantiating a bunch of these classes and configuring the corresponding object in order to provide the expected visual aspect and behaviour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In order to simplify the creation of the visual tree, a sophisticated visual editor has been provided by Android Studio, in order to support visual design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editor produces an XML-based description of the GUI layout, which is then </a:t>
            </a:r>
            <a:r>
              <a:rPr lang="it"/>
              <a:t>transformed</a:t>
            </a:r>
            <a:r>
              <a:rPr lang="it"/>
              <a:t> into a visual tree by an Inflater (typically, when an activity is created)</a:t>
            </a:r>
            <a:endParaRPr/>
          </a:p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The limitations of the standard approach</a:t>
            </a:r>
            <a:endParaRPr/>
          </a:p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code of the tree view is split among several files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layout resource file where the visual hierarchy is defined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 activity/fragment that hosts it and decorates it with event handlers and state management operations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Other resource files (colors.xml, strings.xml, themes.xml) that further specify its visual appearance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State ownership and event handling are intermixed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Each view can choose how to implement these two responsibilities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Data flow is not specified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How information is propagated from one view where an event is detected to sibling and parent view is a matter of choice of the programmer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The Jetpack Compose library</a:t>
            </a:r>
            <a:endParaRPr/>
          </a:p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modern toolkit aimed at simplifying UI development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Inspired by React, Flutter, and Swift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Based on a declarative programming model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Based on a set of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@Composable</a:t>
            </a:r>
            <a:r>
              <a:rPr lang="it"/>
              <a:t> functions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Functions that can call other  plain- and / or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@Composable</a:t>
            </a:r>
            <a:r>
              <a:rPr lang="it"/>
              <a:t>-functions, in order to create the visual tree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library tracks the arguments passed to a composable, and whenever they change, re-invokes it, updating  the UI accordingly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Fully </a:t>
            </a:r>
            <a:r>
              <a:rPr b="1" lang="it">
                <a:solidFill>
                  <a:srgbClr val="0B5394"/>
                </a:solidFill>
              </a:rPr>
              <a:t>declarative</a:t>
            </a:r>
            <a:r>
              <a:rPr lang="it"/>
              <a:t> and </a:t>
            </a:r>
            <a:r>
              <a:rPr b="1" lang="it">
                <a:solidFill>
                  <a:srgbClr val="0B5394"/>
                </a:solidFill>
              </a:rPr>
              <a:t>data driven</a:t>
            </a:r>
            <a:endParaRPr b="1"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programmer is no more responsible of mutating the user interface to track changes in application state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Current state is mapped into component descriptions and the framework takes care of altering the tree-view whenever necessary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Basic principles</a:t>
            </a:r>
            <a:endParaRPr/>
          </a:p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93356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5"/>
              <a:buChar char="•"/>
            </a:pPr>
            <a:r>
              <a:rPr lang="it"/>
              <a:t>Compose is based on a set of </a:t>
            </a:r>
            <a:r>
              <a:rPr b="1" lang="it">
                <a:solidFill>
                  <a:srgbClr val="1E5F9F"/>
                </a:solidFill>
              </a:rPr>
              <a:t>composable functions</a:t>
            </a:r>
            <a:endParaRPr/>
          </a:p>
          <a:p>
            <a:pPr indent="-331572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2"/>
              <a:buChar char="○"/>
            </a:pPr>
            <a:r>
              <a:rPr lang="it"/>
              <a:t>They represent the building block used to create user interfaces</a:t>
            </a:r>
            <a:endParaRPr/>
          </a:p>
          <a:p>
            <a:pPr indent="-331572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2"/>
              <a:buChar char="○"/>
            </a:pPr>
            <a:r>
              <a:rPr lang="it"/>
              <a:t>Each function describes, with a declarative syntax, the aspect and behaviour of the GUI to be built,  rather than imperatively drive the construction process</a:t>
            </a:r>
            <a:endParaRPr/>
          </a:p>
          <a:p>
            <a:pPr indent="-393356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95"/>
              <a:buChar char="•"/>
            </a:pPr>
            <a:r>
              <a:rPr lang="it"/>
              <a:t>A composable function is a Kotlin function labelled with the </a:t>
            </a: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@Composable</a:t>
            </a:r>
            <a:r>
              <a:rPr lang="it"/>
              <a:t> annotation</a:t>
            </a:r>
            <a:endParaRPr/>
          </a:p>
          <a:p>
            <a:pPr indent="-331572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2"/>
              <a:buChar char="○"/>
            </a:pPr>
            <a:r>
              <a:rPr lang="it"/>
              <a:t>They use the same syntax as standard functions and can receive parameters of all kinds</a:t>
            </a:r>
            <a:endParaRPr/>
          </a:p>
          <a:p>
            <a:pPr indent="-331572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2"/>
              <a:buChar char="○"/>
            </a:pPr>
            <a:r>
              <a:rPr lang="it"/>
              <a:t>They usually do not return a value, but they </a:t>
            </a:r>
            <a:r>
              <a:rPr b="1" i="1" lang="it">
                <a:solidFill>
                  <a:srgbClr val="224F76"/>
                </a:solidFill>
              </a:rPr>
              <a:t>emit</a:t>
            </a:r>
            <a:r>
              <a:rPr lang="it"/>
              <a:t> user interface blocks to be rendered by the Compose runtime, by invoking other composable functions in their body</a:t>
            </a:r>
            <a:endParaRPr/>
          </a:p>
          <a:p>
            <a:pPr indent="-331572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2"/>
              <a:buChar char="○"/>
            </a:pPr>
            <a:r>
              <a:rPr lang="it"/>
              <a:t>The library provides a set of </a:t>
            </a:r>
            <a:r>
              <a:rPr b="1" lang="it">
                <a:solidFill>
                  <a:srgbClr val="0B5394"/>
                </a:solidFill>
              </a:rPr>
              <a:t>built-in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</a:rPr>
              <a:t>functions</a:t>
            </a:r>
            <a:r>
              <a:rPr lang="it"/>
              <a:t> that emit basic widgets and layouts, which group composables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First example</a:t>
            </a:r>
            <a:endParaRPr/>
          </a:p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14900" y="1113600"/>
            <a:ext cx="4107600" cy="34821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fun Greeting()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Column(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modifier = Modifier.fillMaxSize(),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horizontalAlignment = Alignment.CenterHorizontally,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verticalArrangement = Arrangement.Center,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Text(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"Hello,",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style = MaterialTheme.typography.headlineLarge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Text(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"Compose!",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style = MaterialTheme.typography.headlineLarge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6125" y="944163"/>
            <a:ext cx="1922626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/>
          <p:nvPr/>
        </p:nvSpPr>
        <p:spPr>
          <a:xfrm>
            <a:off x="563050" y="2566250"/>
            <a:ext cx="3534300" cy="667200"/>
          </a:xfrm>
          <a:prstGeom prst="roundRect">
            <a:avLst>
              <a:gd fmla="val 16667" name="adj"/>
            </a:avLst>
          </a:prstGeom>
          <a:solidFill>
            <a:srgbClr val="8EFF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14"/>
          <p:cNvCxnSpPr>
            <a:stCxn id="82" idx="3"/>
          </p:cNvCxnSpPr>
          <p:nvPr/>
        </p:nvCxnSpPr>
        <p:spPr>
          <a:xfrm flipH="1" rot="10800000">
            <a:off x="4097350" y="2807150"/>
            <a:ext cx="2406300" cy="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4" name="Google Shape;84;p14"/>
          <p:cNvSpPr/>
          <p:nvPr/>
        </p:nvSpPr>
        <p:spPr>
          <a:xfrm>
            <a:off x="563050" y="3314133"/>
            <a:ext cx="3534300" cy="667200"/>
          </a:xfrm>
          <a:prstGeom prst="roundRect">
            <a:avLst>
              <a:gd fmla="val 16667" name="adj"/>
            </a:avLst>
          </a:prstGeom>
          <a:solidFill>
            <a:srgbClr val="8EFF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4"/>
          <p:cNvCxnSpPr>
            <a:stCxn id="84" idx="3"/>
          </p:cNvCxnSpPr>
          <p:nvPr/>
        </p:nvCxnSpPr>
        <p:spPr>
          <a:xfrm flipH="1" rot="10800000">
            <a:off x="4097350" y="3043233"/>
            <a:ext cx="2263200" cy="6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6" name="Google Shape;86;p14"/>
          <p:cNvSpPr/>
          <p:nvPr/>
        </p:nvSpPr>
        <p:spPr>
          <a:xfrm>
            <a:off x="442150" y="1630075"/>
            <a:ext cx="3870300" cy="855600"/>
          </a:xfrm>
          <a:prstGeom prst="roundRect">
            <a:avLst>
              <a:gd fmla="val 16667" name="adj"/>
            </a:avLst>
          </a:prstGeom>
          <a:solidFill>
            <a:srgbClr val="8EFF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14"/>
          <p:cNvCxnSpPr>
            <a:stCxn id="86" idx="3"/>
          </p:cNvCxnSpPr>
          <p:nvPr/>
        </p:nvCxnSpPr>
        <p:spPr>
          <a:xfrm flipH="1" rot="10800000">
            <a:off x="4312450" y="2047375"/>
            <a:ext cx="15009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Compose DSL</a:t>
            </a:r>
            <a:endParaRPr/>
          </a:p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When a composable offers, amongst its parameters, a trailing lambda, this will typically trigger a hierarchical composition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Composable contained in the trailing lambda will become children of the enclosing composable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Depending on the enclosing element, some extra functionalities can be available inside the lambda (it may be invoked with a receiver)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365874" y="3569666"/>
            <a:ext cx="5583000" cy="10449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Modifier.background(Color.Yellow)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b="0" i="0" lang="it" sz="14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it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1" sz="1400" u="none" cap="none" strike="noStrike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   Text("Hello", fontSize = 32.sp)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   Text("Compose!", </a:t>
            </a:r>
            <a:r>
              <a:rPr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fontSize = 32.sp</a:t>
            </a:r>
            <a:r>
              <a:rPr b="0" i="0" lang="it" sz="14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2429612" y="3136834"/>
            <a:ext cx="3682200" cy="300300"/>
          </a:xfrm>
          <a:prstGeom prst="wedgeRectCallout">
            <a:avLst>
              <a:gd fmla="val 10886" name="adj1"/>
              <a:gd fmla="val 114866" name="adj2"/>
            </a:avLst>
          </a:prstGeom>
          <a:gradFill>
            <a:gsLst>
              <a:gs pos="0">
                <a:srgbClr val="9FD2FF"/>
              </a:gs>
              <a:gs pos="35000">
                <a:srgbClr val="BADFFF"/>
              </a:gs>
              <a:gs pos="100000">
                <a:srgbClr val="E2F0FF"/>
              </a:gs>
            </a:gsLst>
            <a:lin ang="16200038" scaled="0"/>
          </a:gradFill>
          <a:ln cap="flat" cmpd="sng" w="9525">
            <a:solidFill>
              <a:srgbClr val="5C99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Trailing lambda</a:t>
            </a:r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6400" y="3449163"/>
            <a:ext cx="173355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Text</a:t>
            </a:r>
            <a:endParaRPr/>
          </a:p>
        </p:txBody>
      </p:sp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150" y="1244201"/>
            <a:ext cx="8521800" cy="2359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Text(…)</a:t>
            </a:r>
            <a:r>
              <a:rPr lang="it"/>
              <a:t> displays one or more lines of text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accepts quite a number of </a:t>
            </a:r>
            <a:r>
              <a:rPr lang="it"/>
              <a:t>parameters</a:t>
            </a:r>
            <a:r>
              <a:rPr lang="it"/>
              <a:t>, even if only the first one, representing the text to be displayed, is mandatory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Among the parameters,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modifier</a:t>
            </a:r>
            <a:r>
              <a:rPr lang="it"/>
              <a:t> is common to most components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represents an ordered collection </a:t>
            </a:r>
            <a:r>
              <a:rPr lang="it">
                <a:solidFill>
                  <a:schemeClr val="dk1"/>
                </a:solidFill>
              </a:rPr>
              <a:t>of </a:t>
            </a:r>
            <a:r>
              <a:rPr lang="it"/>
              <a:t>elements that decorate or add behavior to widgets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Its value is obtained invoking - with a fluent interface - extension functions on the empty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Modifier</a:t>
            </a:r>
            <a:r>
              <a:rPr lang="it"/>
              <a:t> object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010950" y="3377938"/>
            <a:ext cx="3807600" cy="12621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Text(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text = "Hello",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fontSize = 64.sp,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modifier = </a:t>
            </a:r>
            <a:r>
              <a:rPr lang="it" sz="10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Modifier.size(160.dp)</a:t>
            </a:r>
            <a:endParaRPr sz="1000"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               .background(Color.Yellow)</a:t>
            </a:r>
            <a:endParaRPr sz="1000"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               .wrapContentSize(Alignment.Center)</a:t>
            </a:r>
            <a:endParaRPr sz="1000"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               .blur(8.dp)</a:t>
            </a: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5400" y="3377950"/>
            <a:ext cx="1211616" cy="12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Canvas</a:t>
            </a:r>
            <a:endParaRPr/>
          </a:p>
        </p:txBody>
      </p:sp>
      <p:sp>
        <p:nvSpPr>
          <p:cNvPr id="112" name="Google Shape;112;p1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150" y="1244202"/>
            <a:ext cx="8521800" cy="12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6550" lvl="0" marL="457200" rtl="0" algn="l">
              <a:spcBef>
                <a:spcPts val="600"/>
              </a:spcBef>
              <a:spcAft>
                <a:spcPts val="0"/>
              </a:spcAft>
              <a:buSzPct val="100000"/>
              <a:buChar char="•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Canvas(…)</a:t>
            </a:r>
            <a:r>
              <a:rPr lang="it"/>
              <a:t> provides a surface upon which custom graphics can be drawn</a:t>
            </a:r>
            <a:endParaRPr/>
          </a:p>
          <a:p>
            <a:pPr indent="-31496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 Its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onDraw</a:t>
            </a:r>
            <a:r>
              <a:rPr lang="it"/>
              <a:t> parameter references a lambda function with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DrawScope</a:t>
            </a:r>
            <a:r>
              <a:rPr lang="it"/>
              <a:t> receiver, that provides a several methods to draw on it</a:t>
            </a:r>
            <a:endParaRPr/>
          </a:p>
          <a:p>
            <a:pPr indent="-31496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By default, a Canvas has no size, so it must be set via a modifier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466550" y="2304100"/>
            <a:ext cx="5832900" cy="21858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Canvas(modifier = Modifier.fillMaxSize(), onDraw =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val (w,h) = size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val r = 0.4f * min(w,h)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val offsetL = Offset(-r*0.5f, -r*0.3f)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val offsetR = Offset( r*0.3f, -r*0.3f)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val path = Path()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path.moveTo(w*0.5f-r*0.3f, h*0.5f+r*0.5f)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path.relativeQuadraticBezierTo(r*0.3f,r*0.2f, r*0.6f, 0f)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drawCircle(color = Color.Yellow, radius = r, center = center)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drawOval(Color.Black, size = Size(r*0.2f,r*0.4f), topLeft = center+offsetL 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drawOval(Color.Black, size = Size(r*0.2f,r*0.4f), topLeft = center+offsetR 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drawPath(path, Color.Red)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4250" y="2346850"/>
            <a:ext cx="1060900" cy="21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Image</a:t>
            </a:r>
            <a:endParaRPr/>
          </a:p>
        </p:txBody>
      </p:sp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311150" y="1244199"/>
            <a:ext cx="8521800" cy="149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Image(…)</a:t>
            </a:r>
            <a:r>
              <a:rPr lang="it"/>
              <a:t> is used to display images provided via 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Painter</a:t>
            </a:r>
            <a:r>
              <a:rPr lang="it"/>
              <a:t> instance</a:t>
            </a:r>
            <a:endParaRPr/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By default, it will be sized according to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Painter</a:t>
            </a:r>
            <a:r>
              <a:rPr lang="it"/>
              <a:t> intrinsic size</a:t>
            </a:r>
            <a:endParaRPr/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 modifier can be provided </a:t>
            </a:r>
            <a:r>
              <a:rPr lang="it"/>
              <a:t>to adjust sizing or draw additional content (ex. background)</a:t>
            </a:r>
            <a:endParaRPr/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Parameter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contentDescription</a:t>
            </a:r>
            <a:r>
              <a:rPr lang="it"/>
              <a:t> is mandatory: it is used by assistive technologies to present the content of the image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999950" y="3142300"/>
            <a:ext cx="5593500" cy="9543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Image(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painter = </a:t>
            </a: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painterResource(id = androidx.core.R.drawable.ic_call_answer)</a:t>
            </a: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contentDescription = "Phone call",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modifier = Modifier.fillMaxSize()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6174" y="2705550"/>
            <a:ext cx="926700" cy="18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Card</a:t>
            </a:r>
            <a:endParaRPr/>
          </a:p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Card(…)</a:t>
            </a:r>
            <a:r>
              <a:rPr lang="it"/>
              <a:t> is used to present a a content that is somewhat lifted, has a custom shape and can trigger an action when clicked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1744550" y="2271250"/>
            <a:ext cx="5655000" cy="13392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Card(elevation = CardDefaults.cardElevation(8.dp), 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modifier = Modifier.padding(16.dp)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Text(text = "Simple Card with 8.dp elevation",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modifier = Modifier.padding(16.dp))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7050" y="3826675"/>
            <a:ext cx="2809875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Basic layouts</a:t>
            </a:r>
            <a:endParaRPr/>
          </a:p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Column(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it"/>
              <a:t> is an example of built-in layout composable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It lays out its children vertically, one below the other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Its </a:t>
            </a:r>
            <a:r>
              <a:rPr lang="it"/>
              <a:t>parameters </a:t>
            </a:r>
            <a:r>
              <a:rPr lang="it">
                <a:solidFill>
                  <a:schemeClr val="dk1"/>
                </a:solidFill>
              </a:rPr>
              <a:t>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horizontalAlignment</a:t>
            </a:r>
            <a:r>
              <a:rPr lang="it">
                <a:solidFill>
                  <a:schemeClr val="dk1"/>
                </a:solidFill>
              </a:rPr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verticalArrangement</a:t>
            </a:r>
            <a:r>
              <a:rPr lang="it">
                <a:solidFill>
                  <a:schemeClr val="dk1"/>
                </a:solidFill>
              </a:rPr>
              <a:t>)</a:t>
            </a:r>
            <a:r>
              <a:rPr lang="it"/>
              <a:t> control children </a:t>
            </a:r>
            <a:r>
              <a:rPr lang="it"/>
              <a:t>horizontal</a:t>
            </a:r>
            <a:r>
              <a:rPr lang="it"/>
              <a:t> and vertical positioning when they are smaller than the available space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Row(…)</a:t>
            </a:r>
            <a:r>
              <a:rPr lang="it"/>
              <a:t> is a similar component that lays out its children horizontally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It has complementary </a:t>
            </a:r>
            <a:r>
              <a:rPr lang="it"/>
              <a:t>parameters</a:t>
            </a:r>
            <a:r>
              <a:rPr lang="it"/>
              <a:t>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verticalAlignment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horizontalArrangement</a:t>
            </a:r>
            <a:r>
              <a:rPr lang="it"/>
              <a:t>)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Box(…)</a:t>
            </a:r>
            <a:r>
              <a:rPr lang="it"/>
              <a:t>  stacks its children along the z-axis, as if they were a deck of cards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The last child is on top of all the preceding ones</a:t>
            </a:r>
            <a:endParaRPr/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A</a:t>
            </a:r>
            <a:r>
              <a:rPr lang="it"/>
              <a:t> Box will size itself to fit the content, subject to the incoming constraints</a:t>
            </a:r>
            <a:endParaRPr/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it"/>
              <a:t>When children are smaller than the parent, by default they will be positioned inside the Box according to parameter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contentAlignment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Basic layouts</a:t>
            </a:r>
            <a:endParaRPr/>
          </a:p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Row()</a:t>
            </a:r>
            <a:r>
              <a:rPr lang="it">
                <a:solidFill>
                  <a:schemeClr val="dk1"/>
                </a:solidFill>
              </a:rPr>
              <a:t> and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Column()</a:t>
            </a:r>
            <a:r>
              <a:rPr lang="it">
                <a:solidFill>
                  <a:schemeClr val="dk1"/>
                </a:solidFill>
              </a:rPr>
              <a:t> mimic the behaviour of flex-containers in HTML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Modifier.weight(...)</a:t>
            </a:r>
            <a:r>
              <a:rPr lang="it">
                <a:solidFill>
                  <a:schemeClr val="dk1"/>
                </a:solidFill>
              </a:rPr>
              <a:t> may be applied to their children in order to partition the available space in a different way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Basic layouts</a:t>
            </a:r>
            <a:r>
              <a:rPr lang="it">
                <a:solidFill>
                  <a:schemeClr val="dk1"/>
                </a:solidFill>
              </a:rPr>
              <a:t> can be nested to produce more articulated layouts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They tend to be as pervasive as </a:t>
            </a:r>
            <a:r>
              <a:rPr b="1" lang="it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&lt;div&gt;</a:t>
            </a:r>
            <a:r>
              <a:rPr lang="it">
                <a:solidFill>
                  <a:schemeClr val="dk1"/>
                </a:solidFill>
              </a:rPr>
              <a:t> elements in web pages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Modifier.padding(...)</a:t>
            </a:r>
            <a:r>
              <a:rPr lang="it">
                <a:solidFill>
                  <a:schemeClr val="dk1"/>
                </a:solidFill>
              </a:rPr>
              <a:t> may be applied to them in order to leave some empty space between the children and the parent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Creating complex layouts</a:t>
            </a:r>
            <a:endParaRPr/>
          </a:p>
        </p:txBody>
      </p:sp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311150" y="1244200"/>
            <a:ext cx="8521800" cy="340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Differently from traditionals views, Compose handles nested layouts efficiently, making them a great way to design complex UI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is pretty common to create visualizations based on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Box</a:t>
            </a:r>
            <a:r>
              <a:rPr lang="it"/>
              <a:t>es encapsulating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it"/>
              <a:t>s encapsulating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Row</a:t>
            </a:r>
            <a:r>
              <a:rPr lang="it"/>
              <a:t>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In order to guarantee the customizability of the outcome, intermediate composables are often defined having a modifier parameter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Which has, as a default value, the empty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Modifier</a:t>
            </a:r>
            <a:r>
              <a:rPr lang="it"/>
              <a:t> constructor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1918700" y="3706384"/>
            <a:ext cx="5306700" cy="9234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fun ProductCard(modifier: Modifier = Modifier)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Column(modifier = modifier, … ) { …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2460" y="813450"/>
            <a:ext cx="1925075" cy="38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Basic layouts</a:t>
            </a:r>
            <a:endParaRPr/>
          </a:p>
        </p:txBody>
      </p:sp>
      <p:sp>
        <p:nvSpPr>
          <p:cNvPr id="163" name="Google Shape;163;p2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314900" y="1113600"/>
            <a:ext cx="4107600" cy="34821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fun SimpleLayout()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Column(Modifier.fillMaxSize())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Row(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Modifier.fillMaxWidth()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      .weight(1f),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verticalAlignment =Alignment.CenterVertically 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Text("Row1",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   Modifier.weight(1f),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   textAlign = TextAlign.Center)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Switch(checked = true, onCheckedChange = {},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     modifier = Modifier.weight(1f) 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Box(Modifier.fillMaxWidth().weight(2f),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contentAlignment = Alignment.Center 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Text("Row2 is twice as high as Row1")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468075" y="1491100"/>
            <a:ext cx="3870300" cy="213600"/>
          </a:xfrm>
          <a:prstGeom prst="roundRect">
            <a:avLst>
              <a:gd fmla="val 16667" name="adj"/>
            </a:avLst>
          </a:prstGeom>
          <a:solidFill>
            <a:srgbClr val="8EFF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23"/>
          <p:cNvCxnSpPr>
            <a:stCxn id="165" idx="3"/>
          </p:cNvCxnSpPr>
          <p:nvPr/>
        </p:nvCxnSpPr>
        <p:spPr>
          <a:xfrm flipH="1" rot="10800000">
            <a:off x="4338375" y="1588900"/>
            <a:ext cx="18180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7" name="Google Shape;167;p23"/>
          <p:cNvSpPr/>
          <p:nvPr/>
        </p:nvSpPr>
        <p:spPr>
          <a:xfrm>
            <a:off x="640875" y="1805625"/>
            <a:ext cx="3697500" cy="617100"/>
          </a:xfrm>
          <a:prstGeom prst="roundRect">
            <a:avLst>
              <a:gd fmla="val 16667" name="adj"/>
            </a:avLst>
          </a:prstGeom>
          <a:solidFill>
            <a:srgbClr val="8EFF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3"/>
          <p:cNvCxnSpPr>
            <a:stCxn id="167" idx="3"/>
          </p:cNvCxnSpPr>
          <p:nvPr/>
        </p:nvCxnSpPr>
        <p:spPr>
          <a:xfrm flipH="1" rot="10800000">
            <a:off x="4338375" y="2103075"/>
            <a:ext cx="18936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9" name="Google Shape;169;p23"/>
          <p:cNvSpPr/>
          <p:nvPr/>
        </p:nvSpPr>
        <p:spPr>
          <a:xfrm>
            <a:off x="640875" y="3477400"/>
            <a:ext cx="3697500" cy="321000"/>
          </a:xfrm>
          <a:prstGeom prst="roundRect">
            <a:avLst>
              <a:gd fmla="val 16667" name="adj"/>
            </a:avLst>
          </a:prstGeom>
          <a:solidFill>
            <a:srgbClr val="8EFF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23"/>
          <p:cNvCxnSpPr>
            <a:stCxn id="169" idx="3"/>
          </p:cNvCxnSpPr>
          <p:nvPr/>
        </p:nvCxnSpPr>
        <p:spPr>
          <a:xfrm flipH="1" rot="10800000">
            <a:off x="4338375" y="3626800"/>
            <a:ext cx="18936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1" name="Google Shape;171;p23"/>
          <p:cNvSpPr/>
          <p:nvPr/>
        </p:nvSpPr>
        <p:spPr>
          <a:xfrm>
            <a:off x="813375" y="2449025"/>
            <a:ext cx="3525000" cy="427500"/>
          </a:xfrm>
          <a:prstGeom prst="roundRect">
            <a:avLst>
              <a:gd fmla="val 16667" name="adj"/>
            </a:avLst>
          </a:prstGeom>
          <a:solidFill>
            <a:srgbClr val="8EFF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813375" y="2902825"/>
            <a:ext cx="3525000" cy="321000"/>
          </a:xfrm>
          <a:prstGeom prst="roundRect">
            <a:avLst>
              <a:gd fmla="val 16667" name="adj"/>
            </a:avLst>
          </a:prstGeom>
          <a:solidFill>
            <a:srgbClr val="8EFF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813375" y="3812297"/>
            <a:ext cx="3525000" cy="166800"/>
          </a:xfrm>
          <a:prstGeom prst="roundRect">
            <a:avLst>
              <a:gd fmla="val 16667" name="adj"/>
            </a:avLst>
          </a:prstGeom>
          <a:solidFill>
            <a:srgbClr val="8EFF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6549949" y="1420018"/>
            <a:ext cx="227100" cy="236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7387900" y="1475200"/>
            <a:ext cx="227100" cy="236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6966413" y="3186575"/>
            <a:ext cx="227100" cy="236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23"/>
          <p:cNvCxnSpPr>
            <a:stCxn id="171" idx="3"/>
            <a:endCxn id="174" idx="4"/>
          </p:cNvCxnSpPr>
          <p:nvPr/>
        </p:nvCxnSpPr>
        <p:spPr>
          <a:xfrm flipH="1" rot="10800000">
            <a:off x="4338375" y="1656275"/>
            <a:ext cx="2325000" cy="1006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" name="Google Shape;178;p23"/>
          <p:cNvCxnSpPr>
            <a:stCxn id="172" idx="3"/>
            <a:endCxn id="175" idx="4"/>
          </p:cNvCxnSpPr>
          <p:nvPr/>
        </p:nvCxnSpPr>
        <p:spPr>
          <a:xfrm flipH="1" rot="10800000">
            <a:off x="4338375" y="1711525"/>
            <a:ext cx="3163200" cy="1351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9" name="Google Shape;179;p23"/>
          <p:cNvCxnSpPr>
            <a:stCxn id="173" idx="3"/>
            <a:endCxn id="176" idx="4"/>
          </p:cNvCxnSpPr>
          <p:nvPr/>
        </p:nvCxnSpPr>
        <p:spPr>
          <a:xfrm flipH="1" rot="10800000">
            <a:off x="4338375" y="3422897"/>
            <a:ext cx="2741700" cy="472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Composable functions</a:t>
            </a:r>
            <a:endParaRPr/>
          </a:p>
        </p:txBody>
      </p:sp>
      <p:sp>
        <p:nvSpPr>
          <p:cNvPr id="185" name="Google Shape;185;p2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311150" y="1244202"/>
            <a:ext cx="8521800" cy="17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Since composable functions are, </a:t>
            </a:r>
            <a:r>
              <a:rPr lang="it"/>
              <a:t>primarily</a:t>
            </a:r>
            <a:r>
              <a:rPr lang="it"/>
              <a:t>, functions, they are not limited to just emitting other composable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They can have parameters, use </a:t>
            </a:r>
            <a:r>
              <a:rPr lang="it"/>
              <a:t>branches</a:t>
            </a:r>
            <a:r>
              <a:rPr lang="it"/>
              <a:t> and loops to control their composition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Whenever they invoke another composable function, the corresponding component is emitted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720000" y="2919575"/>
            <a:ext cx="5110800" cy="17238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fun SimpleList(l: List&lt;String&gt;, modifier: Modifier)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Column(modifier = modifier)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l.withIndex().forEach()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    val mod = if (it.index %2 == 0) Modifier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    else Modifier.background(Color.LightGray).fillMaxWidth()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    Text(text = it.value, modifier = mod, fontSize=32.sp)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8" name="Google Shape;18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4559" y="2674250"/>
            <a:ext cx="990815" cy="19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Lists and grids</a:t>
            </a:r>
            <a:endParaRPr/>
          </a:p>
        </p:txBody>
      </p:sp>
      <p:sp>
        <p:nvSpPr>
          <p:cNvPr id="194" name="Google Shape;194;p2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Even if it is simple to emit composables out of a list of data items, this is not necessarily a good thing to do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If the list contains many items, a lot of composables will be emitted, but - possibly - most of them will not be visible, since their position will be outside of the screen bounds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Moreover, layout are not scrollable by default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Compose provides a bunch of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Lazy*</a:t>
            </a:r>
            <a:r>
              <a:rPr lang="it"/>
              <a:t> components aimed at displaying in a resource-effective way collections of items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LazyColumn(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it"/>
              <a:t> is vertically scrolling list that only composes and lays out the currently visible items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LazyRow(…)</a:t>
            </a:r>
            <a:r>
              <a:rPr lang="it"/>
              <a:t> lays out visible items in an horizontally scrolling row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LazyHorizontalGrid(…)</a:t>
            </a:r>
            <a:r>
              <a:rPr lang="it"/>
              <a:t> and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LazyVerticalGrid(…)</a:t>
            </a:r>
            <a:r>
              <a:rPr lang="it">
                <a:solidFill>
                  <a:schemeClr val="dk1"/>
                </a:solidFill>
              </a:rPr>
              <a:t> create scrollable grids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</a:t>
            </a:r>
            <a:r>
              <a:rPr lang="it"/>
              <a:t>ists and grids</a:t>
            </a:r>
            <a:endParaRPr/>
          </a:p>
        </p:txBody>
      </p:sp>
      <p:sp>
        <p:nvSpPr>
          <p:cNvPr id="202" name="Google Shape;202;p2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6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Lazy* components provide a </a:t>
            </a:r>
            <a:r>
              <a:rPr b="1" lang="it">
                <a:solidFill>
                  <a:srgbClr val="0B5394"/>
                </a:solidFill>
              </a:rPr>
              <a:t>LazyListScope.()</a:t>
            </a:r>
            <a:r>
              <a:rPr lang="it"/>
              <a:t> block that offers a DSL to describe the contents 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</a:rPr>
              <a:t>items(...)</a:t>
            </a:r>
            <a:r>
              <a:rPr lang="it"/>
              <a:t> accepts a list or an array of items and a lambda responsible of emitting the content for each visible element in the container</a:t>
            </a:r>
            <a:r>
              <a:rPr lang="it">
                <a:solidFill>
                  <a:srgbClr val="0B5394"/>
                </a:solidFill>
              </a:rPr>
              <a:t> </a:t>
            </a:r>
            <a:endParaRPr>
              <a:solidFill>
                <a:srgbClr val="0B5394"/>
              </a:solidFill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</a:rPr>
              <a:t>item(...)</a:t>
            </a:r>
            <a:r>
              <a:rPr lang="it"/>
              <a:t>  provides a similar behaviour for a single element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</a:rPr>
              <a:t>indexedItems(...)</a:t>
            </a:r>
            <a:r>
              <a:rPr lang="it"/>
              <a:t> provide the lambda function with an extra parameter reporting the current index</a:t>
            </a:r>
            <a:endParaRPr/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</a:rPr>
              <a:t>stickyHeader(...)</a:t>
            </a:r>
            <a:r>
              <a:rPr lang="it"/>
              <a:t>  emits an header item, which will remain pinned even when scrolling after it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Lists and grids</a:t>
            </a:r>
            <a:endParaRPr/>
          </a:p>
        </p:txBody>
      </p:sp>
      <p:sp>
        <p:nvSpPr>
          <p:cNvPr id="209" name="Google Shape;209;p2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10" name="Google Shape;210;p27"/>
          <p:cNvSpPr txBox="1"/>
          <p:nvPr/>
        </p:nvSpPr>
        <p:spPr>
          <a:xfrm>
            <a:off x="552387" y="1555800"/>
            <a:ext cx="6136200" cy="20319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fun ScrollingList(l: List&lt;String&gt;, modifier: Modifier)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LazyColumn(modifier = modifier)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itemsIndexed(l) { index,text -&gt;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val mod = if (index %2 == 0) Modifier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else Modifier.background(Color.LightGray).fillMaxWidth()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Text(text, fontSize = 32.sp, modifier = mod)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1" name="Google Shape;2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9212" y="1292400"/>
            <a:ext cx="1292400" cy="25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Lists and grids</a:t>
            </a:r>
            <a:endParaRPr/>
          </a:p>
        </p:txBody>
      </p:sp>
      <p:sp>
        <p:nvSpPr>
          <p:cNvPr id="217" name="Google Shape;217;p2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18" name="Google Shape;218;p28"/>
          <p:cNvSpPr txBox="1"/>
          <p:nvPr/>
        </p:nvSpPr>
        <p:spPr>
          <a:xfrm>
            <a:off x="375025" y="1165450"/>
            <a:ext cx="6491400" cy="33246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fun ScrollingGrid(data: List&lt;String&gt;, modifier: Modifier)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LazyHorizontalGrid(rows = GridCells.Fixed(3), modifier = modifier)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items(data)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Box(modifier = Modifier.padding(4.dp))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Text(it,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 Modifier.fillMaxHeight()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         .aspectRatio(4f / 3f)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         .background(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            Color.LightGray,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            RoundedCornerShape(8.dp))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         .wrapContentSize(),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 fontSize = 32.sp)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9" name="Google Shape;2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1725" y="2184475"/>
            <a:ext cx="3417375" cy="157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Modifiers</a:t>
            </a:r>
            <a:endParaRPr/>
          </a:p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26" name="Google Shape;226;p2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Most composable functions accept, amongst their parameters, a Modifier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provides decorations and behaviour to the element, offering a fluent API which makes it easy to specify several cascading details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order of modifiers matters!</a:t>
            </a:r>
            <a:endParaRPr/>
          </a:p>
        </p:txBody>
      </p:sp>
      <p:sp>
        <p:nvSpPr>
          <p:cNvPr id="227" name="Google Shape;227;p29"/>
          <p:cNvSpPr txBox="1"/>
          <p:nvPr/>
        </p:nvSpPr>
        <p:spPr>
          <a:xfrm>
            <a:off x="1073150" y="2657417"/>
            <a:ext cx="4816800" cy="9087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Text(text = "Hello Compose",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modifier = Modifier.background(Color.Green)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.padding(16.dp)</a:t>
            </a:r>
            <a:endParaRPr i="0" sz="12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i="0" sz="1200" u="none" cap="none" strike="noStrike"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8" name="Google Shape;2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7188" y="2873463"/>
            <a:ext cx="1171575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 txBox="1"/>
          <p:nvPr/>
        </p:nvSpPr>
        <p:spPr>
          <a:xfrm>
            <a:off x="1073150" y="3649192"/>
            <a:ext cx="4816800" cy="9087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Text(text = "Hello Compose",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modifier = Modifier.padding(16.dp)</a:t>
            </a:r>
            <a:endParaRPr i="0" sz="12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.background(Color.Green)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i="0" sz="1200" u="none" cap="none" strike="noStrike"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Modifiers</a:t>
            </a:r>
            <a:endParaRPr/>
          </a:p>
        </p:txBody>
      </p:sp>
      <p:sp>
        <p:nvSpPr>
          <p:cNvPr id="235" name="Google Shape;235;p30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311150" y="863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it" sz="1800"/>
              <a:t>When adding a modifier as an argument to a composable the parameter must be labeled "modifier" and placed at the top of the list of optional parameters for the function</a:t>
            </a:r>
            <a:endParaRPr sz="18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The modifier parameter has to be optional in order for the function to be called without it: this means that the parameter default value must be an empty Modifier instance</a:t>
            </a:r>
            <a:endParaRPr sz="1400"/>
          </a:p>
        </p:txBody>
      </p:sp>
      <p:sp>
        <p:nvSpPr>
          <p:cNvPr id="237" name="Google Shape;237;p30"/>
          <p:cNvSpPr txBox="1"/>
          <p:nvPr/>
        </p:nvSpPr>
        <p:spPr>
          <a:xfrm>
            <a:off x="517250" y="2259506"/>
            <a:ext cx="6021000" cy="24012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 CustomImage(imageId: Int, </a:t>
            </a:r>
            <a:r>
              <a:rPr b="1" lang="it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modifier: Modifier = Modifier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Image(painter = painterResource(id = imageId),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contentDescription = "",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modifier)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CustomImage(R.drawable.vacation, Modifier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.padding(16.dp)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.width(270.dp)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.clip(shape = RoundedCornerShape(30.dp)))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8" name="Google Shape;2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500" y="2779472"/>
            <a:ext cx="1809037" cy="136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Built-in modifiers</a:t>
            </a:r>
            <a:endParaRPr/>
          </a:p>
        </p:txBody>
      </p:sp>
      <p:sp>
        <p:nvSpPr>
          <p:cNvPr id="244" name="Google Shape;244;p3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5" name="Google Shape;245;p3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671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ct val="120000"/>
              <a:buChar char="•"/>
            </a:pPr>
            <a:r>
              <a:rPr b="1" lang="it">
                <a:solidFill>
                  <a:srgbClr val="0B5394"/>
                </a:solidFill>
              </a:rPr>
              <a:t>background(…)</a:t>
            </a:r>
            <a:endParaRPr b="1">
              <a:solidFill>
                <a:srgbClr val="0B5394"/>
              </a:solidFill>
            </a:endParaRPr>
          </a:p>
          <a:p>
            <a:pPr indent="-30241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Draws a solid colored shape behind the composable.</a:t>
            </a:r>
            <a:endParaRPr/>
          </a:p>
          <a:p>
            <a:pPr indent="-34671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b="1" lang="it">
                <a:solidFill>
                  <a:srgbClr val="0B5394"/>
                </a:solidFill>
              </a:rPr>
              <a:t>clickable</a:t>
            </a:r>
            <a:r>
              <a:rPr b="1" lang="it">
                <a:solidFill>
                  <a:srgbClr val="0B5394"/>
                </a:solidFill>
              </a:rPr>
              <a:t>(…)</a:t>
            </a:r>
            <a:endParaRPr b="1"/>
          </a:p>
          <a:p>
            <a:pPr indent="-30241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Defines a handler that will be invoked when the composable is clicked. When the click is performed, it also causes a ripple effect</a:t>
            </a:r>
            <a:endParaRPr/>
          </a:p>
          <a:p>
            <a:pPr indent="-34671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b="1" lang="it">
                <a:solidFill>
                  <a:srgbClr val="0B5394"/>
                </a:solidFill>
              </a:rPr>
              <a:t>clip</a:t>
            </a:r>
            <a:r>
              <a:rPr b="1" lang="it">
                <a:solidFill>
                  <a:srgbClr val="0B5394"/>
                </a:solidFill>
              </a:rPr>
              <a:t>(…)</a:t>
            </a:r>
            <a:r>
              <a:rPr b="1" lang="it"/>
              <a:t> </a:t>
            </a:r>
            <a:endParaRPr b="1"/>
          </a:p>
          <a:p>
            <a:pPr indent="-30241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Clips the composable content to a specified shape</a:t>
            </a:r>
            <a:endParaRPr/>
          </a:p>
          <a:p>
            <a:pPr indent="-34671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b="1" lang="it">
                <a:solidFill>
                  <a:srgbClr val="0B5394"/>
                </a:solidFill>
              </a:rPr>
              <a:t>fillMaxHeight</a:t>
            </a:r>
            <a:r>
              <a:rPr b="1" lang="it">
                <a:solidFill>
                  <a:srgbClr val="0B5394"/>
                </a:solidFill>
              </a:rPr>
              <a:t>(…)</a:t>
            </a:r>
            <a:r>
              <a:rPr b="1" lang="it"/>
              <a:t> </a:t>
            </a:r>
            <a:endParaRPr b="1"/>
          </a:p>
          <a:p>
            <a:pPr indent="-30241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The composable will be sized to fit the parent's maximum height.</a:t>
            </a:r>
            <a:endParaRPr/>
          </a:p>
          <a:p>
            <a:pPr indent="-34671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b="1" lang="it">
                <a:solidFill>
                  <a:srgbClr val="0B5394"/>
                </a:solidFill>
              </a:rPr>
              <a:t>fillMaxSize</a:t>
            </a:r>
            <a:r>
              <a:rPr b="1" lang="it">
                <a:solidFill>
                  <a:srgbClr val="0B5394"/>
                </a:solidFill>
              </a:rPr>
              <a:t>(…)</a:t>
            </a:r>
            <a:r>
              <a:rPr b="1" lang="it"/>
              <a:t> </a:t>
            </a:r>
            <a:endParaRPr b="1"/>
          </a:p>
          <a:p>
            <a:pPr indent="-30241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The composable will be sized to fit the parent's maximum height and width.</a:t>
            </a:r>
            <a:endParaRPr/>
          </a:p>
          <a:p>
            <a:pPr indent="-34671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b="1" lang="it">
                <a:solidFill>
                  <a:srgbClr val="0B5394"/>
                </a:solidFill>
              </a:rPr>
              <a:t>fillMaxWidth</a:t>
            </a:r>
            <a:r>
              <a:rPr b="1" lang="it">
                <a:solidFill>
                  <a:srgbClr val="0B5394"/>
                </a:solidFill>
              </a:rPr>
              <a:t>(…)</a:t>
            </a:r>
            <a:r>
              <a:rPr b="1" lang="it"/>
              <a:t> </a:t>
            </a:r>
            <a:endParaRPr b="1"/>
          </a:p>
          <a:p>
            <a:pPr indent="-30241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The composable will be sized to fit the parent's maximum width</a:t>
            </a:r>
            <a:endParaRPr/>
          </a:p>
          <a:p>
            <a:pPr indent="-34671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b="1" lang="it">
                <a:solidFill>
                  <a:srgbClr val="0B5394"/>
                </a:solidFill>
              </a:rPr>
              <a:t>offset</a:t>
            </a:r>
            <a:r>
              <a:rPr b="1" lang="it">
                <a:solidFill>
                  <a:srgbClr val="0B5394"/>
                </a:solidFill>
              </a:rPr>
              <a:t>(…)</a:t>
            </a:r>
            <a:endParaRPr/>
          </a:p>
          <a:p>
            <a:pPr indent="-30241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Moves the composable the specified distance along the x and y axes from its current position</a:t>
            </a:r>
            <a:endParaRPr/>
          </a:p>
          <a:p>
            <a:pPr indent="-34671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b="1" lang="it">
                <a:solidFill>
                  <a:srgbClr val="0B5394"/>
                </a:solidFill>
              </a:rPr>
              <a:t>p</a:t>
            </a:r>
            <a:r>
              <a:rPr b="1" lang="it">
                <a:solidFill>
                  <a:srgbClr val="0B5394"/>
                </a:solidFill>
              </a:rPr>
              <a:t>adding</a:t>
            </a:r>
            <a:r>
              <a:rPr b="1" lang="it">
                <a:solidFill>
                  <a:srgbClr val="0B5394"/>
                </a:solidFill>
              </a:rPr>
              <a:t>(…)</a:t>
            </a:r>
            <a:endParaRPr/>
          </a:p>
          <a:p>
            <a:pPr indent="-30241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Increases the amount of space around an object.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Built-in modifiers</a:t>
            </a:r>
            <a:endParaRPr/>
          </a:p>
        </p:txBody>
      </p:sp>
      <p:sp>
        <p:nvSpPr>
          <p:cNvPr id="251" name="Google Shape;251;p3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it">
                <a:solidFill>
                  <a:schemeClr val="dk1"/>
                </a:solidFill>
              </a:rPr>
              <a:t>To apply several Modifier to the same composable, Compose allows modifiers to be combined by using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then(…)</a:t>
            </a:r>
            <a:r>
              <a:rPr lang="it">
                <a:solidFill>
                  <a:schemeClr val="dk1"/>
                </a:solidFill>
              </a:rPr>
              <a:t> method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p32"/>
          <p:cNvSpPr txBox="1"/>
          <p:nvPr/>
        </p:nvSpPr>
        <p:spPr>
          <a:xfrm>
            <a:off x="1828925" y="2257763"/>
            <a:ext cx="5343300" cy="24012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modifier = Modifier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.border(width = 2.dp, color = Color.Black)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.padding(all = 10.dp)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secondModifier = Modifier.height(100.dp)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Text(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"Hello Compose",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modifier.then(secondModifier),</a:t>
            </a:r>
            <a:endParaRPr sz="1200">
              <a:solidFill>
                <a:schemeClr val="dk1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fontSize = 40.sp,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fontWeight = FontWeight.Bold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Custom modifiers</a:t>
            </a:r>
            <a:endParaRPr/>
          </a:p>
        </p:txBody>
      </p:sp>
      <p:sp>
        <p:nvSpPr>
          <p:cNvPr id="259" name="Google Shape;259;p33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It is relatively easy to create custom modifiers, as extension functions of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Modifier</a:t>
            </a:r>
            <a:r>
              <a:rPr lang="it"/>
              <a:t> interface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framework offers many modifiers that can be combined together in order to provide a custom behavior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custom modifier can leverage on the </a:t>
            </a:r>
            <a:r>
              <a:rPr lang="it"/>
              <a:t>predefined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drawWithContent(…)</a:t>
            </a:r>
            <a:r>
              <a:rPr lang="it"/>
              <a:t> function that allows the developer to draw before or after the layout contents as well as to adjust the layout canvas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Custom modifier</a:t>
            </a:r>
            <a:endParaRPr/>
          </a:p>
        </p:txBody>
      </p:sp>
      <p:sp>
        <p:nvSpPr>
          <p:cNvPr id="266" name="Google Shape;266;p3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399300" y="1155475"/>
            <a:ext cx="8073000" cy="24012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 Modifier.dashedBorder() = this.drawWithContent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outline = RoundedCornerShape(8.dp).createOutline(size, layoutDirection, this)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path = Path().apply { addOutline(outline)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stroke = Stroke(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cap = StrokeCap.Round,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width = 1.dp.toPx(),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pathEffect = PathEffect.dashPathEffect(intervals = floatArrayOf(16.0f, 8.0f))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this.drawContent()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drawPath(path = path, style = stroke, color = Color.Gray)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}.padding(4.dp)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" name="Google Shape;268;p34"/>
          <p:cNvSpPr txBox="1"/>
          <p:nvPr/>
        </p:nvSpPr>
        <p:spPr>
          <a:xfrm>
            <a:off x="399300" y="3801700"/>
            <a:ext cx="5781300" cy="7020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Text(text = "Custom Modifier",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modifier = Modifier.dashedBorder().background(Color.Yellow),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fontSize = 32.sp 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69" name="Google Shape;26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7150" y="3885000"/>
            <a:ext cx="2093650" cy="5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State in composables</a:t>
            </a:r>
            <a:endParaRPr/>
          </a:p>
        </p:txBody>
      </p:sp>
      <p:sp>
        <p:nvSpPr>
          <p:cNvPr id="275" name="Google Shape;275;p35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76" name="Google Shape;276;p35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Composable can be </a:t>
            </a:r>
            <a:r>
              <a:rPr b="1" lang="it">
                <a:solidFill>
                  <a:srgbClr val="0B5394"/>
                </a:solidFill>
              </a:rPr>
              <a:t>stateless</a:t>
            </a:r>
            <a:r>
              <a:rPr lang="it"/>
              <a:t> or </a:t>
            </a:r>
            <a:r>
              <a:rPr b="1" lang="it">
                <a:solidFill>
                  <a:srgbClr val="0B5394"/>
                </a:solidFill>
              </a:rPr>
              <a:t>stateful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Stateless composables emissions are driven only by the parameters they receive: if the function is invoked with the same set of parameters it will produce the same result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Stateful composables encapsulate mutable values which affect both themselves and the composables they invoke: when the values change, a process named </a:t>
            </a:r>
            <a:r>
              <a:rPr b="1" lang="it">
                <a:solidFill>
                  <a:srgbClr val="1E5F9F"/>
                </a:solidFill>
              </a:rPr>
              <a:t>recomposition</a:t>
            </a:r>
            <a:r>
              <a:rPr lang="it"/>
              <a:t> is triggered, possibly re-emitting different interface blocks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Local variables cannot be used to store state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Since their content is lost whenever the function execution terminates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Global variable too are inadequate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Since a single component can be emitted many times and each emission would require its own state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Stateless vs stateful</a:t>
            </a:r>
            <a:endParaRPr/>
          </a:p>
        </p:txBody>
      </p:sp>
      <p:sp>
        <p:nvSpPr>
          <p:cNvPr id="282" name="Google Shape;282;p3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325" y="905150"/>
            <a:ext cx="739934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State, c</a:t>
            </a:r>
            <a:r>
              <a:rPr lang="it"/>
              <a:t>omposition, and recomposition</a:t>
            </a:r>
            <a:endParaRPr/>
          </a:p>
        </p:txBody>
      </p:sp>
      <p:sp>
        <p:nvSpPr>
          <p:cNvPr id="289" name="Google Shape;289;p37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90" name="Google Shape;290;p3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order to create the UI, the Compose framework invokes a composable function and records the set of built-in composables that it emits, together with their nesting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tree view is then built according to the outcoming hierarchy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phase is called </a:t>
            </a:r>
            <a:r>
              <a:rPr b="1" lang="it">
                <a:solidFill>
                  <a:srgbClr val="1E5F9F"/>
                </a:solidFill>
              </a:rPr>
              <a:t>initial composition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When an </a:t>
            </a:r>
            <a:r>
              <a:rPr b="1" lang="it">
                <a:solidFill>
                  <a:srgbClr val="0B5394"/>
                </a:solidFill>
              </a:rPr>
              <a:t>argument</a:t>
            </a:r>
            <a:r>
              <a:rPr lang="it"/>
              <a:t> of a composable function or the </a:t>
            </a:r>
            <a:r>
              <a:rPr b="1" lang="it">
                <a:solidFill>
                  <a:srgbClr val="0B5394"/>
                </a:solidFill>
              </a:rPr>
              <a:t>state</a:t>
            </a:r>
            <a:r>
              <a:rPr lang="it"/>
              <a:t> it based upon changes, the composable function is executed again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effects of its re-invocation replace the portion of view tree that it previously generated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phase is called </a:t>
            </a:r>
            <a:r>
              <a:rPr b="1" lang="it" sz="2100">
                <a:solidFill>
                  <a:srgbClr val="1E5F9F"/>
                </a:solidFill>
              </a:rPr>
              <a:t>recomposition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State, c</a:t>
            </a:r>
            <a:r>
              <a:rPr lang="it"/>
              <a:t>omposition, and recomposition</a:t>
            </a:r>
            <a:endParaRPr/>
          </a:p>
        </p:txBody>
      </p:sp>
      <p:sp>
        <p:nvSpPr>
          <p:cNvPr id="296" name="Google Shape;296;p38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97" name="Google Shape;297;p3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Recomposition skips as many composable functions and lambdas as possible, based on parameters that did not change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Moreover, it is optimistic, expecting input parameters not to change before the recomposition phase ends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 case a change occurs while a recomposition is ongoing, the recomposition is cancelled, the provisional view tree is discarded, and  the whole process is started again</a:t>
            </a:r>
            <a:br>
              <a:rPr lang="it"/>
            </a:br>
            <a:endParaRPr/>
          </a:p>
        </p:txBody>
      </p:sp>
      <p:pic>
        <p:nvPicPr>
          <p:cNvPr descr="Say Hello 👋 to Jetpack Compose and Compare with XML | by Mustafa Yiğit |  Kt. Academy" id="298" name="Google Shape;29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0383" y="3199209"/>
            <a:ext cx="326707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Composable are pure functions</a:t>
            </a:r>
            <a:endParaRPr/>
          </a:p>
        </p:txBody>
      </p:sp>
      <p:sp>
        <p:nvSpPr>
          <p:cNvPr id="304" name="Google Shape;304;p39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05" name="Google Shape;305;p3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Although composables look like “standard” Kotlin functions, in fact they are not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Composable functions are transformed by the compiler into an expanded version, providing an explicit composition context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Composable functions can execute in any order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Compose may take advantage of available cores by running in parallel sibling composables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If a composable function directly invoked any method which has side-effects, those effects could be executed several times, since the framework might call that function from several different threads at the same time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For this reason, any side-effect should be managed via the </a:t>
            </a:r>
            <a:r>
              <a:rPr b="1" lang="it">
                <a:solidFill>
                  <a:srgbClr val="0B5394"/>
                </a:solidFill>
              </a:rPr>
              <a:t>LaunchedEffect</a:t>
            </a:r>
            <a:r>
              <a:rPr lang="it"/>
              <a:t> abstraction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Alternatively, side-effects can be produced by call-back functions, like onClick(…), that always execute in the UI thread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Remembering the state</a:t>
            </a:r>
            <a:endParaRPr/>
          </a:p>
        </p:txBody>
      </p:sp>
      <p:sp>
        <p:nvSpPr>
          <p:cNvPr id="311" name="Google Shape;311;p40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2" name="Google Shape;312;p40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If a composable function is stateful, it must leverage on the framework to keep its state and track its evolution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Whenever a piece of state changes, the component relying on it must be recomposed</a:t>
            </a:r>
            <a:endParaRPr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To this purpose, Compose offers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remember(…)</a:t>
            </a:r>
            <a:r>
              <a:rPr lang="it"/>
              <a:t> function as well as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State&lt;T&gt;</a:t>
            </a:r>
            <a:r>
              <a:rPr lang="it"/>
              <a:t> generic interface (and its derivative,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MutableState&lt;T&gt;</a:t>
            </a:r>
            <a:r>
              <a:rPr lang="it"/>
              <a:t>)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State&lt;T&gt;</a:t>
            </a:r>
            <a:r>
              <a:rPr lang="it"/>
              <a:t> incapsulate a piece of data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remember(…)</a:t>
            </a:r>
            <a:r>
              <a:rPr lang="it"/>
              <a:t> wraps it into a monad tied to the current composable, so that any change to it can be tracked and trigger the recomposition process </a:t>
            </a:r>
            <a:endParaRPr/>
          </a:p>
          <a:p>
            <a:pPr indent="-323850" lvl="1" marL="9144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it">
                <a:solidFill>
                  <a:schemeClr val="dk1"/>
                </a:solidFill>
              </a:rPr>
              <a:t>When the composable that has invoked remember is removed by the composition, the value is forgotten</a:t>
            </a:r>
            <a:r>
              <a:rPr lang="it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This behaviour matches closely the one of the </a:t>
            </a:r>
            <a:r>
              <a:rPr b="1" lang="it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useState&lt;T&gt;(…)</a:t>
            </a:r>
            <a:r>
              <a:rPr lang="it"/>
              <a:t> hook in the React framework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State handling in composables</a:t>
            </a:r>
            <a:endParaRPr/>
          </a:p>
        </p:txBody>
      </p:sp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695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lang="it"/>
              <a:t>There are three equivalent ways to declare 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MutableState</a:t>
            </a:r>
            <a:r>
              <a:rPr lang="it"/>
              <a:t> in a composable</a:t>
            </a:r>
            <a:endParaRPr/>
          </a:p>
          <a:p>
            <a:pPr indent="-316706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1E5F9F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mutableState </a:t>
            </a:r>
            <a:r>
              <a:rPr b="1" lang="it">
                <a:solidFill>
                  <a:srgbClr val="1E5F9F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>
                <a:solidFill>
                  <a:srgbClr val="1E5F9F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remember </a:t>
            </a: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b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                   mutableStateOf( initialValue ) }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16706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1E5F9F"/>
                </a:solidFill>
                <a:highlight>
                  <a:srgbClr val="FF9900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value </a:t>
            </a:r>
            <a:r>
              <a:rPr b="1" lang="it">
                <a:solidFill>
                  <a:srgbClr val="1E5F9F"/>
                </a:solidFill>
                <a:highlight>
                  <a:srgbClr val="FF99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>
                <a:solidFill>
                  <a:srgbClr val="1E5F9F"/>
                </a:solidFill>
                <a:highlight>
                  <a:srgbClr val="FF9900"/>
                </a:highlight>
                <a:latin typeface="Consolas"/>
                <a:ea typeface="Consolas"/>
                <a:cs typeface="Consolas"/>
                <a:sym typeface="Consolas"/>
              </a:rPr>
              <a:t>by </a:t>
            </a: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remember </a:t>
            </a: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b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                   mutableStateOf( initialValue ) }</a:t>
            </a:r>
            <a:r>
              <a:rPr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-316706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b="1" lang="it">
                <a:solidFill>
                  <a:srgbClr val="1E5F9F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(value, setValue) </a:t>
            </a:r>
            <a:r>
              <a:rPr b="1" lang="it">
                <a:solidFill>
                  <a:srgbClr val="1E5F9F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>
                <a:solidFill>
                  <a:srgbClr val="1E5F9F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remember</a:t>
            </a: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{ </a:t>
            </a:r>
            <a:b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                   mutableStateOf( initialValue ) }</a:t>
            </a:r>
            <a:endParaRPr b="1"/>
          </a:p>
          <a:p>
            <a:pPr indent="-3695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lang="it"/>
              <a:t>The remembered value can be used as a parameter for other composables</a:t>
            </a:r>
            <a:endParaRPr/>
          </a:p>
          <a:p>
            <a:pPr indent="-316706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Or can be used to trigger conditional composition, by changing it</a:t>
            </a:r>
            <a:endParaRPr/>
          </a:p>
          <a:p>
            <a:pPr indent="-36957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Char char="•"/>
            </a:pPr>
            <a:r>
              <a:rPr lang="it"/>
              <a:t>Changes 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MutableState</a:t>
            </a:r>
            <a:r>
              <a:rPr lang="it"/>
              <a:t> should only occur in the main thread</a:t>
            </a:r>
            <a:endParaRPr/>
          </a:p>
          <a:p>
            <a:pPr indent="-316706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Typically inside callbacks</a:t>
            </a:r>
            <a:endParaRPr/>
          </a:p>
          <a:p>
            <a:pPr indent="-316706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3750"/>
              <a:buChar char="○"/>
            </a:pPr>
            <a:r>
              <a:rPr lang="it"/>
              <a:t>Setter methods cannot be invoked during the composition or recomposition phases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Managing the state</a:t>
            </a:r>
            <a:r>
              <a:rPr lang="it"/>
              <a:t> </a:t>
            </a:r>
            <a:endParaRPr/>
          </a:p>
        </p:txBody>
      </p:sp>
      <p:sp>
        <p:nvSpPr>
          <p:cNvPr id="325" name="Google Shape;325;p4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2"/>
          <p:cNvSpPr txBox="1"/>
          <p:nvPr/>
        </p:nvSpPr>
        <p:spPr>
          <a:xfrm>
            <a:off x="569904" y="820585"/>
            <a:ext cx="8044200" cy="38568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fun ExpandableBlock(title: String, body:String)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val (</a:t>
            </a:r>
            <a:r>
              <a:rPr b="1" i="0" lang="it" sz="1200" u="none" cap="none" strike="noStrike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expanded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i="0" lang="it" sz="1200" u="none" cap="none" strike="noStrike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setExpanded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= remember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mutableStateOf(false)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val b = if(expanded) "\u25b2" else "\u25bc"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Column(Modifier.padding(8.dp))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Row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Text(text = title,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style = MaterialTheme.typography.h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eadlineLarge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modifier = Modifier.weight(1f) 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OutlinedButton(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onClick = </a:t>
            </a:r>
            <a:r>
              <a:rPr b="1" i="0" lang="it" sz="1200" u="none" cap="none" strike="noStrike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{ setExpanded(!expanded) }</a:t>
            </a:r>
            <a:endParaRPr b="1"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) { Text(b)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if (</a:t>
            </a:r>
            <a:r>
              <a:rPr b="1" i="0" lang="it" sz="1200" u="none" cap="none" strike="noStrike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expanded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{ Text(body, Modifier.padding(top = 8.dp))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209" y="1759280"/>
            <a:ext cx="3125913" cy="464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4896" y="1876118"/>
            <a:ext cx="858108" cy="8581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" name="Google Shape;334;p43"/>
          <p:cNvCxnSpPr>
            <a:stCxn id="333" idx="1"/>
          </p:cNvCxnSpPr>
          <p:nvPr/>
        </p:nvCxnSpPr>
        <p:spPr>
          <a:xfrm>
            <a:off x="3784896" y="2305172"/>
            <a:ext cx="1050300" cy="941700"/>
          </a:xfrm>
          <a:prstGeom prst="curvedConnector4">
            <a:avLst>
              <a:gd fmla="val -21766" name="adj1"/>
              <a:gd fmla="val 72778" name="adj2"/>
            </a:avLst>
          </a:prstGeom>
          <a:noFill/>
          <a:ln cap="flat" cmpd="sng" w="25400">
            <a:solidFill>
              <a:schemeClr val="dk1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335" name="Google Shape;335;p43"/>
          <p:cNvCxnSpPr>
            <a:stCxn id="336" idx="0"/>
            <a:endCxn id="332" idx="3"/>
          </p:cNvCxnSpPr>
          <p:nvPr/>
        </p:nvCxnSpPr>
        <p:spPr>
          <a:xfrm flipH="1" rot="5400000">
            <a:off x="4687080" y="1530279"/>
            <a:ext cx="1268700" cy="2190900"/>
          </a:xfrm>
          <a:prstGeom prst="curvedConnector2">
            <a:avLst/>
          </a:prstGeom>
          <a:noFill/>
          <a:ln cap="flat" cmpd="sng" w="25400">
            <a:solidFill>
              <a:schemeClr val="dk1"/>
            </a:solidFill>
            <a:prstDash val="dot"/>
            <a:round/>
            <a:headEnd len="sm" w="sm" type="none"/>
            <a:tailEnd len="med" w="med" type="triangle"/>
          </a:ln>
        </p:spPr>
      </p:cxnSp>
      <p:pic>
        <p:nvPicPr>
          <p:cNvPr id="337" name="Google Shape;33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3823" y="3260074"/>
            <a:ext cx="3163377" cy="1151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7826" y="3260079"/>
            <a:ext cx="858108" cy="85810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Managing the state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Managing the state</a:t>
            </a:r>
            <a:endParaRPr/>
          </a:p>
        </p:txBody>
      </p:sp>
      <p:sp>
        <p:nvSpPr>
          <p:cNvPr id="344" name="Google Shape;344;p4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4"/>
          <p:cNvSpPr txBox="1"/>
          <p:nvPr/>
        </p:nvSpPr>
        <p:spPr>
          <a:xfrm>
            <a:off x="569904" y="820585"/>
            <a:ext cx="8044200" cy="38568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fun ExpandableBlock(title: String, body:String) 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 val (expanded, setExpand) = remember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    mutableStateOf(false)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val b = if(</a:t>
            </a:r>
            <a:r>
              <a:rPr i="0" lang="it" sz="1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expanded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"\u25b2" else "\u25bc"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Column(Modifier.padding(8.dp))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Row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Text(text = title,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style = MaterialTheme.typography.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headlineLarge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modifier = Modifier.weight(1f) 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OutlinedButton(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onClick = { </a:t>
            </a:r>
            <a:r>
              <a:rPr i="0" lang="it" sz="1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setExpand(!expanded)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) { Text(b)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if (</a:t>
            </a:r>
            <a:r>
              <a:rPr i="0" lang="it" sz="1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expanded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{ Text(body, Modifier.padding(top = 8.dp))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6" name="Google Shape;346;p44"/>
          <p:cNvSpPr/>
          <p:nvPr/>
        </p:nvSpPr>
        <p:spPr>
          <a:xfrm>
            <a:off x="3953912" y="1867711"/>
            <a:ext cx="4349700" cy="1408200"/>
          </a:xfrm>
          <a:prstGeom prst="wedgeRectCallout">
            <a:avLst>
              <a:gd fmla="val -58430" name="adj1"/>
              <a:gd fmla="val -76329" name="adj2"/>
            </a:avLst>
          </a:prstGeom>
          <a:gradFill>
            <a:gsLst>
              <a:gs pos="0">
                <a:srgbClr val="9FD2FF"/>
              </a:gs>
              <a:gs pos="35000">
                <a:srgbClr val="BADFFF"/>
              </a:gs>
              <a:gs pos="100000">
                <a:srgbClr val="E2F0FF"/>
              </a:gs>
            </a:gsLst>
            <a:lin ang="16200038" scaled="0"/>
          </a:gradFill>
          <a:ln cap="flat" cmpd="sng" w="9525">
            <a:solidFill>
              <a:srgbClr val="5C99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state handling logic</a:t>
            </a:r>
            <a:endParaRPr sz="12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composable functions must be idempotent and free of side-effects, local state is managed via the </a:t>
            </a:r>
            <a:r>
              <a:rPr b="1" i="0" lang="it" u="none" cap="none" strike="noStrike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remember</a:t>
            </a:r>
            <a:r>
              <a:rPr b="0" i="0" lang="it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composable: it stores a value in memory during the initial composition and returns it during recomposition</a:t>
            </a:r>
            <a:endParaRPr sz="1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3750"/>
              <a:buNone/>
            </a:pPr>
            <a:r>
              <a:rPr lang="it"/>
              <a:t>Managing the state</a:t>
            </a:r>
            <a:endParaRPr/>
          </a:p>
        </p:txBody>
      </p:sp>
      <p:sp>
        <p:nvSpPr>
          <p:cNvPr id="352" name="Google Shape;352;p4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5"/>
          <p:cNvSpPr txBox="1"/>
          <p:nvPr/>
        </p:nvSpPr>
        <p:spPr>
          <a:xfrm>
            <a:off x="569904" y="820585"/>
            <a:ext cx="8044200" cy="38568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fun ExpandableBlock(title: String, body:String) 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val (expanded, setExpand) = remember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mutableStateOf(false)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val b = if(expanded) "\u25b2" else "\u25bc"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Column(Modifier.padding(8.dp))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Row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Text(text = title,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style = MaterialTheme.typography.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headlineLarge</a:t>
            </a: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modifier = Modifier.weight(1f) 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OutlinedButton(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onClick = { setExpand(!expanded)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) { Text(b)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0" lang="it" sz="1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if (expanded) { Text(body, Modifier.padding(top = 8.dp))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2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45"/>
          <p:cNvSpPr/>
          <p:nvPr/>
        </p:nvSpPr>
        <p:spPr>
          <a:xfrm>
            <a:off x="3978626" y="2172245"/>
            <a:ext cx="4349700" cy="784800"/>
          </a:xfrm>
          <a:prstGeom prst="wedgeRectCallout">
            <a:avLst>
              <a:gd fmla="val -60125" name="adj1"/>
              <a:gd fmla="val 181455" name="adj2"/>
            </a:avLst>
          </a:prstGeom>
          <a:gradFill>
            <a:gsLst>
              <a:gs pos="0">
                <a:srgbClr val="9FD2FF"/>
              </a:gs>
              <a:gs pos="35000">
                <a:srgbClr val="BADFFF"/>
              </a:gs>
              <a:gs pos="100000">
                <a:srgbClr val="E2F0FF"/>
              </a:gs>
            </a:gsLst>
            <a:lin ang="16200038" scaled="0"/>
          </a:gradFill>
          <a:ln cap="flat" cmpd="sng" w="9525">
            <a:solidFill>
              <a:srgbClr val="5C99C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Conditional composition</a:t>
            </a:r>
            <a:endParaRPr sz="12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it" sz="1200">
                <a:solidFill>
                  <a:schemeClr val="dk1"/>
                </a:solidFill>
              </a:rPr>
              <a:t>ased on the current state, different components may be emitted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Input widgets </a:t>
            </a:r>
            <a:endParaRPr/>
          </a:p>
        </p:txBody>
      </p:sp>
      <p:sp>
        <p:nvSpPr>
          <p:cNvPr id="360" name="Google Shape;360;p4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1" name="Google Shape;361;p46"/>
          <p:cNvSpPr txBox="1"/>
          <p:nvPr>
            <p:ph idx="1" type="body"/>
          </p:nvPr>
        </p:nvSpPr>
        <p:spPr>
          <a:xfrm>
            <a:off x="311150" y="1244202"/>
            <a:ext cx="8521800" cy="143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Most input widgets are stateful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They require as </a:t>
            </a:r>
            <a:r>
              <a:rPr lang="it"/>
              <a:t>parameters</a:t>
            </a:r>
            <a:r>
              <a:rPr lang="it"/>
              <a:t> the present value and a callback to notify of any change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These values are easily derived from a remembered MutableState (if the state is local to composable) or received </a:t>
            </a:r>
            <a:r>
              <a:rPr lang="it"/>
              <a:t>as an argument from the invoking composable</a:t>
            </a:r>
            <a:endParaRPr/>
          </a:p>
        </p:txBody>
      </p:sp>
      <p:sp>
        <p:nvSpPr>
          <p:cNvPr id="362" name="Google Shape;362;p46"/>
          <p:cNvSpPr txBox="1"/>
          <p:nvPr/>
        </p:nvSpPr>
        <p:spPr>
          <a:xfrm>
            <a:off x="505131" y="2479975"/>
            <a:ext cx="5322600" cy="22164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fun InputPane(onOk: (v:String)-&gt;Unit)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val (data, setData) = remember { mutableStateOf("")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Row(Modifier.fillMaxWidth().padding(8.dp))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TextField(</a:t>
            </a:r>
            <a:r>
              <a:rPr lang="it" sz="1200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value = data, onValueChange = setData,</a:t>
            </a:r>
            <a:endParaRPr sz="1200"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  modifier = Modifier.weight(1f))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Spacer(modifier = Modifier.width(8.dp))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Button(onClick = { onOk(data) }) { Text("Ok")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3" name="Google Shape;36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813" y="3306900"/>
            <a:ext cx="3667125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Button widgets</a:t>
            </a:r>
            <a:endParaRPr/>
          </a:p>
        </p:txBody>
      </p:sp>
      <p:sp>
        <p:nvSpPr>
          <p:cNvPr id="369" name="Google Shape;369;p4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70" name="Google Shape;370;p47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Buttons are amongst the simplest input </a:t>
            </a:r>
            <a:r>
              <a:rPr lang="it"/>
              <a:t>component: they allow the user to trigger an action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Button(...)</a:t>
            </a:r>
            <a:r>
              <a:rPr lang="it"/>
              <a:t> classic button with solid background: used for primary actions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FilledTonalButton(...)</a:t>
            </a:r>
            <a:r>
              <a:rPr lang="it">
                <a:solidFill>
                  <a:schemeClr val="dk1"/>
                </a:solidFill>
              </a:rPr>
              <a:t> lighter background: used for significant actions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ElevatedButton(...)</a:t>
            </a:r>
            <a:r>
              <a:rPr lang="it">
                <a:solidFill>
                  <a:schemeClr val="dk1"/>
                </a:solidFill>
              </a:rPr>
              <a:t> cast a shadow to appear prominent: also for significant actions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OutlinedButton(...)</a:t>
            </a:r>
            <a:r>
              <a:rPr lang="it">
                <a:solidFill>
                  <a:schemeClr val="dk1"/>
                </a:solidFill>
              </a:rPr>
              <a:t> has a border but no fill: used for less important actions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TextButton(...)</a:t>
            </a:r>
            <a:r>
              <a:rPr lang="it">
                <a:solidFill>
                  <a:schemeClr val="dk1"/>
                </a:solidFill>
              </a:rPr>
              <a:t> no background or border: used for secondary actions</a:t>
            </a:r>
            <a:endParaRPr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All variations requires the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it">
                <a:solidFill>
                  <a:schemeClr val="dk1"/>
                </a:solidFill>
              </a:rPr>
              <a:t> parameter that specifies the action to execute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71" name="Google Shape;371;p47"/>
          <p:cNvPicPr preferRelativeResize="0"/>
          <p:nvPr/>
        </p:nvPicPr>
        <p:blipFill rotWithShape="1">
          <a:blip r:embed="rId3">
            <a:alphaModFix/>
          </a:blip>
          <a:srcRect b="22183" l="3818" r="3717" t="20966"/>
          <a:stretch/>
        </p:blipFill>
        <p:spPr>
          <a:xfrm>
            <a:off x="2136050" y="3859275"/>
            <a:ext cx="5088949" cy="6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Input widgets</a:t>
            </a:r>
            <a:endParaRPr/>
          </a:p>
        </p:txBody>
      </p:sp>
      <p:sp>
        <p:nvSpPr>
          <p:cNvPr id="377" name="Google Shape;377;p4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78" name="Google Shape;378;p48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Switch(...)</a:t>
            </a:r>
            <a:r>
              <a:rPr lang="it"/>
              <a:t> allows users to toggle between two states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requires two mandatory parameters: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checked</a:t>
            </a:r>
            <a:r>
              <a:rPr lang="it"/>
              <a:t>, the specifies its current state, and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onCheckedChange</a:t>
            </a:r>
            <a:r>
              <a:rPr lang="it"/>
              <a:t>, a callback that is invoked upon user interaction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Slider(...)</a:t>
            </a:r>
            <a:r>
              <a:rPr lang="it">
                <a:solidFill>
                  <a:schemeClr val="dk1"/>
                </a:solidFill>
              </a:rPr>
              <a:t> allows users to select a value in a given range</a:t>
            </a:r>
            <a:endParaRPr>
              <a:solidFill>
                <a:schemeClr val="dk1"/>
              </a:solidFill>
            </a:endParaRPr>
          </a:p>
          <a:p>
            <a:pPr indent="-3302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Again, two mandatory parameters are required: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it"/>
              <a:t> and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onValueChange</a:t>
            </a:r>
            <a:r>
              <a:rPr lang="it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RangeSlider(...)</a:t>
            </a:r>
            <a:r>
              <a:rPr lang="it">
                <a:solidFill>
                  <a:schemeClr val="dk1"/>
                </a:solidFill>
              </a:rPr>
              <a:t> allows users to select two values in a given range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The two values are dealt with as 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ClosedFloatingPointRange&lt;Float&gt;</a:t>
            </a:r>
            <a:r>
              <a:rPr lang="it">
                <a:solidFill>
                  <a:schemeClr val="dk1"/>
                </a:solidFill>
              </a:rPr>
              <a:t> object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79" name="Google Shape;37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9875" y="1264342"/>
            <a:ext cx="1673825" cy="366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9737" y="2264306"/>
            <a:ext cx="1673825" cy="17123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8"/>
          <p:cNvSpPr txBox="1"/>
          <p:nvPr/>
        </p:nvSpPr>
        <p:spPr>
          <a:xfrm>
            <a:off x="374800" y="3529300"/>
            <a:ext cx="5774700" cy="1108200"/>
          </a:xfrm>
          <a:prstGeom prst="rect">
            <a:avLst/>
          </a:prstGeom>
          <a:solidFill>
            <a:srgbClr val="FFFDC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val (value, setValue) = remember { mutableStateOf(0.0f..100f)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RangeSlider(value = value, onValueChange = setValue,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steps =  9, valueRange = 0f..100f,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        modifier = Modifier.padding(horizontal = 16.dp)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2" name="Google Shape;382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7375" y="3932679"/>
            <a:ext cx="2286323" cy="201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State hoisting</a:t>
            </a:r>
            <a:endParaRPr/>
          </a:p>
        </p:txBody>
      </p:sp>
      <p:sp>
        <p:nvSpPr>
          <p:cNvPr id="388" name="Google Shape;388;p4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89" name="Google Shape;389;p49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If a component encapsulates some state, it can only affect the component itself or its children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Provided that the state or any derivative of it is forwarded, as a parameter, to them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If an action happening in a component must affect any of its </a:t>
            </a:r>
            <a:r>
              <a:rPr lang="it"/>
              <a:t>siblings</a:t>
            </a:r>
            <a:r>
              <a:rPr lang="it"/>
              <a:t> or ancestors, the corresponding state should be </a:t>
            </a:r>
            <a:r>
              <a:rPr lang="it"/>
              <a:t>hoisted</a:t>
            </a:r>
            <a:r>
              <a:rPr lang="it"/>
              <a:t> to highest composable encompassing all the elements to be affected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Such a state and its mutator(s) must then be propagated downwards to any descendant needing it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Such a propagation might encompass several intermediate elements, which would receive some parameters only to forward them to their own children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0"/>
          <p:cNvSpPr/>
          <p:nvPr/>
        </p:nvSpPr>
        <p:spPr>
          <a:xfrm rot="-5400000">
            <a:off x="6801800" y="1642750"/>
            <a:ext cx="2802600" cy="1441800"/>
          </a:xfrm>
          <a:prstGeom prst="bentUpArrow">
            <a:avLst>
              <a:gd fmla="val 7316" name="adj1"/>
              <a:gd fmla="val 8514" name="adj2"/>
              <a:gd fmla="val 18037" name="adj3"/>
            </a:avLst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Unidirectional data flow</a:t>
            </a:r>
            <a:endParaRPr/>
          </a:p>
        </p:txBody>
      </p:sp>
      <p:sp>
        <p:nvSpPr>
          <p:cNvPr id="396" name="Google Shape;396;p5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97" name="Google Shape;397;p50"/>
          <p:cNvSpPr txBox="1"/>
          <p:nvPr>
            <p:ph idx="1" type="body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269999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it" sz="1800"/>
              <a:t>Compose applications favors the unidirectional data flow pattern</a:t>
            </a:r>
            <a:endParaRPr sz="1800"/>
          </a:p>
          <a:p>
            <a:pPr indent="-292100" lvl="1" marL="540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sz="1600"/>
              <a:t>State is maintained in the topmost part of the visual tree, and </a:t>
            </a:r>
            <a:r>
              <a:rPr lang="it" sz="1600"/>
              <a:t>descends towards the leaves</a:t>
            </a:r>
            <a:endParaRPr sz="1600"/>
          </a:p>
          <a:p>
            <a:pPr indent="-292100" lvl="1" marL="540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sz="1600"/>
              <a:t>User interactions cause event to be raised in those leaves</a:t>
            </a:r>
            <a:endParaRPr sz="1600"/>
          </a:p>
          <a:p>
            <a:pPr indent="-292100" lvl="1" marL="540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sz="1600"/>
              <a:t>Events are propagated upwards, until they reach the place where the state is kept</a:t>
            </a:r>
            <a:endParaRPr sz="1600"/>
          </a:p>
          <a:p>
            <a:pPr indent="-292100" lvl="1" marL="540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sz="1600"/>
              <a:t>This causes the state to be updated</a:t>
            </a:r>
            <a:endParaRPr sz="1600"/>
          </a:p>
        </p:txBody>
      </p:sp>
      <p:sp>
        <p:nvSpPr>
          <p:cNvPr id="398" name="Google Shape;398;p50"/>
          <p:cNvSpPr/>
          <p:nvPr/>
        </p:nvSpPr>
        <p:spPr>
          <a:xfrm>
            <a:off x="5666151" y="1613975"/>
            <a:ext cx="13131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Column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0"/>
          <p:cNvSpPr/>
          <p:nvPr/>
        </p:nvSpPr>
        <p:spPr>
          <a:xfrm>
            <a:off x="6572923" y="2559150"/>
            <a:ext cx="13131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Row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0"/>
          <p:cNvSpPr/>
          <p:nvPr/>
        </p:nvSpPr>
        <p:spPr>
          <a:xfrm>
            <a:off x="5909576" y="3504325"/>
            <a:ext cx="13131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TextInput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0"/>
          <p:cNvSpPr/>
          <p:nvPr/>
        </p:nvSpPr>
        <p:spPr>
          <a:xfrm>
            <a:off x="7306034" y="3504325"/>
            <a:ext cx="13131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Button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0"/>
          <p:cNvSpPr/>
          <p:nvPr/>
        </p:nvSpPr>
        <p:spPr>
          <a:xfrm>
            <a:off x="4877999" y="2559150"/>
            <a:ext cx="13131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Image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3" name="Google Shape;403;p50"/>
          <p:cNvCxnSpPr>
            <a:stCxn id="398" idx="2"/>
            <a:endCxn id="402" idx="0"/>
          </p:cNvCxnSpPr>
          <p:nvPr/>
        </p:nvCxnSpPr>
        <p:spPr>
          <a:xfrm rot="5400000">
            <a:off x="5652801" y="1889375"/>
            <a:ext cx="551700" cy="788100"/>
          </a:xfrm>
          <a:prstGeom prst="bentConnector3">
            <a:avLst>
              <a:gd fmla="val 4998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4" name="Google Shape;404;p50"/>
          <p:cNvCxnSpPr>
            <a:stCxn id="398" idx="2"/>
            <a:endCxn id="399" idx="0"/>
          </p:cNvCxnSpPr>
          <p:nvPr/>
        </p:nvCxnSpPr>
        <p:spPr>
          <a:xfrm flipH="1" rot="-5400000">
            <a:off x="6500301" y="1829975"/>
            <a:ext cx="551700" cy="906900"/>
          </a:xfrm>
          <a:prstGeom prst="bentConnector3">
            <a:avLst>
              <a:gd fmla="val 4998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50"/>
          <p:cNvCxnSpPr>
            <a:stCxn id="399" idx="2"/>
            <a:endCxn id="401" idx="0"/>
          </p:cNvCxnSpPr>
          <p:nvPr/>
        </p:nvCxnSpPr>
        <p:spPr>
          <a:xfrm flipH="1" rot="-5400000">
            <a:off x="7320223" y="2862000"/>
            <a:ext cx="551700" cy="733200"/>
          </a:xfrm>
          <a:prstGeom prst="bentConnector3">
            <a:avLst>
              <a:gd fmla="val 4998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50"/>
          <p:cNvCxnSpPr>
            <a:stCxn id="399" idx="2"/>
            <a:endCxn id="400" idx="0"/>
          </p:cNvCxnSpPr>
          <p:nvPr/>
        </p:nvCxnSpPr>
        <p:spPr>
          <a:xfrm rot="5400000">
            <a:off x="6621973" y="2896950"/>
            <a:ext cx="551700" cy="663300"/>
          </a:xfrm>
          <a:prstGeom prst="bentConnector3">
            <a:avLst>
              <a:gd fmla="val 4998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7" name="Google Shape;407;p50"/>
          <p:cNvSpPr txBox="1"/>
          <p:nvPr/>
        </p:nvSpPr>
        <p:spPr>
          <a:xfrm>
            <a:off x="8619125" y="2248950"/>
            <a:ext cx="510300" cy="2520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/>
          </a:p>
        </p:txBody>
      </p:sp>
      <p:sp>
        <p:nvSpPr>
          <p:cNvPr id="408" name="Google Shape;408;p50"/>
          <p:cNvSpPr/>
          <p:nvPr/>
        </p:nvSpPr>
        <p:spPr>
          <a:xfrm>
            <a:off x="6509700" y="869500"/>
            <a:ext cx="1002000" cy="449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State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0"/>
          <p:cNvSpPr/>
          <p:nvPr/>
        </p:nvSpPr>
        <p:spPr>
          <a:xfrm rot="10800000">
            <a:off x="4458300" y="1067625"/>
            <a:ext cx="2051400" cy="2721000"/>
          </a:xfrm>
          <a:prstGeom prst="bentUpArrow">
            <a:avLst>
              <a:gd fmla="val 4571" name="adj1"/>
              <a:gd fmla="val 6349" name="adj2"/>
              <a:gd fmla="val 10768" name="adj3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0"/>
          <p:cNvSpPr txBox="1"/>
          <p:nvPr/>
        </p:nvSpPr>
        <p:spPr>
          <a:xfrm>
            <a:off x="4329450" y="2228325"/>
            <a:ext cx="510300" cy="2520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1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Styling</a:t>
            </a:r>
            <a:r>
              <a:rPr lang="it"/>
              <a:t> composables</a:t>
            </a:r>
            <a:endParaRPr/>
          </a:p>
        </p:txBody>
      </p:sp>
      <p:sp>
        <p:nvSpPr>
          <p:cNvPr id="416" name="Google Shape;416;p51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17" name="Google Shape;417;p51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Compose has been designed to provide components that match the styling guidelines described at </a:t>
            </a:r>
            <a:r>
              <a:rPr lang="it" u="sng">
                <a:solidFill>
                  <a:schemeClr val="hlink"/>
                </a:solidFill>
                <a:hlinkClick r:id="rId3"/>
              </a:rPr>
              <a:t>m3.material.io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is the most recent version of the style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All elements in this group can be styled via Material Theming, a systematic way to customize colors, typography and shapes to reflect a product’s brand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 special composable, </a:t>
            </a:r>
            <a:r>
              <a:rPr b="1" lang="it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MaterialTheme(…)</a:t>
            </a:r>
            <a:r>
              <a:rPr lang="it"/>
              <a:t>, allows to set these features, according to the designer’s will, providing an easy support for both light and dark variations of the theme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2"/>
          <p:cNvSpPr txBox="1"/>
          <p:nvPr>
            <p:ph type="title"/>
          </p:nvPr>
        </p:nvSpPr>
        <p:spPr>
          <a:xfrm>
            <a:off x="311700" y="139638"/>
            <a:ext cx="8520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Learning more</a:t>
            </a:r>
            <a:endParaRPr/>
          </a:p>
        </p:txBody>
      </p:sp>
      <p:sp>
        <p:nvSpPr>
          <p:cNvPr id="423" name="Google Shape;423;p52"/>
          <p:cNvSpPr txBox="1"/>
          <p:nvPr>
            <p:ph idx="12" type="sldNum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24" name="Google Shape;424;p52"/>
          <p:cNvSpPr txBox="1"/>
          <p:nvPr>
            <p:ph idx="1" type="body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Under the hood of Jetpack Compose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https://medium.com/androiddevelopers/understanding-jetpack-compose-part-1-of-2-ca316fe39050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https://medium.com/androiddevelopers/under-the-hood-of-jetpack-compose-part-2-of-2-37b2c20c6cdd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Jetpack Compose State Guideline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u="sng">
                <a:solidFill>
                  <a:schemeClr val="hlink"/>
                </a:solidFill>
                <a:hlinkClick r:id="rId5"/>
              </a:rPr>
              <a:t>https://medium.com/@takahirom/jetpack-compose-state-guideline-494d467b6e76</a:t>
            </a:r>
            <a:r>
              <a:rPr lang="it"/>
              <a:t>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Jetpack Compose: MVVM State management in a simple way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u="sng">
                <a:solidFill>
                  <a:schemeClr val="hlink"/>
                </a:solidFill>
                <a:hlinkClick r:id="rId6"/>
              </a:rPr>
              <a:t>https://blog.canopas.com/jetpack-compose-mvvm-state-management-in-a-simple-way-4c632fa6f554</a:t>
            </a:r>
            <a:r>
              <a:rPr lang="it"/>
              <a:t>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React to Jetpack Compose RC Dictionary</a:t>
            </a:r>
            <a:endParaRPr/>
          </a:p>
          <a:p>
            <a:pPr indent="-32385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u="sng">
                <a:solidFill>
                  <a:schemeClr val="hlink"/>
                </a:solidFill>
                <a:hlinkClick r:id="rId7"/>
              </a:rPr>
              <a:t>https://tigeroakes.com/posts/react-to-compose-dictionary/</a:t>
            </a:r>
            <a:r>
              <a:rPr lang="it"/>
              <a:t> </a:t>
            </a:r>
            <a:endParaRPr/>
          </a:p>
        </p:txBody>
      </p:sp>
      <p:pic>
        <p:nvPicPr>
          <p:cNvPr id="425" name="Google Shape;425;p52"/>
          <p:cNvPicPr preferRelativeResize="0"/>
          <p:nvPr/>
        </p:nvPicPr>
        <p:blipFill rotWithShape="1">
          <a:blip r:embed="rId8">
            <a:alphaModFix/>
          </a:blip>
          <a:srcRect b="18805" l="17234" r="17234" t="18799"/>
          <a:stretch/>
        </p:blipFill>
        <p:spPr>
          <a:xfrm>
            <a:off x="7771925" y="156614"/>
            <a:ext cx="1249224" cy="1189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