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2aab929d9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g2aab929d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2abe235ca8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8" name="Google Shape;38;g2abe235ca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g2abe235ca80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abe235ca8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2abe235ca80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abe235ca8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2abe235ca80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abe235ca80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abe235ca80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abe235ca80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abe235ca80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abe235ca80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abe235ca80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abe235ca80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abe235ca80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abe235ca8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2abe235ca80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abe235ca8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2abe235ca80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abe235ca8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2abe235ca80_0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abe235ca8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2abe235ca80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abe235ca8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2abe235ca80_0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abe235ca8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2abe235ca80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abe235ca8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2abe235ca80_0_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abe235ca80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2abe235ca80_0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abe235ca8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2abe235ca80_0_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abe235ca80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2abe235ca80_0_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abe235ca80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2abe235ca80_0_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abe235ca80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2abe235ca80_0_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abe235ca8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2abe235ca80_0_1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abe235ca80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abe235ca80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abe235ca80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abe235ca80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abefd950ab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abefd950ab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abefe10b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abefe10b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abefe10b0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abefe10b0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abefe10b0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abefe10b0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abefe10b0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abefe10b0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abefe10b0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abefe10b0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abefe10b0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abefe10b0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abefe10b0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abefe10b0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aab929d93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aab929d9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○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3200" y="1152475"/>
            <a:ext cx="39999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17500" lvl="1" marL="914400">
              <a:spcBef>
                <a:spcPts val="3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17500" lvl="1" marL="914400">
              <a:spcBef>
                <a:spcPts val="3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787168"/>
            <a:ext cx="9144000" cy="35633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1019175" y="4806045"/>
            <a:ext cx="6677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100">
                <a:solidFill>
                  <a:schemeClr val="lt1"/>
                </a:solidFill>
              </a:rPr>
              <a:t>© G. Malnati, A. Rabino, 2021-24</a:t>
            </a:r>
            <a:endParaRPr i="1" sz="1100">
              <a:solidFill>
                <a:schemeClr val="lt1"/>
              </a:solidFill>
            </a:endParaRPr>
          </a:p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Font typeface="Calibri"/>
              <a:buChar char="○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4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medium.com/android-beginners/mvvm-with-kotlin-coroutines-and-retrofit-example-d3f5f3b09050" TargetMode="External"/><Relationship Id="rId4" Type="http://schemas.openxmlformats.org/officeDocument/2006/relationships/hyperlink" Target="https://medium.com/@amitshekhar/retrofit-with-kotlin-flow-1eb1e47182b1" TargetMode="External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ctrTitle"/>
          </p:nvPr>
        </p:nvSpPr>
        <p:spPr>
          <a:xfrm>
            <a:off x="311708" y="15827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4800"/>
              <a:t>The data layer</a:t>
            </a:r>
            <a:endParaRPr sz="4800"/>
          </a:p>
        </p:txBody>
      </p:sp>
      <p:sp>
        <p:nvSpPr>
          <p:cNvPr id="34" name="Google Shape;34;p7"/>
          <p:cNvSpPr txBox="1"/>
          <p:nvPr>
            <p:ph idx="1" type="subTitle"/>
          </p:nvPr>
        </p:nvSpPr>
        <p:spPr>
          <a:xfrm>
            <a:off x="311700" y="3672325"/>
            <a:ext cx="8520600" cy="79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it"/>
              <a:t>2023-24</a:t>
            </a:r>
            <a:endParaRPr/>
          </a:p>
        </p:txBody>
      </p:sp>
      <p:pic>
        <p:nvPicPr>
          <p:cNvPr id="35" name="Google Shape;3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2325" y="589025"/>
            <a:ext cx="1539351" cy="1539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2" name="Google Shape;42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Models</a:t>
            </a:r>
            <a:endParaRPr/>
          </a:p>
        </p:txBody>
      </p:sp>
      <p:sp>
        <p:nvSpPr>
          <p:cNvPr id="43" name="Google Shape;43;p8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model abstraction is responsible for implementing the application logic and persisting the application state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It is further divided into several sub-components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</a:t>
            </a:r>
            <a:r>
              <a:rPr b="1" lang="it">
                <a:solidFill>
                  <a:srgbClr val="0B5394"/>
                </a:solidFill>
              </a:rPr>
              <a:t>Business Logic</a:t>
            </a:r>
            <a:r>
              <a:rPr lang="it"/>
              <a:t> (a.k.a. </a:t>
            </a:r>
            <a:r>
              <a:rPr b="1" lang="it">
                <a:solidFill>
                  <a:srgbClr val="0B5394"/>
                </a:solidFill>
              </a:rPr>
              <a:t>Domain Model</a:t>
            </a:r>
            <a:r>
              <a:rPr lang="it"/>
              <a:t>) implements the application business logic and relies on local and/or remote </a:t>
            </a:r>
            <a:r>
              <a:rPr lang="it">
                <a:solidFill>
                  <a:schemeClr val="dk1"/>
                </a:solidFill>
              </a:rPr>
              <a:t>data sources to maintain the application state 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</a:t>
            </a:r>
            <a:r>
              <a:rPr b="1" lang="it">
                <a:solidFill>
                  <a:srgbClr val="0B5394"/>
                </a:solidFill>
              </a:rPr>
              <a:t>Remote Data Source</a:t>
            </a:r>
            <a:r>
              <a:rPr b="1" lang="it">
                <a:solidFill>
                  <a:srgbClr val="0070C0"/>
                </a:solidFill>
              </a:rPr>
              <a:t> </a:t>
            </a:r>
            <a:r>
              <a:rPr lang="it"/>
              <a:t>contains the code necessary to access a remote server, that usually represents the primary information source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</a:t>
            </a:r>
            <a:r>
              <a:rPr b="1" lang="it">
                <a:solidFill>
                  <a:srgbClr val="0B5394"/>
                </a:solidFill>
              </a:rPr>
              <a:t>Local Data Source</a:t>
            </a:r>
            <a:r>
              <a:rPr lang="it"/>
              <a:t> contains the code necessary to persist and retrieve the application state from the local storage (often a DBMS), which can either be the only source of information (for stand-alone apps) or be a cache of the remote server, used when the app is disconnected from the network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9" name="Google Shape;49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Models</a:t>
            </a:r>
            <a:endParaRPr/>
          </a:p>
        </p:txBody>
      </p:sp>
      <p:sp>
        <p:nvSpPr>
          <p:cNvPr id="50" name="Google Shape;50;p9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Models are independent from Views and any other Android component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They are isolated from the complex components lifecycle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Managing separately the UI code from the application logic makes it easier to maintain the app and enables testing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Data managed from the model should have a neutral representation, driven only by the domain requirements </a:t>
            </a:r>
            <a:endParaRPr/>
          </a:p>
          <a:p>
            <a:pPr indent="-21272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Although the information contained inside mimics the one stored in the database or in the remote server, it should not reflect the details imposed by such technologies</a:t>
            </a:r>
            <a:endParaRPr/>
          </a:p>
          <a:p>
            <a:pPr indent="-21272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Data coming from the remote server is usually denoted as DTOs - Data Transfer Objects</a:t>
            </a:r>
            <a:endParaRPr/>
          </a:p>
          <a:p>
            <a:pPr indent="-21272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Data coming from the local database is denoted as Entities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6" name="Google Shape;5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Asynchronous updates</a:t>
            </a:r>
            <a:endParaRPr/>
          </a:p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Model state may evolve as a consequence of different reasons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Some may be local to the app, some are remote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In most cases, these updates are asynchronous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They may happen at any time, possibly conflicting with the evolution of the components' lifecycle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In order to react to state changes, models can provide their contents as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LiveData&lt;T&gt;</a:t>
            </a:r>
            <a:r>
              <a:rPr lang="it"/>
              <a:t> objects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Alternatively</a:t>
            </a:r>
            <a:r>
              <a:rPr lang="it"/>
              <a:t>, they must propagate data updates via call-backs to the ViewModel (taking care not to store permanent 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Kotlin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Flow&lt;T&gt;</a:t>
            </a:r>
            <a:r>
              <a:rPr lang="it"/>
              <a:t> abstractions or RxJava observables may also be used to this purpose (more on these in a later lecture) 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3" name="Google Shape;63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Long running operations</a:t>
            </a:r>
            <a:endParaRPr/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Whether the data layer is implemented locally or remotely, operating on it may require a noticeable amount of time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Some of the operations may even block the invoker thread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Android forbids long running operations from being executed on the main thread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If this is happening, the application may be killed by the OS reporting an Application Not Responding (ANR) error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This means that the model should be invoked on a different thread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Usually the ViewModel must take care of this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This can be significantly simplified by using the Kotlin coroutine libraries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70" name="Google Shape;70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Model architecture</a:t>
            </a:r>
            <a:endParaRPr/>
          </a:p>
        </p:txBody>
      </p:sp>
      <p:sp>
        <p:nvSpPr>
          <p:cNvPr id="71" name="Google Shape;71;p12"/>
          <p:cNvSpPr/>
          <p:nvPr/>
        </p:nvSpPr>
        <p:spPr>
          <a:xfrm>
            <a:off x="1358100" y="1820726"/>
            <a:ext cx="6427800" cy="1926000"/>
          </a:xfrm>
          <a:prstGeom prst="rect">
            <a:avLst/>
          </a:prstGeom>
          <a:noFill/>
          <a:ln cap="flat" cmpd="sng" w="19050">
            <a:solidFill>
              <a:srgbClr val="595959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2"/>
          <p:cNvSpPr/>
          <p:nvPr/>
        </p:nvSpPr>
        <p:spPr>
          <a:xfrm>
            <a:off x="3411600" y="1203275"/>
            <a:ext cx="2320800" cy="351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99999"/>
                </a:solidFill>
              </a:rPr>
              <a:t>ViewModel</a:t>
            </a:r>
            <a:endParaRPr>
              <a:solidFill>
                <a:srgbClr val="999999"/>
              </a:solidFill>
            </a:endParaRPr>
          </a:p>
        </p:txBody>
      </p:sp>
      <p:grpSp>
        <p:nvGrpSpPr>
          <p:cNvPr id="73" name="Google Shape;73;p12"/>
          <p:cNvGrpSpPr/>
          <p:nvPr/>
        </p:nvGrpSpPr>
        <p:grpSpPr>
          <a:xfrm>
            <a:off x="3705000" y="1987405"/>
            <a:ext cx="1734000" cy="632400"/>
            <a:chOff x="3705000" y="2216005"/>
            <a:chExt cx="1734000" cy="632400"/>
          </a:xfrm>
        </p:grpSpPr>
        <p:grpSp>
          <p:nvGrpSpPr>
            <p:cNvPr id="74" name="Google Shape;74;p12"/>
            <p:cNvGrpSpPr/>
            <p:nvPr/>
          </p:nvGrpSpPr>
          <p:grpSpPr>
            <a:xfrm>
              <a:off x="3958150" y="2686875"/>
              <a:ext cx="1227700" cy="161400"/>
              <a:chOff x="3976725" y="2686875"/>
              <a:chExt cx="1227700" cy="161400"/>
            </a:xfrm>
          </p:grpSpPr>
          <p:sp>
            <p:nvSpPr>
              <p:cNvPr id="75" name="Google Shape;75;p12"/>
              <p:cNvSpPr/>
              <p:nvPr/>
            </p:nvSpPr>
            <p:spPr>
              <a:xfrm>
                <a:off x="3976725" y="2686875"/>
                <a:ext cx="191700" cy="1614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12"/>
              <p:cNvSpPr/>
              <p:nvPr/>
            </p:nvSpPr>
            <p:spPr>
              <a:xfrm>
                <a:off x="5012725" y="2686875"/>
                <a:ext cx="191700" cy="1614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" name="Google Shape;77;p12"/>
            <p:cNvSpPr/>
            <p:nvPr/>
          </p:nvSpPr>
          <p:spPr>
            <a:xfrm>
              <a:off x="3705000" y="2216005"/>
              <a:ext cx="1734000" cy="632400"/>
            </a:xfrm>
            <a:prstGeom prst="roundRect">
              <a:avLst>
                <a:gd fmla="val 16667" name="adj"/>
              </a:avLst>
            </a:prstGeom>
            <a:solidFill>
              <a:srgbClr val="FFF2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/>
                <a:t>Business Logic</a:t>
              </a:r>
              <a:endParaRPr/>
            </a:p>
          </p:txBody>
        </p:sp>
      </p:grpSp>
      <p:grpSp>
        <p:nvGrpSpPr>
          <p:cNvPr id="78" name="Google Shape;78;p12"/>
          <p:cNvGrpSpPr/>
          <p:nvPr/>
        </p:nvGrpSpPr>
        <p:grpSpPr>
          <a:xfrm>
            <a:off x="1920699" y="2952913"/>
            <a:ext cx="2186780" cy="632400"/>
            <a:chOff x="366725" y="4368725"/>
            <a:chExt cx="1797600" cy="790500"/>
          </a:xfrm>
        </p:grpSpPr>
        <p:sp>
          <p:nvSpPr>
            <p:cNvPr id="79" name="Google Shape;79;p12"/>
            <p:cNvSpPr/>
            <p:nvPr/>
          </p:nvSpPr>
          <p:spPr>
            <a:xfrm>
              <a:off x="366725" y="4368725"/>
              <a:ext cx="1797600" cy="790500"/>
            </a:xfrm>
            <a:prstGeom prst="roundRect">
              <a:avLst>
                <a:gd fmla="val 16667" name="adj"/>
              </a:avLst>
            </a:prstGeom>
            <a:solidFill>
              <a:srgbClr val="B4A7D6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solidFill>
                    <a:srgbClr val="000000"/>
                  </a:solidFill>
                </a:rPr>
                <a:t>Local </a:t>
              </a:r>
              <a:br>
                <a:rPr lang="it">
                  <a:solidFill>
                    <a:srgbClr val="000000"/>
                  </a:solidFill>
                </a:rPr>
              </a:br>
              <a:r>
                <a:rPr lang="it">
                  <a:solidFill>
                    <a:srgbClr val="000000"/>
                  </a:solidFill>
                </a:rPr>
                <a:t>Data </a:t>
              </a:r>
              <a:br>
                <a:rPr lang="it">
                  <a:solidFill>
                    <a:srgbClr val="000000"/>
                  </a:solidFill>
                </a:rPr>
              </a:br>
              <a:r>
                <a:rPr lang="it">
                  <a:solidFill>
                    <a:srgbClr val="000000"/>
                  </a:solidFill>
                </a:rPr>
                <a:t>Source</a:t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80" name="Google Shape;80;p12"/>
            <p:cNvSpPr/>
            <p:nvPr/>
          </p:nvSpPr>
          <p:spPr>
            <a:xfrm>
              <a:off x="1105925" y="4624346"/>
              <a:ext cx="921300" cy="285000"/>
            </a:xfrm>
            <a:prstGeom prst="roundRect">
              <a:avLst>
                <a:gd fmla="val 16667" name="adj"/>
              </a:avLst>
            </a:prstGeom>
            <a:solidFill>
              <a:srgbClr val="D9D2E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300"/>
                <a:t>Room</a:t>
              </a:r>
              <a:endParaRPr sz="1200"/>
            </a:p>
          </p:txBody>
        </p:sp>
      </p:grpSp>
      <p:grpSp>
        <p:nvGrpSpPr>
          <p:cNvPr id="81" name="Google Shape;81;p12"/>
          <p:cNvGrpSpPr/>
          <p:nvPr/>
        </p:nvGrpSpPr>
        <p:grpSpPr>
          <a:xfrm>
            <a:off x="5036597" y="2952913"/>
            <a:ext cx="2186700" cy="632400"/>
            <a:chOff x="366725" y="4368725"/>
            <a:chExt cx="2186700" cy="790500"/>
          </a:xfrm>
        </p:grpSpPr>
        <p:sp>
          <p:nvSpPr>
            <p:cNvPr id="82" name="Google Shape;82;p12"/>
            <p:cNvSpPr/>
            <p:nvPr/>
          </p:nvSpPr>
          <p:spPr>
            <a:xfrm>
              <a:off x="366725" y="4368725"/>
              <a:ext cx="2186700" cy="790500"/>
            </a:xfrm>
            <a:prstGeom prst="roundRect">
              <a:avLst>
                <a:gd fmla="val 16667" name="adj"/>
              </a:avLst>
            </a:prstGeom>
            <a:solidFill>
              <a:srgbClr val="F9CB9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solidFill>
                    <a:srgbClr val="000000"/>
                  </a:solidFill>
                </a:rPr>
                <a:t>Remote </a:t>
              </a:r>
              <a:br>
                <a:rPr lang="it">
                  <a:solidFill>
                    <a:srgbClr val="000000"/>
                  </a:solidFill>
                </a:rPr>
              </a:br>
              <a:r>
                <a:rPr lang="it">
                  <a:solidFill>
                    <a:srgbClr val="000000"/>
                  </a:solidFill>
                </a:rPr>
                <a:t>Data </a:t>
              </a:r>
              <a:br>
                <a:rPr lang="it">
                  <a:solidFill>
                    <a:srgbClr val="000000"/>
                  </a:solidFill>
                </a:rPr>
              </a:br>
              <a:r>
                <a:rPr lang="it">
                  <a:solidFill>
                    <a:srgbClr val="000000"/>
                  </a:solidFill>
                </a:rPr>
                <a:t>Source</a:t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>
              <a:off x="573286" y="4616935"/>
              <a:ext cx="921300" cy="285000"/>
            </a:xfrm>
            <a:prstGeom prst="roundRect">
              <a:avLst>
                <a:gd fmla="val 16667" name="adj"/>
              </a:avLst>
            </a:prstGeom>
            <a:solidFill>
              <a:srgbClr val="FCE5C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300"/>
                <a:t>Retrofit</a:t>
              </a:r>
              <a:endParaRPr sz="1200"/>
            </a:p>
          </p:txBody>
        </p:sp>
      </p:grpSp>
      <p:sp>
        <p:nvSpPr>
          <p:cNvPr id="84" name="Google Shape;84;p12"/>
          <p:cNvSpPr/>
          <p:nvPr/>
        </p:nvSpPr>
        <p:spPr>
          <a:xfrm>
            <a:off x="2785363" y="3906188"/>
            <a:ext cx="1178400" cy="449700"/>
          </a:xfrm>
          <a:prstGeom prst="can">
            <a:avLst>
              <a:gd fmla="val 25000" name="adj"/>
            </a:avLst>
          </a:prstGeom>
          <a:solidFill>
            <a:srgbClr val="674EA7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FFFFFF"/>
                </a:solidFill>
              </a:rPr>
              <a:t>SQLite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5" name="Google Shape;85;p12"/>
          <p:cNvSpPr/>
          <p:nvPr/>
        </p:nvSpPr>
        <p:spPr>
          <a:xfrm>
            <a:off x="4664574" y="3960769"/>
            <a:ext cx="2086128" cy="393660"/>
          </a:xfrm>
          <a:prstGeom prst="cloud">
            <a:avLst/>
          </a:prstGeom>
          <a:solidFill>
            <a:srgbClr val="B45F06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FFFFFF"/>
                </a:solidFill>
              </a:rPr>
              <a:t>Network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86" name="Google Shape;86;p12"/>
          <p:cNvCxnSpPr>
            <a:stCxn id="72" idx="2"/>
            <a:endCxn id="77" idx="0"/>
          </p:cNvCxnSpPr>
          <p:nvPr/>
        </p:nvCxnSpPr>
        <p:spPr>
          <a:xfrm>
            <a:off x="4572000" y="1555175"/>
            <a:ext cx="0" cy="432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" name="Google Shape;87;p12"/>
          <p:cNvCxnSpPr>
            <a:stCxn id="77" idx="1"/>
            <a:endCxn id="79" idx="0"/>
          </p:cNvCxnSpPr>
          <p:nvPr/>
        </p:nvCxnSpPr>
        <p:spPr>
          <a:xfrm flipH="1">
            <a:off x="3014100" y="2303605"/>
            <a:ext cx="690900" cy="649200"/>
          </a:xfrm>
          <a:prstGeom prst="bentConnector2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2"/>
          <p:cNvCxnSpPr>
            <a:stCxn id="77" idx="3"/>
            <a:endCxn id="82" idx="0"/>
          </p:cNvCxnSpPr>
          <p:nvPr/>
        </p:nvCxnSpPr>
        <p:spPr>
          <a:xfrm>
            <a:off x="5439000" y="2303605"/>
            <a:ext cx="690900" cy="649200"/>
          </a:xfrm>
          <a:prstGeom prst="bentConnector2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p12"/>
          <p:cNvCxnSpPr>
            <a:stCxn id="80" idx="2"/>
            <a:endCxn id="84" idx="1"/>
          </p:cNvCxnSpPr>
          <p:nvPr/>
        </p:nvCxnSpPr>
        <p:spPr>
          <a:xfrm flipH="1">
            <a:off x="3374617" y="3385410"/>
            <a:ext cx="5700" cy="52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" name="Google Shape;90;p12"/>
          <p:cNvCxnSpPr>
            <a:stCxn id="83" idx="2"/>
            <a:endCxn id="85" idx="3"/>
          </p:cNvCxnSpPr>
          <p:nvPr/>
        </p:nvCxnSpPr>
        <p:spPr>
          <a:xfrm>
            <a:off x="5703808" y="3379481"/>
            <a:ext cx="3900" cy="603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" name="Google Shape;91;p12"/>
          <p:cNvSpPr txBox="1"/>
          <p:nvPr/>
        </p:nvSpPr>
        <p:spPr>
          <a:xfrm>
            <a:off x="6742800" y="1849598"/>
            <a:ext cx="104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">
                <a:latin typeface="Calibri"/>
                <a:ea typeface="Calibri"/>
                <a:cs typeface="Calibri"/>
                <a:sym typeface="Calibri"/>
              </a:rPr>
              <a:t>Model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12"/>
          <p:cNvCxnSpPr>
            <a:endCxn id="93" idx="1"/>
          </p:cNvCxnSpPr>
          <p:nvPr/>
        </p:nvCxnSpPr>
        <p:spPr>
          <a:xfrm flipH="1" rot="10800000">
            <a:off x="389212" y="4084388"/>
            <a:ext cx="522600" cy="1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" name="Google Shape;94;p12"/>
          <p:cNvCxnSpPr>
            <a:endCxn id="95" idx="1"/>
          </p:cNvCxnSpPr>
          <p:nvPr/>
        </p:nvCxnSpPr>
        <p:spPr>
          <a:xfrm flipH="1" rot="10800000">
            <a:off x="385312" y="4358942"/>
            <a:ext cx="526500" cy="6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93" name="Google Shape;93;p12"/>
          <p:cNvSpPr txBox="1"/>
          <p:nvPr/>
        </p:nvSpPr>
        <p:spPr>
          <a:xfrm>
            <a:off x="911812" y="3884288"/>
            <a:ext cx="11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2"/>
          <p:cNvSpPr txBox="1"/>
          <p:nvPr/>
        </p:nvSpPr>
        <p:spPr>
          <a:xfrm>
            <a:off x="911812" y="4158842"/>
            <a:ext cx="11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>
                <a:latin typeface="Calibri"/>
                <a:ea typeface="Calibri"/>
                <a:cs typeface="Calibri"/>
                <a:sym typeface="Calibri"/>
              </a:rPr>
              <a:t>notifies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12"/>
          <p:cNvCxnSpPr>
            <a:stCxn id="97" idx="0"/>
          </p:cNvCxnSpPr>
          <p:nvPr/>
        </p:nvCxnSpPr>
        <p:spPr>
          <a:xfrm rot="10800000">
            <a:off x="4877525" y="15648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97" name="Google Shape;97;p12"/>
          <p:cNvSpPr/>
          <p:nvPr/>
        </p:nvSpPr>
        <p:spPr>
          <a:xfrm>
            <a:off x="4410125" y="2022000"/>
            <a:ext cx="934800" cy="198000"/>
          </a:xfrm>
          <a:prstGeom prst="roundRect">
            <a:avLst>
              <a:gd fmla="val 16667" name="adj"/>
            </a:avLst>
          </a:prstGeom>
          <a:solidFill>
            <a:srgbClr val="FFFF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/>
              <a:t>Observable</a:t>
            </a:r>
            <a:endParaRPr sz="1000"/>
          </a:p>
        </p:txBody>
      </p:sp>
      <p:cxnSp>
        <p:nvCxnSpPr>
          <p:cNvPr id="98" name="Google Shape;98;p12"/>
          <p:cNvCxnSpPr>
            <a:stCxn id="80" idx="0"/>
            <a:endCxn id="75" idx="2"/>
          </p:cNvCxnSpPr>
          <p:nvPr/>
        </p:nvCxnSpPr>
        <p:spPr>
          <a:xfrm rot="-5400000">
            <a:off x="3448417" y="2551710"/>
            <a:ext cx="537600" cy="673800"/>
          </a:xfrm>
          <a:prstGeom prst="bentConnector3">
            <a:avLst>
              <a:gd fmla="val 50013" name="adj1"/>
            </a:avLst>
          </a:prstGeom>
          <a:noFill/>
          <a:ln cap="flat" cmpd="sng" w="19050">
            <a:solidFill>
              <a:srgbClr val="980000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2"/>
          <p:cNvCxnSpPr>
            <a:stCxn id="83" idx="0"/>
            <a:endCxn id="76" idx="2"/>
          </p:cNvCxnSpPr>
          <p:nvPr/>
        </p:nvCxnSpPr>
        <p:spPr>
          <a:xfrm flipH="1" rot="5400000">
            <a:off x="5130958" y="2578631"/>
            <a:ext cx="531900" cy="613800"/>
          </a:xfrm>
          <a:prstGeom prst="bentConnector3">
            <a:avLst>
              <a:gd fmla="val 49991" name="adj1"/>
            </a:avLst>
          </a:prstGeom>
          <a:noFill/>
          <a:ln cap="flat" cmpd="sng" w="19050">
            <a:solidFill>
              <a:srgbClr val="980000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Implementing the model</a:t>
            </a:r>
            <a:endParaRPr/>
          </a:p>
        </p:txBody>
      </p:sp>
      <p:sp>
        <p:nvSpPr>
          <p:cNvPr id="105" name="Google Shape;105;p1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6" name="Google Shape;106;p13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The business logic class exposes a set of methods that corresponds to the actions the user can perform in the various application use cases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Depending on how the data layer is implemented (only locally, only remotely, both locally and remotely), these actions may contain more or less logic 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Model also encompasses tasks such as data conversion, filtering, merging, and sorting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It transforms the raw data received from the data layer into a processed format that is convenient and manageable for the presentation layer to handle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Implementing the local data layer</a:t>
            </a:r>
            <a:endParaRPr/>
          </a:p>
        </p:txBody>
      </p:sp>
      <p:sp>
        <p:nvSpPr>
          <p:cNvPr id="112" name="Google Shape;112;p1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If an application has to operate offline, it must be in charge of guaranteeing data persistence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This can be achieved by saving information in raw files 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Or leveraging on a DBMS, if there is a larger amounts of data or they need to be stored in a more structured manner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Android natively support the SQLite DBMS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It uses a single file in the local application filesystem to store all the tables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However, directly accessing its APIs may be </a:t>
            </a:r>
            <a:r>
              <a:rPr lang="it"/>
              <a:t>inconvenient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Since they provide no compile-time verification of raw SQL queries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And also </a:t>
            </a:r>
            <a:r>
              <a:rPr lang="it"/>
              <a:t>because of the amount of boilerplate code that must be provided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Room Persistence Library</a:t>
            </a:r>
            <a:endParaRPr/>
          </a:p>
        </p:txBody>
      </p:sp>
      <p:sp>
        <p:nvSpPr>
          <p:cNvPr id="120" name="Google Shape;120;p15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</a:t>
            </a:r>
            <a:r>
              <a:rPr lang="it"/>
              <a:t>Room library provides an abstraction layer over SQLite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It is an ORM (Object-to-Relational Mapping) library provided by Google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Required Gradle dependencies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89625" y="2494238"/>
            <a:ext cx="7701000" cy="20781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dependencies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val room_version = "2.6.1"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implementation("androidx.room:room-runtime:$room_version")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annotationProcessor("androidx.room:room-compiler:$room_version")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kapt("androidx.room:room-compiler:$room_version")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optional - Kotlin Extensions and Coroutines support for Room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implementation("androidx.room:room-ktx:$room_version")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Room-compiler</a:t>
            </a:r>
            <a:endParaRPr/>
          </a:p>
        </p:txBody>
      </p:sp>
      <p:sp>
        <p:nvSpPr>
          <p:cNvPr id="128" name="Google Shape;128;p16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Annotation processor that operates in the Gradle build pipeline and generates Java code starting from your annotated classes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Useful when dealing with domain specific languages, DSL’s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Butterknife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Dagger	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http://hannesdorfmann.com/annotation-processing/annotationprocessing101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34" name="Google Shape;13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Room – overview</a:t>
            </a:r>
            <a:endParaRPr/>
          </a:p>
        </p:txBody>
      </p:sp>
      <p:pic>
        <p:nvPicPr>
          <p:cNvPr id="135" name="Google Shape;13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1338" y="931638"/>
            <a:ext cx="4101324" cy="3704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41" name="Google Shape;14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Components of Room</a:t>
            </a:r>
            <a:endParaRPr/>
          </a:p>
        </p:txBody>
      </p:sp>
      <p:sp>
        <p:nvSpPr>
          <p:cNvPr id="142" name="Google Shape;142;p18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Database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Contains the database holder and represents the main entry point to access the persisted relational data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Entity classes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Each of them represents a single table within the database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Their instances represent single rows in a table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DAOs – Data Access Objects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Helper interface that declares the methods that will be used to access a table in the DB (it will be implemented by the Room Annotation Processor)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48" name="Google Shape;14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Components - Database</a:t>
            </a:r>
            <a:endParaRPr/>
          </a:p>
        </p:txBody>
      </p:sp>
      <p:sp>
        <p:nvSpPr>
          <p:cNvPr id="149" name="Google Shape;149;p19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Abstract class that extends class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RoomDatabase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Annotated with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@Database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annotation should list all the entities referred to by the DAO objects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It must contain abstract methods with no arguments  that returns the DAO instances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It may also contain a static method for DB creation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Database instances must be singletons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Sample Entity class</a:t>
            </a:r>
            <a:endParaRPr/>
          </a:p>
        </p:txBody>
      </p:sp>
      <p:sp>
        <p:nvSpPr>
          <p:cNvPr id="155" name="Google Shape;155;p20"/>
          <p:cNvSpPr txBox="1"/>
          <p:nvPr>
            <p:ph idx="4294967295" type="body"/>
          </p:nvPr>
        </p:nvSpPr>
        <p:spPr>
          <a:xfrm>
            <a:off x="822960" y="1242997"/>
            <a:ext cx="7498200" cy="27678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825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it" sz="14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@Entity(tableName = "users")</a:t>
            </a:r>
            <a:b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4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4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4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b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it" sz="14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@PrimaryKey(autoGenerate = true)</a:t>
            </a:r>
            <a:b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it" sz="14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val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4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id: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4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0,</a:t>
            </a:r>
            <a:b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it" sz="14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@ColumnInfo</a:t>
            </a: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400" u="none" cap="none" strike="noStrike">
                <a:solidFill>
                  <a:srgbClr val="880000"/>
                </a:solidFill>
                <a:latin typeface="Consolas"/>
                <a:ea typeface="Consolas"/>
                <a:cs typeface="Consolas"/>
                <a:sym typeface="Consolas"/>
              </a:rPr>
              <a:t>"first_name"</a:t>
            </a: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it" sz="14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val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firstName: </a:t>
            </a:r>
            <a:r>
              <a:rPr b="0" i="0" lang="it" sz="14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it" sz="14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@ColumnInfo</a:t>
            </a: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400" u="none" cap="none" strike="noStrike">
                <a:solidFill>
                  <a:srgbClr val="880000"/>
                </a:solidFill>
                <a:latin typeface="Consolas"/>
                <a:ea typeface="Consolas"/>
                <a:cs typeface="Consolas"/>
                <a:sym typeface="Consolas"/>
              </a:rPr>
              <a:t>"last_name"</a:t>
            </a: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it" sz="14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val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lastName</a:t>
            </a: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it" sz="14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b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Sample DAO interface</a:t>
            </a:r>
            <a:endParaRPr/>
          </a:p>
        </p:txBody>
      </p:sp>
      <p:sp>
        <p:nvSpPr>
          <p:cNvPr id="162" name="Google Shape;162;p21"/>
          <p:cNvSpPr txBox="1"/>
          <p:nvPr>
            <p:ph idx="4294967295" type="body"/>
          </p:nvPr>
        </p:nvSpPr>
        <p:spPr>
          <a:xfrm>
            <a:off x="822910" y="1042055"/>
            <a:ext cx="7498200" cy="36018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Arial"/>
              <a:buNone/>
            </a:pPr>
            <a:r>
              <a:rPr b="0" i="0" lang="it" sz="11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@Dao</a:t>
            </a:r>
            <a:b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interface </a:t>
            </a:r>
            <a:r>
              <a:rPr b="0" i="0" lang="it" sz="11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UserDao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it" sz="11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@Query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it" sz="1100" u="none" cap="none" strike="noStrike">
                <a:solidFill>
                  <a:srgbClr val="880000"/>
                </a:solidFill>
                <a:latin typeface="Consolas"/>
                <a:ea typeface="Consolas"/>
                <a:cs typeface="Consolas"/>
                <a:sym typeface="Consolas"/>
              </a:rPr>
              <a:t>"SELECT * FROM users"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fun getAll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() : </a:t>
            </a:r>
            <a:r>
              <a:rPr b="0" i="0" lang="it" sz="11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LiveData&lt;List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it" sz="11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&gt;&gt;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100" u="none" cap="none" strike="noStrike">
              <a:solidFill>
                <a:srgbClr val="6666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it" sz="11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@Query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it" sz="1100" u="none" cap="none" strike="noStrike">
                <a:solidFill>
                  <a:srgbClr val="880000"/>
                </a:solidFill>
                <a:latin typeface="Consolas"/>
                <a:ea typeface="Consolas"/>
                <a:cs typeface="Consolas"/>
                <a:sym typeface="Consolas"/>
              </a:rPr>
              <a:t>"SELECT * FROM user WHERE uid IN (:userIds)"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fun loadAllByIds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userIds: List&lt;Int&gt;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): </a:t>
            </a:r>
            <a:r>
              <a:rPr b="0" i="0" lang="it" sz="11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LiveData&lt;List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it" sz="11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&gt;&gt;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1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it" sz="11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@Query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it" sz="1100" u="none" cap="none" strike="noStrike">
                <a:solidFill>
                  <a:srgbClr val="880000"/>
                </a:solidFill>
                <a:latin typeface="Consolas"/>
                <a:ea typeface="Consolas"/>
                <a:cs typeface="Consolas"/>
                <a:sym typeface="Consolas"/>
              </a:rPr>
              <a:t>"SELECT * FROM user WHERE first_name LIKE :first AND "</a:t>
            </a:r>
            <a:b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100" u="none" cap="none" strike="noStrike">
                <a:solidFill>
                  <a:srgbClr val="880000"/>
                </a:solidFill>
                <a:latin typeface="Consolas"/>
                <a:ea typeface="Consolas"/>
                <a:cs typeface="Consolas"/>
                <a:sym typeface="Consolas"/>
              </a:rPr>
              <a:t>"last_name LIKE :last LIMIT 1"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fun findByName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first: </a:t>
            </a:r>
            <a:r>
              <a:rPr b="0" i="0" lang="it" sz="11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last: </a:t>
            </a:r>
            <a:r>
              <a:rPr b="0" i="0" lang="it" sz="11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): </a:t>
            </a:r>
            <a:r>
              <a:rPr b="0" i="0" lang="it" sz="11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b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1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it" sz="11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@Insert(onConflict = REPLACE)</a:t>
            </a:r>
            <a:b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it" sz="11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fun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save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user: </a:t>
            </a:r>
            <a:r>
              <a:rPr b="0" i="0" lang="it" sz="11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  //</a:t>
            </a:r>
            <a:r>
              <a:rPr b="0" i="0" lang="it" sz="11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@Update  //NOT NEEDED because of the REPLACE on the above method</a:t>
            </a:r>
            <a:b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//</a:t>
            </a:r>
            <a:r>
              <a:rPr b="0" i="0" lang="it" sz="11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fun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update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user: </a:t>
            </a:r>
            <a:r>
              <a:rPr b="0" i="0" lang="it" sz="11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1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it" sz="11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@Delete</a:t>
            </a:r>
            <a:b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it" sz="11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fun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1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delete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user: </a:t>
            </a:r>
            <a:r>
              <a:rPr b="0" i="0" lang="it" sz="11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0" i="0" lang="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64" name="Google Shape;164;p21"/>
          <p:cNvSpPr/>
          <p:nvPr/>
        </p:nvSpPr>
        <p:spPr>
          <a:xfrm>
            <a:off x="0" y="7481"/>
            <a:ext cx="0" cy="3279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587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1"/>
          <p:cNvSpPr/>
          <p:nvPr/>
        </p:nvSpPr>
        <p:spPr>
          <a:xfrm>
            <a:off x="0" y="7481"/>
            <a:ext cx="0" cy="3279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587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Database class </a:t>
            </a:r>
            <a:endParaRPr/>
          </a:p>
        </p:txBody>
      </p:sp>
      <p:sp>
        <p:nvSpPr>
          <p:cNvPr id="171" name="Google Shape;171;p22"/>
          <p:cNvSpPr txBox="1"/>
          <p:nvPr>
            <p:ph idx="4294967295" type="body"/>
          </p:nvPr>
        </p:nvSpPr>
        <p:spPr>
          <a:xfrm>
            <a:off x="1435608" y="3698192"/>
            <a:ext cx="74982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 sz="2400"/>
              <a:t>Db access </a:t>
            </a:r>
            <a:r>
              <a:rPr lang="it" sz="2400">
                <a:solidFill>
                  <a:srgbClr val="FF0000"/>
                </a:solidFill>
              </a:rPr>
              <a:t>must</a:t>
            </a:r>
            <a:r>
              <a:rPr lang="it" sz="2400"/>
              <a:t> be performed in a secondary thread otherwise Android will stop your application</a:t>
            </a:r>
            <a:endParaRPr/>
          </a:p>
        </p:txBody>
      </p:sp>
      <p:sp>
        <p:nvSpPr>
          <p:cNvPr id="172" name="Google Shape;172;p2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73" name="Google Shape;173;p22"/>
          <p:cNvSpPr/>
          <p:nvPr/>
        </p:nvSpPr>
        <p:spPr>
          <a:xfrm>
            <a:off x="0" y="7481"/>
            <a:ext cx="0" cy="3279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587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0" y="7481"/>
            <a:ext cx="0" cy="3279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587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2"/>
          <p:cNvSpPr/>
          <p:nvPr/>
        </p:nvSpPr>
        <p:spPr>
          <a:xfrm>
            <a:off x="0" y="7481"/>
            <a:ext cx="0" cy="3279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587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588650" y="954100"/>
            <a:ext cx="7966800" cy="37404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600"/>
              <a:buFont typeface="Noto Sans Symbols"/>
              <a:buNone/>
            </a:pPr>
            <a:r>
              <a:rPr b="0" i="0" lang="it" sz="12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@Database</a:t>
            </a:r>
            <a:r>
              <a:rPr b="0"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entities </a:t>
            </a:r>
            <a:r>
              <a:rPr b="0"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it" sz="12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b="0"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b="0" i="0" lang="it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r>
              <a:rPr b="0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version </a:t>
            </a:r>
            <a:r>
              <a:rPr b="0"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2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0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abstract</a:t>
            </a:r>
            <a:r>
              <a:rPr b="0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2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UserDatabase</a:t>
            </a:r>
            <a:r>
              <a:rPr b="0" i="0" lang="it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2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RoomDatabase()</a:t>
            </a:r>
            <a:r>
              <a:rPr b="0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b="0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it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abstract</a:t>
            </a:r>
            <a:r>
              <a:rPr b="0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fun userDao</a:t>
            </a:r>
            <a:r>
              <a:rPr b="0"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(): </a:t>
            </a:r>
            <a:r>
              <a:rPr b="0" i="0" lang="it" sz="12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UserDao</a:t>
            </a:r>
            <a:endParaRPr b="0" i="0" sz="1200" u="none" cap="none" strike="noStrike">
              <a:solidFill>
                <a:srgbClr val="6600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1600"/>
              <a:buFont typeface="Noto Sans Symbols"/>
              <a:buNone/>
            </a:pPr>
            <a:r>
              <a:t/>
            </a:r>
            <a:endParaRPr sz="1200">
              <a:solidFill>
                <a:srgbClr val="6600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1600"/>
              <a:buFont typeface="Noto Sans Symbols"/>
              <a:buNone/>
            </a:pPr>
            <a:r>
              <a:rPr b="0" i="0" lang="it" sz="12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it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companion object {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7B84"/>
              </a:buClr>
              <a:buSzPts val="1600"/>
              <a:buFont typeface="Noto Sans Symbols"/>
              <a:buNone/>
            </a:pPr>
            <a:r>
              <a:rPr lang="it" sz="1200">
                <a:solidFill>
                  <a:srgbClr val="417B8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200" u="none" cap="none" strike="noStrike">
                <a:solidFill>
                  <a:srgbClr val="417B84"/>
                </a:solidFill>
                <a:latin typeface="Consolas"/>
                <a:ea typeface="Consolas"/>
                <a:cs typeface="Consolas"/>
                <a:sym typeface="Consolas"/>
              </a:rPr>
              <a:t>       @Volatile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88"/>
              </a:buClr>
              <a:buSzPts val="1600"/>
              <a:buFont typeface="Noto Sans Symbols"/>
              <a:buNone/>
            </a:pPr>
            <a:r>
              <a:rPr b="0" i="0" lang="it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        private var INSTANCE: </a:t>
            </a:r>
            <a:r>
              <a:rPr b="0" i="0" lang="it" sz="12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UserDatabase?</a:t>
            </a:r>
            <a:r>
              <a:rPr b="0" i="0" lang="it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 = null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88"/>
              </a:buClr>
              <a:buSzPts val="1600"/>
              <a:buFont typeface="Noto Sans Symbols"/>
              <a:buNone/>
            </a:pPr>
            <a:r>
              <a:rPr b="0" i="0" lang="it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        fun getDatabase(context: </a:t>
            </a:r>
            <a:r>
              <a:rPr b="0" i="0" lang="it" sz="12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Context</a:t>
            </a:r>
            <a:r>
              <a:rPr b="0" i="0" lang="it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): </a:t>
            </a:r>
            <a:r>
              <a:rPr b="0" i="0" lang="it" sz="12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UserDatabase</a:t>
            </a:r>
            <a:r>
              <a:rPr b="0" i="0" lang="it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 =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88"/>
              </a:buClr>
              <a:buSzPts val="1600"/>
              <a:buFont typeface="Noto Sans Symbols"/>
              <a:buNone/>
            </a:pPr>
            <a:r>
              <a:rPr b="0" i="0" lang="it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            (INSTANCE ?: synchronized(this) {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88"/>
              </a:buClr>
              <a:buSzPts val="1600"/>
              <a:buFont typeface="Noto Sans Symbols"/>
              <a:buNone/>
            </a:pPr>
            <a:r>
              <a:rPr b="0" i="0" lang="it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                val i = INSTANCE ?: Room.databaseBuilder(context.applicationContext,</a:t>
            </a:r>
            <a:br>
              <a:rPr b="0" i="0" lang="it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                          UserDatabase::class.java,</a:t>
            </a:r>
            <a:br>
              <a:rPr b="0" i="0" lang="it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                          "user_database").build()</a:t>
            </a:r>
            <a:endParaRPr sz="1200"/>
          </a:p>
          <a:p>
            <a:pPr indent="0" lvl="1" marL="377825" marR="0" rtl="0" algn="l">
              <a:spcBef>
                <a:spcPts val="0"/>
              </a:spcBef>
              <a:spcAft>
                <a:spcPts val="0"/>
              </a:spcAft>
              <a:buClr>
                <a:srgbClr val="000088"/>
              </a:buClr>
              <a:buSzPts val="1600"/>
              <a:buFont typeface="Verdana"/>
              <a:buNone/>
            </a:pPr>
            <a:r>
              <a:rPr b="0" i="0" lang="it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           INSTANCE = i</a:t>
            </a:r>
            <a:endParaRPr b="0" i="0" sz="1200" u="none" cap="none" strike="noStrike">
              <a:solidFill>
                <a:srgbClr val="00008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1" marL="377825" marR="0" rtl="0" algn="l">
              <a:spcBef>
                <a:spcPts val="0"/>
              </a:spcBef>
              <a:spcAft>
                <a:spcPts val="0"/>
              </a:spcAft>
              <a:buClr>
                <a:srgbClr val="000088"/>
              </a:buClr>
              <a:buSzPts val="1600"/>
              <a:buFont typeface="Verdana"/>
              <a:buNone/>
            </a:pPr>
            <a:r>
              <a:rPr b="0" i="0" lang="it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           INSTANCE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88"/>
              </a:buClr>
              <a:buSzPts val="1600"/>
              <a:buFont typeface="Noto Sans Symbols"/>
              <a:buNone/>
            </a:pPr>
            <a:r>
              <a:rPr b="0" i="0" lang="it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r>
              <a:rPr lang="it" sz="120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)!!</a:t>
            </a:r>
            <a:r>
              <a:rPr b="0" i="0" lang="it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88"/>
              </a:buClr>
              <a:buSzPts val="1600"/>
              <a:buFont typeface="Noto Sans Symbols"/>
              <a:buNone/>
            </a:pPr>
            <a:r>
              <a:rPr b="0" i="0" lang="it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88"/>
              </a:buClr>
              <a:buSzPts val="1600"/>
              <a:buFont typeface="Noto Sans Symbols"/>
              <a:buNone/>
            </a:pPr>
            <a:r>
              <a:rPr b="0" i="0" lang="it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b="0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r>
              <a:rPr b="0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val db =  UserDatabase.getDatabase(application)</a:t>
            </a:r>
            <a:endParaRPr b="0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82" name="Google Shape;18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Defining data using Entities </a:t>
            </a:r>
            <a:endParaRPr/>
          </a:p>
        </p:txBody>
      </p:sp>
      <p:sp>
        <p:nvSpPr>
          <p:cNvPr id="183" name="Google Shape;183;p23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Database schema is driven by the class structure: by default Room creates a column for each field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With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@Ignore</a:t>
            </a:r>
            <a:r>
              <a:rPr lang="it">
                <a:solidFill>
                  <a:srgbClr val="1E5F9F"/>
                </a:solidFill>
              </a:rPr>
              <a:t> </a:t>
            </a:r>
            <a:r>
              <a:rPr lang="it"/>
              <a:t>you can flag data that must not be persisted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You can change the column name via the annotation</a:t>
            </a:r>
            <a:br>
              <a:rPr lang="it"/>
            </a:b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@ColumnInfo(name = "first_name")</a:t>
            </a:r>
            <a:endParaRPr>
              <a:solidFill>
                <a:srgbClr val="0B5394"/>
              </a:solidFill>
            </a:endParaRPr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Each entity must define at least one primary key with the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@PrimaryKey</a:t>
            </a:r>
            <a:r>
              <a:rPr lang="it">
                <a:solidFill>
                  <a:srgbClr val="1E5F9F"/>
                </a:solidFill>
              </a:rPr>
              <a:t> </a:t>
            </a:r>
            <a:r>
              <a:rPr lang="it"/>
              <a:t>annotation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To add indices to an entity, include the indices within the </a:t>
            </a: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@Entity </a:t>
            </a:r>
            <a:r>
              <a:rPr lang="it"/>
              <a:t>annotation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@Entity(indices = {@Index("name"), @Index(value = {"last_name", "address"})})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89" name="Google Shape;18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Defining data using Entities</a:t>
            </a:r>
            <a:endParaRPr/>
          </a:p>
        </p:txBody>
      </p:sp>
      <p:sp>
        <p:nvSpPr>
          <p:cNvPr id="190" name="Google Shape;190;p24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-235584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it" sz="2400"/>
              <a:t>Uniqueness can be specified with the property </a:t>
            </a:r>
            <a:r>
              <a:rPr b="1" i="1" lang="it" sz="2400">
                <a:solidFill>
                  <a:srgbClr val="0B5394"/>
                </a:solidFill>
              </a:rPr>
              <a:t>unique</a:t>
            </a:r>
            <a:r>
              <a:rPr lang="it" sz="2400"/>
              <a:t> of a </a:t>
            </a:r>
            <a:r>
              <a:rPr b="1" lang="it" sz="24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@Index</a:t>
            </a:r>
            <a:r>
              <a:rPr lang="it" sz="2400"/>
              <a:t> annotation set to </a:t>
            </a:r>
            <a:r>
              <a:rPr b="1" i="1" lang="it" sz="2400">
                <a:solidFill>
                  <a:srgbClr val="0B5394"/>
                </a:solidFill>
              </a:rPr>
              <a:t>true</a:t>
            </a:r>
            <a:endParaRPr/>
          </a:p>
          <a:p>
            <a:pPr indent="-235584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it" sz="2400"/>
              <a:t>Relationships are expressed through the </a:t>
            </a:r>
            <a:r>
              <a:rPr b="1" lang="it" sz="24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@ForeignKey</a:t>
            </a:r>
            <a:r>
              <a:rPr lang="it" sz="2400"/>
              <a:t> annotation passed as a property to the </a:t>
            </a:r>
            <a:r>
              <a:rPr b="1" lang="it" sz="24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@Entity</a:t>
            </a:r>
            <a:r>
              <a:rPr lang="it" sz="2400"/>
              <a:t> one</a:t>
            </a:r>
            <a:endParaRPr/>
          </a:p>
          <a:p>
            <a:pPr indent="-11112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5000"/>
              <a:buNone/>
            </a:pPr>
            <a:br>
              <a:rPr lang="it" sz="2000"/>
            </a:br>
            <a:endParaRPr sz="2000"/>
          </a:p>
          <a:p>
            <a:pPr indent="-11112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5000"/>
              <a:buNone/>
            </a:pPr>
            <a:r>
              <a:t/>
            </a:r>
            <a:endParaRPr sz="2000"/>
          </a:p>
          <a:p>
            <a:pPr indent="-11112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5000"/>
              <a:buNone/>
            </a:pPr>
            <a:r>
              <a:t/>
            </a:r>
            <a:endParaRPr sz="2000"/>
          </a:p>
          <a:p>
            <a:pPr indent="-184943" lvl="1" marL="54133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5000"/>
              <a:buChar char="○"/>
            </a:pPr>
            <a:r>
              <a:rPr lang="it" sz="2000"/>
              <a:t>SQLite handles </a:t>
            </a:r>
            <a:r>
              <a:rPr b="1" lang="it" sz="20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@Insert(onConflict = REPLACE)</a:t>
            </a:r>
            <a:r>
              <a:rPr lang="it" sz="2000">
                <a:solidFill>
                  <a:srgbClr val="FF0000"/>
                </a:solidFill>
              </a:rPr>
              <a:t> </a:t>
            </a:r>
            <a:r>
              <a:rPr lang="it" sz="2000"/>
              <a:t>as a set of </a:t>
            </a:r>
            <a:r>
              <a:rPr b="1" lang="it" sz="20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REMOVE</a:t>
            </a:r>
            <a:r>
              <a:rPr lang="it" sz="2000"/>
              <a:t> and </a:t>
            </a:r>
            <a:r>
              <a:rPr b="1" lang="it" sz="20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REPLACE</a:t>
            </a:r>
            <a:r>
              <a:rPr lang="it" sz="2000"/>
              <a:t> operations instead of single update one. This method could affect the foreign keys constraints</a:t>
            </a:r>
            <a:endParaRPr/>
          </a:p>
          <a:p>
            <a:pPr indent="-184943" lvl="1" marL="54133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5000"/>
              <a:buChar char="○"/>
            </a:pPr>
            <a:r>
              <a:rPr lang="it" sz="2000"/>
              <a:t>By setting </a:t>
            </a:r>
            <a:r>
              <a:rPr b="1" lang="it" sz="20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onDelete = CASCADE</a:t>
            </a:r>
            <a:r>
              <a:rPr lang="it" sz="2000"/>
              <a:t> in the </a:t>
            </a:r>
            <a:r>
              <a:rPr b="1" lang="it" sz="20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@ForeignKey</a:t>
            </a:r>
            <a:r>
              <a:rPr lang="it" sz="2000"/>
              <a:t> annotation you can tell SQLite to delete all related items, if the source record is removed</a:t>
            </a:r>
            <a:endParaRPr sz="1000"/>
          </a:p>
        </p:txBody>
      </p:sp>
      <p:sp>
        <p:nvSpPr>
          <p:cNvPr id="191" name="Google Shape;191;p24"/>
          <p:cNvSpPr txBox="1"/>
          <p:nvPr/>
        </p:nvSpPr>
        <p:spPr>
          <a:xfrm>
            <a:off x="822960" y="2503322"/>
            <a:ext cx="7498200" cy="7851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600"/>
              <a:buFont typeface="Noto Sans Symbols"/>
              <a:buNone/>
            </a:pPr>
            <a:r>
              <a:rPr b="0" i="0" lang="it" sz="16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@Entity</a:t>
            </a:r>
            <a:r>
              <a:rPr b="0" i="0" lang="it" sz="16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i="0" lang="it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foreignKeys </a:t>
            </a:r>
            <a:r>
              <a:rPr b="1" i="0" lang="it" sz="16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i="0" lang="it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it" sz="16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@ForeignKey</a:t>
            </a:r>
            <a:r>
              <a:rPr b="1" i="0" lang="it" sz="16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i="0" lang="it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entity </a:t>
            </a:r>
            <a:r>
              <a:rPr b="1" i="0" lang="it" sz="16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i="0" lang="it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it" sz="16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b="1" i="0" lang="it" sz="16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i="0" lang="it" sz="16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1" i="0" lang="it" sz="16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b="1" i="0" lang="it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it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              parentColumns </a:t>
            </a:r>
            <a:r>
              <a:rPr b="1" i="0" lang="it" sz="16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i="0" lang="it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it" sz="1600" u="none" cap="none" strike="noStrike">
                <a:solidFill>
                  <a:srgbClr val="880000"/>
                </a:solidFill>
                <a:latin typeface="Consolas"/>
                <a:ea typeface="Consolas"/>
                <a:cs typeface="Consolas"/>
                <a:sym typeface="Consolas"/>
              </a:rPr>
              <a:t>"id"</a:t>
            </a:r>
            <a:r>
              <a:rPr b="1" i="0" lang="it" sz="16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b="1" i="0" lang="it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it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              childColumns </a:t>
            </a:r>
            <a:r>
              <a:rPr b="1" i="0" lang="it" sz="16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i="0" lang="it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it" sz="1600" u="none" cap="none" strike="noStrike">
                <a:solidFill>
                  <a:srgbClr val="880000"/>
                </a:solidFill>
                <a:latin typeface="Consolas"/>
                <a:ea typeface="Consolas"/>
                <a:cs typeface="Consolas"/>
                <a:sym typeface="Consolas"/>
              </a:rPr>
              <a:t>"user_id"</a:t>
            </a:r>
            <a:r>
              <a:rPr b="1" i="0" lang="it" sz="16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it" sz="16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it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4"/>
          <p:cNvSpPr/>
          <p:nvPr/>
        </p:nvSpPr>
        <p:spPr>
          <a:xfrm>
            <a:off x="0" y="7481"/>
            <a:ext cx="0" cy="3279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587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98" name="Google Shape;19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Accessing data</a:t>
            </a:r>
            <a:endParaRPr/>
          </a:p>
        </p:txBody>
      </p:sp>
      <p:sp>
        <p:nvSpPr>
          <p:cNvPr id="199" name="Google Shape;199;p25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 sz="2000"/>
              <a:t>Data can be retrieved either as instances of the entities classes or it can be wrapped by </a:t>
            </a:r>
            <a:r>
              <a:rPr b="1" lang="it" sz="20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LiveData&lt;T&gt;</a:t>
            </a:r>
            <a:r>
              <a:rPr lang="it" sz="2000"/>
              <a:t> or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Flow&lt;T&gt;</a:t>
            </a:r>
            <a:endParaRPr sz="1800"/>
          </a:p>
        </p:txBody>
      </p:sp>
      <p:sp>
        <p:nvSpPr>
          <p:cNvPr id="200" name="Google Shape;200;p25"/>
          <p:cNvSpPr txBox="1"/>
          <p:nvPr/>
        </p:nvSpPr>
        <p:spPr>
          <a:xfrm>
            <a:off x="822960" y="2191076"/>
            <a:ext cx="7498200" cy="23982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2" marL="85725" marR="0" rtl="0" algn="l"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600"/>
              <a:buFont typeface="Noto Sans Symbols"/>
              <a:buNone/>
            </a:pPr>
            <a:r>
              <a:rPr i="0" lang="it" sz="12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@Dao</a:t>
            </a:r>
            <a:b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interface </a:t>
            </a:r>
            <a:r>
              <a:rPr i="0" lang="it" sz="12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MyDao</a:t>
            </a: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i="0" lang="it" sz="12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@Query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i="0" lang="it" sz="1200" u="none" cap="none" strike="noStrike">
                <a:solidFill>
                  <a:srgbClr val="880000"/>
                </a:solidFill>
                <a:latin typeface="Consolas"/>
                <a:ea typeface="Consolas"/>
                <a:cs typeface="Consolas"/>
                <a:sym typeface="Consolas"/>
              </a:rPr>
              <a:t>"SELECT first_name, last_name FROM user WHERE region IN (:regions)"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i="0" lang="it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fun </a:t>
            </a: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loadUsersFromRegionsSync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i="0" lang="it" sz="12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i="0" lang="it" sz="12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regions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b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     </a:t>
            </a:r>
            <a:r>
              <a:rPr i="0" lang="it" sz="12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LiveData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i="0" lang="it" sz="12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List 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i="0" lang="it" sz="12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&gt;&gt;</a:t>
            </a: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2" marL="857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i="0" sz="1200" u="none" cap="none" strike="noStrike">
              <a:solidFill>
                <a:srgbClr val="00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2" marL="85725" marR="0" rtl="0" algn="l"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600"/>
              <a:buFont typeface="Noto Sans Symbols"/>
              <a:buNone/>
            </a:pPr>
            <a:r>
              <a:rPr i="0" lang="it" sz="12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@Dao</a:t>
            </a:r>
            <a:b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0" lang="it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interface </a:t>
            </a:r>
            <a:r>
              <a:rPr i="0" lang="it" sz="12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MyDao</a:t>
            </a: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i="0" lang="it" sz="12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@Query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i="0" lang="it" sz="1200" u="none" cap="none" strike="noStrike">
                <a:solidFill>
                  <a:srgbClr val="880000"/>
                </a:solidFill>
                <a:latin typeface="Consolas"/>
                <a:ea typeface="Consolas"/>
                <a:cs typeface="Consolas"/>
                <a:sym typeface="Consolas"/>
              </a:rPr>
              <a:t>"SELECT * from user where id = :id LIMIT 1"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i="0" lang="it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fun</a:t>
            </a: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loadUserById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i="0" lang="it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id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): </a:t>
            </a:r>
            <a:r>
              <a:rPr i="0" lang="it" sz="12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Flow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i="0" lang="it" sz="12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1" name="Google Shape;201;p25"/>
          <p:cNvSpPr/>
          <p:nvPr/>
        </p:nvSpPr>
        <p:spPr>
          <a:xfrm>
            <a:off x="0" y="7481"/>
            <a:ext cx="0" cy="3279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587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5"/>
          <p:cNvSpPr/>
          <p:nvPr/>
        </p:nvSpPr>
        <p:spPr>
          <a:xfrm>
            <a:off x="0" y="7481"/>
            <a:ext cx="0" cy="3279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587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5"/>
          <p:cNvSpPr/>
          <p:nvPr/>
        </p:nvSpPr>
        <p:spPr>
          <a:xfrm>
            <a:off x="0" y="7481"/>
            <a:ext cx="0" cy="3279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587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5"/>
          <p:cNvSpPr/>
          <p:nvPr/>
        </p:nvSpPr>
        <p:spPr>
          <a:xfrm>
            <a:off x="0" y="7481"/>
            <a:ext cx="0" cy="3279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587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10" name="Google Shape;21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Accessing data</a:t>
            </a:r>
            <a:endParaRPr/>
          </a:p>
        </p:txBody>
      </p:sp>
      <p:sp>
        <p:nvSpPr>
          <p:cNvPr id="211" name="Google Shape;211;p26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 sz="2000"/>
              <a:t>If necessary, data can also be accessed via </a:t>
            </a:r>
            <a:r>
              <a:rPr b="1" lang="it" sz="20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Cursor</a:t>
            </a:r>
            <a:r>
              <a:rPr lang="it" sz="2000"/>
              <a:t> objects</a:t>
            </a:r>
            <a:endParaRPr sz="1400"/>
          </a:p>
        </p:txBody>
      </p:sp>
      <p:sp>
        <p:nvSpPr>
          <p:cNvPr id="212" name="Google Shape;212;p26"/>
          <p:cNvSpPr txBox="1"/>
          <p:nvPr/>
        </p:nvSpPr>
        <p:spPr>
          <a:xfrm>
            <a:off x="822960" y="1756671"/>
            <a:ext cx="7498200" cy="28167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600"/>
              <a:buFont typeface="Noto Sans Symbols"/>
              <a:buNone/>
            </a:pPr>
            <a:r>
              <a:rPr i="0" lang="it" sz="12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@Dao</a:t>
            </a:r>
            <a:b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interface </a:t>
            </a:r>
            <a:r>
              <a:rPr i="0" lang="it" sz="12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MyDao</a:t>
            </a: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i="0" lang="it" sz="12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@Query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i="0" lang="it" sz="1200" u="none" cap="none" strike="noStrike">
                <a:solidFill>
                  <a:srgbClr val="880000"/>
                </a:solidFill>
                <a:latin typeface="Consolas"/>
                <a:ea typeface="Consolas"/>
                <a:cs typeface="Consolas"/>
                <a:sym typeface="Consolas"/>
              </a:rPr>
              <a:t>"SELECT * FROM user WHERE age &gt; :minAge LIMIT 5"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i="0" lang="it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fun</a:t>
            </a: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loadRawUsersOlderThan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minAge: </a:t>
            </a:r>
            <a:r>
              <a:rPr i="0" lang="it" sz="12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): </a:t>
            </a:r>
            <a:r>
              <a:rPr i="0" lang="it" sz="12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Cursor</a:t>
            </a:r>
            <a:b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a further example that looks up multiple tables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600"/>
              <a:buFont typeface="Noto Sans Symbols"/>
              <a:buNone/>
            </a:pPr>
            <a:r>
              <a:rPr i="0" lang="it" sz="12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@Dao</a:t>
            </a:r>
            <a:b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interface </a:t>
            </a:r>
            <a:r>
              <a:rPr i="0" lang="it" sz="12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MyDao</a:t>
            </a: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i="0" lang="it" sz="12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@Query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i="0" lang="it" sz="1200" u="none" cap="none" strike="noStrike">
                <a:solidFill>
                  <a:srgbClr val="880000"/>
                </a:solidFill>
                <a:latin typeface="Consolas"/>
                <a:ea typeface="Consolas"/>
                <a:cs typeface="Consolas"/>
                <a:sym typeface="Consolas"/>
              </a:rPr>
              <a:t>"SELECT * FROM book "</a:t>
            </a:r>
            <a:b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0" lang="it" sz="1200" u="none" cap="none" strike="noStrike">
                <a:solidFill>
                  <a:srgbClr val="880000"/>
                </a:solidFill>
                <a:latin typeface="Consolas"/>
                <a:ea typeface="Consolas"/>
                <a:cs typeface="Consolas"/>
                <a:sym typeface="Consolas"/>
              </a:rPr>
              <a:t>"INNER JOIN loan ON loan.book_id = book.id "</a:t>
            </a:r>
            <a:b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0" lang="it" sz="1200" u="none" cap="none" strike="noStrike">
                <a:solidFill>
                  <a:srgbClr val="880000"/>
                </a:solidFill>
                <a:latin typeface="Consolas"/>
                <a:ea typeface="Consolas"/>
                <a:cs typeface="Consolas"/>
                <a:sym typeface="Consolas"/>
              </a:rPr>
              <a:t>"INNER JOIN user ON user.id = loan.user_id "</a:t>
            </a:r>
            <a:b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0" lang="it" sz="1200" u="none" cap="none" strike="noStrike">
                <a:solidFill>
                  <a:srgbClr val="880000"/>
                </a:solidFill>
                <a:latin typeface="Consolas"/>
                <a:ea typeface="Consolas"/>
                <a:cs typeface="Consolas"/>
                <a:sym typeface="Consolas"/>
              </a:rPr>
              <a:t>"WHERE user.name LIKE :userName"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r>
              <a:rPr i="0" lang="it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fun</a:t>
            </a: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findBooksBorrowedByNameSync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userName: </a:t>
            </a:r>
            <a:r>
              <a:rPr i="0" lang="it" sz="12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0" lang="it" sz="12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i="0" lang="it" sz="12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Book</a:t>
            </a: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0" y="7481"/>
            <a:ext cx="0" cy="3279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587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0" y="7481"/>
            <a:ext cx="0" cy="3279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587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0" y="7481"/>
            <a:ext cx="0" cy="3279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587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0" y="7481"/>
            <a:ext cx="0" cy="3279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587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0" y="7481"/>
            <a:ext cx="0" cy="3279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587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0" y="7481"/>
            <a:ext cx="0" cy="3279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587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24" name="Google Shape;22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Maintaining the DB</a:t>
            </a:r>
            <a:endParaRPr/>
          </a:p>
        </p:txBody>
      </p:sp>
      <p:sp>
        <p:nvSpPr>
          <p:cNvPr id="225" name="Google Shape;225;p27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44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As you add and change features in your app, your DB evolves and your entity classes may change</a:t>
            </a:r>
            <a:endParaRPr sz="1600"/>
          </a:p>
          <a:p>
            <a:pPr indent="-1809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○"/>
            </a:pPr>
            <a:r>
              <a:rPr lang="it"/>
              <a:t>Room provides the migrations mechanism for this particular need</a:t>
            </a:r>
            <a:endParaRPr sz="1200"/>
          </a:p>
        </p:txBody>
      </p:sp>
      <p:sp>
        <p:nvSpPr>
          <p:cNvPr id="226" name="Google Shape;226;p27"/>
          <p:cNvSpPr txBox="1"/>
          <p:nvPr/>
        </p:nvSpPr>
        <p:spPr>
          <a:xfrm>
            <a:off x="822960" y="2288889"/>
            <a:ext cx="7498200" cy="24165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1100"/>
              <a:buFont typeface="Noto Sans Symbols"/>
              <a:buNone/>
            </a:pPr>
            <a:r>
              <a:rPr b="0" i="0" lang="it" sz="11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Room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databaseBuilder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(a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pplicationContext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1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MyDb::</a:t>
            </a:r>
            <a:r>
              <a:rPr b="0" i="0" lang="it" sz="11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class.java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100" u="none" cap="none" strike="noStrike">
                <a:solidFill>
                  <a:srgbClr val="880000"/>
                </a:solidFill>
                <a:latin typeface="Consolas"/>
                <a:ea typeface="Consolas"/>
                <a:cs typeface="Consolas"/>
                <a:sym typeface="Consolas"/>
              </a:rPr>
              <a:t>"database-name"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addMigrations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MIGRATION_1_2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MIGRATION_2_3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build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b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1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val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MIGRATION_1_2 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1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object :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1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Migration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it" sz="11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1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    </a:t>
            </a:r>
            <a:r>
              <a:rPr b="0" i="0" lang="it" sz="11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override fun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migrate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database : </a:t>
            </a:r>
            <a:r>
              <a:rPr b="0" i="0" lang="it" sz="11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SupportSQLiteDatabase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database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execSQL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it" sz="1100" u="none" cap="none" strike="noStrike">
                <a:solidFill>
                  <a:srgbClr val="880000"/>
                </a:solidFill>
                <a:latin typeface="Consolas"/>
                <a:ea typeface="Consolas"/>
                <a:cs typeface="Consolas"/>
                <a:sym typeface="Consolas"/>
              </a:rPr>
              <a:t>"CREATE TABLE `Fruit` (`id` INTEGER, `name` TEXT, PRIMARY KEY(`id`))"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b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1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val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MIGRATION_2_3 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1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Migration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it" sz="11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1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it" sz="11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override fun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migrate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database : </a:t>
            </a:r>
            <a:r>
              <a:rPr b="0" i="0" lang="it" sz="11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SupportSQLiteDatabase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database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execSQL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it" sz="1100" u="none" cap="none" strike="noStrike">
                <a:solidFill>
                  <a:srgbClr val="880000"/>
                </a:solidFill>
                <a:latin typeface="Consolas"/>
                <a:ea typeface="Consolas"/>
                <a:cs typeface="Consolas"/>
                <a:sym typeface="Consolas"/>
              </a:rPr>
              <a:t>"ALTER TABLE Book ADD COLUMN pub_year INTEGER"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b="0" i="0" lang="it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1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r>
              <a:rPr b="0" i="0" lang="it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32" name="Google Shape;23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Accessing the network</a:t>
            </a:r>
            <a:endParaRPr/>
          </a:p>
        </p:txBody>
      </p:sp>
      <p:sp>
        <p:nvSpPr>
          <p:cNvPr id="233" name="Google Shape;233;p28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If the application logic is based on the services provided by a remote server, it is necessary to implement a suitable client interface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Most servers expose REST APIs based on an HTTP(S) endpoint, transferring JSON-encoded data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Android offers the </a:t>
            </a: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java.net.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HttpURLConnection</a:t>
            </a:r>
            <a:r>
              <a:rPr lang="it"/>
              <a:t> class, which supports both HTTP and HTTPS protocols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However, such a class provides a very low level implementation, requiring a lot of </a:t>
            </a:r>
            <a:r>
              <a:rPr lang="it"/>
              <a:t>boilerplate</a:t>
            </a:r>
            <a:r>
              <a:rPr lang="it"/>
              <a:t> code and gives no support for encoding/decoding the payload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So, often, a suitable library is used 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Application must request internet permission in the manifest file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&lt;uses-permission android:name="android.permission.INTERNET" /&gt;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Retrofit library</a:t>
            </a:r>
            <a:endParaRPr/>
          </a:p>
        </p:txBody>
      </p:sp>
      <p:sp>
        <p:nvSpPr>
          <p:cNvPr id="239" name="Google Shape;239;p2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40" name="Google Shape;240;p29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Retrofit is a type safe HTTP client for Android and Java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Analogously to Room, it uses annotations to describe the HTTP requests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It has a modular architecture and allows different converter to be used for JSON mapping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Requested dependencies</a:t>
            </a:r>
            <a:endParaRPr/>
          </a:p>
        </p:txBody>
      </p:sp>
      <p:sp>
        <p:nvSpPr>
          <p:cNvPr id="241" name="Google Shape;241;p29"/>
          <p:cNvSpPr txBox="1"/>
          <p:nvPr/>
        </p:nvSpPr>
        <p:spPr>
          <a:xfrm>
            <a:off x="721500" y="2852938"/>
            <a:ext cx="7701000" cy="12900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dependencies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implementation 'com.google.code.gson:gson:2.10'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implementation 'com.squareup.retrofit2:retrofit:2.9.0'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implementation 'com.squareup.retrofit2:converter-gson:2.9.0'  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Modelling API data</a:t>
            </a:r>
            <a:endParaRPr/>
          </a:p>
        </p:txBody>
      </p:sp>
      <p:sp>
        <p:nvSpPr>
          <p:cNvPr id="247" name="Google Shape;247;p3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48" name="Google Shape;248;p30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Any data to be exchanged via the API will be mapped to a corresponding data class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If the property names cannot match the name of the serialized attributes, the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@SerializedName(...)</a:t>
            </a:r>
            <a:r>
              <a:rPr lang="it"/>
              <a:t> annotation will be used, to support proper conversions</a:t>
            </a:r>
            <a:endParaRPr/>
          </a:p>
        </p:txBody>
      </p:sp>
      <p:sp>
        <p:nvSpPr>
          <p:cNvPr id="249" name="Google Shape;249;p30"/>
          <p:cNvSpPr txBox="1"/>
          <p:nvPr/>
        </p:nvSpPr>
        <p:spPr>
          <a:xfrm>
            <a:off x="721500" y="2852938"/>
            <a:ext cx="7701000" cy="16596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data class ToDo (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val id: Int,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@SerializedName("task-description")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val taskDescription: String,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val before: LocalDate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Describing the service</a:t>
            </a:r>
            <a:endParaRPr/>
          </a:p>
        </p:txBody>
      </p:sp>
      <p:sp>
        <p:nvSpPr>
          <p:cNvPr id="255" name="Google Shape;255;p3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56" name="Google Shape;256;p31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The set of API to be contacted will be defined as methods of an interface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Each method is to annotated with the corresponding HTTP method and the relative URL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it">
                <a:solidFill>
                  <a:schemeClr val="dk1"/>
                </a:solidFill>
              </a:rPr>
              <a:t>Method parameters will be annotated to convey the intended semantics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@Body</a:t>
            </a:r>
            <a:r>
              <a:rPr lang="it">
                <a:solidFill>
                  <a:schemeClr val="dk1"/>
                </a:solidFill>
              </a:rPr>
              <a:t> - Sends Java objects as request body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@Url(…)</a:t>
            </a:r>
            <a:r>
              <a:rPr lang="it">
                <a:solidFill>
                  <a:schemeClr val="dk1"/>
                </a:solidFill>
              </a:rPr>
              <a:t> - use dynamic URLs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@Query(…)</a:t>
            </a:r>
            <a:r>
              <a:rPr lang="it">
                <a:solidFill>
                  <a:schemeClr val="dk1"/>
                </a:solidFill>
              </a:rPr>
              <a:t> - Sends the value in the query string, with the corresponding name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@Field(…)</a:t>
            </a:r>
            <a:r>
              <a:rPr lang="it">
                <a:solidFill>
                  <a:schemeClr val="dk1"/>
                </a:solidFill>
              </a:rPr>
              <a:t> - send data as form-urlencoded 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</a:pPr>
            <a:r>
              <a:rPr lang="it">
                <a:solidFill>
                  <a:schemeClr val="dk1"/>
                </a:solidFill>
              </a:rPr>
              <a:t>This requires 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@FormUrlEncoded</a:t>
            </a:r>
            <a:r>
              <a:rPr lang="it">
                <a:solidFill>
                  <a:schemeClr val="dk1"/>
                </a:solidFill>
              </a:rPr>
              <a:t> annotation attached with the method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</a:pPr>
            <a:r>
              <a:rPr lang="it">
                <a:solidFill>
                  <a:schemeClr val="dk1"/>
                </a:solidFill>
              </a:rPr>
              <a:t>The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@Field</a:t>
            </a:r>
            <a:r>
              <a:rPr lang="it">
                <a:solidFill>
                  <a:schemeClr val="dk1"/>
                </a:solidFill>
              </a:rPr>
              <a:t> parameter works only with a POST request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Describing the service</a:t>
            </a:r>
            <a:endParaRPr/>
          </a:p>
        </p:txBody>
      </p:sp>
      <p:sp>
        <p:nvSpPr>
          <p:cNvPr id="262" name="Google Shape;262;p3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63" name="Google Shape;263;p32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it">
                <a:solidFill>
                  <a:schemeClr val="dk1"/>
                </a:solidFill>
              </a:rPr>
              <a:t>Retrofit is quite flexible in the definition of the returned values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>
                <a:solidFill>
                  <a:schemeClr val="dk1"/>
                </a:solidFill>
              </a:rPr>
              <a:t>By default, it supports methods returning instances of the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retrofit2.Call&lt;T&gt;</a:t>
            </a:r>
            <a:r>
              <a:rPr lang="it">
                <a:solidFill>
                  <a:schemeClr val="dk1"/>
                </a:solidFill>
              </a:rPr>
              <a:t> objects, where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it">
                <a:solidFill>
                  <a:schemeClr val="dk1"/>
                </a:solidFill>
              </a:rPr>
              <a:t> is response body type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>
                <a:solidFill>
                  <a:schemeClr val="dk1"/>
                </a:solidFill>
              </a:rPr>
              <a:t>When using it, it is responsibility of the caller to execute the request, either synchronously, via the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execute()</a:t>
            </a:r>
            <a:r>
              <a:rPr lang="it">
                <a:solidFill>
                  <a:schemeClr val="dk1"/>
                </a:solidFill>
              </a:rPr>
              <a:t> method, or asynchronously, with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equeue(Callback&lt;T&gt;)</a:t>
            </a:r>
            <a:endParaRPr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it">
                <a:solidFill>
                  <a:schemeClr val="dk1"/>
                </a:solidFill>
              </a:rPr>
              <a:t>However, the library supports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CallAdapter</a:t>
            </a:r>
            <a:r>
              <a:rPr lang="it">
                <a:solidFill>
                  <a:schemeClr val="dk1"/>
                </a:solidFill>
              </a:rPr>
              <a:t>s that can generate implementations for different kinds of invocation and return values 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>
                <a:solidFill>
                  <a:schemeClr val="dk1"/>
                </a:solidFill>
              </a:rPr>
              <a:t>Methods can be defined as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suspend</a:t>
            </a:r>
            <a:r>
              <a:rPr lang="it">
                <a:solidFill>
                  <a:schemeClr val="dk1"/>
                </a:solidFill>
              </a:rPr>
              <a:t>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fun</a:t>
            </a:r>
            <a:r>
              <a:rPr lang="it">
                <a:solidFill>
                  <a:schemeClr val="dk1"/>
                </a:solidFill>
              </a:rPr>
              <a:t> and directly return the response body type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>
                <a:solidFill>
                  <a:schemeClr val="dk1"/>
                </a:solidFill>
              </a:rPr>
              <a:t>Or can be normal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fun</a:t>
            </a:r>
            <a:r>
              <a:rPr lang="it">
                <a:solidFill>
                  <a:schemeClr val="dk1"/>
                </a:solidFill>
              </a:rPr>
              <a:t>, but having 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LiveData&lt;T&gt;</a:t>
            </a:r>
            <a:r>
              <a:rPr lang="it">
                <a:solidFill>
                  <a:schemeClr val="dk1"/>
                </a:solidFill>
              </a:rPr>
              <a:t> as a return value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In both cases, the request will be executed automatically, just calling the method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Describing the service</a:t>
            </a:r>
            <a:endParaRPr/>
          </a:p>
        </p:txBody>
      </p:sp>
      <p:sp>
        <p:nvSpPr>
          <p:cNvPr id="269" name="Google Shape;269;p3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70" name="Google Shape;270;p33"/>
          <p:cNvSpPr txBox="1"/>
          <p:nvPr/>
        </p:nvSpPr>
        <p:spPr>
          <a:xfrm>
            <a:off x="721500" y="1256163"/>
            <a:ext cx="7701000" cy="33219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interface APIInterface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@POST("/api/users")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suspend fun createUser(@Body user: User): User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@GET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suspend fun getUsers(@Url url: String): List&lt;User&gt; 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@GET("/api/users?")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suspend fun doGetUserList(@Query("page") page: String): List&lt;User&gt;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@FormUrlEncoded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@POST("/api/users?")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suspend fun doCreateUser</a:t>
            </a: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WithField</a:t>
            </a: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 @Field("name")name:String, 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        @Field("job") job: String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): User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Creating the service</a:t>
            </a:r>
            <a:endParaRPr/>
          </a:p>
        </p:txBody>
      </p:sp>
      <p:sp>
        <p:nvSpPr>
          <p:cNvPr id="276" name="Google Shape;276;p3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77" name="Google Shape;277;p34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The service implementation will be automatically generated by creating a custom instance of the Retrofit object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This will be</a:t>
            </a:r>
            <a:r>
              <a:rPr lang="it"/>
              <a:t> configured with the base URL of the server endpoint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As well as with a reference to the actual converter to use for encoding/decoding JSON data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 singleton object exposing a method for creating the service will typically be created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This will expose a single generic method </a:t>
            </a:r>
            <a:r>
              <a:rPr lang="it"/>
              <a:t>responsible of instantiating the actual service interface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Creating the service</a:t>
            </a:r>
            <a:endParaRPr/>
          </a:p>
        </p:txBody>
      </p:sp>
      <p:sp>
        <p:nvSpPr>
          <p:cNvPr id="283" name="Google Shape;283;p3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84" name="Google Shape;284;p35"/>
          <p:cNvSpPr txBox="1"/>
          <p:nvPr/>
        </p:nvSpPr>
        <p:spPr>
          <a:xfrm>
            <a:off x="721500" y="1256163"/>
            <a:ext cx="7701000" cy="31371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object ApiInstance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private val gson = GsonBuilder().create()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private val retrofitBuilder: Retrofit.Builder =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Retrofit.Builder()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.baseUrl("http://10.0.2.2:8080/")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.addConverterFactory(GsonConverterFactory.create(gson))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private val retrofit: Retrofit = retrofitBuilder.build()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fun &lt;T&gt; createService(serviceClass: Class&lt;T&gt;): T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return retrofit.create(serviceClass)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Flow&lt;T&gt; support</a:t>
            </a:r>
            <a:endParaRPr/>
          </a:p>
        </p:txBody>
      </p:sp>
      <p:sp>
        <p:nvSpPr>
          <p:cNvPr id="290" name="Google Shape;290;p3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91" name="Google Shape;291;p36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By writing a simple wrapper around the suspending implementation or by leveraging on an external library, it is possible to define services returning Flow&lt;T&gt; objects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The library 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tech.thdev:flow-call-adapter-factory:1.0.0</a:t>
            </a:r>
            <a:r>
              <a:rPr lang="it">
                <a:solidFill>
                  <a:schemeClr val="dk1"/>
                </a:solidFill>
              </a:rPr>
              <a:t> defines class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FlowCallAdapterFactory</a:t>
            </a:r>
            <a:r>
              <a:rPr lang="it">
                <a:solidFill>
                  <a:schemeClr val="dk1"/>
                </a:solidFill>
              </a:rPr>
              <a:t> that is used to customize the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Retrofit.Builder</a:t>
            </a:r>
            <a:r>
              <a:rPr lang="it">
                <a:solidFill>
                  <a:schemeClr val="dk1"/>
                </a:solidFill>
              </a:rPr>
              <a:t> object</a:t>
            </a:r>
            <a:endParaRPr/>
          </a:p>
        </p:txBody>
      </p:sp>
      <p:sp>
        <p:nvSpPr>
          <p:cNvPr id="292" name="Google Shape;292;p36"/>
          <p:cNvSpPr txBox="1"/>
          <p:nvPr/>
        </p:nvSpPr>
        <p:spPr>
          <a:xfrm>
            <a:off x="589413" y="2929150"/>
            <a:ext cx="3825000" cy="16596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 retrofitBuilder = Retrofit.Builder()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.baseUrl("http://10.0.2.2:8080/")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.addConverterFactory(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GsonConverterFactory().create(gson)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    .addCallAdapterFactory(</a:t>
            </a:r>
            <a:endParaRPr sz="1200">
              <a:solidFill>
                <a:schemeClr val="dk1"/>
              </a:solidFill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        FlowCallAdapterFactory()</a:t>
            </a:r>
            <a:endParaRPr sz="1200">
              <a:solidFill>
                <a:schemeClr val="dk1"/>
              </a:solidFill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 sz="1200">
              <a:solidFill>
                <a:schemeClr val="dk1"/>
              </a:solidFill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3" name="Google Shape;293;p36"/>
          <p:cNvSpPr txBox="1"/>
          <p:nvPr/>
        </p:nvSpPr>
        <p:spPr>
          <a:xfrm>
            <a:off x="4729588" y="2929150"/>
            <a:ext cx="3825000" cy="16596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interface MyDataService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@GET("/")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fun listItems(): </a:t>
            </a:r>
            <a:r>
              <a:rPr lang="it" sz="1200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Flow&lt; List&lt; Items &gt; &gt;</a:t>
            </a:r>
            <a:endParaRPr sz="1200">
              <a:solidFill>
                <a:schemeClr val="dk1"/>
              </a:solidFill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@GET("/data")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fun getData(): </a:t>
            </a:r>
            <a:r>
              <a:rPr lang="it" sz="1200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Flow&lt; MyData &gt;</a:t>
            </a:r>
            <a:endParaRPr sz="1200">
              <a:solidFill>
                <a:schemeClr val="dk1"/>
              </a:solidFill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Invoking the service</a:t>
            </a:r>
            <a:endParaRPr/>
          </a:p>
        </p:txBody>
      </p:sp>
      <p:sp>
        <p:nvSpPr>
          <p:cNvPr id="299" name="Google Shape;299;p3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00" name="Google Shape;300;p37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Whoever is in need to contact the remote server may create an instance of the service interface via the singleton ApiInstance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Or it can get directly an instance of it via </a:t>
            </a:r>
            <a:r>
              <a:rPr b="1" lang="it">
                <a:solidFill>
                  <a:srgbClr val="0B5394"/>
                </a:solidFill>
              </a:rPr>
              <a:t>dependency injection</a:t>
            </a:r>
            <a:endParaRPr b="1">
              <a:solidFill>
                <a:srgbClr val="0B5394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Care has to be taken not to make invoke the service in the main thread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As well as to properly handle possible exceptions and cancellation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it"/>
              <a:t>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Learning more</a:t>
            </a:r>
            <a:endParaRPr/>
          </a:p>
        </p:txBody>
      </p:sp>
      <p:sp>
        <p:nvSpPr>
          <p:cNvPr id="306" name="Google Shape;306;p3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07" name="Google Shape;307;p38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MVVM with Kotlin Coroutines and Retrofit 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 u="sng">
                <a:solidFill>
                  <a:schemeClr val="hlink"/>
                </a:solidFill>
                <a:hlinkClick r:id="rId3"/>
              </a:rPr>
              <a:t>https://medium.com/android-beginners/mvvm-with-kotlin-coroutines-and-retrofit-example-d3f5f3b09050</a:t>
            </a:r>
            <a:r>
              <a:rPr lang="it"/>
              <a:t> 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Retrofit with Kotlin Flow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 u="sng">
                <a:solidFill>
                  <a:schemeClr val="hlink"/>
                </a:solidFill>
                <a:hlinkClick r:id="rId4"/>
              </a:rPr>
              <a:t>https://medium.com/@amitshekhar/retrofit-with-kotlin-flow-1eb1e47182b1</a:t>
            </a:r>
            <a:r>
              <a:rPr lang="it"/>
              <a:t> </a:t>
            </a:r>
            <a:endParaRPr/>
          </a:p>
        </p:txBody>
      </p:sp>
      <p:pic>
        <p:nvPicPr>
          <p:cNvPr id="308" name="Google Shape;308;p38"/>
          <p:cNvPicPr preferRelativeResize="0"/>
          <p:nvPr/>
        </p:nvPicPr>
        <p:blipFill rotWithShape="1">
          <a:blip r:embed="rId5">
            <a:alphaModFix/>
          </a:blip>
          <a:srcRect b="18805" l="17234" r="17234" t="18799"/>
          <a:stretch/>
        </p:blipFill>
        <p:spPr>
          <a:xfrm>
            <a:off x="7771925" y="156614"/>
            <a:ext cx="1249224" cy="1189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lit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