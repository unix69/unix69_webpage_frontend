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65"/>
  </p:notesMasterIdLst>
  <p:handoutMasterIdLst>
    <p:handoutMasterId r:id="rId66"/>
  </p:handoutMasterIdLst>
  <p:sldIdLst>
    <p:sldId id="413" r:id="rId3"/>
    <p:sldId id="373" r:id="rId4"/>
    <p:sldId id="257" r:id="rId5"/>
    <p:sldId id="258" r:id="rId6"/>
    <p:sldId id="259" r:id="rId7"/>
    <p:sldId id="415" r:id="rId8"/>
    <p:sldId id="282" r:id="rId9"/>
    <p:sldId id="374" r:id="rId10"/>
    <p:sldId id="375" r:id="rId11"/>
    <p:sldId id="376" r:id="rId12"/>
    <p:sldId id="287" r:id="rId13"/>
    <p:sldId id="288" r:id="rId14"/>
    <p:sldId id="289" r:id="rId15"/>
    <p:sldId id="357" r:id="rId16"/>
    <p:sldId id="363" r:id="rId17"/>
    <p:sldId id="364" r:id="rId18"/>
    <p:sldId id="365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348" r:id="rId27"/>
    <p:sldId id="354" r:id="rId28"/>
    <p:sldId id="355" r:id="rId29"/>
    <p:sldId id="356" r:id="rId30"/>
    <p:sldId id="345" r:id="rId31"/>
    <p:sldId id="346" r:id="rId32"/>
    <p:sldId id="347" r:id="rId33"/>
    <p:sldId id="302" r:id="rId34"/>
    <p:sldId id="366" r:id="rId35"/>
    <p:sldId id="368" r:id="rId36"/>
    <p:sldId id="367" r:id="rId37"/>
    <p:sldId id="370" r:id="rId38"/>
    <p:sldId id="371" r:id="rId39"/>
    <p:sldId id="341" r:id="rId40"/>
    <p:sldId id="416" r:id="rId41"/>
    <p:sldId id="344" r:id="rId42"/>
    <p:sldId id="304" r:id="rId43"/>
    <p:sldId id="305" r:id="rId44"/>
    <p:sldId id="306" r:id="rId45"/>
    <p:sldId id="307" r:id="rId46"/>
    <p:sldId id="297" r:id="rId47"/>
    <p:sldId id="377" r:id="rId48"/>
    <p:sldId id="378" r:id="rId49"/>
    <p:sldId id="379" r:id="rId50"/>
    <p:sldId id="298" r:id="rId51"/>
    <p:sldId id="299" r:id="rId52"/>
    <p:sldId id="300" r:id="rId53"/>
    <p:sldId id="301" r:id="rId54"/>
    <p:sldId id="412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414" r:id="rId64"/>
  </p:sldIdLst>
  <p:sldSz cx="9144000" cy="6858000" type="screen4x3"/>
  <p:notesSz cx="7315200" cy="9601200"/>
  <p:defaultTextStyle>
    <a:defPPr>
      <a:defRPr lang="en-GB"/>
    </a:defPPr>
    <a:lvl1pPr algn="l" defTabSz="457200" rtl="0" fontAlgn="base">
      <a:lnSpc>
        <a:spcPct val="7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defTabSz="457200" rtl="0" fontAlgn="base">
      <a:lnSpc>
        <a:spcPct val="7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l" defTabSz="457200" rtl="0" fontAlgn="base">
      <a:lnSpc>
        <a:spcPct val="7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l" defTabSz="457200" rtl="0" fontAlgn="base">
      <a:lnSpc>
        <a:spcPct val="7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l" defTabSz="457200" rtl="0" fontAlgn="base">
      <a:lnSpc>
        <a:spcPct val="7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charset="0"/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bg1"/>
        </a:solidFill>
        <a:latin typeface="Times New Roman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352" y="-12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5784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notesMaster" Target="notesMasters/notesMaster1.xml"/><Relationship Id="rId66" Type="http://schemas.openxmlformats.org/officeDocument/2006/relationships/handoutMaster" Target="handoutMasters/handoutMaster1.xml"/><Relationship Id="rId67" Type="http://schemas.openxmlformats.org/officeDocument/2006/relationships/printerSettings" Target="printerSettings/printerSettings1.bin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70" Type="http://schemas.openxmlformats.org/officeDocument/2006/relationships/theme" Target="theme/theme1.xml"/><Relationship Id="rId71" Type="http://schemas.openxmlformats.org/officeDocument/2006/relationships/tableStyles" Target="tableStyles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oleObject" Target="Workbook5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oleObject" Target="Workbook2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oleObject" Target="Workbook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45226792039345"/>
          <c:y val="0.0360212937092541"/>
          <c:w val="0.808970007389853"/>
          <c:h val="0.76511649505350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Sheet1!$K$1</c:f>
              <c:strCache>
                <c:ptCount val="1"/>
                <c:pt idx="0">
                  <c:v>LinkedList</c:v>
                </c:pt>
              </c:strCache>
            </c:strRef>
          </c:tx>
          <c:spPr>
            <a:ln w="28575">
              <a:solidFill>
                <a:srgbClr val="F07F09"/>
              </a:solidFill>
            </a:ln>
          </c:spPr>
          <c:marker>
            <c:symbol val="none"/>
          </c:marker>
          <c:xVal>
            <c:numRef>
              <c:f>Sheet1!$J$2:$J$101</c:f>
              <c:numCache>
                <c:formatCode>General</c:formatCode>
                <c:ptCount val="100"/>
                <c:pt idx="0">
                  <c:v>100.0</c:v>
                </c:pt>
                <c:pt idx="1">
                  <c:v>200.0</c:v>
                </c:pt>
                <c:pt idx="2">
                  <c:v>300.0</c:v>
                </c:pt>
                <c:pt idx="3">
                  <c:v>400.0</c:v>
                </c:pt>
                <c:pt idx="4">
                  <c:v>500.0</c:v>
                </c:pt>
                <c:pt idx="5">
                  <c:v>600.0</c:v>
                </c:pt>
                <c:pt idx="6">
                  <c:v>700.0</c:v>
                </c:pt>
                <c:pt idx="7">
                  <c:v>800.0</c:v>
                </c:pt>
                <c:pt idx="8">
                  <c:v>900.0</c:v>
                </c:pt>
                <c:pt idx="9">
                  <c:v>1000.0</c:v>
                </c:pt>
                <c:pt idx="10">
                  <c:v>1100.0</c:v>
                </c:pt>
                <c:pt idx="11">
                  <c:v>1200.0</c:v>
                </c:pt>
                <c:pt idx="12">
                  <c:v>1300.0</c:v>
                </c:pt>
                <c:pt idx="13">
                  <c:v>1400.0</c:v>
                </c:pt>
                <c:pt idx="14">
                  <c:v>1500.0</c:v>
                </c:pt>
                <c:pt idx="15">
                  <c:v>1600.0</c:v>
                </c:pt>
                <c:pt idx="16">
                  <c:v>1700.0</c:v>
                </c:pt>
                <c:pt idx="17">
                  <c:v>1800.0</c:v>
                </c:pt>
                <c:pt idx="18">
                  <c:v>1900.0</c:v>
                </c:pt>
                <c:pt idx="19">
                  <c:v>2000.0</c:v>
                </c:pt>
                <c:pt idx="20">
                  <c:v>2100.0</c:v>
                </c:pt>
                <c:pt idx="21">
                  <c:v>2200.0</c:v>
                </c:pt>
                <c:pt idx="22">
                  <c:v>2300.0</c:v>
                </c:pt>
                <c:pt idx="23">
                  <c:v>2400.0</c:v>
                </c:pt>
                <c:pt idx="24">
                  <c:v>2500.0</c:v>
                </c:pt>
                <c:pt idx="25">
                  <c:v>2600.0</c:v>
                </c:pt>
                <c:pt idx="26">
                  <c:v>2700.0</c:v>
                </c:pt>
                <c:pt idx="27">
                  <c:v>2800.0</c:v>
                </c:pt>
                <c:pt idx="28">
                  <c:v>2900.0</c:v>
                </c:pt>
                <c:pt idx="29">
                  <c:v>3000.0</c:v>
                </c:pt>
                <c:pt idx="30">
                  <c:v>3100.0</c:v>
                </c:pt>
                <c:pt idx="31">
                  <c:v>3200.0</c:v>
                </c:pt>
                <c:pt idx="32">
                  <c:v>3300.0</c:v>
                </c:pt>
                <c:pt idx="33">
                  <c:v>3400.0</c:v>
                </c:pt>
                <c:pt idx="34">
                  <c:v>3500.0</c:v>
                </c:pt>
                <c:pt idx="35">
                  <c:v>3600.0</c:v>
                </c:pt>
                <c:pt idx="36">
                  <c:v>3700.0</c:v>
                </c:pt>
                <c:pt idx="37">
                  <c:v>3800.0</c:v>
                </c:pt>
                <c:pt idx="38">
                  <c:v>3900.0</c:v>
                </c:pt>
                <c:pt idx="39">
                  <c:v>4000.0</c:v>
                </c:pt>
                <c:pt idx="40">
                  <c:v>4100.0</c:v>
                </c:pt>
                <c:pt idx="41">
                  <c:v>4200.0</c:v>
                </c:pt>
                <c:pt idx="42">
                  <c:v>4300.0</c:v>
                </c:pt>
                <c:pt idx="43">
                  <c:v>4400.0</c:v>
                </c:pt>
                <c:pt idx="44">
                  <c:v>4500.0</c:v>
                </c:pt>
                <c:pt idx="45">
                  <c:v>4600.0</c:v>
                </c:pt>
                <c:pt idx="46">
                  <c:v>4700.0</c:v>
                </c:pt>
                <c:pt idx="47">
                  <c:v>4800.0</c:v>
                </c:pt>
                <c:pt idx="48">
                  <c:v>4900.0</c:v>
                </c:pt>
                <c:pt idx="49">
                  <c:v>5000.0</c:v>
                </c:pt>
                <c:pt idx="50">
                  <c:v>5100.0</c:v>
                </c:pt>
                <c:pt idx="51">
                  <c:v>5200.0</c:v>
                </c:pt>
                <c:pt idx="52">
                  <c:v>5300.0</c:v>
                </c:pt>
                <c:pt idx="53">
                  <c:v>5400.0</c:v>
                </c:pt>
                <c:pt idx="54">
                  <c:v>5500.0</c:v>
                </c:pt>
                <c:pt idx="55">
                  <c:v>5600.0</c:v>
                </c:pt>
                <c:pt idx="56">
                  <c:v>5700.0</c:v>
                </c:pt>
                <c:pt idx="57">
                  <c:v>5800.0</c:v>
                </c:pt>
                <c:pt idx="58">
                  <c:v>5900.0</c:v>
                </c:pt>
                <c:pt idx="59">
                  <c:v>6000.0</c:v>
                </c:pt>
                <c:pt idx="60">
                  <c:v>6100.0</c:v>
                </c:pt>
                <c:pt idx="61">
                  <c:v>6200.0</c:v>
                </c:pt>
                <c:pt idx="62">
                  <c:v>6300.0</c:v>
                </c:pt>
                <c:pt idx="63">
                  <c:v>6400.0</c:v>
                </c:pt>
                <c:pt idx="64">
                  <c:v>6500.0</c:v>
                </c:pt>
                <c:pt idx="65">
                  <c:v>6600.0</c:v>
                </c:pt>
                <c:pt idx="66">
                  <c:v>6700.0</c:v>
                </c:pt>
                <c:pt idx="67">
                  <c:v>6800.0</c:v>
                </c:pt>
                <c:pt idx="68">
                  <c:v>6900.0</c:v>
                </c:pt>
                <c:pt idx="69">
                  <c:v>7000.0</c:v>
                </c:pt>
                <c:pt idx="70">
                  <c:v>7100.0</c:v>
                </c:pt>
                <c:pt idx="71">
                  <c:v>7200.0</c:v>
                </c:pt>
                <c:pt idx="72">
                  <c:v>7300.0</c:v>
                </c:pt>
                <c:pt idx="73">
                  <c:v>7400.0</c:v>
                </c:pt>
                <c:pt idx="74">
                  <c:v>7500.0</c:v>
                </c:pt>
                <c:pt idx="75">
                  <c:v>7600.0</c:v>
                </c:pt>
                <c:pt idx="76">
                  <c:v>7700.0</c:v>
                </c:pt>
                <c:pt idx="77">
                  <c:v>7800.0</c:v>
                </c:pt>
                <c:pt idx="78">
                  <c:v>7900.0</c:v>
                </c:pt>
                <c:pt idx="79">
                  <c:v>8000.0</c:v>
                </c:pt>
                <c:pt idx="80">
                  <c:v>8100.0</c:v>
                </c:pt>
                <c:pt idx="81">
                  <c:v>8200.0</c:v>
                </c:pt>
                <c:pt idx="82">
                  <c:v>8300.0</c:v>
                </c:pt>
                <c:pt idx="83">
                  <c:v>8400.0</c:v>
                </c:pt>
                <c:pt idx="84">
                  <c:v>8500.0</c:v>
                </c:pt>
                <c:pt idx="85">
                  <c:v>8600.0</c:v>
                </c:pt>
                <c:pt idx="86">
                  <c:v>8700.0</c:v>
                </c:pt>
                <c:pt idx="87">
                  <c:v>8800.0</c:v>
                </c:pt>
                <c:pt idx="88">
                  <c:v>8900.0</c:v>
                </c:pt>
                <c:pt idx="89">
                  <c:v>9000.0</c:v>
                </c:pt>
                <c:pt idx="90">
                  <c:v>9100.0</c:v>
                </c:pt>
                <c:pt idx="91">
                  <c:v>9200.0</c:v>
                </c:pt>
                <c:pt idx="92">
                  <c:v>9300.0</c:v>
                </c:pt>
                <c:pt idx="93">
                  <c:v>9400.0</c:v>
                </c:pt>
                <c:pt idx="94">
                  <c:v>9500.0</c:v>
                </c:pt>
                <c:pt idx="95">
                  <c:v>9600.0</c:v>
                </c:pt>
                <c:pt idx="96">
                  <c:v>9700.0</c:v>
                </c:pt>
                <c:pt idx="97">
                  <c:v>9800.0</c:v>
                </c:pt>
                <c:pt idx="98">
                  <c:v>9900.0</c:v>
                </c:pt>
                <c:pt idx="99">
                  <c:v>10000.0</c:v>
                </c:pt>
              </c:numCache>
            </c:numRef>
          </c:xVal>
          <c:yVal>
            <c:numRef>
              <c:f>Sheet1!$K$2:$K$101</c:f>
              <c:numCache>
                <c:formatCode>General</c:formatCode>
                <c:ptCount val="100"/>
                <c:pt idx="0">
                  <c:v>100.0</c:v>
                </c:pt>
                <c:pt idx="1">
                  <c:v>140.0</c:v>
                </c:pt>
                <c:pt idx="2">
                  <c:v>180.0</c:v>
                </c:pt>
                <c:pt idx="3">
                  <c:v>250.0</c:v>
                </c:pt>
                <c:pt idx="4">
                  <c:v>280.0</c:v>
                </c:pt>
                <c:pt idx="5">
                  <c:v>340.0</c:v>
                </c:pt>
                <c:pt idx="6">
                  <c:v>400.0</c:v>
                </c:pt>
                <c:pt idx="7">
                  <c:v>480.0</c:v>
                </c:pt>
                <c:pt idx="8">
                  <c:v>520.0</c:v>
                </c:pt>
                <c:pt idx="9">
                  <c:v>620.0</c:v>
                </c:pt>
                <c:pt idx="10">
                  <c:v>710.0</c:v>
                </c:pt>
                <c:pt idx="11">
                  <c:v>790.0</c:v>
                </c:pt>
                <c:pt idx="12">
                  <c:v>850.0</c:v>
                </c:pt>
                <c:pt idx="13">
                  <c:v>940.0</c:v>
                </c:pt>
                <c:pt idx="14">
                  <c:v>1030.0</c:v>
                </c:pt>
                <c:pt idx="15">
                  <c:v>1120.0</c:v>
                </c:pt>
                <c:pt idx="16">
                  <c:v>1190.0</c:v>
                </c:pt>
                <c:pt idx="17">
                  <c:v>1270.0</c:v>
                </c:pt>
                <c:pt idx="18">
                  <c:v>1340.0</c:v>
                </c:pt>
                <c:pt idx="19">
                  <c:v>1400.0</c:v>
                </c:pt>
                <c:pt idx="20">
                  <c:v>1520.0</c:v>
                </c:pt>
                <c:pt idx="21">
                  <c:v>1600.0</c:v>
                </c:pt>
                <c:pt idx="22">
                  <c:v>1660.0</c:v>
                </c:pt>
                <c:pt idx="23">
                  <c:v>1710.0</c:v>
                </c:pt>
                <c:pt idx="24">
                  <c:v>1810.0</c:v>
                </c:pt>
                <c:pt idx="25">
                  <c:v>1880.0</c:v>
                </c:pt>
                <c:pt idx="26">
                  <c:v>1970.0</c:v>
                </c:pt>
                <c:pt idx="27">
                  <c:v>2040.0</c:v>
                </c:pt>
                <c:pt idx="28">
                  <c:v>2080.0</c:v>
                </c:pt>
                <c:pt idx="29">
                  <c:v>2220.0</c:v>
                </c:pt>
                <c:pt idx="30">
                  <c:v>2220.0</c:v>
                </c:pt>
                <c:pt idx="31">
                  <c:v>2310.0</c:v>
                </c:pt>
                <c:pt idx="32">
                  <c:v>2350.0</c:v>
                </c:pt>
                <c:pt idx="33">
                  <c:v>2440.0</c:v>
                </c:pt>
                <c:pt idx="34">
                  <c:v>2510.0</c:v>
                </c:pt>
                <c:pt idx="35">
                  <c:v>2630.0</c:v>
                </c:pt>
                <c:pt idx="36">
                  <c:v>2700.0</c:v>
                </c:pt>
                <c:pt idx="37">
                  <c:v>2720.0</c:v>
                </c:pt>
                <c:pt idx="38">
                  <c:v>2820.0</c:v>
                </c:pt>
                <c:pt idx="39">
                  <c:v>2880.0</c:v>
                </c:pt>
                <c:pt idx="40">
                  <c:v>2980.0</c:v>
                </c:pt>
                <c:pt idx="41">
                  <c:v>3020.0</c:v>
                </c:pt>
                <c:pt idx="42">
                  <c:v>3150.0</c:v>
                </c:pt>
                <c:pt idx="43">
                  <c:v>3220.0</c:v>
                </c:pt>
                <c:pt idx="44">
                  <c:v>3290.0</c:v>
                </c:pt>
                <c:pt idx="45">
                  <c:v>3390.0</c:v>
                </c:pt>
                <c:pt idx="46">
                  <c:v>3430.0</c:v>
                </c:pt>
                <c:pt idx="47">
                  <c:v>3550.0</c:v>
                </c:pt>
                <c:pt idx="48">
                  <c:v>3600.0</c:v>
                </c:pt>
                <c:pt idx="49">
                  <c:v>3700.0</c:v>
                </c:pt>
                <c:pt idx="50">
                  <c:v>3800.0</c:v>
                </c:pt>
                <c:pt idx="51">
                  <c:v>3820.0</c:v>
                </c:pt>
                <c:pt idx="52">
                  <c:v>3960.0</c:v>
                </c:pt>
                <c:pt idx="53">
                  <c:v>4150.0</c:v>
                </c:pt>
                <c:pt idx="54">
                  <c:v>4070.0</c:v>
                </c:pt>
                <c:pt idx="55">
                  <c:v>4210.0</c:v>
                </c:pt>
                <c:pt idx="56">
                  <c:v>4350.0</c:v>
                </c:pt>
                <c:pt idx="57">
                  <c:v>4330.0</c:v>
                </c:pt>
                <c:pt idx="58">
                  <c:v>4510.0</c:v>
                </c:pt>
                <c:pt idx="59">
                  <c:v>4550.0</c:v>
                </c:pt>
                <c:pt idx="60">
                  <c:v>4660.0</c:v>
                </c:pt>
                <c:pt idx="61">
                  <c:v>4700.0</c:v>
                </c:pt>
                <c:pt idx="62">
                  <c:v>4880.0</c:v>
                </c:pt>
                <c:pt idx="63">
                  <c:v>4900.0</c:v>
                </c:pt>
                <c:pt idx="64">
                  <c:v>5050.0</c:v>
                </c:pt>
                <c:pt idx="65">
                  <c:v>5070.0</c:v>
                </c:pt>
                <c:pt idx="66">
                  <c:v>5210.0</c:v>
                </c:pt>
                <c:pt idx="67">
                  <c:v>5210.0</c:v>
                </c:pt>
                <c:pt idx="68">
                  <c:v>5390.0</c:v>
                </c:pt>
                <c:pt idx="69">
                  <c:v>5500.0</c:v>
                </c:pt>
                <c:pt idx="70">
                  <c:v>5610.0</c:v>
                </c:pt>
                <c:pt idx="71">
                  <c:v>5720.0</c:v>
                </c:pt>
                <c:pt idx="72">
                  <c:v>5820.0</c:v>
                </c:pt>
                <c:pt idx="73">
                  <c:v>5830.0</c:v>
                </c:pt>
                <c:pt idx="74">
                  <c:v>5990.0</c:v>
                </c:pt>
                <c:pt idx="75">
                  <c:v>6020.0</c:v>
                </c:pt>
                <c:pt idx="76">
                  <c:v>6150.0</c:v>
                </c:pt>
                <c:pt idx="77">
                  <c:v>6210.0</c:v>
                </c:pt>
                <c:pt idx="78">
                  <c:v>6340.0</c:v>
                </c:pt>
                <c:pt idx="79">
                  <c:v>6340.0</c:v>
                </c:pt>
                <c:pt idx="80">
                  <c:v>6520.0</c:v>
                </c:pt>
                <c:pt idx="81">
                  <c:v>6620.0</c:v>
                </c:pt>
                <c:pt idx="82">
                  <c:v>6820.0</c:v>
                </c:pt>
                <c:pt idx="83">
                  <c:v>6810.0</c:v>
                </c:pt>
                <c:pt idx="84">
                  <c:v>6890.0</c:v>
                </c:pt>
                <c:pt idx="85">
                  <c:v>6910.0</c:v>
                </c:pt>
                <c:pt idx="86">
                  <c:v>7020.0</c:v>
                </c:pt>
                <c:pt idx="87">
                  <c:v>7220.0</c:v>
                </c:pt>
                <c:pt idx="88">
                  <c:v>7440.0</c:v>
                </c:pt>
                <c:pt idx="89">
                  <c:v>7400.0</c:v>
                </c:pt>
                <c:pt idx="90">
                  <c:v>7470.0</c:v>
                </c:pt>
                <c:pt idx="91">
                  <c:v>7540.0</c:v>
                </c:pt>
                <c:pt idx="92">
                  <c:v>7610.0</c:v>
                </c:pt>
                <c:pt idx="93">
                  <c:v>7830.0</c:v>
                </c:pt>
                <c:pt idx="94">
                  <c:v>7860.0</c:v>
                </c:pt>
                <c:pt idx="95">
                  <c:v>7870.0</c:v>
                </c:pt>
                <c:pt idx="96">
                  <c:v>7590.0</c:v>
                </c:pt>
                <c:pt idx="97">
                  <c:v>8220.0</c:v>
                </c:pt>
                <c:pt idx="98">
                  <c:v>8280.0</c:v>
                </c:pt>
                <c:pt idx="99">
                  <c:v>8390.0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Sheet1!$L$1</c:f>
              <c:strCache>
                <c:ptCount val="1"/>
                <c:pt idx="0">
                  <c:v>ArrayList</c:v>
                </c:pt>
              </c:strCache>
            </c:strRef>
          </c:tx>
          <c:spPr>
            <a:ln w="28575">
              <a:solidFill>
                <a:srgbClr val="9F2936"/>
              </a:solidFill>
            </a:ln>
          </c:spPr>
          <c:marker>
            <c:symbol val="none"/>
          </c:marker>
          <c:xVal>
            <c:numRef>
              <c:f>Sheet1!$J$2:$J$101</c:f>
              <c:numCache>
                <c:formatCode>General</c:formatCode>
                <c:ptCount val="100"/>
                <c:pt idx="0">
                  <c:v>100.0</c:v>
                </c:pt>
                <c:pt idx="1">
                  <c:v>200.0</c:v>
                </c:pt>
                <c:pt idx="2">
                  <c:v>300.0</c:v>
                </c:pt>
                <c:pt idx="3">
                  <c:v>400.0</c:v>
                </c:pt>
                <c:pt idx="4">
                  <c:v>500.0</c:v>
                </c:pt>
                <c:pt idx="5">
                  <c:v>600.0</c:v>
                </c:pt>
                <c:pt idx="6">
                  <c:v>700.0</c:v>
                </c:pt>
                <c:pt idx="7">
                  <c:v>800.0</c:v>
                </c:pt>
                <c:pt idx="8">
                  <c:v>900.0</c:v>
                </c:pt>
                <c:pt idx="9">
                  <c:v>1000.0</c:v>
                </c:pt>
                <c:pt idx="10">
                  <c:v>1100.0</c:v>
                </c:pt>
                <c:pt idx="11">
                  <c:v>1200.0</c:v>
                </c:pt>
                <c:pt idx="12">
                  <c:v>1300.0</c:v>
                </c:pt>
                <c:pt idx="13">
                  <c:v>1400.0</c:v>
                </c:pt>
                <c:pt idx="14">
                  <c:v>1500.0</c:v>
                </c:pt>
                <c:pt idx="15">
                  <c:v>1600.0</c:v>
                </c:pt>
                <c:pt idx="16">
                  <c:v>1700.0</c:v>
                </c:pt>
                <c:pt idx="17">
                  <c:v>1800.0</c:v>
                </c:pt>
                <c:pt idx="18">
                  <c:v>1900.0</c:v>
                </c:pt>
                <c:pt idx="19">
                  <c:v>2000.0</c:v>
                </c:pt>
                <c:pt idx="20">
                  <c:v>2100.0</c:v>
                </c:pt>
                <c:pt idx="21">
                  <c:v>2200.0</c:v>
                </c:pt>
                <c:pt idx="22">
                  <c:v>2300.0</c:v>
                </c:pt>
                <c:pt idx="23">
                  <c:v>2400.0</c:v>
                </c:pt>
                <c:pt idx="24">
                  <c:v>2500.0</c:v>
                </c:pt>
                <c:pt idx="25">
                  <c:v>2600.0</c:v>
                </c:pt>
                <c:pt idx="26">
                  <c:v>2700.0</c:v>
                </c:pt>
                <c:pt idx="27">
                  <c:v>2800.0</c:v>
                </c:pt>
                <c:pt idx="28">
                  <c:v>2900.0</c:v>
                </c:pt>
                <c:pt idx="29">
                  <c:v>3000.0</c:v>
                </c:pt>
                <c:pt idx="30">
                  <c:v>3100.0</c:v>
                </c:pt>
                <c:pt idx="31">
                  <c:v>3200.0</c:v>
                </c:pt>
                <c:pt idx="32">
                  <c:v>3300.0</c:v>
                </c:pt>
                <c:pt idx="33">
                  <c:v>3400.0</c:v>
                </c:pt>
                <c:pt idx="34">
                  <c:v>3500.0</c:v>
                </c:pt>
                <c:pt idx="35">
                  <c:v>3600.0</c:v>
                </c:pt>
                <c:pt idx="36">
                  <c:v>3700.0</c:v>
                </c:pt>
                <c:pt idx="37">
                  <c:v>3800.0</c:v>
                </c:pt>
                <c:pt idx="38">
                  <c:v>3900.0</c:v>
                </c:pt>
                <c:pt idx="39">
                  <c:v>4000.0</c:v>
                </c:pt>
                <c:pt idx="40">
                  <c:v>4100.0</c:v>
                </c:pt>
                <c:pt idx="41">
                  <c:v>4200.0</c:v>
                </c:pt>
                <c:pt idx="42">
                  <c:v>4300.0</c:v>
                </c:pt>
                <c:pt idx="43">
                  <c:v>4400.0</c:v>
                </c:pt>
                <c:pt idx="44">
                  <c:v>4500.0</c:v>
                </c:pt>
                <c:pt idx="45">
                  <c:v>4600.0</c:v>
                </c:pt>
                <c:pt idx="46">
                  <c:v>4700.0</c:v>
                </c:pt>
                <c:pt idx="47">
                  <c:v>4800.0</c:v>
                </c:pt>
                <c:pt idx="48">
                  <c:v>4900.0</c:v>
                </c:pt>
                <c:pt idx="49">
                  <c:v>5000.0</c:v>
                </c:pt>
                <c:pt idx="50">
                  <c:v>5100.0</c:v>
                </c:pt>
                <c:pt idx="51">
                  <c:v>5200.0</c:v>
                </c:pt>
                <c:pt idx="52">
                  <c:v>5300.0</c:v>
                </c:pt>
                <c:pt idx="53">
                  <c:v>5400.0</c:v>
                </c:pt>
                <c:pt idx="54">
                  <c:v>5500.0</c:v>
                </c:pt>
                <c:pt idx="55">
                  <c:v>5600.0</c:v>
                </c:pt>
                <c:pt idx="56">
                  <c:v>5700.0</c:v>
                </c:pt>
                <c:pt idx="57">
                  <c:v>5800.0</c:v>
                </c:pt>
                <c:pt idx="58">
                  <c:v>5900.0</c:v>
                </c:pt>
                <c:pt idx="59">
                  <c:v>6000.0</c:v>
                </c:pt>
                <c:pt idx="60">
                  <c:v>6100.0</c:v>
                </c:pt>
                <c:pt idx="61">
                  <c:v>6200.0</c:v>
                </c:pt>
                <c:pt idx="62">
                  <c:v>6300.0</c:v>
                </c:pt>
                <c:pt idx="63">
                  <c:v>6400.0</c:v>
                </c:pt>
                <c:pt idx="64">
                  <c:v>6500.0</c:v>
                </c:pt>
                <c:pt idx="65">
                  <c:v>6600.0</c:v>
                </c:pt>
                <c:pt idx="66">
                  <c:v>6700.0</c:v>
                </c:pt>
                <c:pt idx="67">
                  <c:v>6800.0</c:v>
                </c:pt>
                <c:pt idx="68">
                  <c:v>6900.0</c:v>
                </c:pt>
                <c:pt idx="69">
                  <c:v>7000.0</c:v>
                </c:pt>
                <c:pt idx="70">
                  <c:v>7100.0</c:v>
                </c:pt>
                <c:pt idx="71">
                  <c:v>7200.0</c:v>
                </c:pt>
                <c:pt idx="72">
                  <c:v>7300.0</c:v>
                </c:pt>
                <c:pt idx="73">
                  <c:v>7400.0</c:v>
                </c:pt>
                <c:pt idx="74">
                  <c:v>7500.0</c:v>
                </c:pt>
                <c:pt idx="75">
                  <c:v>7600.0</c:v>
                </c:pt>
                <c:pt idx="76">
                  <c:v>7700.0</c:v>
                </c:pt>
                <c:pt idx="77">
                  <c:v>7800.0</c:v>
                </c:pt>
                <c:pt idx="78">
                  <c:v>7900.0</c:v>
                </c:pt>
                <c:pt idx="79">
                  <c:v>8000.0</c:v>
                </c:pt>
                <c:pt idx="80">
                  <c:v>8100.0</c:v>
                </c:pt>
                <c:pt idx="81">
                  <c:v>8200.0</c:v>
                </c:pt>
                <c:pt idx="82">
                  <c:v>8300.0</c:v>
                </c:pt>
                <c:pt idx="83">
                  <c:v>8400.0</c:v>
                </c:pt>
                <c:pt idx="84">
                  <c:v>8500.0</c:v>
                </c:pt>
                <c:pt idx="85">
                  <c:v>8600.0</c:v>
                </c:pt>
                <c:pt idx="86">
                  <c:v>8700.0</c:v>
                </c:pt>
                <c:pt idx="87">
                  <c:v>8800.0</c:v>
                </c:pt>
                <c:pt idx="88">
                  <c:v>8900.0</c:v>
                </c:pt>
                <c:pt idx="89">
                  <c:v>9000.0</c:v>
                </c:pt>
                <c:pt idx="90">
                  <c:v>9100.0</c:v>
                </c:pt>
                <c:pt idx="91">
                  <c:v>9200.0</c:v>
                </c:pt>
                <c:pt idx="92">
                  <c:v>9300.0</c:v>
                </c:pt>
                <c:pt idx="93">
                  <c:v>9400.0</c:v>
                </c:pt>
                <c:pt idx="94">
                  <c:v>9500.0</c:v>
                </c:pt>
                <c:pt idx="95">
                  <c:v>9600.0</c:v>
                </c:pt>
                <c:pt idx="96">
                  <c:v>9700.0</c:v>
                </c:pt>
                <c:pt idx="97">
                  <c:v>9800.0</c:v>
                </c:pt>
                <c:pt idx="98">
                  <c:v>9900.0</c:v>
                </c:pt>
                <c:pt idx="99">
                  <c:v>10000.0</c:v>
                </c:pt>
              </c:numCache>
            </c:numRef>
          </c:xVal>
          <c:yVal>
            <c:numRef>
              <c:f>Sheet1!$L$2:$L$101</c:f>
              <c:numCache>
                <c:formatCode>General</c:formatCode>
                <c:ptCount val="100"/>
                <c:pt idx="0">
                  <c:v>30.0</c:v>
                </c:pt>
                <c:pt idx="1">
                  <c:v>40.0</c:v>
                </c:pt>
                <c:pt idx="2">
                  <c:v>40.0</c:v>
                </c:pt>
                <c:pt idx="3">
                  <c:v>30.0</c:v>
                </c:pt>
                <c:pt idx="4">
                  <c:v>40.0</c:v>
                </c:pt>
                <c:pt idx="5">
                  <c:v>40.0</c:v>
                </c:pt>
                <c:pt idx="6">
                  <c:v>30.0</c:v>
                </c:pt>
                <c:pt idx="7">
                  <c:v>40.0</c:v>
                </c:pt>
                <c:pt idx="8">
                  <c:v>40.0</c:v>
                </c:pt>
                <c:pt idx="9">
                  <c:v>30.0</c:v>
                </c:pt>
                <c:pt idx="10">
                  <c:v>30.0</c:v>
                </c:pt>
                <c:pt idx="11">
                  <c:v>40.0</c:v>
                </c:pt>
                <c:pt idx="12">
                  <c:v>30.0</c:v>
                </c:pt>
                <c:pt idx="13">
                  <c:v>30.0</c:v>
                </c:pt>
                <c:pt idx="14">
                  <c:v>30.0</c:v>
                </c:pt>
                <c:pt idx="15">
                  <c:v>30.0</c:v>
                </c:pt>
                <c:pt idx="16">
                  <c:v>30.0</c:v>
                </c:pt>
                <c:pt idx="17">
                  <c:v>30.0</c:v>
                </c:pt>
                <c:pt idx="18">
                  <c:v>40.0</c:v>
                </c:pt>
                <c:pt idx="19">
                  <c:v>40.0</c:v>
                </c:pt>
                <c:pt idx="20">
                  <c:v>40.0</c:v>
                </c:pt>
                <c:pt idx="21">
                  <c:v>30.0</c:v>
                </c:pt>
                <c:pt idx="22">
                  <c:v>40.0</c:v>
                </c:pt>
                <c:pt idx="23">
                  <c:v>30.0</c:v>
                </c:pt>
                <c:pt idx="24">
                  <c:v>30.0</c:v>
                </c:pt>
                <c:pt idx="25">
                  <c:v>40.0</c:v>
                </c:pt>
                <c:pt idx="26">
                  <c:v>40.0</c:v>
                </c:pt>
                <c:pt idx="27">
                  <c:v>30.0</c:v>
                </c:pt>
                <c:pt idx="28">
                  <c:v>30.0</c:v>
                </c:pt>
                <c:pt idx="29">
                  <c:v>30.0</c:v>
                </c:pt>
                <c:pt idx="30">
                  <c:v>40.0</c:v>
                </c:pt>
                <c:pt idx="31">
                  <c:v>40.0</c:v>
                </c:pt>
                <c:pt idx="32">
                  <c:v>30.0</c:v>
                </c:pt>
                <c:pt idx="33">
                  <c:v>40.0</c:v>
                </c:pt>
                <c:pt idx="34">
                  <c:v>30.0</c:v>
                </c:pt>
                <c:pt idx="35">
                  <c:v>40.0</c:v>
                </c:pt>
                <c:pt idx="36">
                  <c:v>40.0</c:v>
                </c:pt>
                <c:pt idx="37">
                  <c:v>30.0</c:v>
                </c:pt>
                <c:pt idx="38">
                  <c:v>30.0</c:v>
                </c:pt>
                <c:pt idx="39">
                  <c:v>30.0</c:v>
                </c:pt>
                <c:pt idx="40">
                  <c:v>30.0</c:v>
                </c:pt>
                <c:pt idx="41">
                  <c:v>30.0</c:v>
                </c:pt>
                <c:pt idx="42">
                  <c:v>30.0</c:v>
                </c:pt>
                <c:pt idx="43">
                  <c:v>30.0</c:v>
                </c:pt>
                <c:pt idx="44">
                  <c:v>30.0</c:v>
                </c:pt>
                <c:pt idx="45">
                  <c:v>40.0</c:v>
                </c:pt>
                <c:pt idx="46">
                  <c:v>40.0</c:v>
                </c:pt>
                <c:pt idx="47">
                  <c:v>40.0</c:v>
                </c:pt>
                <c:pt idx="48">
                  <c:v>40.0</c:v>
                </c:pt>
                <c:pt idx="49">
                  <c:v>30.0</c:v>
                </c:pt>
                <c:pt idx="50">
                  <c:v>40.0</c:v>
                </c:pt>
                <c:pt idx="51">
                  <c:v>40.0</c:v>
                </c:pt>
                <c:pt idx="52">
                  <c:v>40.0</c:v>
                </c:pt>
                <c:pt idx="53">
                  <c:v>30.0</c:v>
                </c:pt>
                <c:pt idx="54">
                  <c:v>30.0</c:v>
                </c:pt>
                <c:pt idx="55">
                  <c:v>40.0</c:v>
                </c:pt>
                <c:pt idx="56">
                  <c:v>30.0</c:v>
                </c:pt>
                <c:pt idx="57">
                  <c:v>40.0</c:v>
                </c:pt>
                <c:pt idx="58">
                  <c:v>30.0</c:v>
                </c:pt>
                <c:pt idx="59">
                  <c:v>30.0</c:v>
                </c:pt>
                <c:pt idx="60">
                  <c:v>40.0</c:v>
                </c:pt>
                <c:pt idx="61">
                  <c:v>40.0</c:v>
                </c:pt>
                <c:pt idx="62">
                  <c:v>30.0</c:v>
                </c:pt>
                <c:pt idx="63">
                  <c:v>40.0</c:v>
                </c:pt>
                <c:pt idx="64">
                  <c:v>30.0</c:v>
                </c:pt>
                <c:pt idx="65">
                  <c:v>40.0</c:v>
                </c:pt>
                <c:pt idx="66">
                  <c:v>40.0</c:v>
                </c:pt>
                <c:pt idx="67">
                  <c:v>30.0</c:v>
                </c:pt>
                <c:pt idx="68">
                  <c:v>40.0</c:v>
                </c:pt>
                <c:pt idx="69">
                  <c:v>30.0</c:v>
                </c:pt>
                <c:pt idx="70">
                  <c:v>40.0</c:v>
                </c:pt>
                <c:pt idx="71">
                  <c:v>30.0</c:v>
                </c:pt>
                <c:pt idx="72">
                  <c:v>30.0</c:v>
                </c:pt>
                <c:pt idx="73">
                  <c:v>30.0</c:v>
                </c:pt>
                <c:pt idx="74">
                  <c:v>40.0</c:v>
                </c:pt>
                <c:pt idx="75">
                  <c:v>30.0</c:v>
                </c:pt>
                <c:pt idx="76">
                  <c:v>30.0</c:v>
                </c:pt>
                <c:pt idx="77">
                  <c:v>40.0</c:v>
                </c:pt>
                <c:pt idx="78">
                  <c:v>30.0</c:v>
                </c:pt>
                <c:pt idx="79">
                  <c:v>30.0</c:v>
                </c:pt>
                <c:pt idx="80">
                  <c:v>40.0</c:v>
                </c:pt>
                <c:pt idx="81">
                  <c:v>30.0</c:v>
                </c:pt>
                <c:pt idx="82">
                  <c:v>40.0</c:v>
                </c:pt>
                <c:pt idx="83">
                  <c:v>30.0</c:v>
                </c:pt>
                <c:pt idx="84">
                  <c:v>40.0</c:v>
                </c:pt>
                <c:pt idx="85">
                  <c:v>30.0</c:v>
                </c:pt>
                <c:pt idx="86">
                  <c:v>30.0</c:v>
                </c:pt>
                <c:pt idx="87">
                  <c:v>40.0</c:v>
                </c:pt>
                <c:pt idx="88">
                  <c:v>30.0</c:v>
                </c:pt>
                <c:pt idx="89">
                  <c:v>30.0</c:v>
                </c:pt>
                <c:pt idx="90">
                  <c:v>40.0</c:v>
                </c:pt>
                <c:pt idx="91">
                  <c:v>30.0</c:v>
                </c:pt>
                <c:pt idx="92">
                  <c:v>30.0</c:v>
                </c:pt>
                <c:pt idx="93">
                  <c:v>40.0</c:v>
                </c:pt>
                <c:pt idx="94">
                  <c:v>30.0</c:v>
                </c:pt>
                <c:pt idx="95">
                  <c:v>30.0</c:v>
                </c:pt>
                <c:pt idx="96">
                  <c:v>40.0</c:v>
                </c:pt>
                <c:pt idx="97">
                  <c:v>40.0</c:v>
                </c:pt>
                <c:pt idx="98">
                  <c:v>30.0</c:v>
                </c:pt>
                <c:pt idx="99">
                  <c:v>30.0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63104600"/>
        <c:axId val="-2118048184"/>
      </c:scatterChart>
      <c:valAx>
        <c:axId val="-2063104600"/>
        <c:scaling>
          <c:orientation val="minMax"/>
          <c:max val="10000.0"/>
        </c:scaling>
        <c:delete val="0"/>
        <c:axPos val="b"/>
        <c:title>
          <c:tx>
            <c:rich>
              <a:bodyPr/>
              <a:lstStyle/>
              <a:p>
                <a:pPr>
                  <a:defRPr sz="2000"/>
                </a:pPr>
                <a:r>
                  <a:rPr lang="en-US" sz="2000"/>
                  <a:t>Size [# items]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18048184"/>
        <c:crosses val="autoZero"/>
        <c:crossBetween val="midCat"/>
      </c:valAx>
      <c:valAx>
        <c:axId val="-211804818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2000"/>
                </a:pPr>
                <a:r>
                  <a:rPr lang="en-US" sz="2000"/>
                  <a:t>Time [ns]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06310460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89664638511095"/>
          <c:y val="0.510221481930143"/>
          <c:w val="0.161913034066618"/>
          <c:h val="0.146720006773347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add</a:t>
            </a:r>
            <a:r>
              <a:rPr lang="en-US" baseline="0"/>
              <a:t> in first position in a list of given size</a:t>
            </a:r>
            <a:endParaRPr lang="en-US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0758262456873406"/>
          <c:y val="0.149508196721311"/>
          <c:w val="0.739384090444156"/>
          <c:h val="0.7673881502517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LinkedList</c:v>
                </c:pt>
              </c:strCache>
            </c:strRef>
          </c:tx>
          <c:spPr>
            <a:ln w="47625">
              <a:solidFill>
                <a:schemeClr val="accent1"/>
              </a:solidFill>
            </a:ln>
          </c:spPr>
          <c:marker>
            <c:symbol val="none"/>
          </c:marker>
          <c:xVal>
            <c:numRef>
              <c:f>Sheet3!$A$4:$A$20</c:f>
              <c:numCache>
                <c:formatCode>General</c:formatCode>
                <c:ptCount val="17"/>
                <c:pt idx="0">
                  <c:v>1.0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  <c:pt idx="11">
                  <c:v>110.0</c:v>
                </c:pt>
                <c:pt idx="12">
                  <c:v>120.0</c:v>
                </c:pt>
                <c:pt idx="13">
                  <c:v>130.0</c:v>
                </c:pt>
                <c:pt idx="14">
                  <c:v>140.0</c:v>
                </c:pt>
                <c:pt idx="15">
                  <c:v>150.0</c:v>
                </c:pt>
                <c:pt idx="16">
                  <c:v>160.0</c:v>
                </c:pt>
              </c:numCache>
            </c:numRef>
          </c:xVal>
          <c:yVal>
            <c:numRef>
              <c:f>Sheet3!$B$4:$B$20</c:f>
              <c:numCache>
                <c:formatCode>General</c:formatCode>
                <c:ptCount val="17"/>
                <c:pt idx="0">
                  <c:v>16.61</c:v>
                </c:pt>
                <c:pt idx="1">
                  <c:v>16.61</c:v>
                </c:pt>
                <c:pt idx="2">
                  <c:v>16.61</c:v>
                </c:pt>
                <c:pt idx="3">
                  <c:v>16.61</c:v>
                </c:pt>
                <c:pt idx="4">
                  <c:v>16.61</c:v>
                </c:pt>
                <c:pt idx="5">
                  <c:v>16.61</c:v>
                </c:pt>
                <c:pt idx="6">
                  <c:v>16.61</c:v>
                </c:pt>
                <c:pt idx="7">
                  <c:v>16.61</c:v>
                </c:pt>
                <c:pt idx="8">
                  <c:v>16.61</c:v>
                </c:pt>
                <c:pt idx="9">
                  <c:v>16.61</c:v>
                </c:pt>
                <c:pt idx="10">
                  <c:v>16.61</c:v>
                </c:pt>
                <c:pt idx="11">
                  <c:v>16.61</c:v>
                </c:pt>
                <c:pt idx="12">
                  <c:v>16.61</c:v>
                </c:pt>
                <c:pt idx="13">
                  <c:v>16.61</c:v>
                </c:pt>
                <c:pt idx="14">
                  <c:v>16.61</c:v>
                </c:pt>
                <c:pt idx="15">
                  <c:v>16.61</c:v>
                </c:pt>
                <c:pt idx="16">
                  <c:v>16.61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Sheet3!$C$3</c:f>
              <c:strCache>
                <c:ptCount val="1"/>
                <c:pt idx="0">
                  <c:v>ArrayList</c:v>
                </c:pt>
              </c:strCache>
            </c:strRef>
          </c:tx>
          <c:spPr>
            <a:ln w="47625">
              <a:solidFill>
                <a:schemeClr val="accent2"/>
              </a:solidFill>
            </a:ln>
          </c:spPr>
          <c:marker>
            <c:symbol val="none"/>
          </c:marker>
          <c:xVal>
            <c:numRef>
              <c:f>Sheet3!$A$4:$A$20</c:f>
              <c:numCache>
                <c:formatCode>General</c:formatCode>
                <c:ptCount val="17"/>
                <c:pt idx="0">
                  <c:v>1.0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  <c:pt idx="11">
                  <c:v>110.0</c:v>
                </c:pt>
                <c:pt idx="12">
                  <c:v>120.0</c:v>
                </c:pt>
                <c:pt idx="13">
                  <c:v>130.0</c:v>
                </c:pt>
                <c:pt idx="14">
                  <c:v>140.0</c:v>
                </c:pt>
                <c:pt idx="15">
                  <c:v>150.0</c:v>
                </c:pt>
                <c:pt idx="16">
                  <c:v>160.0</c:v>
                </c:pt>
              </c:numCache>
            </c:numRef>
          </c:xVal>
          <c:yVal>
            <c:numRef>
              <c:f>Sheet3!$C$4:$C$20</c:f>
              <c:numCache>
                <c:formatCode>General</c:formatCode>
                <c:ptCount val="17"/>
                <c:pt idx="0">
                  <c:v>0.206</c:v>
                </c:pt>
                <c:pt idx="1">
                  <c:v>2.06</c:v>
                </c:pt>
                <c:pt idx="2">
                  <c:v>4.119999999999997</c:v>
                </c:pt>
                <c:pt idx="3">
                  <c:v>6.18</c:v>
                </c:pt>
                <c:pt idx="4">
                  <c:v>8.239999999999998</c:v>
                </c:pt>
                <c:pt idx="5">
                  <c:v>10.3</c:v>
                </c:pt>
                <c:pt idx="6">
                  <c:v>12.36</c:v>
                </c:pt>
                <c:pt idx="7">
                  <c:v>14.42</c:v>
                </c:pt>
                <c:pt idx="8">
                  <c:v>16.48</c:v>
                </c:pt>
                <c:pt idx="9">
                  <c:v>18.54</c:v>
                </c:pt>
                <c:pt idx="10">
                  <c:v>20.6</c:v>
                </c:pt>
                <c:pt idx="11">
                  <c:v>22.66</c:v>
                </c:pt>
                <c:pt idx="12">
                  <c:v>24.72</c:v>
                </c:pt>
                <c:pt idx="13">
                  <c:v>26.78</c:v>
                </c:pt>
                <c:pt idx="14">
                  <c:v>28.84</c:v>
                </c:pt>
                <c:pt idx="15">
                  <c:v>30.9</c:v>
                </c:pt>
                <c:pt idx="16">
                  <c:v>32.96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28681912"/>
        <c:axId val="-2117814376"/>
      </c:scatterChart>
      <c:valAx>
        <c:axId val="2028681912"/>
        <c:scaling>
          <c:orientation val="minMax"/>
          <c:max val="160.0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rPr lang="en-US" sz="1100" dirty="0" smtClean="0"/>
                  <a:t>Size</a:t>
                </a:r>
                <a:endParaRPr lang="en-US" sz="11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17814376"/>
        <c:crosses val="autoZero"/>
        <c:crossBetween val="midCat"/>
      </c:valAx>
      <c:valAx>
        <c:axId val="-2117814376"/>
        <c:scaling>
          <c:orientation val="minMax"/>
        </c:scaling>
        <c:delete val="0"/>
        <c:axPos val="l"/>
        <c:majorGridlines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/>
                  <a:t>ns</a:t>
                </a:r>
              </a:p>
            </c:rich>
          </c:tx>
          <c:layout>
            <c:manualLayout>
              <c:xMode val="edge"/>
              <c:yMode val="edge"/>
              <c:x val="0.00898203645752018"/>
              <c:y val="0.082382599716019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202868191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824203511728718"/>
          <c:y val="0.677760939718601"/>
          <c:w val="0.162323433585001"/>
          <c:h val="0.131691235316897"/>
        </c:manualLayout>
      </c:layout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add given # of elements in first position</a:t>
            </a:r>
          </a:p>
        </c:rich>
      </c:tx>
      <c:layout/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Sheet3!$B$27</c:f>
              <c:strCache>
                <c:ptCount val="1"/>
                <c:pt idx="0">
                  <c:v>LinkedList</c:v>
                </c:pt>
              </c:strCache>
            </c:strRef>
          </c:tx>
          <c:marker>
            <c:symbol val="none"/>
          </c:marker>
          <c:xVal>
            <c:numRef>
              <c:f>Sheet3!$A$28:$A$42</c:f>
              <c:numCache>
                <c:formatCode>General</c:formatCode>
                <c:ptCount val="15"/>
                <c:pt idx="0">
                  <c:v>1.0</c:v>
                </c:pt>
                <c:pt idx="1">
                  <c:v>20.0</c:v>
                </c:pt>
                <c:pt idx="2">
                  <c:v>40.0</c:v>
                </c:pt>
                <c:pt idx="3">
                  <c:v>60.0</c:v>
                </c:pt>
                <c:pt idx="4">
                  <c:v>80.0</c:v>
                </c:pt>
                <c:pt idx="5">
                  <c:v>100.0</c:v>
                </c:pt>
                <c:pt idx="6">
                  <c:v>120.0</c:v>
                </c:pt>
                <c:pt idx="7">
                  <c:v>140.0</c:v>
                </c:pt>
                <c:pt idx="8">
                  <c:v>160.0</c:v>
                </c:pt>
                <c:pt idx="9">
                  <c:v>180.0</c:v>
                </c:pt>
                <c:pt idx="10">
                  <c:v>200.0</c:v>
                </c:pt>
                <c:pt idx="11">
                  <c:v>220.0</c:v>
                </c:pt>
                <c:pt idx="12">
                  <c:v>240.0</c:v>
                </c:pt>
                <c:pt idx="13">
                  <c:v>260.0</c:v>
                </c:pt>
                <c:pt idx="14">
                  <c:v>280.0</c:v>
                </c:pt>
              </c:numCache>
            </c:numRef>
          </c:xVal>
          <c:yVal>
            <c:numRef>
              <c:f>Sheet3!$B$28:$B$42</c:f>
              <c:numCache>
                <c:formatCode>General</c:formatCode>
                <c:ptCount val="15"/>
                <c:pt idx="0">
                  <c:v>16.61</c:v>
                </c:pt>
                <c:pt idx="1">
                  <c:v>332.2</c:v>
                </c:pt>
                <c:pt idx="2">
                  <c:v>664.4</c:v>
                </c:pt>
                <c:pt idx="3">
                  <c:v>996.6</c:v>
                </c:pt>
                <c:pt idx="4">
                  <c:v>1328.8</c:v>
                </c:pt>
                <c:pt idx="5">
                  <c:v>1661.0</c:v>
                </c:pt>
                <c:pt idx="6">
                  <c:v>1993.2</c:v>
                </c:pt>
                <c:pt idx="7">
                  <c:v>2325.4</c:v>
                </c:pt>
                <c:pt idx="8">
                  <c:v>2657.6</c:v>
                </c:pt>
                <c:pt idx="9">
                  <c:v>2989.8</c:v>
                </c:pt>
                <c:pt idx="10">
                  <c:v>3322.0</c:v>
                </c:pt>
                <c:pt idx="11">
                  <c:v>3654.2</c:v>
                </c:pt>
                <c:pt idx="12">
                  <c:v>3986.4</c:v>
                </c:pt>
                <c:pt idx="13">
                  <c:v>4318.6</c:v>
                </c:pt>
                <c:pt idx="14">
                  <c:v>4650.8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Sheet3!$C$27</c:f>
              <c:strCache>
                <c:ptCount val="1"/>
                <c:pt idx="0">
                  <c:v>ArrayList</c:v>
                </c:pt>
              </c:strCache>
            </c:strRef>
          </c:tx>
          <c:marker>
            <c:symbol val="none"/>
          </c:marker>
          <c:xVal>
            <c:numRef>
              <c:f>Sheet3!$A$28:$A$42</c:f>
              <c:numCache>
                <c:formatCode>General</c:formatCode>
                <c:ptCount val="15"/>
                <c:pt idx="0">
                  <c:v>1.0</c:v>
                </c:pt>
                <c:pt idx="1">
                  <c:v>20.0</c:v>
                </c:pt>
                <c:pt idx="2">
                  <c:v>40.0</c:v>
                </c:pt>
                <c:pt idx="3">
                  <c:v>60.0</c:v>
                </c:pt>
                <c:pt idx="4">
                  <c:v>80.0</c:v>
                </c:pt>
                <c:pt idx="5">
                  <c:v>100.0</c:v>
                </c:pt>
                <c:pt idx="6">
                  <c:v>120.0</c:v>
                </c:pt>
                <c:pt idx="7">
                  <c:v>140.0</c:v>
                </c:pt>
                <c:pt idx="8">
                  <c:v>160.0</c:v>
                </c:pt>
                <c:pt idx="9">
                  <c:v>180.0</c:v>
                </c:pt>
                <c:pt idx="10">
                  <c:v>200.0</c:v>
                </c:pt>
                <c:pt idx="11">
                  <c:v>220.0</c:v>
                </c:pt>
                <c:pt idx="12">
                  <c:v>240.0</c:v>
                </c:pt>
                <c:pt idx="13">
                  <c:v>260.0</c:v>
                </c:pt>
                <c:pt idx="14">
                  <c:v>280.0</c:v>
                </c:pt>
              </c:numCache>
            </c:numRef>
          </c:xVal>
          <c:yVal>
            <c:numRef>
              <c:f>Sheet3!$C$28:$C$42</c:f>
              <c:numCache>
                <c:formatCode>General</c:formatCode>
                <c:ptCount val="15"/>
                <c:pt idx="0">
                  <c:v>0.206</c:v>
                </c:pt>
                <c:pt idx="1">
                  <c:v>43.26</c:v>
                </c:pt>
                <c:pt idx="2">
                  <c:v>168.92</c:v>
                </c:pt>
                <c:pt idx="3">
                  <c:v>376.98</c:v>
                </c:pt>
                <c:pt idx="4">
                  <c:v>667.4399999999994</c:v>
                </c:pt>
                <c:pt idx="5">
                  <c:v>1040.3</c:v>
                </c:pt>
                <c:pt idx="6">
                  <c:v>1495.56</c:v>
                </c:pt>
                <c:pt idx="7">
                  <c:v>2033.22</c:v>
                </c:pt>
                <c:pt idx="8">
                  <c:v>2653.28</c:v>
                </c:pt>
                <c:pt idx="9">
                  <c:v>3355.74</c:v>
                </c:pt>
                <c:pt idx="10">
                  <c:v>4140.6</c:v>
                </c:pt>
                <c:pt idx="11">
                  <c:v>5007.86</c:v>
                </c:pt>
                <c:pt idx="12">
                  <c:v>5957.52</c:v>
                </c:pt>
                <c:pt idx="13">
                  <c:v>6989.58</c:v>
                </c:pt>
                <c:pt idx="14">
                  <c:v>8104.04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13739960"/>
        <c:axId val="-2117257112"/>
      </c:scatterChart>
      <c:valAx>
        <c:axId val="-2113739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7257112"/>
        <c:crosses val="autoZero"/>
        <c:crossBetween val="midCat"/>
      </c:valAx>
      <c:valAx>
        <c:axId val="-21172571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3739960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Times New Roman" charset="0"/>
              <a:buNone/>
              <a:defRPr sz="1200">
                <a:latin typeface="Times New Roman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Lucida Sans Unicode" charset="0"/>
              </a:defRPr>
            </a:lvl1pPr>
          </a:lstStyle>
          <a:p>
            <a:pPr>
              <a:defRPr/>
            </a:pPr>
            <a:fld id="{703C2501-3CB3-4D47-82C0-74318A62EB42}" type="datetime1">
              <a:rPr lang="it-IT"/>
              <a:pPr>
                <a:defRPr/>
              </a:pPr>
              <a:t>20/04/17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Times New Roman" charset="0"/>
              <a:buNone/>
              <a:defRPr sz="1200">
                <a:latin typeface="Times New Roman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Lucida Sans Unicode" charset="0"/>
              </a:defRPr>
            </a:lvl1pPr>
          </a:lstStyle>
          <a:p>
            <a:pPr>
              <a:defRPr/>
            </a:pPr>
            <a:fld id="{981FD3F6-C266-1C4F-88A0-C7404F83E61A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8832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AutoShape 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8675" name="AutoShape 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8676" name="AutoShape 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8677" name="AutoShape 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8678" name="AutoShape 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3170238" y="9124950"/>
            <a:ext cx="858837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7480" tIns="44280" rIns="87480" bIns="44280">
            <a:spAutoFit/>
          </a:bodyPr>
          <a:lstStyle/>
          <a:p>
            <a:pPr algn="ctr">
              <a:lnSpc>
                <a:spcPct val="90000"/>
              </a:lnSpc>
              <a:buFont typeface="Arial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>
                <a:solidFill>
                  <a:srgbClr val="000000"/>
                </a:solidFill>
                <a:latin typeface="Arial" charset="0"/>
              </a:rPr>
              <a:t>Pag. </a:t>
            </a:r>
            <a:fld id="{13D76FE0-2AC4-9C4E-B204-F01BBD367B1A}" type="slidenum">
              <a:rPr lang="en-GB" sz="1200">
                <a:solidFill>
                  <a:srgbClr val="000000"/>
                </a:solidFill>
                <a:latin typeface="Arial" charset="0"/>
              </a:rPr>
              <a:pPr algn="ctr">
                <a:lnSpc>
                  <a:spcPct val="90000"/>
                </a:lnSpc>
                <a:buFont typeface="Arial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‹#›</a:t>
            </a:fld>
            <a:endParaRPr lang="en-GB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8680" name="Rectangle 7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25575" y="846138"/>
            <a:ext cx="4457700" cy="3349625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080" name="Rectangle 8"/>
          <p:cNvSpPr>
            <a:spLocks noGrp="1" noChangeArrowheads="1"/>
          </p:cNvSpPr>
          <p:nvPr>
            <p:ph type="body"/>
          </p:nvPr>
        </p:nvSpPr>
        <p:spPr bwMode="auto">
          <a:xfrm>
            <a:off x="974725" y="4562475"/>
            <a:ext cx="5357813" cy="40354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5340854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8" charset="0"/>
        <a:ea typeface="ＭＳ Ｐゴシック" pitchFamily="-110" charset="-128"/>
        <a:cs typeface="ＭＳ Ｐゴシック" pitchFamily="-110" charset="-128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8" charset="0"/>
        <a:ea typeface="ＭＳ Ｐゴシック" pitchFamily="-107" charset="-128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8" charset="0"/>
        <a:ea typeface="ＭＳ Ｐゴシック" pitchFamily="-107" charset="-128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8" charset="0"/>
        <a:ea typeface="ＭＳ Ｐゴシック" pitchFamily="-107" charset="-128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8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025"/>
          <p:cNvSpPr txBox="1">
            <a:spLocks noChangeArrowheads="1"/>
          </p:cNvSpPr>
          <p:nvPr/>
        </p:nvSpPr>
        <p:spPr bwMode="auto">
          <a:xfrm>
            <a:off x="1423988" y="846138"/>
            <a:ext cx="4467225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29699" name="Rectangle 1026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62575" cy="4041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11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20" tIns="45710" rIns="91420" bIns="45710"/>
          <a:lstStyle>
            <a:lvl1pPr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5675"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955675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0725" algn="l"/>
                <a:tab pos="1444625" algn="l"/>
                <a:tab pos="2168525" algn="l"/>
                <a:tab pos="28924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7020F7A-D1D9-6744-B3BA-694639E1A141}" type="slidenum">
              <a:rPr lang="en-GB" sz="1200">
                <a:solidFill>
                  <a:srgbClr val="000000"/>
                </a:solidFill>
              </a:rPr>
              <a:pPr/>
              <a:t>2</a:t>
            </a:fld>
            <a:endParaRPr lang="en-GB" sz="1200">
              <a:solidFill>
                <a:srgbClr val="000000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982663" y="720725"/>
            <a:ext cx="5349875" cy="36020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420" tIns="45710" rIns="91420" bIns="45710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en-US" sz="2500"/>
          </a:p>
        </p:txBody>
      </p:sp>
      <p:sp>
        <p:nvSpPr>
          <p:cNvPr id="273412" name="Text Box 2"/>
          <p:cNvSpPr>
            <a:spLocks noGrp="1" noChangeArrowheads="1"/>
          </p:cNvSpPr>
          <p:nvPr>
            <p:ph type="body"/>
          </p:nvPr>
        </p:nvSpPr>
        <p:spPr>
          <a:xfrm>
            <a:off x="731838" y="4562475"/>
            <a:ext cx="5845175" cy="4406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2400" y="846138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0726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First according to the order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0752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4050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49875" cy="4029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In Java 1.4:</a:t>
            </a:r>
          </a:p>
          <a:p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Collection persons = new LinkedList();</a:t>
            </a:r>
          </a:p>
          <a:p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for( Iterator i = persons.iterator(); i.hasNext(); ) {</a:t>
            </a:r>
            <a:br>
              <a:rPr lang="it-IT">
                <a:latin typeface="Times New Roman" charset="0"/>
                <a:ea typeface="ＭＳ Ｐゴシック" charset="0"/>
                <a:cs typeface="ＭＳ Ｐゴシック" charset="0"/>
              </a:rPr>
            </a:br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   Person p = (Person)i.next();</a:t>
            </a:r>
            <a:br>
              <a:rPr lang="it-IT">
                <a:latin typeface="Times New Roman" charset="0"/>
                <a:ea typeface="ＭＳ Ｐゴシック" charset="0"/>
                <a:cs typeface="ＭＳ Ｐゴシック" charset="0"/>
              </a:rPr>
            </a:br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   …</a:t>
            </a:r>
            <a:br>
              <a:rPr lang="it-IT">
                <a:latin typeface="Times New Roman" charset="0"/>
                <a:ea typeface="ＭＳ Ｐゴシック" charset="0"/>
                <a:cs typeface="ＭＳ Ｐゴシック" charset="0"/>
              </a:rPr>
            </a:br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}</a:t>
            </a:r>
          </a:p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1366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1776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1981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2185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2800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3005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3209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3209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5360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5565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2463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5769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2463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59747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61795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63843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65891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ext Box 1"/>
          <p:cNvSpPr txBox="1">
            <a:spLocks noChangeArrowheads="1"/>
          </p:cNvSpPr>
          <p:nvPr/>
        </p:nvSpPr>
        <p:spPr bwMode="auto">
          <a:xfrm>
            <a:off x="1425575" y="846138"/>
            <a:ext cx="4465638" cy="33512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endParaRPr lang="it-IT"/>
          </a:p>
        </p:txBody>
      </p:sp>
      <p:sp>
        <p:nvSpPr>
          <p:cNvPr id="167939" name="Rectangle 2"/>
          <p:cNvSpPr>
            <a:spLocks noGrp="1" noChangeArrowheads="1"/>
          </p:cNvSpPr>
          <p:nvPr>
            <p:ph type="body"/>
          </p:nvPr>
        </p:nvSpPr>
        <p:spPr>
          <a:xfrm>
            <a:off x="974725" y="4562475"/>
            <a:ext cx="5359400" cy="4037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D300DC-34DE-464A-8925-F146F79EF1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91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C494A8-51BF-E448-9799-118703EFCC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644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B333D-C04D-884C-9AD1-00BC5CCC50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464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295400"/>
            <a:ext cx="4033838" cy="4799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795838" y="1295400"/>
            <a:ext cx="4035425" cy="47990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B9F55-1368-634E-8188-5D33B193BF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15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6CDE55-79FA-F94C-93CD-C6B59350E3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504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B4E82-E8B3-A747-9FD1-719F0B9368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788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54F0C2-43C5-F84E-B7FB-39437ABE44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278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681A9C-CE89-4044-9DF8-E77F828C4F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9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1A3C30-685A-8E49-A219-84DAB72C2A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359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DBDC7F-1A8A-D848-9268-D6CD82E21C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83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81788" y="-227013"/>
            <a:ext cx="2149475" cy="6321426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228600" y="-227013"/>
            <a:ext cx="6300788" cy="6321426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F85048-BCF3-514A-98AC-6694D04172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560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28600" y="-227013"/>
            <a:ext cx="8602663" cy="1485901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609600" y="1295400"/>
            <a:ext cx="8221663" cy="4799013"/>
          </a:xfrm>
        </p:spPr>
        <p:txBody>
          <a:bodyPr>
            <a:normAutofit/>
          </a:bodyPr>
          <a:lstStyle/>
          <a:p>
            <a:pPr lvl="0"/>
            <a:endParaRPr lang="it-IT" noProof="0" smtClean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C3791-5E5A-354A-AB65-1C9C42F288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654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AE0BB-1CA5-F64A-B4E6-C0675A33EA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028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5A6471-F178-AB41-AF49-B92058F951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2374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A8C56E-B336-0042-AD74-5D8635BA4C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363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3521075"/>
            <a:ext cx="4033838" cy="4306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3438" y="3521075"/>
            <a:ext cx="4035425" cy="4306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B74280-CA79-514A-BF21-88A5818503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461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2B0474-2607-654C-A550-231440CDC9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1198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E61B6E-6087-5540-AF55-683C5EC14B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0735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F9229-0EFE-0B4A-B709-E4CFBD9887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2974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557A68-5547-194E-BBA2-F3469ECCC7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2752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8314EC-8DCD-D442-8092-DB5FB2BB65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3529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06546-9DEA-834E-A523-F7EC6AC3FF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7825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4638" y="533400"/>
            <a:ext cx="2054225" cy="7294563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15038" cy="7294563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2FE3D-3DE8-694C-B238-618B99A6B1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026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7764463" cy="28876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864C-3A55-3E4D-BE8E-B116F3059F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02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482449"/>
            <a:ext cx="18288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-227013"/>
            <a:ext cx="8602663" cy="1485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Cliccate per modificare il formato del testo del titolo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95401"/>
            <a:ext cx="8221663" cy="4581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/>
              <a:t>Cliccate per modificare il formato del testo della struttura</a:t>
            </a:r>
          </a:p>
          <a:p>
            <a:pPr lvl="1"/>
            <a:r>
              <a:rPr lang="en-GB"/>
              <a:t>Secondo livello struttura</a:t>
            </a:r>
          </a:p>
          <a:p>
            <a:pPr lvl="2"/>
            <a:r>
              <a:rPr lang="en-GB"/>
              <a:t>Terzo livello struttura</a:t>
            </a:r>
          </a:p>
          <a:p>
            <a:pPr lvl="3"/>
            <a:r>
              <a:rPr lang="en-GB"/>
              <a:t>Quarto livello struttura</a:t>
            </a:r>
          </a:p>
          <a:p>
            <a:pPr lvl="4"/>
            <a:r>
              <a:rPr lang="en-GB"/>
              <a:t>Quinto livello struttura</a:t>
            </a:r>
          </a:p>
          <a:p>
            <a:pPr lvl="4"/>
            <a:r>
              <a:rPr lang="en-GB"/>
              <a:t>Sesto livello struttura</a:t>
            </a:r>
          </a:p>
          <a:p>
            <a:pPr lvl="4"/>
            <a:r>
              <a:rPr lang="en-GB"/>
              <a:t>Settimo livello struttura</a:t>
            </a:r>
          </a:p>
          <a:p>
            <a:pPr lvl="4"/>
            <a:r>
              <a:rPr lang="en-GB"/>
              <a:t>Ottavo livello struttura</a:t>
            </a:r>
          </a:p>
          <a:p>
            <a:pPr lvl="4"/>
            <a:r>
              <a:rPr lang="en-GB"/>
              <a:t>Nono livello struttura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685800" y="6248400"/>
            <a:ext cx="1897063" cy="449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 typeface="Times New Roman" charset="0"/>
              <a:buNone/>
              <a:defRPr sz="1400">
                <a:solidFill>
                  <a:srgbClr val="000000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553200"/>
            <a:ext cx="2887663" cy="277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buFont typeface="Lucida Sans Unicode" charset="0"/>
              <a:buNone/>
              <a:defRPr sz="1200">
                <a:solidFill>
                  <a:srgbClr val="000000"/>
                </a:solidFill>
                <a:latin typeface="Lucida Sans Unicode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543800" y="6553200"/>
            <a:ext cx="1363663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 typeface="Lucida Sans Unicode" charset="0"/>
              <a:buNone/>
              <a:defRPr sz="1200">
                <a:solidFill>
                  <a:srgbClr val="000000"/>
                </a:solidFill>
                <a:latin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fld id="{04102480-EA65-E94E-A281-7B3E41AF65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Line 6"/>
          <p:cNvSpPr>
            <a:spLocks noChangeShapeType="1"/>
          </p:cNvSpPr>
          <p:nvPr/>
        </p:nvSpPr>
        <p:spPr bwMode="auto">
          <a:xfrm flipH="1">
            <a:off x="296863" y="990600"/>
            <a:ext cx="8855075" cy="1588"/>
          </a:xfrm>
          <a:prstGeom prst="line">
            <a:avLst/>
          </a:prstGeom>
          <a:noFill/>
          <a:ln w="381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 flipH="1">
            <a:off x="677863" y="6477000"/>
            <a:ext cx="8474075" cy="1588"/>
          </a:xfrm>
          <a:prstGeom prst="line">
            <a:avLst/>
          </a:prstGeom>
          <a:noFill/>
          <a:ln w="381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defTabSz="457200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+mj-lt"/>
          <a:ea typeface="ＭＳ Ｐゴシック" charset="0"/>
          <a:cs typeface="+mj-cs"/>
        </a:defRPr>
      </a:lvl1pPr>
      <a:lvl2pPr algn="l" defTabSz="457200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2pPr>
      <a:lvl3pPr algn="l" defTabSz="457200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3pPr>
      <a:lvl4pPr algn="l" defTabSz="457200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4pPr>
      <a:lvl5pPr algn="l" defTabSz="457200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5pPr>
      <a:lvl6pPr marL="457200" algn="l" defTabSz="457200" rtl="0" fontAlgn="base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6pPr>
      <a:lvl7pPr marL="914400" algn="l" defTabSz="457200" rtl="0" fontAlgn="base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7pPr>
      <a:lvl8pPr marL="1371600" algn="l" defTabSz="457200" rtl="0" fontAlgn="base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8pPr>
      <a:lvl9pPr marL="1828800" algn="l" defTabSz="457200" rtl="0" fontAlgn="base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9pPr>
    </p:titleStyle>
    <p:bodyStyle>
      <a:lvl1pPr marL="334963" indent="-334963" algn="l" defTabSz="457200" rtl="0" eaLnBrk="0" fontAlgn="base" hangingPunct="0">
        <a:lnSpc>
          <a:spcPct val="105000"/>
        </a:lnSpc>
        <a:spcBef>
          <a:spcPts val="800"/>
        </a:spcBef>
        <a:spcAft>
          <a:spcPts val="200"/>
        </a:spcAft>
        <a:buClr>
          <a:srgbClr val="000000"/>
        </a:buClr>
        <a:buSzPct val="100000"/>
        <a:buFont typeface="Wingdings" charset="0"/>
        <a:buChar char=""/>
        <a:defRPr sz="3200">
          <a:solidFill>
            <a:srgbClr val="000000"/>
          </a:solidFill>
          <a:latin typeface="+mn-lt"/>
          <a:ea typeface="ＭＳ Ｐゴシック" charset="0"/>
          <a:cs typeface="+mn-cs"/>
        </a:defRPr>
      </a:lvl1pPr>
      <a:lvl2pPr marL="735013" indent="-277813" algn="l" defTabSz="457200" rtl="0" eaLnBrk="0" fontAlgn="base" hangingPunct="0">
        <a:lnSpc>
          <a:spcPct val="105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Wingdings" charset="0"/>
        <a:buChar char=""/>
        <a:defRPr sz="28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2pPr>
      <a:lvl3pPr marL="1143000" indent="-228600" algn="l" defTabSz="457200" rtl="0" eaLnBrk="0" fontAlgn="base" hangingPunct="0">
        <a:lnSpc>
          <a:spcPct val="105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4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3pPr>
      <a:lvl4pPr marL="1600200" indent="-228600" algn="l" defTabSz="457200" rtl="0" eaLnBrk="0" fontAlgn="base" hangingPunct="0">
        <a:lnSpc>
          <a:spcPct val="10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0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4pPr>
      <a:lvl5pPr marL="2057400" indent="-228600" algn="l" defTabSz="457200" rtl="0" eaLnBrk="0" fontAlgn="base" hangingPunct="0">
        <a:lnSpc>
          <a:spcPct val="10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0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5pPr>
      <a:lvl6pPr marL="2514600" indent="-228600" algn="l" defTabSz="457200" rtl="0" fontAlgn="base">
        <a:lnSpc>
          <a:spcPct val="10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>
        <a:lnSpc>
          <a:spcPct val="10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>
        <a:lnSpc>
          <a:spcPct val="10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>
        <a:lnSpc>
          <a:spcPct val="10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33400"/>
            <a:ext cx="7764463" cy="288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Cliccate per modificare il formato del testo del titolo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685800" y="6248400"/>
            <a:ext cx="1897063" cy="449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SzPct val="45000"/>
              <a:buFont typeface="StarSymbol" charset="0"/>
              <a:buNone/>
              <a:defRPr sz="1400">
                <a:solidFill>
                  <a:srgbClr val="000000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87663" cy="449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buSzPct val="45000"/>
              <a:buFont typeface="StarSymbol" charset="0"/>
              <a:buNone/>
              <a:defRPr sz="1400">
                <a:solidFill>
                  <a:srgbClr val="000000"/>
                </a:solidFill>
                <a:latin typeface="Times New Roman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1897063" cy="449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SzPct val="45000"/>
              <a:buFont typeface="StarSymbol" charset="0"/>
              <a:buNone/>
              <a:defRPr sz="1400">
                <a:solidFill>
                  <a:srgbClr val="000000"/>
                </a:solidFill>
                <a:cs typeface="Lucida Sans Unicode" charset="0"/>
              </a:defRPr>
            </a:lvl1pPr>
          </a:lstStyle>
          <a:p>
            <a:pPr>
              <a:defRPr/>
            </a:pPr>
            <a:fld id="{C6B0AFE6-A03A-434E-B2AB-4F617B5225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pic>
        <p:nvPicPr>
          <p:cNvPr id="14342" name="Picture 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5715000"/>
            <a:ext cx="86995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4343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868988"/>
            <a:ext cx="27432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4344" name="Line 7"/>
          <p:cNvSpPr>
            <a:spLocks noChangeShapeType="1"/>
          </p:cNvSpPr>
          <p:nvPr/>
        </p:nvSpPr>
        <p:spPr bwMode="auto">
          <a:xfrm>
            <a:off x="685800" y="3429000"/>
            <a:ext cx="7772400" cy="1588"/>
          </a:xfrm>
          <a:prstGeom prst="line">
            <a:avLst/>
          </a:prstGeom>
          <a:noFill/>
          <a:ln w="3816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5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521075"/>
            <a:ext cx="8221663" cy="430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Cliccate per modificare il formato del testo della struttura</a:t>
            </a:r>
          </a:p>
          <a:p>
            <a:pPr lvl="1"/>
            <a:r>
              <a:rPr lang="en-GB"/>
              <a:t>Secondo livello struttura</a:t>
            </a:r>
          </a:p>
          <a:p>
            <a:pPr lvl="2"/>
            <a:r>
              <a:rPr lang="en-GB"/>
              <a:t>Terzo livello struttura</a:t>
            </a:r>
          </a:p>
          <a:p>
            <a:pPr lvl="3"/>
            <a:r>
              <a:rPr lang="en-GB"/>
              <a:t>Quarto livello struttura</a:t>
            </a:r>
          </a:p>
          <a:p>
            <a:pPr lvl="4"/>
            <a:r>
              <a:rPr lang="en-GB"/>
              <a:t>Quinto livello struttura</a:t>
            </a:r>
          </a:p>
          <a:p>
            <a:pPr lvl="4"/>
            <a:r>
              <a:rPr lang="en-GB"/>
              <a:t>Sesto livello struttura</a:t>
            </a:r>
          </a:p>
          <a:p>
            <a:pPr lvl="4"/>
            <a:r>
              <a:rPr lang="en-GB"/>
              <a:t>Settimo livello struttura</a:t>
            </a:r>
          </a:p>
          <a:p>
            <a:pPr lvl="4"/>
            <a:r>
              <a:rPr lang="en-GB"/>
              <a:t>Ottavo livello struttura</a:t>
            </a:r>
          </a:p>
          <a:p>
            <a:pPr lvl="4"/>
            <a:r>
              <a:rPr lang="en-GB"/>
              <a:t>Nono livello struttura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457200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+mj-lt"/>
          <a:ea typeface="ＭＳ Ｐゴシック" charset="0"/>
          <a:cs typeface="+mj-cs"/>
        </a:defRPr>
      </a:lvl1pPr>
      <a:lvl2pPr algn="l" defTabSz="457200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2pPr>
      <a:lvl3pPr algn="l" defTabSz="457200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3pPr>
      <a:lvl4pPr algn="l" defTabSz="457200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4pPr>
      <a:lvl5pPr algn="l" defTabSz="457200" rtl="0" eaLnBrk="0" fontAlgn="base" hangingPunct="0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charset="0"/>
        <a:defRPr sz="4400">
          <a:solidFill>
            <a:srgbClr val="000000"/>
          </a:solidFill>
          <a:latin typeface="Lucida Sans Unicode" pitchFamily="34" charset="0"/>
          <a:ea typeface="ＭＳ Ｐゴシック" charset="0"/>
          <a:cs typeface="Lucida Sans Unicode" pitchFamily="34" charset="0"/>
        </a:defRPr>
      </a:lvl5pPr>
      <a:lvl6pPr marL="457200" algn="l" defTabSz="457200" rtl="0" fontAlgn="base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6pPr>
      <a:lvl7pPr marL="914400" algn="l" defTabSz="457200" rtl="0" fontAlgn="base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7pPr>
      <a:lvl8pPr marL="1371600" algn="l" defTabSz="457200" rtl="0" fontAlgn="base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8pPr>
      <a:lvl9pPr marL="1828800" algn="l" defTabSz="457200" rtl="0" fontAlgn="base">
        <a:lnSpc>
          <a:spcPct val="105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defRPr sz="4400">
          <a:solidFill>
            <a:srgbClr val="000000"/>
          </a:solidFill>
          <a:latin typeface="Lucida Sans Unicode" pitchFamily="34" charset="0"/>
          <a:cs typeface="Lucida Sans Unicode" pitchFamily="34" charset="0"/>
        </a:defRPr>
      </a:lvl9pPr>
    </p:titleStyle>
    <p:bodyStyle>
      <a:lvl1pPr marL="334963" indent="-334963" algn="r" defTabSz="457200" rtl="0" eaLnBrk="0" fontAlgn="base" hangingPunct="0">
        <a:lnSpc>
          <a:spcPct val="105000"/>
        </a:lnSpc>
        <a:spcBef>
          <a:spcPts val="800"/>
        </a:spcBef>
        <a:spcAft>
          <a:spcPts val="200"/>
        </a:spcAft>
        <a:buClr>
          <a:srgbClr val="000000"/>
        </a:buClr>
        <a:buSzPct val="100000"/>
        <a:buFont typeface="Wingdings" charset="0"/>
        <a:buChar char="•"/>
        <a:defRPr sz="3200">
          <a:solidFill>
            <a:srgbClr val="000000"/>
          </a:solidFill>
          <a:latin typeface="+mn-lt"/>
          <a:ea typeface="ＭＳ Ｐゴシック" charset="0"/>
          <a:cs typeface="+mn-cs"/>
        </a:defRPr>
      </a:lvl1pPr>
      <a:lvl2pPr marL="735013" indent="-277813" algn="l" defTabSz="457200" rtl="0" eaLnBrk="0" fontAlgn="base" hangingPunct="0">
        <a:lnSpc>
          <a:spcPct val="105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Wingdings" charset="0"/>
        <a:buChar char=""/>
        <a:defRPr sz="28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2pPr>
      <a:lvl3pPr marL="1143000" indent="-228600" algn="l" defTabSz="457200" rtl="0" eaLnBrk="0" fontAlgn="base" hangingPunct="0">
        <a:lnSpc>
          <a:spcPct val="105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4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3pPr>
      <a:lvl4pPr marL="1600200" indent="-228600" algn="l" defTabSz="457200" rtl="0" eaLnBrk="0" fontAlgn="base" hangingPunct="0">
        <a:lnSpc>
          <a:spcPct val="10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0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4pPr>
      <a:lvl5pPr marL="2057400" indent="-228600" algn="l" defTabSz="457200" rtl="0" eaLnBrk="0" fontAlgn="base" hangingPunct="0">
        <a:lnSpc>
          <a:spcPct val="10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charset="0"/>
        <a:buChar char="–"/>
        <a:defRPr sz="2000">
          <a:solidFill>
            <a:srgbClr val="000000"/>
          </a:solidFill>
          <a:latin typeface="+mn-lt"/>
          <a:ea typeface="Lucida Sans Unicode" pitchFamily="-107" charset="-52"/>
          <a:cs typeface="+mn-cs"/>
        </a:defRPr>
      </a:lvl5pPr>
      <a:lvl6pPr marL="2514600" indent="-228600" algn="l" defTabSz="457200" rtl="0" fontAlgn="base">
        <a:lnSpc>
          <a:spcPct val="10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>
        <a:lnSpc>
          <a:spcPct val="10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>
        <a:lnSpc>
          <a:spcPct val="10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>
        <a:lnSpc>
          <a:spcPct val="10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Lucida Sans Unicode" pitchFamily="34" charset="0"/>
        <a:buChar char="–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http://softeng.polito.it/courses/09CBI" TargetMode="External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nd/4.0/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4" Type="http://schemas.openxmlformats.org/officeDocument/2006/relationships/image" Target="../media/image14.emf"/><Relationship Id="rId5" Type="http://schemas.openxmlformats.org/officeDocument/2006/relationships/image" Target="../media/image15.emf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xfrm>
            <a:off x="609600" y="2657377"/>
            <a:ext cx="77724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Lucida Sans Unicode" charset="0"/>
                <a:cs typeface="Lucida Sans Unicode" charset="0"/>
              </a:rPr>
              <a:t>Java </a:t>
            </a:r>
            <a:r>
              <a:rPr lang="en-GB" b="1" dirty="0" smtClean="0">
                <a:latin typeface="Lucida Sans Unicode" charset="0"/>
                <a:cs typeface="Lucida Sans Unicode" charset="0"/>
              </a:rPr>
              <a:t>Collections </a:t>
            </a:r>
            <a:r>
              <a:rPr lang="en-GB" b="1" dirty="0">
                <a:latin typeface="Lucida Sans Unicode" charset="0"/>
                <a:cs typeface="Lucida Sans Unicode" charset="0"/>
              </a:rPr>
              <a:t>Framework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6495485" y="5765749"/>
            <a:ext cx="1957033" cy="255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5000" rIns="90000" bIns="450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algn="r" eaLnBrk="1" hangingPunct="1">
              <a:lnSpc>
                <a:spcPct val="87000"/>
              </a:lnSpc>
            </a:pPr>
            <a:r>
              <a:rPr lang="en-GB" sz="1200" dirty="0">
                <a:solidFill>
                  <a:srgbClr val="000000"/>
                </a:solidFill>
                <a:latin typeface="Tahoma" charset="0"/>
              </a:rPr>
              <a:t>Version </a:t>
            </a:r>
            <a:r>
              <a:rPr lang="en-GB" sz="1200" dirty="0" smtClean="0">
                <a:solidFill>
                  <a:srgbClr val="000000"/>
                </a:solidFill>
                <a:latin typeface="Tahoma" charset="0"/>
              </a:rPr>
              <a:t>3.3.0  </a:t>
            </a:r>
            <a:r>
              <a:rPr lang="en-GB" sz="1200" dirty="0">
                <a:solidFill>
                  <a:srgbClr val="000000"/>
                </a:solidFill>
                <a:latin typeface="Tahoma" charset="0"/>
              </a:rPr>
              <a:t>- </a:t>
            </a:r>
            <a:r>
              <a:rPr lang="en-GB" sz="1200" dirty="0" smtClean="0">
                <a:solidFill>
                  <a:srgbClr val="000000"/>
                </a:solidFill>
                <a:latin typeface="Tahoma" charset="0"/>
              </a:rPr>
              <a:t>April 2017</a:t>
            </a:r>
            <a:endParaRPr lang="en-GB" sz="1200" dirty="0">
              <a:solidFill>
                <a:srgbClr val="000000"/>
              </a:solidFill>
              <a:latin typeface="Tahoma" charset="0"/>
            </a:endParaRP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5603875" y="5984875"/>
            <a:ext cx="2901666" cy="22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10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Lucida Sans Unicode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000" dirty="0">
                <a:solidFill>
                  <a:srgbClr val="000000"/>
                </a:solidFill>
              </a:rPr>
              <a:t>© Maurizio </a:t>
            </a:r>
            <a:r>
              <a:rPr lang="en-GB" sz="1000" dirty="0" err="1">
                <a:solidFill>
                  <a:srgbClr val="000000"/>
                </a:solidFill>
              </a:rPr>
              <a:t>Morisio</a:t>
            </a:r>
            <a:r>
              <a:rPr lang="en-GB" sz="1000" dirty="0">
                <a:solidFill>
                  <a:srgbClr val="000000"/>
                </a:solidFill>
              </a:rPr>
              <a:t>, Marco Torchiano, </a:t>
            </a:r>
            <a:r>
              <a:rPr lang="en-GB" sz="1000" dirty="0" smtClean="0">
                <a:solidFill>
                  <a:srgbClr val="000000"/>
                </a:solidFill>
              </a:rPr>
              <a:t>2017</a:t>
            </a:r>
            <a:endParaRPr lang="en-GB" sz="1000" dirty="0">
              <a:solidFill>
                <a:srgbClr val="000000"/>
              </a:solidFill>
            </a:endParaRPr>
          </a:p>
        </p:txBody>
      </p:sp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6310313"/>
            <a:ext cx="3587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163" y="6308725"/>
            <a:ext cx="3603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6308725"/>
            <a:ext cx="35877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868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6297613"/>
            <a:ext cx="10541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2057400" y="3789040"/>
            <a:ext cx="6400800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338138" indent="-338138" algn="l" defTabSz="457200" rtl="0" eaLnBrk="0" fontAlgn="base" hangingPunct="0">
              <a:lnSpc>
                <a:spcPct val="103000"/>
              </a:lnSpc>
              <a:spcBef>
                <a:spcPts val="800"/>
              </a:spcBef>
              <a:spcAft>
                <a:spcPts val="200"/>
              </a:spcAft>
              <a:buClr>
                <a:srgbClr val="000000"/>
              </a:buClr>
              <a:buSzPct val="100000"/>
              <a:buFont typeface="Wingdings" charset="0"/>
              <a:buChar char=""/>
              <a:defRPr sz="320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defRPr>
            </a:lvl1pPr>
            <a:lvl2pPr marL="738188" indent="-280988" algn="l" defTabSz="457200" rtl="0" eaLnBrk="0" fontAlgn="base" hangingPunct="0">
              <a:lnSpc>
                <a:spcPct val="103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charset="0"/>
              <a:buChar char=""/>
              <a:defRPr sz="2800">
                <a:solidFill>
                  <a:srgbClr val="000000"/>
                </a:solidFill>
                <a:latin typeface="+mn-lt"/>
                <a:ea typeface="Lucida Sans Unicode" charset="-52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103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charset="0"/>
              <a:buChar char="–"/>
              <a:defRPr sz="2400">
                <a:solidFill>
                  <a:srgbClr val="000000"/>
                </a:solidFill>
                <a:latin typeface="+mn-lt"/>
                <a:ea typeface="Lucida Sans Unicode" charset="-52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charset="0"/>
              <a:buChar char="–"/>
              <a:defRPr sz="2000">
                <a:solidFill>
                  <a:srgbClr val="000000"/>
                </a:solidFill>
                <a:latin typeface="+mn-lt"/>
                <a:ea typeface="Lucida Sans Unicode" charset="-52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charset="0"/>
              <a:buChar char="–"/>
              <a:defRPr sz="2000">
                <a:solidFill>
                  <a:srgbClr val="000000"/>
                </a:solidFill>
                <a:latin typeface="+mn-lt"/>
                <a:ea typeface="Lucida Sans Unicode" charset="-52"/>
                <a:cs typeface="+mn-cs"/>
              </a:defRPr>
            </a:lvl5pPr>
            <a:lvl6pPr marL="2514600" indent="-228600" algn="l" defTabSz="457200" rtl="0" fontAlgn="base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pitchFamily="34" charset="0"/>
              <a:buChar char="–"/>
              <a:defRPr sz="2000">
                <a:solidFill>
                  <a:srgbClr val="000000"/>
                </a:solidFill>
                <a:latin typeface="+mn-lt"/>
                <a:cs typeface="+mn-cs"/>
              </a:defRPr>
            </a:lvl6pPr>
            <a:lvl7pPr marL="2971800" indent="-228600" algn="l" defTabSz="457200" rtl="0" fontAlgn="base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pitchFamily="34" charset="0"/>
              <a:buChar char="–"/>
              <a:defRPr sz="2000">
                <a:solidFill>
                  <a:srgbClr val="000000"/>
                </a:solidFill>
                <a:latin typeface="+mn-lt"/>
                <a:cs typeface="+mn-cs"/>
              </a:defRPr>
            </a:lvl7pPr>
            <a:lvl8pPr marL="3429000" indent="-228600" algn="l" defTabSz="457200" rtl="0" fontAlgn="base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pitchFamily="34" charset="0"/>
              <a:buChar char="–"/>
              <a:defRPr sz="2000">
                <a:solidFill>
                  <a:srgbClr val="000000"/>
                </a:solidFill>
                <a:latin typeface="+mn-lt"/>
                <a:cs typeface="+mn-cs"/>
              </a:defRPr>
            </a:lvl8pPr>
            <a:lvl9pPr marL="3886200" indent="-228600" algn="l" defTabSz="457200" rtl="0" fontAlgn="base">
              <a:lnSpc>
                <a:spcPct val="103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Lucida Sans Unicode" pitchFamily="34" charset="0"/>
              <a:buChar char="–"/>
              <a:defRPr sz="2000">
                <a:solidFill>
                  <a:srgbClr val="000000"/>
                </a:solidFill>
                <a:latin typeface="+mn-lt"/>
                <a:cs typeface="+mn-cs"/>
              </a:defRPr>
            </a:lvl9pPr>
          </a:lstStyle>
          <a:p>
            <a:pPr marL="0" indent="0" algn="r" eaLnBrk="1" hangingPunct="1">
              <a:buFont typeface="Wingdings" charset="0"/>
              <a:buNone/>
            </a:pPr>
            <a:r>
              <a:rPr lang="it-IT" dirty="0" smtClean="0">
                <a:latin typeface="Lucida Sans Unicode" charset="0"/>
              </a:rPr>
              <a:t>Object </a:t>
            </a:r>
            <a:r>
              <a:rPr lang="it-IT" dirty="0" err="1" smtClean="0">
                <a:latin typeface="Lucida Sans Unicode" charset="0"/>
              </a:rPr>
              <a:t>Oriented</a:t>
            </a:r>
            <a:r>
              <a:rPr lang="it-IT" dirty="0" smtClean="0">
                <a:latin typeface="Lucida Sans Unicode" charset="0"/>
              </a:rPr>
              <a:t> Programming</a:t>
            </a:r>
          </a:p>
          <a:p>
            <a:pPr marL="0" indent="0" algn="r" eaLnBrk="1" hangingPunct="1">
              <a:buFont typeface="Wingdings" charset="0"/>
              <a:buNone/>
            </a:pPr>
            <a:endParaRPr lang="it-IT" dirty="0" smtClean="0">
              <a:latin typeface="Lucida Sans Unicode" charset="0"/>
            </a:endParaRPr>
          </a:p>
          <a:p>
            <a:pPr marL="0" indent="0" algn="r" eaLnBrk="1" hangingPunct="1">
              <a:buFont typeface="Wingdings" charset="0"/>
              <a:buNone/>
            </a:pPr>
            <a:r>
              <a:rPr lang="it-IT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http://</a:t>
            </a:r>
            <a:r>
              <a:rPr lang="it-IT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softeng.polito.it</a:t>
            </a:r>
            <a:r>
              <a:rPr lang="it-IT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/</a:t>
            </a:r>
            <a:r>
              <a:rPr lang="it-IT" sz="2000" b="1" dirty="0" err="1" smtClean="0">
                <a:solidFill>
                  <a:schemeClr val="tx1"/>
                </a:solidFill>
                <a:latin typeface="Courier New"/>
                <a:cs typeface="Courier New"/>
              </a:rPr>
              <a:t>courses</a:t>
            </a:r>
            <a:r>
              <a:rPr lang="it-IT" sz="2000" b="1" dirty="0" smtClean="0">
                <a:solidFill>
                  <a:schemeClr val="tx1"/>
                </a:solidFill>
                <a:latin typeface="Courier New"/>
                <a:cs typeface="Courier New"/>
              </a:rPr>
              <a:t>/09CBI  </a:t>
            </a:r>
          </a:p>
          <a:p>
            <a:pPr marL="0" indent="0" algn="r" eaLnBrk="1" hangingPunct="1">
              <a:buFont typeface="Wingdings" charset="0"/>
              <a:buNone/>
            </a:pPr>
            <a:endParaRPr lang="it-IT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1" name="Rounded Rectangle 10">
            <a:hlinkClick r:id="rId7"/>
          </p:cNvPr>
          <p:cNvSpPr/>
          <p:nvPr/>
        </p:nvSpPr>
        <p:spPr bwMode="auto">
          <a:xfrm>
            <a:off x="2627784" y="5013176"/>
            <a:ext cx="5904656" cy="288032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cs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36542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ＭＳ Ｐゴシック" charset="0"/>
              </a:rPr>
              <a:t>Licensing Note</a:t>
            </a:r>
          </a:p>
        </p:txBody>
      </p:sp>
      <p:sp>
        <p:nvSpPr>
          <p:cNvPr id="269313" name="Slide Number Placeholder 5"/>
          <p:cNvSpPr>
            <a:spLocks noGrp="1"/>
          </p:cNvSpPr>
          <p:nvPr>
            <p:ph type="sldNum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2945" tIns="41473" rIns="82945" bIns="41473"/>
          <a:lstStyle>
            <a:lvl1pPr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412750"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412750" eaLnBrk="0" fontAlgn="base" hangingPunct="0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1625" algn="l"/>
                <a:tab pos="4570413" algn="l"/>
                <a:tab pos="5026025" algn="l"/>
                <a:tab pos="5484813" algn="l"/>
                <a:tab pos="5940425" algn="l"/>
                <a:tab pos="6399213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D11AE6E-B0C7-244A-9485-90198FEC357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6691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052513"/>
            <a:ext cx="8229600" cy="5805487"/>
          </a:xfrm>
          <a:solidFill>
            <a:srgbClr val="FFFFFF"/>
          </a:solidFill>
        </p:spPr>
        <p:txBody>
          <a:bodyPr>
            <a:normAutofit/>
          </a:bodyPr>
          <a:lstStyle/>
          <a:p>
            <a:pPr marL="0" indent="0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This work is licensed under the Creative Commons Attribution-</a:t>
            </a:r>
            <a:r>
              <a:rPr lang="en-GB" sz="1800" b="1" dirty="0" err="1"/>
              <a:t>NonCommercial</a:t>
            </a:r>
            <a:r>
              <a:rPr lang="en-GB" sz="1800" b="1" dirty="0"/>
              <a:t>-</a:t>
            </a:r>
            <a:r>
              <a:rPr lang="en-GB" sz="1800" b="1" dirty="0" err="1"/>
              <a:t>NoDerivatives</a:t>
            </a:r>
            <a:r>
              <a:rPr lang="en-GB" sz="1800" b="1" dirty="0"/>
              <a:t> 4.0 International License. </a:t>
            </a:r>
            <a:endParaRPr lang="en-GB" sz="1800" b="1" dirty="0" smtClean="0"/>
          </a:p>
          <a:p>
            <a:pPr marL="0" indent="0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 smtClean="0"/>
              <a:t>To </a:t>
            </a:r>
            <a:r>
              <a:rPr lang="en-GB" sz="1800" b="1" dirty="0"/>
              <a:t>view a copy of this license, visit </a:t>
            </a:r>
            <a:r>
              <a:rPr lang="en-GB" sz="1800" b="1" dirty="0">
                <a:hlinkClick r:id="rId3"/>
              </a:rPr>
              <a:t>http://creativecommons.org/licenses/by-nc-nd/4.0/</a:t>
            </a:r>
            <a:r>
              <a:rPr lang="en-GB" sz="1800" b="1" dirty="0" smtClean="0"/>
              <a:t>.</a:t>
            </a:r>
          </a:p>
          <a:p>
            <a:pPr marL="0" indent="0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 smtClean="0"/>
              <a:t>You </a:t>
            </a:r>
            <a:r>
              <a:rPr lang="en-GB" sz="1800" b="1" dirty="0"/>
              <a:t>are free:</a:t>
            </a:r>
            <a:r>
              <a:rPr lang="en-GB" sz="1800" dirty="0"/>
              <a:t>  to copy, distribute, display, and perform the work </a:t>
            </a:r>
          </a:p>
          <a:p>
            <a:pPr marL="295174" indent="-29517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8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Under the following conditions:</a:t>
            </a:r>
            <a:r>
              <a:rPr lang="en-GB" sz="1800" dirty="0"/>
              <a:t>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Attribution</a:t>
            </a:r>
            <a:r>
              <a:rPr lang="en-GB" sz="1800" dirty="0"/>
              <a:t>. You must attribute the work in the manner specified by the author or licensor.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300"/>
              </a:spcBef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2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 smtClean="0"/>
              <a:t>Non-commercial</a:t>
            </a:r>
            <a:r>
              <a:rPr lang="en-GB" sz="1800" dirty="0"/>
              <a:t>. You may not use this work for commercial purposes.  </a:t>
            </a:r>
          </a:p>
          <a:p>
            <a:pPr marL="1451391" lvl="3" indent="-207341" defTabSz="414683" eaLnBrk="1" hangingPunct="1">
              <a:lnSpc>
                <a:spcPct val="80000"/>
              </a:lnSpc>
              <a:spcBef>
                <a:spcPts val="300"/>
              </a:spcBef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2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No Derivative Works</a:t>
            </a:r>
            <a:r>
              <a:rPr lang="en-GB" sz="1800" dirty="0"/>
              <a:t>. You may not alter, transform, or build upon this work.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300"/>
              </a:spcBef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2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dirty="0"/>
              <a:t>For any reuse or distribution, you must make clear to others the license terms of this work.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dirty="0"/>
              <a:t>Any of these conditions can be waived if you get permission from the copyright holder.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800" dirty="0"/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r>
              <a:rPr lang="en-GB" sz="1800" b="1" dirty="0"/>
              <a:t>Your fair use and other rights are in no way affected by the above.</a:t>
            </a:r>
            <a:r>
              <a:rPr lang="en-GB" sz="1800" dirty="0"/>
              <a:t> </a:t>
            </a:r>
          </a:p>
          <a:p>
            <a:pPr marL="334894" indent="-334894" defTabSz="414683" eaLnBrk="1" hangingPunct="1">
              <a:lnSpc>
                <a:spcPct val="80000"/>
              </a:lnSpc>
              <a:spcBef>
                <a:spcPts val="450"/>
              </a:spcBef>
              <a:spcAft>
                <a:spcPts val="113"/>
              </a:spcAft>
              <a:buFont typeface="Wingdings" charset="0"/>
              <a:buNone/>
              <a:tabLst>
                <a:tab pos="455518" algn="l"/>
                <a:tab pos="912624" algn="l"/>
                <a:tab pos="1369729" algn="l"/>
                <a:tab pos="1826835" algn="l"/>
                <a:tab pos="2283939" algn="l"/>
                <a:tab pos="2741045" algn="l"/>
                <a:tab pos="3198151" algn="l"/>
                <a:tab pos="3655255" algn="l"/>
                <a:tab pos="4112361" algn="l"/>
                <a:tab pos="4569465" algn="l"/>
                <a:tab pos="5026571" algn="l"/>
                <a:tab pos="5483675" algn="l"/>
                <a:tab pos="5940781" algn="l"/>
                <a:tab pos="6397886" algn="l"/>
                <a:tab pos="6854991" algn="l"/>
                <a:tab pos="7312097" algn="l"/>
                <a:tab pos="7769202" algn="l"/>
                <a:tab pos="8226307" algn="l"/>
                <a:tab pos="8683412" algn="l"/>
                <a:tab pos="9140517" algn="l"/>
              </a:tabLst>
              <a:defRPr/>
            </a:pPr>
            <a:endParaRPr lang="en-GB" sz="1800" dirty="0"/>
          </a:p>
        </p:txBody>
      </p:sp>
      <p:sp>
        <p:nvSpPr>
          <p:cNvPr id="269316" name="Rectangle 4"/>
          <p:cNvSpPr>
            <a:spLocks noChangeArrowheads="1"/>
          </p:cNvSpPr>
          <p:nvPr/>
        </p:nvSpPr>
        <p:spPr bwMode="auto">
          <a:xfrm>
            <a:off x="434975" y="2925763"/>
            <a:ext cx="431800" cy="19431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20" tIns="45711" rIns="91420" bIns="45711" anchor="ctr"/>
          <a:lstStyle/>
          <a:p>
            <a:endParaRPr lang="en-US"/>
          </a:p>
        </p:txBody>
      </p:sp>
      <p:pic>
        <p:nvPicPr>
          <p:cNvPr id="269317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15888"/>
            <a:ext cx="3059113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18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924175"/>
            <a:ext cx="50482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19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644900"/>
            <a:ext cx="5048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9320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365625"/>
            <a:ext cx="5048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745261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4DF28B49-7706-5649-868C-A19265B84FF1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3379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Framework</a:t>
            </a: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182812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Interfaces (ADT, Abstract Data Types)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Implementations (of ADT)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Algorithms (sort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)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Contained in the package </a:t>
            </a:r>
            <a:r>
              <a:rPr lang="en-GB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java.util</a:t>
            </a:r>
            <a:endParaRPr lang="en-GB" dirty="0">
              <a:solidFill>
                <a:srgbClr val="FF6600"/>
              </a:solidFill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solidFill>
                <a:srgbClr val="FF6600"/>
              </a:solidFill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Originally using Object, since Java 5 redefined as generic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6BA93BBF-2F02-8745-9C12-CCE89B39E7FB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35842" name="AutoShape 1"/>
          <p:cNvSpPr>
            <a:spLocks noChangeArrowheads="1"/>
          </p:cNvSpPr>
          <p:nvPr/>
        </p:nvSpPr>
        <p:spPr bwMode="auto">
          <a:xfrm>
            <a:off x="104775" y="1268413"/>
            <a:ext cx="5364163" cy="3910012"/>
          </a:xfrm>
          <a:prstGeom prst="roundRect">
            <a:avLst>
              <a:gd name="adj" fmla="val 10773"/>
            </a:avLst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  <a:extLst/>
        </p:spPr>
        <p:txBody>
          <a:bodyPr wrap="none" anchor="ctr"/>
          <a:lstStyle/>
          <a:p>
            <a:endParaRPr lang="it-IT"/>
          </a:p>
        </p:txBody>
      </p:sp>
      <p:sp>
        <p:nvSpPr>
          <p:cNvPr id="35843" name="AutoShape 2"/>
          <p:cNvSpPr>
            <a:spLocks noChangeArrowheads="1"/>
          </p:cNvSpPr>
          <p:nvPr/>
        </p:nvSpPr>
        <p:spPr bwMode="auto">
          <a:xfrm>
            <a:off x="5605463" y="2103438"/>
            <a:ext cx="3424237" cy="2716212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  <a:extLst/>
        </p:spPr>
        <p:txBody>
          <a:bodyPr wrap="none" anchor="ctr"/>
          <a:lstStyle/>
          <a:p>
            <a:endParaRPr lang="it-IT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Interfaces</a:t>
            </a:r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1866900" y="2208213"/>
            <a:ext cx="1892300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Collection&lt;E&gt;</a:t>
            </a:r>
          </a:p>
        </p:txBody>
      </p:sp>
      <p:sp>
        <p:nvSpPr>
          <p:cNvPr id="33798" name="Rectangle 5"/>
          <p:cNvSpPr>
            <a:spLocks noChangeArrowheads="1"/>
          </p:cNvSpPr>
          <p:nvPr/>
        </p:nvSpPr>
        <p:spPr bwMode="auto">
          <a:xfrm>
            <a:off x="393700" y="3244850"/>
            <a:ext cx="1474788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Set&lt;E&gt;</a:t>
            </a:r>
          </a:p>
        </p:txBody>
      </p:sp>
      <p:sp>
        <p:nvSpPr>
          <p:cNvPr id="33799" name="Rectangle 6"/>
          <p:cNvSpPr>
            <a:spLocks noChangeArrowheads="1"/>
          </p:cNvSpPr>
          <p:nvPr/>
        </p:nvSpPr>
        <p:spPr bwMode="auto">
          <a:xfrm>
            <a:off x="3830638" y="3241675"/>
            <a:ext cx="1474787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List&lt;E&gt;</a:t>
            </a:r>
          </a:p>
        </p:txBody>
      </p:sp>
      <p:sp>
        <p:nvSpPr>
          <p:cNvPr id="35848" name="Rectangle 7"/>
          <p:cNvSpPr>
            <a:spLocks noChangeArrowheads="1"/>
          </p:cNvSpPr>
          <p:nvPr/>
        </p:nvSpPr>
        <p:spPr bwMode="auto">
          <a:xfrm>
            <a:off x="6538913" y="2276475"/>
            <a:ext cx="1474787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Map&lt;K,V&gt;</a:t>
            </a:r>
          </a:p>
        </p:txBody>
      </p:sp>
      <p:sp>
        <p:nvSpPr>
          <p:cNvPr id="33801" name="Rectangle 8"/>
          <p:cNvSpPr>
            <a:spLocks noChangeArrowheads="1"/>
          </p:cNvSpPr>
          <p:nvPr/>
        </p:nvSpPr>
        <p:spPr bwMode="auto">
          <a:xfrm>
            <a:off x="192088" y="4333875"/>
            <a:ext cx="1876425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 dirty="0" err="1">
                <a:solidFill>
                  <a:srgbClr val="000000"/>
                </a:solidFill>
                <a:latin typeface="Lucida Sans Unicode" charset="0"/>
              </a:rPr>
              <a:t>SortedSet</a:t>
            </a:r>
            <a:r>
              <a:rPr lang="en-GB" sz="2000" dirty="0">
                <a:solidFill>
                  <a:srgbClr val="000000"/>
                </a:solidFill>
                <a:latin typeface="Lucida Sans Unicode" charset="0"/>
              </a:rPr>
              <a:t>&lt;E&gt;</a:t>
            </a:r>
          </a:p>
        </p:txBody>
      </p:sp>
      <p:sp>
        <p:nvSpPr>
          <p:cNvPr id="33802" name="Rectangle 9"/>
          <p:cNvSpPr>
            <a:spLocks noChangeArrowheads="1"/>
          </p:cNvSpPr>
          <p:nvPr/>
        </p:nvSpPr>
        <p:spPr bwMode="auto">
          <a:xfrm>
            <a:off x="6084888" y="3889375"/>
            <a:ext cx="2374900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SortedMap&lt;K,V&gt;</a:t>
            </a:r>
          </a:p>
        </p:txBody>
      </p:sp>
      <p:cxnSp>
        <p:nvCxnSpPr>
          <p:cNvPr id="35851" name="AutoShape 10"/>
          <p:cNvCxnSpPr>
            <a:cxnSpLocks noChangeShapeType="1"/>
            <a:stCxn id="33798" idx="0"/>
            <a:endCxn id="35845" idx="2"/>
          </p:cNvCxnSpPr>
          <p:nvPr/>
        </p:nvCxnSpPr>
        <p:spPr bwMode="auto">
          <a:xfrm rot="5400000" flipH="1" flipV="1">
            <a:off x="1712913" y="2144713"/>
            <a:ext cx="519112" cy="1681162"/>
          </a:xfrm>
          <a:prstGeom prst="bentConnector3">
            <a:avLst>
              <a:gd name="adj1" fmla="val 50000"/>
            </a:avLst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2" name="AutoShape 11"/>
          <p:cNvCxnSpPr>
            <a:cxnSpLocks noChangeShapeType="1"/>
            <a:stCxn id="33799" idx="0"/>
            <a:endCxn id="35845" idx="2"/>
          </p:cNvCxnSpPr>
          <p:nvPr/>
        </p:nvCxnSpPr>
        <p:spPr bwMode="auto">
          <a:xfrm rot="16200000" flipV="1">
            <a:off x="3432969" y="2105819"/>
            <a:ext cx="515937" cy="1755775"/>
          </a:xfrm>
          <a:prstGeom prst="bentConnector3">
            <a:avLst>
              <a:gd name="adj1" fmla="val 50000"/>
            </a:avLst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3" name="AutoShape 12"/>
          <p:cNvCxnSpPr>
            <a:cxnSpLocks noChangeShapeType="1"/>
            <a:stCxn id="33801" idx="0"/>
            <a:endCxn id="33798" idx="2"/>
          </p:cNvCxnSpPr>
          <p:nvPr/>
        </p:nvCxnSpPr>
        <p:spPr bwMode="auto">
          <a:xfrm flipV="1">
            <a:off x="1130300" y="3762375"/>
            <a:ext cx="1588" cy="571500"/>
          </a:xfrm>
          <a:prstGeom prst="bentConnector3">
            <a:avLst>
              <a:gd name="adj1" fmla="val 50000"/>
            </a:avLst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4" name="AutoShape 13"/>
          <p:cNvCxnSpPr>
            <a:cxnSpLocks noChangeShapeType="1"/>
            <a:stCxn id="33802" idx="0"/>
            <a:endCxn id="35848" idx="2"/>
          </p:cNvCxnSpPr>
          <p:nvPr/>
        </p:nvCxnSpPr>
        <p:spPr bwMode="auto">
          <a:xfrm rot="5400000" flipH="1" flipV="1">
            <a:off x="6727031" y="3339307"/>
            <a:ext cx="1095375" cy="4762"/>
          </a:xfrm>
          <a:prstGeom prst="bentConnector3">
            <a:avLst>
              <a:gd name="adj1" fmla="val 50000"/>
            </a:avLst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5" name="Text Box 14"/>
          <p:cNvSpPr txBox="1">
            <a:spLocks noChangeArrowheads="1"/>
          </p:cNvSpPr>
          <p:nvPr/>
        </p:nvSpPr>
        <p:spPr bwMode="auto">
          <a:xfrm>
            <a:off x="1226714" y="5378450"/>
            <a:ext cx="275833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Lucida Sans Unicode" charset="0"/>
              <a:buNone/>
            </a:pPr>
            <a:r>
              <a:rPr lang="en-GB" dirty="0">
                <a:solidFill>
                  <a:srgbClr val="000000"/>
                </a:solidFill>
                <a:latin typeface="Lucida Sans Unicode" charset="0"/>
              </a:rPr>
              <a:t>Group containers</a:t>
            </a:r>
          </a:p>
        </p:txBody>
      </p:sp>
      <p:sp>
        <p:nvSpPr>
          <p:cNvPr id="35856" name="Text Box 15"/>
          <p:cNvSpPr txBox="1">
            <a:spLocks noChangeArrowheads="1"/>
          </p:cNvSpPr>
          <p:nvPr/>
        </p:nvSpPr>
        <p:spPr bwMode="auto">
          <a:xfrm>
            <a:off x="5596330" y="4872038"/>
            <a:ext cx="350282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Lucida Sans Unicode" charset="0"/>
              <a:buNone/>
            </a:pPr>
            <a:r>
              <a:rPr lang="en-GB" dirty="0">
                <a:solidFill>
                  <a:srgbClr val="000000"/>
                </a:solidFill>
                <a:latin typeface="Lucida Sans Unicode" charset="0"/>
              </a:rPr>
              <a:t>Associative containers</a:t>
            </a:r>
          </a:p>
        </p:txBody>
      </p:sp>
      <p:sp>
        <p:nvSpPr>
          <p:cNvPr id="35857" name="AutoShape 16"/>
          <p:cNvSpPr>
            <a:spLocks noChangeArrowheads="1"/>
          </p:cNvSpPr>
          <p:nvPr/>
        </p:nvSpPr>
        <p:spPr bwMode="auto">
          <a:xfrm rot="120000">
            <a:off x="7189788" y="2786063"/>
            <a:ext cx="163512" cy="13652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5858" name="AutoShape 17"/>
          <p:cNvSpPr>
            <a:spLocks noChangeArrowheads="1"/>
          </p:cNvSpPr>
          <p:nvPr/>
        </p:nvSpPr>
        <p:spPr bwMode="auto">
          <a:xfrm>
            <a:off x="1062038" y="3783013"/>
            <a:ext cx="163512" cy="115887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3811" name="Rectangle 18"/>
          <p:cNvSpPr>
            <a:spLocks noChangeArrowheads="1"/>
          </p:cNvSpPr>
          <p:nvPr/>
        </p:nvSpPr>
        <p:spPr bwMode="auto">
          <a:xfrm>
            <a:off x="2093913" y="3241675"/>
            <a:ext cx="1474787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Queue&lt;E&gt;</a:t>
            </a:r>
          </a:p>
        </p:txBody>
      </p:sp>
      <p:cxnSp>
        <p:nvCxnSpPr>
          <p:cNvPr id="35860" name="AutoShape 19"/>
          <p:cNvCxnSpPr>
            <a:cxnSpLocks noChangeShapeType="1"/>
            <a:stCxn id="33811" idx="0"/>
            <a:endCxn id="35845" idx="2"/>
          </p:cNvCxnSpPr>
          <p:nvPr/>
        </p:nvCxnSpPr>
        <p:spPr bwMode="auto">
          <a:xfrm flipH="1" flipV="1">
            <a:off x="2813050" y="2725738"/>
            <a:ext cx="17463" cy="515937"/>
          </a:xfrm>
          <a:prstGeom prst="bentConnector3">
            <a:avLst>
              <a:gd name="adj1" fmla="val 50000"/>
            </a:avLst>
          </a:prstGeom>
          <a:noFill/>
          <a:ln w="18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1" name="AutoShape 20"/>
          <p:cNvSpPr>
            <a:spLocks noChangeArrowheads="1"/>
          </p:cNvSpPr>
          <p:nvPr/>
        </p:nvSpPr>
        <p:spPr bwMode="auto">
          <a:xfrm>
            <a:off x="2754313" y="2738438"/>
            <a:ext cx="163512" cy="115887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3814" name="Rectangle 21"/>
          <p:cNvSpPr>
            <a:spLocks noChangeArrowheads="1"/>
          </p:cNvSpPr>
          <p:nvPr/>
        </p:nvSpPr>
        <p:spPr bwMode="auto">
          <a:xfrm>
            <a:off x="1866900" y="1343025"/>
            <a:ext cx="1892300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Iterable&lt;E&gt;</a:t>
            </a:r>
          </a:p>
        </p:txBody>
      </p:sp>
      <p:cxnSp>
        <p:nvCxnSpPr>
          <p:cNvPr id="35863" name="AutoShape 22"/>
          <p:cNvCxnSpPr>
            <a:cxnSpLocks noChangeShapeType="1"/>
            <a:stCxn id="35845" idx="0"/>
            <a:endCxn id="33814" idx="2"/>
          </p:cNvCxnSpPr>
          <p:nvPr/>
        </p:nvCxnSpPr>
        <p:spPr bwMode="auto">
          <a:xfrm flipV="1">
            <a:off x="2813050" y="1860550"/>
            <a:ext cx="1588" cy="347663"/>
          </a:xfrm>
          <a:prstGeom prst="bentConnector3">
            <a:avLst>
              <a:gd name="adj1" fmla="val 50000"/>
            </a:avLst>
          </a:prstGeom>
          <a:noFill/>
          <a:ln w="18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4" name="AutoShape 23"/>
          <p:cNvSpPr>
            <a:spLocks noChangeArrowheads="1"/>
          </p:cNvSpPr>
          <p:nvPr/>
        </p:nvSpPr>
        <p:spPr bwMode="auto">
          <a:xfrm>
            <a:off x="2717800" y="1873250"/>
            <a:ext cx="163513" cy="115888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C623F6E-896E-394F-9B75-BFD9DB03CCC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5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37891" name="AutoShape 1"/>
          <p:cNvSpPr>
            <a:spLocks noChangeArrowheads="1"/>
          </p:cNvSpPr>
          <p:nvPr/>
        </p:nvSpPr>
        <p:spPr bwMode="auto">
          <a:xfrm>
            <a:off x="73025" y="3933057"/>
            <a:ext cx="5651500" cy="2523530"/>
          </a:xfrm>
          <a:prstGeom prst="roundRect">
            <a:avLst>
              <a:gd name="adj" fmla="val 8565"/>
            </a:avLst>
          </a:prstGeom>
          <a:solidFill>
            <a:schemeClr val="bg1"/>
          </a:solidFill>
          <a:ln>
            <a:solidFill>
              <a:srgbClr val="8064A2"/>
            </a:solidFill>
            <a:prstDash val="dash"/>
          </a:ln>
          <a:extLst/>
        </p:spPr>
        <p:txBody>
          <a:bodyPr wrap="none" anchor="ctr"/>
          <a:lstStyle/>
          <a:p>
            <a:endParaRPr lang="it-IT"/>
          </a:p>
        </p:txBody>
      </p:sp>
      <p:sp>
        <p:nvSpPr>
          <p:cNvPr id="37892" name="AutoShape 2"/>
          <p:cNvSpPr>
            <a:spLocks noChangeArrowheads="1"/>
          </p:cNvSpPr>
          <p:nvPr/>
        </p:nvSpPr>
        <p:spPr bwMode="auto">
          <a:xfrm>
            <a:off x="5724525" y="3929286"/>
            <a:ext cx="3341688" cy="2505075"/>
          </a:xfrm>
          <a:prstGeom prst="roundRect">
            <a:avLst>
              <a:gd name="adj" fmla="val 11120"/>
            </a:avLst>
          </a:prstGeom>
          <a:solidFill>
            <a:schemeClr val="bg1"/>
          </a:solidFill>
          <a:ln>
            <a:solidFill>
              <a:srgbClr val="8064A2"/>
            </a:solidFill>
            <a:prstDash val="dash"/>
          </a:ln>
          <a:extLst/>
        </p:spPr>
        <p:txBody>
          <a:bodyPr wrap="none" anchor="ctr"/>
          <a:lstStyle/>
          <a:p>
            <a:endParaRPr lang="it-IT"/>
          </a:p>
        </p:txBody>
      </p:sp>
      <p:sp>
        <p:nvSpPr>
          <p:cNvPr id="37893" name="AutoShape 3"/>
          <p:cNvSpPr>
            <a:spLocks noChangeArrowheads="1"/>
          </p:cNvSpPr>
          <p:nvPr/>
        </p:nvSpPr>
        <p:spPr bwMode="auto">
          <a:xfrm>
            <a:off x="104775" y="1052736"/>
            <a:ext cx="5743575" cy="2813050"/>
          </a:xfrm>
          <a:prstGeom prst="roundRect">
            <a:avLst>
              <a:gd name="adj" fmla="val 5296"/>
            </a:avLst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  <a:extLst/>
        </p:spPr>
        <p:txBody>
          <a:bodyPr wrap="none" anchor="ctr"/>
          <a:lstStyle/>
          <a:p>
            <a:endParaRPr lang="it-IT"/>
          </a:p>
        </p:txBody>
      </p:sp>
      <p:sp>
        <p:nvSpPr>
          <p:cNvPr id="37894" name="AutoShape 4"/>
          <p:cNvSpPr>
            <a:spLocks noChangeArrowheads="1"/>
          </p:cNvSpPr>
          <p:nvPr/>
        </p:nvSpPr>
        <p:spPr bwMode="auto">
          <a:xfrm>
            <a:off x="5867400" y="1063849"/>
            <a:ext cx="3162300" cy="2779712"/>
          </a:xfrm>
          <a:prstGeom prst="roundRect">
            <a:avLst>
              <a:gd name="adj" fmla="val 7569"/>
            </a:avLst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  <a:extLst/>
        </p:spPr>
        <p:txBody>
          <a:bodyPr wrap="none" anchor="ctr"/>
          <a:lstStyle/>
          <a:p>
            <a:endParaRPr lang="it-IT"/>
          </a:p>
        </p:txBody>
      </p:sp>
      <p:sp>
        <p:nvSpPr>
          <p:cNvPr id="37895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78105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Implementations</a:t>
            </a:r>
          </a:p>
        </p:txBody>
      </p:sp>
      <p:sp>
        <p:nvSpPr>
          <p:cNvPr id="37896" name="AutoShape 6"/>
          <p:cNvSpPr>
            <a:spLocks noChangeArrowheads="1"/>
          </p:cNvSpPr>
          <p:nvPr/>
        </p:nvSpPr>
        <p:spPr bwMode="auto">
          <a:xfrm>
            <a:off x="8064500" y="3016474"/>
            <a:ext cx="163513" cy="13652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111125" y="5816824"/>
            <a:ext cx="1465263" cy="5175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chemeClr val="accent4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TreeSet</a:t>
            </a:r>
          </a:p>
        </p:txBody>
      </p:sp>
      <p:sp>
        <p:nvSpPr>
          <p:cNvPr id="37897" name="Rectangle 8"/>
          <p:cNvSpPr>
            <a:spLocks noChangeArrowheads="1"/>
          </p:cNvSpPr>
          <p:nvPr/>
        </p:nvSpPr>
        <p:spPr bwMode="auto">
          <a:xfrm>
            <a:off x="7523163" y="4140424"/>
            <a:ext cx="1465262" cy="5175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chemeClr val="accent4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TreeMap</a:t>
            </a:r>
          </a:p>
        </p:txBody>
      </p:sp>
      <p:sp>
        <p:nvSpPr>
          <p:cNvPr id="37898" name="Rectangle 9"/>
          <p:cNvSpPr>
            <a:spLocks noChangeArrowheads="1"/>
          </p:cNvSpPr>
          <p:nvPr/>
        </p:nvSpPr>
        <p:spPr bwMode="auto">
          <a:xfrm>
            <a:off x="4572000" y="4176936"/>
            <a:ext cx="915988" cy="749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chemeClr val="accent4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Array</a:t>
            </a:r>
            <a:br>
              <a:rPr lang="en-GB" sz="2000">
                <a:solidFill>
                  <a:srgbClr val="000000"/>
                </a:solidFill>
                <a:latin typeface="Lucida Sans Unicode" charset="0"/>
              </a:rPr>
            </a:b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List</a:t>
            </a:r>
          </a:p>
        </p:txBody>
      </p:sp>
      <p:sp>
        <p:nvSpPr>
          <p:cNvPr id="37899" name="Rectangle 10"/>
          <p:cNvSpPr>
            <a:spLocks noChangeArrowheads="1"/>
          </p:cNvSpPr>
          <p:nvPr/>
        </p:nvSpPr>
        <p:spPr bwMode="auto">
          <a:xfrm>
            <a:off x="3419475" y="4180111"/>
            <a:ext cx="1055688" cy="722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chemeClr val="accent4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Linked</a:t>
            </a:r>
            <a:br>
              <a:rPr lang="en-GB" sz="2000">
                <a:solidFill>
                  <a:srgbClr val="000000"/>
                </a:solidFill>
                <a:latin typeface="Lucida Sans Unicode" charset="0"/>
              </a:rPr>
            </a:b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List</a:t>
            </a:r>
          </a:p>
        </p:txBody>
      </p:sp>
      <p:sp>
        <p:nvSpPr>
          <p:cNvPr id="37900" name="Rectangle 11"/>
          <p:cNvSpPr>
            <a:spLocks noChangeArrowheads="1"/>
          </p:cNvSpPr>
          <p:nvPr/>
        </p:nvSpPr>
        <p:spPr bwMode="auto">
          <a:xfrm>
            <a:off x="5921375" y="4149949"/>
            <a:ext cx="1465263" cy="5175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chemeClr val="accent4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 dirty="0" err="1" smtClean="0">
                <a:solidFill>
                  <a:srgbClr val="000000"/>
                </a:solidFill>
                <a:latin typeface="Lucida Sans Unicode" charset="0"/>
              </a:rPr>
              <a:t>HashMap</a:t>
            </a:r>
            <a:endParaRPr lang="en-GB" sz="2000" dirty="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37901" name="Rectangle 12"/>
          <p:cNvSpPr>
            <a:spLocks noChangeArrowheads="1"/>
          </p:cNvSpPr>
          <p:nvPr/>
        </p:nvSpPr>
        <p:spPr bwMode="auto">
          <a:xfrm>
            <a:off x="5915025" y="5111974"/>
            <a:ext cx="1528763" cy="800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chemeClr val="accent4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 dirty="0">
                <a:solidFill>
                  <a:srgbClr val="000000"/>
                </a:solidFill>
                <a:latin typeface="Lucida Sans Unicode" charset="0"/>
              </a:rPr>
              <a:t>Linked</a:t>
            </a:r>
            <a:br>
              <a:rPr lang="en-GB" sz="2000" dirty="0">
                <a:solidFill>
                  <a:srgbClr val="000000"/>
                </a:solidFill>
                <a:latin typeface="Lucida Sans Unicode" charset="0"/>
              </a:rPr>
            </a:br>
            <a:r>
              <a:rPr lang="en-GB" sz="2000" dirty="0" err="1">
                <a:solidFill>
                  <a:srgbClr val="000000"/>
                </a:solidFill>
                <a:latin typeface="Lucida Sans Unicode" charset="0"/>
              </a:rPr>
              <a:t>HashMap</a:t>
            </a:r>
            <a:endParaRPr lang="en-GB" sz="2000" dirty="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37902" name="Rectangle 13"/>
          <p:cNvSpPr>
            <a:spLocks noChangeArrowheads="1"/>
          </p:cNvSpPr>
          <p:nvPr/>
        </p:nvSpPr>
        <p:spPr bwMode="auto">
          <a:xfrm>
            <a:off x="904875" y="4904011"/>
            <a:ext cx="1528763" cy="800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chemeClr val="accent4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 dirty="0">
                <a:solidFill>
                  <a:srgbClr val="000000"/>
                </a:solidFill>
                <a:latin typeface="Lucida Sans Unicode" charset="0"/>
              </a:rPr>
              <a:t>Linked</a:t>
            </a:r>
            <a:br>
              <a:rPr lang="en-GB" sz="2000" dirty="0">
                <a:solidFill>
                  <a:srgbClr val="000000"/>
                </a:solidFill>
                <a:latin typeface="Lucida Sans Unicode" charset="0"/>
              </a:rPr>
            </a:br>
            <a:r>
              <a:rPr lang="en-GB" sz="2000" dirty="0" err="1">
                <a:solidFill>
                  <a:srgbClr val="000000"/>
                </a:solidFill>
                <a:latin typeface="Lucida Sans Unicode" charset="0"/>
              </a:rPr>
              <a:t>HashSet</a:t>
            </a:r>
            <a:endParaRPr lang="en-GB" sz="2000" dirty="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37903" name="Rectangle 14"/>
          <p:cNvSpPr>
            <a:spLocks noChangeArrowheads="1"/>
          </p:cNvSpPr>
          <p:nvPr/>
        </p:nvSpPr>
        <p:spPr bwMode="auto">
          <a:xfrm>
            <a:off x="1023938" y="4010249"/>
            <a:ext cx="1465262" cy="5175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chemeClr val="accent4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 dirty="0" err="1">
                <a:solidFill>
                  <a:srgbClr val="000000"/>
                </a:solidFill>
                <a:latin typeface="Lucida Sans Unicode" charset="0"/>
              </a:rPr>
              <a:t>HashSet</a:t>
            </a:r>
            <a:endParaRPr lang="en-GB" sz="2000" dirty="0">
              <a:solidFill>
                <a:srgbClr val="000000"/>
              </a:solidFill>
              <a:latin typeface="Lucida Sans Unicode" charset="0"/>
            </a:endParaRPr>
          </a:p>
        </p:txBody>
      </p:sp>
      <p:cxnSp>
        <p:nvCxnSpPr>
          <p:cNvPr id="37905" name="AutoShape 15"/>
          <p:cNvCxnSpPr>
            <a:cxnSpLocks noChangeShapeType="1"/>
          </p:cNvCxnSpPr>
          <p:nvPr/>
        </p:nvCxnSpPr>
        <p:spPr bwMode="auto">
          <a:xfrm>
            <a:off x="6634163" y="4667474"/>
            <a:ext cx="25400" cy="444500"/>
          </a:xfrm>
          <a:prstGeom prst="straightConnector1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6" name="AutoShape 16"/>
          <p:cNvCxnSpPr>
            <a:cxnSpLocks noChangeShapeType="1"/>
          </p:cNvCxnSpPr>
          <p:nvPr/>
        </p:nvCxnSpPr>
        <p:spPr bwMode="auto">
          <a:xfrm flipH="1">
            <a:off x="1692275" y="4527774"/>
            <a:ext cx="87313" cy="376237"/>
          </a:xfrm>
          <a:prstGeom prst="straightConnector1">
            <a:avLst/>
          </a:prstGeom>
          <a:noFill/>
          <a:ln w="18360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7" name="AutoShape 17"/>
          <p:cNvCxnSpPr>
            <a:cxnSpLocks noChangeShapeType="1"/>
            <a:stCxn id="37910" idx="2"/>
            <a:endCxn id="37900" idx="0"/>
          </p:cNvCxnSpPr>
          <p:nvPr/>
        </p:nvCxnSpPr>
        <p:spPr bwMode="auto">
          <a:xfrm flipH="1">
            <a:off x="6654800" y="1768699"/>
            <a:ext cx="636588" cy="2381250"/>
          </a:xfrm>
          <a:prstGeom prst="straightConnector1">
            <a:avLst/>
          </a:prstGeom>
          <a:noFill/>
          <a:ln w="1908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8" name="AutoShape 19"/>
          <p:cNvCxnSpPr>
            <a:cxnSpLocks noChangeShapeType="1"/>
          </p:cNvCxnSpPr>
          <p:nvPr/>
        </p:nvCxnSpPr>
        <p:spPr bwMode="auto">
          <a:xfrm>
            <a:off x="803275" y="3824511"/>
            <a:ext cx="39688" cy="1992313"/>
          </a:xfrm>
          <a:prstGeom prst="straightConnector1">
            <a:avLst/>
          </a:prstGeom>
          <a:noFill/>
          <a:ln w="18360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9" name="AutoShape 20"/>
          <p:cNvCxnSpPr>
            <a:cxnSpLocks noChangeShapeType="1"/>
            <a:stCxn id="37898" idx="0"/>
            <a:endCxn id="37916" idx="2"/>
          </p:cNvCxnSpPr>
          <p:nvPr/>
        </p:nvCxnSpPr>
        <p:spPr bwMode="auto">
          <a:xfrm rot="5400000" flipH="1" flipV="1">
            <a:off x="4311650" y="3451449"/>
            <a:ext cx="1444625" cy="6350"/>
          </a:xfrm>
          <a:prstGeom prst="bentConnector3">
            <a:avLst>
              <a:gd name="adj1" fmla="val 50000"/>
            </a:avLst>
          </a:prstGeom>
          <a:noFill/>
          <a:ln w="18360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10" name="Rectangle 21"/>
          <p:cNvSpPr>
            <a:spLocks noChangeArrowheads="1"/>
          </p:cNvSpPr>
          <p:nvPr/>
        </p:nvSpPr>
        <p:spPr bwMode="auto">
          <a:xfrm>
            <a:off x="6553200" y="1251174"/>
            <a:ext cx="1474788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Map&lt;K,V&gt;</a:t>
            </a:r>
          </a:p>
        </p:txBody>
      </p:sp>
      <p:sp>
        <p:nvSpPr>
          <p:cNvPr id="37911" name="Rectangle 22"/>
          <p:cNvSpPr>
            <a:spLocks noChangeArrowheads="1"/>
          </p:cNvSpPr>
          <p:nvPr/>
        </p:nvSpPr>
        <p:spPr bwMode="auto">
          <a:xfrm>
            <a:off x="7412038" y="2056036"/>
            <a:ext cx="1466850" cy="939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Sorted</a:t>
            </a:r>
            <a:br>
              <a:rPr lang="en-GB" sz="2000">
                <a:solidFill>
                  <a:srgbClr val="000000"/>
                </a:solidFill>
                <a:latin typeface="Lucida Sans Unicode" charset="0"/>
              </a:rPr>
            </a:b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Map&lt;K,V&gt;</a:t>
            </a:r>
          </a:p>
        </p:txBody>
      </p:sp>
      <p:cxnSp>
        <p:nvCxnSpPr>
          <p:cNvPr id="37912" name="AutoShape 23"/>
          <p:cNvCxnSpPr>
            <a:cxnSpLocks noChangeShapeType="1"/>
          </p:cNvCxnSpPr>
          <p:nvPr/>
        </p:nvCxnSpPr>
        <p:spPr bwMode="auto">
          <a:xfrm flipH="1" flipV="1">
            <a:off x="8004175" y="1484536"/>
            <a:ext cx="528638" cy="571500"/>
          </a:xfrm>
          <a:prstGeom prst="bentConnector3">
            <a:avLst>
              <a:gd name="adj1" fmla="val 50000"/>
            </a:avLst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3" name="AutoShape 24"/>
          <p:cNvCxnSpPr>
            <a:cxnSpLocks noChangeShapeType="1"/>
            <a:stCxn id="37899" idx="0"/>
            <a:endCxn id="37916" idx="2"/>
          </p:cNvCxnSpPr>
          <p:nvPr/>
        </p:nvCxnSpPr>
        <p:spPr bwMode="auto">
          <a:xfrm rot="5400000" flipH="1" flipV="1">
            <a:off x="3768726" y="2911698"/>
            <a:ext cx="1447800" cy="1089025"/>
          </a:xfrm>
          <a:prstGeom prst="bentConnector3">
            <a:avLst>
              <a:gd name="adj1" fmla="val 50000"/>
            </a:avLst>
          </a:prstGeom>
          <a:noFill/>
          <a:ln w="18360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14" name="Rectangle 25"/>
          <p:cNvSpPr>
            <a:spLocks noChangeArrowheads="1"/>
          </p:cNvSpPr>
          <p:nvPr/>
        </p:nvSpPr>
        <p:spPr bwMode="auto">
          <a:xfrm>
            <a:off x="2335213" y="1181324"/>
            <a:ext cx="1892300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 dirty="0">
                <a:solidFill>
                  <a:srgbClr val="000000"/>
                </a:solidFill>
                <a:latin typeface="Lucida Sans Unicode" charset="0"/>
              </a:rPr>
              <a:t>Collection&lt;E&gt;</a:t>
            </a:r>
          </a:p>
        </p:txBody>
      </p:sp>
      <p:sp>
        <p:nvSpPr>
          <p:cNvPr id="37915" name="Rectangle 26"/>
          <p:cNvSpPr>
            <a:spLocks noChangeArrowheads="1"/>
          </p:cNvSpPr>
          <p:nvPr/>
        </p:nvSpPr>
        <p:spPr bwMode="auto">
          <a:xfrm>
            <a:off x="862013" y="2217961"/>
            <a:ext cx="1474787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Set&lt;E&gt;</a:t>
            </a:r>
          </a:p>
        </p:txBody>
      </p:sp>
      <p:sp>
        <p:nvSpPr>
          <p:cNvPr id="37916" name="Rectangle 27"/>
          <p:cNvSpPr>
            <a:spLocks noChangeArrowheads="1"/>
          </p:cNvSpPr>
          <p:nvPr/>
        </p:nvSpPr>
        <p:spPr bwMode="auto">
          <a:xfrm>
            <a:off x="4298950" y="2214786"/>
            <a:ext cx="1474788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List&lt;E&gt;</a:t>
            </a:r>
          </a:p>
        </p:txBody>
      </p:sp>
      <p:sp>
        <p:nvSpPr>
          <p:cNvPr id="37917" name="Rectangle 28"/>
          <p:cNvSpPr>
            <a:spLocks noChangeArrowheads="1"/>
          </p:cNvSpPr>
          <p:nvPr/>
        </p:nvSpPr>
        <p:spPr bwMode="auto">
          <a:xfrm>
            <a:off x="192088" y="3205386"/>
            <a:ext cx="1223962" cy="619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Sorted</a:t>
            </a:r>
            <a:br>
              <a:rPr lang="en-GB" sz="2000">
                <a:solidFill>
                  <a:srgbClr val="000000"/>
                </a:solidFill>
                <a:latin typeface="Lucida Sans Unicode" charset="0"/>
              </a:rPr>
            </a:b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Set&lt;E&gt;</a:t>
            </a:r>
          </a:p>
        </p:txBody>
      </p:sp>
      <p:cxnSp>
        <p:nvCxnSpPr>
          <p:cNvPr id="37918" name="AutoShape 29"/>
          <p:cNvCxnSpPr>
            <a:cxnSpLocks noChangeShapeType="1"/>
            <a:stCxn id="37915" idx="0"/>
            <a:endCxn id="37914" idx="2"/>
          </p:cNvCxnSpPr>
          <p:nvPr/>
        </p:nvCxnSpPr>
        <p:spPr bwMode="auto">
          <a:xfrm rot="5400000" flipH="1" flipV="1">
            <a:off x="2181226" y="1117823"/>
            <a:ext cx="519112" cy="1681163"/>
          </a:xfrm>
          <a:prstGeom prst="bentConnector3">
            <a:avLst>
              <a:gd name="adj1" fmla="val 50000"/>
            </a:avLst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9" name="AutoShape 30"/>
          <p:cNvCxnSpPr>
            <a:cxnSpLocks noChangeShapeType="1"/>
            <a:stCxn id="37916" idx="0"/>
            <a:endCxn id="37914" idx="2"/>
          </p:cNvCxnSpPr>
          <p:nvPr/>
        </p:nvCxnSpPr>
        <p:spPr bwMode="auto">
          <a:xfrm rot="16200000" flipV="1">
            <a:off x="3901282" y="1078930"/>
            <a:ext cx="515937" cy="1755775"/>
          </a:xfrm>
          <a:prstGeom prst="bentConnector3">
            <a:avLst>
              <a:gd name="adj1" fmla="val 50000"/>
            </a:avLst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0" name="AutoShape 31"/>
          <p:cNvCxnSpPr>
            <a:cxnSpLocks noChangeShapeType="1"/>
            <a:endCxn id="37915" idx="2"/>
          </p:cNvCxnSpPr>
          <p:nvPr/>
        </p:nvCxnSpPr>
        <p:spPr bwMode="auto">
          <a:xfrm flipV="1">
            <a:off x="803275" y="2735486"/>
            <a:ext cx="795338" cy="469900"/>
          </a:xfrm>
          <a:prstGeom prst="bentConnector3">
            <a:avLst>
              <a:gd name="adj1" fmla="val 50000"/>
            </a:avLst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1" name="Rectangle 32"/>
          <p:cNvSpPr>
            <a:spLocks noChangeArrowheads="1"/>
          </p:cNvSpPr>
          <p:nvPr/>
        </p:nvSpPr>
        <p:spPr bwMode="auto">
          <a:xfrm>
            <a:off x="2562225" y="2214786"/>
            <a:ext cx="1474788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Queue&lt;E&gt;</a:t>
            </a:r>
          </a:p>
        </p:txBody>
      </p:sp>
      <p:cxnSp>
        <p:nvCxnSpPr>
          <p:cNvPr id="37922" name="AutoShape 33"/>
          <p:cNvCxnSpPr>
            <a:cxnSpLocks noChangeShapeType="1"/>
            <a:stCxn id="37925" idx="0"/>
            <a:endCxn id="37921" idx="2"/>
          </p:cNvCxnSpPr>
          <p:nvPr/>
        </p:nvCxnSpPr>
        <p:spPr bwMode="auto">
          <a:xfrm flipH="1" flipV="1">
            <a:off x="3281363" y="1698849"/>
            <a:ext cx="17462" cy="515937"/>
          </a:xfrm>
          <a:prstGeom prst="bentConnector3">
            <a:avLst>
              <a:gd name="adj1" fmla="val 50000"/>
            </a:avLst>
          </a:prstGeom>
          <a:noFill/>
          <a:ln w="18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3" name="AutoShape 34"/>
          <p:cNvSpPr>
            <a:spLocks noChangeArrowheads="1"/>
          </p:cNvSpPr>
          <p:nvPr/>
        </p:nvSpPr>
        <p:spPr bwMode="auto">
          <a:xfrm>
            <a:off x="3186113" y="1711549"/>
            <a:ext cx="163512" cy="115887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cxnSp>
        <p:nvCxnSpPr>
          <p:cNvPr id="37924" name="AutoShape 35"/>
          <p:cNvCxnSpPr>
            <a:cxnSpLocks noChangeShapeType="1"/>
            <a:stCxn id="37928" idx="0"/>
            <a:endCxn id="37903" idx="0"/>
          </p:cNvCxnSpPr>
          <p:nvPr/>
        </p:nvCxnSpPr>
        <p:spPr bwMode="auto">
          <a:xfrm flipH="1">
            <a:off x="1757363" y="2762474"/>
            <a:ext cx="15875" cy="1247775"/>
          </a:xfrm>
          <a:prstGeom prst="straightConnector1">
            <a:avLst/>
          </a:prstGeom>
          <a:noFill/>
          <a:ln w="18360">
            <a:solidFill>
              <a:srgbClr val="0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5" name="Rectangle 36"/>
          <p:cNvSpPr>
            <a:spLocks noChangeArrowheads="1"/>
          </p:cNvSpPr>
          <p:nvPr/>
        </p:nvSpPr>
        <p:spPr bwMode="auto">
          <a:xfrm>
            <a:off x="2538413" y="5437411"/>
            <a:ext cx="1528762" cy="800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chemeClr val="accent4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 dirty="0">
                <a:solidFill>
                  <a:srgbClr val="000000"/>
                </a:solidFill>
                <a:latin typeface="Lucida Sans Unicode" charset="0"/>
              </a:rPr>
              <a:t>Priority</a:t>
            </a:r>
          </a:p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 dirty="0">
                <a:solidFill>
                  <a:srgbClr val="000000"/>
                </a:solidFill>
                <a:latin typeface="Lucida Sans Unicode" charset="0"/>
              </a:rPr>
              <a:t>Queue</a:t>
            </a:r>
          </a:p>
        </p:txBody>
      </p:sp>
      <p:cxnSp>
        <p:nvCxnSpPr>
          <p:cNvPr id="37926" name="AutoShape 37"/>
          <p:cNvCxnSpPr>
            <a:cxnSpLocks noChangeShapeType="1"/>
            <a:stCxn id="37925" idx="0"/>
            <a:endCxn id="37921" idx="2"/>
          </p:cNvCxnSpPr>
          <p:nvPr/>
        </p:nvCxnSpPr>
        <p:spPr bwMode="auto">
          <a:xfrm rot="16200000" flipV="1">
            <a:off x="1949451" y="4083273"/>
            <a:ext cx="2705100" cy="3175"/>
          </a:xfrm>
          <a:prstGeom prst="bentConnector3">
            <a:avLst>
              <a:gd name="adj1" fmla="val 50000"/>
            </a:avLst>
          </a:prstGeom>
          <a:noFill/>
          <a:ln w="1836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7" name="AutoShape 38"/>
          <p:cNvSpPr>
            <a:spLocks noChangeArrowheads="1"/>
          </p:cNvSpPr>
          <p:nvPr/>
        </p:nvSpPr>
        <p:spPr bwMode="auto">
          <a:xfrm>
            <a:off x="3222625" y="2756124"/>
            <a:ext cx="163513" cy="115887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7928" name="AutoShape 39"/>
          <p:cNvSpPr>
            <a:spLocks noChangeArrowheads="1"/>
          </p:cNvSpPr>
          <p:nvPr/>
        </p:nvSpPr>
        <p:spPr bwMode="auto">
          <a:xfrm>
            <a:off x="1692275" y="2762474"/>
            <a:ext cx="163513" cy="115887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7929" name="AutoShape 40"/>
          <p:cNvSpPr>
            <a:spLocks noChangeArrowheads="1"/>
          </p:cNvSpPr>
          <p:nvPr/>
        </p:nvSpPr>
        <p:spPr bwMode="auto">
          <a:xfrm rot="-5400000">
            <a:off x="7979570" y="1423417"/>
            <a:ext cx="163512" cy="13652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7930" name="AutoShape 41"/>
          <p:cNvSpPr>
            <a:spLocks noChangeArrowheads="1"/>
          </p:cNvSpPr>
          <p:nvPr/>
        </p:nvSpPr>
        <p:spPr bwMode="auto">
          <a:xfrm>
            <a:off x="7216775" y="1759174"/>
            <a:ext cx="163513" cy="13652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7931" name="AutoShape 42"/>
          <p:cNvSpPr>
            <a:spLocks noChangeArrowheads="1"/>
          </p:cNvSpPr>
          <p:nvPr/>
        </p:nvSpPr>
        <p:spPr bwMode="auto">
          <a:xfrm>
            <a:off x="4949825" y="2756124"/>
            <a:ext cx="163513" cy="115887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7932" name="AutoShape 43"/>
          <p:cNvSpPr>
            <a:spLocks noChangeArrowheads="1"/>
          </p:cNvSpPr>
          <p:nvPr/>
        </p:nvSpPr>
        <p:spPr bwMode="auto">
          <a:xfrm>
            <a:off x="6561138" y="4672236"/>
            <a:ext cx="163512" cy="13652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7933" name="AutoShape 44"/>
          <p:cNvSpPr>
            <a:spLocks noChangeArrowheads="1"/>
          </p:cNvSpPr>
          <p:nvPr/>
        </p:nvSpPr>
        <p:spPr bwMode="auto">
          <a:xfrm>
            <a:off x="1691680" y="4546824"/>
            <a:ext cx="163512" cy="13652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7934" name="AutoShape 45"/>
          <p:cNvSpPr>
            <a:spLocks noChangeArrowheads="1"/>
          </p:cNvSpPr>
          <p:nvPr/>
        </p:nvSpPr>
        <p:spPr bwMode="auto">
          <a:xfrm>
            <a:off x="725488" y="3864199"/>
            <a:ext cx="163512" cy="136525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908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cxnSp>
        <p:nvCxnSpPr>
          <p:cNvPr id="37935" name="AutoShape 46"/>
          <p:cNvCxnSpPr>
            <a:cxnSpLocks noChangeShapeType="1"/>
            <a:stCxn id="37899" idx="0"/>
            <a:endCxn id="37921" idx="2"/>
          </p:cNvCxnSpPr>
          <p:nvPr/>
        </p:nvCxnSpPr>
        <p:spPr bwMode="auto">
          <a:xfrm rot="16200000" flipV="1">
            <a:off x="2900363" y="3132361"/>
            <a:ext cx="1447800" cy="647700"/>
          </a:xfrm>
          <a:prstGeom prst="bentConnector3">
            <a:avLst>
              <a:gd name="adj1" fmla="val 50000"/>
            </a:avLst>
          </a:prstGeom>
          <a:noFill/>
          <a:ln w="1836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6" name="AutoShape 18"/>
          <p:cNvCxnSpPr>
            <a:cxnSpLocks noChangeShapeType="1"/>
            <a:stCxn id="37911" idx="2"/>
            <a:endCxn id="37897" idx="0"/>
          </p:cNvCxnSpPr>
          <p:nvPr/>
        </p:nvCxnSpPr>
        <p:spPr bwMode="auto">
          <a:xfrm>
            <a:off x="8145463" y="2995836"/>
            <a:ext cx="111125" cy="1144588"/>
          </a:xfrm>
          <a:prstGeom prst="straightConnector1">
            <a:avLst/>
          </a:prstGeom>
          <a:noFill/>
          <a:ln w="1908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4797425" y="1251174"/>
            <a:ext cx="1646238" cy="393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Interfaces</a:t>
            </a:r>
            <a:endParaRPr lang="it-IT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857750" y="5931124"/>
            <a:ext cx="1298575" cy="393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dirty="0" err="1">
                <a:solidFill>
                  <a:schemeClr val="accent4"/>
                </a:solidFill>
                <a:latin typeface="+mn-lt"/>
              </a:rPr>
              <a:t>Classes</a:t>
            </a:r>
            <a:endParaRPr lang="it-IT" dirty="0">
              <a:solidFill>
                <a:schemeClr val="accent4"/>
              </a:solidFill>
              <a:latin typeface="+mn-lt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B478A516-1FC8-0C4F-AB66-38529B5D8793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3993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Internals</a:t>
            </a:r>
          </a:p>
        </p:txBody>
      </p:sp>
      <p:sp>
        <p:nvSpPr>
          <p:cNvPr id="39940" name="Text Box 41"/>
          <p:cNvSpPr txBox="1">
            <a:spLocks noChangeArrowheads="1"/>
          </p:cNvSpPr>
          <p:nvPr/>
        </p:nvSpPr>
        <p:spPr bwMode="auto">
          <a:xfrm>
            <a:off x="1259632" y="5949280"/>
            <a:ext cx="12588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Lucida Sans Unicode" charset="0"/>
              <a:buNone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interface</a:t>
            </a:r>
          </a:p>
        </p:txBody>
      </p:sp>
      <p:sp>
        <p:nvSpPr>
          <p:cNvPr id="39941" name="Rectangle 42"/>
          <p:cNvSpPr>
            <a:spLocks noChangeArrowheads="1"/>
          </p:cNvSpPr>
          <p:nvPr/>
        </p:nvSpPr>
        <p:spPr bwMode="auto">
          <a:xfrm>
            <a:off x="1343025" y="4498752"/>
            <a:ext cx="115888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/>
          </a:p>
        </p:txBody>
      </p:sp>
      <p:cxnSp>
        <p:nvCxnSpPr>
          <p:cNvPr id="39942" name="AutoShape 43"/>
          <p:cNvCxnSpPr>
            <a:cxnSpLocks noChangeShapeType="1"/>
            <a:stCxn id="39940" idx="1"/>
          </p:cNvCxnSpPr>
          <p:nvPr/>
        </p:nvCxnSpPr>
        <p:spPr bwMode="auto">
          <a:xfrm rot="10800000">
            <a:off x="753394" y="5490219"/>
            <a:ext cx="506239" cy="658292"/>
          </a:xfrm>
          <a:prstGeom prst="bentConnector2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3" name="Rectangle 44"/>
          <p:cNvSpPr>
            <a:spLocks noChangeArrowheads="1"/>
          </p:cNvSpPr>
          <p:nvPr/>
        </p:nvSpPr>
        <p:spPr bwMode="auto">
          <a:xfrm>
            <a:off x="1146175" y="2344515"/>
            <a:ext cx="115888" cy="8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9944" name="Text Box 45"/>
          <p:cNvSpPr txBox="1">
            <a:spLocks noChangeArrowheads="1"/>
          </p:cNvSpPr>
          <p:nvPr/>
        </p:nvSpPr>
        <p:spPr bwMode="auto">
          <a:xfrm>
            <a:off x="-36512" y="1196752"/>
            <a:ext cx="19129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Lucida Sans Unicode" charset="0"/>
              <a:buNone/>
            </a:pPr>
            <a:r>
              <a:rPr lang="en-GB" sz="2000" dirty="0">
                <a:solidFill>
                  <a:srgbClr val="000000"/>
                </a:solidFill>
                <a:latin typeface="Lucida Sans Unicode" charset="0"/>
              </a:rPr>
              <a:t>data structure</a:t>
            </a:r>
          </a:p>
        </p:txBody>
      </p:sp>
      <p:cxnSp>
        <p:nvCxnSpPr>
          <p:cNvPr id="39945" name="AutoShape 46"/>
          <p:cNvCxnSpPr>
            <a:cxnSpLocks noChangeShapeType="1"/>
          </p:cNvCxnSpPr>
          <p:nvPr/>
        </p:nvCxnSpPr>
        <p:spPr bwMode="auto">
          <a:xfrm rot="16200000" flipH="1">
            <a:off x="179512" y="1988840"/>
            <a:ext cx="1296144" cy="432048"/>
          </a:xfrm>
          <a:prstGeom prst="bentConnector3">
            <a:avLst>
              <a:gd name="adj1" fmla="val 99418"/>
            </a:avLst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6" name="Text Box 47"/>
          <p:cNvSpPr txBox="1">
            <a:spLocks noChangeArrowheads="1"/>
          </p:cNvSpPr>
          <p:nvPr/>
        </p:nvSpPr>
        <p:spPr bwMode="auto">
          <a:xfrm>
            <a:off x="5508104" y="5949280"/>
            <a:ext cx="105568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Lucida Sans Unicode" charset="0"/>
              <a:buNone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classes</a:t>
            </a:r>
          </a:p>
        </p:txBody>
      </p:sp>
      <p:cxnSp>
        <p:nvCxnSpPr>
          <p:cNvPr id="39947" name="AutoShape 48"/>
          <p:cNvCxnSpPr>
            <a:cxnSpLocks noChangeShapeType="1"/>
            <a:stCxn id="39946" idx="1"/>
          </p:cNvCxnSpPr>
          <p:nvPr/>
        </p:nvCxnSpPr>
        <p:spPr bwMode="auto">
          <a:xfrm rot="10800000">
            <a:off x="4911898" y="5533082"/>
            <a:ext cx="596206" cy="615430"/>
          </a:xfrm>
          <a:prstGeom prst="bentConnector2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5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1259431"/>
              </p:ext>
            </p:extLst>
          </p:nvPr>
        </p:nvGraphicFramePr>
        <p:xfrm>
          <a:off x="179512" y="2353032"/>
          <a:ext cx="8784978" cy="299009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864096"/>
                <a:gridCol w="1368152"/>
                <a:gridCol w="1440160"/>
                <a:gridCol w="1716695"/>
                <a:gridCol w="1883705"/>
                <a:gridCol w="151217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 smtClean="0"/>
                        <a:t>Hash table</a:t>
                      </a:r>
                      <a:endParaRPr lang="en-US" sz="23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 smtClean="0"/>
                        <a:t>Balanced</a:t>
                      </a:r>
                      <a:r>
                        <a:rPr lang="en-US" sz="2300" baseline="0" dirty="0" smtClean="0"/>
                        <a:t> tree</a:t>
                      </a:r>
                      <a:endParaRPr lang="en-US" sz="23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 smtClean="0"/>
                        <a:t>Resizable</a:t>
                      </a:r>
                      <a:r>
                        <a:rPr lang="en-US" sz="2300" baseline="0" dirty="0" smtClean="0"/>
                        <a:t> array</a:t>
                      </a:r>
                      <a:endParaRPr lang="en-US" sz="23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 smtClean="0"/>
                        <a:t>Linked list</a:t>
                      </a:r>
                      <a:endParaRPr lang="en-US" sz="23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 smtClean="0"/>
                        <a:t>HT + LL</a:t>
                      </a:r>
                      <a:endParaRPr lang="en-US" sz="2300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Set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i="0" dirty="0" err="1" smtClean="0">
                          <a:latin typeface="Courier New"/>
                          <a:cs typeface="Courier New"/>
                        </a:rPr>
                        <a:t>HashSet</a:t>
                      </a:r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i="0" dirty="0" err="1" smtClean="0">
                          <a:latin typeface="Courier New"/>
                          <a:cs typeface="Courier New"/>
                        </a:rPr>
                        <a:t>TreeSet</a:t>
                      </a:r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i="0" dirty="0" err="1" smtClean="0">
                          <a:latin typeface="Courier New"/>
                          <a:cs typeface="Courier New"/>
                        </a:rPr>
                        <a:t>LinkedHashSet</a:t>
                      </a:r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73616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List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200" b="1" i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i="0" dirty="0" err="1" smtClean="0">
                          <a:latin typeface="Courier New"/>
                          <a:cs typeface="Courier New"/>
                        </a:rPr>
                        <a:t>ArrayList</a:t>
                      </a:r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i="0" dirty="0" err="1" smtClean="0">
                          <a:latin typeface="Courier New"/>
                          <a:cs typeface="Courier New"/>
                        </a:rPr>
                        <a:t>LinkedList</a:t>
                      </a:r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bg1"/>
                          </a:solidFill>
                        </a:rPr>
                        <a:t>Map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i="0" dirty="0" err="1" smtClean="0">
                          <a:latin typeface="Courier New"/>
                          <a:cs typeface="Courier New"/>
                        </a:rPr>
                        <a:t>HashMap</a:t>
                      </a:r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i="0" dirty="0" err="1" smtClean="0">
                          <a:latin typeface="Courier New"/>
                          <a:cs typeface="Courier New"/>
                        </a:rPr>
                        <a:t>TreeMap</a:t>
                      </a:r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i="0" dirty="0" err="1" smtClean="0">
                          <a:latin typeface="Courier New"/>
                          <a:cs typeface="Courier New"/>
                        </a:rPr>
                        <a:t>LinkedHashMap</a:t>
                      </a:r>
                      <a:endParaRPr lang="en-US" sz="2200" b="1" i="0" dirty="0">
                        <a:latin typeface="Courier New"/>
                        <a:cs typeface="Courier New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775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Group containers (Collections)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0658" name="Rectangle 4"/>
          <p:cNvSpPr>
            <a:spLocks noChangeArrowheads="1"/>
          </p:cNvSpPr>
          <p:nvPr/>
        </p:nvSpPr>
        <p:spPr bwMode="auto">
          <a:xfrm>
            <a:off x="5497116" y="1243410"/>
            <a:ext cx="1892300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Collection&lt;E&gt;</a:t>
            </a: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4023916" y="2280047"/>
            <a:ext cx="1474787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Set&lt;E&gt;</a:t>
            </a:r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7460853" y="2276872"/>
            <a:ext cx="1474788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List&lt;E&gt;</a:t>
            </a:r>
          </a:p>
        </p:txBody>
      </p:sp>
      <p:sp>
        <p:nvSpPr>
          <p:cNvPr id="45" name="Rectangle 8"/>
          <p:cNvSpPr>
            <a:spLocks noChangeArrowheads="1"/>
          </p:cNvSpPr>
          <p:nvPr/>
        </p:nvSpPr>
        <p:spPr bwMode="auto">
          <a:xfrm>
            <a:off x="3822303" y="3369072"/>
            <a:ext cx="1876425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 dirty="0" err="1">
                <a:solidFill>
                  <a:srgbClr val="000000"/>
                </a:solidFill>
                <a:latin typeface="Lucida Sans Unicode" charset="0"/>
              </a:rPr>
              <a:t>SortedSet</a:t>
            </a:r>
            <a:r>
              <a:rPr lang="en-GB" sz="2000" dirty="0">
                <a:solidFill>
                  <a:srgbClr val="000000"/>
                </a:solidFill>
                <a:latin typeface="Lucida Sans Unicode" charset="0"/>
              </a:rPr>
              <a:t>&lt;E&gt;</a:t>
            </a:r>
          </a:p>
        </p:txBody>
      </p:sp>
      <p:cxnSp>
        <p:nvCxnSpPr>
          <p:cNvPr id="70662" name="AutoShape 10"/>
          <p:cNvCxnSpPr>
            <a:cxnSpLocks noChangeShapeType="1"/>
            <a:stCxn id="43" idx="0"/>
            <a:endCxn id="70658" idx="2"/>
          </p:cNvCxnSpPr>
          <p:nvPr/>
        </p:nvCxnSpPr>
        <p:spPr bwMode="auto">
          <a:xfrm rot="5400000" flipH="1" flipV="1">
            <a:off x="5343129" y="1179909"/>
            <a:ext cx="519112" cy="1681163"/>
          </a:xfrm>
          <a:prstGeom prst="bentConnector3">
            <a:avLst>
              <a:gd name="adj1" fmla="val 50000"/>
            </a:avLst>
          </a:prstGeom>
          <a:noFill/>
          <a:ln w="19080">
            <a:solidFill>
              <a:srgbClr val="E46C0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3" name="AutoShape 11"/>
          <p:cNvCxnSpPr>
            <a:cxnSpLocks noChangeShapeType="1"/>
            <a:stCxn id="44" idx="0"/>
            <a:endCxn id="70658" idx="2"/>
          </p:cNvCxnSpPr>
          <p:nvPr/>
        </p:nvCxnSpPr>
        <p:spPr bwMode="auto">
          <a:xfrm rot="16200000" flipV="1">
            <a:off x="7063185" y="1141016"/>
            <a:ext cx="515937" cy="1755775"/>
          </a:xfrm>
          <a:prstGeom prst="bentConnector3">
            <a:avLst>
              <a:gd name="adj1" fmla="val 50000"/>
            </a:avLst>
          </a:prstGeom>
          <a:noFill/>
          <a:ln w="19080">
            <a:solidFill>
              <a:srgbClr val="E46C0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4" name="AutoShape 12"/>
          <p:cNvCxnSpPr>
            <a:cxnSpLocks noChangeShapeType="1"/>
            <a:stCxn id="45" idx="0"/>
            <a:endCxn id="43" idx="2"/>
          </p:cNvCxnSpPr>
          <p:nvPr/>
        </p:nvCxnSpPr>
        <p:spPr bwMode="auto">
          <a:xfrm flipV="1">
            <a:off x="4760516" y="2797572"/>
            <a:ext cx="1587" cy="571500"/>
          </a:xfrm>
          <a:prstGeom prst="bentConnector3">
            <a:avLst>
              <a:gd name="adj1" fmla="val 50000"/>
            </a:avLst>
          </a:prstGeom>
          <a:noFill/>
          <a:ln w="19080">
            <a:solidFill>
              <a:srgbClr val="E46C0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65" name="AutoShape 17"/>
          <p:cNvSpPr>
            <a:spLocks noChangeArrowheads="1"/>
          </p:cNvSpPr>
          <p:nvPr/>
        </p:nvSpPr>
        <p:spPr bwMode="auto">
          <a:xfrm>
            <a:off x="4692253" y="2818210"/>
            <a:ext cx="163513" cy="115887"/>
          </a:xfrm>
          <a:prstGeom prst="triangle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50" name="Rectangle 18"/>
          <p:cNvSpPr>
            <a:spLocks noChangeArrowheads="1"/>
          </p:cNvSpPr>
          <p:nvPr/>
        </p:nvSpPr>
        <p:spPr bwMode="auto">
          <a:xfrm>
            <a:off x="5724128" y="2276872"/>
            <a:ext cx="1474788" cy="5175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Queue&lt;E&gt;</a:t>
            </a:r>
          </a:p>
        </p:txBody>
      </p:sp>
      <p:cxnSp>
        <p:nvCxnSpPr>
          <p:cNvPr id="70667" name="AutoShape 19"/>
          <p:cNvCxnSpPr>
            <a:cxnSpLocks noChangeShapeType="1"/>
            <a:stCxn id="50" idx="0"/>
            <a:endCxn id="70658" idx="2"/>
          </p:cNvCxnSpPr>
          <p:nvPr/>
        </p:nvCxnSpPr>
        <p:spPr bwMode="auto">
          <a:xfrm flipH="1" flipV="1">
            <a:off x="6443266" y="1760935"/>
            <a:ext cx="17462" cy="515937"/>
          </a:xfrm>
          <a:prstGeom prst="bentConnector3">
            <a:avLst>
              <a:gd name="adj1" fmla="val 50000"/>
            </a:avLst>
          </a:prstGeom>
          <a:noFill/>
          <a:ln w="18360">
            <a:solidFill>
              <a:srgbClr val="E46C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68" name="AutoShape 20"/>
          <p:cNvSpPr>
            <a:spLocks noChangeArrowheads="1"/>
          </p:cNvSpPr>
          <p:nvPr/>
        </p:nvSpPr>
        <p:spPr bwMode="auto">
          <a:xfrm>
            <a:off x="6371480" y="1773635"/>
            <a:ext cx="163513" cy="115887"/>
          </a:xfrm>
          <a:prstGeom prst="triangle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130126"/>
            <a:ext cx="8602663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Collection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295401"/>
            <a:ext cx="8221663" cy="4393127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Group</a:t>
            </a:r>
            <a:r>
              <a:rPr lang="en-GB" sz="2800" dirty="0">
                <a:latin typeface="Lucida Sans Unicode" charset="0"/>
                <a:cs typeface="Lucida Sans Unicode" charset="0"/>
              </a:rPr>
              <a:t> of elements (</a:t>
            </a:r>
            <a:r>
              <a:rPr lang="en-GB" sz="28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references</a:t>
            </a:r>
            <a:r>
              <a:rPr lang="en-GB" sz="2800" dirty="0">
                <a:latin typeface="Lucida Sans Unicode" charset="0"/>
                <a:cs typeface="Lucida Sans Unicode" charset="0"/>
              </a:rPr>
              <a:t> to objects)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It is not specified whether they are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Ordered / not ordered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Duplicated / not 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duplicated</a:t>
            </a:r>
            <a:endParaRPr lang="en-GB" sz="2400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latin typeface="Lucida Sans Unicode" charset="0"/>
                <a:cs typeface="Lucida Sans Unicode" charset="0"/>
              </a:rPr>
              <a:t>Implements </a:t>
            </a:r>
            <a:r>
              <a:rPr lang="en-GB" sz="2800" b="1" dirty="0" err="1" smtClean="0">
                <a:latin typeface="Courier New"/>
                <a:cs typeface="Courier New"/>
              </a:rPr>
              <a:t>Iterable</a:t>
            </a:r>
            <a:endParaRPr lang="en-GB" sz="2800" b="1" dirty="0" smtClean="0">
              <a:latin typeface="Courier New"/>
              <a:cs typeface="Courier New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latin typeface="Lucida Sans Unicode" charset="0"/>
                <a:cs typeface="Lucida Sans Unicode" charset="0"/>
              </a:rPr>
              <a:t>Two constructors common </a:t>
            </a:r>
            <a:r>
              <a:rPr lang="en-GB" sz="2800" dirty="0">
                <a:latin typeface="Lucida Sans Unicode" charset="0"/>
                <a:cs typeface="Lucida Sans Unicode" charset="0"/>
              </a:rPr>
              <a:t>to all classes implementing Collection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C()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C(Collection c)</a:t>
            </a:r>
          </a:p>
        </p:txBody>
      </p:sp>
      <p:sp>
        <p:nvSpPr>
          <p:cNvPr id="52225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757F740-CB1C-7B4C-9243-80595E5F37D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8185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130126"/>
            <a:ext cx="8602663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Collection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interface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295401"/>
            <a:ext cx="8282880" cy="4581871"/>
          </a:xfrm>
        </p:spPr>
        <p:txBody>
          <a:bodyPr wrap="square">
            <a:normAutofit lnSpcReduction="10000"/>
          </a:bodyPr>
          <a:lstStyle/>
          <a:p>
            <a:pPr marL="0" indent="0" eaLnBrk="1" hangingPunct="1">
              <a:lnSpc>
                <a:spcPct val="80000"/>
              </a:lnSpc>
              <a:spcBef>
                <a:spcPts val="650"/>
              </a:spcBef>
              <a:spcAft>
                <a:spcPts val="163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size</a:t>
            </a:r>
            <a:r>
              <a:rPr lang="en-GB" sz="2600" b="1" dirty="0">
                <a:latin typeface="Courier New" charset="0"/>
                <a:cs typeface="Lucida Sans Unicode" charset="0"/>
              </a:rPr>
              <a:t>()</a:t>
            </a:r>
          </a:p>
          <a:p>
            <a:pPr marL="0" indent="0" eaLnBrk="1" hangingPunct="1">
              <a:lnSpc>
                <a:spcPct val="80000"/>
              </a:lnSpc>
              <a:spcBef>
                <a:spcPts val="650"/>
              </a:spcBef>
              <a:spcAft>
                <a:spcPts val="163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isEmpty</a:t>
            </a:r>
            <a:r>
              <a:rPr lang="en-GB" sz="2600" b="1" dirty="0">
                <a:latin typeface="Courier New" charset="0"/>
                <a:cs typeface="Lucida Sans Unicode" charset="0"/>
              </a:rPr>
              <a:t>()</a:t>
            </a:r>
          </a:p>
          <a:p>
            <a:pPr marL="0" indent="0" eaLnBrk="1" hangingPunct="1">
              <a:lnSpc>
                <a:spcPct val="80000"/>
              </a:lnSpc>
              <a:spcBef>
                <a:spcPts val="650"/>
              </a:spcBef>
              <a:spcAft>
                <a:spcPts val="163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contains</a:t>
            </a:r>
            <a:r>
              <a:rPr lang="en-GB" sz="2600" b="1" dirty="0">
                <a:latin typeface="Courier New" charset="0"/>
                <a:cs typeface="Lucida Sans Unicode" charset="0"/>
              </a:rPr>
              <a:t>(E element)</a:t>
            </a:r>
          </a:p>
          <a:p>
            <a:pPr marL="0" indent="0" eaLnBrk="1" hangingPunct="1">
              <a:lnSpc>
                <a:spcPct val="80000"/>
              </a:lnSpc>
              <a:spcBef>
                <a:spcPts val="650"/>
              </a:spcBef>
              <a:spcAft>
                <a:spcPts val="163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containsAll</a:t>
            </a:r>
            <a:r>
              <a:rPr lang="en-GB" sz="2600" b="1" dirty="0">
                <a:latin typeface="Courier New" charset="0"/>
                <a:cs typeface="Lucida Sans Unicode" charset="0"/>
              </a:rPr>
              <a:t>(Collection&lt;?&gt; c)</a:t>
            </a:r>
          </a:p>
          <a:p>
            <a:pPr marL="0" indent="0" eaLnBrk="1" hangingPunct="1">
              <a:lnSpc>
                <a:spcPct val="80000"/>
              </a:lnSpc>
              <a:spcBef>
                <a:spcPts val="650"/>
              </a:spcBef>
              <a:spcAft>
                <a:spcPts val="163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add</a:t>
            </a:r>
            <a:r>
              <a:rPr lang="en-GB" sz="2600" b="1" dirty="0">
                <a:latin typeface="Courier New" charset="0"/>
                <a:cs typeface="Lucida Sans Unicode" charset="0"/>
              </a:rPr>
              <a:t>(E element)</a:t>
            </a:r>
          </a:p>
          <a:p>
            <a:pPr marL="0" indent="0" eaLnBrk="1" hangingPunct="1">
              <a:lnSpc>
                <a:spcPct val="80000"/>
              </a:lnSpc>
              <a:spcBef>
                <a:spcPts val="650"/>
              </a:spcBef>
              <a:spcAft>
                <a:spcPts val="163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addAll</a:t>
            </a:r>
            <a:r>
              <a:rPr lang="en-GB" sz="2600" b="1" dirty="0">
                <a:latin typeface="Courier New" charset="0"/>
                <a:cs typeface="Lucida Sans Unicode" charset="0"/>
              </a:rPr>
              <a:t>(Collection&lt;? </a:t>
            </a:r>
            <a:r>
              <a:rPr lang="en-US" sz="2400" b="1" dirty="0">
                <a:latin typeface="Courier New" charset="0"/>
                <a:cs typeface="Lucida Sans Unicode" charset="0"/>
              </a:rPr>
              <a:t>e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xtends</a:t>
            </a: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>
                <a:latin typeface="Courier New" charset="0"/>
                <a:cs typeface="Lucida Sans Unicode" charset="0"/>
              </a:rPr>
              <a:t>E&gt; c)</a:t>
            </a:r>
          </a:p>
          <a:p>
            <a:pPr marL="0" indent="0" eaLnBrk="1" hangingPunct="1">
              <a:lnSpc>
                <a:spcPct val="80000"/>
              </a:lnSpc>
              <a:spcBef>
                <a:spcPts val="650"/>
              </a:spcBef>
              <a:spcAft>
                <a:spcPts val="163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remove</a:t>
            </a:r>
            <a:r>
              <a:rPr lang="en-GB" sz="2600" b="1" dirty="0">
                <a:latin typeface="Courier New" charset="0"/>
                <a:cs typeface="Lucida Sans Unicode" charset="0"/>
              </a:rPr>
              <a:t>(E element)</a:t>
            </a:r>
          </a:p>
          <a:p>
            <a:pPr marL="0" indent="0" eaLnBrk="1" hangingPunct="1">
              <a:lnSpc>
                <a:spcPct val="80000"/>
              </a:lnSpc>
              <a:spcBef>
                <a:spcPts val="650"/>
              </a:spcBef>
              <a:spcAft>
                <a:spcPts val="163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removeAll</a:t>
            </a:r>
            <a:r>
              <a:rPr lang="en-GB" sz="2600" b="1" dirty="0">
                <a:latin typeface="Courier New" charset="0"/>
                <a:cs typeface="Lucida Sans Unicode" charset="0"/>
              </a:rPr>
              <a:t>(Collection&lt;?&gt; c) </a:t>
            </a:r>
          </a:p>
          <a:p>
            <a:pPr marL="0" indent="0" eaLnBrk="1" hangingPunct="1">
              <a:lnSpc>
                <a:spcPct val="80000"/>
              </a:lnSpc>
              <a:spcBef>
                <a:spcPts val="650"/>
              </a:spcBef>
              <a:spcAft>
                <a:spcPts val="163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>
                <a:latin typeface="Courier New" charset="0"/>
                <a:cs typeface="Lucida Sans Unicode" charset="0"/>
              </a:rPr>
              <a:t>void clear()</a:t>
            </a:r>
          </a:p>
          <a:p>
            <a:pPr marL="0" indent="0" eaLnBrk="1" hangingPunct="1">
              <a:lnSpc>
                <a:spcPct val="80000"/>
              </a:lnSpc>
              <a:spcBef>
                <a:spcPts val="650"/>
              </a:spcBef>
              <a:spcAft>
                <a:spcPts val="163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>
                <a:latin typeface="Courier New" charset="0"/>
                <a:cs typeface="Lucida Sans Unicode" charset="0"/>
              </a:rPr>
              <a:t>Object[] 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toArray</a:t>
            </a:r>
            <a:r>
              <a:rPr lang="en-GB" sz="2600" b="1" dirty="0">
                <a:latin typeface="Courier New" charset="0"/>
                <a:cs typeface="Lucida Sans Unicode" charset="0"/>
              </a:rPr>
              <a:t>()</a:t>
            </a:r>
          </a:p>
          <a:p>
            <a:pPr marL="0" indent="0" eaLnBrk="1" hangingPunct="1">
              <a:lnSpc>
                <a:spcPct val="80000"/>
              </a:lnSpc>
              <a:spcBef>
                <a:spcPts val="650"/>
              </a:spcBef>
              <a:spcAft>
                <a:spcPts val="163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>
                <a:latin typeface="Courier New" charset="0"/>
                <a:cs typeface="Lucida Sans Unicode" charset="0"/>
              </a:rPr>
              <a:t>Iterator&lt;E&gt; </a:t>
            </a:r>
            <a:r>
              <a:rPr lang="en-GB" sz="26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iterator</a:t>
            </a:r>
            <a:r>
              <a:rPr lang="en-GB" sz="2600" b="1" dirty="0">
                <a:latin typeface="Courier New" charset="0"/>
                <a:cs typeface="Lucida Sans Unicode" charset="0"/>
              </a:rPr>
              <a:t>()</a:t>
            </a:r>
          </a:p>
        </p:txBody>
      </p:sp>
      <p:sp>
        <p:nvSpPr>
          <p:cNvPr id="54273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F808AED-C874-7D4F-9B67-2E670F98520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32078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539552" y="1340768"/>
            <a:ext cx="8208912" cy="4392488"/>
          </a:xfrm>
          <a:prstGeom prst="rect">
            <a:avLst/>
          </a:prstGeom>
          <a:solidFill>
            <a:srgbClr val="FDEADA"/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457200" rtl="0" eaLnBrk="1" fontAlgn="base" latinLnBrk="0" hangingPunct="1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cs typeface="Lucida Sans Unicode" pitchFamily="34" charset="0"/>
            </a:endParaRPr>
          </a:p>
        </p:txBody>
      </p:sp>
      <p:sp>
        <p:nvSpPr>
          <p:cNvPr id="56322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Collection</a:t>
            </a:r>
            <a:r>
              <a:rPr lang="en-GB" dirty="0">
                <a:latin typeface="Lucida Sans Unicode" charset="0"/>
                <a:cs typeface="Lucida Sans Unicode" charset="0"/>
              </a:rPr>
              <a:t> example</a:t>
            </a:r>
          </a:p>
        </p:txBody>
      </p:sp>
      <p:sp>
        <p:nvSpPr>
          <p:cNvPr id="56323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0" algn="l"/>
                <a:tab pos="109538" algn="l"/>
                <a:tab pos="566738" algn="l"/>
                <a:tab pos="1023938" algn="l"/>
                <a:tab pos="1481138" algn="l"/>
                <a:tab pos="1938338" algn="l"/>
                <a:tab pos="2395538" algn="l"/>
                <a:tab pos="2852738" algn="l"/>
                <a:tab pos="3309938" algn="l"/>
                <a:tab pos="3767138" algn="l"/>
                <a:tab pos="4224338" algn="l"/>
                <a:tab pos="4681538" algn="l"/>
                <a:tab pos="5138738" algn="l"/>
                <a:tab pos="5595938" algn="l"/>
                <a:tab pos="6053138" algn="l"/>
                <a:tab pos="6510338" algn="l"/>
                <a:tab pos="6967538" algn="l"/>
                <a:tab pos="7424738" algn="l"/>
                <a:tab pos="7881938" algn="l"/>
                <a:tab pos="8339138" algn="l"/>
                <a:tab pos="8796338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Collection&lt;Person&gt; persons = 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							new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LinkedList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&lt;Person&gt;</a:t>
            </a:r>
            <a:r>
              <a:rPr lang="en-GB" sz="2400" b="1" dirty="0">
                <a:latin typeface="Courier New" charset="0"/>
                <a:cs typeface="Lucida Sans Unicode" charset="0"/>
              </a:rPr>
              <a:t>();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 err="1">
                <a:latin typeface="Courier New" charset="0"/>
                <a:cs typeface="Lucida Sans Unicode" charset="0"/>
              </a:rPr>
              <a:t>persons.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add</a:t>
            </a:r>
            <a:r>
              <a:rPr lang="en-GB" sz="2400" b="1" dirty="0">
                <a:latin typeface="Courier New" charset="0"/>
                <a:cs typeface="Lucida Sans Unicode" charset="0"/>
              </a:rPr>
              <a:t>( new Person(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Alice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) );</a:t>
            </a:r>
            <a:br>
              <a:rPr lang="en-GB" altLang="ja-JP" sz="2400" b="1" dirty="0">
                <a:latin typeface="Courier New" charset="0"/>
                <a:cs typeface="Lucida Sans Unicode" charset="0"/>
              </a:rPr>
            </a:br>
            <a:r>
              <a:rPr lang="en-GB" altLang="ja-JP" sz="2400" b="1" dirty="0" err="1">
                <a:latin typeface="Courier New" charset="0"/>
                <a:cs typeface="Lucida Sans Unicode" charset="0"/>
              </a:rPr>
              <a:t>System.out.println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( </a:t>
            </a:r>
            <a:r>
              <a:rPr lang="en-GB" altLang="ja-JP" sz="2400" b="1" dirty="0" err="1">
                <a:latin typeface="Courier New" charset="0"/>
                <a:cs typeface="Lucida Sans Unicode" charset="0"/>
              </a:rPr>
              <a:t>persons.</a:t>
            </a:r>
            <a:r>
              <a:rPr lang="en-GB" altLang="ja-JP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size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() );</a:t>
            </a:r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0" algn="l"/>
                <a:tab pos="109538" algn="l"/>
                <a:tab pos="566738" algn="l"/>
                <a:tab pos="1023938" algn="l"/>
                <a:tab pos="1481138" algn="l"/>
                <a:tab pos="1938338" algn="l"/>
                <a:tab pos="2395538" algn="l"/>
                <a:tab pos="2852738" algn="l"/>
                <a:tab pos="3309938" algn="l"/>
                <a:tab pos="3767138" algn="l"/>
                <a:tab pos="4224338" algn="l"/>
                <a:tab pos="4681538" algn="l"/>
                <a:tab pos="5138738" algn="l"/>
                <a:tab pos="5595938" algn="l"/>
                <a:tab pos="6053138" algn="l"/>
                <a:tab pos="6510338" algn="l"/>
                <a:tab pos="6967538" algn="l"/>
                <a:tab pos="7424738" algn="l"/>
                <a:tab pos="7881938" algn="l"/>
                <a:tab pos="8339138" algn="l"/>
                <a:tab pos="8796338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Collection&lt;Person&gt; copy = 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								new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TreeSet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&lt;Person&gt;</a:t>
            </a:r>
            <a:r>
              <a:rPr lang="en-GB" sz="2400" b="1" dirty="0">
                <a:latin typeface="Courier New" charset="0"/>
                <a:cs typeface="Lucida Sans Unicode" charset="0"/>
              </a:rPr>
              <a:t>();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 err="1">
                <a:latin typeface="Courier New" charset="0"/>
                <a:cs typeface="Lucida Sans Unicode" charset="0"/>
              </a:rPr>
              <a:t>copy.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addAll</a:t>
            </a:r>
            <a:r>
              <a:rPr lang="en-GB" sz="2400" b="1" dirty="0">
                <a:latin typeface="Courier New" charset="0"/>
                <a:cs typeface="Lucida Sans Unicode" charset="0"/>
              </a:rPr>
              <a:t>(persons);</a:t>
            </a:r>
            <a:r>
              <a:rPr lang="en-GB" sz="2400" b="1" dirty="0">
                <a:solidFill>
                  <a:srgbClr val="808080"/>
                </a:solidFill>
                <a:latin typeface="Courier New" charset="0"/>
                <a:cs typeface="Lucida Sans Unicode" charset="0"/>
              </a:rPr>
              <a:t>//new </a:t>
            </a:r>
            <a:r>
              <a:rPr lang="en-GB" sz="2400" b="1" dirty="0" err="1">
                <a:solidFill>
                  <a:srgbClr val="808080"/>
                </a:solidFill>
                <a:latin typeface="Courier New" charset="0"/>
                <a:cs typeface="Lucida Sans Unicode" charset="0"/>
              </a:rPr>
              <a:t>TreeSet</a:t>
            </a:r>
            <a:r>
              <a:rPr lang="en-GB" sz="2400" b="1" dirty="0">
                <a:solidFill>
                  <a:srgbClr val="808080"/>
                </a:solidFill>
                <a:latin typeface="Courier New" charset="0"/>
                <a:cs typeface="Lucida Sans Unicode" charset="0"/>
              </a:rPr>
              <a:t>(persons)</a:t>
            </a:r>
          </a:p>
          <a:p>
            <a:pPr marL="0" indent="0"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0" algn="l"/>
                <a:tab pos="109538" algn="l"/>
                <a:tab pos="566738" algn="l"/>
                <a:tab pos="1023938" algn="l"/>
                <a:tab pos="1481138" algn="l"/>
                <a:tab pos="1938338" algn="l"/>
                <a:tab pos="2395538" algn="l"/>
                <a:tab pos="2852738" algn="l"/>
                <a:tab pos="3309938" algn="l"/>
                <a:tab pos="3767138" algn="l"/>
                <a:tab pos="4224338" algn="l"/>
                <a:tab pos="4681538" algn="l"/>
                <a:tab pos="5138738" algn="l"/>
                <a:tab pos="5595938" algn="l"/>
                <a:tab pos="6053138" algn="l"/>
                <a:tab pos="6510338" algn="l"/>
                <a:tab pos="6967538" algn="l"/>
                <a:tab pos="7424738" algn="l"/>
                <a:tab pos="7881938" algn="l"/>
                <a:tab pos="8339138" algn="l"/>
                <a:tab pos="8796338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Person[] array =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copy.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toArray</a:t>
            </a:r>
            <a:r>
              <a:rPr lang="en-GB" sz="2400" b="1" dirty="0">
                <a:latin typeface="Courier New" charset="0"/>
                <a:cs typeface="Lucida Sans Unicode" charset="0"/>
              </a:rPr>
              <a:t>();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 err="1">
                <a:latin typeface="Courier New" charset="0"/>
                <a:cs typeface="Lucida Sans Unicode" charset="0"/>
              </a:rPr>
              <a:t>System.out.println</a:t>
            </a:r>
            <a:r>
              <a:rPr lang="en-GB" sz="2400" b="1" dirty="0">
                <a:latin typeface="Courier New" charset="0"/>
                <a:cs typeface="Lucida Sans Unicode" charset="0"/>
              </a:rPr>
              <a:t>( array[0] );</a:t>
            </a:r>
          </a:p>
        </p:txBody>
      </p:sp>
      <p:sp>
        <p:nvSpPr>
          <p:cNvPr id="56321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B0C9040F-0E43-2740-81B9-556C1671BC8A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10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89865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List</a:t>
            </a:r>
          </a:p>
        </p:txBody>
      </p:sp>
      <p:sp>
        <p:nvSpPr>
          <p:cNvPr id="7270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Can contain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duplicate</a:t>
            </a:r>
            <a:r>
              <a:rPr lang="en-GB">
                <a:latin typeface="Lucida Sans Unicode" charset="0"/>
                <a:cs typeface="Lucida Sans Unicode" charset="0"/>
              </a:rPr>
              <a:t> elements 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Insertion order</a:t>
            </a:r>
            <a:r>
              <a:rPr lang="en-GB">
                <a:latin typeface="Lucida Sans Unicode" charset="0"/>
                <a:cs typeface="Lucida Sans Unicode" charset="0"/>
              </a:rPr>
              <a:t> is preserved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User can define insertion point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Elements can be accessed by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position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Augments Collection interface</a:t>
            </a:r>
          </a:p>
        </p:txBody>
      </p:sp>
      <p:sp>
        <p:nvSpPr>
          <p:cNvPr id="72705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4B9078D-6953-DE48-A32E-8A6E515DBC7F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11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130126"/>
            <a:ext cx="8602663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List</a:t>
            </a:r>
            <a:r>
              <a:rPr lang="en-GB" dirty="0">
                <a:latin typeface="Lucida Sans Unicode" charset="0"/>
                <a:cs typeface="Lucida Sans Unicode" charset="0"/>
              </a:rPr>
              <a:t>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interface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333713"/>
            <a:ext cx="8426896" cy="4111511"/>
          </a:xfr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150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>
                <a:latin typeface="Courier New" charset="0"/>
                <a:cs typeface="Lucida Sans Unicode" charset="0"/>
              </a:rPr>
              <a:t>E </a:t>
            </a:r>
            <a:r>
              <a:rPr lang="en-GB" sz="26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get</a:t>
            </a:r>
            <a:r>
              <a:rPr lang="en-GB" sz="2600" b="1" dirty="0">
                <a:latin typeface="Courier New" charset="0"/>
                <a:cs typeface="Lucida Sans Unicode" charset="0"/>
              </a:rPr>
              <a:t>(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index</a:t>
            </a:r>
            <a:r>
              <a:rPr lang="en-GB" sz="2600" b="1" dirty="0">
                <a:latin typeface="Courier New" charset="0"/>
                <a:cs typeface="Lucida Sans Unicode" charset="0"/>
              </a:rPr>
              <a:t>) 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150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>
                <a:latin typeface="Courier New" charset="0"/>
                <a:cs typeface="Lucida Sans Unicode" charset="0"/>
              </a:rPr>
              <a:t>E </a:t>
            </a:r>
            <a:r>
              <a:rPr lang="en-GB" sz="26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set</a:t>
            </a:r>
            <a:r>
              <a:rPr lang="en-GB" sz="2600" b="1" dirty="0">
                <a:latin typeface="Courier New" charset="0"/>
                <a:cs typeface="Lucida Sans Unicode" charset="0"/>
              </a:rPr>
              <a:t>(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index</a:t>
            </a:r>
            <a:r>
              <a:rPr lang="en-GB" sz="2600" b="1" dirty="0">
                <a:latin typeface="Courier New" charset="0"/>
                <a:cs typeface="Lucida Sans Unicode" charset="0"/>
              </a:rPr>
              <a:t>, E element)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150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>
                <a:latin typeface="Courier New" charset="0"/>
                <a:cs typeface="Lucida Sans Unicode" charset="0"/>
              </a:rPr>
              <a:t>void </a:t>
            </a:r>
            <a:r>
              <a:rPr lang="en-GB" sz="26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add</a:t>
            </a:r>
            <a:r>
              <a:rPr lang="en-GB" sz="2600" b="1" dirty="0">
                <a:latin typeface="Courier New" charset="0"/>
                <a:cs typeface="Lucida Sans Unicode" charset="0"/>
              </a:rPr>
              <a:t>(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index</a:t>
            </a:r>
            <a:r>
              <a:rPr lang="en-GB" sz="2600" b="1" dirty="0">
                <a:latin typeface="Courier New" charset="0"/>
                <a:cs typeface="Lucida Sans Unicode" charset="0"/>
              </a:rPr>
              <a:t>, E element)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150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>
                <a:latin typeface="Courier New" charset="0"/>
                <a:cs typeface="Lucida Sans Unicode" charset="0"/>
              </a:rPr>
              <a:t>E </a:t>
            </a:r>
            <a:r>
              <a:rPr lang="en-GB" sz="26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remove</a:t>
            </a:r>
            <a:r>
              <a:rPr lang="en-GB" sz="2600" b="1" dirty="0">
                <a:latin typeface="Courier New" charset="0"/>
                <a:cs typeface="Lucida Sans Unicode" charset="0"/>
              </a:rPr>
              <a:t>(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index</a:t>
            </a:r>
            <a:r>
              <a:rPr lang="en-GB" sz="2600" b="1" dirty="0">
                <a:latin typeface="Courier New" charset="0"/>
                <a:cs typeface="Lucida Sans Unicode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150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600" b="1" dirty="0">
              <a:latin typeface="Courier New" charset="0"/>
              <a:cs typeface="Lucida Sans Unicode" charset="0"/>
            </a:endParaRP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150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addAll</a:t>
            </a:r>
            <a:r>
              <a:rPr lang="en-GB" sz="2600" b="1" dirty="0">
                <a:latin typeface="Courier New" charset="0"/>
                <a:cs typeface="Lucida Sans Unicode" charset="0"/>
              </a:rPr>
              <a:t>(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 err="1">
                <a:solidFill>
                  <a:srgbClr val="8064A2"/>
                </a:solidFill>
                <a:latin typeface="Courier New" charset="0"/>
                <a:cs typeface="Lucida Sans Unicode" charset="0"/>
              </a:rPr>
              <a:t>index</a:t>
            </a:r>
            <a:r>
              <a:rPr lang="en-GB" sz="2600" b="1" dirty="0" err="1" smtClean="0">
                <a:latin typeface="Courier New" charset="0"/>
                <a:cs typeface="Lucida Sans Unicode" charset="0"/>
              </a:rPr>
              <a:t>,Collection</a:t>
            </a:r>
            <a:r>
              <a:rPr lang="en-GB" sz="2600" b="1" dirty="0">
                <a:latin typeface="Courier New" charset="0"/>
                <a:cs typeface="Lucida Sans Unicode" charset="0"/>
              </a:rPr>
              <a:t>&lt;E&gt; c)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150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indexOf</a:t>
            </a:r>
            <a:r>
              <a:rPr lang="en-GB" sz="2600" b="1" dirty="0">
                <a:latin typeface="Courier New" charset="0"/>
                <a:cs typeface="Lucida Sans Unicode" charset="0"/>
              </a:rPr>
              <a:t>(E o) 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150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600" b="1" dirty="0">
                <a:latin typeface="Courier New" charset="0"/>
                <a:cs typeface="Lucida Sans Unicode" charset="0"/>
              </a:rPr>
              <a:t> 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lastIndexOf</a:t>
            </a:r>
            <a:r>
              <a:rPr lang="en-GB" sz="2600" b="1" dirty="0">
                <a:latin typeface="Courier New" charset="0"/>
                <a:cs typeface="Lucida Sans Unicode" charset="0"/>
              </a:rPr>
              <a:t>(E o) </a:t>
            </a:r>
          </a:p>
          <a:p>
            <a:pPr marL="0" indent="0" eaLnBrk="1" hangingPunct="1">
              <a:lnSpc>
                <a:spcPct val="90000"/>
              </a:lnSpc>
              <a:spcBef>
                <a:spcPts val="600"/>
              </a:spcBef>
              <a:spcAft>
                <a:spcPts val="150"/>
              </a:spcAft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600" b="1" dirty="0">
                <a:latin typeface="Courier New" charset="0"/>
                <a:cs typeface="Lucida Sans Unicode" charset="0"/>
              </a:rPr>
              <a:t>List&lt;E&gt; 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subList</a:t>
            </a:r>
            <a:r>
              <a:rPr lang="en-GB" sz="2600" b="1" dirty="0">
                <a:latin typeface="Courier New" charset="0"/>
                <a:cs typeface="Lucida Sans Unicode" charset="0"/>
              </a:rPr>
              <a:t>(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600" b="1" dirty="0">
                <a:latin typeface="Courier New" charset="0"/>
                <a:cs typeface="Lucida Sans Unicode" charset="0"/>
              </a:rPr>
              <a:t> from, </a:t>
            </a:r>
            <a:r>
              <a:rPr lang="en-GB" sz="26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600" b="1" dirty="0">
                <a:latin typeface="Courier New" charset="0"/>
                <a:cs typeface="Lucida Sans Unicode" charset="0"/>
              </a:rPr>
              <a:t> to)</a:t>
            </a:r>
          </a:p>
        </p:txBody>
      </p:sp>
      <p:sp>
        <p:nvSpPr>
          <p:cNvPr id="74753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5ABA7C0F-A45D-3741-BD0E-B2AAB42BB290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12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List</a:t>
            </a:r>
            <a:r>
              <a:rPr lang="en-GB" dirty="0">
                <a:latin typeface="Lucida Sans Unicode" charset="0"/>
                <a:cs typeface="Lucida Sans Unicode" charset="0"/>
              </a:rPr>
              <a:t> implementations</a:t>
            </a:r>
          </a:p>
        </p:txBody>
      </p:sp>
      <p:sp>
        <p:nvSpPr>
          <p:cNvPr id="76803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err="1">
                <a:solidFill>
                  <a:srgbClr val="FF6600"/>
                </a:solidFill>
                <a:latin typeface="Courier New"/>
                <a:cs typeface="Courier New"/>
              </a:rPr>
              <a:t>ArrayList</a:t>
            </a:r>
            <a:endParaRPr lang="en-GB" sz="2800" b="1" dirty="0">
              <a:solidFill>
                <a:srgbClr val="FF6600"/>
              </a:solidFill>
              <a:latin typeface="Courier New"/>
              <a:cs typeface="Courier New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Courier New" charset="0"/>
              </a:rPr>
              <a:t>get(n)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Constant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Courier New" charset="0"/>
              </a:rPr>
              <a:t>add(0,…) </a:t>
            </a:r>
          </a:p>
          <a:p>
            <a:pPr lvl="1" eaLnBrk="1" hangingPunct="1">
              <a:lnSpc>
                <a:spcPct val="10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Linear</a:t>
            </a:r>
          </a:p>
          <a:p>
            <a:pPr lvl="1" eaLnBrk="1" hangingPunct="1">
              <a:lnSpc>
                <a:spcPct val="10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400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Courier New" charset="0"/>
              </a:rPr>
              <a:t>add()</a:t>
            </a:r>
          </a:p>
          <a:p>
            <a:pPr lvl="1" eaLnBrk="1" hangingPunct="1">
              <a:lnSpc>
                <a:spcPct val="10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Constant</a:t>
            </a:r>
          </a:p>
        </p:txBody>
      </p:sp>
      <p:sp>
        <p:nvSpPr>
          <p:cNvPr id="76801" name="Segnaposto numero diapositiva 6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EE02B98-C47E-E344-94B3-AF0EFF378FA1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13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99050" y="1295400"/>
            <a:ext cx="4044950" cy="503555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 err="1">
                <a:solidFill>
                  <a:srgbClr val="FF6600"/>
                </a:solidFill>
                <a:latin typeface="Courier New"/>
                <a:cs typeface="Courier New"/>
              </a:rPr>
              <a:t>LinkedList</a:t>
            </a:r>
            <a:endParaRPr lang="en-GB" sz="2800" b="1" dirty="0">
              <a:solidFill>
                <a:srgbClr val="FF6600"/>
              </a:solidFill>
              <a:latin typeface="Courier New"/>
              <a:cs typeface="Courier New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>
                <a:latin typeface="Courier New"/>
                <a:cs typeface="Courier New"/>
              </a:rPr>
              <a:t>get(n)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Linear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800" dirty="0">
              <a:latin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>
                <a:latin typeface="Courier New"/>
                <a:cs typeface="Courier New"/>
              </a:rPr>
              <a:t>add(0, … 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Constant</a:t>
            </a:r>
          </a:p>
          <a:p>
            <a:pPr lvl="1" eaLnBrk="1" hangingPunct="1">
              <a:lnSpc>
                <a:spcPct val="10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 smtClean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800" b="1" dirty="0">
                <a:latin typeface="Courier New"/>
                <a:cs typeface="Courier New"/>
              </a:rPr>
              <a:t>add()</a:t>
            </a:r>
          </a:p>
          <a:p>
            <a:pPr lvl="1" eaLnBrk="1" hangingPunct="1">
              <a:lnSpc>
                <a:spcPct val="10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Constant</a:t>
            </a:r>
          </a:p>
          <a:p>
            <a:pPr marL="457200" lvl="1" indent="0" eaLnBrk="1" hangingPunct="1">
              <a:lnSpc>
                <a:spcPct val="100000"/>
              </a:lnSpc>
              <a:spcBef>
                <a:spcPts val="600"/>
              </a:spcBef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/>
                <a:cs typeface="Courier New"/>
              </a:rPr>
              <a:t>List</a:t>
            </a:r>
            <a:r>
              <a:rPr lang="en-US" dirty="0">
                <a:latin typeface="Lucida Sans Unicode" charset="0"/>
                <a:cs typeface="Lucida Sans Unicode" charset="0"/>
              </a:rPr>
              <a:t> implementations - Get</a:t>
            </a:r>
          </a:p>
        </p:txBody>
      </p:sp>
      <p:graphicFrame>
        <p:nvGraphicFramePr>
          <p:cNvPr id="5" name="Chart 4"/>
          <p:cNvGraphicFramePr/>
          <p:nvPr/>
        </p:nvGraphicFramePr>
        <p:xfrm>
          <a:off x="381000" y="1143000"/>
          <a:ext cx="8382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/>
                <a:cs typeface="Courier New"/>
              </a:rPr>
              <a:t>List</a:t>
            </a:r>
            <a:r>
              <a:rPr lang="en-US" dirty="0">
                <a:latin typeface="Lucida Sans Unicode" charset="0"/>
                <a:cs typeface="Lucida Sans Unicode" charset="0"/>
              </a:rPr>
              <a:t> Implementations - Add</a:t>
            </a:r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1369419"/>
              </p:ext>
            </p:extLst>
          </p:nvPr>
        </p:nvGraphicFramePr>
        <p:xfrm>
          <a:off x="1043609" y="1268760"/>
          <a:ext cx="7128792" cy="4752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/>
                <a:cs typeface="Courier New"/>
              </a:rPr>
              <a:t>List</a:t>
            </a:r>
            <a:r>
              <a:rPr lang="en-US" dirty="0">
                <a:latin typeface="Lucida Sans Unicode" charset="0"/>
                <a:cs typeface="Lucida Sans Unicode" charset="0"/>
              </a:rPr>
              <a:t> Implementations - Add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/>
        </p:nvGraphicFramePr>
        <p:xfrm>
          <a:off x="827584" y="1484784"/>
          <a:ext cx="7776864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/>
                <a:cs typeface="Courier New"/>
              </a:rPr>
              <a:t>List</a:t>
            </a:r>
            <a:r>
              <a:rPr lang="en-US" dirty="0">
                <a:latin typeface="Lucida Sans Unicode" charset="0"/>
                <a:cs typeface="Lucida Sans Unicode" charset="0"/>
              </a:rPr>
              <a:t> implementation - Models</a:t>
            </a:r>
          </a:p>
        </p:txBody>
      </p:sp>
      <p:pic>
        <p:nvPicPr>
          <p:cNvPr id="8192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638" y="1989138"/>
            <a:ext cx="17018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0825" y="1916113"/>
            <a:ext cx="2592388" cy="6826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+mn-lt"/>
              </a:rPr>
              <a:t>Add in first pos. in list of size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6100" y="1341438"/>
            <a:ext cx="2105072" cy="39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LinkedList</a:t>
            </a:r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56325" y="1341438"/>
            <a:ext cx="1859754" cy="393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 err="1">
                <a:solidFill>
                  <a:schemeClr val="tx1"/>
                </a:solidFill>
                <a:latin typeface="Courier New"/>
                <a:cs typeface="Courier New"/>
              </a:rPr>
              <a:t>ArrayList</a:t>
            </a:r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pic>
        <p:nvPicPr>
          <p:cNvPr id="8192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1989138"/>
            <a:ext cx="23828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3213100"/>
            <a:ext cx="2232025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50825" y="3213100"/>
            <a:ext cx="2592388" cy="393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+mn-lt"/>
              </a:rPr>
              <a:t>Add n elements</a:t>
            </a:r>
          </a:p>
        </p:txBody>
      </p:sp>
      <p:pic>
        <p:nvPicPr>
          <p:cNvPr id="8192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2852738"/>
            <a:ext cx="278130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755650" y="4724400"/>
            <a:ext cx="3384550" cy="1168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3200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sz="3200" baseline="-25000" dirty="0">
                <a:solidFill>
                  <a:schemeClr val="tx1"/>
                </a:solidFill>
                <a:latin typeface="+mn-lt"/>
              </a:rPr>
              <a:t>L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 = 16.0 ns</a:t>
            </a:r>
          </a:p>
          <a:p>
            <a:pPr>
              <a:lnSpc>
                <a:spcPct val="110000"/>
              </a:lnSpc>
              <a:defRPr/>
            </a:pPr>
            <a:r>
              <a:rPr lang="en-US" sz="3200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sz="3200" baseline="-250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 =   0.2 ns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List</a:t>
            </a:r>
            <a:r>
              <a:rPr lang="en-GB" dirty="0">
                <a:latin typeface="Lucida Sans Unicode" charset="0"/>
                <a:cs typeface="Lucida Sans Unicode" charset="0"/>
              </a:rPr>
              <a:t> implementations</a:t>
            </a:r>
          </a:p>
        </p:txBody>
      </p:sp>
      <p:sp>
        <p:nvSpPr>
          <p:cNvPr id="8294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ArrayList</a:t>
            </a:r>
            <a:r>
              <a:rPr lang="en-GB" sz="2800" b="1" dirty="0" smtClean="0">
                <a:solidFill>
                  <a:srgbClr val="FF6600"/>
                </a:solidFill>
                <a:latin typeface="Courier New"/>
                <a:cs typeface="Courier New"/>
              </a:rPr>
              <a:t>&lt;E&gt;</a:t>
            </a:r>
            <a:endParaRPr lang="en-GB" sz="2800" b="1" dirty="0">
              <a:solidFill>
                <a:srgbClr val="FF6600"/>
              </a:solidFill>
              <a:latin typeface="Courier New"/>
              <a:cs typeface="Courier New"/>
            </a:endParaRP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 err="1">
                <a:latin typeface="Courier New" charset="0"/>
                <a:ea typeface="Lucida Sans Unicode" charset="0"/>
                <a:cs typeface="Lucida Sans Unicode" charset="0"/>
              </a:rPr>
              <a:t>ArrayList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()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 err="1">
                <a:latin typeface="Courier New" charset="0"/>
                <a:ea typeface="Lucida Sans Unicode" charset="0"/>
                <a:cs typeface="Lucida Sans Unicode" charset="0"/>
              </a:rPr>
              <a:t>ArrayList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(</a:t>
            </a:r>
            <a:r>
              <a:rPr lang="en-GB" sz="2000" b="1" dirty="0" err="1">
                <a:latin typeface="Courier New" charset="0"/>
                <a:ea typeface="Lucida Sans Unicode" charset="0"/>
                <a:cs typeface="Lucida Sans Unicode" charset="0"/>
              </a:rPr>
              <a:t>int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000" b="1" dirty="0" err="1">
                <a:latin typeface="Courier New" charset="0"/>
                <a:ea typeface="Lucida Sans Unicode" charset="0"/>
                <a:cs typeface="Lucida Sans Unicode" charset="0"/>
              </a:rPr>
              <a:t>initialCapacity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) 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 err="1">
                <a:latin typeface="Courier New" charset="0"/>
                <a:ea typeface="Lucida Sans Unicode" charset="0"/>
                <a:cs typeface="Lucida Sans Unicode" charset="0"/>
              </a:rPr>
              <a:t>ArrayList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(</a:t>
            </a:r>
            <a:r>
              <a:rPr lang="en-GB" sz="2000" b="1" dirty="0" smtClean="0">
                <a:latin typeface="Courier New" charset="0"/>
                <a:ea typeface="Lucida Sans Unicode" charset="0"/>
                <a:cs typeface="Lucida Sans Unicode" charset="0"/>
              </a:rPr>
              <a:t>Collection&lt;E&gt; 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c)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void </a:t>
            </a:r>
            <a:r>
              <a:rPr lang="en-GB" sz="2000" b="1" dirty="0" err="1">
                <a:latin typeface="Courier New" charset="0"/>
                <a:ea typeface="Lucida Sans Unicode" charset="0"/>
                <a:cs typeface="Lucida Sans Unicode" charset="0"/>
              </a:rPr>
              <a:t>ensureCapacity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(</a:t>
            </a:r>
            <a:r>
              <a:rPr lang="en-GB" sz="2000" b="1" dirty="0" err="1">
                <a:latin typeface="Courier New" charset="0"/>
                <a:ea typeface="Lucida Sans Unicode" charset="0"/>
                <a:cs typeface="Lucida Sans Unicode" charset="0"/>
              </a:rPr>
              <a:t>int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000" b="1" dirty="0" err="1">
                <a:latin typeface="Courier New" charset="0"/>
                <a:ea typeface="Lucida Sans Unicode" charset="0"/>
                <a:cs typeface="Lucida Sans Unicode" charset="0"/>
              </a:rPr>
              <a:t>minCapacity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)</a:t>
            </a: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LinkedList</a:t>
            </a:r>
            <a:r>
              <a:rPr lang="en-GB" sz="2800" b="1" dirty="0" smtClean="0">
                <a:solidFill>
                  <a:srgbClr val="FF6600"/>
                </a:solidFill>
                <a:latin typeface="Courier New"/>
                <a:cs typeface="Courier New"/>
              </a:rPr>
              <a:t>&lt;E&gt;</a:t>
            </a:r>
            <a:endParaRPr lang="en-GB" sz="2800" b="1" dirty="0">
              <a:solidFill>
                <a:srgbClr val="FF6600"/>
              </a:solidFill>
              <a:latin typeface="Courier New"/>
              <a:cs typeface="Courier New"/>
            </a:endParaRP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void </a:t>
            </a:r>
            <a:r>
              <a:rPr lang="en-GB" sz="2000" b="1" dirty="0" err="1">
                <a:latin typeface="Courier New" charset="0"/>
                <a:ea typeface="Lucida Sans Unicode" charset="0"/>
                <a:cs typeface="Lucida Sans Unicode" charset="0"/>
              </a:rPr>
              <a:t>addFirst</a:t>
            </a:r>
            <a:r>
              <a:rPr lang="en-GB" sz="2000" b="1" dirty="0" smtClean="0">
                <a:latin typeface="Courier New" charset="0"/>
                <a:ea typeface="Lucida Sans Unicode" charset="0"/>
                <a:cs typeface="Lucida Sans Unicode" charset="0"/>
              </a:rPr>
              <a:t>(E o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) 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void </a:t>
            </a:r>
            <a:r>
              <a:rPr lang="en-GB" sz="2000" b="1" dirty="0" err="1">
                <a:latin typeface="Courier New" charset="0"/>
                <a:ea typeface="Lucida Sans Unicode" charset="0"/>
                <a:cs typeface="Lucida Sans Unicode" charset="0"/>
              </a:rPr>
              <a:t>addLast</a:t>
            </a:r>
            <a:r>
              <a:rPr lang="en-GB" sz="2000" b="1" dirty="0" smtClean="0">
                <a:latin typeface="Courier New" charset="0"/>
                <a:ea typeface="Lucida Sans Unicode" charset="0"/>
                <a:cs typeface="Lucida Sans Unicode" charset="0"/>
              </a:rPr>
              <a:t>(E o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) 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E</a:t>
            </a:r>
            <a:r>
              <a:rPr lang="en-GB" sz="2000" b="1" dirty="0" smtClean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000" b="1" dirty="0" err="1" smtClean="0">
                <a:latin typeface="Courier New" charset="0"/>
                <a:ea typeface="Lucida Sans Unicode" charset="0"/>
                <a:cs typeface="Lucida Sans Unicode" charset="0"/>
              </a:rPr>
              <a:t>getFirst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()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 smtClean="0">
                <a:latin typeface="Courier New" charset="0"/>
                <a:ea typeface="Lucida Sans Unicode" charset="0"/>
                <a:cs typeface="Lucida Sans Unicode" charset="0"/>
              </a:rPr>
              <a:t>E </a:t>
            </a:r>
            <a:r>
              <a:rPr lang="en-GB" sz="2000" b="1" dirty="0" err="1" smtClean="0">
                <a:latin typeface="Courier New" charset="0"/>
                <a:ea typeface="Lucida Sans Unicode" charset="0"/>
                <a:cs typeface="Lucida Sans Unicode" charset="0"/>
              </a:rPr>
              <a:t>getLast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()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 smtClean="0">
                <a:latin typeface="Courier New" charset="0"/>
                <a:ea typeface="Lucida Sans Unicode" charset="0"/>
                <a:cs typeface="Lucida Sans Unicode" charset="0"/>
              </a:rPr>
              <a:t>E </a:t>
            </a:r>
            <a:r>
              <a:rPr lang="en-GB" sz="2000" b="1" dirty="0" err="1" smtClean="0">
                <a:latin typeface="Courier New" charset="0"/>
                <a:ea typeface="Lucida Sans Unicode" charset="0"/>
                <a:cs typeface="Lucida Sans Unicode" charset="0"/>
              </a:rPr>
              <a:t>removeFirst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()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b="1" dirty="0" smtClean="0">
                <a:latin typeface="Courier New" charset="0"/>
                <a:ea typeface="Lucida Sans Unicode" charset="0"/>
                <a:cs typeface="Lucida Sans Unicode" charset="0"/>
              </a:rPr>
              <a:t>E </a:t>
            </a:r>
            <a:r>
              <a:rPr lang="en-GB" sz="2000" b="1" dirty="0" err="1" smtClean="0">
                <a:latin typeface="Courier New" charset="0"/>
                <a:ea typeface="Lucida Sans Unicode" charset="0"/>
                <a:cs typeface="Lucida Sans Unicode" charset="0"/>
              </a:rPr>
              <a:t>removeLast</a:t>
            </a:r>
            <a:r>
              <a:rPr lang="en-GB" sz="2000" b="1" dirty="0">
                <a:latin typeface="Courier New" charset="0"/>
                <a:ea typeface="Lucida Sans Unicode" charset="0"/>
                <a:cs typeface="Lucida Sans Unicode" charset="0"/>
              </a:rPr>
              <a:t>()</a:t>
            </a:r>
          </a:p>
        </p:txBody>
      </p:sp>
      <p:sp>
        <p:nvSpPr>
          <p:cNvPr id="82945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21031144-C454-684D-973F-9718D64C0AE3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18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AutoShape 1"/>
          <p:cNvSpPr>
            <a:spLocks noChangeArrowheads="1"/>
          </p:cNvSpPr>
          <p:nvPr/>
        </p:nvSpPr>
        <p:spPr bwMode="auto">
          <a:xfrm>
            <a:off x="414338" y="1252538"/>
            <a:ext cx="8359775" cy="4286250"/>
          </a:xfrm>
          <a:prstGeom prst="roundRect">
            <a:avLst>
              <a:gd name="adj" fmla="val 37"/>
            </a:avLst>
          </a:prstGeom>
          <a:solidFill>
            <a:srgbClr val="FDEADA"/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 I</a:t>
            </a:r>
          </a:p>
        </p:txBody>
      </p:sp>
      <p:sp>
        <p:nvSpPr>
          <p:cNvPr id="8499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Font typeface="Courier New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LinkedList&lt;Integer&gt;</a:t>
            </a:r>
            <a:r>
              <a:rPr lang="en-GB" sz="2800" b="1">
                <a:latin typeface="Courier New" charset="0"/>
                <a:cs typeface="Lucida Sans Unicode" charset="0"/>
              </a:rPr>
              <a:t> ll = </a:t>
            </a:r>
            <a:br>
              <a:rPr lang="en-GB" sz="2800" b="1">
                <a:latin typeface="Courier New" charset="0"/>
                <a:cs typeface="Lucida Sans Unicode" charset="0"/>
              </a:rPr>
            </a:br>
            <a:r>
              <a:rPr lang="en-GB" sz="2800" b="1">
                <a:latin typeface="Courier New" charset="0"/>
                <a:cs typeface="Lucida Sans Unicode" charset="0"/>
              </a:rPr>
              <a:t>         new LinkedList&lt;Integer&gt;();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ll.add(new Integer(10));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ll.add(new Integer(11));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ll.</a:t>
            </a:r>
            <a:r>
              <a:rPr lang="en-GB" sz="28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addLast</a:t>
            </a:r>
            <a:r>
              <a:rPr lang="en-GB" sz="2800" b="1">
                <a:latin typeface="Courier New" charset="0"/>
                <a:cs typeface="Lucida Sans Unicode" charset="0"/>
              </a:rPr>
              <a:t>(new Integer(13));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latin typeface="Courier New" charset="0"/>
                <a:cs typeface="Lucida Sans Unicode" charset="0"/>
              </a:rPr>
              <a:t>ll.</a:t>
            </a:r>
            <a:r>
              <a:rPr lang="en-GB" sz="28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addFirst</a:t>
            </a:r>
            <a:r>
              <a:rPr lang="en-GB" sz="2800" b="1">
                <a:latin typeface="Courier New" charset="0"/>
                <a:cs typeface="Lucida Sans Unicode" charset="0"/>
              </a:rPr>
              <a:t>(new Integer(20));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>
                <a:solidFill>
                  <a:srgbClr val="00AE00"/>
                </a:solidFill>
                <a:latin typeface="Courier New" charset="0"/>
                <a:cs typeface="Lucida Sans Unicode" charset="0"/>
              </a:rPr>
              <a:t>//20, 10, 11, 13</a:t>
            </a:r>
          </a:p>
        </p:txBody>
      </p:sp>
      <p:sp>
        <p:nvSpPr>
          <p:cNvPr id="84993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42A7EF15-0EB3-1F43-82B9-EB368723170E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19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 II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7041" name="Segnaposto numero diapositiva 4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7274F4FE-5776-8A48-97CA-67682974A2EE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87043" name="Rectangle 2"/>
          <p:cNvSpPr>
            <a:spLocks noChangeArrowheads="1"/>
          </p:cNvSpPr>
          <p:nvPr/>
        </p:nvSpPr>
        <p:spPr bwMode="auto">
          <a:xfrm>
            <a:off x="333375" y="1274763"/>
            <a:ext cx="5564188" cy="3346450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lIns="96120" tIns="46800" rIns="96120" bIns="46800" anchor="ctr"/>
          <a:lstStyle/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Car[] garage = new Car[</a:t>
            </a:r>
            <a:r>
              <a:rPr lang="en-GB" sz="2000" b="1">
                <a:solidFill>
                  <a:srgbClr val="FF0000"/>
                </a:solidFill>
                <a:latin typeface="Courier New" charset="0"/>
                <a:cs typeface="Lucida Sans Unicode" charset="0"/>
              </a:rPr>
              <a:t>20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];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000" b="1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garage[0] = new Car();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garage[1] = new ElectricCar();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garage[2] = new ElectricCar();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garage[3] = new Car();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000" b="1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for(int i=0; i&lt;garage.</a:t>
            </a:r>
            <a:r>
              <a:rPr lang="en-GB" sz="2000" b="1">
                <a:solidFill>
                  <a:srgbClr val="FF0000"/>
                </a:solidFill>
                <a:latin typeface="Courier New" charset="0"/>
                <a:cs typeface="Lucida Sans Unicode" charset="0"/>
              </a:rPr>
              <a:t>length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; i++){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garage[i].turnOn();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  <p:sp>
        <p:nvSpPr>
          <p:cNvPr id="87044" name="Text Box 3"/>
          <p:cNvSpPr txBox="1">
            <a:spLocks noChangeArrowheads="1"/>
          </p:cNvSpPr>
          <p:nvPr/>
        </p:nvSpPr>
        <p:spPr bwMode="auto">
          <a:xfrm>
            <a:off x="3975100" y="5168900"/>
            <a:ext cx="36226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Clr>
                <a:srgbClr val="FF0000"/>
              </a:buClr>
              <a:buFont typeface="Lucida Sans Unicode" charset="0"/>
              <a:buNone/>
            </a:pPr>
            <a:r>
              <a:rPr lang="en-GB" sz="3200">
                <a:solidFill>
                  <a:srgbClr val="FF0000"/>
                </a:solidFill>
                <a:latin typeface="Lucida Sans Unicode" charset="0"/>
              </a:rPr>
              <a:t>Null pointer error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2255838" y="2632075"/>
            <a:ext cx="6616700" cy="3590925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lIns="96120" tIns="46800" rIns="96120" bIns="46800" anchor="ctr"/>
          <a:lstStyle/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List&lt;Car&gt;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garage = new </a:t>
            </a:r>
            <a:r>
              <a:rPr lang="en-GB" sz="20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ArrayList&lt;Car&gt;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</a:t>
            </a:r>
            <a:r>
              <a:rPr lang="en-GB" sz="2000" b="1">
                <a:solidFill>
                  <a:srgbClr val="3333CC"/>
                </a:solidFill>
                <a:latin typeface="Courier New" charset="0"/>
                <a:cs typeface="Lucida Sans Unicode" charset="0"/>
              </a:rPr>
              <a:t>20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);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000" b="1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garage.</a:t>
            </a:r>
            <a:r>
              <a:rPr lang="en-GB" sz="20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set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 </a:t>
            </a:r>
            <a:r>
              <a:rPr lang="en-GB" sz="2000" b="1">
                <a:solidFill>
                  <a:srgbClr val="3333CC"/>
                </a:solidFill>
                <a:latin typeface="Courier New" charset="0"/>
                <a:cs typeface="Lucida Sans Unicode" charset="0"/>
              </a:rPr>
              <a:t>0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, new Car() );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garage.</a:t>
            </a:r>
            <a:r>
              <a:rPr lang="en-GB" sz="20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set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 </a:t>
            </a:r>
            <a:r>
              <a:rPr lang="en-GB" sz="2000" b="1">
                <a:solidFill>
                  <a:srgbClr val="3333CC"/>
                </a:solidFill>
                <a:latin typeface="Courier New" charset="0"/>
                <a:cs typeface="Lucida Sans Unicode" charset="0"/>
              </a:rPr>
              <a:t>1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, new ElectricCar() );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garage.</a:t>
            </a:r>
            <a:r>
              <a:rPr lang="en-GB" sz="20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set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 </a:t>
            </a:r>
            <a:r>
              <a:rPr lang="en-GB" sz="2000" b="1">
                <a:solidFill>
                  <a:srgbClr val="3333CC"/>
                </a:solidFill>
                <a:latin typeface="Courier New" charset="0"/>
                <a:cs typeface="Lucida Sans Unicode" charset="0"/>
              </a:rPr>
              <a:t>2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, new ElectricCar() );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garage.</a:t>
            </a:r>
            <a:r>
              <a:rPr lang="en-GB" sz="20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set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 </a:t>
            </a:r>
            <a:r>
              <a:rPr lang="en-GB" sz="2000" b="1">
                <a:solidFill>
                  <a:srgbClr val="3333CC"/>
                </a:solidFill>
                <a:latin typeface="Courier New" charset="0"/>
                <a:cs typeface="Lucida Sans Unicode" charset="0"/>
              </a:rPr>
              <a:t>3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, new Car());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000" b="1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for(int i; i&lt;garage.</a:t>
            </a:r>
            <a:r>
              <a:rPr lang="en-GB" sz="2000" b="1">
                <a:solidFill>
                  <a:srgbClr val="3333CC"/>
                </a:solidFill>
                <a:latin typeface="Courier New" charset="0"/>
                <a:cs typeface="Lucida Sans Unicode" charset="0"/>
              </a:rPr>
              <a:t>size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 i++){ 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Car c = garage.</a:t>
            </a:r>
            <a:r>
              <a:rPr lang="en-GB" sz="2000" b="1">
                <a:solidFill>
                  <a:srgbClr val="3333CC"/>
                </a:solidFill>
                <a:latin typeface="Courier New" charset="0"/>
                <a:cs typeface="Lucida Sans Unicode" charset="0"/>
              </a:rPr>
              <a:t>get</a:t>
            </a: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(i);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c.turnOn();</a:t>
            </a:r>
          </a:p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000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0D725904-4C13-D742-852E-4DE37D22615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8909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-266700"/>
            <a:ext cx="8605838" cy="156845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 III</a:t>
            </a:r>
          </a:p>
        </p:txBody>
      </p:sp>
      <p:sp>
        <p:nvSpPr>
          <p:cNvPr id="89091" name="AutoShape 2"/>
          <p:cNvSpPr>
            <a:spLocks noChangeArrowheads="1"/>
          </p:cNvSpPr>
          <p:nvPr/>
        </p:nvSpPr>
        <p:spPr bwMode="auto">
          <a:xfrm>
            <a:off x="238125" y="1477963"/>
            <a:ext cx="8710613" cy="3810000"/>
          </a:xfrm>
          <a:prstGeom prst="roundRect">
            <a:avLst>
              <a:gd name="adj" fmla="val 42"/>
            </a:avLst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lIns="96120" tIns="46800" rIns="96120" bIns="46800"/>
          <a:lstStyle/>
          <a:p>
            <a:pPr marL="0" lvl="1">
              <a:lnSpc>
                <a:spcPct val="89000"/>
              </a:lnSpc>
              <a:spcBef>
                <a:spcPts val="800"/>
              </a:spcBef>
              <a:spcAft>
                <a:spcPts val="20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</a:rPr>
              <a:t>List l = new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</a:rPr>
              <a:t>ArrayList</a:t>
            </a:r>
            <a:r>
              <a:rPr lang="en-GB" b="1" dirty="0">
                <a:solidFill>
                  <a:srgbClr val="000000"/>
                </a:solidFill>
                <a:latin typeface="Courier New" charset="0"/>
              </a:rPr>
              <a:t>(2); // 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2 refs to null</a:t>
            </a:r>
          </a:p>
          <a:p>
            <a:pPr marL="0" lvl="1">
              <a:lnSpc>
                <a:spcPct val="89000"/>
              </a:lnSpc>
              <a:spcBef>
                <a:spcPts val="800"/>
              </a:spcBef>
              <a:spcAft>
                <a:spcPts val="20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b="1" dirty="0">
              <a:solidFill>
                <a:srgbClr val="000000"/>
              </a:solidFill>
              <a:latin typeface="Courier New" charset="0"/>
            </a:endParaRPr>
          </a:p>
          <a:p>
            <a:pPr marL="0" lvl="1">
              <a:lnSpc>
                <a:spcPct val="89000"/>
              </a:lnSpc>
              <a:spcBef>
                <a:spcPts val="800"/>
              </a:spcBef>
              <a:spcAft>
                <a:spcPts val="20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</a:rPr>
              <a:t>l.add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</a:rPr>
              <a:t>(new Integer(11));    // 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11 in position 0</a:t>
            </a:r>
          </a:p>
          <a:p>
            <a:pPr marL="0" lvl="1">
              <a:lnSpc>
                <a:spcPct val="89000"/>
              </a:lnSpc>
              <a:spcBef>
                <a:spcPts val="800"/>
              </a:spcBef>
              <a:spcAft>
                <a:spcPts val="20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</a:rPr>
              <a:t>l.add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</a:rPr>
              <a:t>(0, new Integer(13)); // 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11 in position 1</a:t>
            </a:r>
          </a:p>
          <a:p>
            <a:pPr marL="0" lvl="1">
              <a:lnSpc>
                <a:spcPct val="89000"/>
              </a:lnSpc>
              <a:spcBef>
                <a:spcPts val="800"/>
              </a:spcBef>
              <a:spcAft>
                <a:spcPts val="20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</a:rPr>
              <a:t>l.set</a:t>
            </a:r>
            <a:r>
              <a:rPr lang="en-GB" b="1" dirty="0">
                <a:solidFill>
                  <a:srgbClr val="000000"/>
                </a:solidFill>
                <a:latin typeface="Courier New" charset="0"/>
              </a:rPr>
              <a:t>(0, new Integer(20)); // 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13 replaced by 20</a:t>
            </a:r>
          </a:p>
          <a:p>
            <a:pPr marL="0" lvl="1">
              <a:lnSpc>
                <a:spcPct val="89000"/>
              </a:lnSpc>
              <a:spcBef>
                <a:spcPts val="800"/>
              </a:spcBef>
              <a:spcAft>
                <a:spcPts val="20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b="1" dirty="0">
              <a:solidFill>
                <a:srgbClr val="000000"/>
              </a:solidFill>
              <a:latin typeface="Courier New" charset="0"/>
            </a:endParaRPr>
          </a:p>
          <a:p>
            <a:pPr marL="0" lvl="1">
              <a:lnSpc>
                <a:spcPct val="89000"/>
              </a:lnSpc>
              <a:spcBef>
                <a:spcPts val="800"/>
              </a:spcBef>
              <a:spcAft>
                <a:spcPts val="20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</a:rPr>
              <a:t>l.add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</a:rPr>
              <a:t>(9, new Integer(30));  // 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NO: out of bounds</a:t>
            </a:r>
          </a:p>
          <a:p>
            <a:pPr marL="0" lvl="1">
              <a:lnSpc>
                <a:spcPct val="89000"/>
              </a:lnSpc>
              <a:spcBef>
                <a:spcPts val="800"/>
              </a:spcBef>
              <a:spcAft>
                <a:spcPts val="20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</a:rPr>
              <a:t>l.add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</a:rPr>
              <a:t>(new Integer(30));     // 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</a:rPr>
              <a:t>OK, size extended</a:t>
            </a:r>
          </a:p>
          <a:p>
            <a:pPr marL="0" lvl="1">
              <a:lnSpc>
                <a:spcPct val="89000"/>
              </a:lnSpc>
              <a:spcBef>
                <a:spcPts val="800"/>
              </a:spcBef>
              <a:spcAft>
                <a:spcPts val="20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200" b="1" dirty="0">
              <a:solidFill>
                <a:srgbClr val="000000"/>
              </a:solidFill>
              <a:latin typeface="Courier New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smtClean="0">
                <a:latin typeface="Courier New"/>
                <a:cs typeface="Courier New"/>
              </a:rPr>
              <a:t>Queue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interface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91139" name="Rectangle 2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Collection whose elements have an order</a:t>
            </a:r>
          </a:p>
          <a:p>
            <a:pPr lvl="1" eaLnBrk="1" hangingPunct="1">
              <a:lnSpc>
                <a:spcPct val="102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not and ordered collection though</a:t>
            </a:r>
          </a:p>
          <a:p>
            <a:pPr eaLnBrk="1" hangingPunct="1">
              <a:lnSpc>
                <a:spcPct val="102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Defines a </a:t>
            </a:r>
            <a:r>
              <a:rPr lang="en-GB" dirty="0">
                <a:solidFill>
                  <a:srgbClr val="FF6633"/>
                </a:solidFill>
                <a:latin typeface="Lucida Sans Unicode" charset="0"/>
                <a:cs typeface="Lucida Sans Unicode" charset="0"/>
              </a:rPr>
              <a:t>head</a:t>
            </a:r>
            <a:r>
              <a:rPr lang="en-GB" dirty="0">
                <a:latin typeface="Lucida Sans Unicode" charset="0"/>
                <a:cs typeface="Lucida Sans Unicode" charset="0"/>
              </a:rPr>
              <a:t> position where is the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first</a:t>
            </a:r>
            <a:r>
              <a:rPr lang="en-GB" dirty="0">
                <a:latin typeface="Lucida Sans Unicode" charset="0"/>
                <a:cs typeface="Lucida Sans Unicode" charset="0"/>
              </a:rPr>
              <a:t> element that can be accessed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peek()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poll()</a:t>
            </a:r>
          </a:p>
        </p:txBody>
      </p:sp>
      <p:sp>
        <p:nvSpPr>
          <p:cNvPr id="91137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2AC07DF5-0467-B34C-A1A7-9A4E624CEE7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Queue</a:t>
            </a:r>
            <a:r>
              <a:rPr lang="en-GB" dirty="0">
                <a:latin typeface="Lucida Sans Unicode" charset="0"/>
                <a:cs typeface="Lucida Sans Unicode" charset="0"/>
              </a:rPr>
              <a:t> implementations</a:t>
            </a:r>
          </a:p>
        </p:txBody>
      </p:sp>
      <p:sp>
        <p:nvSpPr>
          <p:cNvPr id="93187" name="Rectangle 2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/>
                <a:cs typeface="Courier New"/>
              </a:rPr>
              <a:t>LinkedList</a:t>
            </a:r>
            <a:endParaRPr lang="en-GB" b="1" dirty="0">
              <a:latin typeface="Courier New"/>
              <a:cs typeface="Courier New"/>
            </a:endParaRPr>
          </a:p>
          <a:p>
            <a:pPr lvl="1" eaLnBrk="1" hangingPunct="1">
              <a:lnSpc>
                <a:spcPct val="102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head is the first element of the list</a:t>
            </a:r>
          </a:p>
          <a:p>
            <a:pPr lvl="1" eaLnBrk="1" hangingPunct="1">
              <a:lnSpc>
                <a:spcPct val="102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FIFO: Fist-In-First-Out</a:t>
            </a:r>
          </a:p>
          <a:p>
            <a:pPr eaLnBrk="1" hangingPunct="1">
              <a:lnSpc>
                <a:spcPct val="102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/>
                <a:cs typeface="Courier New"/>
              </a:rPr>
              <a:t>PriorityQueue</a:t>
            </a:r>
            <a:endParaRPr lang="en-GB" b="1" dirty="0">
              <a:latin typeface="Courier New"/>
              <a:cs typeface="Courier New"/>
            </a:endParaRPr>
          </a:p>
          <a:p>
            <a:pPr lvl="1" eaLnBrk="1" hangingPunct="1">
              <a:lnSpc>
                <a:spcPct val="102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head is the smallest element</a:t>
            </a:r>
          </a:p>
        </p:txBody>
      </p:sp>
      <p:sp>
        <p:nvSpPr>
          <p:cNvPr id="93185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B6F5196-B4B4-4342-8CBA-D61C44207D88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AutoShape 1"/>
          <p:cNvSpPr>
            <a:spLocks noChangeArrowheads="1"/>
          </p:cNvSpPr>
          <p:nvPr/>
        </p:nvSpPr>
        <p:spPr bwMode="auto">
          <a:xfrm>
            <a:off x="288925" y="1252538"/>
            <a:ext cx="8736013" cy="4073525"/>
          </a:xfrm>
          <a:prstGeom prst="roundRect">
            <a:avLst>
              <a:gd name="adj" fmla="val 37"/>
            </a:avLst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anchor="ctr"/>
          <a:lstStyle/>
          <a:p>
            <a:endParaRPr lang="it-IT">
              <a:cs typeface="Lucida Sans Unicode" charset="0"/>
            </a:endParaRPr>
          </a:p>
        </p:txBody>
      </p:sp>
      <p:sp>
        <p:nvSpPr>
          <p:cNvPr id="95237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Queue</a:t>
            </a:r>
            <a:r>
              <a:rPr lang="en-GB" dirty="0">
                <a:latin typeface="Lucida Sans Unicode" charset="0"/>
                <a:cs typeface="Lucida Sans Unicode" charset="0"/>
              </a:rPr>
              <a:t> example</a:t>
            </a:r>
          </a:p>
        </p:txBody>
      </p:sp>
      <p:sp>
        <p:nvSpPr>
          <p:cNvPr id="95235" name="Oval 2"/>
          <p:cNvSpPr>
            <a:spLocks noChangeArrowheads="1"/>
          </p:cNvSpPr>
          <p:nvPr/>
        </p:nvSpPr>
        <p:spPr bwMode="auto">
          <a:xfrm>
            <a:off x="4384675" y="3284538"/>
            <a:ext cx="547688" cy="476250"/>
          </a:xfrm>
          <a:prstGeom prst="ellipse">
            <a:avLst/>
          </a:prstGeom>
          <a:solidFill>
            <a:srgbClr val="FFCC99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95236" name="Oval 3"/>
          <p:cNvSpPr>
            <a:spLocks noChangeArrowheads="1"/>
          </p:cNvSpPr>
          <p:nvPr/>
        </p:nvSpPr>
        <p:spPr bwMode="auto">
          <a:xfrm>
            <a:off x="2232025" y="2916238"/>
            <a:ext cx="539750" cy="512762"/>
          </a:xfrm>
          <a:prstGeom prst="ellipse">
            <a:avLst/>
          </a:prstGeom>
          <a:solidFill>
            <a:srgbClr val="FFCC99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95238" name="Rectangle 5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spAutoFit/>
          </a:bodyPr>
          <a:lstStyle/>
          <a:p>
            <a:pPr marL="0" indent="0" eaLnBrk="1" hangingPunct="1">
              <a:lnSpc>
                <a:spcPct val="89000"/>
              </a:lnSpc>
              <a:buFont typeface="Wingdings" charset="0"/>
              <a:buNone/>
              <a:tabLst>
                <a:tab pos="0" algn="l"/>
                <a:tab pos="109538" algn="l"/>
                <a:tab pos="566738" algn="l"/>
                <a:tab pos="1023938" algn="l"/>
                <a:tab pos="1481138" algn="l"/>
                <a:tab pos="1938338" algn="l"/>
                <a:tab pos="2395538" algn="l"/>
                <a:tab pos="2852738" algn="l"/>
                <a:tab pos="3309938" algn="l"/>
                <a:tab pos="3767138" algn="l"/>
                <a:tab pos="4224338" algn="l"/>
                <a:tab pos="4681538" algn="l"/>
                <a:tab pos="5138738" algn="l"/>
                <a:tab pos="5595938" algn="l"/>
                <a:tab pos="6053138" algn="l"/>
                <a:tab pos="6510338" algn="l"/>
                <a:tab pos="6967538" algn="l"/>
                <a:tab pos="7424738" algn="l"/>
                <a:tab pos="7881938" algn="l"/>
                <a:tab pos="8339138" algn="l"/>
                <a:tab pos="8796338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2600" b="1">
                <a:latin typeface="Courier New" charset="0"/>
                <a:cs typeface="Lucida Sans Unicode" charset="0"/>
              </a:rPr>
              <a:t>Queue&lt;Integer&gt; fifo = </a:t>
            </a:r>
            <a:br>
              <a:rPr lang="en-GB" sz="2600" b="1">
                <a:latin typeface="Courier New" charset="0"/>
                <a:cs typeface="Lucida Sans Unicode" charset="0"/>
              </a:rPr>
            </a:br>
            <a:r>
              <a:rPr lang="en-GB" sz="2600" b="1">
                <a:latin typeface="Courier New" charset="0"/>
                <a:cs typeface="Lucida Sans Unicode" charset="0"/>
              </a:rPr>
              <a:t>						new LinkedList&lt;Integer&gt;();</a:t>
            </a:r>
          </a:p>
          <a:p>
            <a:pPr marL="0" indent="0"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109538" algn="l"/>
                <a:tab pos="566738" algn="l"/>
                <a:tab pos="1023938" algn="l"/>
                <a:tab pos="1481138" algn="l"/>
                <a:tab pos="1938338" algn="l"/>
                <a:tab pos="2395538" algn="l"/>
                <a:tab pos="2852738" algn="l"/>
                <a:tab pos="3309938" algn="l"/>
                <a:tab pos="3767138" algn="l"/>
                <a:tab pos="4224338" algn="l"/>
                <a:tab pos="4681538" algn="l"/>
                <a:tab pos="5138738" algn="l"/>
                <a:tab pos="5595938" algn="l"/>
                <a:tab pos="6053138" algn="l"/>
                <a:tab pos="6510338" algn="l"/>
                <a:tab pos="6967538" algn="l"/>
                <a:tab pos="7424738" algn="l"/>
                <a:tab pos="7881938" algn="l"/>
                <a:tab pos="8339138" algn="l"/>
                <a:tab pos="8796338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2600" b="1">
                <a:latin typeface="Courier New" charset="0"/>
                <a:cs typeface="Lucida Sans Unicode" charset="0"/>
              </a:rPr>
              <a:t>Queue&lt;Integer&gt; pq = </a:t>
            </a:r>
            <a:br>
              <a:rPr lang="en-GB" sz="2600" b="1">
                <a:latin typeface="Courier New" charset="0"/>
                <a:cs typeface="Lucida Sans Unicode" charset="0"/>
              </a:rPr>
            </a:br>
            <a:r>
              <a:rPr lang="en-GB" sz="2600" b="1">
                <a:latin typeface="Courier New" charset="0"/>
                <a:cs typeface="Lucida Sans Unicode" charset="0"/>
              </a:rPr>
              <a:t>						new PriorityQueue&lt;Integer&gt;();</a:t>
            </a:r>
          </a:p>
          <a:p>
            <a:pPr marL="0" indent="0"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109538" algn="l"/>
                <a:tab pos="566738" algn="l"/>
                <a:tab pos="1023938" algn="l"/>
                <a:tab pos="1481138" algn="l"/>
                <a:tab pos="1938338" algn="l"/>
                <a:tab pos="2395538" algn="l"/>
                <a:tab pos="2852738" algn="l"/>
                <a:tab pos="3309938" algn="l"/>
                <a:tab pos="3767138" algn="l"/>
                <a:tab pos="4224338" algn="l"/>
                <a:tab pos="4681538" algn="l"/>
                <a:tab pos="5138738" algn="l"/>
                <a:tab pos="5595938" algn="l"/>
                <a:tab pos="6053138" algn="l"/>
                <a:tab pos="6510338" algn="l"/>
                <a:tab pos="6967538" algn="l"/>
                <a:tab pos="7424738" algn="l"/>
                <a:tab pos="7881938" algn="l"/>
                <a:tab pos="8339138" algn="l"/>
                <a:tab pos="8796338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2600" b="1">
                <a:latin typeface="Courier New" charset="0"/>
                <a:cs typeface="Lucida Sans Unicode" charset="0"/>
              </a:rPr>
              <a:t>fifo.add(3); pq.add(3);</a:t>
            </a:r>
            <a:br>
              <a:rPr lang="en-GB" sz="2600" b="1">
                <a:latin typeface="Courier New" charset="0"/>
                <a:cs typeface="Lucida Sans Unicode" charset="0"/>
              </a:rPr>
            </a:br>
            <a:r>
              <a:rPr lang="en-GB" sz="2600" b="1">
                <a:latin typeface="Courier New" charset="0"/>
                <a:cs typeface="Lucida Sans Unicode" charset="0"/>
              </a:rPr>
              <a:t>fifo.add(1); pq.add(1);</a:t>
            </a:r>
            <a:br>
              <a:rPr lang="en-GB" sz="2600" b="1">
                <a:latin typeface="Courier New" charset="0"/>
                <a:cs typeface="Lucida Sans Unicode" charset="0"/>
              </a:rPr>
            </a:br>
            <a:r>
              <a:rPr lang="en-GB" sz="2600" b="1">
                <a:latin typeface="Courier New" charset="0"/>
                <a:cs typeface="Lucida Sans Unicode" charset="0"/>
              </a:rPr>
              <a:t>fifo.add(2); pq.add(2);</a:t>
            </a:r>
          </a:p>
          <a:p>
            <a:pPr marL="0" indent="0"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109538" algn="l"/>
                <a:tab pos="566738" algn="l"/>
                <a:tab pos="1023938" algn="l"/>
                <a:tab pos="1481138" algn="l"/>
                <a:tab pos="1938338" algn="l"/>
                <a:tab pos="2395538" algn="l"/>
                <a:tab pos="2852738" algn="l"/>
                <a:tab pos="3309938" algn="l"/>
                <a:tab pos="3767138" algn="l"/>
                <a:tab pos="4224338" algn="l"/>
                <a:tab pos="4681538" algn="l"/>
                <a:tab pos="5138738" algn="l"/>
                <a:tab pos="5595938" algn="l"/>
                <a:tab pos="6053138" algn="l"/>
                <a:tab pos="6510338" algn="l"/>
                <a:tab pos="6967538" algn="l"/>
                <a:tab pos="7424738" algn="l"/>
                <a:tab pos="7881938" algn="l"/>
                <a:tab pos="8339138" algn="l"/>
                <a:tab pos="8796338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2600" b="1">
                <a:latin typeface="Courier New" charset="0"/>
                <a:cs typeface="Lucida Sans Unicode" charset="0"/>
              </a:rPr>
              <a:t>System.out.println(fifo.peek()); </a:t>
            </a:r>
            <a:r>
              <a:rPr lang="en-GB" sz="2600" b="1">
                <a:solidFill>
                  <a:srgbClr val="00AE00"/>
                </a:solidFill>
                <a:latin typeface="Courier New" charset="0"/>
                <a:cs typeface="Lucida Sans Unicode" charset="0"/>
              </a:rPr>
              <a:t>// 3</a:t>
            </a:r>
          </a:p>
          <a:p>
            <a:pPr marL="0" indent="0" eaLnBrk="1" hangingPunct="1">
              <a:lnSpc>
                <a:spcPct val="90000"/>
              </a:lnSpc>
              <a:buFont typeface="Wingdings" charset="0"/>
              <a:buNone/>
              <a:tabLst>
                <a:tab pos="0" algn="l"/>
                <a:tab pos="109538" algn="l"/>
                <a:tab pos="566738" algn="l"/>
                <a:tab pos="1023938" algn="l"/>
                <a:tab pos="1481138" algn="l"/>
                <a:tab pos="1938338" algn="l"/>
                <a:tab pos="2395538" algn="l"/>
                <a:tab pos="2852738" algn="l"/>
                <a:tab pos="3309938" algn="l"/>
                <a:tab pos="3767138" algn="l"/>
                <a:tab pos="4224338" algn="l"/>
                <a:tab pos="4681538" algn="l"/>
                <a:tab pos="5138738" algn="l"/>
                <a:tab pos="5595938" algn="l"/>
                <a:tab pos="6053138" algn="l"/>
                <a:tab pos="6510338" algn="l"/>
                <a:tab pos="6967538" algn="l"/>
                <a:tab pos="7424738" algn="l"/>
                <a:tab pos="7881938" algn="l"/>
                <a:tab pos="8339138" algn="l"/>
                <a:tab pos="8796338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sz="2600" b="1">
                <a:latin typeface="Courier New" charset="0"/>
                <a:cs typeface="Lucida Sans Unicode" charset="0"/>
              </a:rPr>
              <a:t>System.out.println(pq.peek());		</a:t>
            </a:r>
            <a:r>
              <a:rPr lang="en-GB" sz="2600" b="1">
                <a:solidFill>
                  <a:srgbClr val="00AE00"/>
                </a:solidFill>
                <a:latin typeface="Courier New" charset="0"/>
                <a:cs typeface="Lucida Sans Unicode" charset="0"/>
              </a:rPr>
              <a:t>// 1</a:t>
            </a:r>
          </a:p>
        </p:txBody>
      </p:sp>
      <p:sp>
        <p:nvSpPr>
          <p:cNvPr id="95233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281919A-8647-EE43-96BD-B47FA88B79CA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smtClean="0">
                <a:latin typeface="Courier New"/>
                <a:cs typeface="Courier New"/>
              </a:rPr>
              <a:t>Set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interface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97283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Contains no methods </a:t>
            </a:r>
            <a:endParaRPr lang="en-GB" dirty="0" smtClean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Only </a:t>
            </a:r>
            <a:r>
              <a:rPr lang="en-GB" dirty="0">
                <a:latin typeface="Lucida Sans Unicode" charset="0"/>
                <a:cs typeface="Lucida Sans Unicode" charset="0"/>
              </a:rPr>
              <a:t>those inherited from </a:t>
            </a:r>
            <a:r>
              <a:rPr lang="en-GB" b="1" dirty="0">
                <a:latin typeface="Courier New"/>
                <a:cs typeface="Courier New"/>
              </a:rPr>
              <a:t>Collection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cs typeface="Lucida Sans Unicode" charset="0"/>
              </a:rPr>
              <a:t>add()</a:t>
            </a:r>
            <a:r>
              <a:rPr lang="en-GB" dirty="0">
                <a:latin typeface="Lucida Sans Unicode" charset="0"/>
                <a:cs typeface="Lucida Sans Unicode" charset="0"/>
              </a:rPr>
              <a:t>has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the restriction </a:t>
            </a:r>
            <a:r>
              <a:rPr lang="en-GB" dirty="0">
                <a:latin typeface="Lucida Sans Unicode" charset="0"/>
                <a:cs typeface="Lucida Sans Unicode" charset="0"/>
              </a:rPr>
              <a:t>that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no duplicate elements</a:t>
            </a:r>
            <a:r>
              <a:rPr lang="en-GB" dirty="0">
                <a:latin typeface="Lucida Sans Unicode" charset="0"/>
                <a:cs typeface="Lucida Sans Unicode" charset="0"/>
              </a:rPr>
              <a:t> are allowed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e1.equals(e2) == false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Symbol" charset="0"/>
                <a:ea typeface="Lucida Sans Unicode" charset="0"/>
                <a:cs typeface="Lucida Sans Unicode" charset="0"/>
              </a:rPr>
              <a:t>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e1,e2 </a:t>
            </a:r>
            <a:r>
              <a:rPr lang="en-GB" dirty="0">
                <a:latin typeface="Symbol" charset="0"/>
                <a:ea typeface="Lucida Sans Unicode" charset="0"/>
                <a:cs typeface="Lucida Sans Unicode" charset="0"/>
              </a:rPr>
              <a:t>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Symbol" charset="0"/>
                <a:ea typeface="Lucida Sans Unicode" charset="0"/>
                <a:cs typeface="Lucida Sans Unicode" charset="0"/>
              </a:rPr>
              <a:t>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Iterator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The elements are traversed in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no particular order</a:t>
            </a:r>
          </a:p>
        </p:txBody>
      </p:sp>
      <p:sp>
        <p:nvSpPr>
          <p:cNvPr id="97281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137F224-5847-FC49-A55F-15AE6A806478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25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 smtClean="0">
                <a:latin typeface="Courier New"/>
                <a:cs typeface="Courier New"/>
              </a:rPr>
              <a:t>SortedSet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interface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04451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No duplicate elements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Lucida Sans Unicode" charset="0"/>
                <a:cs typeface="Lucida Sans Unicode" charset="0"/>
              </a:rPr>
              <a:t>Iterator 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>
                <a:latin typeface="Lucida Sans Unicode" charset="0"/>
                <a:ea typeface="Lucida Sans Unicode" charset="0"/>
                <a:cs typeface="Lucida Sans Unicode" charset="0"/>
              </a:rPr>
              <a:t>The elements are traversed according to the </a:t>
            </a:r>
            <a:r>
              <a:rPr lang="en-GB" sz="240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natural ordering</a:t>
            </a:r>
            <a:r>
              <a:rPr lang="en-GB" sz="2400">
                <a:latin typeface="Lucida Sans Unicode" charset="0"/>
                <a:ea typeface="Lucida Sans Unicode" charset="0"/>
                <a:cs typeface="Lucida Sans Unicode" charset="0"/>
              </a:rPr>
              <a:t> (ascending)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Lucida Sans Unicode" charset="0"/>
                <a:cs typeface="Lucida Sans Unicode" charset="0"/>
              </a:rPr>
              <a:t>Augments Set interface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Object first()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Object last()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SortedSet headSet(Object toElement)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SortedSet tailSet(Object fromElement)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latin typeface="Courier New" charset="0"/>
                <a:ea typeface="Lucida Sans Unicode" charset="0"/>
                <a:cs typeface="Lucida Sans Unicode" charset="0"/>
              </a:rPr>
              <a:t>SortedSet subSet(Object from, Object to)</a:t>
            </a:r>
          </a:p>
        </p:txBody>
      </p:sp>
      <p:sp>
        <p:nvSpPr>
          <p:cNvPr id="104449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0CC8559C-5500-D74A-8FFC-424B715158E7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smtClean="0">
                <a:latin typeface="Courier New"/>
                <a:cs typeface="Courier New"/>
              </a:rPr>
              <a:t>Set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</a:t>
            </a:r>
            <a:r>
              <a:rPr lang="en-GB" dirty="0">
                <a:latin typeface="Lucida Sans Unicode" charset="0"/>
                <a:cs typeface="Lucida Sans Unicode" charset="0"/>
              </a:rPr>
              <a:t>implementations</a:t>
            </a:r>
          </a:p>
        </p:txBody>
      </p:sp>
      <p:sp>
        <p:nvSpPr>
          <p:cNvPr id="106499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solidFill>
                  <a:srgbClr val="FF6600"/>
                </a:solidFill>
                <a:latin typeface="Courier New"/>
                <a:cs typeface="Courier New"/>
              </a:rPr>
              <a:t>HashSet</a:t>
            </a:r>
            <a:r>
              <a:rPr lang="en-GB" dirty="0">
                <a:latin typeface="Lucida Sans Unicode" charset="0"/>
                <a:cs typeface="Lucida Sans Unicode" charset="0"/>
              </a:rPr>
              <a:t> implements </a:t>
            </a:r>
            <a:r>
              <a:rPr lang="en-GB" b="1" dirty="0">
                <a:solidFill>
                  <a:srgbClr val="8064A2"/>
                </a:solidFill>
                <a:latin typeface="Courier New"/>
                <a:cs typeface="Courier New"/>
              </a:rPr>
              <a:t>Set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Hash tables as internal data structure (faster)</a:t>
            </a: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solidFill>
                  <a:srgbClr val="FF6600"/>
                </a:solidFill>
                <a:latin typeface="Courier New"/>
                <a:cs typeface="Courier New"/>
              </a:rPr>
              <a:t>LinkedHashSet</a:t>
            </a:r>
            <a:r>
              <a:rPr lang="en-GB" dirty="0">
                <a:latin typeface="Lucida Sans Unicode" charset="0"/>
                <a:cs typeface="Lucida Sans Unicode" charset="0"/>
              </a:rPr>
              <a:t> extends </a:t>
            </a:r>
            <a:r>
              <a:rPr lang="en-GB" b="1" dirty="0" err="1">
                <a:solidFill>
                  <a:srgbClr val="8064A2"/>
                </a:solidFill>
                <a:latin typeface="Courier New"/>
                <a:cs typeface="Courier New"/>
              </a:rPr>
              <a:t>HashSet</a:t>
            </a:r>
            <a:r>
              <a:rPr lang="en-GB" dirty="0">
                <a:latin typeface="Lucida Sans Unicode" charset="0"/>
                <a:cs typeface="Lucida Sans Unicode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Elements are traversed by iterator according to the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insertion order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solidFill>
                <a:srgbClr val="FF6600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solidFill>
                  <a:srgbClr val="FF6600"/>
                </a:solidFill>
                <a:latin typeface="Courier New"/>
                <a:cs typeface="Courier New"/>
              </a:rPr>
              <a:t>TreeSet</a:t>
            </a:r>
            <a:r>
              <a:rPr lang="en-GB" dirty="0">
                <a:latin typeface="Lucida Sans Unicode" charset="0"/>
                <a:cs typeface="Lucida Sans Unicode" charset="0"/>
              </a:rPr>
              <a:t> implements </a:t>
            </a:r>
            <a:r>
              <a:rPr lang="en-GB" b="1" dirty="0" err="1">
                <a:solidFill>
                  <a:srgbClr val="8064A2"/>
                </a:solidFill>
                <a:latin typeface="Courier New"/>
                <a:cs typeface="Courier New"/>
              </a:rPr>
              <a:t>SortedSet</a:t>
            </a:r>
            <a:endParaRPr lang="en-GB" b="1" dirty="0">
              <a:solidFill>
                <a:srgbClr val="8064A2"/>
              </a:solidFill>
              <a:latin typeface="Courier New"/>
              <a:cs typeface="Courier New"/>
            </a:endParaRPr>
          </a:p>
          <a:p>
            <a:pPr lvl="1" eaLnBrk="1" hangingPunct="1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R-B trees as internal data structure (computationally expensive)</a:t>
            </a:r>
          </a:p>
        </p:txBody>
      </p:sp>
      <p:sp>
        <p:nvSpPr>
          <p:cNvPr id="106497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4C570322-F0DC-624F-AB3F-022AD424ED7E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27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Note on sorted collections</a:t>
            </a:r>
          </a:p>
        </p:txBody>
      </p:sp>
      <p:sp>
        <p:nvSpPr>
          <p:cNvPr id="10854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Depending on the constructor used they require different implementation of the custom ordering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solidFill>
                  <a:srgbClr val="FF6600"/>
                </a:solidFill>
                <a:latin typeface="Courier New"/>
                <a:cs typeface="Courier New"/>
              </a:rPr>
              <a:t>TreeSet</a:t>
            </a:r>
            <a:r>
              <a:rPr lang="en-GB" b="1" dirty="0">
                <a:solidFill>
                  <a:srgbClr val="FF6600"/>
                </a:solidFill>
                <a:latin typeface="Courier New"/>
                <a:cs typeface="Courier New"/>
              </a:rPr>
              <a:t>()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Natural ordering (elements must be implementations of Comparable)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solidFill>
                  <a:srgbClr val="FF6600"/>
                </a:solidFill>
                <a:latin typeface="Courier New"/>
                <a:cs typeface="Courier New"/>
              </a:rPr>
              <a:t>TreeSet</a:t>
            </a:r>
            <a:r>
              <a:rPr lang="en-GB" b="1" dirty="0">
                <a:solidFill>
                  <a:srgbClr val="FF6600"/>
                </a:solidFill>
                <a:latin typeface="Courier New"/>
                <a:cs typeface="Courier New"/>
              </a:rPr>
              <a:t>(Comparator c)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Ordering is according to the comparator rules, instead of natural ordering</a:t>
            </a:r>
          </a:p>
        </p:txBody>
      </p:sp>
      <p:sp>
        <p:nvSpPr>
          <p:cNvPr id="108545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D6F0447-0439-F749-82ED-56963B8533D6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  <a:tab pos="8535988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Generic collections</a:t>
            </a:r>
          </a:p>
        </p:txBody>
      </p:sp>
      <p:sp>
        <p:nvSpPr>
          <p:cNvPr id="64515" name="Rectangle 2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Since Java 5, all collection interfaces and classes have been redefined as Generics</a:t>
            </a:r>
          </a:p>
          <a:p>
            <a:pPr eaLnBrk="1" hangingPunct="1">
              <a:lnSpc>
                <a:spcPct val="102000"/>
              </a:lnSpc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Use of generics leads to code that is</a:t>
            </a:r>
          </a:p>
          <a:p>
            <a:pPr lvl="1" eaLnBrk="1" hangingPunct="1">
              <a:lnSpc>
                <a:spcPct val="102000"/>
              </a:lnSpc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safer</a:t>
            </a:r>
          </a:p>
          <a:p>
            <a:pPr lvl="1" eaLnBrk="1" hangingPunct="1">
              <a:lnSpc>
                <a:spcPct val="102000"/>
              </a:lnSpc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more compact</a:t>
            </a:r>
          </a:p>
          <a:p>
            <a:pPr lvl="1" eaLnBrk="1" hangingPunct="1">
              <a:lnSpc>
                <a:spcPct val="102000"/>
              </a:lnSpc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easier to understand</a:t>
            </a:r>
          </a:p>
          <a:p>
            <a:pPr lvl="1" eaLnBrk="1" hangingPunct="1">
              <a:lnSpc>
                <a:spcPct val="102000"/>
              </a:lnSpc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equally performing</a:t>
            </a:r>
          </a:p>
        </p:txBody>
      </p:sp>
      <p:sp>
        <p:nvSpPr>
          <p:cNvPr id="64513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FB5ED5F-C1EA-1F49-B732-C5375BD7D318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29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AutoShape 1"/>
          <p:cNvSpPr>
            <a:spLocks noChangeArrowheads="1"/>
          </p:cNvSpPr>
          <p:nvPr/>
        </p:nvSpPr>
        <p:spPr bwMode="auto">
          <a:xfrm>
            <a:off x="327025" y="1143000"/>
            <a:ext cx="8458200" cy="4343400"/>
          </a:xfrm>
          <a:prstGeom prst="roundRect">
            <a:avLst>
              <a:gd name="adj" fmla="val 32"/>
            </a:avLst>
          </a:prstGeom>
          <a:solidFill>
            <a:srgbClr val="FDEADA"/>
          </a:solidFill>
          <a:ln w="9360">
            <a:solidFill>
              <a:schemeClr val="accent6">
                <a:lumMod val="75000"/>
              </a:schemeClr>
            </a:solidFill>
            <a:round/>
            <a:headEnd/>
            <a:tailEnd/>
          </a:ln>
          <a:effectLst>
            <a:outerShdw dist="152735" dir="2700000" algn="ctr" rotWithShape="0">
              <a:srgbClr val="808080"/>
            </a:outerShdw>
          </a:effectLst>
        </p:spPr>
        <p:txBody>
          <a:bodyPr wrap="none" lIns="82945" tIns="41473" rIns="82945" bIns="41473" anchor="ctr"/>
          <a:lstStyle/>
          <a:p>
            <a:endParaRPr lang="it-IT">
              <a:latin typeface="Lucida Sans Unicode" charset="0"/>
              <a:cs typeface="Lucida Sans Unicode" charset="0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  <a:tab pos="8535988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Object list </a:t>
            </a:r>
            <a:r>
              <a:rPr lang="en-GB" dirty="0">
                <a:latin typeface="Lucida Sans Unicode" charset="0"/>
                <a:cs typeface="Lucida Sans Unicode" charset="0"/>
              </a:rPr>
              <a:t>- excerpt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spAutoFit/>
          </a:bodyPr>
          <a:lstStyle/>
          <a:p>
            <a:pPr eaLnBrk="1" hangingPunct="1">
              <a:lnSpc>
                <a:spcPct val="89000"/>
              </a:lnSpc>
              <a:buFont typeface="Wingdings" charset="0"/>
              <a:buNone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public interface </a:t>
            </a:r>
            <a:r>
              <a:rPr lang="en-GB" sz="2500" b="1" dirty="0" smtClean="0">
                <a:latin typeface="Courier New" charset="0"/>
                <a:cs typeface="Courier New" charset="0"/>
              </a:rPr>
              <a:t>List{</a:t>
            </a:r>
            <a:endParaRPr lang="en-GB" sz="2500" b="1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  void add</a:t>
            </a:r>
            <a:r>
              <a:rPr lang="en-GB" sz="2500" b="1" dirty="0" smtClean="0">
                <a:latin typeface="Courier New" charset="0"/>
                <a:cs typeface="Courier New" charset="0"/>
              </a:rPr>
              <a:t>(Object </a:t>
            </a:r>
            <a:r>
              <a:rPr lang="en-GB" sz="2500" b="1" dirty="0">
                <a:latin typeface="Courier New" charset="0"/>
                <a:cs typeface="Courier New" charset="0"/>
              </a:rPr>
              <a:t>x)</a:t>
            </a:r>
            <a:r>
              <a:rPr lang="en-GB" sz="2500" b="1" dirty="0" smtClean="0">
                <a:latin typeface="Courier New" charset="0"/>
                <a:cs typeface="Courier New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 </a:t>
            </a:r>
            <a:r>
              <a:rPr lang="en-GB" sz="2500" b="1" dirty="0" smtClean="0">
                <a:latin typeface="Courier New" charset="0"/>
                <a:cs typeface="Courier New" charset="0"/>
              </a:rPr>
              <a:t> Object get(</a:t>
            </a:r>
            <a:r>
              <a:rPr lang="en-GB" sz="2500" b="1" dirty="0" err="1" smtClean="0">
                <a:latin typeface="Courier New" charset="0"/>
                <a:cs typeface="Courier New" charset="0"/>
              </a:rPr>
              <a:t>int</a:t>
            </a:r>
            <a:r>
              <a:rPr lang="en-GB" sz="2500" b="1" dirty="0" smtClean="0">
                <a:latin typeface="Courier New" charset="0"/>
                <a:cs typeface="Courier New" charset="0"/>
              </a:rPr>
              <a:t> </a:t>
            </a:r>
            <a:r>
              <a:rPr lang="en-GB" sz="2500" b="1" dirty="0" err="1" smtClean="0">
                <a:latin typeface="Courier New" charset="0"/>
                <a:cs typeface="Courier New" charset="0"/>
              </a:rPr>
              <a:t>i</a:t>
            </a:r>
            <a:r>
              <a:rPr lang="en-GB" sz="2500" b="1" dirty="0" smtClean="0">
                <a:latin typeface="Courier New" charset="0"/>
                <a:cs typeface="Courier New" charset="0"/>
              </a:rPr>
              <a:t>);</a:t>
            </a:r>
            <a:endParaRPr lang="en-GB" sz="2500" b="1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  Iterator&lt;E&gt; iterator();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public interface </a:t>
            </a:r>
            <a:r>
              <a:rPr lang="en-GB" sz="2500" b="1" dirty="0" smtClean="0">
                <a:latin typeface="Courier New" charset="0"/>
                <a:cs typeface="Courier New" charset="0"/>
              </a:rPr>
              <a:t>Iterator{</a:t>
            </a:r>
            <a:endParaRPr lang="en-GB" sz="2500" b="1" dirty="0">
              <a:latin typeface="Courier New" charset="0"/>
              <a:cs typeface="Courier New" charset="0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  </a:t>
            </a:r>
            <a:r>
              <a:rPr lang="en-GB" sz="2500" b="1" dirty="0" smtClean="0">
                <a:latin typeface="Courier New" charset="0"/>
                <a:cs typeface="Courier New" charset="0"/>
              </a:rPr>
              <a:t>Object </a:t>
            </a:r>
            <a:r>
              <a:rPr lang="en-GB" sz="2500" b="1" dirty="0">
                <a:latin typeface="Courier New" charset="0"/>
                <a:cs typeface="Courier New" charset="0"/>
              </a:rPr>
              <a:t>next();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  </a:t>
            </a:r>
            <a:r>
              <a:rPr lang="en-GB" sz="2500" b="1" dirty="0" err="1">
                <a:latin typeface="Courier New" charset="0"/>
                <a:cs typeface="Courier New" charset="0"/>
              </a:rPr>
              <a:t>boolean</a:t>
            </a:r>
            <a:r>
              <a:rPr lang="en-GB" sz="2500" b="1" dirty="0">
                <a:latin typeface="Courier New" charset="0"/>
                <a:cs typeface="Courier New" charset="0"/>
              </a:rPr>
              <a:t> </a:t>
            </a:r>
            <a:r>
              <a:rPr lang="en-GB" sz="2500" b="1" dirty="0" err="1">
                <a:latin typeface="Courier New" charset="0"/>
                <a:cs typeface="Courier New" charset="0"/>
              </a:rPr>
              <a:t>hasNext</a:t>
            </a:r>
            <a:r>
              <a:rPr lang="en-GB" sz="2500" b="1" dirty="0">
                <a:latin typeface="Courier New" charset="0"/>
                <a:cs typeface="Courier New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charset="0"/>
              <a:buNone/>
              <a:tabLst>
                <a:tab pos="411163" algn="l"/>
                <a:tab pos="825500" algn="l"/>
                <a:tab pos="1239838" algn="l"/>
                <a:tab pos="1655763" algn="l"/>
                <a:tab pos="2070100" algn="l"/>
                <a:tab pos="2484438" algn="l"/>
                <a:tab pos="2898775" algn="l"/>
                <a:tab pos="3314700" algn="l"/>
                <a:tab pos="3729038" algn="l"/>
                <a:tab pos="4143375" algn="l"/>
                <a:tab pos="4557713" algn="l"/>
                <a:tab pos="4973638" algn="l"/>
                <a:tab pos="5387975" algn="l"/>
                <a:tab pos="5802313" algn="l"/>
                <a:tab pos="6216650" algn="l"/>
                <a:tab pos="6632575" algn="l"/>
                <a:tab pos="7046913" algn="l"/>
                <a:tab pos="7461250" algn="l"/>
                <a:tab pos="7875588" algn="l"/>
                <a:tab pos="8291513" algn="l"/>
              </a:tabLst>
            </a:pPr>
            <a:r>
              <a:rPr lang="en-GB" sz="2500" b="1" dirty="0">
                <a:latin typeface="Courier New" charset="0"/>
                <a:cs typeface="Courier New" charset="0"/>
              </a:rPr>
              <a:t>}</a:t>
            </a:r>
          </a:p>
        </p:txBody>
      </p:sp>
      <p:sp>
        <p:nvSpPr>
          <p:cNvPr id="66561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38AB6C74-BF6E-2D49-985E-F63E7562639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30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EFB5ED8-1C95-4044-AD20-78A872B53668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31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68610" name="AutoShape 1"/>
          <p:cNvSpPr>
            <a:spLocks noChangeArrowheads="1"/>
          </p:cNvSpPr>
          <p:nvPr/>
        </p:nvSpPr>
        <p:spPr bwMode="auto">
          <a:xfrm>
            <a:off x="219075" y="3573463"/>
            <a:ext cx="8915400" cy="771525"/>
          </a:xfrm>
          <a:prstGeom prst="roundRect">
            <a:avLst>
              <a:gd name="adj" fmla="val 171"/>
            </a:avLst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dist="152735" dir="2700000" algn="ctr" rotWithShape="0">
              <a:srgbClr val="808080">
                <a:alpha val="51000"/>
              </a:srgbClr>
            </a:outerShdw>
          </a:effectLst>
        </p:spPr>
        <p:txBody>
          <a:bodyPr wrap="none" lIns="82945" tIns="41473" rIns="82945" bIns="41473" anchor="ctr"/>
          <a:lstStyle/>
          <a:p>
            <a:endParaRPr lang="it-IT">
              <a:latin typeface="Lucida Sans Unicode" charset="0"/>
              <a:cs typeface="Lucida Sans Unicode" charset="0"/>
            </a:endParaRPr>
          </a:p>
        </p:txBody>
      </p:sp>
      <p:sp>
        <p:nvSpPr>
          <p:cNvPr id="68611" name="AutoShape 2"/>
          <p:cNvSpPr>
            <a:spLocks noChangeArrowheads="1"/>
          </p:cNvSpPr>
          <p:nvPr/>
        </p:nvSpPr>
        <p:spPr bwMode="auto">
          <a:xfrm>
            <a:off x="219075" y="2381250"/>
            <a:ext cx="8915400" cy="684213"/>
          </a:xfrm>
          <a:prstGeom prst="roundRect">
            <a:avLst>
              <a:gd name="adj" fmla="val 171"/>
            </a:avLst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dist="152735" dir="2700000" algn="ctr" rotWithShape="0">
              <a:srgbClr val="808080">
                <a:alpha val="51000"/>
              </a:srgbClr>
            </a:outerShdw>
          </a:effectLst>
        </p:spPr>
        <p:txBody>
          <a:bodyPr wrap="none" lIns="82945" tIns="41473" rIns="82945" bIns="41473" anchor="ctr"/>
          <a:lstStyle/>
          <a:p>
            <a:endParaRPr lang="it-IT">
              <a:latin typeface="Lucida Sans Unicode" charset="0"/>
              <a:cs typeface="Lucida Sans Unicode" charset="0"/>
            </a:endParaRPr>
          </a:p>
        </p:txBody>
      </p:sp>
      <p:sp>
        <p:nvSpPr>
          <p:cNvPr id="68612" name="AutoShape 3"/>
          <p:cNvSpPr>
            <a:spLocks noChangeArrowheads="1"/>
          </p:cNvSpPr>
          <p:nvPr/>
        </p:nvSpPr>
        <p:spPr bwMode="auto">
          <a:xfrm>
            <a:off x="219075" y="4868863"/>
            <a:ext cx="8915400" cy="914400"/>
          </a:xfrm>
          <a:prstGeom prst="roundRect">
            <a:avLst>
              <a:gd name="adj" fmla="val 171"/>
            </a:avLst>
          </a:prstGeom>
          <a:solidFill>
            <a:schemeClr val="accent6">
              <a:lumMod val="20000"/>
              <a:lumOff val="80000"/>
            </a:schemeClr>
          </a:solidFill>
          <a:ln w="9360">
            <a:solidFill>
              <a:srgbClr val="E46C0A"/>
            </a:solidFill>
            <a:round/>
            <a:headEnd/>
            <a:tailEnd/>
          </a:ln>
          <a:effectLst>
            <a:outerShdw dist="152735" dir="2700000" algn="ctr" rotWithShape="0">
              <a:srgbClr val="808080">
                <a:alpha val="51000"/>
              </a:srgbClr>
            </a:outerShdw>
          </a:effectLst>
        </p:spPr>
        <p:txBody>
          <a:bodyPr wrap="none" lIns="82945" tIns="41473" rIns="82945" bIns="41473" anchor="ctr"/>
          <a:lstStyle/>
          <a:p>
            <a:endParaRPr lang="it-IT">
              <a:latin typeface="Lucida Sans Unicode" charset="0"/>
              <a:cs typeface="Lucida Sans Unicode" charset="0"/>
            </a:endParaRPr>
          </a:p>
        </p:txBody>
      </p:sp>
      <p:sp>
        <p:nvSpPr>
          <p:cNvPr id="6861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14313" y="214313"/>
            <a:ext cx="8596312" cy="690562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2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  <a:tab pos="8535988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Example</a:t>
            </a:r>
          </a:p>
        </p:txBody>
      </p:sp>
      <p:sp>
        <p:nvSpPr>
          <p:cNvPr id="68614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196975"/>
            <a:ext cx="8215312" cy="4369042"/>
          </a:xfrm>
        </p:spPr>
        <p:txBody>
          <a:bodyPr lIns="0" tIns="0" rIns="0" bIns="0">
            <a:spAutoFit/>
          </a:bodyPr>
          <a:lstStyle/>
          <a:p>
            <a:pPr marL="0" indent="0" eaLnBrk="1" hangingPunct="1">
              <a:lnSpc>
                <a:spcPct val="101000"/>
              </a:lnSpc>
              <a:tabLst>
                <a:tab pos="115888" algn="l"/>
                <a:tab pos="530225" algn="l"/>
                <a:tab pos="944563" algn="l"/>
                <a:tab pos="1360488" algn="l"/>
                <a:tab pos="1774825" algn="l"/>
                <a:tab pos="2189163" algn="l"/>
                <a:tab pos="2603500" algn="l"/>
                <a:tab pos="3019425" algn="l"/>
                <a:tab pos="3433763" algn="l"/>
                <a:tab pos="3848100" algn="l"/>
                <a:tab pos="4262438" algn="l"/>
                <a:tab pos="4678363" algn="l"/>
                <a:tab pos="5092700" algn="l"/>
                <a:tab pos="5507038" algn="l"/>
                <a:tab pos="5921375" algn="l"/>
                <a:tab pos="6337300" algn="l"/>
                <a:tab pos="6751638" algn="l"/>
                <a:tab pos="7165975" algn="l"/>
                <a:tab pos="7580313" algn="l"/>
                <a:tab pos="7996238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Using a list of Integers</a:t>
            </a:r>
          </a:p>
          <a:p>
            <a:pPr lvl="1" eaLnBrk="1" hangingPunct="1">
              <a:lnSpc>
                <a:spcPct val="107000"/>
              </a:lnSpc>
              <a:tabLst>
                <a:tab pos="115888" algn="l"/>
                <a:tab pos="530225" algn="l"/>
                <a:tab pos="944563" algn="l"/>
                <a:tab pos="1360488" algn="l"/>
                <a:tab pos="1774825" algn="l"/>
                <a:tab pos="2189163" algn="l"/>
                <a:tab pos="2603500" algn="l"/>
                <a:tab pos="3019425" algn="l"/>
                <a:tab pos="3433763" algn="l"/>
                <a:tab pos="3848100" algn="l"/>
                <a:tab pos="4262438" algn="l"/>
                <a:tab pos="4678363" algn="l"/>
                <a:tab pos="5092700" algn="l"/>
                <a:tab pos="5507038" algn="l"/>
                <a:tab pos="5921375" algn="l"/>
                <a:tab pos="6337300" algn="l"/>
                <a:tab pos="6751638" algn="l"/>
                <a:tab pos="7165975" algn="l"/>
                <a:tab pos="7580313" algn="l"/>
                <a:tab pos="7996238" algn="l"/>
              </a:tabLst>
            </a:pPr>
            <a:r>
              <a:rPr lang="en-GB" sz="2900" dirty="0">
                <a:latin typeface="Lucida Sans Unicode" charset="0"/>
                <a:ea typeface="Lucida Sans Unicode" charset="0"/>
                <a:cs typeface="Lucida Sans Unicode" charset="0"/>
              </a:rPr>
              <a:t>Without generics (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ArrayList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list </a:t>
            </a:r>
            <a:r>
              <a:rPr lang="en-GB" sz="2900" dirty="0">
                <a:latin typeface="Lucida Sans Unicode" charset="0"/>
                <a:ea typeface="Lucida Sans Unicode" charset="0"/>
                <a:cs typeface="Lucida Sans Unicode" charset="0"/>
              </a:rPr>
              <a:t>)</a:t>
            </a:r>
          </a:p>
          <a:p>
            <a:pPr marL="0" indent="0" eaLnBrk="1" hangingPunct="1">
              <a:lnSpc>
                <a:spcPct val="80000"/>
              </a:lnSpc>
              <a:buFont typeface="Wingdings" charset="0"/>
              <a:buNone/>
              <a:tabLst>
                <a:tab pos="115888" algn="l"/>
                <a:tab pos="530225" algn="l"/>
                <a:tab pos="944563" algn="l"/>
                <a:tab pos="1360488" algn="l"/>
                <a:tab pos="1774825" algn="l"/>
                <a:tab pos="2189163" algn="l"/>
                <a:tab pos="2603500" algn="l"/>
                <a:tab pos="3019425" algn="l"/>
                <a:tab pos="3433763" algn="l"/>
                <a:tab pos="3848100" algn="l"/>
                <a:tab pos="4262438" algn="l"/>
                <a:tab pos="4678363" algn="l"/>
                <a:tab pos="5092700" algn="l"/>
                <a:tab pos="5507038" algn="l"/>
                <a:tab pos="5921375" algn="l"/>
                <a:tab pos="6337300" algn="l"/>
                <a:tab pos="6751638" algn="l"/>
                <a:tab pos="7165975" algn="l"/>
                <a:tab pos="7580313" algn="l"/>
                <a:tab pos="7996238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list.add</a:t>
            </a:r>
            <a:r>
              <a:rPr lang="en-GB" sz="2400" b="1" dirty="0">
                <a:latin typeface="Courier New" charset="0"/>
                <a:cs typeface="Lucida Sans Unicode" charset="0"/>
              </a:rPr>
              <a:t>(0, new Integer(42));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400" b="1" dirty="0">
                <a:latin typeface="Courier New" charset="0"/>
                <a:cs typeface="Lucida Sans Unicode" charset="0"/>
              </a:rPr>
              <a:t> n= </a:t>
            </a:r>
            <a:r>
              <a:rPr lang="en-GB" sz="24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((Integer)</a:t>
            </a:r>
            <a:r>
              <a:rPr lang="en-GB" sz="2400" b="1" dirty="0">
                <a:latin typeface="Courier New" charset="0"/>
                <a:cs typeface="Lucida Sans Unicode" charset="0"/>
              </a:rPr>
              <a:t>(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list.get</a:t>
            </a:r>
            <a:r>
              <a:rPr lang="en-GB" sz="2400" b="1" dirty="0">
                <a:latin typeface="Courier New" charset="0"/>
                <a:cs typeface="Lucida Sans Unicode" charset="0"/>
              </a:rPr>
              <a:t>(0))</a:t>
            </a:r>
            <a:r>
              <a:rPr lang="en-GB" sz="24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)</a:t>
            </a:r>
            <a:r>
              <a:rPr lang="en-GB" sz="2400" b="1" dirty="0">
                <a:latin typeface="Courier New" charset="0"/>
                <a:cs typeface="Lucida Sans Unicode" charset="0"/>
              </a:rPr>
              <a:t>.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intValue</a:t>
            </a:r>
            <a:r>
              <a:rPr lang="en-GB" sz="2400" b="1" dirty="0">
                <a:latin typeface="Courier New" charset="0"/>
                <a:cs typeface="Lucida Sans Unicode" charset="0"/>
              </a:rPr>
              <a:t>();</a:t>
            </a:r>
          </a:p>
          <a:p>
            <a:pPr lvl="1" eaLnBrk="1" hangingPunct="1">
              <a:lnSpc>
                <a:spcPct val="107000"/>
              </a:lnSpc>
              <a:tabLst>
                <a:tab pos="115888" algn="l"/>
                <a:tab pos="530225" algn="l"/>
                <a:tab pos="944563" algn="l"/>
                <a:tab pos="1360488" algn="l"/>
                <a:tab pos="1774825" algn="l"/>
                <a:tab pos="2189163" algn="l"/>
                <a:tab pos="2603500" algn="l"/>
                <a:tab pos="3019425" algn="l"/>
                <a:tab pos="3433763" algn="l"/>
                <a:tab pos="3848100" algn="l"/>
                <a:tab pos="4262438" algn="l"/>
                <a:tab pos="4678363" algn="l"/>
                <a:tab pos="5092700" algn="l"/>
                <a:tab pos="5507038" algn="l"/>
                <a:tab pos="5921375" algn="l"/>
                <a:tab pos="6337300" algn="l"/>
                <a:tab pos="6751638" algn="l"/>
                <a:tab pos="7165975" algn="l"/>
                <a:tab pos="7580313" algn="l"/>
                <a:tab pos="7996238" algn="l"/>
              </a:tabLst>
            </a:pPr>
            <a:r>
              <a:rPr lang="en-GB" sz="2900" dirty="0">
                <a:latin typeface="Lucida Sans Unicode" charset="0"/>
                <a:ea typeface="Lucida Sans Unicode" charset="0"/>
                <a:cs typeface="Lucida Sans Unicode" charset="0"/>
              </a:rPr>
              <a:t>With generics (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ArrayList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&lt;Integer&gt; list </a:t>
            </a:r>
            <a:r>
              <a:rPr lang="en-GB" sz="2900" dirty="0">
                <a:latin typeface="Lucida Sans Unicode" charset="0"/>
                <a:ea typeface="Lucida Sans Unicode" charset="0"/>
                <a:cs typeface="Lucida Sans Unicode" charset="0"/>
              </a:rPr>
              <a:t>)</a:t>
            </a:r>
          </a:p>
          <a:p>
            <a:pPr marL="0" indent="0" eaLnBrk="1" hangingPunct="1">
              <a:lnSpc>
                <a:spcPct val="80000"/>
              </a:lnSpc>
              <a:buFont typeface="Wingdings" charset="0"/>
              <a:buNone/>
              <a:tabLst>
                <a:tab pos="115888" algn="l"/>
                <a:tab pos="530225" algn="l"/>
                <a:tab pos="944563" algn="l"/>
                <a:tab pos="1360488" algn="l"/>
                <a:tab pos="1774825" algn="l"/>
                <a:tab pos="2189163" algn="l"/>
                <a:tab pos="2603500" algn="l"/>
                <a:tab pos="3019425" algn="l"/>
                <a:tab pos="3433763" algn="l"/>
                <a:tab pos="3848100" algn="l"/>
                <a:tab pos="4262438" algn="l"/>
                <a:tab pos="4678363" algn="l"/>
                <a:tab pos="5092700" algn="l"/>
                <a:tab pos="5507038" algn="l"/>
                <a:tab pos="5921375" algn="l"/>
                <a:tab pos="6337300" algn="l"/>
                <a:tab pos="6751638" algn="l"/>
                <a:tab pos="7165975" algn="l"/>
                <a:tab pos="7580313" algn="l"/>
                <a:tab pos="7996238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list.add</a:t>
            </a:r>
            <a:r>
              <a:rPr lang="en-GB" sz="2400" b="1" dirty="0">
                <a:latin typeface="Courier New" charset="0"/>
                <a:cs typeface="Lucida Sans Unicode" charset="0"/>
              </a:rPr>
              <a:t>(0, new Integer(42));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400" b="1" dirty="0">
                <a:latin typeface="Courier New" charset="0"/>
                <a:cs typeface="Lucida Sans Unicode" charset="0"/>
              </a:rPr>
              <a:t> n= </a:t>
            </a:r>
            <a:r>
              <a:rPr lang="en-GB" sz="2400" b="1" dirty="0">
                <a:solidFill>
                  <a:srgbClr val="FFCC99"/>
                </a:solidFill>
                <a:latin typeface="Courier New" charset="0"/>
                <a:cs typeface="Lucida Sans Unicode" charset="0"/>
              </a:rPr>
              <a:t>((Integer)</a:t>
            </a:r>
            <a:r>
              <a:rPr lang="en-GB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charset="0"/>
                <a:cs typeface="Lucida Sans Unicode" charset="0"/>
              </a:rPr>
              <a:t>(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list.get</a:t>
            </a:r>
            <a:r>
              <a:rPr lang="en-GB" sz="2400" b="1" dirty="0">
                <a:latin typeface="Courier New" charset="0"/>
                <a:cs typeface="Lucida Sans Unicode" charset="0"/>
              </a:rPr>
              <a:t>(0)</a:t>
            </a:r>
            <a:r>
              <a:rPr lang="en-GB" sz="2400" b="1" dirty="0">
                <a:solidFill>
                  <a:srgbClr val="FCD5B5"/>
                </a:solidFill>
                <a:latin typeface="Courier New" charset="0"/>
                <a:cs typeface="Lucida Sans Unicode" charset="0"/>
              </a:rPr>
              <a:t>)</a:t>
            </a:r>
            <a:r>
              <a:rPr lang="en-GB" sz="2400" b="1" dirty="0">
                <a:solidFill>
                  <a:srgbClr val="FFCC99"/>
                </a:solidFill>
                <a:latin typeface="Courier New" charset="0"/>
                <a:cs typeface="Lucida Sans Unicode" charset="0"/>
              </a:rPr>
              <a:t>)</a:t>
            </a:r>
            <a:r>
              <a:rPr lang="en-GB" sz="2400" b="1" dirty="0">
                <a:latin typeface="Courier New" charset="0"/>
                <a:cs typeface="Lucida Sans Unicode" charset="0"/>
              </a:rPr>
              <a:t>.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intValue</a:t>
            </a:r>
            <a:r>
              <a:rPr lang="en-GB" sz="2400" b="1" dirty="0">
                <a:latin typeface="Courier New" charset="0"/>
                <a:cs typeface="Lucida Sans Unicode" charset="0"/>
              </a:rPr>
              <a:t>();</a:t>
            </a:r>
          </a:p>
          <a:p>
            <a:pPr lvl="1" eaLnBrk="1" hangingPunct="1">
              <a:lnSpc>
                <a:spcPct val="107000"/>
              </a:lnSpc>
              <a:tabLst>
                <a:tab pos="115888" algn="l"/>
                <a:tab pos="530225" algn="l"/>
                <a:tab pos="944563" algn="l"/>
                <a:tab pos="1360488" algn="l"/>
                <a:tab pos="1774825" algn="l"/>
                <a:tab pos="2189163" algn="l"/>
                <a:tab pos="2603500" algn="l"/>
                <a:tab pos="3019425" algn="l"/>
                <a:tab pos="3433763" algn="l"/>
                <a:tab pos="3848100" algn="l"/>
                <a:tab pos="4262438" algn="l"/>
                <a:tab pos="4678363" algn="l"/>
                <a:tab pos="5092700" algn="l"/>
                <a:tab pos="5507038" algn="l"/>
                <a:tab pos="5921375" algn="l"/>
                <a:tab pos="6337300" algn="l"/>
                <a:tab pos="6751638" algn="l"/>
                <a:tab pos="7165975" algn="l"/>
                <a:tab pos="7580313" algn="l"/>
                <a:tab pos="7996238" algn="l"/>
              </a:tabLst>
            </a:pPr>
            <a:r>
              <a:rPr lang="en-GB" sz="2900" dirty="0">
                <a:latin typeface="Lucida Sans Unicode" charset="0"/>
                <a:ea typeface="Lucida Sans Unicode" charset="0"/>
                <a:cs typeface="Lucida Sans Unicode" charset="0"/>
              </a:rPr>
              <a:t>+ </a:t>
            </a:r>
            <a:r>
              <a:rPr lang="en-GB" sz="2900" dirty="0" err="1">
                <a:latin typeface="Lucida Sans Unicode" charset="0"/>
                <a:ea typeface="Lucida Sans Unicode" charset="0"/>
                <a:cs typeface="Lucida Sans Unicode" charset="0"/>
              </a:rPr>
              <a:t>autoboxing</a:t>
            </a:r>
            <a:r>
              <a:rPr lang="en-GB" sz="2900" dirty="0">
                <a:latin typeface="Lucida Sans Unicode" charset="0"/>
                <a:ea typeface="Lucida Sans Unicode" charset="0"/>
                <a:cs typeface="Lucida Sans Unicode" charset="0"/>
              </a:rPr>
              <a:t>  (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ArrayList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&lt;Integer&gt; list </a:t>
            </a:r>
            <a:r>
              <a:rPr lang="en-GB" sz="2900" dirty="0">
                <a:latin typeface="Lucida Sans Unicode" charset="0"/>
                <a:ea typeface="Lucida Sans Unicode" charset="0"/>
                <a:cs typeface="Lucida Sans Unicode" charset="0"/>
              </a:rPr>
              <a:t>)</a:t>
            </a:r>
          </a:p>
          <a:p>
            <a:pPr marL="0" indent="0" eaLnBrk="1" hangingPunct="1">
              <a:lnSpc>
                <a:spcPct val="80000"/>
              </a:lnSpc>
              <a:buNone/>
              <a:tabLst>
                <a:tab pos="115888" algn="l"/>
                <a:tab pos="530225" algn="l"/>
                <a:tab pos="944563" algn="l"/>
                <a:tab pos="1360488" algn="l"/>
                <a:tab pos="1774825" algn="l"/>
                <a:tab pos="2189163" algn="l"/>
                <a:tab pos="2603500" algn="l"/>
                <a:tab pos="3019425" algn="l"/>
                <a:tab pos="3433763" algn="l"/>
                <a:tab pos="3848100" algn="l"/>
                <a:tab pos="4262438" algn="l"/>
                <a:tab pos="4678363" algn="l"/>
                <a:tab pos="5092700" algn="l"/>
                <a:tab pos="5507038" algn="l"/>
                <a:tab pos="5921375" algn="l"/>
                <a:tab pos="6337300" algn="l"/>
                <a:tab pos="6751638" algn="l"/>
                <a:tab pos="7165975" algn="l"/>
                <a:tab pos="7580313" algn="l"/>
                <a:tab pos="7996238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list.add</a:t>
            </a:r>
            <a:r>
              <a:rPr lang="en-GB" sz="2400" b="1" dirty="0">
                <a:latin typeface="Courier New" charset="0"/>
                <a:cs typeface="Lucida Sans Unicode" charset="0"/>
              </a:rPr>
              <a:t>(0,</a:t>
            </a:r>
            <a:r>
              <a:rPr lang="en-GB" sz="2400" b="1" dirty="0">
                <a:solidFill>
                  <a:srgbClr val="FFCC99"/>
                </a:solidFill>
                <a:latin typeface="Courier New" charset="0"/>
                <a:cs typeface="Lucida Sans Unicode" charset="0"/>
              </a:rPr>
              <a:t>new Integer(</a:t>
            </a:r>
            <a:r>
              <a:rPr lang="en-GB" sz="2400" b="1" dirty="0">
                <a:latin typeface="Courier New" charset="0"/>
                <a:cs typeface="Lucida Sans Unicode" charset="0"/>
              </a:rPr>
              <a:t>42</a:t>
            </a:r>
            <a:r>
              <a:rPr lang="en-GB" sz="2400" b="1" dirty="0">
                <a:solidFill>
                  <a:srgbClr val="FFCC99"/>
                </a:solidFill>
                <a:latin typeface="Courier New" charset="0"/>
                <a:cs typeface="Lucida Sans Unicode" charset="0"/>
              </a:rPr>
              <a:t>)</a:t>
            </a:r>
            <a:r>
              <a:rPr lang="en-GB" sz="2400" b="1" dirty="0">
                <a:latin typeface="Courier New" charset="0"/>
                <a:cs typeface="Lucida Sans Unicode" charset="0"/>
              </a:rPr>
              <a:t>);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n = </a:t>
            </a:r>
            <a:r>
              <a:rPr lang="en-GB" sz="2400" b="1" dirty="0">
                <a:solidFill>
                  <a:srgbClr val="FFCC99"/>
                </a:solidFill>
                <a:latin typeface="Courier New" charset="0"/>
                <a:cs typeface="Lucida Sans Unicode" charset="0"/>
              </a:rPr>
              <a:t>((Integer)</a:t>
            </a:r>
            <a:r>
              <a:rPr lang="en-GB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charset="0"/>
                <a:cs typeface="Lucida Sans Unicode" charset="0"/>
              </a:rPr>
              <a:t>(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list.get</a:t>
            </a:r>
            <a:r>
              <a:rPr lang="en-GB" sz="2400" b="1" dirty="0">
                <a:latin typeface="Courier New" charset="0"/>
                <a:cs typeface="Lucida Sans Unicode" charset="0"/>
              </a:rPr>
              <a:t>(0)</a:t>
            </a:r>
            <a:r>
              <a:rPr lang="en-GB" sz="2400" b="1" dirty="0">
                <a:solidFill>
                  <a:srgbClr val="FCD5B5"/>
                </a:solidFill>
                <a:latin typeface="Courier New" charset="0"/>
                <a:cs typeface="Lucida Sans Unicode" charset="0"/>
              </a:rPr>
              <a:t>)</a:t>
            </a:r>
            <a:r>
              <a:rPr lang="en-GB" sz="2400" b="1" dirty="0">
                <a:solidFill>
                  <a:srgbClr val="FFCC99"/>
                </a:solidFill>
                <a:latin typeface="Courier New" charset="0"/>
                <a:cs typeface="Lucida Sans Unicode" charset="0"/>
              </a:rPr>
              <a:t>)</a:t>
            </a:r>
            <a:r>
              <a:rPr lang="en-GB" sz="2400" b="1" dirty="0">
                <a:solidFill>
                  <a:srgbClr val="FCD5B5"/>
                </a:solidFill>
                <a:latin typeface="Courier New" charset="0"/>
                <a:cs typeface="Lucida Sans Unicode" charset="0"/>
              </a:rPr>
              <a:t>.</a:t>
            </a:r>
            <a:r>
              <a:rPr lang="en-GB" sz="2400" b="1" dirty="0" err="1">
                <a:solidFill>
                  <a:srgbClr val="FCD5B5"/>
                </a:solidFill>
                <a:latin typeface="Courier New" charset="0"/>
                <a:cs typeface="Lucida Sans Unicode" charset="0"/>
              </a:rPr>
              <a:t>intValue</a:t>
            </a:r>
            <a:r>
              <a:rPr lang="en-GB" sz="2400" b="1" dirty="0">
                <a:solidFill>
                  <a:srgbClr val="FCD5B5"/>
                </a:solidFill>
                <a:latin typeface="Courier New" charset="0"/>
                <a:cs typeface="Lucida Sans Unicode" charset="0"/>
              </a:rPr>
              <a:t>()</a:t>
            </a:r>
            <a:r>
              <a:rPr lang="en-GB" sz="2400" b="1" dirty="0">
                <a:latin typeface="Courier New" charset="0"/>
                <a:cs typeface="Lucida Sans Unicode" charset="0"/>
              </a:rPr>
              <a:t>;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Iterators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 smtClean="0">
                <a:latin typeface="Courier New"/>
                <a:cs typeface="Courier New"/>
              </a:rPr>
              <a:t>Iterable</a:t>
            </a:r>
            <a:r>
              <a:rPr lang="it-IT" dirty="0" smtClean="0">
                <a:latin typeface="Lucida Sans Unicode" charset="0"/>
                <a:cs typeface="Lucida Sans Unicode" charset="0"/>
              </a:rPr>
              <a:t> </a:t>
            </a:r>
            <a:r>
              <a:rPr lang="it-IT" dirty="0" err="1" smtClean="0">
                <a:latin typeface="Lucida Sans Unicode" charset="0"/>
                <a:cs typeface="Lucida Sans Unicode" charset="0"/>
              </a:rPr>
              <a:t>interface</a:t>
            </a:r>
            <a:endParaRPr lang="it-IT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Container of </a:t>
            </a:r>
            <a:r>
              <a:rPr lang="it-IT" dirty="0" err="1" smtClean="0"/>
              <a:t>elements</a:t>
            </a:r>
            <a:r>
              <a:rPr lang="it-IT" dirty="0" smtClean="0"/>
              <a:t> </a:t>
            </a:r>
            <a:r>
              <a:rPr lang="it-IT" dirty="0" err="1" smtClean="0"/>
              <a:t>that</a:t>
            </a:r>
            <a:r>
              <a:rPr lang="it-IT" dirty="0" smtClean="0"/>
              <a:t> can be </a:t>
            </a:r>
            <a:r>
              <a:rPr lang="it-IT" dirty="0" err="1" smtClean="0"/>
              <a:t>iterated</a:t>
            </a:r>
            <a:r>
              <a:rPr lang="it-IT" dirty="0" smtClean="0"/>
              <a:t> </a:t>
            </a:r>
            <a:r>
              <a:rPr lang="it-IT" dirty="0" err="1" smtClean="0"/>
              <a:t>upon</a:t>
            </a:r>
            <a:endParaRPr lang="it-IT" dirty="0"/>
          </a:p>
          <a:p>
            <a:pPr>
              <a:defRPr/>
            </a:pPr>
            <a:r>
              <a:rPr lang="it-IT" dirty="0" err="1" smtClean="0"/>
              <a:t>Provides</a:t>
            </a:r>
            <a:r>
              <a:rPr lang="it-IT" dirty="0" smtClean="0"/>
              <a:t> a single </a:t>
            </a:r>
            <a:r>
              <a:rPr lang="it-IT" dirty="0" err="1" smtClean="0"/>
              <a:t>method</a:t>
            </a:r>
            <a:r>
              <a:rPr lang="it-IT" dirty="0" smtClean="0"/>
              <a:t>:</a:t>
            </a:r>
          </a:p>
          <a:p>
            <a:pPr marL="400050" lvl="1" indent="0">
              <a:buFont typeface="Wingdings" charset="0"/>
              <a:buNone/>
              <a:defRPr/>
            </a:pPr>
            <a:r>
              <a:rPr lang="it-IT" b="1" dirty="0" smtClean="0">
                <a:latin typeface="Courier New"/>
                <a:cs typeface="Courier New"/>
              </a:rPr>
              <a:t>Iterator&lt;E&gt; </a:t>
            </a:r>
            <a:r>
              <a:rPr lang="it-IT" b="1" dirty="0" smtClean="0">
                <a:solidFill>
                  <a:srgbClr val="FF6600"/>
                </a:solidFill>
                <a:latin typeface="Courier New"/>
                <a:cs typeface="Courier New"/>
              </a:rPr>
              <a:t>iterator</a:t>
            </a:r>
            <a:r>
              <a:rPr lang="it-IT" b="1" dirty="0" smtClean="0">
                <a:latin typeface="Courier New"/>
                <a:cs typeface="Courier New"/>
              </a:rPr>
              <a:t>()</a:t>
            </a:r>
          </a:p>
          <a:p>
            <a:pPr lvl="1">
              <a:defRPr/>
            </a:pPr>
            <a:r>
              <a:rPr lang="it-IT" dirty="0" err="1" smtClean="0"/>
              <a:t>It</a:t>
            </a:r>
            <a:r>
              <a:rPr lang="it-IT" dirty="0" smtClean="0"/>
              <a:t> </a:t>
            </a:r>
            <a:r>
              <a:rPr lang="it-IT" dirty="0" err="1" smtClean="0"/>
              <a:t>returns</a:t>
            </a:r>
            <a:r>
              <a:rPr lang="it-IT" dirty="0" smtClean="0"/>
              <a:t> the iterator on the </a:t>
            </a:r>
            <a:r>
              <a:rPr lang="it-IT" dirty="0" err="1" smtClean="0"/>
              <a:t>elements</a:t>
            </a:r>
            <a:r>
              <a:rPr lang="it-IT" dirty="0" smtClean="0"/>
              <a:t> of the </a:t>
            </a:r>
            <a:r>
              <a:rPr lang="it-IT" dirty="0" err="1" smtClean="0"/>
              <a:t>collection</a:t>
            </a:r>
            <a:endParaRPr lang="it-IT" dirty="0" smtClean="0"/>
          </a:p>
          <a:p>
            <a:pPr>
              <a:defRPr/>
            </a:pPr>
            <a:r>
              <a:rPr lang="it-IT" dirty="0" smtClean="0"/>
              <a:t>Collection </a:t>
            </a:r>
            <a:r>
              <a:rPr lang="it-IT" dirty="0" err="1" smtClean="0"/>
              <a:t>extends</a:t>
            </a:r>
            <a:r>
              <a:rPr lang="it-IT" dirty="0" smtClean="0"/>
              <a:t> </a:t>
            </a:r>
            <a:r>
              <a:rPr lang="it-IT" dirty="0" err="1"/>
              <a:t>I</a:t>
            </a:r>
            <a:r>
              <a:rPr lang="it-IT" dirty="0" err="1" smtClean="0"/>
              <a:t>terable</a:t>
            </a:r>
            <a:endParaRPr 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Iterators and iteration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 common operation with collections is to iterate over their elements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Interface Iterator provides a transparent means to cycle through all elements of a Collection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Keeps track of last visited</a:t>
            </a:r>
            <a:r>
              <a:rPr lang="en-GB">
                <a:latin typeface="Lucida Sans Unicode" charset="0"/>
                <a:cs typeface="Lucida Sans Unicode" charset="0"/>
              </a:rPr>
              <a:t> element of the related collection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Each time the current element is queried, it </a:t>
            </a:r>
            <a:r>
              <a:rPr lang="en-GB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moves on automatically</a:t>
            </a:r>
          </a:p>
        </p:txBody>
      </p:sp>
      <p:sp>
        <p:nvSpPr>
          <p:cNvPr id="43009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DCAA64B9-B3D5-8D40-9817-277E464FB1DB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34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Courier New"/>
                <a:cs typeface="Courier New"/>
              </a:rPr>
              <a:t>Iterator</a:t>
            </a:r>
          </a:p>
        </p:txBody>
      </p:sp>
      <p:sp>
        <p:nvSpPr>
          <p:cNvPr id="18432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it-IT" dirty="0" err="1" smtClean="0">
                <a:latin typeface="Lucida Sans Unicode" charset="0"/>
                <a:cs typeface="Lucida Sans Unicode" charset="0"/>
              </a:rPr>
              <a:t>Allows</a:t>
            </a:r>
            <a:r>
              <a:rPr lang="it-IT" dirty="0" smtClean="0">
                <a:latin typeface="Lucida Sans Unicode" charset="0"/>
                <a:cs typeface="Lucida Sans Unicode" charset="0"/>
              </a:rPr>
              <a:t> the </a:t>
            </a:r>
            <a:r>
              <a:rPr lang="it-IT" dirty="0" err="1">
                <a:latin typeface="Lucida Sans Unicode" charset="0"/>
                <a:cs typeface="Lucida Sans Unicode" charset="0"/>
              </a:rPr>
              <a:t>iteration</a:t>
            </a:r>
            <a:r>
              <a:rPr lang="it-IT" dirty="0">
                <a:latin typeface="Lucida Sans Unicode" charset="0"/>
                <a:cs typeface="Lucida Sans Unicode" charset="0"/>
              </a:rPr>
              <a:t> on the </a:t>
            </a:r>
            <a:r>
              <a:rPr lang="it-IT" dirty="0" err="1">
                <a:latin typeface="Lucida Sans Unicode" charset="0"/>
                <a:cs typeface="Lucida Sans Unicode" charset="0"/>
              </a:rPr>
              <a:t>elements</a:t>
            </a:r>
            <a:r>
              <a:rPr lang="it-IT" dirty="0">
                <a:latin typeface="Lucida Sans Unicode" charset="0"/>
                <a:cs typeface="Lucida Sans Unicode" charset="0"/>
              </a:rPr>
              <a:t> of a </a:t>
            </a:r>
            <a:r>
              <a:rPr lang="it-IT" dirty="0" err="1">
                <a:latin typeface="Lucida Sans Unicode" charset="0"/>
                <a:cs typeface="Lucida Sans Unicode" charset="0"/>
              </a:rPr>
              <a:t>collection</a:t>
            </a:r>
            <a:endParaRPr lang="it-IT" dirty="0">
              <a:latin typeface="Lucida Sans Unicode" charset="0"/>
              <a:cs typeface="Lucida Sans Unicode" charset="0"/>
            </a:endParaRPr>
          </a:p>
          <a:p>
            <a:pPr>
              <a:defRPr/>
            </a:pPr>
            <a:r>
              <a:rPr lang="it-IT" dirty="0" err="1">
                <a:latin typeface="Lucida Sans Unicode" charset="0"/>
                <a:cs typeface="Lucida Sans Unicode" charset="0"/>
              </a:rPr>
              <a:t>Two</a:t>
            </a:r>
            <a:r>
              <a:rPr lang="it-IT" dirty="0">
                <a:latin typeface="Lucida Sans Unicode" charset="0"/>
                <a:cs typeface="Lucida Sans Unicode" charset="0"/>
              </a:rPr>
              <a:t> </a:t>
            </a:r>
            <a:r>
              <a:rPr lang="it-IT" dirty="0" err="1">
                <a:latin typeface="Lucida Sans Unicode" charset="0"/>
                <a:cs typeface="Lucida Sans Unicode" charset="0"/>
              </a:rPr>
              <a:t>main</a:t>
            </a:r>
            <a:r>
              <a:rPr lang="it-IT" dirty="0">
                <a:latin typeface="Lucida Sans Unicode" charset="0"/>
                <a:cs typeface="Lucida Sans Unicode" charset="0"/>
              </a:rPr>
              <a:t> </a:t>
            </a:r>
            <a:r>
              <a:rPr lang="it-IT" dirty="0" err="1">
                <a:latin typeface="Lucida Sans Unicode" charset="0"/>
                <a:cs typeface="Lucida Sans Unicode" charset="0"/>
              </a:rPr>
              <a:t>methods</a:t>
            </a:r>
            <a:r>
              <a:rPr lang="it-IT" dirty="0">
                <a:latin typeface="Lucida Sans Unicode" charset="0"/>
                <a:cs typeface="Lucida Sans Unicode" charset="0"/>
              </a:rPr>
              <a:t>:</a:t>
            </a:r>
          </a:p>
          <a:p>
            <a:pPr lvl="1">
              <a:defRPr/>
            </a:pPr>
            <a:r>
              <a:rPr lang="it-IT" b="1" dirty="0" err="1">
                <a:latin typeface="Courier New" charset="0"/>
                <a:ea typeface="Lucida Sans Unicode" charset="0"/>
                <a:cs typeface="Courier New" charset="0"/>
              </a:rPr>
              <a:t>boolean</a:t>
            </a:r>
            <a:r>
              <a:rPr lang="it-IT" b="1" dirty="0">
                <a:latin typeface="Courier New" charset="0"/>
                <a:ea typeface="Lucida Sans Unicode" charset="0"/>
                <a:cs typeface="Courier New" charset="0"/>
              </a:rPr>
              <a:t> </a:t>
            </a:r>
            <a:r>
              <a:rPr lang="it-IT" b="1" dirty="0" err="1">
                <a:solidFill>
                  <a:srgbClr val="FF6600"/>
                </a:solidFill>
                <a:latin typeface="Courier New" charset="0"/>
                <a:ea typeface="Lucida Sans Unicode" charset="0"/>
                <a:cs typeface="Courier New" charset="0"/>
              </a:rPr>
              <a:t>hasNext</a:t>
            </a:r>
            <a:r>
              <a:rPr lang="it-IT" b="1" dirty="0">
                <a:latin typeface="Courier New" charset="0"/>
                <a:ea typeface="Lucida Sans Unicode" charset="0"/>
                <a:cs typeface="Courier New" charset="0"/>
              </a:rPr>
              <a:t>()</a:t>
            </a:r>
          </a:p>
          <a:p>
            <a:pPr lvl="2">
              <a:defRPr/>
            </a:pPr>
            <a:r>
              <a:rPr lang="it-IT" dirty="0" err="1">
                <a:latin typeface="Lucida Sans Unicode" charset="0"/>
                <a:ea typeface="Lucida Sans Unicode" charset="0"/>
                <a:cs typeface="Lucida Sans Unicode" charset="0"/>
              </a:rPr>
              <a:t>Checks</a:t>
            </a:r>
            <a:r>
              <a:rPr lang="it-IT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it-IT" dirty="0" err="1">
                <a:latin typeface="Lucida Sans Unicode" charset="0"/>
                <a:ea typeface="Lucida Sans Unicode" charset="0"/>
                <a:cs typeface="Lucida Sans Unicode" charset="0"/>
              </a:rPr>
              <a:t>if</a:t>
            </a:r>
            <a:r>
              <a:rPr lang="it-IT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it-IT" dirty="0" err="1">
                <a:latin typeface="Lucida Sans Unicode" charset="0"/>
                <a:ea typeface="Lucida Sans Unicode" charset="0"/>
                <a:cs typeface="Lucida Sans Unicode" charset="0"/>
              </a:rPr>
              <a:t>there</a:t>
            </a:r>
            <a:r>
              <a:rPr lang="it-IT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it-IT" dirty="0" err="1">
                <a:latin typeface="Lucida Sans Unicode" charset="0"/>
                <a:ea typeface="Lucida Sans Unicode" charset="0"/>
                <a:cs typeface="Lucida Sans Unicode" charset="0"/>
              </a:rPr>
              <a:t>is</a:t>
            </a:r>
            <a:r>
              <a:rPr lang="it-IT" dirty="0">
                <a:latin typeface="Lucida Sans Unicode" charset="0"/>
                <a:ea typeface="Lucida Sans Unicode" charset="0"/>
                <a:cs typeface="Lucida Sans Unicode" charset="0"/>
              </a:rPr>
              <a:t> a </a:t>
            </a:r>
            <a:r>
              <a:rPr lang="it-IT" dirty="0" err="1">
                <a:latin typeface="Lucida Sans Unicode" charset="0"/>
                <a:ea typeface="Lucida Sans Unicode" charset="0"/>
                <a:cs typeface="Lucida Sans Unicode" charset="0"/>
              </a:rPr>
              <a:t>next</a:t>
            </a:r>
            <a:r>
              <a:rPr lang="it-IT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it-IT" dirty="0" err="1">
                <a:latin typeface="Lucida Sans Unicode" charset="0"/>
                <a:ea typeface="Lucida Sans Unicode" charset="0"/>
                <a:cs typeface="Lucida Sans Unicode" charset="0"/>
              </a:rPr>
              <a:t>element</a:t>
            </a:r>
            <a:r>
              <a:rPr lang="it-IT" dirty="0">
                <a:latin typeface="Lucida Sans Unicode" charset="0"/>
                <a:ea typeface="Lucida Sans Unicode" charset="0"/>
                <a:cs typeface="Lucida Sans Unicode" charset="0"/>
              </a:rPr>
              <a:t> to iterate on</a:t>
            </a:r>
          </a:p>
          <a:p>
            <a:pPr lvl="1">
              <a:defRPr/>
            </a:pPr>
            <a:r>
              <a:rPr lang="it-IT" b="1" dirty="0">
                <a:latin typeface="Courier New" charset="0"/>
                <a:ea typeface="Lucida Sans Unicode" charset="0"/>
                <a:cs typeface="Courier New" charset="0"/>
              </a:rPr>
              <a:t>E </a:t>
            </a:r>
            <a:r>
              <a:rPr lang="it-IT" b="1" dirty="0" err="1">
                <a:solidFill>
                  <a:srgbClr val="FF6600"/>
                </a:solidFill>
                <a:latin typeface="Courier New" charset="0"/>
                <a:ea typeface="Lucida Sans Unicode" charset="0"/>
                <a:cs typeface="Courier New" charset="0"/>
              </a:rPr>
              <a:t>next</a:t>
            </a:r>
            <a:r>
              <a:rPr lang="it-IT" b="1" dirty="0">
                <a:latin typeface="Courier New" charset="0"/>
                <a:ea typeface="Lucida Sans Unicode" charset="0"/>
                <a:cs typeface="Courier New" charset="0"/>
              </a:rPr>
              <a:t>()</a:t>
            </a:r>
          </a:p>
          <a:p>
            <a:pPr lvl="2">
              <a:defRPr/>
            </a:pPr>
            <a:r>
              <a:rPr lang="it-IT" dirty="0" err="1">
                <a:latin typeface="Lucida Sans Unicode" charset="0"/>
                <a:ea typeface="Lucida Sans Unicode" charset="0"/>
                <a:cs typeface="Lucida Sans Unicode" charset="0"/>
              </a:rPr>
              <a:t>Returns</a:t>
            </a:r>
            <a:r>
              <a:rPr lang="it-IT" dirty="0">
                <a:latin typeface="Lucida Sans Unicode" charset="0"/>
                <a:ea typeface="Lucida Sans Unicode" charset="0"/>
                <a:cs typeface="Lucida Sans Unicode" charset="0"/>
              </a:rPr>
              <a:t> the </a:t>
            </a:r>
            <a:r>
              <a:rPr lang="it-IT" dirty="0" err="1">
                <a:latin typeface="Lucida Sans Unicode" charset="0"/>
                <a:ea typeface="Lucida Sans Unicode" charset="0"/>
                <a:cs typeface="Lucida Sans Unicode" charset="0"/>
              </a:rPr>
              <a:t>next</a:t>
            </a:r>
            <a:r>
              <a:rPr lang="it-IT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it-IT" dirty="0" err="1">
                <a:latin typeface="Lucida Sans Unicode" charset="0"/>
                <a:ea typeface="Lucida Sans Unicode" charset="0"/>
                <a:cs typeface="Lucida Sans Unicode" charset="0"/>
              </a:rPr>
              <a:t>element</a:t>
            </a:r>
            <a:r>
              <a:rPr lang="it-IT" dirty="0">
                <a:latin typeface="Lucida Sans Unicode" charset="0"/>
                <a:ea typeface="Lucida Sans Unicode" charset="0"/>
                <a:cs typeface="Lucida Sans Unicode" charset="0"/>
              </a:rPr>
              <a:t> and </a:t>
            </a:r>
            <a:r>
              <a:rPr lang="it-IT" dirty="0" err="1">
                <a:latin typeface="Lucida Sans Unicode" charset="0"/>
                <a:ea typeface="Lucida Sans Unicode" charset="0"/>
                <a:cs typeface="Lucida Sans Unicode" charset="0"/>
              </a:rPr>
              <a:t>advances</a:t>
            </a:r>
            <a:r>
              <a:rPr lang="it-IT" dirty="0">
                <a:latin typeface="Lucida Sans Unicode" charset="0"/>
                <a:ea typeface="Lucida Sans Unicode" charset="0"/>
                <a:cs typeface="Lucida Sans Unicode" charset="0"/>
              </a:rPr>
              <a:t> by </a:t>
            </a:r>
            <a:r>
              <a:rPr lang="it-IT" dirty="0" err="1">
                <a:latin typeface="Lucida Sans Unicode" charset="0"/>
                <a:ea typeface="Lucida Sans Unicode" charset="0"/>
                <a:cs typeface="Lucida Sans Unicode" charset="0"/>
              </a:rPr>
              <a:t>one</a:t>
            </a:r>
            <a:r>
              <a:rPr lang="it-IT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it-IT" dirty="0" smtClean="0">
                <a:latin typeface="Lucida Sans Unicode" charset="0"/>
                <a:ea typeface="Lucida Sans Unicode" charset="0"/>
                <a:cs typeface="Lucida Sans Unicode" charset="0"/>
              </a:rPr>
              <a:t>position</a:t>
            </a:r>
          </a:p>
          <a:p>
            <a:pPr lvl="1">
              <a:defRPr/>
            </a:pPr>
            <a:r>
              <a:rPr lang="en-GB" b="1" dirty="0" smtClean="0">
                <a:latin typeface="Courier New" charset="0"/>
                <a:cs typeface="Lucida Sans Unicode" charset="0"/>
              </a:rPr>
              <a:t>void </a:t>
            </a:r>
            <a:r>
              <a:rPr lang="en-GB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remove</a:t>
            </a:r>
            <a:r>
              <a:rPr lang="en-GB" b="1" dirty="0" smtClean="0">
                <a:latin typeface="Courier New" charset="0"/>
                <a:cs typeface="Lucida Sans Unicode" charset="0"/>
              </a:rPr>
              <a:t>()</a:t>
            </a:r>
          </a:p>
          <a:p>
            <a:pPr lvl="2">
              <a:defRPr/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Optional method, removes the current element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2">
              <a:defRPr/>
            </a:pPr>
            <a:endParaRPr lang="it-IT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Iterator</a:t>
            </a:r>
            <a:r>
              <a:rPr lang="en-GB" dirty="0">
                <a:latin typeface="Lucida Sans Unicode" charset="0"/>
                <a:cs typeface="Lucida Sans Unicode" charset="0"/>
              </a:rPr>
              <a:t> examples</a:t>
            </a:r>
          </a:p>
        </p:txBody>
      </p:sp>
      <p:sp>
        <p:nvSpPr>
          <p:cNvPr id="46081" name="Segnaposto numero diapositiva 4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418B5D8-C2FB-CC46-9AC7-B961EE9CAE03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36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46083" name="Rectangle 2"/>
          <p:cNvSpPr>
            <a:spLocks noChangeArrowheads="1"/>
          </p:cNvSpPr>
          <p:nvPr/>
        </p:nvSpPr>
        <p:spPr bwMode="auto">
          <a:xfrm>
            <a:off x="314325" y="2417763"/>
            <a:ext cx="8605838" cy="35972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lIns="90000" tIns="46800" rIns="90000" bIns="46800" anchor="ctr"/>
          <a:lstStyle/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Iterable&lt;Person&gt; persons = </a:t>
            </a:r>
            <a:b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							new LinkedList&lt;Person&gt;();</a:t>
            </a:r>
          </a:p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…</a:t>
            </a:r>
          </a:p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for(Iterator&lt;Person&gt; i = persons.iterator(); </a:t>
            </a:r>
            <a:b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											i.hasNext(); ) {</a:t>
            </a:r>
            <a:b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Person p = i.next();</a:t>
            </a:r>
            <a:b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…</a:t>
            </a:r>
          </a:p>
          <a:p>
            <a:pPr>
              <a:lnSpc>
                <a:spcPct val="10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	System.out.println(p);</a:t>
            </a:r>
            <a:b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</a:b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  <p:sp>
        <p:nvSpPr>
          <p:cNvPr id="46084" name="Text Box 3"/>
          <p:cNvSpPr txBox="1">
            <a:spLocks noChangeArrowheads="1"/>
          </p:cNvSpPr>
          <p:nvPr/>
        </p:nvSpPr>
        <p:spPr bwMode="auto">
          <a:xfrm>
            <a:off x="2120900" y="1784350"/>
            <a:ext cx="48085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Lucida Sans Unicode" charset="0"/>
              <a:buNone/>
            </a:pPr>
            <a:r>
              <a:rPr lang="en-GB" sz="3200">
                <a:solidFill>
                  <a:srgbClr val="000000"/>
                </a:solidFill>
                <a:latin typeface="Lucida Sans Unicode" charset="0"/>
              </a:rPr>
              <a:t>Print all objects in a list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98A69C8A-C833-5248-A736-D8C139D24146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37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4813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789"/>
            <a:ext cx="86106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Iterator</a:t>
            </a:r>
            <a:r>
              <a:rPr lang="en-GB" dirty="0">
                <a:latin typeface="Lucida Sans Unicode" charset="0"/>
                <a:cs typeface="Lucida Sans Unicode" charset="0"/>
              </a:rPr>
              <a:t> examples</a:t>
            </a:r>
          </a:p>
        </p:txBody>
      </p:sp>
      <p:sp>
        <p:nvSpPr>
          <p:cNvPr id="48131" name="Rectangle 2"/>
          <p:cNvSpPr>
            <a:spLocks noChangeArrowheads="1"/>
          </p:cNvSpPr>
          <p:nvPr/>
        </p:nvSpPr>
        <p:spPr bwMode="auto">
          <a:xfrm>
            <a:off x="314325" y="2933700"/>
            <a:ext cx="8605838" cy="3082925"/>
          </a:xfrm>
          <a:prstGeom prst="rect">
            <a:avLst/>
          </a:prstGeom>
          <a:solidFill>
            <a:srgbClr val="FDEADA"/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96120" tIns="46800" rIns="96120" bIns="46800" anchor="ctr"/>
          <a:lstStyle/>
          <a:p>
            <a:pPr>
              <a:lnSpc>
                <a:spcPct val="90000"/>
              </a:lnSpc>
            </a:pPr>
            <a:r>
              <a:rPr lang="en-GB" b="1" dirty="0" err="1">
                <a:solidFill>
                  <a:schemeClr val="tx1"/>
                </a:solidFill>
                <a:latin typeface="Courier New" charset="0"/>
              </a:rPr>
              <a:t>Iterable</a:t>
            </a: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&lt;Person&gt; persons = </a:t>
            </a:r>
            <a:br>
              <a:rPr lang="en-GB" b="1" dirty="0">
                <a:solidFill>
                  <a:schemeClr val="tx1"/>
                </a:solidFill>
                <a:latin typeface="Courier New" charset="0"/>
              </a:rPr>
            </a:b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							new </a:t>
            </a:r>
            <a:r>
              <a:rPr lang="en-GB" b="1" dirty="0" err="1">
                <a:solidFill>
                  <a:schemeClr val="tx1"/>
                </a:solidFill>
                <a:latin typeface="Courier New" charset="0"/>
              </a:rPr>
              <a:t>LinkedList</a:t>
            </a: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&lt;Person&gt;();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…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rgbClr val="FF6600"/>
                </a:solidFill>
                <a:latin typeface="Courier New" charset="0"/>
              </a:rPr>
              <a:t>for</a:t>
            </a: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(Person p: persons) {</a:t>
            </a:r>
            <a:br>
              <a:rPr lang="en-GB" b="1" dirty="0">
                <a:solidFill>
                  <a:schemeClr val="tx1"/>
                </a:solidFill>
                <a:latin typeface="Courier New" charset="0"/>
              </a:rPr>
            </a:b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   …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	</a:t>
            </a:r>
            <a:r>
              <a:rPr lang="en-GB" b="1" dirty="0" err="1">
                <a:solidFill>
                  <a:schemeClr val="tx1"/>
                </a:solidFill>
                <a:latin typeface="Courier New" charset="0"/>
              </a:rPr>
              <a:t>System.out.println</a:t>
            </a: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(p);</a:t>
            </a:r>
            <a:br>
              <a:rPr lang="en-GB" b="1" dirty="0">
                <a:solidFill>
                  <a:schemeClr val="tx1"/>
                </a:solidFill>
                <a:latin typeface="Courier New" charset="0"/>
              </a:rPr>
            </a:b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}</a:t>
            </a:r>
          </a:p>
        </p:txBody>
      </p:sp>
      <p:sp>
        <p:nvSpPr>
          <p:cNvPr id="48132" name="Text Box 3"/>
          <p:cNvSpPr txBox="1">
            <a:spLocks noChangeArrowheads="1"/>
          </p:cNvSpPr>
          <p:nvPr/>
        </p:nvSpPr>
        <p:spPr bwMode="auto">
          <a:xfrm>
            <a:off x="1736725" y="1157288"/>
            <a:ext cx="5578475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Font typeface="Lucida Sans Unicode" charset="0"/>
              <a:buNone/>
            </a:pPr>
            <a:r>
              <a:rPr lang="en-GB" sz="3200">
                <a:solidFill>
                  <a:srgbClr val="000000"/>
                </a:solidFill>
                <a:latin typeface="Lucida Sans Unicode" charset="0"/>
              </a:rPr>
              <a:t>The for-each syntax avoids</a:t>
            </a:r>
          </a:p>
          <a:p>
            <a:pPr algn="ctr" eaLnBrk="1" hangingPunct="1">
              <a:lnSpc>
                <a:spcPct val="100000"/>
              </a:lnSpc>
              <a:buFont typeface="Lucida Sans Unicode" charset="0"/>
              <a:buNone/>
            </a:pPr>
            <a:r>
              <a:rPr lang="en-GB" sz="3200">
                <a:solidFill>
                  <a:srgbClr val="000000"/>
                </a:solidFill>
                <a:latin typeface="Lucida Sans Unicode" charset="0"/>
              </a:rPr>
              <a:t>using iterator directly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C450E71-0D27-E148-AC9E-7FE96A8C9FE4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38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5017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351"/>
            <a:ext cx="86106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Iterator</a:t>
            </a:r>
            <a:r>
              <a:rPr lang="en-GB" dirty="0">
                <a:latin typeface="Lucida Sans Unicode" charset="0"/>
                <a:cs typeface="Lucida Sans Unicode" charset="0"/>
              </a:rPr>
              <a:t> examples </a:t>
            </a:r>
            <a:r>
              <a:rPr lang="en-GB" sz="2800" dirty="0">
                <a:latin typeface="Lucida Sans Unicode" charset="0"/>
                <a:cs typeface="Lucida Sans Unicode" charset="0"/>
              </a:rPr>
              <a:t>(until Java 1.4)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468313" y="2933700"/>
            <a:ext cx="8451850" cy="3082925"/>
          </a:xfrm>
          <a:prstGeom prst="rect">
            <a:avLst/>
          </a:prstGeom>
          <a:solidFill>
            <a:srgbClr val="FDEADA"/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96120" tIns="46800" rIns="96120" bIns="46800" anchor="ctr"/>
          <a:lstStyle/>
          <a:p>
            <a:r>
              <a:rPr lang="en-US" b="1" dirty="0">
                <a:solidFill>
                  <a:schemeClr val="tx1"/>
                </a:solidFill>
                <a:latin typeface="Courier New" charset="0"/>
              </a:rPr>
              <a:t>Collection persons = new </a:t>
            </a:r>
            <a:r>
              <a:rPr lang="en-US" b="1" dirty="0" err="1">
                <a:solidFill>
                  <a:schemeClr val="tx1"/>
                </a:solidFill>
                <a:latin typeface="Courier New" charset="0"/>
              </a:rPr>
              <a:t>LinkedList</a:t>
            </a: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();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charset="0"/>
              </a:rPr>
              <a:t>…</a:t>
            </a:r>
          </a:p>
          <a:p>
            <a:r>
              <a:rPr lang="en-US" sz="2000" b="1" dirty="0">
                <a:solidFill>
                  <a:schemeClr val="tx1"/>
                </a:solidFill>
                <a:latin typeface="Courier New" charset="0"/>
              </a:rPr>
              <a:t>for(Iterator </a:t>
            </a:r>
            <a:r>
              <a:rPr lang="en-US" sz="2000" b="1" dirty="0" err="1">
                <a:solidFill>
                  <a:schemeClr val="tx1"/>
                </a:solidFill>
                <a:latin typeface="Courier New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charset="0"/>
              </a:rPr>
              <a:t>= </a:t>
            </a:r>
            <a:r>
              <a:rPr lang="en-US" sz="2000" b="1" dirty="0" err="1">
                <a:solidFill>
                  <a:schemeClr val="tx1"/>
                </a:solidFill>
                <a:latin typeface="Courier New" charset="0"/>
              </a:rPr>
              <a:t>persons.iterator</a:t>
            </a:r>
            <a:r>
              <a:rPr lang="en-US" sz="2000" b="1" dirty="0">
                <a:solidFill>
                  <a:schemeClr val="tx1"/>
                </a:solidFill>
                <a:latin typeface="Courier New" charset="0"/>
              </a:rPr>
              <a:t>(); </a:t>
            </a:r>
            <a:r>
              <a:rPr lang="en-US" sz="2000" b="1" dirty="0" err="1">
                <a:solidFill>
                  <a:schemeClr val="tx1"/>
                </a:solidFill>
                <a:latin typeface="Courier New" charset="0"/>
              </a:rPr>
              <a:t>i.hasNext</a:t>
            </a:r>
            <a:r>
              <a:rPr lang="en-US" sz="2000" b="1" dirty="0">
                <a:solidFill>
                  <a:schemeClr val="tx1"/>
                </a:solidFill>
                <a:latin typeface="Courier New" charset="0"/>
              </a:rPr>
              <a:t>();</a:t>
            </a:r>
            <a:r>
              <a:rPr lang="en-GB" sz="2000" b="1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)</a:t>
            </a: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{</a:t>
            </a:r>
            <a:br>
              <a:rPr lang="en-US" b="1" dirty="0">
                <a:solidFill>
                  <a:schemeClr val="tx1"/>
                </a:solidFill>
                <a:latin typeface="Courier New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   Person p = (Person)</a:t>
            </a:r>
            <a:r>
              <a:rPr lang="en-US" b="1" dirty="0" err="1">
                <a:solidFill>
                  <a:schemeClr val="tx1"/>
                </a:solidFill>
                <a:latin typeface="Courier New" charset="0"/>
              </a:rPr>
              <a:t>i.next</a:t>
            </a: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();</a:t>
            </a:r>
            <a:br>
              <a:rPr lang="en-US" b="1" dirty="0">
                <a:solidFill>
                  <a:schemeClr val="tx1"/>
                </a:solidFill>
                <a:latin typeface="Courier New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   …</a:t>
            </a:r>
            <a:br>
              <a:rPr lang="en-US" b="1" dirty="0">
                <a:solidFill>
                  <a:schemeClr val="tx1"/>
                </a:solidFill>
                <a:latin typeface="Courier New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charset="0"/>
              </a:rPr>
              <a:t>}</a:t>
            </a:r>
          </a:p>
        </p:txBody>
      </p:sp>
      <p:sp>
        <p:nvSpPr>
          <p:cNvPr id="50180" name="Text Box 6"/>
          <p:cNvSpPr txBox="1">
            <a:spLocks noChangeArrowheads="1"/>
          </p:cNvSpPr>
          <p:nvPr/>
        </p:nvSpPr>
        <p:spPr bwMode="auto">
          <a:xfrm>
            <a:off x="2117725" y="1784350"/>
            <a:ext cx="485933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200" dirty="0">
                <a:solidFill>
                  <a:schemeClr val="tx1"/>
                </a:solidFill>
                <a:latin typeface="Lucida Sans Unicode" charset="0"/>
              </a:rPr>
              <a:t>Print all objects in a list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Iterable</a:t>
            </a:r>
            <a:r>
              <a:rPr lang="en-US" dirty="0" smtClean="0"/>
              <a:t> </a:t>
            </a:r>
            <a:r>
              <a:rPr lang="en-US" b="1" dirty="0" err="1" smtClean="0">
                <a:latin typeface="Courier New"/>
                <a:cs typeface="Courier New"/>
              </a:rPr>
              <a:t>forEach</a:t>
            </a:r>
            <a:r>
              <a:rPr lang="en-US" b="1" dirty="0" smtClean="0">
                <a:latin typeface="Courier New"/>
                <a:cs typeface="Courier New"/>
              </a:rPr>
              <a:t> 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Iterable</a:t>
            </a:r>
            <a:r>
              <a:rPr lang="en-US" dirty="0" smtClean="0"/>
              <a:t> defines the default method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FF6600"/>
                </a:solidFill>
                <a:latin typeface="Courier New"/>
                <a:cs typeface="Courier New"/>
              </a:rPr>
              <a:t>forEach</a:t>
            </a:r>
            <a:r>
              <a:rPr lang="en-US" b="1" dirty="0">
                <a:latin typeface="Courier New"/>
                <a:cs typeface="Courier New"/>
              </a:rPr>
              <a:t>(Consumer&lt;? super T&gt; action</a:t>
            </a:r>
            <a:r>
              <a:rPr lang="en-US" b="1" dirty="0" smtClean="0">
                <a:latin typeface="Courier New"/>
                <a:cs typeface="Courier New"/>
              </a:rPr>
              <a:t>)</a:t>
            </a:r>
          </a:p>
          <a:p>
            <a:r>
              <a:rPr lang="en-US" dirty="0" smtClean="0"/>
              <a:t>Can be used to perform operations of elements with a functional interface</a:t>
            </a:r>
            <a:endParaRPr 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23528" y="3861048"/>
            <a:ext cx="8605838" cy="2371601"/>
          </a:xfrm>
          <a:prstGeom prst="rect">
            <a:avLst/>
          </a:prstGeom>
          <a:solidFill>
            <a:srgbClr val="FDEADA"/>
          </a:solidFill>
          <a:ln w="126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96120" tIns="46800" rIns="96120" bIns="46800" anchor="ctr"/>
          <a:lstStyle/>
          <a:p>
            <a:pPr>
              <a:lnSpc>
                <a:spcPct val="90000"/>
              </a:lnSpc>
            </a:pPr>
            <a:r>
              <a:rPr lang="en-GB" b="1" dirty="0" err="1">
                <a:solidFill>
                  <a:schemeClr val="tx1"/>
                </a:solidFill>
                <a:latin typeface="Courier New" charset="0"/>
              </a:rPr>
              <a:t>Iterable</a:t>
            </a: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&lt;Person&gt; persons = </a:t>
            </a:r>
            <a:br>
              <a:rPr lang="en-GB" b="1" dirty="0">
                <a:solidFill>
                  <a:schemeClr val="tx1"/>
                </a:solidFill>
                <a:latin typeface="Courier New" charset="0"/>
              </a:rPr>
            </a:b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							new </a:t>
            </a:r>
            <a:r>
              <a:rPr lang="en-GB" b="1" dirty="0" err="1">
                <a:solidFill>
                  <a:schemeClr val="tx1"/>
                </a:solidFill>
                <a:latin typeface="Courier New" charset="0"/>
              </a:rPr>
              <a:t>LinkedList</a:t>
            </a: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&lt;Person&gt;();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…</a:t>
            </a:r>
          </a:p>
          <a:p>
            <a:pPr>
              <a:lnSpc>
                <a:spcPct val="90000"/>
              </a:lnSpc>
            </a:pPr>
            <a:r>
              <a:rPr lang="en-GB" b="1" dirty="0" err="1" smtClean="0">
                <a:solidFill>
                  <a:schemeClr val="tx1"/>
                </a:solidFill>
                <a:latin typeface="Courier New" charset="0"/>
              </a:rPr>
              <a:t>persons.</a:t>
            </a:r>
            <a:r>
              <a:rPr lang="en-GB" b="1" dirty="0" err="1" smtClean="0">
                <a:solidFill>
                  <a:srgbClr val="FF6600"/>
                </a:solidFill>
                <a:latin typeface="Courier New" charset="0"/>
              </a:rPr>
              <a:t>forEach</a:t>
            </a:r>
            <a:r>
              <a:rPr lang="en-GB" b="1" dirty="0" smtClean="0">
                <a:solidFill>
                  <a:schemeClr val="tx1"/>
                </a:solidFill>
                <a:latin typeface="Courier New" charset="0"/>
              </a:rPr>
              <a:t>( p -&gt; </a:t>
            </a: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{</a:t>
            </a:r>
            <a:br>
              <a:rPr lang="en-GB" b="1" dirty="0">
                <a:solidFill>
                  <a:schemeClr val="tx1"/>
                </a:solidFill>
                <a:latin typeface="Courier New" charset="0"/>
              </a:rPr>
            </a:b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	</a:t>
            </a:r>
            <a:r>
              <a:rPr lang="en-GB" b="1" dirty="0" err="1">
                <a:solidFill>
                  <a:schemeClr val="tx1"/>
                </a:solidFill>
                <a:latin typeface="Courier New" charset="0"/>
              </a:rPr>
              <a:t>System.out.println</a:t>
            </a: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(p);</a:t>
            </a:r>
            <a:br>
              <a:rPr lang="en-GB" b="1" dirty="0">
                <a:solidFill>
                  <a:schemeClr val="tx1"/>
                </a:solidFill>
                <a:latin typeface="Courier New" charset="0"/>
              </a:rPr>
            </a:br>
            <a:r>
              <a:rPr lang="en-GB" b="1" dirty="0">
                <a:solidFill>
                  <a:schemeClr val="tx1"/>
                </a:solidFill>
                <a:latin typeface="Courier New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76247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01903D94-8E95-B341-B897-0DA8CC89F530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40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1264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Note well</a:t>
            </a:r>
          </a:p>
        </p:txBody>
      </p:sp>
      <p:sp>
        <p:nvSpPr>
          <p:cNvPr id="11264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272581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It is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unsafe</a:t>
            </a:r>
            <a:r>
              <a:rPr lang="en-GB" dirty="0">
                <a:latin typeface="Lucida Sans Unicode" charset="0"/>
                <a:cs typeface="Lucida Sans Unicode" charset="0"/>
              </a:rPr>
              <a:t> to iterate over a collection you are modifying (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add</a:t>
            </a:r>
            <a:r>
              <a:rPr lang="en-GB" dirty="0" smtClean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/remove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) </a:t>
            </a:r>
            <a:r>
              <a:rPr lang="en-GB" dirty="0">
                <a:latin typeface="Lucida Sans Unicode" charset="0"/>
                <a:cs typeface="Lucida Sans Unicode" charset="0"/>
              </a:rPr>
              <a:t>at the same time</a:t>
            </a:r>
          </a:p>
          <a:p>
            <a:pPr lvl="1"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solidFill>
                <a:srgbClr val="FF6600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Unless</a:t>
            </a:r>
            <a:r>
              <a:rPr lang="en-GB" dirty="0">
                <a:latin typeface="Lucida Sans Unicode" charset="0"/>
                <a:cs typeface="Lucida Sans Unicode" charset="0"/>
              </a:rPr>
              <a:t> you are using the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iterator’s own methods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Iterator.remove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()</a:t>
            </a:r>
            <a:r>
              <a:rPr lang="en-GB" b="1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 charset="0"/>
                <a:ea typeface="Lucida Sans Unicode" charset="0"/>
                <a:cs typeface="Lucida Sans Unicode" charset="0"/>
              </a:rPr>
              <a:t>ListIterator.add</a:t>
            </a:r>
            <a:r>
              <a:rPr lang="en-GB" b="1" dirty="0">
                <a:latin typeface="Courier New" charset="0"/>
                <a:ea typeface="Lucida Sans Unicode" charset="0"/>
                <a:cs typeface="Lucida Sans Unicode" charset="0"/>
              </a:rPr>
              <a:t>()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258F4DB-581E-3646-B4D1-10FA649DF11B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41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1469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Delete</a:t>
            </a:r>
          </a:p>
        </p:txBody>
      </p:sp>
      <p:sp>
        <p:nvSpPr>
          <p:cNvPr id="114691" name="Rectangle 2"/>
          <p:cNvSpPr>
            <a:spLocks noChangeArrowheads="1"/>
          </p:cNvSpPr>
          <p:nvPr/>
        </p:nvSpPr>
        <p:spPr bwMode="auto">
          <a:xfrm>
            <a:off x="446088" y="1157288"/>
            <a:ext cx="8274050" cy="4919662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lIns="90000" tIns="46800" rIns="90000" bIns="46800" anchor="ctr"/>
          <a:lstStyle/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List&lt;Integer&gt; lst=new LinkedList&lt;Integer&gt;();</a:t>
            </a:r>
          </a:p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lst.add(new Integer(10));   </a:t>
            </a:r>
          </a:p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lst.add(new Integer(11));   </a:t>
            </a:r>
          </a:p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lst.add(new Integer(13)); </a:t>
            </a:r>
          </a:p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lst.add(new Integer(20));</a:t>
            </a:r>
          </a:p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b="1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int count = 0;</a:t>
            </a:r>
          </a:p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for (Iterator&lt;?&gt; itr = lst.iterator(); </a:t>
            </a:r>
          </a:p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										itr.hasNext(); ) {</a:t>
            </a:r>
          </a:p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itr.next(); </a:t>
            </a:r>
          </a:p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if (count==1) </a:t>
            </a:r>
          </a:p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  </a:t>
            </a:r>
            <a:r>
              <a:rPr lang="en-GB" b="1">
                <a:solidFill>
                  <a:srgbClr val="FF0000"/>
                </a:solidFill>
                <a:latin typeface="Courier New" charset="0"/>
                <a:cs typeface="Lucida Sans Unicode" charset="0"/>
              </a:rPr>
              <a:t>lst</a:t>
            </a: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.remove(count); </a:t>
            </a:r>
            <a:r>
              <a:rPr lang="en-GB" b="1">
                <a:solidFill>
                  <a:srgbClr val="FF0000"/>
                </a:solidFill>
                <a:latin typeface="Courier New" charset="0"/>
                <a:cs typeface="Lucida Sans Unicode" charset="0"/>
              </a:rPr>
              <a:t>// wrong</a:t>
            </a:r>
          </a:p>
          <a:p>
            <a:pPr>
              <a:lnSpc>
                <a:spcPct val="90000"/>
              </a:lnSpc>
              <a:buClr>
                <a:srgbClr val="FF0000"/>
              </a:buClr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FF0000"/>
                </a:solidFill>
                <a:latin typeface="Courier New" charset="0"/>
                <a:cs typeface="Lucida Sans Unicode" charset="0"/>
              </a:rPr>
              <a:t>   </a:t>
            </a: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count++;</a:t>
            </a:r>
          </a:p>
          <a:p>
            <a:pPr>
              <a:lnSpc>
                <a:spcPct val="9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  <p:sp>
        <p:nvSpPr>
          <p:cNvPr id="114692" name="AutoShape 3"/>
          <p:cNvSpPr>
            <a:spLocks noChangeArrowheads="1"/>
          </p:cNvSpPr>
          <p:nvPr/>
        </p:nvSpPr>
        <p:spPr bwMode="auto">
          <a:xfrm>
            <a:off x="2870200" y="5691188"/>
            <a:ext cx="5594350" cy="615950"/>
          </a:xfrm>
          <a:prstGeom prst="wedgeRoundRectCallout">
            <a:avLst>
              <a:gd name="adj1" fmla="val -49139"/>
              <a:gd name="adj2" fmla="val -12249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36720">
            <a:solidFill>
              <a:schemeClr val="accent4"/>
            </a:solidFill>
            <a:round/>
            <a:headEnd/>
            <a:tailEnd/>
          </a:ln>
        </p:spPr>
        <p:txBody>
          <a:bodyPr lIns="108000" tIns="63000" rIns="108000" bIns="63000" anchor="ctr"/>
          <a:lstStyle/>
          <a:p>
            <a:pPr algn="ctr">
              <a:lnSpc>
                <a:spcPct val="9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  <a:latin typeface="Lucida Sans Unicode" charset="0"/>
                <a:cs typeface="Courier New" charset="0"/>
              </a:rPr>
              <a:t>ConcurrentModificationException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BC89B40E-30CC-ED40-8152-258562780556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42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1673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Delete (cont</a:t>
            </a:r>
            <a:r>
              <a:rPr lang="ja-JP" altLang="en-GB">
                <a:latin typeface="Lucida Sans Unicode" charset="0"/>
                <a:cs typeface="Lucida Sans Unicode" charset="0"/>
              </a:rPr>
              <a:t>’</a:t>
            </a:r>
            <a:r>
              <a:rPr lang="en-GB" altLang="ja-JP">
                <a:latin typeface="Lucida Sans Unicode" charset="0"/>
                <a:cs typeface="Lucida Sans Unicode" charset="0"/>
              </a:rPr>
              <a:t>d)</a:t>
            </a:r>
            <a:endParaRPr lang="en-GB">
              <a:latin typeface="Lucida Sans Unicode" charset="0"/>
              <a:cs typeface="Lucida Sans Unicode" charset="0"/>
            </a:endParaRPr>
          </a:p>
        </p:txBody>
      </p:sp>
      <p:sp>
        <p:nvSpPr>
          <p:cNvPr id="116739" name="Rectangle 2"/>
          <p:cNvSpPr>
            <a:spLocks noChangeArrowheads="1"/>
          </p:cNvSpPr>
          <p:nvPr/>
        </p:nvSpPr>
        <p:spPr bwMode="auto">
          <a:xfrm>
            <a:off x="482600" y="1254125"/>
            <a:ext cx="8237538" cy="4786313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lIns="96120" tIns="46800" rIns="96120" bIns="46800" anchor="ctr"/>
          <a:lstStyle/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List&lt;Integer&gt;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=new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LinkedList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&lt;Integer&gt;();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Integer(10));  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Integer(11));  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Integer(13));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Integer(20));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count = 0;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for (Iterator&lt;?&gt;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itr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=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lst.iterator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								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itr.hasNext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 ) {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itr.next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if (count==1)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  </a:t>
            </a:r>
            <a:r>
              <a:rPr lang="en-GB" b="1" dirty="0" err="1">
                <a:solidFill>
                  <a:srgbClr val="8064A2"/>
                </a:solidFill>
                <a:latin typeface="Courier New" charset="0"/>
                <a:cs typeface="Lucida Sans Unicode" charset="0"/>
              </a:rPr>
              <a:t>itr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.remove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 </a:t>
            </a:r>
            <a:r>
              <a:rPr lang="en-GB" b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// ok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FF0000"/>
                </a:solidFill>
                <a:latin typeface="Courier New" charset="0"/>
                <a:cs typeface="Lucida Sans Unicode" charset="0"/>
              </a:rPr>
              <a:t>   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count++;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  <p:sp>
        <p:nvSpPr>
          <p:cNvPr id="116740" name="Text Box 3"/>
          <p:cNvSpPr txBox="1">
            <a:spLocks noChangeArrowheads="1"/>
          </p:cNvSpPr>
          <p:nvPr/>
        </p:nvSpPr>
        <p:spPr bwMode="auto">
          <a:xfrm>
            <a:off x="6900863" y="5278438"/>
            <a:ext cx="16335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Clr>
                <a:srgbClr val="FF6600"/>
              </a:buClr>
              <a:buFont typeface="Lucida Sans Unicode" charset="0"/>
              <a:buNone/>
            </a:pPr>
            <a:r>
              <a:rPr lang="en-GB" sz="3200">
                <a:solidFill>
                  <a:srgbClr val="FF6600"/>
                </a:solidFill>
                <a:latin typeface="Lucida Sans Unicode" charset="0"/>
              </a:rPr>
              <a:t>Correct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ED9605F-06B0-4F4F-8772-5B1EA13688DA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43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1878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Add</a:t>
            </a:r>
          </a:p>
        </p:txBody>
      </p:sp>
      <p:sp>
        <p:nvSpPr>
          <p:cNvPr id="118787" name="Rectangle 2"/>
          <p:cNvSpPr>
            <a:spLocks noChangeArrowheads="1"/>
          </p:cNvSpPr>
          <p:nvPr/>
        </p:nvSpPr>
        <p:spPr bwMode="auto">
          <a:xfrm>
            <a:off x="446088" y="1157288"/>
            <a:ext cx="8274050" cy="4775200"/>
          </a:xfrm>
          <a:prstGeom prst="rect">
            <a:avLst/>
          </a:prstGeom>
          <a:solidFill>
            <a:srgbClr val="FDEADA"/>
          </a:solidFill>
          <a:ln w="12600">
            <a:solidFill>
              <a:srgbClr val="000000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lIns="96120" tIns="46800" rIns="96120" bIns="46800" anchor="ctr"/>
          <a:lstStyle/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List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= new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LinkedList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Integer(10));  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Integer(11));  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Integer(13));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Integer(20));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count = 0;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for (Iterator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itr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=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lst.iterator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									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itr.hasNext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 ) {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itr.next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if (count==2)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 </a:t>
            </a:r>
            <a:r>
              <a:rPr lang="en-GB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lst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(count, new Integer(22));</a:t>
            </a:r>
            <a:r>
              <a:rPr lang="en-GB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//wrong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FF0000"/>
                </a:solidFill>
                <a:latin typeface="Courier New" charset="0"/>
                <a:cs typeface="Lucida Sans Unicode" charset="0"/>
              </a:rPr>
              <a:t>   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count++;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  <p:sp>
        <p:nvSpPr>
          <p:cNvPr id="118788" name="AutoShape 3"/>
          <p:cNvSpPr>
            <a:spLocks noChangeArrowheads="1"/>
          </p:cNvSpPr>
          <p:nvPr/>
        </p:nvSpPr>
        <p:spPr bwMode="auto">
          <a:xfrm>
            <a:off x="2870200" y="5691188"/>
            <a:ext cx="5594350" cy="615950"/>
          </a:xfrm>
          <a:prstGeom prst="wedgeRoundRectCallout">
            <a:avLst>
              <a:gd name="adj1" fmla="val -49139"/>
              <a:gd name="adj2" fmla="val -122495"/>
              <a:gd name="adj3" fmla="val 16667"/>
            </a:avLst>
          </a:prstGeom>
          <a:solidFill>
            <a:srgbClr val="E6E0EC"/>
          </a:solidFill>
          <a:ln w="18360">
            <a:solidFill>
              <a:srgbClr val="8064A2"/>
            </a:solidFill>
            <a:round/>
            <a:headEnd/>
            <a:tailEnd/>
          </a:ln>
        </p:spPr>
        <p:txBody>
          <a:bodyPr lIns="99000" tIns="54000" rIns="99000" bIns="54000" anchor="ctr"/>
          <a:lstStyle/>
          <a:p>
            <a:pPr algn="ctr">
              <a:lnSpc>
                <a:spcPct val="9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solidFill>
                  <a:srgbClr val="000000"/>
                </a:solidFill>
                <a:latin typeface="Lucida Sans Unicode" charset="0"/>
                <a:cs typeface="Courier New" charset="0"/>
              </a:rPr>
              <a:t>ConcurrentModificationException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467627A0-BE31-C041-BE40-FF59A373D0B7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44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2083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Add (cont</a:t>
            </a:r>
            <a:r>
              <a:rPr lang="ja-JP" altLang="en-GB">
                <a:latin typeface="Lucida Sans Unicode" charset="0"/>
                <a:cs typeface="Lucida Sans Unicode" charset="0"/>
              </a:rPr>
              <a:t>’</a:t>
            </a:r>
            <a:r>
              <a:rPr lang="en-GB" altLang="ja-JP">
                <a:latin typeface="Lucida Sans Unicode" charset="0"/>
                <a:cs typeface="Lucida Sans Unicode" charset="0"/>
              </a:rPr>
              <a:t>d)</a:t>
            </a:r>
            <a:endParaRPr lang="en-GB">
              <a:latin typeface="Lucida Sans Unicode" charset="0"/>
              <a:cs typeface="Lucida Sans Unicode" charset="0"/>
            </a:endParaRPr>
          </a:p>
        </p:txBody>
      </p:sp>
      <p:sp>
        <p:nvSpPr>
          <p:cNvPr id="120835" name="Rectangle 2"/>
          <p:cNvSpPr>
            <a:spLocks noChangeArrowheads="1"/>
          </p:cNvSpPr>
          <p:nvPr/>
        </p:nvSpPr>
        <p:spPr bwMode="auto">
          <a:xfrm>
            <a:off x="398463" y="1193800"/>
            <a:ext cx="8323262" cy="4846638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>
            <a:outerShdw dist="107933" dir="2700000" algn="ctr" rotWithShape="0">
              <a:srgbClr val="808080"/>
            </a:outerShdw>
          </a:effectLst>
        </p:spPr>
        <p:txBody>
          <a:bodyPr wrap="none" lIns="96120" tIns="46800" rIns="96120" bIns="46800" anchor="ctr"/>
          <a:lstStyle/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List&lt;Integer&gt;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=new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LinkedList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&lt;Integer&gt;();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Integer(10));  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Integer(11));  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Integer(13));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Integer(20));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count = 0;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for (</a:t>
            </a:r>
            <a:r>
              <a:rPr lang="en-GB" b="1" dirty="0" err="1">
                <a:solidFill>
                  <a:srgbClr val="FF6633"/>
                </a:solidFill>
                <a:latin typeface="Courier New" charset="0"/>
                <a:cs typeface="Lucida Sans Unicode" charset="0"/>
              </a:rPr>
              <a:t>ListIterator</a:t>
            </a:r>
            <a:r>
              <a:rPr lang="en-GB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&lt;Integer&gt;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itr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=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			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lst.listIterator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itr.hasNext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();){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itr.next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if (count==2)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      </a:t>
            </a:r>
            <a:r>
              <a:rPr lang="en-GB" b="1" dirty="0" err="1">
                <a:solidFill>
                  <a:schemeClr val="accent4"/>
                </a:solidFill>
                <a:latin typeface="Courier New" charset="0"/>
                <a:cs typeface="Lucida Sans Unicode" charset="0"/>
              </a:rPr>
              <a:t>itr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.add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Integer(22)); </a:t>
            </a:r>
            <a:r>
              <a:rPr lang="en-GB" b="1" dirty="0">
                <a:solidFill>
                  <a:srgbClr val="8064A2"/>
                </a:solidFill>
                <a:latin typeface="Courier New" charset="0"/>
                <a:cs typeface="Lucida Sans Unicode" charset="0"/>
              </a:rPr>
              <a:t>// ok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FF0000"/>
                </a:solidFill>
                <a:latin typeface="Courier New" charset="0"/>
                <a:cs typeface="Lucida Sans Unicode" charset="0"/>
              </a:rPr>
              <a:t>   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count++;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}</a:t>
            </a:r>
          </a:p>
        </p:txBody>
      </p:sp>
      <p:sp>
        <p:nvSpPr>
          <p:cNvPr id="120836" name="Text Box 3"/>
          <p:cNvSpPr txBox="1">
            <a:spLocks noChangeArrowheads="1"/>
          </p:cNvSpPr>
          <p:nvPr/>
        </p:nvSpPr>
        <p:spPr bwMode="auto">
          <a:xfrm>
            <a:off x="7032625" y="5508625"/>
            <a:ext cx="16335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100000"/>
              </a:lnSpc>
              <a:buClr>
                <a:srgbClr val="FF6600"/>
              </a:buClr>
              <a:buFont typeface="Lucida Sans Unicode" charset="0"/>
              <a:buNone/>
            </a:pPr>
            <a:r>
              <a:rPr lang="en-GB" sz="3200">
                <a:solidFill>
                  <a:srgbClr val="FF6600"/>
                </a:solidFill>
                <a:latin typeface="Lucida Sans Unicode" charset="0"/>
              </a:rPr>
              <a:t>Correct</a:t>
            </a:r>
          </a:p>
        </p:txBody>
      </p:sp>
      <p:sp>
        <p:nvSpPr>
          <p:cNvPr id="120837" name="Oval 4"/>
          <p:cNvSpPr>
            <a:spLocks noChangeArrowheads="1"/>
          </p:cNvSpPr>
          <p:nvPr/>
        </p:nvSpPr>
        <p:spPr bwMode="auto">
          <a:xfrm>
            <a:off x="1198563" y="3549650"/>
            <a:ext cx="2600325" cy="434975"/>
          </a:xfrm>
          <a:prstGeom prst="ellipse">
            <a:avLst/>
          </a:prstGeom>
          <a:noFill/>
          <a:ln w="2844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Associative containers (Maps)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5436096" y="1556792"/>
            <a:ext cx="1474787" cy="517525"/>
          </a:xfrm>
          <a:prstGeom prst="rect">
            <a:avLst/>
          </a:prstGeom>
          <a:solidFill>
            <a:srgbClr val="FDEADA"/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>
                <a:solidFill>
                  <a:srgbClr val="000000"/>
                </a:solidFill>
                <a:latin typeface="Lucida Sans Unicode" charset="0"/>
              </a:rPr>
              <a:t>Map&lt;K,V&gt;</a:t>
            </a:r>
          </a:p>
        </p:txBody>
      </p:sp>
      <p:sp>
        <p:nvSpPr>
          <p:cNvPr id="95235" name="Rectangle 3"/>
          <p:cNvSpPr>
            <a:spLocks noChangeArrowheads="1"/>
          </p:cNvSpPr>
          <p:nvPr/>
        </p:nvSpPr>
        <p:spPr bwMode="auto">
          <a:xfrm>
            <a:off x="6074271" y="3195092"/>
            <a:ext cx="2374900" cy="517525"/>
          </a:xfrm>
          <a:prstGeom prst="rect">
            <a:avLst/>
          </a:prstGeom>
          <a:solidFill>
            <a:srgbClr val="FDEADA"/>
          </a:solidFill>
          <a:ln w="9360">
            <a:solidFill>
              <a:srgbClr val="E46C0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Lucida Sans Unicode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GB" sz="2000" dirty="0" err="1">
                <a:solidFill>
                  <a:srgbClr val="000000"/>
                </a:solidFill>
                <a:latin typeface="Lucida Sans Unicode" charset="0"/>
              </a:rPr>
              <a:t>SortedMap</a:t>
            </a:r>
            <a:r>
              <a:rPr lang="en-GB" sz="2000" dirty="0">
                <a:solidFill>
                  <a:srgbClr val="000000"/>
                </a:solidFill>
                <a:latin typeface="Lucida Sans Unicode" charset="0"/>
              </a:rPr>
              <a:t>&lt;K,V&gt;</a:t>
            </a:r>
          </a:p>
        </p:txBody>
      </p:sp>
      <p:cxnSp>
        <p:nvCxnSpPr>
          <p:cNvPr id="122884" name="AutoShape 4"/>
          <p:cNvCxnSpPr>
            <a:cxnSpLocks noChangeShapeType="1"/>
            <a:stCxn id="95235" idx="0"/>
            <a:endCxn id="95234" idx="2"/>
          </p:cNvCxnSpPr>
          <p:nvPr/>
        </p:nvCxnSpPr>
        <p:spPr bwMode="auto">
          <a:xfrm rot="16200000" flipV="1">
            <a:off x="6157614" y="2090986"/>
            <a:ext cx="1120775" cy="1087438"/>
          </a:xfrm>
          <a:prstGeom prst="bentConnector3">
            <a:avLst>
              <a:gd name="adj1" fmla="val 43199"/>
            </a:avLst>
          </a:prstGeom>
          <a:noFill/>
          <a:ln w="19080">
            <a:solidFill>
              <a:srgbClr val="E46C0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885" name="AutoShape 5"/>
          <p:cNvSpPr>
            <a:spLocks noChangeArrowheads="1"/>
          </p:cNvSpPr>
          <p:nvPr/>
        </p:nvSpPr>
        <p:spPr bwMode="auto">
          <a:xfrm rot="120000">
            <a:off x="6096496" y="2104480"/>
            <a:ext cx="163512" cy="136525"/>
          </a:xfrm>
          <a:prstGeom prst="triangle">
            <a:avLst>
              <a:gd name="adj" fmla="val 50000"/>
            </a:avLst>
          </a:prstGeom>
          <a:solidFill>
            <a:srgbClr val="FDEADA"/>
          </a:solidFill>
          <a:ln w="19080">
            <a:solidFill>
              <a:srgbClr val="E46C0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130126"/>
            <a:ext cx="8602663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smtClean="0">
                <a:latin typeface="Courier New"/>
                <a:cs typeface="Courier New"/>
              </a:rPr>
              <a:t>Map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58371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 smtClean="0">
                <a:latin typeface="Lucida Sans Unicode" charset="0"/>
                <a:cs typeface="Lucida Sans Unicode" charset="0"/>
              </a:rPr>
              <a:t>A container that </a:t>
            </a:r>
            <a:r>
              <a:rPr lang="en-GB" sz="2800" dirty="0">
                <a:latin typeface="Lucida Sans Unicode" charset="0"/>
                <a:cs typeface="Lucida Sans Unicode" charset="0"/>
              </a:rPr>
              <a:t>associates </a:t>
            </a:r>
            <a:r>
              <a:rPr lang="en-GB" sz="28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keys to values</a:t>
            </a:r>
            <a:r>
              <a:rPr lang="en-GB" sz="2800" dirty="0">
                <a:latin typeface="Lucida Sans Unicode" charset="0"/>
                <a:cs typeface="Lucida Sans Unicode" charset="0"/>
              </a:rPr>
              <a:t> (e.g., SSN ⇒ Person)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Keys and values must be </a:t>
            </a:r>
            <a:r>
              <a:rPr lang="en-GB" sz="28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objects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Keys</a:t>
            </a:r>
            <a:r>
              <a:rPr lang="en-GB" sz="2800" dirty="0">
                <a:latin typeface="Lucida Sans Unicode" charset="0"/>
                <a:cs typeface="Lucida Sans Unicode" charset="0"/>
              </a:rPr>
              <a:t> must be </a:t>
            </a:r>
            <a:r>
              <a:rPr lang="en-GB" sz="28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unique</a:t>
            </a:r>
          </a:p>
          <a:p>
            <a:pPr lvl="1" eaLnBrk="1" hangingPunct="1">
              <a:lnSpc>
                <a:spcPct val="90000"/>
              </a:lnSpc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cs typeface="Lucida Sans Unicode" charset="0"/>
              </a:rPr>
              <a:t>Only one value per key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Following constructors are common to all collection implementers 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M()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M(Map m)</a:t>
            </a:r>
          </a:p>
        </p:txBody>
      </p:sp>
      <p:sp>
        <p:nvSpPr>
          <p:cNvPr id="58369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4BAC6123-08DF-2C4C-9A04-29963A61660E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46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19350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130126"/>
            <a:ext cx="8602663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Map</a:t>
            </a:r>
            <a:r>
              <a:rPr lang="en-GB" dirty="0">
                <a:latin typeface="Lucida Sans Unicode" charset="0"/>
                <a:cs typeface="Lucida Sans Unicode" charset="0"/>
              </a:rPr>
              <a:t> interface</a:t>
            </a:r>
          </a:p>
        </p:txBody>
      </p:sp>
      <p:sp>
        <p:nvSpPr>
          <p:cNvPr id="60419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V 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put</a:t>
            </a:r>
            <a:r>
              <a:rPr lang="en-GB" sz="2400" b="1" dirty="0">
                <a:latin typeface="Courier New" charset="0"/>
                <a:cs typeface="Lucida Sans Unicode" charset="0"/>
              </a:rPr>
              <a:t>(K key, V value)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V 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get</a:t>
            </a:r>
            <a:r>
              <a:rPr lang="en-GB" sz="2400" b="1" dirty="0">
                <a:latin typeface="Courier New" charset="0"/>
                <a:cs typeface="Lucida Sans Unicode" charset="0"/>
              </a:rPr>
              <a:t>(K key)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Object remove(K key)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containsKey</a:t>
            </a:r>
            <a:r>
              <a:rPr lang="en-GB" sz="2400" b="1" dirty="0">
                <a:latin typeface="Courier New" charset="0"/>
                <a:cs typeface="Lucida Sans Unicode" charset="0"/>
              </a:rPr>
              <a:t>(K key)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containsValue</a:t>
            </a:r>
            <a:r>
              <a:rPr lang="en-GB" sz="2400" b="1" dirty="0">
                <a:latin typeface="Courier New" charset="0"/>
                <a:cs typeface="Lucida Sans Unicode" charset="0"/>
              </a:rPr>
              <a:t>(V value)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public Set&lt;K&gt;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keySet</a:t>
            </a:r>
            <a:r>
              <a:rPr lang="en-GB" sz="2400" b="1" dirty="0">
                <a:latin typeface="Courier New" charset="0"/>
                <a:cs typeface="Lucida Sans Unicode" charset="0"/>
              </a:rPr>
              <a:t>()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public Collection&lt;V&gt; 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values</a:t>
            </a:r>
            <a:r>
              <a:rPr lang="en-GB" sz="2400" b="1" dirty="0">
                <a:latin typeface="Courier New" charset="0"/>
                <a:cs typeface="Lucida Sans Unicode" charset="0"/>
              </a:rPr>
              <a:t>()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400" b="1" dirty="0">
                <a:latin typeface="Courier New" charset="0"/>
                <a:cs typeface="Lucida Sans Unicode" charset="0"/>
              </a:rPr>
              <a:t> size()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boolean</a:t>
            </a: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isEmpty</a:t>
            </a:r>
            <a:r>
              <a:rPr lang="en-GB" sz="2400" b="1" dirty="0">
                <a:latin typeface="Courier New" charset="0"/>
                <a:cs typeface="Lucida Sans Unicode" charset="0"/>
              </a:rPr>
              <a:t>()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spcAft>
                <a:spcPts val="150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void clear()</a:t>
            </a:r>
          </a:p>
        </p:txBody>
      </p:sp>
      <p:sp>
        <p:nvSpPr>
          <p:cNvPr id="60417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350BF55-D4AD-484C-A544-892DB9845C0B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47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03978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539552" y="1268760"/>
            <a:ext cx="8208912" cy="4536504"/>
          </a:xfrm>
          <a:prstGeom prst="rect">
            <a:avLst/>
          </a:prstGeom>
          <a:solidFill>
            <a:srgbClr val="FDEADA"/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457200" rtl="0" eaLnBrk="1" fontAlgn="base" latinLnBrk="0" hangingPunct="1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cs typeface="Lucida Sans Unicode" pitchFamily="34" charset="0"/>
            </a:endParaRPr>
          </a:p>
        </p:txBody>
      </p:sp>
      <p:sp>
        <p:nvSpPr>
          <p:cNvPr id="62466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130126"/>
            <a:ext cx="8602663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Map</a:t>
            </a:r>
            <a:r>
              <a:rPr lang="en-GB" dirty="0">
                <a:latin typeface="Lucida Sans Unicode" charset="0"/>
                <a:cs typeface="Lucida Sans Unicode" charset="0"/>
              </a:rPr>
              <a:t> example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Map&lt;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String,Person</a:t>
            </a:r>
            <a:r>
              <a:rPr lang="en-GB" sz="2400" b="1" dirty="0">
                <a:latin typeface="Courier New" charset="0"/>
                <a:cs typeface="Lucida Sans Unicode" charset="0"/>
              </a:rPr>
              <a:t>&gt; people </a:t>
            </a:r>
            <a:r>
              <a:rPr lang="en-GB" sz="2400" b="1" dirty="0" smtClean="0">
                <a:latin typeface="Courier New" charset="0"/>
                <a:cs typeface="Lucida Sans Unicode" charset="0"/>
              </a:rPr>
              <a:t>=new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HashMap</a:t>
            </a:r>
            <a:r>
              <a:rPr lang="en-GB" sz="2400" b="1" dirty="0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&lt;&gt;</a:t>
            </a:r>
            <a:r>
              <a:rPr lang="en-GB" sz="2400" b="1" dirty="0">
                <a:latin typeface="Courier New" charset="0"/>
                <a:cs typeface="Lucida Sans Unicode" charset="0"/>
              </a:rPr>
              <a:t>();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people.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put</a:t>
            </a:r>
            <a:r>
              <a:rPr lang="en-GB" sz="2400" b="1" dirty="0">
                <a:latin typeface="Courier New" charset="0"/>
                <a:cs typeface="Lucida Sans Unicode" charset="0"/>
              </a:rPr>
              <a:t>( 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ALCSMT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, </a:t>
            </a:r>
            <a:r>
              <a:rPr lang="en-GB" altLang="ja-JP" sz="2400" b="1" dirty="0">
                <a:solidFill>
                  <a:srgbClr val="B2B2B2"/>
                </a:solidFill>
                <a:latin typeface="Courier New" charset="0"/>
                <a:cs typeface="Lucida Sans Unicode" charset="0"/>
              </a:rPr>
              <a:t>//</a:t>
            </a:r>
            <a:r>
              <a:rPr lang="en-GB" altLang="ja-JP" sz="2400" b="1" dirty="0" err="1">
                <a:solidFill>
                  <a:srgbClr val="B2B2B2"/>
                </a:solidFill>
                <a:latin typeface="Courier New" charset="0"/>
                <a:cs typeface="Lucida Sans Unicode" charset="0"/>
              </a:rPr>
              <a:t>ssn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 </a:t>
            </a:r>
            <a:br>
              <a:rPr lang="en-GB" altLang="ja-JP" sz="2400" b="1" dirty="0">
                <a:latin typeface="Courier New" charset="0"/>
                <a:cs typeface="Lucida Sans Unicode" charset="0"/>
              </a:rPr>
            </a:br>
            <a:r>
              <a:rPr lang="en-GB" altLang="ja-JP" sz="2400" b="1" dirty="0">
                <a:latin typeface="Courier New" charset="0"/>
                <a:cs typeface="Lucida Sans Unicode" charset="0"/>
              </a:rPr>
              <a:t>	new Person(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Alice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, 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Smith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) );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people.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put</a:t>
            </a:r>
            <a:r>
              <a:rPr lang="en-GB" sz="2400" b="1" dirty="0">
                <a:latin typeface="Courier New" charset="0"/>
                <a:cs typeface="Lucida Sans Unicode" charset="0"/>
              </a:rPr>
              <a:t>( 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RBTGRN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, </a:t>
            </a:r>
            <a:r>
              <a:rPr lang="en-GB" altLang="ja-JP" sz="2400" b="1" dirty="0">
                <a:solidFill>
                  <a:srgbClr val="B2B2B2"/>
                </a:solidFill>
                <a:latin typeface="Courier New" charset="0"/>
                <a:cs typeface="Lucida Sans Unicode" charset="0"/>
              </a:rPr>
              <a:t>//</a:t>
            </a:r>
            <a:r>
              <a:rPr lang="en-GB" altLang="ja-JP" sz="2400" b="1" dirty="0" err="1">
                <a:solidFill>
                  <a:srgbClr val="B2B2B2"/>
                </a:solidFill>
                <a:latin typeface="Courier New" charset="0"/>
                <a:cs typeface="Lucida Sans Unicode" charset="0"/>
              </a:rPr>
              <a:t>ssn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 </a:t>
            </a:r>
            <a:br>
              <a:rPr lang="en-GB" altLang="ja-JP" sz="2400" b="1" dirty="0">
                <a:latin typeface="Courier New" charset="0"/>
                <a:cs typeface="Lucida Sans Unicode" charset="0"/>
              </a:rPr>
            </a:br>
            <a:r>
              <a:rPr lang="en-GB" altLang="ja-JP" sz="2400" b="1" dirty="0">
                <a:latin typeface="Courier New" charset="0"/>
                <a:cs typeface="Lucida Sans Unicode" charset="0"/>
              </a:rPr>
              <a:t>	new Person(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Robert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, 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Green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) );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endParaRPr lang="en-GB" sz="24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Person bob =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people.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get</a:t>
            </a:r>
            <a:r>
              <a:rPr lang="en-GB" sz="2400" b="1" dirty="0">
                <a:latin typeface="Courier New" charset="0"/>
                <a:cs typeface="Lucida Sans Unicode" charset="0"/>
              </a:rPr>
              <a:t>(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RBTGRN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if( bob == </a:t>
            </a:r>
            <a:r>
              <a:rPr 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null</a:t>
            </a:r>
            <a:r>
              <a:rPr lang="en-GB" sz="2400" b="1" dirty="0">
                <a:latin typeface="Courier New" charset="0"/>
                <a:cs typeface="Lucida Sans Unicode" charset="0"/>
              </a:rPr>
              <a:t> ) 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	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System.out.println</a:t>
            </a:r>
            <a:r>
              <a:rPr lang="en-GB" sz="2400" b="1" dirty="0">
                <a:latin typeface="Courier New" charset="0"/>
                <a:cs typeface="Lucida Sans Unicode" charset="0"/>
              </a:rPr>
              <a:t>( 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Not found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 );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endParaRPr lang="en-GB" sz="2400" b="1" dirty="0">
              <a:latin typeface="Courier New" charset="0"/>
              <a:cs typeface="Lucida Sans Unicode" charset="0"/>
            </a:endParaRP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ts val="175"/>
              </a:spcAft>
              <a:buFont typeface="Wingdings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int</a:t>
            </a:r>
            <a:r>
              <a:rPr lang="en-GB" sz="2400" b="1" dirty="0">
                <a:latin typeface="Courier New" charset="0"/>
                <a:cs typeface="Lucida Sans Unicode" charset="0"/>
              </a:rPr>
              <a:t>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populationSize</a:t>
            </a:r>
            <a:r>
              <a:rPr lang="en-GB" sz="2400" b="1" dirty="0">
                <a:latin typeface="Courier New" charset="0"/>
                <a:cs typeface="Lucida Sans Unicode" charset="0"/>
              </a:rPr>
              <a:t> =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people.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size</a:t>
            </a:r>
            <a:r>
              <a:rPr lang="en-GB" sz="2400" b="1" dirty="0">
                <a:latin typeface="Courier New" charset="0"/>
                <a:cs typeface="Lucida Sans Unicode" charset="0"/>
              </a:rPr>
              <a:t>();</a:t>
            </a:r>
          </a:p>
        </p:txBody>
      </p:sp>
      <p:sp>
        <p:nvSpPr>
          <p:cNvPr id="62465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B770CD1D-E0BF-3D4D-BCBB-DA23B15A19E7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48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13611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262F2C60-B1BC-054D-A5B0-FA136ACE8D2D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49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2697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789"/>
            <a:ext cx="86106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 smtClean="0">
                <a:latin typeface="Courier New"/>
                <a:cs typeface="Courier New"/>
              </a:rPr>
              <a:t>SortedMap</a:t>
            </a:r>
            <a:r>
              <a:rPr lang="en-GB" b="1" dirty="0" smtClean="0">
                <a:cs typeface="Courier New"/>
              </a:rPr>
              <a:t> interface</a:t>
            </a:r>
            <a:endParaRPr lang="en-GB" b="1" dirty="0">
              <a:cs typeface="Courier New"/>
            </a:endParaRPr>
          </a:p>
        </p:txBody>
      </p:sp>
      <p:sp>
        <p:nvSpPr>
          <p:cNvPr id="12697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385432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The elements are traversed according to the keys</a:t>
            </a:r>
            <a:r>
              <a:rPr lang="ja-JP" altLang="en-GB" dirty="0">
                <a:latin typeface="Lucida Sans Unicode" charset="0"/>
                <a:cs typeface="Lucida Sans Unicode" charset="0"/>
              </a:rPr>
              <a:t>’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 </a:t>
            </a:r>
            <a:r>
              <a:rPr lang="en-GB" altLang="ja-JP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natural ordering</a:t>
            </a:r>
            <a:r>
              <a:rPr lang="en-GB" altLang="ja-JP" dirty="0">
                <a:latin typeface="Lucida Sans Unicode" charset="0"/>
                <a:cs typeface="Lucida Sans Unicode" charset="0"/>
              </a:rPr>
              <a:t> (ascending)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Augments </a:t>
            </a:r>
            <a:r>
              <a:rPr lang="en-GB" b="1" dirty="0">
                <a:latin typeface="Courier New"/>
                <a:cs typeface="Courier New"/>
              </a:rPr>
              <a:t>Map</a:t>
            </a:r>
            <a:r>
              <a:rPr lang="en-GB" dirty="0">
                <a:latin typeface="Lucida Sans Unicode" charset="0"/>
                <a:cs typeface="Lucida Sans Unicode" charset="0"/>
              </a:rPr>
              <a:t> interface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SortedMap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subMap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(K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fromKey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, K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toKey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)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SortedMap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headMap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(K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toKey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)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SortedMap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tailMap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(K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fromKey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)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K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firstKey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()</a:t>
            </a:r>
          </a:p>
          <a:p>
            <a:pPr lvl="1" eaLnBrk="1" hangingPunct="1">
              <a:lnSpc>
                <a:spcPct val="100000"/>
              </a:lnSpc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K </a:t>
            </a:r>
            <a:r>
              <a:rPr lang="en-GB" sz="2400" b="1" dirty="0" err="1">
                <a:latin typeface="Courier New" charset="0"/>
                <a:ea typeface="Lucida Sans Unicode" charset="0"/>
                <a:cs typeface="Lucida Sans Unicode" charset="0"/>
              </a:rPr>
              <a:t>lastKey</a:t>
            </a:r>
            <a:r>
              <a:rPr lang="en-GB" sz="2400" b="1" dirty="0">
                <a:latin typeface="Courier New" charset="0"/>
                <a:ea typeface="Lucida Sans Unicode" charset="0"/>
                <a:cs typeface="Lucida Sans Unicode" charset="0"/>
              </a:rPr>
              <a:t>()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CFFB111F-26C6-C743-BB26-AA0E25D0140B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50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2902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789"/>
            <a:ext cx="86106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Map</a:t>
            </a:r>
            <a:r>
              <a:rPr lang="en-GB" dirty="0">
                <a:latin typeface="Lucida Sans Unicode" charset="0"/>
                <a:cs typeface="Lucida Sans Unicode" charset="0"/>
              </a:rPr>
              <a:t> implementations</a:t>
            </a:r>
          </a:p>
        </p:txBody>
      </p:sp>
      <p:sp>
        <p:nvSpPr>
          <p:cNvPr id="12902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036619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Analogous to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Set</a:t>
            </a: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solidFill>
                  <a:srgbClr val="FF6600"/>
                </a:solidFill>
                <a:latin typeface="Courier New"/>
                <a:cs typeface="Courier New"/>
              </a:rPr>
              <a:t>HashMap</a:t>
            </a:r>
            <a:r>
              <a:rPr lang="en-GB" dirty="0">
                <a:latin typeface="Lucida Sans Unicode" charset="0"/>
                <a:cs typeface="Lucida Sans Unicode" charset="0"/>
              </a:rPr>
              <a:t> implements </a:t>
            </a:r>
            <a:r>
              <a:rPr lang="en-GB" b="1" dirty="0">
                <a:solidFill>
                  <a:srgbClr val="8064A2"/>
                </a:solidFill>
                <a:latin typeface="Courier New"/>
                <a:cs typeface="Courier New"/>
              </a:rPr>
              <a:t>Map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No order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solidFill>
                  <a:srgbClr val="FF6600"/>
                </a:solidFill>
                <a:latin typeface="Courier New"/>
                <a:cs typeface="Courier New"/>
              </a:rPr>
              <a:t>LinkedHashMap</a:t>
            </a:r>
            <a:r>
              <a:rPr lang="en-GB" dirty="0">
                <a:latin typeface="Lucida Sans Unicode" charset="0"/>
                <a:cs typeface="Lucida Sans Unicode" charset="0"/>
              </a:rPr>
              <a:t> extends </a:t>
            </a:r>
            <a:r>
              <a:rPr lang="en-GB" b="1" dirty="0" err="1">
                <a:solidFill>
                  <a:srgbClr val="8064A2"/>
                </a:solidFill>
                <a:latin typeface="Courier New"/>
                <a:cs typeface="Courier New"/>
              </a:rPr>
              <a:t>HashMap</a:t>
            </a:r>
            <a:endParaRPr lang="en-GB" b="1" dirty="0">
              <a:solidFill>
                <a:srgbClr val="8064A2"/>
              </a:solidFill>
              <a:latin typeface="Courier New"/>
              <a:cs typeface="Courier New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Insertion order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solidFill>
                  <a:srgbClr val="FF6600"/>
                </a:solidFill>
                <a:latin typeface="Courier New"/>
                <a:cs typeface="Courier New"/>
              </a:rPr>
              <a:t>TreeMap</a:t>
            </a:r>
            <a:r>
              <a:rPr lang="en-GB" dirty="0">
                <a:latin typeface="Lucida Sans Unicode" charset="0"/>
                <a:cs typeface="Lucida Sans Unicode" charset="0"/>
              </a:rPr>
              <a:t> implements </a:t>
            </a:r>
            <a:r>
              <a:rPr lang="en-GB" b="1" dirty="0" err="1">
                <a:solidFill>
                  <a:srgbClr val="8064A2"/>
                </a:solidFill>
                <a:latin typeface="Courier New"/>
                <a:cs typeface="Courier New"/>
              </a:rPr>
              <a:t>SortedMap</a:t>
            </a:r>
            <a:endParaRPr lang="en-GB" b="1" dirty="0">
              <a:solidFill>
                <a:srgbClr val="8064A2"/>
              </a:solidFill>
              <a:latin typeface="Courier New"/>
              <a:cs typeface="Courier New"/>
            </a:endParaRP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Ascending key order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5D1AEDA-9232-E349-86DF-05DF365FE1D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51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3107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789"/>
            <a:ext cx="86106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latin typeface="Courier New"/>
                <a:cs typeface="Courier New"/>
              </a:rPr>
              <a:t>HashMap</a:t>
            </a:r>
            <a:endParaRPr lang="en-GB" b="1" dirty="0">
              <a:latin typeface="Courier New"/>
              <a:cs typeface="Courier New"/>
            </a:endParaRPr>
          </a:p>
        </p:txBody>
      </p:sp>
      <p:sp>
        <p:nvSpPr>
          <p:cNvPr id="13107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40055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Get/put takes </a:t>
            </a:r>
            <a:r>
              <a:rPr lang="en-GB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constant time </a:t>
            </a:r>
            <a:r>
              <a:rPr lang="en-GB" dirty="0">
                <a:latin typeface="Lucida Sans Unicode" charset="0"/>
                <a:cs typeface="Lucida Sans Unicode" charset="0"/>
              </a:rPr>
              <a:t>(in case of no collisions)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Automatic re-allocation when load factor reached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Constructor optional arguments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load factor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(default = .75)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solidFill>
                  <a:srgbClr val="FF6600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initial capacity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 (default = 16)</a:t>
            </a:r>
          </a:p>
          <a:p>
            <a:pPr lvl="1"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539552" y="1340768"/>
            <a:ext cx="8064896" cy="4680520"/>
          </a:xfrm>
          <a:prstGeom prst="rect">
            <a:avLst/>
          </a:prstGeom>
          <a:solidFill>
            <a:srgbClr val="FDEADA"/>
          </a:solidFill>
          <a:ln w="9525" cap="flat" cmpd="sng" algn="ctr">
            <a:solidFill>
              <a:srgbClr val="E46C0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457200" rtl="0" eaLnBrk="1" fontAlgn="base" latinLnBrk="0" hangingPunct="1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cs typeface="Lucida Sans Unicode" pitchFamily="34" charset="0"/>
            </a:endParaRPr>
          </a:p>
        </p:txBody>
      </p:sp>
      <p:sp>
        <p:nvSpPr>
          <p:cNvPr id="133121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2DCBB32B-3668-4942-A4E6-37696BFA2EE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52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331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789"/>
            <a:ext cx="86106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Using </a:t>
            </a:r>
            <a:r>
              <a:rPr lang="en-GB" b="1" dirty="0" err="1">
                <a:latin typeface="Courier New"/>
                <a:cs typeface="Courier New"/>
              </a:rPr>
              <a:t>HashMap</a:t>
            </a:r>
            <a:endParaRPr lang="en-GB" b="1" dirty="0">
              <a:latin typeface="Courier New"/>
              <a:cs typeface="Courier New"/>
            </a:endParaRPr>
          </a:p>
        </p:txBody>
      </p:sp>
      <p:sp>
        <p:nvSpPr>
          <p:cNvPr id="13312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157164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Map&lt;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String,Student</a:t>
            </a:r>
            <a:r>
              <a:rPr lang="en-GB" sz="2400" b="1" dirty="0">
                <a:latin typeface="Courier New" charset="0"/>
                <a:cs typeface="Lucida Sans Unicode" charset="0"/>
              </a:rPr>
              <a:t>&gt; students = </a:t>
            </a:r>
            <a:br>
              <a:rPr lang="en-GB" sz="2400" b="1" dirty="0">
                <a:latin typeface="Courier New" charset="0"/>
                <a:cs typeface="Lucida Sans Unicode" charset="0"/>
              </a:rPr>
            </a:br>
            <a:r>
              <a:rPr lang="en-GB" sz="2400" b="1" dirty="0">
                <a:latin typeface="Courier New" charset="0"/>
                <a:cs typeface="Lucida Sans Unicode" charset="0"/>
              </a:rPr>
              <a:t>			new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HashMap</a:t>
            </a:r>
            <a:r>
              <a:rPr lang="en-GB" sz="2400" b="1" dirty="0">
                <a:latin typeface="Courier New" charset="0"/>
                <a:cs typeface="Lucida Sans Unicode" charset="0"/>
              </a:rPr>
              <a:t>&lt;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String,Student</a:t>
            </a:r>
            <a:r>
              <a:rPr lang="en-GB" sz="2400" b="1" dirty="0">
                <a:latin typeface="Courier New" charset="0"/>
                <a:cs typeface="Lucida Sans Unicode" charset="0"/>
              </a:rPr>
              <a:t>&gt;();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endParaRPr lang="en-GB" sz="2400" b="1" dirty="0">
              <a:latin typeface="Courier New" charset="0"/>
              <a:cs typeface="Lucida Sans Unicode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 err="1">
                <a:latin typeface="Courier New" charset="0"/>
                <a:cs typeface="Lucida Sans Unicode" charset="0"/>
              </a:rPr>
              <a:t>students.put</a:t>
            </a:r>
            <a:r>
              <a:rPr lang="en-GB" sz="2400" b="1" dirty="0">
                <a:latin typeface="Courier New" charset="0"/>
                <a:cs typeface="Lucida Sans Unicode" charset="0"/>
              </a:rPr>
              <a:t>(</a:t>
            </a:r>
            <a:r>
              <a:rPr lang="ja-JP" alt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123</a:t>
            </a:r>
            <a:r>
              <a:rPr lang="ja-JP" altLang="en-GB" sz="2400" b="1" dirty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, </a:t>
            </a:r>
            <a:br>
              <a:rPr lang="en-GB" altLang="ja-JP" sz="2400" b="1" dirty="0">
                <a:latin typeface="Courier New" charset="0"/>
                <a:cs typeface="Lucida Sans Unicode" charset="0"/>
              </a:rPr>
            </a:br>
            <a:r>
              <a:rPr lang="en-GB" altLang="ja-JP" sz="2400" b="1" dirty="0">
                <a:latin typeface="Courier New" charset="0"/>
                <a:cs typeface="Lucida Sans Unicode" charset="0"/>
              </a:rPr>
              <a:t>      new Student(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123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,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Joe Smith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)); 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endParaRPr lang="en-GB" sz="2400" b="1" dirty="0">
              <a:latin typeface="Courier New" charset="0"/>
              <a:cs typeface="Lucida Sans Unicode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Student s =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students.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get</a:t>
            </a:r>
            <a:r>
              <a:rPr lang="en-GB" sz="2400" b="1" dirty="0">
                <a:latin typeface="Courier New" charset="0"/>
                <a:cs typeface="Lucida Sans Unicode" charset="0"/>
              </a:rPr>
              <a:t>(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“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123</a:t>
            </a:r>
            <a:r>
              <a:rPr lang="ja-JP" altLang="en-GB" sz="2400" b="1" dirty="0">
                <a:latin typeface="Courier New" charset="0"/>
                <a:cs typeface="Lucida Sans Unicode" charset="0"/>
              </a:rPr>
              <a:t>”</a:t>
            </a:r>
            <a:r>
              <a:rPr lang="en-GB" altLang="ja-JP" sz="2400" b="1" dirty="0">
                <a:latin typeface="Courier New" charset="0"/>
                <a:cs typeface="Lucida Sans Unicode" charset="0"/>
              </a:rPr>
              <a:t>);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endParaRPr lang="en-GB" sz="2400" b="1" dirty="0">
              <a:latin typeface="Courier New" charset="0"/>
              <a:cs typeface="Lucida Sans Unicode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for(Student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si</a:t>
            </a:r>
            <a:r>
              <a:rPr lang="en-GB" sz="2400" b="1" dirty="0">
                <a:latin typeface="Courier New" charset="0"/>
                <a:cs typeface="Lucida Sans Unicode" charset="0"/>
              </a:rPr>
              <a:t>: </a:t>
            </a:r>
            <a:r>
              <a:rPr lang="en-GB" sz="2400" b="1" dirty="0" err="1">
                <a:latin typeface="Courier New" charset="0"/>
                <a:cs typeface="Lucida Sans Unicode" charset="0"/>
              </a:rPr>
              <a:t>students.values</a:t>
            </a:r>
            <a:r>
              <a:rPr lang="en-GB" sz="2400" b="1" dirty="0">
                <a:latin typeface="Courier New" charset="0"/>
                <a:cs typeface="Lucida Sans Unicode" charset="0"/>
              </a:rPr>
              <a:t>()){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    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charset="0"/>
              <a:buNone/>
              <a:tabLst>
                <a:tab pos="334963" algn="l"/>
                <a:tab pos="444500" algn="l"/>
                <a:tab pos="901700" algn="l"/>
                <a:tab pos="1358900" algn="l"/>
                <a:tab pos="1816100" algn="l"/>
                <a:tab pos="2273300" algn="l"/>
                <a:tab pos="2730500" algn="l"/>
                <a:tab pos="3187700" algn="l"/>
                <a:tab pos="3644900" algn="l"/>
                <a:tab pos="4102100" algn="l"/>
                <a:tab pos="4559300" algn="l"/>
                <a:tab pos="5016500" algn="l"/>
                <a:tab pos="5473700" algn="l"/>
                <a:tab pos="5930900" algn="l"/>
                <a:tab pos="6388100" algn="l"/>
                <a:tab pos="6845300" algn="l"/>
                <a:tab pos="7302500" algn="l"/>
                <a:tab pos="7759700" algn="l"/>
                <a:tab pos="8216900" algn="l"/>
                <a:tab pos="8674100" algn="l"/>
                <a:tab pos="9131300" algn="l"/>
                <a:tab pos="9134475" algn="l"/>
                <a:tab pos="9591675" algn="l"/>
                <a:tab pos="10048875" algn="l"/>
                <a:tab pos="10506075" algn="l"/>
                <a:tab pos="10509250" algn="l"/>
                <a:tab pos="10512425" algn="l"/>
              </a:tabLst>
            </a:pPr>
            <a:r>
              <a:rPr lang="en-GB" sz="2400" b="1" dirty="0">
                <a:latin typeface="Courier New" charset="0"/>
                <a:cs typeface="Lucida Sans Unicode" charset="0"/>
              </a:rP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15D1AEDA-9232-E349-86DF-05DF365FE1D9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53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3107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3789"/>
            <a:ext cx="8610600" cy="77162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latin typeface="Courier New"/>
                <a:cs typeface="Courier New"/>
              </a:rPr>
              <a:t>TreeMap</a:t>
            </a:r>
            <a:endParaRPr lang="en-GB" b="1" dirty="0">
              <a:latin typeface="Courier New"/>
              <a:cs typeface="Courier New"/>
            </a:endParaRPr>
          </a:p>
        </p:txBody>
      </p:sp>
      <p:sp>
        <p:nvSpPr>
          <p:cNvPr id="13107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439293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Get/put takes </a:t>
            </a:r>
            <a:r>
              <a:rPr lang="en-GB" dirty="0" smtClean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log time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Based on a </a:t>
            </a:r>
            <a:r>
              <a:rPr lang="en-US" dirty="0"/>
              <a:t>Red-</a:t>
            </a:r>
            <a:r>
              <a:rPr lang="en-US" dirty="0" smtClean="0"/>
              <a:t>Black tree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 smtClean="0">
                <a:latin typeface="Lucida Sans Unicode" charset="0"/>
                <a:cs typeface="Lucida Sans Unicode" charset="0"/>
              </a:rPr>
              <a:t>Keys are maintained and will be traversed in order</a:t>
            </a:r>
            <a:endParaRPr lang="en-GB" dirty="0" smtClean="0">
              <a:latin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Constructor </a:t>
            </a:r>
            <a:r>
              <a:rPr lang="en-GB" dirty="0">
                <a:latin typeface="Lucida Sans Unicode" charset="0"/>
                <a:cs typeface="Lucida Sans Unicode" charset="0"/>
              </a:rPr>
              <a:t>optional 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arguments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cs typeface="Lucida Sans Unicode" charset="0"/>
              </a:rPr>
              <a:t>Comparator to replace the natural order of keys</a:t>
            </a:r>
            <a:endParaRPr lang="en-GB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27368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>
                <a:latin typeface="Lucida Sans Unicode" charset="0"/>
                <a:cs typeface="Lucida Sans Unicode" charset="0"/>
              </a:rPr>
              <a:t>Algorithms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Algorithms</a:t>
            </a:r>
          </a:p>
        </p:txBody>
      </p:sp>
      <p:sp>
        <p:nvSpPr>
          <p:cNvPr id="15462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Sans Unicode" charset="0"/>
                <a:cs typeface="Lucida Sans Unicode" charset="0"/>
              </a:rPr>
              <a:t>Static methods of </a:t>
            </a:r>
            <a:r>
              <a:rPr lang="en-GB" sz="2800" b="1" dirty="0" err="1" smtClean="0">
                <a:solidFill>
                  <a:srgbClr val="FF6600"/>
                </a:solidFill>
                <a:latin typeface="Courier New"/>
                <a:cs typeface="Courier New"/>
              </a:rPr>
              <a:t>java.util.Collections</a:t>
            </a:r>
            <a:endParaRPr lang="en-GB" sz="2800" dirty="0">
              <a:latin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dirty="0">
                <a:latin typeface="Lucida Sans Unicode" charset="0"/>
                <a:ea typeface="Lucida Sans Unicode" charset="0"/>
                <a:cs typeface="Lucida Sans Unicode" charset="0"/>
              </a:rPr>
              <a:t>Work on </a:t>
            </a:r>
            <a:r>
              <a:rPr lang="en-GB" sz="2400" dirty="0" smtClean="0">
                <a:latin typeface="Lucida Sans Unicode" charset="0"/>
                <a:ea typeface="Lucida Sans Unicode" charset="0"/>
                <a:cs typeface="Lucida Sans Unicode" charset="0"/>
              </a:rPr>
              <a:t>List since it has the concept of position</a:t>
            </a:r>
            <a:endParaRPr lang="en-GB" sz="2400" u="sng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solidFill>
                  <a:srgbClr val="FF6600"/>
                </a:solidFill>
                <a:latin typeface="Courier New"/>
                <a:cs typeface="Courier New"/>
              </a:rPr>
              <a:t>sort</a:t>
            </a:r>
            <a:r>
              <a:rPr lang="en-GB" sz="2800" dirty="0">
                <a:latin typeface="Lucida Sans Unicode" charset="0"/>
                <a:cs typeface="Lucida Sans Unicode" charset="0"/>
              </a:rPr>
              <a:t>()  - merge sort, n log(n)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err="1">
                <a:solidFill>
                  <a:srgbClr val="FF6600"/>
                </a:solidFill>
                <a:latin typeface="Courier New"/>
                <a:cs typeface="Courier New"/>
              </a:rPr>
              <a:t>binarySearch</a:t>
            </a:r>
            <a:r>
              <a:rPr lang="en-GB" sz="2800" dirty="0">
                <a:latin typeface="Lucida Sans Unicode" charset="0"/>
                <a:cs typeface="Lucida Sans Unicode" charset="0"/>
              </a:rPr>
              <a:t>() – requires ordered sequence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solidFill>
                  <a:srgbClr val="FF6600"/>
                </a:solidFill>
                <a:latin typeface="Courier New"/>
                <a:cs typeface="Courier New"/>
              </a:rPr>
              <a:t>shuffle</a:t>
            </a:r>
            <a:r>
              <a:rPr lang="en-GB" sz="2800" dirty="0">
                <a:latin typeface="Lucida Sans Unicode" charset="0"/>
                <a:cs typeface="Lucida Sans Unicode" charset="0"/>
              </a:rPr>
              <a:t>() – unsort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solidFill>
                  <a:srgbClr val="FF6600"/>
                </a:solidFill>
                <a:latin typeface="Courier New"/>
                <a:cs typeface="Courier New"/>
              </a:rPr>
              <a:t>reverse</a:t>
            </a:r>
            <a:r>
              <a:rPr lang="en-GB" sz="2800" dirty="0">
                <a:latin typeface="Lucida Sans Unicode" charset="0"/>
                <a:cs typeface="Lucida Sans Unicode" charset="0"/>
              </a:rPr>
              <a:t>() - requires ordered sequence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solidFill>
                  <a:srgbClr val="FF6600"/>
                </a:solidFill>
                <a:latin typeface="Courier New"/>
                <a:cs typeface="Courier New"/>
              </a:rPr>
              <a:t>rotate</a:t>
            </a:r>
            <a:r>
              <a:rPr lang="en-GB" sz="2800" dirty="0">
                <a:latin typeface="Lucida Sans Unicode" charset="0"/>
                <a:cs typeface="Lucida Sans Unicode" charset="0"/>
              </a:rPr>
              <a:t>() – of given a distance</a:t>
            </a:r>
          </a:p>
          <a:p>
            <a:pPr eaLnBrk="1" hangingPunct="1">
              <a:lnSpc>
                <a:spcPct val="100000"/>
              </a:lnSpc>
              <a:spcBef>
                <a:spcPts val="700"/>
              </a:spcBef>
              <a:spcAft>
                <a:spcPts val="175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solidFill>
                  <a:srgbClr val="FF6600"/>
                </a:solidFill>
                <a:latin typeface="Courier New"/>
                <a:cs typeface="Courier New"/>
              </a:rPr>
              <a:t>min</a:t>
            </a:r>
            <a:r>
              <a:rPr lang="en-GB" sz="28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()</a:t>
            </a:r>
            <a:r>
              <a:rPr lang="en-GB" sz="2800" dirty="0">
                <a:latin typeface="Lucida Sans Unicode" charset="0"/>
                <a:cs typeface="Lucida Sans Unicode" charset="0"/>
              </a:rPr>
              <a:t>, </a:t>
            </a:r>
            <a:r>
              <a:rPr lang="en-GB" sz="2800" b="1" dirty="0">
                <a:solidFill>
                  <a:srgbClr val="FF6600"/>
                </a:solidFill>
                <a:latin typeface="Courier New"/>
                <a:cs typeface="Courier New"/>
              </a:rPr>
              <a:t>max</a:t>
            </a:r>
            <a:r>
              <a:rPr lang="en-GB" sz="2800" dirty="0">
                <a:solidFill>
                  <a:srgbClr val="FF6600"/>
                </a:solidFill>
                <a:latin typeface="Lucida Sans Unicode" charset="0"/>
                <a:cs typeface="Lucida Sans Unicode" charset="0"/>
              </a:rPr>
              <a:t>()</a:t>
            </a:r>
            <a:r>
              <a:rPr lang="en-GB" sz="2800" dirty="0">
                <a:latin typeface="Lucida Sans Unicode" charset="0"/>
                <a:cs typeface="Lucida Sans Unicode" charset="0"/>
              </a:rPr>
              <a:t> – in a Collection </a:t>
            </a:r>
          </a:p>
        </p:txBody>
      </p:sp>
      <p:sp>
        <p:nvSpPr>
          <p:cNvPr id="154625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4E7DBBC9-4711-7043-847D-285EB0DA0E3F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55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1"/>
          <p:cNvSpPr>
            <a:spLocks noGrp="1" noChangeArrowheads="1"/>
          </p:cNvSpPr>
          <p:nvPr>
            <p:ph type="title"/>
          </p:nvPr>
        </p:nvSpPr>
        <p:spPr>
          <a:xfrm>
            <a:off x="228600" y="174562"/>
            <a:ext cx="8602663" cy="682751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latin typeface="Courier New"/>
                <a:cs typeface="Courier New"/>
              </a:rPr>
              <a:t>s</a:t>
            </a:r>
            <a:r>
              <a:rPr lang="en-GB" b="1" dirty="0" smtClean="0">
                <a:latin typeface="Courier New"/>
                <a:cs typeface="Courier New"/>
              </a:rPr>
              <a:t>ort()</a:t>
            </a:r>
            <a:r>
              <a:rPr lang="en-GB" dirty="0" smtClean="0">
                <a:latin typeface="Lucida Sans Unicode" charset="0"/>
                <a:cs typeface="Lucida Sans Unicode" charset="0"/>
              </a:rPr>
              <a:t> method</a:t>
            </a:r>
            <a:endParaRPr lang="en-GB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156675" name="Rectangle 2"/>
          <p:cNvSpPr>
            <a:spLocks noGrp="1" noChangeArrowheads="1"/>
          </p:cNvSpPr>
          <p:nvPr>
            <p:ph idx="1"/>
          </p:nvPr>
        </p:nvSpPr>
        <p:spPr/>
        <p:txBody>
          <a:bodyPr lIns="0" tIns="0" rIns="0" bIns="0">
            <a:normAutofit fontScale="92500" lnSpcReduction="10000"/>
          </a:bodyPr>
          <a:lstStyle/>
          <a:p>
            <a:pPr eaLnBrk="1" hangingPunct="1">
              <a:lnSpc>
                <a:spcPct val="10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3500" dirty="0" smtClean="0">
                <a:latin typeface="Lucida Sans Unicode" charset="0"/>
                <a:cs typeface="Lucida Sans Unicode" charset="0"/>
              </a:rPr>
              <a:t>Operates on </a:t>
            </a:r>
            <a:r>
              <a:rPr lang="en-GB" sz="3500" b="1" dirty="0" smtClean="0">
                <a:latin typeface="Courier New"/>
                <a:cs typeface="Courier New"/>
              </a:rPr>
              <a:t>List&lt;T&gt;</a:t>
            </a:r>
          </a:p>
          <a:p>
            <a:pPr lvl="1" eaLnBrk="1" hangingPunct="1">
              <a:lnSpc>
                <a:spcPct val="10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3000" dirty="0" smtClean="0">
                <a:latin typeface="Lucida Sans Unicode" charset="0"/>
                <a:cs typeface="Lucida Sans Unicode" charset="0"/>
              </a:rPr>
              <a:t>Require access by index to perform sorting</a:t>
            </a:r>
          </a:p>
          <a:p>
            <a:pPr eaLnBrk="1" hangingPunct="1">
              <a:lnSpc>
                <a:spcPct val="10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3600" dirty="0" smtClean="0">
                <a:latin typeface="Lucida Sans Unicode" charset="0"/>
                <a:cs typeface="Lucida Sans Unicode" charset="0"/>
              </a:rPr>
              <a:t>Two </a:t>
            </a:r>
            <a:r>
              <a:rPr lang="en-GB" sz="3600" dirty="0">
                <a:latin typeface="Lucida Sans Unicode" charset="0"/>
                <a:cs typeface="Lucida Sans Unicode" charset="0"/>
              </a:rPr>
              <a:t>generic overloads:</a:t>
            </a:r>
          </a:p>
          <a:p>
            <a:pPr lvl="1" eaLnBrk="1" hangingPunct="1">
              <a:lnSpc>
                <a:spcPct val="10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3000" dirty="0">
                <a:latin typeface="Lucida Sans Unicode" charset="0"/>
                <a:ea typeface="Lucida Sans Unicode" charset="0"/>
                <a:cs typeface="Lucida Sans Unicode" charset="0"/>
              </a:rPr>
              <a:t>on </a:t>
            </a:r>
            <a:r>
              <a:rPr lang="en-GB" sz="3000" b="1" dirty="0">
                <a:latin typeface="Courier New"/>
                <a:ea typeface="ＭＳ Ｐゴシック" charset="0"/>
                <a:cs typeface="Courier New"/>
              </a:rPr>
              <a:t>Comparable</a:t>
            </a:r>
            <a:r>
              <a:rPr lang="en-GB" sz="3000" dirty="0">
                <a:latin typeface="Lucida Sans Unicode" charset="0"/>
                <a:ea typeface="Lucida Sans Unicode" charset="0"/>
                <a:cs typeface="Lucida Sans Unicode" charset="0"/>
              </a:rPr>
              <a:t> objects:</a:t>
            </a:r>
          </a:p>
          <a:p>
            <a:pPr marL="1155700"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smtClean="0">
                <a:latin typeface="Courier New" charset="0"/>
                <a:cs typeface="Lucida Sans Unicode" charset="0"/>
              </a:rPr>
              <a:t>&lt;</a:t>
            </a:r>
            <a:r>
              <a:rPr lang="en-GB" sz="2800" b="1" dirty="0">
                <a:latin typeface="Courier New" charset="0"/>
                <a:cs typeface="Lucida Sans Unicode" charset="0"/>
              </a:rPr>
              <a:t>T extends Comparable&lt;? super T&gt;&gt;</a:t>
            </a:r>
          </a:p>
          <a:p>
            <a:pPr marL="1155700"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smtClean="0">
                <a:latin typeface="Courier New" charset="0"/>
                <a:cs typeface="Lucida Sans Unicode" charset="0"/>
              </a:rPr>
              <a:t>void </a:t>
            </a:r>
            <a:r>
              <a:rPr lang="en-GB" sz="2800" b="1" dirty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sort</a:t>
            </a:r>
            <a:r>
              <a:rPr lang="en-GB" sz="2800" b="1" dirty="0">
                <a:latin typeface="Courier New" charset="0"/>
                <a:cs typeface="Lucida Sans Unicode" charset="0"/>
              </a:rPr>
              <a:t>(List&lt;T&gt; list)</a:t>
            </a:r>
          </a:p>
          <a:p>
            <a:pPr lvl="1" eaLnBrk="1" hangingPunct="1">
              <a:lnSpc>
                <a:spcPct val="10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3000" dirty="0">
                <a:latin typeface="Lucida Sans Unicode" charset="0"/>
                <a:ea typeface="Lucida Sans Unicode" charset="0"/>
                <a:cs typeface="Lucida Sans Unicode" charset="0"/>
              </a:rPr>
              <a:t>using a </a:t>
            </a:r>
            <a:r>
              <a:rPr lang="en-GB" sz="3000" b="1" dirty="0">
                <a:latin typeface="Courier New"/>
                <a:ea typeface="ＭＳ Ｐゴシック" charset="0"/>
                <a:cs typeface="Courier New"/>
              </a:rPr>
              <a:t>Comparator</a:t>
            </a:r>
            <a:r>
              <a:rPr lang="en-GB" sz="3000" dirty="0">
                <a:latin typeface="Lucida Sans Unicode" charset="0"/>
                <a:ea typeface="Lucida Sans Unicode" charset="0"/>
                <a:cs typeface="Lucida Sans Unicode" charset="0"/>
              </a:rPr>
              <a:t> object:</a:t>
            </a:r>
          </a:p>
          <a:p>
            <a:pPr marL="1162050" indent="-355600"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 smtClean="0">
                <a:latin typeface="Courier New" charset="0"/>
                <a:cs typeface="Lucida Sans Unicode" charset="0"/>
              </a:rPr>
              <a:t>&lt;</a:t>
            </a:r>
            <a:r>
              <a:rPr lang="en-GB" sz="2800" b="1" dirty="0">
                <a:latin typeface="Courier New" charset="0"/>
                <a:cs typeface="Lucida Sans Unicode" charset="0"/>
              </a:rPr>
              <a:t>T&gt; 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void </a:t>
            </a:r>
            <a:r>
              <a:rPr lang="en-GB" sz="2800" b="1" dirty="0" smtClean="0">
                <a:solidFill>
                  <a:srgbClr val="FF6633"/>
                </a:solidFill>
                <a:latin typeface="Courier New" charset="0"/>
                <a:cs typeface="Lucida Sans Unicode" charset="0"/>
              </a:rPr>
              <a:t>sort</a:t>
            </a:r>
            <a:r>
              <a:rPr lang="en-GB" sz="2800" b="1" dirty="0">
                <a:latin typeface="Courier New" charset="0"/>
                <a:cs typeface="Lucida Sans Unicode" charset="0"/>
              </a:rPr>
              <a:t>(List&lt;T&gt; list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,</a:t>
            </a:r>
          </a:p>
          <a:p>
            <a:pPr marL="1162050" indent="-355600" eaLnBrk="1" hangingPunct="1">
              <a:lnSpc>
                <a:spcPct val="91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b="1" dirty="0">
                <a:latin typeface="Courier New" charset="0"/>
                <a:cs typeface="Lucida Sans Unicode" charset="0"/>
              </a:rPr>
              <a:t>	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				 Comparator</a:t>
            </a:r>
            <a:r>
              <a:rPr lang="en-GB" sz="2800" b="1" dirty="0">
                <a:latin typeface="Courier New" charset="0"/>
                <a:cs typeface="Lucida Sans Unicode" charset="0"/>
              </a:rPr>
              <a:t>&lt;? super T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&gt; </a:t>
            </a:r>
            <a:r>
              <a:rPr lang="en-GB" sz="2800" b="1" dirty="0" err="1" smtClean="0">
                <a:latin typeface="Courier New" charset="0"/>
                <a:cs typeface="Lucida Sans Unicode" charset="0"/>
              </a:rPr>
              <a:t>cmp</a:t>
            </a:r>
            <a:r>
              <a:rPr lang="en-GB" sz="2800" b="1" dirty="0" smtClean="0">
                <a:latin typeface="Courier New" charset="0"/>
                <a:cs typeface="Lucida Sans Unicode" charset="0"/>
              </a:rPr>
              <a:t>)</a:t>
            </a:r>
            <a:endParaRPr lang="en-GB" sz="2800" b="1" dirty="0">
              <a:latin typeface="Courier New" charset="0"/>
              <a:cs typeface="Lucida Sans Unicode" charset="0"/>
            </a:endParaRPr>
          </a:p>
        </p:txBody>
      </p:sp>
      <p:sp>
        <p:nvSpPr>
          <p:cNvPr id="156673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6A5843E-3C9C-2B46-81BE-B95330166545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56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FCC15E80-B735-FF4A-AE32-3812E69F2FB0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57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587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88900"/>
            <a:ext cx="8607425" cy="860425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Sort generic</a:t>
            </a:r>
          </a:p>
        </p:txBody>
      </p:sp>
      <p:sp>
        <p:nvSpPr>
          <p:cNvPr id="15872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941513"/>
            <a:ext cx="8226425" cy="4152900"/>
          </a:xfrm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0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Why </a:t>
            </a:r>
            <a:r>
              <a:rPr lang="en-GB" sz="2600" b="1">
                <a:latin typeface="Courier New" charset="0"/>
                <a:cs typeface="Lucida Sans Unicode" charset="0"/>
              </a:rPr>
              <a:t>&lt;? super T&gt;</a:t>
            </a:r>
            <a:r>
              <a:rPr lang="en-GB">
                <a:latin typeface="Lucida Sans Unicode" charset="0"/>
                <a:cs typeface="Lucida Sans Unicode" charset="0"/>
              </a:rPr>
              <a:t> instead of just </a:t>
            </a:r>
            <a:r>
              <a:rPr lang="en-GB" sz="2600" b="1">
                <a:latin typeface="Courier New" charset="0"/>
                <a:cs typeface="Lucida Sans Unicode" charset="0"/>
              </a:rPr>
              <a:t>&lt;T&gt;</a:t>
            </a:r>
            <a:r>
              <a:rPr lang="en-GB">
                <a:latin typeface="Lucida Sans Unicode" charset="0"/>
                <a:cs typeface="Lucida Sans Unicode" charset="0"/>
              </a:rPr>
              <a:t> ?</a:t>
            </a:r>
          </a:p>
          <a:p>
            <a:pPr lvl="1" eaLnBrk="1" hangingPunct="1">
              <a:lnSpc>
                <a:spcPct val="10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Suppose you define </a:t>
            </a:r>
          </a:p>
          <a:p>
            <a:pPr lvl="2" eaLnBrk="1" hangingPunct="1">
              <a:lnSpc>
                <a:spcPct val="91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latin typeface="Courier New" charset="0"/>
                <a:ea typeface="Lucida Sans Unicode" charset="0"/>
                <a:cs typeface="Lucida Sans Unicode" charset="0"/>
              </a:rPr>
              <a:t>MasterStudent extends Student { }</a:t>
            </a:r>
          </a:p>
          <a:p>
            <a:pPr lvl="1" eaLnBrk="1" hangingPunct="1">
              <a:lnSpc>
                <a:spcPct val="10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Intending to inherit the Student ordering</a:t>
            </a:r>
          </a:p>
          <a:p>
            <a:pPr lvl="2" eaLnBrk="1" hangingPunct="1">
              <a:lnSpc>
                <a:spcPct val="10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It does not implement </a:t>
            </a:r>
            <a:r>
              <a:rPr lang="en-GB" b="1">
                <a:latin typeface="Courier New" charset="0"/>
                <a:ea typeface="Lucida Sans Unicode" charset="0"/>
                <a:cs typeface="Lucida Sans Unicode" charset="0"/>
              </a:rPr>
              <a:t>Comparable&lt;MasterStudent&gt;</a:t>
            </a:r>
          </a:p>
          <a:p>
            <a:pPr lvl="2" eaLnBrk="1" hangingPunct="1">
              <a:lnSpc>
                <a:spcPct val="103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>
                <a:latin typeface="Lucida Sans Unicode" charset="0"/>
                <a:ea typeface="Lucida Sans Unicode" charset="0"/>
                <a:cs typeface="Lucida Sans Unicode" charset="0"/>
              </a:rPr>
              <a:t>But </a:t>
            </a:r>
            <a:r>
              <a:rPr lang="en-GB" b="1">
                <a:latin typeface="Courier New" charset="0"/>
                <a:ea typeface="Lucida Sans Unicode" charset="0"/>
                <a:cs typeface="Lucida Sans Unicode" charset="0"/>
              </a:rPr>
              <a:t>MasterStudent</a:t>
            </a: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 extends (indirectly) </a:t>
            </a:r>
            <a:r>
              <a:rPr lang="en-GB" b="1">
                <a:latin typeface="Courier New" charset="0"/>
                <a:ea typeface="Lucida Sans Unicode" charset="0"/>
                <a:cs typeface="Lucida Sans Unicode" charset="0"/>
              </a:rPr>
              <a:t>Comparable&lt;Student&gt;</a:t>
            </a:r>
          </a:p>
        </p:txBody>
      </p:sp>
      <p:sp>
        <p:nvSpPr>
          <p:cNvPr id="158724" name="Text Box 3"/>
          <p:cNvSpPr txBox="1">
            <a:spLocks noChangeArrowheads="1"/>
          </p:cNvSpPr>
          <p:nvPr/>
        </p:nvSpPr>
        <p:spPr bwMode="auto">
          <a:xfrm>
            <a:off x="1277938" y="1200150"/>
            <a:ext cx="58499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5000" rIns="90000" bIns="450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89000"/>
              </a:lnSpc>
            </a:pPr>
            <a:r>
              <a:rPr lang="en-GB" b="1">
                <a:solidFill>
                  <a:srgbClr val="000000"/>
                </a:solidFill>
                <a:latin typeface="Courier New" charset="0"/>
              </a:rPr>
              <a:t>T extends Comparable&lt;? super T&gt;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430713" y="1273175"/>
            <a:ext cx="1458912" cy="692150"/>
            <a:chOff x="2791" y="802"/>
            <a:chExt cx="919" cy="436"/>
          </a:xfrm>
        </p:grpSpPr>
        <p:sp>
          <p:nvSpPr>
            <p:cNvPr id="158731" name="Line 5"/>
            <p:cNvSpPr>
              <a:spLocks noChangeShapeType="1"/>
            </p:cNvSpPr>
            <p:nvPr/>
          </p:nvSpPr>
          <p:spPr bwMode="auto">
            <a:xfrm>
              <a:off x="3239" y="802"/>
              <a:ext cx="175" cy="152"/>
            </a:xfrm>
            <a:prstGeom prst="line">
              <a:avLst/>
            </a:prstGeom>
            <a:noFill/>
            <a:ln w="36720">
              <a:solidFill>
                <a:srgbClr val="FF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32" name="Text Box 6"/>
            <p:cNvSpPr txBox="1">
              <a:spLocks noChangeArrowheads="1"/>
            </p:cNvSpPr>
            <p:nvPr/>
          </p:nvSpPr>
          <p:spPr bwMode="auto">
            <a:xfrm>
              <a:off x="2791" y="977"/>
              <a:ext cx="92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5000" rIns="90000" bIns="45000">
              <a:spAutoFit/>
            </a:bodyPr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lnSpc>
                  <a:spcPct val="89000"/>
                </a:lnSpc>
              </a:pPr>
              <a:r>
                <a:rPr lang="en-GB" b="1">
                  <a:solidFill>
                    <a:srgbClr val="FF6633"/>
                  </a:solidFill>
                  <a:latin typeface="Courier New" charset="0"/>
                </a:rPr>
                <a:t>Student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63563" y="1273175"/>
            <a:ext cx="8404225" cy="728663"/>
            <a:chOff x="355" y="802"/>
            <a:chExt cx="5294" cy="459"/>
          </a:xfrm>
        </p:grpSpPr>
        <p:sp>
          <p:nvSpPr>
            <p:cNvPr id="158727" name="Line 8"/>
            <p:cNvSpPr>
              <a:spLocks noChangeShapeType="1"/>
            </p:cNvSpPr>
            <p:nvPr/>
          </p:nvSpPr>
          <p:spPr bwMode="auto">
            <a:xfrm>
              <a:off x="4169" y="802"/>
              <a:ext cx="175" cy="152"/>
            </a:xfrm>
            <a:prstGeom prst="line">
              <a:avLst/>
            </a:prstGeom>
            <a:noFill/>
            <a:ln w="36720">
              <a:solidFill>
                <a:srgbClr val="FF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28" name="Text Box 9"/>
            <p:cNvSpPr txBox="1">
              <a:spLocks noChangeArrowheads="1"/>
            </p:cNvSpPr>
            <p:nvPr/>
          </p:nvSpPr>
          <p:spPr bwMode="auto">
            <a:xfrm>
              <a:off x="4038" y="1000"/>
              <a:ext cx="1612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5000" rIns="90000" bIns="45000">
              <a:spAutoFit/>
            </a:bodyPr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lnSpc>
                  <a:spcPct val="89000"/>
                </a:lnSpc>
              </a:pPr>
              <a:r>
                <a:rPr lang="en-GB" b="1">
                  <a:solidFill>
                    <a:srgbClr val="FF6633"/>
                  </a:solidFill>
                  <a:latin typeface="Courier New" charset="0"/>
                </a:rPr>
                <a:t>MasterStudent</a:t>
              </a:r>
            </a:p>
          </p:txBody>
        </p:sp>
        <p:sp>
          <p:nvSpPr>
            <p:cNvPr id="158729" name="Line 10"/>
            <p:cNvSpPr>
              <a:spLocks noChangeShapeType="1"/>
            </p:cNvSpPr>
            <p:nvPr/>
          </p:nvSpPr>
          <p:spPr bwMode="auto">
            <a:xfrm>
              <a:off x="813" y="802"/>
              <a:ext cx="175" cy="152"/>
            </a:xfrm>
            <a:prstGeom prst="line">
              <a:avLst/>
            </a:prstGeom>
            <a:noFill/>
            <a:ln w="36720">
              <a:solidFill>
                <a:srgbClr val="FF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30" name="Text Box 11"/>
            <p:cNvSpPr txBox="1">
              <a:spLocks noChangeArrowheads="1"/>
            </p:cNvSpPr>
            <p:nvPr/>
          </p:nvSpPr>
          <p:spPr bwMode="auto">
            <a:xfrm>
              <a:off x="355" y="984"/>
              <a:ext cx="1612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5000" rIns="90000" bIns="45000">
              <a:spAutoFit/>
            </a:bodyPr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lnSpc>
                  <a:spcPct val="7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>
                <a:lnSpc>
                  <a:spcPct val="89000"/>
                </a:lnSpc>
              </a:pPr>
              <a:r>
                <a:rPr lang="en-GB" b="1">
                  <a:solidFill>
                    <a:srgbClr val="FF6633"/>
                  </a:solidFill>
                  <a:latin typeface="Courier New" charset="0"/>
                </a:rPr>
                <a:t>MasterStudent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Segnaposto numero diapositiva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342F464D-7A46-8847-80C3-FE0A914961AE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58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6077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Custom ordering (alternative)</a:t>
            </a:r>
          </a:p>
        </p:txBody>
      </p:sp>
      <p:sp>
        <p:nvSpPr>
          <p:cNvPr id="160771" name="Rectangle 2"/>
          <p:cNvSpPr>
            <a:spLocks noChangeArrowheads="1"/>
          </p:cNvSpPr>
          <p:nvPr/>
        </p:nvSpPr>
        <p:spPr bwMode="auto">
          <a:xfrm>
            <a:off x="398463" y="1639888"/>
            <a:ext cx="8547100" cy="3725862"/>
          </a:xfrm>
          <a:prstGeom prst="rect">
            <a:avLst/>
          </a:prstGeom>
          <a:solidFill>
            <a:srgbClr val="FDEADA"/>
          </a:solidFill>
          <a:ln w="12600">
            <a:solidFill>
              <a:srgbClr val="E46C0A"/>
            </a:solidFill>
            <a:miter lim="800000"/>
            <a:headEnd/>
            <a:tailEnd/>
          </a:ln>
          <a:effectLst/>
        </p:spPr>
        <p:txBody>
          <a:bodyPr wrap="none" lIns="96120" tIns="46800" rIns="96120" bIns="46800" anchor="ctr"/>
          <a:lstStyle/>
          <a:p>
            <a:pPr>
              <a:lnSpc>
                <a:spcPct val="89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List students = new </a:t>
            </a: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LinkedList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students.add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Student</a:t>
            </a:r>
            <a:r>
              <a:rPr lang="en-GB" sz="22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"</a:t>
            </a:r>
            <a:r>
              <a:rPr lang="en-GB" sz="22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Mary”,"Smith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",34621));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students.add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Student("</a:t>
            </a:r>
            <a:r>
              <a:rPr lang="en-GB" sz="22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Alice”,"Knight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",13985));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2200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students.add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(new Student("</a:t>
            </a:r>
            <a:r>
              <a:rPr lang="en-GB" sz="2200" b="1" dirty="0" smtClean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Joe","Smith</a:t>
            </a:r>
            <a:r>
              <a:rPr lang="en-GB" sz="2200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",95635));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2200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Collections.</a:t>
            </a:r>
            <a:r>
              <a:rPr lang="en-GB" b="1" dirty="0" err="1">
                <a:solidFill>
                  <a:srgbClr val="FF6633"/>
                </a:solidFill>
                <a:latin typeface="Courier New" charset="0"/>
                <a:cs typeface="Lucida Sans Unicode" charset="0"/>
              </a:rPr>
              <a:t>sort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(students); </a:t>
            </a:r>
            <a:r>
              <a:rPr lang="en-GB" b="1" dirty="0">
                <a:solidFill>
                  <a:srgbClr val="00AE00"/>
                </a:solidFill>
                <a:latin typeface="Courier New" charset="0"/>
                <a:cs typeface="Lucida Sans Unicode" charset="0"/>
              </a:rPr>
              <a:t>// sort by name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b="1" dirty="0">
              <a:solidFill>
                <a:srgbClr val="000000"/>
              </a:solidFill>
              <a:latin typeface="Courier New" charset="0"/>
              <a:cs typeface="Lucida Sans Unicode" charset="0"/>
            </a:endParaRP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 err="1">
                <a:solidFill>
                  <a:srgbClr val="000000"/>
                </a:solidFill>
                <a:latin typeface="Courier New" charset="0"/>
                <a:cs typeface="Lucida Sans Unicode" charset="0"/>
              </a:rPr>
              <a:t>Collections.</a:t>
            </a:r>
            <a:r>
              <a:rPr lang="en-GB" b="1" dirty="0" err="1">
                <a:solidFill>
                  <a:srgbClr val="FF6633"/>
                </a:solidFill>
                <a:latin typeface="Courier New" charset="0"/>
                <a:cs typeface="Lucida Sans Unicode" charset="0"/>
              </a:rPr>
              <a:t>sort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(students, </a:t>
            </a:r>
          </a:p>
          <a:p>
            <a:pPr>
              <a:lnSpc>
                <a:spcPct val="80000"/>
              </a:lnSpc>
              <a:buFont typeface="Courier New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	new </a:t>
            </a:r>
            <a:r>
              <a:rPr lang="en-GB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StudentIDComparator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cs typeface="Lucida Sans Unicode" charset="0"/>
              </a:rPr>
              <a:t>()); </a:t>
            </a:r>
            <a:r>
              <a:rPr lang="en-GB" b="1" dirty="0">
                <a:solidFill>
                  <a:srgbClr val="00AE00"/>
                </a:solidFill>
                <a:latin typeface="Courier New" charset="0"/>
                <a:cs typeface="Lucida Sans Unicode" charset="0"/>
              </a:rPr>
              <a:t>// sort by ID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A516FDEF-A417-8C4C-A4D5-856AD12023D7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59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6281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Search</a:t>
            </a:r>
          </a:p>
        </p:txBody>
      </p:sp>
      <p:sp>
        <p:nvSpPr>
          <p:cNvPr id="16281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602928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450"/>
              </a:spcBef>
              <a:spcAft>
                <a:spcPts val="113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&lt;T&gt; </a:t>
            </a:r>
            <a:r>
              <a:rPr lang="en-GB" sz="2400" b="1" dirty="0" err="1">
                <a:solidFill>
                  <a:schemeClr val="tx1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sz="24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2400" b="1" dirty="0" err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binarySearch</a:t>
            </a:r>
            <a:r>
              <a:rPr lang="en-GB" sz="2400" b="1" dirty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(List&lt;? extends Comparable&lt;? super T&gt;&gt; l, T key)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Searches the specified object 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List must be sorted into ascending order according to natural ordering</a:t>
            </a:r>
          </a:p>
          <a:p>
            <a:pPr eaLnBrk="1" hangingPunct="1">
              <a:lnSpc>
                <a:spcPct val="100000"/>
              </a:lnSpc>
              <a:spcBef>
                <a:spcPts val="450"/>
              </a:spcBef>
              <a:spcAft>
                <a:spcPts val="113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&lt;T&gt; </a:t>
            </a:r>
            <a:r>
              <a:rPr lang="en-GB" sz="2400" b="1" dirty="0" err="1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int</a:t>
            </a:r>
            <a:r>
              <a:rPr lang="en-GB" sz="2400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 </a:t>
            </a:r>
            <a:r>
              <a:rPr lang="en-GB" sz="2400" b="1" dirty="0" err="1" smtClean="0">
                <a:solidFill>
                  <a:srgbClr val="FF6600"/>
                </a:solidFill>
                <a:latin typeface="Courier New" charset="0"/>
                <a:cs typeface="Lucida Sans Unicode" charset="0"/>
              </a:rPr>
              <a:t>binarySearch</a:t>
            </a:r>
            <a:r>
              <a:rPr lang="en-GB" sz="2400" b="1" dirty="0" smtClean="0">
                <a:solidFill>
                  <a:schemeClr val="tx1"/>
                </a:solidFill>
                <a:latin typeface="Courier New" charset="0"/>
                <a:cs typeface="Lucida Sans Unicode" charset="0"/>
              </a:rPr>
              <a:t>(List&lt;? extends T&gt; l, T key, Comparator&lt;? super T&gt; c)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 smtClean="0">
                <a:latin typeface="Lucida Sans Unicode" charset="0"/>
                <a:ea typeface="Lucida Sans Unicode" charset="0"/>
                <a:cs typeface="Lucida Sans Unicode" charset="0"/>
              </a:rPr>
              <a:t>Searches </a:t>
            </a: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the specified object 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List must be sorted into ascending order according to the specified comparator 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Algorithms - Arrays</a:t>
            </a:r>
          </a:p>
        </p:txBody>
      </p:sp>
      <p:sp>
        <p:nvSpPr>
          <p:cNvPr id="16486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cs typeface="Lucida Sans Unicode" charset="0"/>
              </a:rPr>
              <a:t>Static methods of </a:t>
            </a:r>
            <a:r>
              <a:rPr lang="en-GB" b="1" dirty="0" err="1">
                <a:solidFill>
                  <a:srgbClr val="FF6600"/>
                </a:solidFill>
                <a:latin typeface="Courier New"/>
                <a:cs typeface="Courier New"/>
              </a:rPr>
              <a:t>java.util.Arrays</a:t>
            </a:r>
            <a:r>
              <a:rPr lang="en-GB" dirty="0">
                <a:latin typeface="Lucida Sans Unicode" charset="0"/>
                <a:cs typeface="Lucida Sans Unicode" charset="0"/>
              </a:rPr>
              <a:t> class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>
                <a:latin typeface="Lucida Sans Unicode" charset="0"/>
                <a:ea typeface="Lucida Sans Unicode" charset="0"/>
                <a:cs typeface="Lucida Sans Unicode" charset="0"/>
              </a:rPr>
              <a:t>Work on object arrays</a:t>
            </a:r>
          </a:p>
          <a:p>
            <a:pPr lvl="1" eaLnBrk="1" hangingPunct="1">
              <a:lnSpc>
                <a:spcPct val="100000"/>
              </a:lnSpc>
              <a:buFont typeface="Wingdings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>
                <a:latin typeface="Courier New"/>
                <a:cs typeface="Courier New"/>
              </a:rPr>
              <a:t>sort</a:t>
            </a:r>
            <a:r>
              <a:rPr lang="en-GB" dirty="0">
                <a:latin typeface="Lucida Sans Unicode" charset="0"/>
                <a:cs typeface="Lucida Sans Unicode" charset="0"/>
              </a:rPr>
              <a:t>() </a:t>
            </a:r>
          </a:p>
          <a:p>
            <a:pPr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 err="1">
                <a:latin typeface="Courier New"/>
                <a:cs typeface="Courier New"/>
              </a:rPr>
              <a:t>binarySearch</a:t>
            </a:r>
            <a:r>
              <a:rPr lang="en-GB" dirty="0">
                <a:latin typeface="Lucida Sans Unicode" charset="0"/>
                <a:cs typeface="Lucida Sans Unicode" charset="0"/>
              </a:rPr>
              <a:t>()</a:t>
            </a:r>
          </a:p>
        </p:txBody>
      </p:sp>
      <p:sp>
        <p:nvSpPr>
          <p:cNvPr id="164865" name="Segnaposto numero diapositiva 5"/>
          <p:cNvSpPr>
            <a:spLocks noGrp="1"/>
          </p:cNvSpPr>
          <p:nvPr>
            <p:ph type="sldNum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6B0928E0-40B7-4E46-94CC-F51C892489D1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60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fld id="{76215B07-1427-6B44-A7AD-77BD0DC137D2}" type="slidenum">
              <a:rPr lang="en-GB" sz="1200">
                <a:solidFill>
                  <a:srgbClr val="000000"/>
                </a:solidFill>
                <a:latin typeface="Lucida Sans Unicode" charset="0"/>
              </a:rPr>
              <a:pPr eaLnBrk="1" hangingPunct="1"/>
              <a:t>61</a:t>
            </a:fld>
            <a:endParaRPr lang="en-GB" sz="1200">
              <a:solidFill>
                <a:srgbClr val="000000"/>
              </a:solidFill>
              <a:latin typeface="Lucida Sans Unicode" charset="0"/>
            </a:endParaRPr>
          </a:p>
        </p:txBody>
      </p:sp>
      <p:sp>
        <p:nvSpPr>
          <p:cNvPr id="16691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10600" cy="9144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>
                <a:latin typeface="Lucida Sans Unicode" charset="0"/>
                <a:cs typeface="Lucida Sans Unicode" charset="0"/>
              </a:rPr>
              <a:t>Search - Arrays</a:t>
            </a:r>
          </a:p>
        </p:txBody>
      </p:sp>
      <p:sp>
        <p:nvSpPr>
          <p:cNvPr id="16691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00"/>
            <a:ext cx="8229600" cy="4800600"/>
          </a:xfrm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450"/>
              </a:spcBef>
              <a:spcAft>
                <a:spcPts val="113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int binarySearch(Object[] a, Object key)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Searches the specified object 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Array must be sorted into ascending order according to natural ordering</a:t>
            </a:r>
          </a:p>
          <a:p>
            <a:pPr eaLnBrk="1" hangingPunct="1">
              <a:lnSpc>
                <a:spcPct val="100000"/>
              </a:lnSpc>
              <a:spcBef>
                <a:spcPts val="450"/>
              </a:spcBef>
              <a:spcAft>
                <a:spcPts val="113"/>
              </a:spcAft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400" b="1">
                <a:solidFill>
                  <a:srgbClr val="FF6600"/>
                </a:solidFill>
                <a:latin typeface="Courier New" charset="0"/>
                <a:cs typeface="Lucida Sans Unicode" charset="0"/>
              </a:rPr>
              <a:t>int binarySearch(Object[] a, Object key, Comparator c)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Searches the specified object </a:t>
            </a:r>
          </a:p>
          <a:p>
            <a:pPr lvl="1" eaLnBrk="1" hangingPunct="1">
              <a:lnSpc>
                <a:spcPct val="10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>
                <a:latin typeface="Lucida Sans Unicode" charset="0"/>
                <a:ea typeface="Lucida Sans Unicode" charset="0"/>
                <a:cs typeface="Lucida Sans Unicode" charset="0"/>
              </a:rPr>
              <a:t>Array must be sorted into ascending order according to the specified comparator </a:t>
            </a: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Wrap-up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collections framework includes interfaces and classes for containers</a:t>
            </a:r>
          </a:p>
          <a:p>
            <a:r>
              <a:rPr lang="en-US" dirty="0" smtClean="0"/>
              <a:t>There are two main families</a:t>
            </a:r>
          </a:p>
          <a:p>
            <a:pPr lvl="1"/>
            <a:r>
              <a:rPr lang="en-US" dirty="0" smtClean="0"/>
              <a:t>Group containers</a:t>
            </a:r>
          </a:p>
          <a:p>
            <a:pPr lvl="1"/>
            <a:r>
              <a:rPr lang="en-US" dirty="0" smtClean="0"/>
              <a:t>Associative containers</a:t>
            </a:r>
          </a:p>
          <a:p>
            <a:r>
              <a:rPr lang="en-US" dirty="0" smtClean="0"/>
              <a:t>All the components of the framework are defined as generic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2522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a di Office">
      <a:majorFont>
        <a:latin typeface="Lucida Sans Unicode"/>
        <a:ea typeface=""/>
        <a:cs typeface="Lucida Sans Unicode"/>
      </a:majorFont>
      <a:minorFont>
        <a:latin typeface="Lucida Sans Unicode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DEADA"/>
        </a:solidFill>
        <a:ln w="9525" cap="flat" cmpd="sng" algn="ctr">
          <a:solidFill>
            <a:srgbClr val="E46C0A"/>
          </a:solidFill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457200" rtl="0" eaLnBrk="1" fontAlgn="base" latinLnBrk="0" hangingPunct="1">
          <a:lnSpc>
            <a:spcPct val="7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sz="2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+mn-lt"/>
            <a:cs typeface="Lucida Sans Unicode" pitchFamily="34" charset="0"/>
          </a:defRPr>
        </a:defPPr>
      </a:lstStyle>
    </a:spDef>
    <a:lnDef>
      <a:spPr bwMode="auto">
        <a:solidFill>
          <a:srgbClr val="00B8FF"/>
        </a:solidFill>
        <a:ln w="9525" cap="flat" cmpd="sng" algn="ctr">
          <a:solidFill>
            <a:srgbClr val="E46C0A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tx1"/>
            </a:solidFill>
            <a:latin typeface="+mn-lt"/>
          </a:defRPr>
        </a:defPPr>
      </a:lstStyle>
    </a:tx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a di Office">
      <a:majorFont>
        <a:latin typeface="Lucida Sans Unicode"/>
        <a:ea typeface=""/>
        <a:cs typeface="Lucida Sans Unicode"/>
      </a:majorFont>
      <a:minorFont>
        <a:latin typeface="Lucida Sans Unicode"/>
        <a:ea typeface="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7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cs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7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cs typeface="Lucida Sans Unicode" pitchFamily="34" charset="0"/>
          </a:defRPr>
        </a:defPPr>
      </a:lstStyle>
    </a:lnDef>
  </a:objectDefaults>
  <a:extraClrSchemeLst>
    <a:extraClrScheme>
      <a:clrScheme name="Tema di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i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i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spect">
    <a:dk1>
      <a:sysClr val="windowText" lastClr="000000"/>
    </a:dk1>
    <a:lt1>
      <a:sysClr val="window" lastClr="FFFFFF"/>
    </a:lt1>
    <a:dk2>
      <a:srgbClr val="323232"/>
    </a:dk2>
    <a:lt2>
      <a:srgbClr val="E3DED1"/>
    </a:lt2>
    <a:accent1>
      <a:srgbClr val="F07F09"/>
    </a:accent1>
    <a:accent2>
      <a:srgbClr val="9F2936"/>
    </a:accent2>
    <a:accent3>
      <a:srgbClr val="1B587C"/>
    </a:accent3>
    <a:accent4>
      <a:srgbClr val="4E8542"/>
    </a:accent4>
    <a:accent5>
      <a:srgbClr val="604878"/>
    </a:accent5>
    <a:accent6>
      <a:srgbClr val="C19859"/>
    </a:accent6>
    <a:hlink>
      <a:srgbClr val="6B9F25"/>
    </a:hlink>
    <a:folHlink>
      <a:srgbClr val="B26B02"/>
    </a:folHlink>
  </a:clrScheme>
  <a:fontScheme name="Tema di Office">
    <a:majorFont>
      <a:latin typeface="Lucida Sans Unicode"/>
      <a:ea typeface=""/>
      <a:cs typeface="Lucida Sans Unicode"/>
    </a:majorFont>
    <a:minorFont>
      <a:latin typeface="Lucida Sans Unicode"/>
      <a:ea typeface=""/>
      <a:cs typeface="Lucida Sans Unicod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Aspect">
    <a:dk1>
      <a:sysClr val="windowText" lastClr="000000"/>
    </a:dk1>
    <a:lt1>
      <a:sysClr val="window" lastClr="FFFFFF"/>
    </a:lt1>
    <a:dk2>
      <a:srgbClr val="323232"/>
    </a:dk2>
    <a:lt2>
      <a:srgbClr val="E3DED1"/>
    </a:lt2>
    <a:accent1>
      <a:srgbClr val="F07F09"/>
    </a:accent1>
    <a:accent2>
      <a:srgbClr val="9F2936"/>
    </a:accent2>
    <a:accent3>
      <a:srgbClr val="1B587C"/>
    </a:accent3>
    <a:accent4>
      <a:srgbClr val="4E8542"/>
    </a:accent4>
    <a:accent5>
      <a:srgbClr val="604878"/>
    </a:accent5>
    <a:accent6>
      <a:srgbClr val="C19859"/>
    </a:accent6>
    <a:hlink>
      <a:srgbClr val="6B9F25"/>
    </a:hlink>
    <a:folHlink>
      <a:srgbClr val="B26B02"/>
    </a:folHlink>
  </a:clrScheme>
  <a:fontScheme name="Tema di Office">
    <a:majorFont>
      <a:latin typeface="Lucida Sans Unicode"/>
      <a:ea typeface=""/>
      <a:cs typeface="Lucida Sans Unicode"/>
    </a:majorFont>
    <a:minorFont>
      <a:latin typeface="Lucida Sans Unicode"/>
      <a:ea typeface=""/>
      <a:cs typeface="Lucida Sans Unicod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Aspect">
    <a:dk1>
      <a:sysClr val="windowText" lastClr="000000"/>
    </a:dk1>
    <a:lt1>
      <a:sysClr val="window" lastClr="FFFFFF"/>
    </a:lt1>
    <a:dk2>
      <a:srgbClr val="323232"/>
    </a:dk2>
    <a:lt2>
      <a:srgbClr val="E3DED1"/>
    </a:lt2>
    <a:accent1>
      <a:srgbClr val="F07F09"/>
    </a:accent1>
    <a:accent2>
      <a:srgbClr val="9F2936"/>
    </a:accent2>
    <a:accent3>
      <a:srgbClr val="1B587C"/>
    </a:accent3>
    <a:accent4>
      <a:srgbClr val="4E8542"/>
    </a:accent4>
    <a:accent5>
      <a:srgbClr val="604878"/>
    </a:accent5>
    <a:accent6>
      <a:srgbClr val="C19859"/>
    </a:accent6>
    <a:hlink>
      <a:srgbClr val="6B9F25"/>
    </a:hlink>
    <a:folHlink>
      <a:srgbClr val="B26B02"/>
    </a:folHlink>
  </a:clrScheme>
  <a:fontScheme name="Tema di Office">
    <a:majorFont>
      <a:latin typeface="Lucida Sans Unicode"/>
      <a:ea typeface=""/>
      <a:cs typeface="Lucida Sans Unicode"/>
    </a:majorFont>
    <a:minorFont>
      <a:latin typeface="Lucida Sans Unicode"/>
      <a:ea typeface=""/>
      <a:cs typeface="Lucida Sans Unicode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45942</TotalTime>
  <Words>2751</Words>
  <Application>Microsoft Macintosh PowerPoint</Application>
  <PresentationFormat>On-screen Show (4:3)</PresentationFormat>
  <Paragraphs>601</Paragraphs>
  <Slides>62</Slides>
  <Notes>55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64" baseType="lpstr">
      <vt:lpstr>Tema di Office</vt:lpstr>
      <vt:lpstr>1_Tema di Office</vt:lpstr>
      <vt:lpstr>Java Collections Framework</vt:lpstr>
      <vt:lpstr>Licensing Note</vt:lpstr>
      <vt:lpstr>Framework</vt:lpstr>
      <vt:lpstr>Interfaces</vt:lpstr>
      <vt:lpstr>Implementations</vt:lpstr>
      <vt:lpstr>Internals</vt:lpstr>
      <vt:lpstr>Group containers (Collections)</vt:lpstr>
      <vt:lpstr>Collection</vt:lpstr>
      <vt:lpstr>Collection interface</vt:lpstr>
      <vt:lpstr>Collection example</vt:lpstr>
      <vt:lpstr>List</vt:lpstr>
      <vt:lpstr>List interface</vt:lpstr>
      <vt:lpstr>List implementations</vt:lpstr>
      <vt:lpstr>List implementations - Get</vt:lpstr>
      <vt:lpstr>List Implementations - Add</vt:lpstr>
      <vt:lpstr>List Implementations - Add</vt:lpstr>
      <vt:lpstr>List implementation - Models</vt:lpstr>
      <vt:lpstr>List implementations</vt:lpstr>
      <vt:lpstr>Example I</vt:lpstr>
      <vt:lpstr>Example II</vt:lpstr>
      <vt:lpstr>Example III</vt:lpstr>
      <vt:lpstr>Queue interface</vt:lpstr>
      <vt:lpstr>Queue implementations</vt:lpstr>
      <vt:lpstr>Queue example</vt:lpstr>
      <vt:lpstr>Set interface</vt:lpstr>
      <vt:lpstr>SortedSet interface</vt:lpstr>
      <vt:lpstr>Set implementations</vt:lpstr>
      <vt:lpstr>Note on sorted collections</vt:lpstr>
      <vt:lpstr>Generic collections</vt:lpstr>
      <vt:lpstr>Object list - excerpt</vt:lpstr>
      <vt:lpstr>Example</vt:lpstr>
      <vt:lpstr>Iterators</vt:lpstr>
      <vt:lpstr>Iterable interface</vt:lpstr>
      <vt:lpstr>Iterators and iteration</vt:lpstr>
      <vt:lpstr>Iterator</vt:lpstr>
      <vt:lpstr>Iterator examples</vt:lpstr>
      <vt:lpstr>Iterator examples</vt:lpstr>
      <vt:lpstr>Iterator examples (until Java 1.4)</vt:lpstr>
      <vt:lpstr>Iterable forEach </vt:lpstr>
      <vt:lpstr>Note well</vt:lpstr>
      <vt:lpstr>Delete</vt:lpstr>
      <vt:lpstr>Delete (cont’d)</vt:lpstr>
      <vt:lpstr>Add</vt:lpstr>
      <vt:lpstr>Add (cont’d)</vt:lpstr>
      <vt:lpstr>Associative containers (Maps)</vt:lpstr>
      <vt:lpstr>Map</vt:lpstr>
      <vt:lpstr>Map interface</vt:lpstr>
      <vt:lpstr>Map example</vt:lpstr>
      <vt:lpstr>SortedMap interface</vt:lpstr>
      <vt:lpstr>Map implementations</vt:lpstr>
      <vt:lpstr>HashMap</vt:lpstr>
      <vt:lpstr>Using HashMap</vt:lpstr>
      <vt:lpstr>TreeMap</vt:lpstr>
      <vt:lpstr>Algorithms</vt:lpstr>
      <vt:lpstr>Algorithms</vt:lpstr>
      <vt:lpstr>sort() method</vt:lpstr>
      <vt:lpstr>Sort generic</vt:lpstr>
      <vt:lpstr>Custom ordering (alternative)</vt:lpstr>
      <vt:lpstr>Search</vt:lpstr>
      <vt:lpstr>Algorithms - Arrays</vt:lpstr>
      <vt:lpstr>Search - Arrays</vt:lpstr>
      <vt:lpstr>Wrap-up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Collection Framework</dc:title>
  <cp:lastModifiedBy>Marco Torchiano</cp:lastModifiedBy>
  <cp:revision>213</cp:revision>
  <cp:lastPrinted>2015-04-15T11:03:59Z</cp:lastPrinted>
  <dcterms:created xsi:type="dcterms:W3CDTF">2011-12-07T09:48:11Z</dcterms:created>
  <dcterms:modified xsi:type="dcterms:W3CDTF">2017-04-26T07:52:28Z</dcterms:modified>
</cp:coreProperties>
</file>