
<file path=[Content_Types].xml><?xml version="1.0" encoding="utf-8"?>
<Types xmlns="http://schemas.openxmlformats.org/package/2006/content-types">
  <Default Extension="xml" ContentType="application/xml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</p:sldMasterIdLst>
  <p:notesMasterIdLst>
    <p:notesMasterId r:id="rId70"/>
  </p:notesMasterIdLst>
  <p:handoutMasterIdLst>
    <p:handoutMasterId r:id="rId71"/>
  </p:handoutMasterIdLst>
  <p:sldIdLst>
    <p:sldId id="334" r:id="rId3"/>
    <p:sldId id="303" r:id="rId4"/>
    <p:sldId id="257" r:id="rId5"/>
    <p:sldId id="329" r:id="rId6"/>
    <p:sldId id="330" r:id="rId7"/>
    <p:sldId id="335" r:id="rId8"/>
    <p:sldId id="332" r:id="rId9"/>
    <p:sldId id="331" r:id="rId10"/>
    <p:sldId id="262" r:id="rId11"/>
    <p:sldId id="263" r:id="rId12"/>
    <p:sldId id="307" r:id="rId13"/>
    <p:sldId id="308" r:id="rId14"/>
    <p:sldId id="264" r:id="rId15"/>
    <p:sldId id="305" r:id="rId16"/>
    <p:sldId id="306" r:id="rId17"/>
    <p:sldId id="290" r:id="rId18"/>
    <p:sldId id="274" r:id="rId19"/>
    <p:sldId id="336" r:id="rId20"/>
    <p:sldId id="310" r:id="rId21"/>
    <p:sldId id="337" r:id="rId22"/>
    <p:sldId id="266" r:id="rId23"/>
    <p:sldId id="268" r:id="rId24"/>
    <p:sldId id="338" r:id="rId25"/>
    <p:sldId id="339" r:id="rId26"/>
    <p:sldId id="340" r:id="rId27"/>
    <p:sldId id="341" r:id="rId28"/>
    <p:sldId id="311" r:id="rId29"/>
    <p:sldId id="269" r:id="rId30"/>
    <p:sldId id="284" r:id="rId31"/>
    <p:sldId id="283" r:id="rId32"/>
    <p:sldId id="270" r:id="rId33"/>
    <p:sldId id="342" r:id="rId34"/>
    <p:sldId id="272" r:id="rId35"/>
    <p:sldId id="343" r:id="rId36"/>
    <p:sldId id="333" r:id="rId37"/>
    <p:sldId id="271" r:id="rId38"/>
    <p:sldId id="344" r:id="rId39"/>
    <p:sldId id="346" r:id="rId40"/>
    <p:sldId id="347" r:id="rId41"/>
    <p:sldId id="324" r:id="rId42"/>
    <p:sldId id="323" r:id="rId43"/>
    <p:sldId id="289" r:id="rId44"/>
    <p:sldId id="276" r:id="rId45"/>
    <p:sldId id="277" r:id="rId46"/>
    <p:sldId id="278" r:id="rId47"/>
    <p:sldId id="279" r:id="rId48"/>
    <p:sldId id="280" r:id="rId49"/>
    <p:sldId id="348" r:id="rId50"/>
    <p:sldId id="281" r:id="rId51"/>
    <p:sldId id="282" r:id="rId52"/>
    <p:sldId id="291" r:id="rId53"/>
    <p:sldId id="292" r:id="rId54"/>
    <p:sldId id="304" r:id="rId55"/>
    <p:sldId id="312" r:id="rId56"/>
    <p:sldId id="315" r:id="rId57"/>
    <p:sldId id="327" r:id="rId58"/>
    <p:sldId id="313" r:id="rId59"/>
    <p:sldId id="316" r:id="rId60"/>
    <p:sldId id="328" r:id="rId61"/>
    <p:sldId id="317" r:id="rId62"/>
    <p:sldId id="318" r:id="rId63"/>
    <p:sldId id="319" r:id="rId64"/>
    <p:sldId id="320" r:id="rId65"/>
    <p:sldId id="325" r:id="rId66"/>
    <p:sldId id="326" r:id="rId67"/>
    <p:sldId id="321" r:id="rId68"/>
    <p:sldId id="322" r:id="rId69"/>
  </p:sldIdLst>
  <p:sldSz cx="9144000" cy="6858000" type="screen4x3"/>
  <p:notesSz cx="7315200" cy="9601200"/>
  <p:defaultTextStyle>
    <a:defPPr>
      <a:defRPr lang="en-GB"/>
    </a:defPPr>
    <a:lvl1pPr algn="l" defTabSz="413201" rtl="0" fontAlgn="base">
      <a:lnSpc>
        <a:spcPct val="89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charset="0"/>
      <a:defRPr sz="2200" kern="1200">
        <a:solidFill>
          <a:schemeClr val="bg1"/>
        </a:solidFill>
        <a:latin typeface="Lucida Sans Unicode" charset="0"/>
        <a:ea typeface="ＭＳ Ｐゴシック" charset="0"/>
        <a:cs typeface="ＭＳ Ｐゴシック" charset="0"/>
      </a:defRPr>
    </a:lvl1pPr>
    <a:lvl2pPr marL="413201" indent="1440" algn="l" defTabSz="413201" rtl="0" fontAlgn="base">
      <a:lnSpc>
        <a:spcPct val="89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charset="0"/>
      <a:defRPr sz="2200" kern="1200">
        <a:solidFill>
          <a:schemeClr val="bg1"/>
        </a:solidFill>
        <a:latin typeface="Lucida Sans Unicode" charset="0"/>
        <a:ea typeface="ＭＳ Ｐゴシック" charset="0"/>
        <a:cs typeface="ＭＳ Ｐゴシック" charset="0"/>
      </a:defRPr>
    </a:lvl2pPr>
    <a:lvl3pPr marL="827841" indent="1440" algn="l" defTabSz="413201" rtl="0" fontAlgn="base">
      <a:lnSpc>
        <a:spcPct val="89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charset="0"/>
      <a:defRPr sz="2200" kern="1200">
        <a:solidFill>
          <a:schemeClr val="bg1"/>
        </a:solidFill>
        <a:latin typeface="Lucida Sans Unicode" charset="0"/>
        <a:ea typeface="ＭＳ Ｐゴシック" charset="0"/>
        <a:cs typeface="ＭＳ Ｐゴシック" charset="0"/>
      </a:defRPr>
    </a:lvl3pPr>
    <a:lvl4pPr marL="1242481" indent="1440" algn="l" defTabSz="413201" rtl="0" fontAlgn="base">
      <a:lnSpc>
        <a:spcPct val="89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charset="0"/>
      <a:defRPr sz="2200" kern="1200">
        <a:solidFill>
          <a:schemeClr val="bg1"/>
        </a:solidFill>
        <a:latin typeface="Lucida Sans Unicode" charset="0"/>
        <a:ea typeface="ＭＳ Ｐゴシック" charset="0"/>
        <a:cs typeface="ＭＳ Ｐゴシック" charset="0"/>
      </a:defRPr>
    </a:lvl4pPr>
    <a:lvl5pPr marL="1657121" indent="1440" algn="l" defTabSz="413201" rtl="0" fontAlgn="base">
      <a:lnSpc>
        <a:spcPct val="89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charset="0"/>
      <a:defRPr sz="2200" kern="1200">
        <a:solidFill>
          <a:schemeClr val="bg1"/>
        </a:solidFill>
        <a:latin typeface="Lucida Sans Unicode" charset="0"/>
        <a:ea typeface="ＭＳ Ｐゴシック" charset="0"/>
        <a:cs typeface="ＭＳ Ｐゴシック" charset="0"/>
      </a:defRPr>
    </a:lvl5pPr>
    <a:lvl6pPr marL="2073201" algn="l" defTabSz="414640" rtl="0" eaLnBrk="1" latinLnBrk="0" hangingPunct="1">
      <a:defRPr sz="2200" kern="1200">
        <a:solidFill>
          <a:schemeClr val="bg1"/>
        </a:solidFill>
        <a:latin typeface="Lucida Sans Unicode" charset="0"/>
        <a:ea typeface="ＭＳ Ｐゴシック" charset="0"/>
        <a:cs typeface="ＭＳ Ｐゴシック" charset="0"/>
      </a:defRPr>
    </a:lvl6pPr>
    <a:lvl7pPr marL="2487841" algn="l" defTabSz="414640" rtl="0" eaLnBrk="1" latinLnBrk="0" hangingPunct="1">
      <a:defRPr sz="2200" kern="1200">
        <a:solidFill>
          <a:schemeClr val="bg1"/>
        </a:solidFill>
        <a:latin typeface="Lucida Sans Unicode" charset="0"/>
        <a:ea typeface="ＭＳ Ｐゴシック" charset="0"/>
        <a:cs typeface="ＭＳ Ｐゴシック" charset="0"/>
      </a:defRPr>
    </a:lvl7pPr>
    <a:lvl8pPr marL="2902481" algn="l" defTabSz="414640" rtl="0" eaLnBrk="1" latinLnBrk="0" hangingPunct="1">
      <a:defRPr sz="2200" kern="1200">
        <a:solidFill>
          <a:schemeClr val="bg1"/>
        </a:solidFill>
        <a:latin typeface="Lucida Sans Unicode" charset="0"/>
        <a:ea typeface="ＭＳ Ｐゴシック" charset="0"/>
        <a:cs typeface="ＭＳ Ｐゴシック" charset="0"/>
      </a:defRPr>
    </a:lvl8pPr>
    <a:lvl9pPr marL="3317121" algn="l" defTabSz="414640" rtl="0" eaLnBrk="1" latinLnBrk="0" hangingPunct="1">
      <a:defRPr sz="2200" kern="1200">
        <a:solidFill>
          <a:schemeClr val="bg1"/>
        </a:solidFill>
        <a:latin typeface="Lucida Sans Unicode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/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776" y="-96"/>
      </p:cViewPr>
      <p:guideLst>
        <p:guide orient="horz" pos="1960"/>
        <p:guide pos="2612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63" Type="http://schemas.openxmlformats.org/officeDocument/2006/relationships/slide" Target="slides/slide61.xml"/><Relationship Id="rId64" Type="http://schemas.openxmlformats.org/officeDocument/2006/relationships/slide" Target="slides/slide62.xml"/><Relationship Id="rId65" Type="http://schemas.openxmlformats.org/officeDocument/2006/relationships/slide" Target="slides/slide63.xml"/><Relationship Id="rId66" Type="http://schemas.openxmlformats.org/officeDocument/2006/relationships/slide" Target="slides/slide64.xml"/><Relationship Id="rId67" Type="http://schemas.openxmlformats.org/officeDocument/2006/relationships/slide" Target="slides/slide65.xml"/><Relationship Id="rId68" Type="http://schemas.openxmlformats.org/officeDocument/2006/relationships/slide" Target="slides/slide66.xml"/><Relationship Id="rId69" Type="http://schemas.openxmlformats.org/officeDocument/2006/relationships/slide" Target="slides/slide6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70" Type="http://schemas.openxmlformats.org/officeDocument/2006/relationships/notesMaster" Target="notesMasters/notesMaster1.xml"/><Relationship Id="rId71" Type="http://schemas.openxmlformats.org/officeDocument/2006/relationships/handoutMaster" Target="handoutMasters/handoutMaster1.xml"/><Relationship Id="rId72" Type="http://schemas.openxmlformats.org/officeDocument/2006/relationships/printerSettings" Target="printerSettings/printerSettings1.bin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836026-CAB7-8A42-91A8-2C22B5E90241}" type="datetimeFigureOut">
              <a:rPr lang="en-US" smtClean="0"/>
              <a:t>12/04/17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22C7AF-5079-B041-A4ED-732ACB9CB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05604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AutoShape 1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36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26627" name="AutoShape 2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26628" name="AutoShape 3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26629" name="AutoShape 4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26630" name="AutoShape 5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26631" name="AutoShape 6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26632" name="AutoShape 7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26633" name="AutoShape 8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26634" name="AutoShape 9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26635" name="AutoShape 10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26636" name="AutoShape 11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26637" name="Rectangle 12"/>
          <p:cNvSpPr>
            <a:spLocks noChangeArrowheads="1"/>
          </p:cNvSpPr>
          <p:nvPr/>
        </p:nvSpPr>
        <p:spPr bwMode="auto">
          <a:xfrm>
            <a:off x="3170238" y="9124950"/>
            <a:ext cx="858837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7480" tIns="44280" rIns="87480" bIns="44280">
            <a:spAutoFit/>
          </a:bodyPr>
          <a:lstStyle/>
          <a:p>
            <a:pPr algn="ctr">
              <a:lnSpc>
                <a:spcPct val="9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>
                <a:solidFill>
                  <a:srgbClr val="000000"/>
                </a:solidFill>
                <a:latin typeface="Arial" charset="0"/>
              </a:rPr>
              <a:t>Pag. </a:t>
            </a:r>
            <a:fld id="{23128468-3DB3-7444-B034-FA6E1143B19B}" type="slidenum">
              <a:rPr lang="en-GB" sz="1200">
                <a:solidFill>
                  <a:srgbClr val="000000"/>
                </a:solidFill>
                <a:latin typeface="Arial" charset="0"/>
              </a:rPr>
              <a:pPr algn="ctr">
                <a:lnSpc>
                  <a:spcPct val="90000"/>
                </a:lnSpc>
                <a:buFont typeface="Arial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t>‹#›</a:t>
            </a:fld>
            <a:endParaRPr lang="en-GB" sz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6638" name="Rectangle 13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17638" y="846138"/>
            <a:ext cx="4464050" cy="3349625"/>
          </a:xfrm>
          <a:prstGeom prst="rect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086" name="Rectangle 14"/>
          <p:cNvSpPr>
            <a:spLocks noGrp="1" noChangeArrowheads="1"/>
          </p:cNvSpPr>
          <p:nvPr>
            <p:ph type="body"/>
          </p:nvPr>
        </p:nvSpPr>
        <p:spPr bwMode="auto">
          <a:xfrm>
            <a:off x="974725" y="4562475"/>
            <a:ext cx="5348288" cy="40259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360" tIns="44280" rIns="90360" bIns="44280" numCol="1" anchor="t" anchorCtr="0" compatLnSpc="1">
            <a:prstTxWarp prst="textNoShape">
              <a:avLst/>
            </a:prstTxWarp>
          </a:bodyPr>
          <a:lstStyle/>
          <a:p>
            <a:pPr lvl="0"/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30433937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13201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100" kern="1200">
        <a:solidFill>
          <a:srgbClr val="000000"/>
        </a:solidFill>
        <a:latin typeface="Times New Roman" pitchFamily="16" charset="0"/>
        <a:ea typeface="ＭＳ Ｐゴシック" pitchFamily="-110" charset="-128"/>
        <a:cs typeface="ＭＳ Ｐゴシック" pitchFamily="-110" charset="-128"/>
      </a:defRPr>
    </a:lvl1pPr>
    <a:lvl2pPr marL="673790" indent="-259151" algn="l" defTabSz="413201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100" kern="1200">
        <a:solidFill>
          <a:srgbClr val="000000"/>
        </a:solidFill>
        <a:latin typeface="Times New Roman" pitchFamily="16" charset="0"/>
        <a:ea typeface="ＭＳ Ｐゴシック" pitchFamily="-107" charset="-128"/>
        <a:cs typeface="+mn-cs"/>
      </a:defRPr>
    </a:lvl2pPr>
    <a:lvl3pPr marL="1036599" indent="-207320" algn="l" defTabSz="413201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100" kern="1200">
        <a:solidFill>
          <a:srgbClr val="000000"/>
        </a:solidFill>
        <a:latin typeface="Times New Roman" pitchFamily="16" charset="0"/>
        <a:ea typeface="ＭＳ Ｐゴシック" pitchFamily="-107" charset="-128"/>
        <a:cs typeface="+mn-cs"/>
      </a:defRPr>
    </a:lvl3pPr>
    <a:lvl4pPr marL="1451240" indent="-207320" algn="l" defTabSz="413201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100" kern="1200">
        <a:solidFill>
          <a:srgbClr val="000000"/>
        </a:solidFill>
        <a:latin typeface="Times New Roman" pitchFamily="16" charset="0"/>
        <a:ea typeface="ＭＳ Ｐゴシック" pitchFamily="-107" charset="-128"/>
        <a:cs typeface="+mn-cs"/>
      </a:defRPr>
    </a:lvl4pPr>
    <a:lvl5pPr marL="1865880" indent="-207320" algn="l" defTabSz="413201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100" kern="1200">
        <a:solidFill>
          <a:srgbClr val="000000"/>
        </a:solidFill>
        <a:latin typeface="Times New Roman" pitchFamily="16" charset="0"/>
        <a:ea typeface="ＭＳ Ｐゴシック" pitchFamily="-107" charset="-128"/>
        <a:cs typeface="+mn-cs"/>
      </a:defRPr>
    </a:lvl5pPr>
    <a:lvl6pPr marL="2072986" algn="l" defTabSz="829194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487583" algn="l" defTabSz="829194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902180" algn="l" defTabSz="829194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316777" algn="l" defTabSz="829194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1025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29699" name="Rectangle 1026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11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0" tIns="45710" rIns="91420" bIns="45710"/>
          <a:lstStyle>
            <a:lvl1pPr defTabSz="955675">
              <a:tabLst>
                <a:tab pos="720725" algn="l"/>
                <a:tab pos="1444625" algn="l"/>
                <a:tab pos="2168525" algn="l"/>
                <a:tab pos="28924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55675">
              <a:tabLst>
                <a:tab pos="720725" algn="l"/>
                <a:tab pos="1444625" algn="l"/>
                <a:tab pos="2168525" algn="l"/>
                <a:tab pos="28924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55675">
              <a:tabLst>
                <a:tab pos="720725" algn="l"/>
                <a:tab pos="1444625" algn="l"/>
                <a:tab pos="2168525" algn="l"/>
                <a:tab pos="28924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55675">
              <a:tabLst>
                <a:tab pos="720725" algn="l"/>
                <a:tab pos="1444625" algn="l"/>
                <a:tab pos="2168525" algn="l"/>
                <a:tab pos="28924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55675">
              <a:tabLst>
                <a:tab pos="720725" algn="l"/>
                <a:tab pos="1444625" algn="l"/>
                <a:tab pos="2168525" algn="l"/>
                <a:tab pos="28924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55675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0725" algn="l"/>
                <a:tab pos="1444625" algn="l"/>
                <a:tab pos="2168525" algn="l"/>
                <a:tab pos="28924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55675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0725" algn="l"/>
                <a:tab pos="1444625" algn="l"/>
                <a:tab pos="2168525" algn="l"/>
                <a:tab pos="28924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55675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0725" algn="l"/>
                <a:tab pos="1444625" algn="l"/>
                <a:tab pos="2168525" algn="l"/>
                <a:tab pos="28924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55675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0725" algn="l"/>
                <a:tab pos="1444625" algn="l"/>
                <a:tab pos="2168525" algn="l"/>
                <a:tab pos="28924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C7020F7A-D1D9-6744-B3BA-694639E1A141}" type="slidenum">
              <a:rPr lang="en-GB" sz="1200">
                <a:solidFill>
                  <a:srgbClr val="000000"/>
                </a:solidFill>
              </a:rPr>
              <a:pPr/>
              <a:t>2</a:t>
            </a:fld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273411" name="Text Box 1"/>
          <p:cNvSpPr txBox="1">
            <a:spLocks noChangeArrowheads="1"/>
          </p:cNvSpPr>
          <p:nvPr/>
        </p:nvSpPr>
        <p:spPr bwMode="auto">
          <a:xfrm>
            <a:off x="982663" y="720725"/>
            <a:ext cx="5349875" cy="360203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1420" tIns="45710" rIns="91420" bIns="45710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en-US" sz="2500"/>
          </a:p>
        </p:txBody>
      </p:sp>
      <p:sp>
        <p:nvSpPr>
          <p:cNvPr id="273412" name="Text Box 2"/>
          <p:cNvSpPr>
            <a:spLocks noGrp="1" noChangeArrowheads="1"/>
          </p:cNvSpPr>
          <p:nvPr>
            <p:ph type="body"/>
          </p:nvPr>
        </p:nvSpPr>
        <p:spPr>
          <a:xfrm>
            <a:off x="731838" y="4562475"/>
            <a:ext cx="5845175" cy="44069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4050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49875" cy="4029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4050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49875" cy="4029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4050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49875" cy="4029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4050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49875" cy="4029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4050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49875" cy="4029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4050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49875" cy="4029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545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49875" cy="4029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4050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49875" cy="4029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7305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4050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49875" cy="4029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545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7065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49875" cy="4029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5928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49875" cy="4029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5928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49875" cy="4029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5928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49875" cy="4029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5928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58371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49875" cy="4029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5928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6246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49875" cy="4029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5928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6246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49875" cy="4029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5928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49875" cy="4029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5928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6246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49875" cy="4029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5928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6246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49875" cy="4029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5928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64515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49875" cy="4029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5928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6246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49875" cy="4029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5928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6246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49875" cy="4029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5928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6246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49875" cy="4029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2463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5974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59400" cy="4037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2463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5769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59400" cy="4037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5928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7577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49875" cy="4029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57700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7782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49875" cy="4029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57700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79875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49875" cy="4029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57700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81923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49875" cy="4029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5928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83971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49875" cy="4029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5928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83971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49875" cy="4029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57700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8601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49875" cy="4029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57700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8806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49875" cy="4029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7305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7305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7305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440" y="2129984"/>
            <a:ext cx="7773120" cy="1470394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2321" y="3885528"/>
            <a:ext cx="6400800" cy="1752664"/>
          </a:xfrm>
        </p:spPr>
        <p:txBody>
          <a:bodyPr/>
          <a:lstStyle>
            <a:lvl1pPr marL="0" indent="0" algn="ctr">
              <a:buNone/>
              <a:defRPr/>
            </a:lvl1pPr>
            <a:lvl2pPr marL="414597" indent="0" algn="ctr">
              <a:buNone/>
              <a:defRPr/>
            </a:lvl2pPr>
            <a:lvl3pPr marL="829194" indent="0" algn="ctr">
              <a:buNone/>
              <a:defRPr/>
            </a:lvl3pPr>
            <a:lvl4pPr marL="1243791" indent="0" algn="ctr">
              <a:buNone/>
              <a:defRPr/>
            </a:lvl4pPr>
            <a:lvl5pPr marL="1658388" indent="0" algn="ctr">
              <a:buNone/>
              <a:defRPr/>
            </a:lvl5pPr>
            <a:lvl6pPr marL="2072986" indent="0" algn="ctr">
              <a:buNone/>
              <a:defRPr/>
            </a:lvl6pPr>
            <a:lvl7pPr marL="2487583" indent="0" algn="ctr">
              <a:buNone/>
              <a:defRPr/>
            </a:lvl7pPr>
            <a:lvl8pPr marL="2902180" indent="0" algn="ctr">
              <a:buNone/>
              <a:defRPr/>
            </a:lvl8pPr>
            <a:lvl9pPr marL="3316777" indent="0" algn="ctr">
              <a:buNone/>
              <a:defRPr/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49B927-5010-5D47-9EC8-1D06A272CB2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821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79DBD8-37C0-A548-B4F2-E1AF6CBDCB6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0023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880" y="4406866"/>
            <a:ext cx="7771680" cy="1362383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880" y="2906225"/>
            <a:ext cx="7771680" cy="1500638"/>
          </a:xfrm>
        </p:spPr>
        <p:txBody>
          <a:bodyPr anchor="b"/>
          <a:lstStyle>
            <a:lvl1pPr marL="0" indent="0">
              <a:buNone/>
              <a:defRPr sz="1800"/>
            </a:lvl1pPr>
            <a:lvl2pPr marL="414597" indent="0">
              <a:buNone/>
              <a:defRPr sz="1600"/>
            </a:lvl2pPr>
            <a:lvl3pPr marL="829194" indent="0">
              <a:buNone/>
              <a:defRPr sz="1500"/>
            </a:lvl3pPr>
            <a:lvl4pPr marL="1243791" indent="0">
              <a:buNone/>
              <a:defRPr sz="1300"/>
            </a:lvl4pPr>
            <a:lvl5pPr marL="1658388" indent="0">
              <a:buNone/>
              <a:defRPr sz="1300"/>
            </a:lvl5pPr>
            <a:lvl6pPr marL="2072986" indent="0">
              <a:buNone/>
              <a:defRPr sz="1300"/>
            </a:lvl6pPr>
            <a:lvl7pPr marL="2487583" indent="0">
              <a:buNone/>
              <a:defRPr sz="1300"/>
            </a:lvl7pPr>
            <a:lvl8pPr marL="2902180" indent="0">
              <a:buNone/>
              <a:defRPr sz="1300"/>
            </a:lvl8pPr>
            <a:lvl9pPr marL="3316777" indent="0">
              <a:buNone/>
              <a:defRPr sz="13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2B27D6-87A6-B142-9D4A-C176B5EBAE1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6614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120" y="1294696"/>
            <a:ext cx="4036320" cy="4798584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783680" y="1294696"/>
            <a:ext cx="4037760" cy="4798584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176501-9C3A-B04F-9A4E-F6BB525BA48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9257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922" y="275073"/>
            <a:ext cx="8229600" cy="1142039"/>
          </a:xfrm>
        </p:spPr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920" y="1535201"/>
            <a:ext cx="4039200" cy="639427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4597" indent="0">
              <a:buNone/>
              <a:defRPr sz="1800" b="1"/>
            </a:lvl2pPr>
            <a:lvl3pPr marL="829194" indent="0">
              <a:buNone/>
              <a:defRPr sz="1600" b="1"/>
            </a:lvl3pPr>
            <a:lvl4pPr marL="1243791" indent="0">
              <a:buNone/>
              <a:defRPr sz="1500" b="1"/>
            </a:lvl4pPr>
            <a:lvl5pPr marL="1658388" indent="0">
              <a:buNone/>
              <a:defRPr sz="1500" b="1"/>
            </a:lvl5pPr>
            <a:lvl6pPr marL="2072986" indent="0">
              <a:buNone/>
              <a:defRPr sz="1500" b="1"/>
            </a:lvl6pPr>
            <a:lvl7pPr marL="2487583" indent="0">
              <a:buNone/>
              <a:defRPr sz="1500" b="1"/>
            </a:lvl7pPr>
            <a:lvl8pPr marL="2902180" indent="0">
              <a:buNone/>
              <a:defRPr sz="1500" b="1"/>
            </a:lvl8pPr>
            <a:lvl9pPr marL="3316777" indent="0">
              <a:buNone/>
              <a:defRPr sz="15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920" y="2174628"/>
            <a:ext cx="4039200" cy="3951775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442" y="1535201"/>
            <a:ext cx="4042080" cy="639427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4597" indent="0">
              <a:buNone/>
              <a:defRPr sz="1800" b="1"/>
            </a:lvl2pPr>
            <a:lvl3pPr marL="829194" indent="0">
              <a:buNone/>
              <a:defRPr sz="1600" b="1"/>
            </a:lvl3pPr>
            <a:lvl4pPr marL="1243791" indent="0">
              <a:buNone/>
              <a:defRPr sz="1500" b="1"/>
            </a:lvl4pPr>
            <a:lvl5pPr marL="1658388" indent="0">
              <a:buNone/>
              <a:defRPr sz="1500" b="1"/>
            </a:lvl5pPr>
            <a:lvl6pPr marL="2072986" indent="0">
              <a:buNone/>
              <a:defRPr sz="1500" b="1"/>
            </a:lvl6pPr>
            <a:lvl7pPr marL="2487583" indent="0">
              <a:buNone/>
              <a:defRPr sz="1500" b="1"/>
            </a:lvl7pPr>
            <a:lvl8pPr marL="2902180" indent="0">
              <a:buNone/>
              <a:defRPr sz="1500" b="1"/>
            </a:lvl8pPr>
            <a:lvl9pPr marL="3316777" indent="0">
              <a:buNone/>
              <a:defRPr sz="15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442" y="2174628"/>
            <a:ext cx="4042080" cy="3951775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5F1765-0F9A-B146-A23B-79169A75FB7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5774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49FE87-EA75-B04A-BE80-4DE0520A656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590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967AB1-9899-7F49-84B0-7113B6834B1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0813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920" y="273629"/>
            <a:ext cx="3008160" cy="1160762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524" y="273632"/>
            <a:ext cx="5112000" cy="5852774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920" y="1434394"/>
            <a:ext cx="3008160" cy="4692013"/>
          </a:xfrm>
        </p:spPr>
        <p:txBody>
          <a:bodyPr/>
          <a:lstStyle>
            <a:lvl1pPr marL="0" indent="0">
              <a:buNone/>
              <a:defRPr sz="1300"/>
            </a:lvl1pPr>
            <a:lvl2pPr marL="414597" indent="0">
              <a:buNone/>
              <a:defRPr sz="1100"/>
            </a:lvl2pPr>
            <a:lvl3pPr marL="829194" indent="0">
              <a:buNone/>
              <a:defRPr sz="900"/>
            </a:lvl3pPr>
            <a:lvl4pPr marL="1243791" indent="0">
              <a:buNone/>
              <a:defRPr sz="800"/>
            </a:lvl4pPr>
            <a:lvl5pPr marL="1658388" indent="0">
              <a:buNone/>
              <a:defRPr sz="800"/>
            </a:lvl5pPr>
            <a:lvl6pPr marL="2072986" indent="0">
              <a:buNone/>
              <a:defRPr sz="800"/>
            </a:lvl6pPr>
            <a:lvl7pPr marL="2487583" indent="0">
              <a:buNone/>
              <a:defRPr sz="800"/>
            </a:lvl7pPr>
            <a:lvl8pPr marL="2902180" indent="0">
              <a:buNone/>
              <a:defRPr sz="800"/>
            </a:lvl8pPr>
            <a:lvl9pPr marL="3316777" indent="0">
              <a:buNone/>
              <a:defRPr sz="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024F9E-DD40-324D-8C17-75E29C661C9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7392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804" y="4800026"/>
            <a:ext cx="5486400" cy="567420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804" y="612065"/>
            <a:ext cx="5486400" cy="4115952"/>
          </a:xfrm>
        </p:spPr>
        <p:txBody>
          <a:bodyPr/>
          <a:lstStyle>
            <a:lvl1pPr marL="0" indent="0">
              <a:buNone/>
              <a:defRPr sz="2900"/>
            </a:lvl1pPr>
            <a:lvl2pPr marL="414597" indent="0">
              <a:buNone/>
              <a:defRPr sz="2500"/>
            </a:lvl2pPr>
            <a:lvl3pPr marL="829194" indent="0">
              <a:buNone/>
              <a:defRPr sz="2200"/>
            </a:lvl3pPr>
            <a:lvl4pPr marL="1243791" indent="0">
              <a:buNone/>
              <a:defRPr sz="1800"/>
            </a:lvl4pPr>
            <a:lvl5pPr marL="1658388" indent="0">
              <a:buNone/>
              <a:defRPr sz="1800"/>
            </a:lvl5pPr>
            <a:lvl6pPr marL="2072986" indent="0">
              <a:buNone/>
              <a:defRPr sz="1800"/>
            </a:lvl6pPr>
            <a:lvl7pPr marL="2487583" indent="0">
              <a:buNone/>
              <a:defRPr sz="1800"/>
            </a:lvl7pPr>
            <a:lvl8pPr marL="2902180" indent="0">
              <a:buNone/>
              <a:defRPr sz="1800"/>
            </a:lvl8pPr>
            <a:lvl9pPr marL="3316777" indent="0">
              <a:buNone/>
              <a:defRPr sz="1800"/>
            </a:lvl9pPr>
          </a:lstStyle>
          <a:p>
            <a:pPr lvl="0"/>
            <a:endParaRPr lang="it-IT" noProof="0" smtClean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804" y="5367444"/>
            <a:ext cx="5486400" cy="805044"/>
          </a:xfrm>
        </p:spPr>
        <p:txBody>
          <a:bodyPr/>
          <a:lstStyle>
            <a:lvl1pPr marL="0" indent="0">
              <a:buNone/>
              <a:defRPr sz="1300"/>
            </a:lvl1pPr>
            <a:lvl2pPr marL="414597" indent="0">
              <a:buNone/>
              <a:defRPr sz="1100"/>
            </a:lvl2pPr>
            <a:lvl3pPr marL="829194" indent="0">
              <a:buNone/>
              <a:defRPr sz="900"/>
            </a:lvl3pPr>
            <a:lvl4pPr marL="1243791" indent="0">
              <a:buNone/>
              <a:defRPr sz="800"/>
            </a:lvl4pPr>
            <a:lvl5pPr marL="1658388" indent="0">
              <a:buNone/>
              <a:defRPr sz="800"/>
            </a:lvl5pPr>
            <a:lvl6pPr marL="2072986" indent="0">
              <a:buNone/>
              <a:defRPr sz="800"/>
            </a:lvl6pPr>
            <a:lvl7pPr marL="2487583" indent="0">
              <a:buNone/>
              <a:defRPr sz="800"/>
            </a:lvl7pPr>
            <a:lvl8pPr marL="2902180" indent="0">
              <a:buNone/>
              <a:defRPr sz="800"/>
            </a:lvl8pPr>
            <a:lvl9pPr marL="3316777" indent="0">
              <a:buNone/>
              <a:defRPr sz="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24215F-5E59-6145-9935-081502BA022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9375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1E0F46-7D17-0244-A4CD-51032C725A4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8988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72960" y="-154097"/>
            <a:ext cx="2148480" cy="6247377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227520" y="-154097"/>
            <a:ext cx="6307200" cy="6247377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7A6961-34C3-134A-B7E5-00E64D6BD1D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02167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io sche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/>
            </a:lvl1pPr>
            <a:lvl2pPr marL="457059" indent="0">
              <a:buNone/>
              <a:defRPr/>
            </a:lvl2pPr>
            <a:lvl3pPr marL="914116" indent="0">
              <a:buNone/>
              <a:defRPr/>
            </a:lvl3pPr>
            <a:lvl4pPr marL="1371174" indent="0">
              <a:buNone/>
              <a:defRPr/>
            </a:lvl4pPr>
            <a:lvl5pPr marL="1828231" indent="0">
              <a:buNone/>
              <a:defRPr/>
            </a:lvl5pPr>
          </a:lstStyle>
          <a:p>
            <a:pPr lvl="0"/>
            <a:r>
              <a:rPr lang="it-IT" dirty="0" smtClean="0"/>
              <a:t>Fare clic per modificare stili del testo dello schema</a:t>
            </a:r>
          </a:p>
          <a:p>
            <a:pPr lvl="1"/>
            <a:r>
              <a:rPr lang="it-IT" dirty="0" smtClean="0"/>
              <a:t>Secondo livello</a:t>
            </a:r>
          </a:p>
          <a:p>
            <a:pPr lvl="2"/>
            <a:r>
              <a:rPr lang="it-IT" dirty="0" smtClean="0"/>
              <a:t>Terzo livello</a:t>
            </a:r>
          </a:p>
          <a:p>
            <a:pPr lvl="3"/>
            <a:r>
              <a:rPr lang="it-IT" dirty="0" smtClean="0"/>
              <a:t>Quarto livello</a:t>
            </a:r>
          </a:p>
          <a:p>
            <a:pPr lvl="4"/>
            <a:r>
              <a:rPr lang="it-IT" dirty="0" smtClean="0"/>
              <a:t>Quinto livello</a:t>
            </a:r>
            <a:endParaRPr lang="it-IT" dirty="0"/>
          </a:p>
        </p:txBody>
      </p:sp>
      <p:sp>
        <p:nvSpPr>
          <p:cNvPr id="15" name="Titolo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4" name="Segnaposto piè di pagina 1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it-IT" dirty="0"/>
          </a:p>
        </p:txBody>
      </p:sp>
      <p:sp>
        <p:nvSpPr>
          <p:cNvPr id="5" name="Segnaposto numero diapositiva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16D33DA-2FBC-A741-AA41-4CBCBDEF9225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568520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440" y="2129984"/>
            <a:ext cx="7773120" cy="1470394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2321" y="3885528"/>
            <a:ext cx="6400800" cy="1752664"/>
          </a:xfrm>
        </p:spPr>
        <p:txBody>
          <a:bodyPr/>
          <a:lstStyle>
            <a:lvl1pPr marL="0" indent="0" algn="ctr">
              <a:buNone/>
              <a:defRPr/>
            </a:lvl1pPr>
            <a:lvl2pPr marL="414597" indent="0" algn="ctr">
              <a:buNone/>
              <a:defRPr/>
            </a:lvl2pPr>
            <a:lvl3pPr marL="829194" indent="0" algn="ctr">
              <a:buNone/>
              <a:defRPr/>
            </a:lvl3pPr>
            <a:lvl4pPr marL="1243791" indent="0" algn="ctr">
              <a:buNone/>
              <a:defRPr/>
            </a:lvl4pPr>
            <a:lvl5pPr marL="1658388" indent="0" algn="ctr">
              <a:buNone/>
              <a:defRPr/>
            </a:lvl5pPr>
            <a:lvl6pPr marL="2072986" indent="0" algn="ctr">
              <a:buNone/>
              <a:defRPr/>
            </a:lvl6pPr>
            <a:lvl7pPr marL="2487583" indent="0" algn="ctr">
              <a:buNone/>
              <a:defRPr/>
            </a:lvl7pPr>
            <a:lvl8pPr marL="2902180" indent="0" algn="ctr">
              <a:buNone/>
              <a:defRPr/>
            </a:lvl8pPr>
            <a:lvl9pPr marL="3316777" indent="0" algn="ctr">
              <a:buNone/>
              <a:defRPr/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B5A803-D2A4-0941-9A20-85415F70870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4324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B7EE9B-C249-DD4B-AB07-67898C917D7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03453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880" y="4406866"/>
            <a:ext cx="7771680" cy="1362383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880" y="2906225"/>
            <a:ext cx="7771680" cy="1500638"/>
          </a:xfrm>
        </p:spPr>
        <p:txBody>
          <a:bodyPr anchor="b"/>
          <a:lstStyle>
            <a:lvl1pPr marL="0" indent="0">
              <a:buNone/>
              <a:defRPr sz="1800"/>
            </a:lvl1pPr>
            <a:lvl2pPr marL="414597" indent="0">
              <a:buNone/>
              <a:defRPr sz="1600"/>
            </a:lvl2pPr>
            <a:lvl3pPr marL="829194" indent="0">
              <a:buNone/>
              <a:defRPr sz="1500"/>
            </a:lvl3pPr>
            <a:lvl4pPr marL="1243791" indent="0">
              <a:buNone/>
              <a:defRPr sz="1300"/>
            </a:lvl4pPr>
            <a:lvl5pPr marL="1658388" indent="0">
              <a:buNone/>
              <a:defRPr sz="1300"/>
            </a:lvl5pPr>
            <a:lvl6pPr marL="2072986" indent="0">
              <a:buNone/>
              <a:defRPr sz="1300"/>
            </a:lvl6pPr>
            <a:lvl7pPr marL="2487583" indent="0">
              <a:buNone/>
              <a:defRPr sz="1300"/>
            </a:lvl7pPr>
            <a:lvl8pPr marL="2902180" indent="0">
              <a:buNone/>
              <a:defRPr sz="1300"/>
            </a:lvl8pPr>
            <a:lvl9pPr marL="3316777" indent="0">
              <a:buNone/>
              <a:defRPr sz="13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76AD8E-8EF0-144E-B55E-0E7D32BACE5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78035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6480" y="1604328"/>
            <a:ext cx="4036320" cy="4522075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31040" y="1604328"/>
            <a:ext cx="4037760" cy="4522075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2E199B-4434-194C-B432-A7430F59965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44450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922" y="275073"/>
            <a:ext cx="8229600" cy="1142039"/>
          </a:xfrm>
        </p:spPr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920" y="1535201"/>
            <a:ext cx="4039200" cy="639427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4597" indent="0">
              <a:buNone/>
              <a:defRPr sz="1800" b="1"/>
            </a:lvl2pPr>
            <a:lvl3pPr marL="829194" indent="0">
              <a:buNone/>
              <a:defRPr sz="1600" b="1"/>
            </a:lvl3pPr>
            <a:lvl4pPr marL="1243791" indent="0">
              <a:buNone/>
              <a:defRPr sz="1500" b="1"/>
            </a:lvl4pPr>
            <a:lvl5pPr marL="1658388" indent="0">
              <a:buNone/>
              <a:defRPr sz="1500" b="1"/>
            </a:lvl5pPr>
            <a:lvl6pPr marL="2072986" indent="0">
              <a:buNone/>
              <a:defRPr sz="1500" b="1"/>
            </a:lvl6pPr>
            <a:lvl7pPr marL="2487583" indent="0">
              <a:buNone/>
              <a:defRPr sz="1500" b="1"/>
            </a:lvl7pPr>
            <a:lvl8pPr marL="2902180" indent="0">
              <a:buNone/>
              <a:defRPr sz="1500" b="1"/>
            </a:lvl8pPr>
            <a:lvl9pPr marL="3316777" indent="0">
              <a:buNone/>
              <a:defRPr sz="15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920" y="2174628"/>
            <a:ext cx="4039200" cy="3951775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442" y="1535201"/>
            <a:ext cx="4042080" cy="639427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4597" indent="0">
              <a:buNone/>
              <a:defRPr sz="1800" b="1"/>
            </a:lvl2pPr>
            <a:lvl3pPr marL="829194" indent="0">
              <a:buNone/>
              <a:defRPr sz="1600" b="1"/>
            </a:lvl3pPr>
            <a:lvl4pPr marL="1243791" indent="0">
              <a:buNone/>
              <a:defRPr sz="1500" b="1"/>
            </a:lvl4pPr>
            <a:lvl5pPr marL="1658388" indent="0">
              <a:buNone/>
              <a:defRPr sz="1500" b="1"/>
            </a:lvl5pPr>
            <a:lvl6pPr marL="2072986" indent="0">
              <a:buNone/>
              <a:defRPr sz="1500" b="1"/>
            </a:lvl6pPr>
            <a:lvl7pPr marL="2487583" indent="0">
              <a:buNone/>
              <a:defRPr sz="1500" b="1"/>
            </a:lvl7pPr>
            <a:lvl8pPr marL="2902180" indent="0">
              <a:buNone/>
              <a:defRPr sz="1500" b="1"/>
            </a:lvl8pPr>
            <a:lvl9pPr marL="3316777" indent="0">
              <a:buNone/>
              <a:defRPr sz="15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442" y="2174628"/>
            <a:ext cx="4042080" cy="3951775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2BA4F0-E81B-C64B-AEB0-994DC258C02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35688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3C2286-37F6-C346-8074-2C7097E303E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69423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4A6B7D-F3B3-814B-A6B2-7440015792B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1131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920" y="273629"/>
            <a:ext cx="3008160" cy="1160762"/>
          </a:xfrm>
        </p:spPr>
        <p:txBody>
          <a:bodyPr/>
          <a:lstStyle>
            <a:lvl1pPr algn="l">
              <a:defRPr sz="18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524" y="273632"/>
            <a:ext cx="5112000" cy="5852774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920" y="1434394"/>
            <a:ext cx="3008160" cy="4692013"/>
          </a:xfrm>
        </p:spPr>
        <p:txBody>
          <a:bodyPr/>
          <a:lstStyle>
            <a:lvl1pPr marL="0" indent="0">
              <a:buNone/>
              <a:defRPr sz="1300"/>
            </a:lvl1pPr>
            <a:lvl2pPr marL="414597" indent="0">
              <a:buNone/>
              <a:defRPr sz="1100"/>
            </a:lvl2pPr>
            <a:lvl3pPr marL="829194" indent="0">
              <a:buNone/>
              <a:defRPr sz="900"/>
            </a:lvl3pPr>
            <a:lvl4pPr marL="1243791" indent="0">
              <a:buNone/>
              <a:defRPr sz="800"/>
            </a:lvl4pPr>
            <a:lvl5pPr marL="1658388" indent="0">
              <a:buNone/>
              <a:defRPr sz="800"/>
            </a:lvl5pPr>
            <a:lvl6pPr marL="2072986" indent="0">
              <a:buNone/>
              <a:defRPr sz="800"/>
            </a:lvl6pPr>
            <a:lvl7pPr marL="2487583" indent="0">
              <a:buNone/>
              <a:defRPr sz="800"/>
            </a:lvl7pPr>
            <a:lvl8pPr marL="2902180" indent="0">
              <a:buNone/>
              <a:defRPr sz="800"/>
            </a:lvl8pPr>
            <a:lvl9pPr marL="3316777" indent="0">
              <a:buNone/>
              <a:defRPr sz="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4453E9-39C1-DB4F-80D4-C12C21FCD88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01583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804" y="4800026"/>
            <a:ext cx="5486400" cy="567420"/>
          </a:xfrm>
        </p:spPr>
        <p:txBody>
          <a:bodyPr/>
          <a:lstStyle>
            <a:lvl1pPr algn="l">
              <a:defRPr sz="18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804" y="612065"/>
            <a:ext cx="5486400" cy="4115952"/>
          </a:xfrm>
        </p:spPr>
        <p:txBody>
          <a:bodyPr/>
          <a:lstStyle>
            <a:lvl1pPr marL="0" indent="0">
              <a:buNone/>
              <a:defRPr sz="2900"/>
            </a:lvl1pPr>
            <a:lvl2pPr marL="414597" indent="0">
              <a:buNone/>
              <a:defRPr sz="2500"/>
            </a:lvl2pPr>
            <a:lvl3pPr marL="829194" indent="0">
              <a:buNone/>
              <a:defRPr sz="2200"/>
            </a:lvl3pPr>
            <a:lvl4pPr marL="1243791" indent="0">
              <a:buNone/>
              <a:defRPr sz="1800"/>
            </a:lvl4pPr>
            <a:lvl5pPr marL="1658388" indent="0">
              <a:buNone/>
              <a:defRPr sz="1800"/>
            </a:lvl5pPr>
            <a:lvl6pPr marL="2072986" indent="0">
              <a:buNone/>
              <a:defRPr sz="1800"/>
            </a:lvl6pPr>
            <a:lvl7pPr marL="2487583" indent="0">
              <a:buNone/>
              <a:defRPr sz="1800"/>
            </a:lvl7pPr>
            <a:lvl8pPr marL="2902180" indent="0">
              <a:buNone/>
              <a:defRPr sz="1800"/>
            </a:lvl8pPr>
            <a:lvl9pPr marL="3316777" indent="0">
              <a:buNone/>
              <a:defRPr sz="1800"/>
            </a:lvl9pPr>
          </a:lstStyle>
          <a:p>
            <a:pPr lvl="0"/>
            <a:endParaRPr lang="it-IT" noProof="0" smtClean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804" y="5367444"/>
            <a:ext cx="5486400" cy="805044"/>
          </a:xfrm>
        </p:spPr>
        <p:txBody>
          <a:bodyPr/>
          <a:lstStyle>
            <a:lvl1pPr marL="0" indent="0">
              <a:buNone/>
              <a:defRPr sz="1300"/>
            </a:lvl1pPr>
            <a:lvl2pPr marL="414597" indent="0">
              <a:buNone/>
              <a:defRPr sz="1100"/>
            </a:lvl2pPr>
            <a:lvl3pPr marL="829194" indent="0">
              <a:buNone/>
              <a:defRPr sz="900"/>
            </a:lvl3pPr>
            <a:lvl4pPr marL="1243791" indent="0">
              <a:buNone/>
              <a:defRPr sz="800"/>
            </a:lvl4pPr>
            <a:lvl5pPr marL="1658388" indent="0">
              <a:buNone/>
              <a:defRPr sz="800"/>
            </a:lvl5pPr>
            <a:lvl6pPr marL="2072986" indent="0">
              <a:buNone/>
              <a:defRPr sz="800"/>
            </a:lvl6pPr>
            <a:lvl7pPr marL="2487583" indent="0">
              <a:buNone/>
              <a:defRPr sz="800"/>
            </a:lvl7pPr>
            <a:lvl8pPr marL="2902180" indent="0">
              <a:buNone/>
              <a:defRPr sz="800"/>
            </a:lvl8pPr>
            <a:lvl9pPr marL="3316777" indent="0">
              <a:buNone/>
              <a:defRPr sz="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4536E4-A378-AC41-A0D4-FA1E3D3FFFE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49263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FBA2D3-459F-594B-B89C-3614959550B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72722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16801" y="532856"/>
            <a:ext cx="2052000" cy="5593547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6484" y="532856"/>
            <a:ext cx="6022080" cy="5593547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D6FA20-F62A-2743-A4E4-94398CE7106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61850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124" y="532859"/>
            <a:ext cx="7755840" cy="2878863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308FC1-DA8C-4243-8FD7-56D066717FF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4446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theme" Target="../theme/theme2.xml"/><Relationship Id="rId14" Type="http://schemas.openxmlformats.org/officeDocument/2006/relationships/image" Target="../media/image2.png"/><Relationship Id="rId15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227520" y="-154095"/>
            <a:ext cx="8593920" cy="1421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81615" tIns="42439" rIns="81615" bIns="4243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Cliccate per modificare il formato del testo del titolo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120" y="1294696"/>
            <a:ext cx="8212320" cy="479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81615" tIns="42439" rIns="81615" bIns="42439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GB"/>
              <a:t>Cliccate per modificare il formato del testo della struttura</a:t>
            </a:r>
          </a:p>
          <a:p>
            <a:pPr lvl="1"/>
            <a:r>
              <a:rPr lang="en-GB"/>
              <a:t>Secondo livello struttura</a:t>
            </a:r>
          </a:p>
          <a:p>
            <a:pPr lvl="2"/>
            <a:r>
              <a:rPr lang="en-GB"/>
              <a:t>Terzo livello struttura</a:t>
            </a:r>
          </a:p>
          <a:p>
            <a:pPr lvl="3"/>
            <a:r>
              <a:rPr lang="en-GB"/>
              <a:t>Quarto livello struttura</a:t>
            </a:r>
          </a:p>
          <a:p>
            <a:pPr lvl="4"/>
            <a:r>
              <a:rPr lang="en-GB"/>
              <a:t>Quinto livello struttura</a:t>
            </a:r>
          </a:p>
          <a:p>
            <a:pPr lvl="4"/>
            <a:r>
              <a:rPr lang="en-GB"/>
              <a:t>Sesto livello struttura</a:t>
            </a:r>
          </a:p>
          <a:p>
            <a:pPr lvl="4"/>
            <a:r>
              <a:rPr lang="en-GB"/>
              <a:t>Settimo livello struttura</a:t>
            </a:r>
          </a:p>
          <a:p>
            <a:pPr lvl="4"/>
            <a:r>
              <a:rPr lang="en-GB"/>
              <a:t>Ottavo livello struttura</a:t>
            </a:r>
          </a:p>
          <a:p>
            <a:pPr lvl="4"/>
            <a:r>
              <a:rPr lang="en-GB"/>
              <a:t>Nono livello struttura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685440" y="6248816"/>
            <a:ext cx="1889280" cy="44212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81615" tIns="42439" rIns="81615" bIns="42439" numCol="1" anchor="t" anchorCtr="0" compatLnSpc="1">
            <a:prstTxWarp prst="textNoShape">
              <a:avLst/>
            </a:prstTxWarp>
          </a:bodyPr>
          <a:lstStyle>
            <a:lvl1pPr defTabSz="414597">
              <a:lnSpc>
                <a:spcPct val="100000"/>
              </a:lnSpc>
              <a:buFont typeface="Times New Roman" pitchFamily="-1" charset="0"/>
              <a:buNone/>
              <a:defRPr sz="1300">
                <a:solidFill>
                  <a:srgbClr val="000000"/>
                </a:solidFill>
                <a:latin typeface="Times New Roman" pitchFamily="-1" charset="0"/>
                <a:ea typeface="Lucida Sans Unicode" pitchFamily="-1" charset="0"/>
                <a:cs typeface="Lucida Sans Unicode" pitchFamily="-1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3123360" y="6552690"/>
            <a:ext cx="2878560" cy="27650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81615" tIns="42439" rIns="81615" bIns="42439" numCol="1" anchor="t" anchorCtr="0" compatLnSpc="1">
            <a:prstTxWarp prst="textNoShape">
              <a:avLst/>
            </a:prstTxWarp>
          </a:bodyPr>
          <a:lstStyle>
            <a:lvl1pPr algn="ctr" defTabSz="414597">
              <a:lnSpc>
                <a:spcPct val="100000"/>
              </a:lnSpc>
              <a:buFont typeface="Lucida Sans Unicode" pitchFamily="-1" charset="0"/>
              <a:buNone/>
              <a:defRPr sz="1100">
                <a:solidFill>
                  <a:srgbClr val="000000"/>
                </a:solidFill>
                <a:latin typeface="Lucida Sans Unicode" pitchFamily="-1" charset="0"/>
                <a:ea typeface="Lucida Sans Unicode" pitchFamily="-1" charset="0"/>
                <a:cs typeface="Lucida Sans Unicode" pitchFamily="-1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7542720" y="6552689"/>
            <a:ext cx="1355040" cy="30387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81615" tIns="42439" rIns="81615" bIns="42439" numCol="1" anchor="t" anchorCtr="0" compatLnSpc="1">
            <a:prstTxWarp prst="textNoShape">
              <a:avLst/>
            </a:prstTxWarp>
          </a:bodyPr>
          <a:lstStyle>
            <a:lvl1pPr algn="r" defTabSz="414597">
              <a:lnSpc>
                <a:spcPct val="100000"/>
              </a:lnSpc>
              <a:buFont typeface="Lucida Sans Unicode" charset="0"/>
              <a:buNone/>
              <a:defRPr sz="1100">
                <a:solidFill>
                  <a:srgbClr val="000000"/>
                </a:solidFill>
                <a:cs typeface="Lucida Sans Unicode" charset="0"/>
              </a:defRPr>
            </a:lvl1pPr>
          </a:lstStyle>
          <a:p>
            <a:pPr>
              <a:defRPr/>
            </a:pPr>
            <a:fld id="{D5967A16-6F37-F341-8BBC-5F88C4A4C0C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1031" name="Line 6"/>
          <p:cNvSpPr>
            <a:spLocks noChangeShapeType="1"/>
          </p:cNvSpPr>
          <p:nvPr/>
        </p:nvSpPr>
        <p:spPr bwMode="auto">
          <a:xfrm flipH="1">
            <a:off x="276480" y="990826"/>
            <a:ext cx="8871840" cy="1441"/>
          </a:xfrm>
          <a:prstGeom prst="line">
            <a:avLst/>
          </a:prstGeom>
          <a:noFill/>
          <a:ln w="38160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2918" tIns="41460" rIns="82918" bIns="41460"/>
          <a:lstStyle/>
          <a:p>
            <a:endParaRPr lang="en-US"/>
          </a:p>
        </p:txBody>
      </p:sp>
      <p:sp>
        <p:nvSpPr>
          <p:cNvPr id="1032" name="Line 7"/>
          <p:cNvSpPr>
            <a:spLocks noChangeShapeType="1"/>
          </p:cNvSpPr>
          <p:nvPr/>
        </p:nvSpPr>
        <p:spPr bwMode="auto">
          <a:xfrm flipH="1">
            <a:off x="656640" y="6477802"/>
            <a:ext cx="8491680" cy="1441"/>
          </a:xfrm>
          <a:prstGeom prst="line">
            <a:avLst/>
          </a:prstGeom>
          <a:noFill/>
          <a:ln w="38160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2918" tIns="41460" rIns="82918" bIns="41460"/>
          <a:lstStyle/>
          <a:p>
            <a:endParaRPr lang="en-US"/>
          </a:p>
        </p:txBody>
      </p:sp>
      <p:pic>
        <p:nvPicPr>
          <p:cNvPr id="10" name="Picture 8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6521450"/>
            <a:ext cx="15113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98" r:id="rId12"/>
  </p:sldLayoutIdLst>
  <p:hf sldNum="0" hdr="0" ftr="0" dt="0"/>
  <p:txStyles>
    <p:titleStyle>
      <a:lvl1pPr algn="l" defTabSz="413201" rtl="0" eaLnBrk="0" fontAlgn="base" hangingPunct="0">
        <a:lnSpc>
          <a:spcPct val="11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charset="0"/>
        <a:defRPr sz="4000">
          <a:solidFill>
            <a:srgbClr val="000000"/>
          </a:solidFill>
          <a:latin typeface="+mj-lt"/>
          <a:ea typeface="ＭＳ Ｐゴシック" charset="0"/>
          <a:cs typeface="+mj-cs"/>
        </a:defRPr>
      </a:lvl1pPr>
      <a:lvl2pPr algn="l" defTabSz="413201" rtl="0" eaLnBrk="0" fontAlgn="base" hangingPunct="0">
        <a:lnSpc>
          <a:spcPct val="11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charset="0"/>
        <a:defRPr sz="4000">
          <a:solidFill>
            <a:srgbClr val="000000"/>
          </a:solidFill>
          <a:latin typeface="Lucida Sans Unicode" pitchFamily="32" charset="0"/>
          <a:ea typeface="ＭＳ Ｐゴシック" charset="0"/>
          <a:cs typeface="Lucida Sans Unicode" pitchFamily="32" charset="0"/>
        </a:defRPr>
      </a:lvl2pPr>
      <a:lvl3pPr algn="l" defTabSz="413201" rtl="0" eaLnBrk="0" fontAlgn="base" hangingPunct="0">
        <a:lnSpc>
          <a:spcPct val="11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charset="0"/>
        <a:defRPr sz="4000">
          <a:solidFill>
            <a:srgbClr val="000000"/>
          </a:solidFill>
          <a:latin typeface="Lucida Sans Unicode" pitchFamily="32" charset="0"/>
          <a:ea typeface="ＭＳ Ｐゴシック" charset="0"/>
          <a:cs typeface="Lucida Sans Unicode" pitchFamily="32" charset="0"/>
        </a:defRPr>
      </a:lvl3pPr>
      <a:lvl4pPr algn="l" defTabSz="413201" rtl="0" eaLnBrk="0" fontAlgn="base" hangingPunct="0">
        <a:lnSpc>
          <a:spcPct val="11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charset="0"/>
        <a:defRPr sz="4000">
          <a:solidFill>
            <a:srgbClr val="000000"/>
          </a:solidFill>
          <a:latin typeface="Lucida Sans Unicode" pitchFamily="32" charset="0"/>
          <a:ea typeface="ＭＳ Ｐゴシック" charset="0"/>
          <a:cs typeface="Lucida Sans Unicode" pitchFamily="32" charset="0"/>
        </a:defRPr>
      </a:lvl4pPr>
      <a:lvl5pPr algn="l" defTabSz="413201" rtl="0" eaLnBrk="0" fontAlgn="base" hangingPunct="0">
        <a:lnSpc>
          <a:spcPct val="11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charset="0"/>
        <a:defRPr sz="4000">
          <a:solidFill>
            <a:srgbClr val="000000"/>
          </a:solidFill>
          <a:latin typeface="Lucida Sans Unicode" pitchFamily="32" charset="0"/>
          <a:ea typeface="ＭＳ Ｐゴシック" charset="0"/>
          <a:cs typeface="Lucida Sans Unicode" pitchFamily="32" charset="0"/>
        </a:defRPr>
      </a:lvl5pPr>
      <a:lvl6pPr marL="414597" algn="l" defTabSz="414597" rtl="0" fontAlgn="base">
        <a:lnSpc>
          <a:spcPct val="11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pitchFamily="32" charset="0"/>
        <a:defRPr sz="4000">
          <a:solidFill>
            <a:srgbClr val="000000"/>
          </a:solidFill>
          <a:latin typeface="Lucida Sans Unicode" pitchFamily="32" charset="0"/>
          <a:cs typeface="Lucida Sans Unicode" pitchFamily="32" charset="0"/>
        </a:defRPr>
      </a:lvl6pPr>
      <a:lvl7pPr marL="829194" algn="l" defTabSz="414597" rtl="0" fontAlgn="base">
        <a:lnSpc>
          <a:spcPct val="11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pitchFamily="32" charset="0"/>
        <a:defRPr sz="4000">
          <a:solidFill>
            <a:srgbClr val="000000"/>
          </a:solidFill>
          <a:latin typeface="Lucida Sans Unicode" pitchFamily="32" charset="0"/>
          <a:cs typeface="Lucida Sans Unicode" pitchFamily="32" charset="0"/>
        </a:defRPr>
      </a:lvl7pPr>
      <a:lvl8pPr marL="1243791" algn="l" defTabSz="414597" rtl="0" fontAlgn="base">
        <a:lnSpc>
          <a:spcPct val="11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pitchFamily="32" charset="0"/>
        <a:defRPr sz="4000">
          <a:solidFill>
            <a:srgbClr val="000000"/>
          </a:solidFill>
          <a:latin typeface="Lucida Sans Unicode" pitchFamily="32" charset="0"/>
          <a:cs typeface="Lucida Sans Unicode" pitchFamily="32" charset="0"/>
        </a:defRPr>
      </a:lvl8pPr>
      <a:lvl9pPr marL="1658388" algn="l" defTabSz="414597" rtl="0" fontAlgn="base">
        <a:lnSpc>
          <a:spcPct val="11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pitchFamily="32" charset="0"/>
        <a:defRPr sz="4000">
          <a:solidFill>
            <a:srgbClr val="000000"/>
          </a:solidFill>
          <a:latin typeface="Lucida Sans Unicode" pitchFamily="32" charset="0"/>
          <a:cs typeface="Lucida Sans Unicode" pitchFamily="32" charset="0"/>
        </a:defRPr>
      </a:lvl9pPr>
    </p:titleStyle>
    <p:bodyStyle>
      <a:lvl1pPr marL="293703" indent="-293703" algn="l" defTabSz="413201" rtl="0" eaLnBrk="0" fontAlgn="base" hangingPunct="0">
        <a:lnSpc>
          <a:spcPct val="111000"/>
        </a:lnSpc>
        <a:spcBef>
          <a:spcPts val="726"/>
        </a:spcBef>
        <a:spcAft>
          <a:spcPts val="181"/>
        </a:spcAft>
        <a:buClr>
          <a:srgbClr val="000000"/>
        </a:buClr>
        <a:buSzPct val="100000"/>
        <a:buFont typeface="Wingdings" charset="0"/>
        <a:buChar char=""/>
        <a:defRPr sz="2900">
          <a:solidFill>
            <a:srgbClr val="000000"/>
          </a:solidFill>
          <a:latin typeface="+mn-lt"/>
          <a:ea typeface="ＭＳ Ｐゴシック" charset="0"/>
          <a:cs typeface="+mn-cs"/>
        </a:defRPr>
      </a:lvl1pPr>
      <a:lvl2pPr marL="656514" indent="-241874" algn="l" defTabSz="413201" rtl="0" eaLnBrk="0" fontAlgn="base" hangingPunct="0">
        <a:lnSpc>
          <a:spcPct val="111000"/>
        </a:lnSpc>
        <a:spcBef>
          <a:spcPts val="635"/>
        </a:spcBef>
        <a:spcAft>
          <a:spcPct val="0"/>
        </a:spcAft>
        <a:buClr>
          <a:srgbClr val="000000"/>
        </a:buClr>
        <a:buSzPct val="100000"/>
        <a:buFont typeface="Wingdings" charset="0"/>
        <a:buChar char=""/>
        <a:defRPr sz="2500">
          <a:solidFill>
            <a:srgbClr val="000000"/>
          </a:solidFill>
          <a:latin typeface="+mn-lt"/>
          <a:ea typeface="Lucida Sans Unicode" pitchFamily="-107" charset="-52"/>
          <a:cs typeface="+mn-cs"/>
        </a:defRPr>
      </a:lvl2pPr>
      <a:lvl3pPr marL="1035162" indent="-205881" algn="l" defTabSz="413201" rtl="0" eaLnBrk="0" fontAlgn="base" hangingPunct="0">
        <a:lnSpc>
          <a:spcPct val="111000"/>
        </a:lnSpc>
        <a:spcBef>
          <a:spcPts val="544"/>
        </a:spcBef>
        <a:spcAft>
          <a:spcPct val="0"/>
        </a:spcAft>
        <a:buClr>
          <a:srgbClr val="000000"/>
        </a:buClr>
        <a:buSzPct val="100000"/>
        <a:buFont typeface="Lucida Sans Unicode" charset="0"/>
        <a:buChar char="–"/>
        <a:defRPr sz="2200">
          <a:solidFill>
            <a:srgbClr val="000000"/>
          </a:solidFill>
          <a:latin typeface="+mn-lt"/>
          <a:ea typeface="Lucida Sans Unicode" pitchFamily="-107" charset="-52"/>
          <a:cs typeface="+mn-cs"/>
        </a:defRPr>
      </a:lvl3pPr>
      <a:lvl4pPr marL="1449801" indent="-205881" algn="l" defTabSz="413201" rtl="0" eaLnBrk="0" fontAlgn="base" hangingPunct="0">
        <a:lnSpc>
          <a:spcPct val="111000"/>
        </a:lnSpc>
        <a:spcBef>
          <a:spcPts val="454"/>
        </a:spcBef>
        <a:spcAft>
          <a:spcPct val="0"/>
        </a:spcAft>
        <a:buClr>
          <a:srgbClr val="000000"/>
        </a:buClr>
        <a:buSzPct val="100000"/>
        <a:buFont typeface="Lucida Sans Unicode" charset="0"/>
        <a:buChar char="–"/>
        <a:defRPr sz="1800">
          <a:solidFill>
            <a:srgbClr val="000000"/>
          </a:solidFill>
          <a:latin typeface="+mn-lt"/>
          <a:ea typeface="Lucida Sans Unicode" pitchFamily="-107" charset="-52"/>
          <a:cs typeface="+mn-cs"/>
        </a:defRPr>
      </a:lvl4pPr>
      <a:lvl5pPr marL="1864442" indent="-205881" algn="l" defTabSz="413201" rtl="0" eaLnBrk="0" fontAlgn="base" hangingPunct="0">
        <a:lnSpc>
          <a:spcPct val="111000"/>
        </a:lnSpc>
        <a:spcBef>
          <a:spcPts val="454"/>
        </a:spcBef>
        <a:spcAft>
          <a:spcPct val="0"/>
        </a:spcAft>
        <a:buClr>
          <a:srgbClr val="000000"/>
        </a:buClr>
        <a:buSzPct val="100000"/>
        <a:buFont typeface="Lucida Sans Unicode" charset="0"/>
        <a:buChar char="–"/>
        <a:defRPr sz="1800">
          <a:solidFill>
            <a:srgbClr val="000000"/>
          </a:solidFill>
          <a:latin typeface="+mn-lt"/>
          <a:ea typeface="Lucida Sans Unicode" pitchFamily="-107" charset="-52"/>
          <a:cs typeface="+mn-cs"/>
        </a:defRPr>
      </a:lvl5pPr>
      <a:lvl6pPr marL="2280285" indent="-207299" algn="l" defTabSz="414597" rtl="0" fontAlgn="base">
        <a:lnSpc>
          <a:spcPct val="111000"/>
        </a:lnSpc>
        <a:spcBef>
          <a:spcPts val="454"/>
        </a:spcBef>
        <a:spcAft>
          <a:spcPct val="0"/>
        </a:spcAft>
        <a:buClr>
          <a:srgbClr val="000000"/>
        </a:buClr>
        <a:buSzPct val="100000"/>
        <a:buFont typeface="Lucida Sans Unicode" pitchFamily="32" charset="0"/>
        <a:buChar char="–"/>
        <a:defRPr sz="1800">
          <a:solidFill>
            <a:srgbClr val="000000"/>
          </a:solidFill>
          <a:latin typeface="+mn-lt"/>
          <a:cs typeface="+mn-cs"/>
        </a:defRPr>
      </a:lvl6pPr>
      <a:lvl7pPr marL="2694882" indent="-207299" algn="l" defTabSz="414597" rtl="0" fontAlgn="base">
        <a:lnSpc>
          <a:spcPct val="111000"/>
        </a:lnSpc>
        <a:spcBef>
          <a:spcPts val="454"/>
        </a:spcBef>
        <a:spcAft>
          <a:spcPct val="0"/>
        </a:spcAft>
        <a:buClr>
          <a:srgbClr val="000000"/>
        </a:buClr>
        <a:buSzPct val="100000"/>
        <a:buFont typeface="Lucida Sans Unicode" pitchFamily="32" charset="0"/>
        <a:buChar char="–"/>
        <a:defRPr sz="1800">
          <a:solidFill>
            <a:srgbClr val="000000"/>
          </a:solidFill>
          <a:latin typeface="+mn-lt"/>
          <a:cs typeface="+mn-cs"/>
        </a:defRPr>
      </a:lvl7pPr>
      <a:lvl8pPr marL="3109480" indent="-207299" algn="l" defTabSz="414597" rtl="0" fontAlgn="base">
        <a:lnSpc>
          <a:spcPct val="111000"/>
        </a:lnSpc>
        <a:spcBef>
          <a:spcPts val="454"/>
        </a:spcBef>
        <a:spcAft>
          <a:spcPct val="0"/>
        </a:spcAft>
        <a:buClr>
          <a:srgbClr val="000000"/>
        </a:buClr>
        <a:buSzPct val="100000"/>
        <a:buFont typeface="Lucida Sans Unicode" pitchFamily="32" charset="0"/>
        <a:buChar char="–"/>
        <a:defRPr sz="1800">
          <a:solidFill>
            <a:srgbClr val="000000"/>
          </a:solidFill>
          <a:latin typeface="+mn-lt"/>
          <a:cs typeface="+mn-cs"/>
        </a:defRPr>
      </a:lvl8pPr>
      <a:lvl9pPr marL="3524075" indent="-207299" algn="l" defTabSz="414597" rtl="0" fontAlgn="base">
        <a:lnSpc>
          <a:spcPct val="111000"/>
        </a:lnSpc>
        <a:spcBef>
          <a:spcPts val="454"/>
        </a:spcBef>
        <a:spcAft>
          <a:spcPct val="0"/>
        </a:spcAft>
        <a:buClr>
          <a:srgbClr val="000000"/>
        </a:buClr>
        <a:buSzPct val="100000"/>
        <a:buFont typeface="Lucida Sans Unicode" pitchFamily="32" charset="0"/>
        <a:buChar char="–"/>
        <a:defRPr sz="1800">
          <a:solidFill>
            <a:srgbClr val="000000"/>
          </a:solidFill>
          <a:latin typeface="+mn-lt"/>
          <a:cs typeface="+mn-cs"/>
        </a:defRPr>
      </a:lvl9pPr>
    </p:bodyStyle>
    <p:otherStyle>
      <a:defPPr>
        <a:defRPr lang="it-IT"/>
      </a:defPPr>
      <a:lvl1pPr marL="0" algn="l" defTabSz="82919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14597" algn="l" defTabSz="82919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29194" algn="l" defTabSz="82919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43791" algn="l" defTabSz="82919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58388" algn="l" defTabSz="82919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72986" algn="l" defTabSz="82919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87583" algn="l" defTabSz="82919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902180" algn="l" defTabSz="82919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316777" algn="l" defTabSz="82919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09123" y="532858"/>
            <a:ext cx="7755840" cy="2878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81615" tIns="42439" rIns="81615" bIns="42439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Cliccate per modificare il formato del testo del titolo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dt"/>
          </p:nvPr>
        </p:nvSpPr>
        <p:spPr bwMode="auto">
          <a:xfrm>
            <a:off x="685440" y="6248816"/>
            <a:ext cx="1889280" cy="44212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81615" tIns="42439" rIns="81615" bIns="42439" numCol="1" anchor="t" anchorCtr="0" compatLnSpc="1">
            <a:prstTxWarp prst="textNoShape">
              <a:avLst/>
            </a:prstTxWarp>
          </a:bodyPr>
          <a:lstStyle>
            <a:lvl1pPr defTabSz="414597">
              <a:lnSpc>
                <a:spcPct val="100000"/>
              </a:lnSpc>
              <a:buSzPct val="45000"/>
              <a:buFont typeface="StarSymbol" charset="0"/>
              <a:buNone/>
              <a:defRPr sz="1300">
                <a:solidFill>
                  <a:srgbClr val="000000"/>
                </a:solidFill>
                <a:latin typeface="Times New Roman" pitchFamily="-1" charset="0"/>
                <a:ea typeface="Lucida Sans Unicode" pitchFamily="-1" charset="0"/>
                <a:cs typeface="Lucida Sans Unicode" pitchFamily="-1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ftr"/>
          </p:nvPr>
        </p:nvSpPr>
        <p:spPr bwMode="auto">
          <a:xfrm>
            <a:off x="3123360" y="6248816"/>
            <a:ext cx="2878560" cy="44212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81615" tIns="42439" rIns="81615" bIns="42439" numCol="1" anchor="t" anchorCtr="0" compatLnSpc="1">
            <a:prstTxWarp prst="textNoShape">
              <a:avLst/>
            </a:prstTxWarp>
          </a:bodyPr>
          <a:lstStyle>
            <a:lvl1pPr algn="ctr" defTabSz="414597">
              <a:lnSpc>
                <a:spcPct val="100000"/>
              </a:lnSpc>
              <a:buSzPct val="45000"/>
              <a:buFont typeface="StarSymbol" charset="0"/>
              <a:buNone/>
              <a:defRPr sz="1300">
                <a:solidFill>
                  <a:srgbClr val="000000"/>
                </a:solidFill>
                <a:latin typeface="Times New Roman" pitchFamily="-1" charset="0"/>
                <a:ea typeface="Lucida Sans Unicode" pitchFamily="-1" charset="0"/>
                <a:cs typeface="Lucida Sans Unicode" pitchFamily="-1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ldNum"/>
          </p:nvPr>
        </p:nvSpPr>
        <p:spPr bwMode="auto">
          <a:xfrm>
            <a:off x="6552000" y="6248816"/>
            <a:ext cx="1889280" cy="44212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81615" tIns="42439" rIns="81615" bIns="42439" numCol="1" anchor="t" anchorCtr="0" compatLnSpc="1">
            <a:prstTxWarp prst="textNoShape">
              <a:avLst/>
            </a:prstTxWarp>
          </a:bodyPr>
          <a:lstStyle>
            <a:lvl1pPr algn="r" defTabSz="414597">
              <a:lnSpc>
                <a:spcPct val="100000"/>
              </a:lnSpc>
              <a:buSzPct val="45000"/>
              <a:buFont typeface="StarSymbol" charset="0"/>
              <a:buNone/>
              <a:defRPr sz="1300">
                <a:solidFill>
                  <a:srgbClr val="000000"/>
                </a:solidFill>
                <a:latin typeface="Times New Roman" charset="0"/>
                <a:cs typeface="Lucida Sans Unicode" charset="0"/>
              </a:defRPr>
            </a:lvl1pPr>
          </a:lstStyle>
          <a:p>
            <a:pPr>
              <a:defRPr/>
            </a:pPr>
            <a:fld id="{4130352D-6977-784E-999E-306A273A73B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pic>
        <p:nvPicPr>
          <p:cNvPr id="13318" name="Picture 5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640" y="5715963"/>
            <a:ext cx="869760" cy="869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3320" name="Line 7"/>
          <p:cNvSpPr>
            <a:spLocks noChangeShapeType="1"/>
          </p:cNvSpPr>
          <p:nvPr/>
        </p:nvSpPr>
        <p:spPr bwMode="auto">
          <a:xfrm>
            <a:off x="685440" y="3429003"/>
            <a:ext cx="7771680" cy="1440"/>
          </a:xfrm>
          <a:prstGeom prst="line">
            <a:avLst/>
          </a:prstGeom>
          <a:noFill/>
          <a:ln w="38160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2918" tIns="41460" rIns="82918" bIns="41460"/>
          <a:lstStyle/>
          <a:p>
            <a:endParaRPr lang="en-US"/>
          </a:p>
        </p:txBody>
      </p:sp>
      <p:sp>
        <p:nvSpPr>
          <p:cNvPr id="13321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6480" y="1604328"/>
            <a:ext cx="8212320" cy="452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Cliccate per modificare il formato del testo della struttura</a:t>
            </a:r>
          </a:p>
          <a:p>
            <a:pPr lvl="1"/>
            <a:r>
              <a:rPr lang="en-GB"/>
              <a:t>Secondo livello struttura</a:t>
            </a:r>
          </a:p>
          <a:p>
            <a:pPr lvl="2"/>
            <a:r>
              <a:rPr lang="en-GB"/>
              <a:t>Terzo livello struttura</a:t>
            </a:r>
          </a:p>
          <a:p>
            <a:pPr lvl="3"/>
            <a:r>
              <a:rPr lang="en-GB"/>
              <a:t>Quarto livello struttura</a:t>
            </a:r>
          </a:p>
          <a:p>
            <a:pPr lvl="4"/>
            <a:r>
              <a:rPr lang="en-GB"/>
              <a:t>Quinto livello struttura</a:t>
            </a:r>
          </a:p>
          <a:p>
            <a:pPr lvl="4"/>
            <a:r>
              <a:rPr lang="en-GB"/>
              <a:t>Sesto livello struttura</a:t>
            </a:r>
          </a:p>
          <a:p>
            <a:pPr lvl="4"/>
            <a:r>
              <a:rPr lang="en-GB"/>
              <a:t>Settimo livello struttura</a:t>
            </a:r>
          </a:p>
          <a:p>
            <a:pPr lvl="4"/>
            <a:r>
              <a:rPr lang="en-GB"/>
              <a:t>Ottavo livello struttura</a:t>
            </a:r>
          </a:p>
          <a:p>
            <a:pPr lvl="4"/>
            <a:r>
              <a:rPr lang="en-GB"/>
              <a:t>Nono livello struttura</a:t>
            </a:r>
          </a:p>
        </p:txBody>
      </p:sp>
      <p:pic>
        <p:nvPicPr>
          <p:cNvPr id="10" name="Picture 6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5868988"/>
            <a:ext cx="27432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hf sldNum="0" hdr="0" ftr="0" dt="0"/>
  <p:txStyles>
    <p:titleStyle>
      <a:lvl1pPr algn="l" defTabSz="413201" rtl="0" eaLnBrk="0" fontAlgn="base" hangingPunct="0">
        <a:lnSpc>
          <a:spcPct val="11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charset="0"/>
        <a:defRPr sz="4000">
          <a:solidFill>
            <a:srgbClr val="000000"/>
          </a:solidFill>
          <a:latin typeface="+mj-lt"/>
          <a:ea typeface="ＭＳ Ｐゴシック" charset="0"/>
          <a:cs typeface="+mj-cs"/>
        </a:defRPr>
      </a:lvl1pPr>
      <a:lvl2pPr algn="l" defTabSz="413201" rtl="0" eaLnBrk="0" fontAlgn="base" hangingPunct="0">
        <a:lnSpc>
          <a:spcPct val="11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charset="0"/>
        <a:defRPr sz="4000">
          <a:solidFill>
            <a:srgbClr val="000000"/>
          </a:solidFill>
          <a:latin typeface="Lucida Sans Unicode" pitchFamily="32" charset="0"/>
          <a:ea typeface="ＭＳ Ｐゴシック" charset="0"/>
          <a:cs typeface="Lucida Sans Unicode" pitchFamily="32" charset="0"/>
        </a:defRPr>
      </a:lvl2pPr>
      <a:lvl3pPr algn="l" defTabSz="413201" rtl="0" eaLnBrk="0" fontAlgn="base" hangingPunct="0">
        <a:lnSpc>
          <a:spcPct val="11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charset="0"/>
        <a:defRPr sz="4000">
          <a:solidFill>
            <a:srgbClr val="000000"/>
          </a:solidFill>
          <a:latin typeface="Lucida Sans Unicode" pitchFamily="32" charset="0"/>
          <a:ea typeface="ＭＳ Ｐゴシック" charset="0"/>
          <a:cs typeface="Lucida Sans Unicode" pitchFamily="32" charset="0"/>
        </a:defRPr>
      </a:lvl3pPr>
      <a:lvl4pPr algn="l" defTabSz="413201" rtl="0" eaLnBrk="0" fontAlgn="base" hangingPunct="0">
        <a:lnSpc>
          <a:spcPct val="11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charset="0"/>
        <a:defRPr sz="4000">
          <a:solidFill>
            <a:srgbClr val="000000"/>
          </a:solidFill>
          <a:latin typeface="Lucida Sans Unicode" pitchFamily="32" charset="0"/>
          <a:ea typeface="ＭＳ Ｐゴシック" charset="0"/>
          <a:cs typeface="Lucida Sans Unicode" pitchFamily="32" charset="0"/>
        </a:defRPr>
      </a:lvl4pPr>
      <a:lvl5pPr algn="l" defTabSz="413201" rtl="0" eaLnBrk="0" fontAlgn="base" hangingPunct="0">
        <a:lnSpc>
          <a:spcPct val="11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charset="0"/>
        <a:defRPr sz="4000">
          <a:solidFill>
            <a:srgbClr val="000000"/>
          </a:solidFill>
          <a:latin typeface="Lucida Sans Unicode" pitchFamily="32" charset="0"/>
          <a:ea typeface="ＭＳ Ｐゴシック" charset="0"/>
          <a:cs typeface="Lucida Sans Unicode" pitchFamily="32" charset="0"/>
        </a:defRPr>
      </a:lvl5pPr>
      <a:lvl6pPr marL="414597" algn="l" defTabSz="414597" rtl="0" fontAlgn="base">
        <a:lnSpc>
          <a:spcPct val="11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pitchFamily="32" charset="0"/>
        <a:defRPr sz="4000">
          <a:solidFill>
            <a:srgbClr val="000000"/>
          </a:solidFill>
          <a:latin typeface="Lucida Sans Unicode" pitchFamily="32" charset="0"/>
          <a:cs typeface="Lucida Sans Unicode" pitchFamily="32" charset="0"/>
        </a:defRPr>
      </a:lvl6pPr>
      <a:lvl7pPr marL="829194" algn="l" defTabSz="414597" rtl="0" fontAlgn="base">
        <a:lnSpc>
          <a:spcPct val="11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pitchFamily="32" charset="0"/>
        <a:defRPr sz="4000">
          <a:solidFill>
            <a:srgbClr val="000000"/>
          </a:solidFill>
          <a:latin typeface="Lucida Sans Unicode" pitchFamily="32" charset="0"/>
          <a:cs typeface="Lucida Sans Unicode" pitchFamily="32" charset="0"/>
        </a:defRPr>
      </a:lvl7pPr>
      <a:lvl8pPr marL="1243791" algn="l" defTabSz="414597" rtl="0" fontAlgn="base">
        <a:lnSpc>
          <a:spcPct val="11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pitchFamily="32" charset="0"/>
        <a:defRPr sz="4000">
          <a:solidFill>
            <a:srgbClr val="000000"/>
          </a:solidFill>
          <a:latin typeface="Lucida Sans Unicode" pitchFamily="32" charset="0"/>
          <a:cs typeface="Lucida Sans Unicode" pitchFamily="32" charset="0"/>
        </a:defRPr>
      </a:lvl8pPr>
      <a:lvl9pPr marL="1658388" algn="l" defTabSz="414597" rtl="0" fontAlgn="base">
        <a:lnSpc>
          <a:spcPct val="11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pitchFamily="32" charset="0"/>
        <a:defRPr sz="4000">
          <a:solidFill>
            <a:srgbClr val="000000"/>
          </a:solidFill>
          <a:latin typeface="Lucida Sans Unicode" pitchFamily="32" charset="0"/>
          <a:cs typeface="Lucida Sans Unicode" pitchFamily="32" charset="0"/>
        </a:defRPr>
      </a:lvl9pPr>
    </p:titleStyle>
    <p:bodyStyle>
      <a:lvl1pPr marL="293703" indent="-293703" algn="l" defTabSz="413201" rtl="0" eaLnBrk="0" fontAlgn="base" hangingPunct="0">
        <a:lnSpc>
          <a:spcPct val="111000"/>
        </a:lnSpc>
        <a:spcBef>
          <a:spcPts val="726"/>
        </a:spcBef>
        <a:spcAft>
          <a:spcPts val="181"/>
        </a:spcAft>
        <a:buClr>
          <a:srgbClr val="000000"/>
        </a:buClr>
        <a:buSzPct val="100000"/>
        <a:buFont typeface="Wingdings" charset="0"/>
        <a:buChar char=""/>
        <a:defRPr sz="2900">
          <a:solidFill>
            <a:srgbClr val="000000"/>
          </a:solidFill>
          <a:latin typeface="+mn-lt"/>
          <a:ea typeface="ＭＳ Ｐゴシック" charset="0"/>
          <a:cs typeface="+mn-cs"/>
        </a:defRPr>
      </a:lvl1pPr>
      <a:lvl2pPr marL="656514" indent="-241874" algn="l" defTabSz="413201" rtl="0" eaLnBrk="0" fontAlgn="base" hangingPunct="0">
        <a:lnSpc>
          <a:spcPct val="111000"/>
        </a:lnSpc>
        <a:spcBef>
          <a:spcPts val="635"/>
        </a:spcBef>
        <a:spcAft>
          <a:spcPct val="0"/>
        </a:spcAft>
        <a:buClr>
          <a:srgbClr val="000000"/>
        </a:buClr>
        <a:buSzPct val="100000"/>
        <a:buFont typeface="Wingdings" charset="0"/>
        <a:buChar char=""/>
        <a:defRPr sz="2500">
          <a:solidFill>
            <a:srgbClr val="000000"/>
          </a:solidFill>
          <a:latin typeface="+mn-lt"/>
          <a:ea typeface="Lucida Sans Unicode" pitchFamily="-107" charset="-52"/>
          <a:cs typeface="+mn-cs"/>
        </a:defRPr>
      </a:lvl2pPr>
      <a:lvl3pPr marL="1035162" indent="-205881" algn="l" defTabSz="413201" rtl="0" eaLnBrk="0" fontAlgn="base" hangingPunct="0">
        <a:lnSpc>
          <a:spcPct val="111000"/>
        </a:lnSpc>
        <a:spcBef>
          <a:spcPts val="544"/>
        </a:spcBef>
        <a:spcAft>
          <a:spcPct val="0"/>
        </a:spcAft>
        <a:buClr>
          <a:srgbClr val="000000"/>
        </a:buClr>
        <a:buSzPct val="100000"/>
        <a:buFont typeface="Lucida Sans Unicode" charset="0"/>
        <a:buChar char="–"/>
        <a:defRPr sz="2200">
          <a:solidFill>
            <a:srgbClr val="000000"/>
          </a:solidFill>
          <a:latin typeface="+mn-lt"/>
          <a:ea typeface="Lucida Sans Unicode" pitchFamily="-107" charset="-52"/>
          <a:cs typeface="+mn-cs"/>
        </a:defRPr>
      </a:lvl3pPr>
      <a:lvl4pPr marL="1449801" indent="-205881" algn="l" defTabSz="413201" rtl="0" eaLnBrk="0" fontAlgn="base" hangingPunct="0">
        <a:lnSpc>
          <a:spcPct val="111000"/>
        </a:lnSpc>
        <a:spcBef>
          <a:spcPts val="454"/>
        </a:spcBef>
        <a:spcAft>
          <a:spcPct val="0"/>
        </a:spcAft>
        <a:buClr>
          <a:srgbClr val="000000"/>
        </a:buClr>
        <a:buSzPct val="100000"/>
        <a:buFont typeface="Lucida Sans Unicode" charset="0"/>
        <a:buChar char="–"/>
        <a:defRPr sz="1800">
          <a:solidFill>
            <a:srgbClr val="000000"/>
          </a:solidFill>
          <a:latin typeface="+mn-lt"/>
          <a:ea typeface="Lucida Sans Unicode" pitchFamily="-107" charset="-52"/>
          <a:cs typeface="+mn-cs"/>
        </a:defRPr>
      </a:lvl4pPr>
      <a:lvl5pPr marL="1864442" indent="-205881" algn="l" defTabSz="413201" rtl="0" eaLnBrk="0" fontAlgn="base" hangingPunct="0">
        <a:lnSpc>
          <a:spcPct val="111000"/>
        </a:lnSpc>
        <a:spcBef>
          <a:spcPts val="454"/>
        </a:spcBef>
        <a:spcAft>
          <a:spcPct val="0"/>
        </a:spcAft>
        <a:buClr>
          <a:srgbClr val="000000"/>
        </a:buClr>
        <a:buSzPct val="100000"/>
        <a:buFont typeface="Lucida Sans Unicode" charset="0"/>
        <a:buChar char="–"/>
        <a:defRPr sz="1800">
          <a:solidFill>
            <a:srgbClr val="000000"/>
          </a:solidFill>
          <a:latin typeface="+mn-lt"/>
          <a:ea typeface="Lucida Sans Unicode" pitchFamily="-107" charset="-52"/>
          <a:cs typeface="+mn-cs"/>
        </a:defRPr>
      </a:lvl5pPr>
      <a:lvl6pPr marL="2280285" indent="-207299" algn="l" defTabSz="414597" rtl="0" fontAlgn="base">
        <a:lnSpc>
          <a:spcPct val="111000"/>
        </a:lnSpc>
        <a:spcBef>
          <a:spcPts val="454"/>
        </a:spcBef>
        <a:spcAft>
          <a:spcPct val="0"/>
        </a:spcAft>
        <a:buClr>
          <a:srgbClr val="000000"/>
        </a:buClr>
        <a:buSzPct val="100000"/>
        <a:buFont typeface="Lucida Sans Unicode" pitchFamily="32" charset="0"/>
        <a:buChar char="–"/>
        <a:defRPr sz="1800">
          <a:solidFill>
            <a:srgbClr val="000000"/>
          </a:solidFill>
          <a:latin typeface="+mn-lt"/>
          <a:cs typeface="+mn-cs"/>
        </a:defRPr>
      </a:lvl6pPr>
      <a:lvl7pPr marL="2694882" indent="-207299" algn="l" defTabSz="414597" rtl="0" fontAlgn="base">
        <a:lnSpc>
          <a:spcPct val="111000"/>
        </a:lnSpc>
        <a:spcBef>
          <a:spcPts val="454"/>
        </a:spcBef>
        <a:spcAft>
          <a:spcPct val="0"/>
        </a:spcAft>
        <a:buClr>
          <a:srgbClr val="000000"/>
        </a:buClr>
        <a:buSzPct val="100000"/>
        <a:buFont typeface="Lucida Sans Unicode" pitchFamily="32" charset="0"/>
        <a:buChar char="–"/>
        <a:defRPr sz="1800">
          <a:solidFill>
            <a:srgbClr val="000000"/>
          </a:solidFill>
          <a:latin typeface="+mn-lt"/>
          <a:cs typeface="+mn-cs"/>
        </a:defRPr>
      </a:lvl7pPr>
      <a:lvl8pPr marL="3109480" indent="-207299" algn="l" defTabSz="414597" rtl="0" fontAlgn="base">
        <a:lnSpc>
          <a:spcPct val="111000"/>
        </a:lnSpc>
        <a:spcBef>
          <a:spcPts val="454"/>
        </a:spcBef>
        <a:spcAft>
          <a:spcPct val="0"/>
        </a:spcAft>
        <a:buClr>
          <a:srgbClr val="000000"/>
        </a:buClr>
        <a:buSzPct val="100000"/>
        <a:buFont typeface="Lucida Sans Unicode" pitchFamily="32" charset="0"/>
        <a:buChar char="–"/>
        <a:defRPr sz="1800">
          <a:solidFill>
            <a:srgbClr val="000000"/>
          </a:solidFill>
          <a:latin typeface="+mn-lt"/>
          <a:cs typeface="+mn-cs"/>
        </a:defRPr>
      </a:lvl8pPr>
      <a:lvl9pPr marL="3524075" indent="-207299" algn="l" defTabSz="414597" rtl="0" fontAlgn="base">
        <a:lnSpc>
          <a:spcPct val="111000"/>
        </a:lnSpc>
        <a:spcBef>
          <a:spcPts val="454"/>
        </a:spcBef>
        <a:spcAft>
          <a:spcPct val="0"/>
        </a:spcAft>
        <a:buClr>
          <a:srgbClr val="000000"/>
        </a:buClr>
        <a:buSzPct val="100000"/>
        <a:buFont typeface="Lucida Sans Unicode" pitchFamily="32" charset="0"/>
        <a:buChar char="–"/>
        <a:defRPr sz="1800">
          <a:solidFill>
            <a:srgbClr val="000000"/>
          </a:solidFill>
          <a:latin typeface="+mn-lt"/>
          <a:cs typeface="+mn-cs"/>
        </a:defRPr>
      </a:lvl9pPr>
    </p:bodyStyle>
    <p:otherStyle>
      <a:defPPr>
        <a:defRPr lang="it-IT"/>
      </a:defPPr>
      <a:lvl1pPr marL="0" algn="l" defTabSz="82919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14597" algn="l" defTabSz="82919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29194" algn="l" defTabSz="82919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43791" algn="l" defTabSz="82919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58388" algn="l" defTabSz="82919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72986" algn="l" defTabSz="82919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87583" algn="l" defTabSz="82919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902180" algn="l" defTabSz="82919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316777" algn="l" defTabSz="82919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hyperlink" Target="http://softeng.polito.it/courses/09CBI" TargetMode="External"/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nd/4.0/" TargetMode="External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emf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emf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"/>
          <p:cNvSpPr>
            <a:spLocks noGrp="1" noChangeArrowheads="1"/>
          </p:cNvSpPr>
          <p:nvPr>
            <p:ph type="title"/>
          </p:nvPr>
        </p:nvSpPr>
        <p:spPr>
          <a:xfrm>
            <a:off x="609600" y="2727740"/>
            <a:ext cx="7772400" cy="701260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 smtClean="0">
                <a:latin typeface="Lucida Sans Unicode" charset="0"/>
                <a:cs typeface="Lucida Sans Unicode" charset="0"/>
              </a:rPr>
              <a:t>Generics</a:t>
            </a:r>
            <a:endParaRPr lang="en-GB" b="1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6543575" y="5765749"/>
            <a:ext cx="1908943" cy="255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5000" rIns="90000" bIns="45000">
            <a:spAutoFit/>
          </a:bodyPr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algn="r" eaLnBrk="1" hangingPunct="1">
              <a:lnSpc>
                <a:spcPct val="87000"/>
              </a:lnSpc>
            </a:pPr>
            <a:r>
              <a:rPr lang="en-GB" sz="1200" dirty="0">
                <a:solidFill>
                  <a:srgbClr val="000000"/>
                </a:solidFill>
                <a:latin typeface="Tahoma" charset="0"/>
              </a:rPr>
              <a:t>Version </a:t>
            </a:r>
            <a:r>
              <a:rPr lang="en-GB" sz="1200" dirty="0" smtClean="0">
                <a:solidFill>
                  <a:srgbClr val="000000"/>
                </a:solidFill>
                <a:latin typeface="Tahoma" charset="0"/>
              </a:rPr>
              <a:t>2.8.1 </a:t>
            </a:r>
            <a:r>
              <a:rPr lang="en-GB" sz="1200" dirty="0" smtClean="0">
                <a:solidFill>
                  <a:srgbClr val="000000"/>
                </a:solidFill>
                <a:latin typeface="Tahoma" charset="0"/>
              </a:rPr>
              <a:t>- April 2017</a:t>
            </a:r>
            <a:endParaRPr lang="en-GB" sz="1200" dirty="0">
              <a:solidFill>
                <a:srgbClr val="000000"/>
              </a:solidFill>
              <a:latin typeface="Tahoma" charset="0"/>
            </a:endParaRPr>
          </a:p>
        </p:txBody>
      </p:sp>
      <p:sp>
        <p:nvSpPr>
          <p:cNvPr id="28676" name="Text Box 3"/>
          <p:cNvSpPr txBox="1">
            <a:spLocks noChangeArrowheads="1"/>
          </p:cNvSpPr>
          <p:nvPr/>
        </p:nvSpPr>
        <p:spPr bwMode="auto">
          <a:xfrm>
            <a:off x="6680242" y="6003016"/>
            <a:ext cx="1780190" cy="23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algn="r" eaLnBrk="1" hangingPunct="1"/>
            <a:r>
              <a:rPr lang="en-GB" sz="1000" dirty="0">
                <a:solidFill>
                  <a:srgbClr val="000000"/>
                </a:solidFill>
              </a:rPr>
              <a:t>© </a:t>
            </a:r>
            <a:r>
              <a:rPr lang="en-GB" sz="1000" dirty="0" smtClean="0">
                <a:solidFill>
                  <a:srgbClr val="000000"/>
                </a:solidFill>
              </a:rPr>
              <a:t>Marco </a:t>
            </a:r>
            <a:r>
              <a:rPr lang="en-GB" sz="1000" dirty="0">
                <a:solidFill>
                  <a:srgbClr val="000000"/>
                </a:solidFill>
              </a:rPr>
              <a:t>Torchiano, </a:t>
            </a:r>
            <a:r>
              <a:rPr lang="en-GB" sz="1000" dirty="0" smtClean="0">
                <a:solidFill>
                  <a:srgbClr val="000000"/>
                </a:solidFill>
              </a:rPr>
              <a:t>2017</a:t>
            </a:r>
            <a:endParaRPr lang="en-GB" sz="1000" dirty="0">
              <a:solidFill>
                <a:srgbClr val="000000"/>
              </a:solidFill>
            </a:endParaRPr>
          </a:p>
        </p:txBody>
      </p:sp>
      <p:pic>
        <p:nvPicPr>
          <p:cNvPr id="286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9925" y="6310313"/>
            <a:ext cx="358775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867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3163" y="6308725"/>
            <a:ext cx="360362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8679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9575" y="6308725"/>
            <a:ext cx="358775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8680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963" y="6297613"/>
            <a:ext cx="10541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2057400" y="3789040"/>
            <a:ext cx="6400800" cy="199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marL="338138" indent="-338138" algn="l" defTabSz="457200" rtl="0" eaLnBrk="0" fontAlgn="base" hangingPunct="0">
              <a:lnSpc>
                <a:spcPct val="103000"/>
              </a:lnSpc>
              <a:spcBef>
                <a:spcPts val="8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Wingdings" charset="0"/>
              <a:buChar char=""/>
              <a:defRPr sz="3200">
                <a:solidFill>
                  <a:srgbClr val="000000"/>
                </a:solidFill>
                <a:latin typeface="+mn-lt"/>
                <a:ea typeface="ＭＳ Ｐゴシック" charset="0"/>
                <a:cs typeface="+mn-cs"/>
              </a:defRPr>
            </a:lvl1pPr>
            <a:lvl2pPr marL="738188" indent="-280988" algn="l" defTabSz="457200" rtl="0" eaLnBrk="0" fontAlgn="base" hangingPunct="0">
              <a:lnSpc>
                <a:spcPct val="103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charset="0"/>
              <a:buChar char=""/>
              <a:defRPr sz="2800">
                <a:solidFill>
                  <a:srgbClr val="000000"/>
                </a:solidFill>
                <a:latin typeface="+mn-lt"/>
                <a:ea typeface="Lucida Sans Unicode" charset="-52"/>
                <a:cs typeface="+mn-cs"/>
              </a:defRPr>
            </a:lvl2pPr>
            <a:lvl3pPr marL="1143000" indent="-228600" algn="l" defTabSz="457200" rtl="0" eaLnBrk="0" fontAlgn="base" hangingPunct="0">
              <a:lnSpc>
                <a:spcPct val="103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Lucida Sans Unicode" charset="0"/>
              <a:buChar char="–"/>
              <a:defRPr sz="2400">
                <a:solidFill>
                  <a:srgbClr val="000000"/>
                </a:solidFill>
                <a:latin typeface="+mn-lt"/>
                <a:ea typeface="Lucida Sans Unicode" charset="-52"/>
                <a:cs typeface="+mn-cs"/>
              </a:defRPr>
            </a:lvl3pPr>
            <a:lvl4pPr marL="1600200" indent="-228600" algn="l" defTabSz="457200" rtl="0" eaLnBrk="0" fontAlgn="base" hangingPunct="0">
              <a:lnSpc>
                <a:spcPct val="10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Lucida Sans Unicode" charset="0"/>
              <a:buChar char="–"/>
              <a:defRPr sz="2000">
                <a:solidFill>
                  <a:srgbClr val="000000"/>
                </a:solidFill>
                <a:latin typeface="+mn-lt"/>
                <a:ea typeface="Lucida Sans Unicode" charset="-52"/>
                <a:cs typeface="+mn-cs"/>
              </a:defRPr>
            </a:lvl4pPr>
            <a:lvl5pPr marL="2057400" indent="-228600" algn="l" defTabSz="457200" rtl="0" eaLnBrk="0" fontAlgn="base" hangingPunct="0">
              <a:lnSpc>
                <a:spcPct val="10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Lucida Sans Unicode" charset="0"/>
              <a:buChar char="–"/>
              <a:defRPr sz="2000">
                <a:solidFill>
                  <a:srgbClr val="000000"/>
                </a:solidFill>
                <a:latin typeface="+mn-lt"/>
                <a:ea typeface="Lucida Sans Unicode" charset="-52"/>
                <a:cs typeface="+mn-cs"/>
              </a:defRPr>
            </a:lvl5pPr>
            <a:lvl6pPr marL="2514600" indent="-228600" algn="l" defTabSz="457200" rtl="0" fontAlgn="base">
              <a:lnSpc>
                <a:spcPct val="10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Lucida Sans Unicode" pitchFamily="34" charset="0"/>
              <a:buChar char="–"/>
              <a:defRPr sz="2000">
                <a:solidFill>
                  <a:srgbClr val="000000"/>
                </a:solidFill>
                <a:latin typeface="+mn-lt"/>
                <a:cs typeface="+mn-cs"/>
              </a:defRPr>
            </a:lvl6pPr>
            <a:lvl7pPr marL="2971800" indent="-228600" algn="l" defTabSz="457200" rtl="0" fontAlgn="base">
              <a:lnSpc>
                <a:spcPct val="10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Lucida Sans Unicode" pitchFamily="34" charset="0"/>
              <a:buChar char="–"/>
              <a:defRPr sz="2000">
                <a:solidFill>
                  <a:srgbClr val="000000"/>
                </a:solidFill>
                <a:latin typeface="+mn-lt"/>
                <a:cs typeface="+mn-cs"/>
              </a:defRPr>
            </a:lvl7pPr>
            <a:lvl8pPr marL="3429000" indent="-228600" algn="l" defTabSz="457200" rtl="0" fontAlgn="base">
              <a:lnSpc>
                <a:spcPct val="10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Lucida Sans Unicode" pitchFamily="34" charset="0"/>
              <a:buChar char="–"/>
              <a:defRPr sz="2000">
                <a:solidFill>
                  <a:srgbClr val="000000"/>
                </a:solidFill>
                <a:latin typeface="+mn-lt"/>
                <a:cs typeface="+mn-cs"/>
              </a:defRPr>
            </a:lvl8pPr>
            <a:lvl9pPr marL="3886200" indent="-228600" algn="l" defTabSz="457200" rtl="0" fontAlgn="base">
              <a:lnSpc>
                <a:spcPct val="10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Lucida Sans Unicode" pitchFamily="34" charset="0"/>
              <a:buChar char="–"/>
              <a:defRPr sz="2000">
                <a:solidFill>
                  <a:srgbClr val="000000"/>
                </a:solidFill>
                <a:latin typeface="+mn-lt"/>
                <a:cs typeface="+mn-cs"/>
              </a:defRPr>
            </a:lvl9pPr>
          </a:lstStyle>
          <a:p>
            <a:pPr marL="0" indent="0" algn="r" eaLnBrk="1" hangingPunct="1">
              <a:buFont typeface="Wingdings" charset="0"/>
              <a:buNone/>
            </a:pPr>
            <a:r>
              <a:rPr lang="it-IT" dirty="0" smtClean="0">
                <a:latin typeface="Lucida Sans Unicode" charset="0"/>
              </a:rPr>
              <a:t>Object </a:t>
            </a:r>
            <a:r>
              <a:rPr lang="it-IT" dirty="0" err="1" smtClean="0">
                <a:latin typeface="Lucida Sans Unicode" charset="0"/>
              </a:rPr>
              <a:t>Oriented</a:t>
            </a:r>
            <a:r>
              <a:rPr lang="it-IT" dirty="0" smtClean="0">
                <a:latin typeface="Lucida Sans Unicode" charset="0"/>
              </a:rPr>
              <a:t> Programming</a:t>
            </a:r>
          </a:p>
          <a:p>
            <a:pPr marL="0" indent="0" algn="r" eaLnBrk="1" hangingPunct="1">
              <a:buFont typeface="Wingdings" charset="0"/>
              <a:buNone/>
            </a:pPr>
            <a:endParaRPr lang="it-IT" dirty="0" smtClean="0">
              <a:latin typeface="Lucida Sans Unicode" charset="0"/>
            </a:endParaRPr>
          </a:p>
          <a:p>
            <a:pPr marL="0" indent="0" algn="r" eaLnBrk="1" hangingPunct="1">
              <a:buFont typeface="Wingdings" charset="0"/>
              <a:buNone/>
            </a:pPr>
            <a:r>
              <a:rPr lang="it-IT" sz="2000" b="1" dirty="0" smtClean="0">
                <a:solidFill>
                  <a:schemeClr val="tx1"/>
                </a:solidFill>
                <a:latin typeface="Courier New"/>
                <a:cs typeface="Courier New"/>
              </a:rPr>
              <a:t>http://</a:t>
            </a:r>
            <a:r>
              <a:rPr lang="it-IT" sz="2000" b="1" dirty="0" err="1" smtClean="0">
                <a:solidFill>
                  <a:schemeClr val="tx1"/>
                </a:solidFill>
                <a:latin typeface="Courier New"/>
                <a:cs typeface="Courier New"/>
              </a:rPr>
              <a:t>softeng.polito.it</a:t>
            </a:r>
            <a:r>
              <a:rPr lang="it-IT" sz="2000" b="1" dirty="0" smtClean="0">
                <a:solidFill>
                  <a:schemeClr val="tx1"/>
                </a:solidFill>
                <a:latin typeface="Courier New"/>
                <a:cs typeface="Courier New"/>
              </a:rPr>
              <a:t>/</a:t>
            </a:r>
            <a:r>
              <a:rPr lang="it-IT" sz="2000" b="1" dirty="0" err="1" smtClean="0">
                <a:solidFill>
                  <a:schemeClr val="tx1"/>
                </a:solidFill>
                <a:latin typeface="Courier New"/>
                <a:cs typeface="Courier New"/>
              </a:rPr>
              <a:t>courses</a:t>
            </a:r>
            <a:r>
              <a:rPr lang="it-IT" sz="2000" b="1" dirty="0" smtClean="0">
                <a:solidFill>
                  <a:schemeClr val="tx1"/>
                </a:solidFill>
                <a:latin typeface="Courier New"/>
                <a:cs typeface="Courier New"/>
              </a:rPr>
              <a:t>/09CBI  </a:t>
            </a:r>
          </a:p>
          <a:p>
            <a:pPr marL="0" indent="0" algn="r" eaLnBrk="1" hangingPunct="1">
              <a:buFont typeface="Wingdings" charset="0"/>
              <a:buNone/>
            </a:pPr>
            <a:endParaRPr lang="it-IT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11" name="Rounded Rectangle 10">
            <a:hlinkClick r:id="rId7"/>
          </p:cNvPr>
          <p:cNvSpPr/>
          <p:nvPr/>
        </p:nvSpPr>
        <p:spPr bwMode="auto">
          <a:xfrm>
            <a:off x="2627784" y="5013176"/>
            <a:ext cx="5904656" cy="288032"/>
          </a:xfrm>
          <a:prstGeom prst="roundRect">
            <a:avLst/>
          </a:prstGeom>
          <a:noFill/>
          <a:ln w="9525" cap="flat" cmpd="sng" algn="ctr">
            <a:solidFill>
              <a:schemeClr val="accent6">
                <a:lumMod val="75000"/>
              </a:schemeClr>
            </a:solidFill>
            <a:prstDash val="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1" fontAlgn="base" latinLnBrk="0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Times New Roman" pitchFamily="18" charset="0"/>
              <a:cs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038236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1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tabLst>
                <a:tab pos="0" algn="l"/>
                <a:tab pos="455470" algn="l"/>
                <a:tab pos="912529" algn="l"/>
                <a:tab pos="1369587" algn="l"/>
                <a:tab pos="1826645" algn="l"/>
                <a:tab pos="2283702" algn="l"/>
                <a:tab pos="2740761" algn="l"/>
                <a:tab pos="3197820" algn="l"/>
                <a:tab pos="3654876" algn="l"/>
                <a:tab pos="4110347" algn="l"/>
                <a:tab pos="4568991" algn="l"/>
                <a:tab pos="5024462" algn="l"/>
                <a:tab pos="5483107" algn="l"/>
                <a:tab pos="5938577" algn="l"/>
                <a:tab pos="6397223" algn="l"/>
                <a:tab pos="6852693" algn="l"/>
                <a:tab pos="7309751" algn="l"/>
                <a:tab pos="7766809" algn="l"/>
                <a:tab pos="8223867" algn="l"/>
                <a:tab pos="8680925" algn="l"/>
                <a:tab pos="9137981" algn="l"/>
              </a:tabLst>
            </a:pPr>
            <a:r>
              <a:rPr lang="en-GB">
                <a:latin typeface="Lucida Sans Unicode" charset="0"/>
                <a:cs typeface="ＭＳ Ｐゴシック" charset="0"/>
              </a:rPr>
              <a:t>Licensing Note</a:t>
            </a:r>
          </a:p>
        </p:txBody>
      </p:sp>
      <p:sp>
        <p:nvSpPr>
          <p:cNvPr id="166915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052513"/>
            <a:ext cx="8229600" cy="5805487"/>
          </a:xfrm>
          <a:solidFill>
            <a:srgbClr val="FFFFFF"/>
          </a:solidFill>
        </p:spPr>
        <p:txBody>
          <a:bodyPr>
            <a:normAutofit/>
          </a:bodyPr>
          <a:lstStyle/>
          <a:p>
            <a:pPr marL="0" indent="0" defTabSz="414554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buNone/>
              <a:tabLst>
                <a:tab pos="455376" algn="l"/>
                <a:tab pos="912340" algn="l"/>
                <a:tab pos="1369303" algn="l"/>
                <a:tab pos="1826266" algn="l"/>
                <a:tab pos="2283230" algn="l"/>
                <a:tab pos="2740193" algn="l"/>
                <a:tab pos="3197156" algn="l"/>
                <a:tab pos="3654118" algn="l"/>
                <a:tab pos="4111082" algn="l"/>
                <a:tab pos="4568044" algn="l"/>
                <a:tab pos="5025008" algn="l"/>
                <a:tab pos="5481971" algn="l"/>
                <a:tab pos="5938933" algn="l"/>
                <a:tab pos="6395897" algn="l"/>
                <a:tab pos="6852859" algn="l"/>
                <a:tab pos="7309823" algn="l"/>
                <a:tab pos="7766786" algn="l"/>
                <a:tab pos="8223749" algn="l"/>
                <a:tab pos="8680712" algn="l"/>
                <a:tab pos="9137675" algn="l"/>
              </a:tabLst>
              <a:defRPr/>
            </a:pPr>
            <a:r>
              <a:rPr lang="en-GB" sz="1800" b="1" dirty="0"/>
              <a:t>This work is licensed under the Creative Commons Attribution-</a:t>
            </a:r>
            <a:r>
              <a:rPr lang="en-GB" sz="1800" b="1" dirty="0" err="1"/>
              <a:t>NonCommercial</a:t>
            </a:r>
            <a:r>
              <a:rPr lang="en-GB" sz="1800" b="1" dirty="0"/>
              <a:t>-</a:t>
            </a:r>
            <a:r>
              <a:rPr lang="en-GB" sz="1800" b="1" dirty="0" err="1"/>
              <a:t>NoDerivatives</a:t>
            </a:r>
            <a:r>
              <a:rPr lang="en-GB" sz="1800" b="1" dirty="0"/>
              <a:t> 4.0 International License. </a:t>
            </a:r>
          </a:p>
          <a:p>
            <a:pPr marL="0" indent="0" defTabSz="414554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buNone/>
              <a:tabLst>
                <a:tab pos="455376" algn="l"/>
                <a:tab pos="912340" algn="l"/>
                <a:tab pos="1369303" algn="l"/>
                <a:tab pos="1826266" algn="l"/>
                <a:tab pos="2283230" algn="l"/>
                <a:tab pos="2740193" algn="l"/>
                <a:tab pos="3197156" algn="l"/>
                <a:tab pos="3654118" algn="l"/>
                <a:tab pos="4111082" algn="l"/>
                <a:tab pos="4568044" algn="l"/>
                <a:tab pos="5025008" algn="l"/>
                <a:tab pos="5481971" algn="l"/>
                <a:tab pos="5938933" algn="l"/>
                <a:tab pos="6395897" algn="l"/>
                <a:tab pos="6852859" algn="l"/>
                <a:tab pos="7309823" algn="l"/>
                <a:tab pos="7766786" algn="l"/>
                <a:tab pos="8223749" algn="l"/>
                <a:tab pos="8680712" algn="l"/>
                <a:tab pos="9137675" algn="l"/>
              </a:tabLst>
              <a:defRPr/>
            </a:pPr>
            <a:r>
              <a:rPr lang="en-GB" sz="1800" b="1" dirty="0"/>
              <a:t>To view a copy of this license, visit </a:t>
            </a:r>
            <a:r>
              <a:rPr lang="en-GB" sz="1800" b="1" dirty="0">
                <a:hlinkClick r:id="rId3"/>
              </a:rPr>
              <a:t>http://creativecommons.org/licenses/by-nc-nd/4.0/</a:t>
            </a:r>
            <a:r>
              <a:rPr lang="en-GB" sz="1800" b="1" dirty="0"/>
              <a:t>.</a:t>
            </a:r>
          </a:p>
          <a:p>
            <a:pPr marL="0" indent="0" defTabSz="414554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buNone/>
              <a:tabLst>
                <a:tab pos="455376" algn="l"/>
                <a:tab pos="912340" algn="l"/>
                <a:tab pos="1369303" algn="l"/>
                <a:tab pos="1826266" algn="l"/>
                <a:tab pos="2283230" algn="l"/>
                <a:tab pos="2740193" algn="l"/>
                <a:tab pos="3197156" algn="l"/>
                <a:tab pos="3654118" algn="l"/>
                <a:tab pos="4111082" algn="l"/>
                <a:tab pos="4568044" algn="l"/>
                <a:tab pos="5025008" algn="l"/>
                <a:tab pos="5481971" algn="l"/>
                <a:tab pos="5938933" algn="l"/>
                <a:tab pos="6395897" algn="l"/>
                <a:tab pos="6852859" algn="l"/>
                <a:tab pos="7309823" algn="l"/>
                <a:tab pos="7766786" algn="l"/>
                <a:tab pos="8223749" algn="l"/>
                <a:tab pos="8680712" algn="l"/>
                <a:tab pos="9137675" algn="l"/>
              </a:tabLst>
              <a:defRPr/>
            </a:pPr>
            <a:r>
              <a:rPr lang="en-GB" sz="1800" b="1" dirty="0"/>
              <a:t>You are free:</a:t>
            </a:r>
            <a:r>
              <a:rPr lang="en-GB" sz="1800" dirty="0"/>
              <a:t>  to copy, distribute, display, and perform the work </a:t>
            </a:r>
          </a:p>
          <a:p>
            <a:pPr marL="295081" indent="-295081" defTabSz="414554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tabLst>
                <a:tab pos="455376" algn="l"/>
                <a:tab pos="912340" algn="l"/>
                <a:tab pos="1369303" algn="l"/>
                <a:tab pos="1826266" algn="l"/>
                <a:tab pos="2283230" algn="l"/>
                <a:tab pos="2740193" algn="l"/>
                <a:tab pos="3197156" algn="l"/>
                <a:tab pos="3654118" algn="l"/>
                <a:tab pos="4111082" algn="l"/>
                <a:tab pos="4568044" algn="l"/>
                <a:tab pos="5025008" algn="l"/>
                <a:tab pos="5481971" algn="l"/>
                <a:tab pos="5938933" algn="l"/>
                <a:tab pos="6395897" algn="l"/>
                <a:tab pos="6852859" algn="l"/>
                <a:tab pos="7309823" algn="l"/>
                <a:tab pos="7766786" algn="l"/>
                <a:tab pos="8223749" algn="l"/>
                <a:tab pos="8680712" algn="l"/>
                <a:tab pos="9137675" algn="l"/>
              </a:tabLst>
              <a:defRPr/>
            </a:pPr>
            <a:endParaRPr lang="en-GB" sz="1800" dirty="0"/>
          </a:p>
          <a:p>
            <a:pPr marL="334791" indent="-334791" defTabSz="414554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buNone/>
              <a:tabLst>
                <a:tab pos="455376" algn="l"/>
                <a:tab pos="912340" algn="l"/>
                <a:tab pos="1369303" algn="l"/>
                <a:tab pos="1826266" algn="l"/>
                <a:tab pos="2283230" algn="l"/>
                <a:tab pos="2740193" algn="l"/>
                <a:tab pos="3197156" algn="l"/>
                <a:tab pos="3654118" algn="l"/>
                <a:tab pos="4111082" algn="l"/>
                <a:tab pos="4568044" algn="l"/>
                <a:tab pos="5025008" algn="l"/>
                <a:tab pos="5481971" algn="l"/>
                <a:tab pos="5938933" algn="l"/>
                <a:tab pos="6395897" algn="l"/>
                <a:tab pos="6852859" algn="l"/>
                <a:tab pos="7309823" algn="l"/>
                <a:tab pos="7766786" algn="l"/>
                <a:tab pos="8223749" algn="l"/>
                <a:tab pos="8680712" algn="l"/>
                <a:tab pos="9137675" algn="l"/>
              </a:tabLst>
              <a:defRPr/>
            </a:pPr>
            <a:r>
              <a:rPr lang="en-GB" sz="1800" b="1" dirty="0"/>
              <a:t>Under the following conditions:</a:t>
            </a:r>
            <a:r>
              <a:rPr lang="en-GB" sz="1800" dirty="0"/>
              <a:t> </a:t>
            </a:r>
          </a:p>
          <a:p>
            <a:pPr marL="334791" indent="-334791" defTabSz="414554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tabLst>
                <a:tab pos="455376" algn="l"/>
                <a:tab pos="912340" algn="l"/>
                <a:tab pos="1369303" algn="l"/>
                <a:tab pos="1826266" algn="l"/>
                <a:tab pos="2283230" algn="l"/>
                <a:tab pos="2740193" algn="l"/>
                <a:tab pos="3197156" algn="l"/>
                <a:tab pos="3654118" algn="l"/>
                <a:tab pos="4111082" algn="l"/>
                <a:tab pos="4568044" algn="l"/>
                <a:tab pos="5025008" algn="l"/>
                <a:tab pos="5481971" algn="l"/>
                <a:tab pos="5938933" algn="l"/>
                <a:tab pos="6395897" algn="l"/>
                <a:tab pos="6852859" algn="l"/>
                <a:tab pos="7309823" algn="l"/>
                <a:tab pos="7766786" algn="l"/>
                <a:tab pos="8223749" algn="l"/>
                <a:tab pos="8680712" algn="l"/>
                <a:tab pos="9137675" algn="l"/>
              </a:tabLst>
              <a:defRPr/>
            </a:pPr>
            <a:r>
              <a:rPr lang="en-GB" sz="1800" b="1" dirty="0"/>
              <a:t>Attribution</a:t>
            </a:r>
            <a:r>
              <a:rPr lang="en-GB" sz="1800" dirty="0"/>
              <a:t>. You must attribute the work in the manner specified by the author or licensor.</a:t>
            </a:r>
          </a:p>
          <a:p>
            <a:pPr marL="334791" indent="-334791" defTabSz="414554" eaLnBrk="1" hangingPunct="1">
              <a:lnSpc>
                <a:spcPct val="80000"/>
              </a:lnSpc>
              <a:spcBef>
                <a:spcPts val="300"/>
              </a:spcBef>
              <a:buNone/>
              <a:tabLst>
                <a:tab pos="455376" algn="l"/>
                <a:tab pos="912340" algn="l"/>
                <a:tab pos="1369303" algn="l"/>
                <a:tab pos="1826266" algn="l"/>
                <a:tab pos="2283230" algn="l"/>
                <a:tab pos="2740193" algn="l"/>
                <a:tab pos="3197156" algn="l"/>
                <a:tab pos="3654118" algn="l"/>
                <a:tab pos="4111082" algn="l"/>
                <a:tab pos="4568044" algn="l"/>
                <a:tab pos="5025008" algn="l"/>
                <a:tab pos="5481971" algn="l"/>
                <a:tab pos="5938933" algn="l"/>
                <a:tab pos="6395897" algn="l"/>
                <a:tab pos="6852859" algn="l"/>
                <a:tab pos="7309823" algn="l"/>
                <a:tab pos="7766786" algn="l"/>
                <a:tab pos="8223749" algn="l"/>
                <a:tab pos="8680712" algn="l"/>
                <a:tab pos="9137675" algn="l"/>
              </a:tabLst>
              <a:defRPr/>
            </a:pPr>
            <a:endParaRPr lang="en-GB" sz="1200" dirty="0"/>
          </a:p>
          <a:p>
            <a:pPr marL="334791" indent="-334791" defTabSz="414554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tabLst>
                <a:tab pos="455376" algn="l"/>
                <a:tab pos="912340" algn="l"/>
                <a:tab pos="1369303" algn="l"/>
                <a:tab pos="1826266" algn="l"/>
                <a:tab pos="2283230" algn="l"/>
                <a:tab pos="2740193" algn="l"/>
                <a:tab pos="3197156" algn="l"/>
                <a:tab pos="3654118" algn="l"/>
                <a:tab pos="4111082" algn="l"/>
                <a:tab pos="4568044" algn="l"/>
                <a:tab pos="5025008" algn="l"/>
                <a:tab pos="5481971" algn="l"/>
                <a:tab pos="5938933" algn="l"/>
                <a:tab pos="6395897" algn="l"/>
                <a:tab pos="6852859" algn="l"/>
                <a:tab pos="7309823" algn="l"/>
                <a:tab pos="7766786" algn="l"/>
                <a:tab pos="8223749" algn="l"/>
                <a:tab pos="8680712" algn="l"/>
                <a:tab pos="9137675" algn="l"/>
              </a:tabLst>
              <a:defRPr/>
            </a:pPr>
            <a:r>
              <a:rPr lang="en-GB" sz="1800" b="1" dirty="0"/>
              <a:t>Non-commercial</a:t>
            </a:r>
            <a:r>
              <a:rPr lang="en-GB" sz="1800" dirty="0"/>
              <a:t>. You may not use this work for commercial purposes.  </a:t>
            </a:r>
          </a:p>
          <a:p>
            <a:pPr marL="1450940" lvl="3" indent="-207278" defTabSz="414554" eaLnBrk="1" hangingPunct="1">
              <a:lnSpc>
                <a:spcPct val="80000"/>
              </a:lnSpc>
              <a:spcBef>
                <a:spcPts val="300"/>
              </a:spcBef>
              <a:tabLst>
                <a:tab pos="455376" algn="l"/>
                <a:tab pos="912340" algn="l"/>
                <a:tab pos="1369303" algn="l"/>
                <a:tab pos="1826266" algn="l"/>
                <a:tab pos="2283230" algn="l"/>
                <a:tab pos="2740193" algn="l"/>
                <a:tab pos="3197156" algn="l"/>
                <a:tab pos="3654118" algn="l"/>
                <a:tab pos="4111082" algn="l"/>
                <a:tab pos="4568044" algn="l"/>
                <a:tab pos="5025008" algn="l"/>
                <a:tab pos="5481971" algn="l"/>
                <a:tab pos="5938933" algn="l"/>
                <a:tab pos="6395897" algn="l"/>
                <a:tab pos="6852859" algn="l"/>
                <a:tab pos="7309823" algn="l"/>
                <a:tab pos="7766786" algn="l"/>
                <a:tab pos="8223749" algn="l"/>
                <a:tab pos="8680712" algn="l"/>
                <a:tab pos="9137675" algn="l"/>
              </a:tabLst>
              <a:defRPr/>
            </a:pPr>
            <a:endParaRPr lang="en-GB" sz="1200" dirty="0"/>
          </a:p>
          <a:p>
            <a:pPr marL="334791" indent="-334791" defTabSz="414554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tabLst>
                <a:tab pos="455376" algn="l"/>
                <a:tab pos="912340" algn="l"/>
                <a:tab pos="1369303" algn="l"/>
                <a:tab pos="1826266" algn="l"/>
                <a:tab pos="2283230" algn="l"/>
                <a:tab pos="2740193" algn="l"/>
                <a:tab pos="3197156" algn="l"/>
                <a:tab pos="3654118" algn="l"/>
                <a:tab pos="4111082" algn="l"/>
                <a:tab pos="4568044" algn="l"/>
                <a:tab pos="5025008" algn="l"/>
                <a:tab pos="5481971" algn="l"/>
                <a:tab pos="5938933" algn="l"/>
                <a:tab pos="6395897" algn="l"/>
                <a:tab pos="6852859" algn="l"/>
                <a:tab pos="7309823" algn="l"/>
                <a:tab pos="7766786" algn="l"/>
                <a:tab pos="8223749" algn="l"/>
                <a:tab pos="8680712" algn="l"/>
                <a:tab pos="9137675" algn="l"/>
              </a:tabLst>
              <a:defRPr/>
            </a:pPr>
            <a:r>
              <a:rPr lang="en-GB" sz="1800" b="1" dirty="0"/>
              <a:t>No Derivative Works</a:t>
            </a:r>
            <a:r>
              <a:rPr lang="en-GB" sz="1800" dirty="0"/>
              <a:t>. You may not alter, transform, or build upon this work. </a:t>
            </a:r>
          </a:p>
          <a:p>
            <a:pPr marL="334791" indent="-334791" defTabSz="414554" eaLnBrk="1" hangingPunct="1">
              <a:lnSpc>
                <a:spcPct val="80000"/>
              </a:lnSpc>
              <a:spcBef>
                <a:spcPts val="300"/>
              </a:spcBef>
              <a:buNone/>
              <a:tabLst>
                <a:tab pos="455376" algn="l"/>
                <a:tab pos="912340" algn="l"/>
                <a:tab pos="1369303" algn="l"/>
                <a:tab pos="1826266" algn="l"/>
                <a:tab pos="2283230" algn="l"/>
                <a:tab pos="2740193" algn="l"/>
                <a:tab pos="3197156" algn="l"/>
                <a:tab pos="3654118" algn="l"/>
                <a:tab pos="4111082" algn="l"/>
                <a:tab pos="4568044" algn="l"/>
                <a:tab pos="5025008" algn="l"/>
                <a:tab pos="5481971" algn="l"/>
                <a:tab pos="5938933" algn="l"/>
                <a:tab pos="6395897" algn="l"/>
                <a:tab pos="6852859" algn="l"/>
                <a:tab pos="7309823" algn="l"/>
                <a:tab pos="7766786" algn="l"/>
                <a:tab pos="8223749" algn="l"/>
                <a:tab pos="8680712" algn="l"/>
                <a:tab pos="9137675" algn="l"/>
              </a:tabLst>
              <a:defRPr/>
            </a:pPr>
            <a:endParaRPr lang="en-GB" sz="1200" dirty="0"/>
          </a:p>
          <a:p>
            <a:pPr marL="334791" indent="-334791" defTabSz="414554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tabLst>
                <a:tab pos="455376" algn="l"/>
                <a:tab pos="912340" algn="l"/>
                <a:tab pos="1369303" algn="l"/>
                <a:tab pos="1826266" algn="l"/>
                <a:tab pos="2283230" algn="l"/>
                <a:tab pos="2740193" algn="l"/>
                <a:tab pos="3197156" algn="l"/>
                <a:tab pos="3654118" algn="l"/>
                <a:tab pos="4111082" algn="l"/>
                <a:tab pos="4568044" algn="l"/>
                <a:tab pos="5025008" algn="l"/>
                <a:tab pos="5481971" algn="l"/>
                <a:tab pos="5938933" algn="l"/>
                <a:tab pos="6395897" algn="l"/>
                <a:tab pos="6852859" algn="l"/>
                <a:tab pos="7309823" algn="l"/>
                <a:tab pos="7766786" algn="l"/>
                <a:tab pos="8223749" algn="l"/>
                <a:tab pos="8680712" algn="l"/>
                <a:tab pos="9137675" algn="l"/>
              </a:tabLst>
              <a:defRPr/>
            </a:pPr>
            <a:r>
              <a:rPr lang="en-GB" sz="1800" dirty="0"/>
              <a:t>For any reuse or distribution, you must make clear to others the license terms of this work. </a:t>
            </a:r>
          </a:p>
          <a:p>
            <a:pPr marL="334791" indent="-334791" defTabSz="414554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tabLst>
                <a:tab pos="455376" algn="l"/>
                <a:tab pos="912340" algn="l"/>
                <a:tab pos="1369303" algn="l"/>
                <a:tab pos="1826266" algn="l"/>
                <a:tab pos="2283230" algn="l"/>
                <a:tab pos="2740193" algn="l"/>
                <a:tab pos="3197156" algn="l"/>
                <a:tab pos="3654118" algn="l"/>
                <a:tab pos="4111082" algn="l"/>
                <a:tab pos="4568044" algn="l"/>
                <a:tab pos="5025008" algn="l"/>
                <a:tab pos="5481971" algn="l"/>
                <a:tab pos="5938933" algn="l"/>
                <a:tab pos="6395897" algn="l"/>
                <a:tab pos="6852859" algn="l"/>
                <a:tab pos="7309823" algn="l"/>
                <a:tab pos="7766786" algn="l"/>
                <a:tab pos="8223749" algn="l"/>
                <a:tab pos="8680712" algn="l"/>
                <a:tab pos="9137675" algn="l"/>
              </a:tabLst>
              <a:defRPr/>
            </a:pPr>
            <a:r>
              <a:rPr lang="en-GB" sz="1800" dirty="0"/>
              <a:t>Any of these conditions can be waived if you get permission from the copyright holder. </a:t>
            </a:r>
          </a:p>
          <a:p>
            <a:pPr marL="334791" indent="-334791" defTabSz="414554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buNone/>
              <a:tabLst>
                <a:tab pos="455376" algn="l"/>
                <a:tab pos="912340" algn="l"/>
                <a:tab pos="1369303" algn="l"/>
                <a:tab pos="1826266" algn="l"/>
                <a:tab pos="2283230" algn="l"/>
                <a:tab pos="2740193" algn="l"/>
                <a:tab pos="3197156" algn="l"/>
                <a:tab pos="3654118" algn="l"/>
                <a:tab pos="4111082" algn="l"/>
                <a:tab pos="4568044" algn="l"/>
                <a:tab pos="5025008" algn="l"/>
                <a:tab pos="5481971" algn="l"/>
                <a:tab pos="5938933" algn="l"/>
                <a:tab pos="6395897" algn="l"/>
                <a:tab pos="6852859" algn="l"/>
                <a:tab pos="7309823" algn="l"/>
                <a:tab pos="7766786" algn="l"/>
                <a:tab pos="8223749" algn="l"/>
                <a:tab pos="8680712" algn="l"/>
                <a:tab pos="9137675" algn="l"/>
              </a:tabLst>
              <a:defRPr/>
            </a:pPr>
            <a:endParaRPr lang="en-GB" sz="1800" dirty="0"/>
          </a:p>
          <a:p>
            <a:pPr marL="334791" indent="-334791" defTabSz="414554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buNone/>
              <a:tabLst>
                <a:tab pos="455376" algn="l"/>
                <a:tab pos="912340" algn="l"/>
                <a:tab pos="1369303" algn="l"/>
                <a:tab pos="1826266" algn="l"/>
                <a:tab pos="2283230" algn="l"/>
                <a:tab pos="2740193" algn="l"/>
                <a:tab pos="3197156" algn="l"/>
                <a:tab pos="3654118" algn="l"/>
                <a:tab pos="4111082" algn="l"/>
                <a:tab pos="4568044" algn="l"/>
                <a:tab pos="5025008" algn="l"/>
                <a:tab pos="5481971" algn="l"/>
                <a:tab pos="5938933" algn="l"/>
                <a:tab pos="6395897" algn="l"/>
                <a:tab pos="6852859" algn="l"/>
                <a:tab pos="7309823" algn="l"/>
                <a:tab pos="7766786" algn="l"/>
                <a:tab pos="8223749" algn="l"/>
                <a:tab pos="8680712" algn="l"/>
                <a:tab pos="9137675" algn="l"/>
              </a:tabLst>
              <a:defRPr/>
            </a:pPr>
            <a:r>
              <a:rPr lang="en-GB" sz="1800" b="1" dirty="0"/>
              <a:t>Your fair use and other rights are in no way affected by the above.</a:t>
            </a:r>
            <a:r>
              <a:rPr lang="en-GB" sz="1800" dirty="0"/>
              <a:t> </a:t>
            </a:r>
          </a:p>
          <a:p>
            <a:pPr marL="334791" indent="-334791" defTabSz="414554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buNone/>
              <a:tabLst>
                <a:tab pos="455376" algn="l"/>
                <a:tab pos="912340" algn="l"/>
                <a:tab pos="1369303" algn="l"/>
                <a:tab pos="1826266" algn="l"/>
                <a:tab pos="2283230" algn="l"/>
                <a:tab pos="2740193" algn="l"/>
                <a:tab pos="3197156" algn="l"/>
                <a:tab pos="3654118" algn="l"/>
                <a:tab pos="4111082" algn="l"/>
                <a:tab pos="4568044" algn="l"/>
                <a:tab pos="5025008" algn="l"/>
                <a:tab pos="5481971" algn="l"/>
                <a:tab pos="5938933" algn="l"/>
                <a:tab pos="6395897" algn="l"/>
                <a:tab pos="6852859" algn="l"/>
                <a:tab pos="7309823" algn="l"/>
                <a:tab pos="7766786" algn="l"/>
                <a:tab pos="8223749" algn="l"/>
                <a:tab pos="8680712" algn="l"/>
                <a:tab pos="9137675" algn="l"/>
              </a:tabLst>
              <a:defRPr/>
            </a:pPr>
            <a:endParaRPr lang="en-GB" sz="1800" dirty="0"/>
          </a:p>
        </p:txBody>
      </p:sp>
      <p:sp>
        <p:nvSpPr>
          <p:cNvPr id="269316" name="Rectangle 4"/>
          <p:cNvSpPr>
            <a:spLocks noChangeArrowheads="1"/>
          </p:cNvSpPr>
          <p:nvPr/>
        </p:nvSpPr>
        <p:spPr bwMode="auto">
          <a:xfrm>
            <a:off x="434975" y="2925763"/>
            <a:ext cx="431800" cy="19431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390" tIns="45697" rIns="91390" bIns="45697" anchor="ctr"/>
          <a:lstStyle/>
          <a:p>
            <a:endParaRPr lang="en-US"/>
          </a:p>
        </p:txBody>
      </p:sp>
      <p:pic>
        <p:nvPicPr>
          <p:cNvPr id="269317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115888"/>
            <a:ext cx="3059113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9318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91" y="2924178"/>
            <a:ext cx="504825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9319" name="Picture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91" y="3644902"/>
            <a:ext cx="50482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9320" name="Picture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91" y="4365625"/>
            <a:ext cx="50482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90642621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"/>
          <p:cNvSpPr>
            <a:spLocks noGrp="1" noChangeArrowheads="1"/>
          </p:cNvSpPr>
          <p:nvPr>
            <p:ph type="title"/>
          </p:nvPr>
        </p:nvSpPr>
        <p:spPr/>
        <p:txBody>
          <a:bodyPr lIns="0" tIns="0" rIns="0" bIns="0">
            <a:spAutoFit/>
          </a:bodyPr>
          <a:lstStyle/>
          <a:p>
            <a:pPr eaLnBrk="1" hangingPunct="1">
              <a:lnSpc>
                <a:spcPct val="102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  <a:tab pos="8533237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Motivation</a:t>
            </a:r>
            <a:endParaRPr lang="en-GB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31747" name="Rectangle 2"/>
          <p:cNvSpPr>
            <a:spLocks noGrp="1" noChangeArrowheads="1"/>
          </p:cNvSpPr>
          <p:nvPr>
            <p:ph idx="1"/>
          </p:nvPr>
        </p:nvSpPr>
        <p:spPr/>
        <p:txBody>
          <a:bodyPr lIns="0" tIns="0" rIns="0" bIns="0">
            <a:normAutofit/>
          </a:bodyPr>
          <a:lstStyle/>
          <a:p>
            <a:pPr eaLnBrk="1" hangingPunct="1">
              <a:lnSpc>
                <a:spcPct val="102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Often 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the </a:t>
            </a:r>
            <a:r>
              <a:rPr lang="en-GB" dirty="0">
                <a:latin typeface="Lucida Sans Unicode" charset="0"/>
                <a:cs typeface="Lucida Sans Unicode" charset="0"/>
              </a:rPr>
              <a:t>same 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operations has to be performed on objects of unrelated classes</a:t>
            </a:r>
            <a:endParaRPr lang="en-GB" dirty="0">
              <a:latin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102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Typical solution is to use 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Object references to accommodate any object type</a:t>
            </a:r>
          </a:p>
          <a:p>
            <a:pPr eaLnBrk="1" hangingPunct="1">
              <a:lnSpc>
                <a:spcPct val="102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Object </a:t>
            </a:r>
            <a:r>
              <a:rPr lang="en-GB" dirty="0">
                <a:latin typeface="Lucida Sans Unicode" charset="0"/>
                <a:cs typeface="Lucida Sans Unicode" charset="0"/>
              </a:rPr>
              <a:t>references 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bring </a:t>
            </a:r>
            <a:r>
              <a:rPr lang="en-GB" dirty="0">
                <a:latin typeface="Lucida Sans Unicode" charset="0"/>
                <a:cs typeface="Lucida Sans Unicode" charset="0"/>
              </a:rPr>
              <a:t>cumbersome 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code</a:t>
            </a:r>
          </a:p>
          <a:p>
            <a:pPr lvl="1" eaLnBrk="1" hangingPunct="1">
              <a:lnSpc>
                <a:spcPct val="102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Several explicit casts are required</a:t>
            </a:r>
          </a:p>
          <a:p>
            <a:pPr lvl="1" eaLnBrk="1" hangingPunct="1">
              <a:lnSpc>
                <a:spcPct val="102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Compiler checks can be limited</a:t>
            </a:r>
          </a:p>
          <a:p>
            <a:pPr lvl="1" eaLnBrk="1" hangingPunct="1">
              <a:lnSpc>
                <a:spcPct val="102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Down-cast can be checked at run-time only</a:t>
            </a:r>
          </a:p>
          <a:p>
            <a:pPr eaLnBrk="1" hangingPunct="1">
              <a:lnSpc>
                <a:spcPct val="102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Solution</a:t>
            </a:r>
            <a:endParaRPr lang="en-GB" dirty="0">
              <a:latin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102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Use Generic classes and methods</a:t>
            </a:r>
            <a:endParaRPr lang="en-GB" dirty="0">
              <a:latin typeface="Lucida Sans Unicode" charset="0"/>
              <a:ea typeface="Lucida Sans Unicode" charset="0"/>
              <a:cs typeface="Lucida Sans Unicode" charset="0"/>
            </a:endParaRP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AutoShape 1"/>
          <p:cNvSpPr>
            <a:spLocks noChangeArrowheads="1"/>
          </p:cNvSpPr>
          <p:nvPr/>
        </p:nvSpPr>
        <p:spPr bwMode="auto">
          <a:xfrm>
            <a:off x="456998" y="2854448"/>
            <a:ext cx="8298720" cy="3598888"/>
          </a:xfrm>
          <a:prstGeom prst="roundRect">
            <a:avLst>
              <a:gd name="adj" fmla="val 46"/>
            </a:avLst>
          </a:prstGeom>
          <a:solidFill>
            <a:srgbClr val="FDEADA"/>
          </a:solidFill>
          <a:ln w="9360">
            <a:solidFill>
              <a:srgbClr val="E46C0A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82918" tIns="41460" rIns="82918" bIns="41460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7520" y="244828"/>
            <a:ext cx="8596800" cy="625026"/>
          </a:xfrm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102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  <a:tab pos="8533237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Example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121" y="1294699"/>
            <a:ext cx="8215200" cy="5199218"/>
          </a:xfrm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102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We may need to represent 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pairs or values different types (e.g. </a:t>
            </a:r>
            <a:r>
              <a:rPr lang="en-GB" b="1" dirty="0" err="1" smtClean="0">
                <a:latin typeface="Courier New"/>
                <a:cs typeface="Courier New"/>
              </a:rPr>
              <a:t>int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, </a:t>
            </a:r>
            <a:r>
              <a:rPr lang="en-GB" b="1" dirty="0">
                <a:latin typeface="Courier New"/>
                <a:cs typeface="Courier New"/>
              </a:rPr>
              <a:t>String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, etc.)</a:t>
            </a:r>
          </a:p>
          <a:p>
            <a:pPr marL="0" indent="0">
              <a:buNone/>
            </a:pPr>
            <a:r>
              <a:rPr lang="en-GB" dirty="0" smtClean="0">
                <a:latin typeface="Lucida Sans Unicode" charset="0"/>
                <a:cs typeface="Lucida Sans Unicode" charset="0"/>
              </a:rPr>
              <a:t>Use of </a:t>
            </a:r>
            <a:r>
              <a:rPr lang="en-GB" b="1" dirty="0" smtClean="0">
                <a:latin typeface="Courier New"/>
                <a:cs typeface="Courier New"/>
              </a:rPr>
              <a:t>Object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 for any value type</a:t>
            </a:r>
          </a:p>
          <a:p>
            <a:pPr marL="0" indent="0">
              <a:buNone/>
            </a:pPr>
            <a:r>
              <a:rPr lang="en-US" sz="2400" b="1" dirty="0">
                <a:latin typeface="Courier New"/>
                <a:cs typeface="Courier New"/>
              </a:rPr>
              <a:t>public class </a:t>
            </a:r>
            <a:r>
              <a:rPr lang="en-US" sz="2400" b="1" dirty="0" smtClean="0">
                <a:latin typeface="Courier New"/>
                <a:cs typeface="Courier New"/>
              </a:rPr>
              <a:t>Pair {</a:t>
            </a:r>
            <a:endParaRPr lang="en-US" sz="2400" b="1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400" b="1" dirty="0" smtClean="0">
                <a:latin typeface="Courier New"/>
                <a:cs typeface="Courier New"/>
              </a:rPr>
              <a:t>  Object </a:t>
            </a:r>
            <a:r>
              <a:rPr lang="en-US" sz="2400" b="1" dirty="0" err="1" smtClean="0">
                <a:latin typeface="Courier New"/>
                <a:cs typeface="Courier New"/>
              </a:rPr>
              <a:t>a,b</a:t>
            </a:r>
            <a:r>
              <a:rPr lang="en-US" sz="2400" b="1" dirty="0" smtClean="0">
                <a:latin typeface="Courier New"/>
                <a:cs typeface="Courier New"/>
              </a:rPr>
              <a:t>;</a:t>
            </a:r>
            <a:endParaRPr lang="en-US" sz="2400" b="1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400" b="1" dirty="0" smtClean="0">
                <a:latin typeface="Courier New"/>
                <a:cs typeface="Courier New"/>
              </a:rPr>
              <a:t>  public Pair(</a:t>
            </a:r>
            <a:r>
              <a:rPr lang="en-US" sz="2400" b="1" dirty="0">
                <a:latin typeface="Courier New"/>
                <a:cs typeface="Courier New"/>
              </a:rPr>
              <a:t>Object a, Object </a:t>
            </a:r>
            <a:r>
              <a:rPr lang="en-US" sz="2400" b="1" dirty="0" smtClean="0">
                <a:latin typeface="Courier New"/>
                <a:cs typeface="Courier New"/>
              </a:rPr>
              <a:t>b</a:t>
            </a:r>
            <a:r>
              <a:rPr lang="en-US" sz="2400" b="1" dirty="0">
                <a:latin typeface="Courier New"/>
                <a:cs typeface="Courier New"/>
              </a:rPr>
              <a:t> </a:t>
            </a:r>
            <a:r>
              <a:rPr lang="en-US" sz="2400" b="1" dirty="0" smtClean="0">
                <a:latin typeface="Courier New"/>
                <a:cs typeface="Courier New"/>
              </a:rPr>
              <a:t>) </a:t>
            </a:r>
          </a:p>
          <a:p>
            <a:pPr marL="0" indent="0">
              <a:buNone/>
            </a:pPr>
            <a:r>
              <a:rPr lang="en-US" sz="2400" b="1" dirty="0" smtClean="0">
                <a:latin typeface="Courier New"/>
                <a:cs typeface="Courier New"/>
              </a:rPr>
              <a:t>  {</a:t>
            </a:r>
            <a:r>
              <a:rPr lang="en-US" sz="2400" b="1" dirty="0">
                <a:latin typeface="Courier New"/>
                <a:cs typeface="Courier New"/>
              </a:rPr>
              <a:t>	</a:t>
            </a:r>
            <a:r>
              <a:rPr lang="en-US" sz="2400" b="1" dirty="0" err="1" smtClean="0">
                <a:latin typeface="Courier New"/>
                <a:cs typeface="Courier New"/>
              </a:rPr>
              <a:t>this.a</a:t>
            </a:r>
            <a:r>
              <a:rPr lang="en-US" sz="2400" b="1" dirty="0" smtClean="0">
                <a:latin typeface="Courier New"/>
                <a:cs typeface="Courier New"/>
              </a:rPr>
              <a:t>=a; </a:t>
            </a:r>
            <a:r>
              <a:rPr lang="en-US" sz="2400" b="1" dirty="0" err="1" smtClean="0">
                <a:latin typeface="Courier New"/>
                <a:cs typeface="Courier New"/>
              </a:rPr>
              <a:t>this.b</a:t>
            </a:r>
            <a:r>
              <a:rPr lang="en-US" sz="2400" b="1" dirty="0" smtClean="0">
                <a:latin typeface="Courier New"/>
                <a:cs typeface="Courier New"/>
              </a:rPr>
              <a:t>=b; }</a:t>
            </a:r>
            <a:endParaRPr lang="en-US" sz="2400" b="1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400" b="1" dirty="0" smtClean="0">
                <a:latin typeface="Courier New"/>
                <a:cs typeface="Courier New"/>
              </a:rPr>
              <a:t>  Object </a:t>
            </a:r>
            <a:r>
              <a:rPr lang="en-US" sz="2400" b="1" dirty="0">
                <a:latin typeface="Courier New"/>
                <a:cs typeface="Courier New"/>
              </a:rPr>
              <a:t>first(){ return </a:t>
            </a:r>
            <a:r>
              <a:rPr lang="en-US" sz="2400" b="1" dirty="0" smtClean="0">
                <a:latin typeface="Courier New"/>
                <a:cs typeface="Courier New"/>
              </a:rPr>
              <a:t>a; }</a:t>
            </a:r>
          </a:p>
          <a:p>
            <a:pPr marL="0" indent="0">
              <a:buNone/>
            </a:pPr>
            <a:r>
              <a:rPr lang="en-US" sz="2400" b="1" dirty="0" smtClean="0">
                <a:latin typeface="Courier New"/>
                <a:cs typeface="Courier New"/>
              </a:rPr>
              <a:t>  Object second(</a:t>
            </a:r>
            <a:r>
              <a:rPr lang="en-US" sz="2400" b="1" dirty="0">
                <a:latin typeface="Courier New"/>
                <a:cs typeface="Courier New"/>
              </a:rPr>
              <a:t>){ return </a:t>
            </a:r>
            <a:r>
              <a:rPr lang="en-US" sz="2400" b="1" dirty="0" smtClean="0">
                <a:latin typeface="Courier New"/>
                <a:cs typeface="Courier New"/>
              </a:rPr>
              <a:t>b; </a:t>
            </a:r>
            <a:r>
              <a:rPr lang="en-US" sz="2400" b="1" dirty="0">
                <a:latin typeface="Courier New"/>
                <a:cs typeface="Courier New"/>
              </a:rPr>
              <a:t>}</a:t>
            </a:r>
          </a:p>
          <a:p>
            <a:pPr marL="0" indent="0">
              <a:buNone/>
            </a:pPr>
            <a:r>
              <a:rPr lang="en-US" sz="2400" b="1" dirty="0" smtClean="0">
                <a:latin typeface="Courier New"/>
                <a:cs typeface="Courier New"/>
              </a:rPr>
              <a:t>}</a:t>
            </a:r>
            <a:endParaRPr lang="en-US" sz="2400" b="1" dirty="0">
              <a:latin typeface="Courier New"/>
              <a:cs typeface="Courier New"/>
            </a:endParaRP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4932040" y="2933140"/>
            <a:ext cx="4104456" cy="783892"/>
          </a:xfrm>
          <a:prstGeom prst="wedgeRoundRectCallout">
            <a:avLst>
              <a:gd name="adj1" fmla="val -53994"/>
              <a:gd name="adj2" fmla="val 9412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9360">
            <a:solidFill>
              <a:schemeClr val="accent4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5857" tIns="45051" rIns="85857" bIns="45051" anchor="ctr"/>
          <a:lstStyle/>
          <a:p>
            <a:pPr algn="ctr">
              <a:lnSpc>
                <a:spcPct val="84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</a:tabLst>
            </a:pPr>
            <a:r>
              <a:rPr lang="en-GB" sz="2400" dirty="0">
                <a:solidFill>
                  <a:srgbClr val="000000"/>
                </a:solidFill>
                <a:cs typeface="Lucida Sans Unicode" charset="0"/>
              </a:rPr>
              <a:t>NOTE: No primitive types, only wrappers allowed</a:t>
            </a:r>
          </a:p>
        </p:txBody>
      </p:sp>
    </p:spTree>
    <p:extLst>
      <p:ext uri="{BB962C8B-B14F-4D97-AF65-F5344CB8AC3E}">
        <p14:creationId xmlns:p14="http://schemas.microsoft.com/office/powerpoint/2010/main" val="1885765653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AutoShape 1"/>
          <p:cNvSpPr>
            <a:spLocks noChangeArrowheads="1"/>
          </p:cNvSpPr>
          <p:nvPr/>
        </p:nvSpPr>
        <p:spPr bwMode="auto">
          <a:xfrm>
            <a:off x="251520" y="5013176"/>
            <a:ext cx="8458560" cy="457968"/>
          </a:xfrm>
          <a:prstGeom prst="roundRect">
            <a:avLst>
              <a:gd name="adj" fmla="val 347"/>
            </a:avLst>
          </a:prstGeom>
          <a:solidFill>
            <a:srgbClr val="FDEADA"/>
          </a:solidFill>
          <a:ln w="9360">
            <a:solidFill>
              <a:srgbClr val="E46C0A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82918" tIns="41460" rIns="82918" bIns="41460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35843" name="AutoShape 2"/>
          <p:cNvSpPr>
            <a:spLocks noChangeArrowheads="1"/>
          </p:cNvSpPr>
          <p:nvPr/>
        </p:nvSpPr>
        <p:spPr bwMode="auto">
          <a:xfrm>
            <a:off x="228963" y="3429000"/>
            <a:ext cx="8458560" cy="1008112"/>
          </a:xfrm>
          <a:prstGeom prst="roundRect">
            <a:avLst>
              <a:gd name="adj" fmla="val 347"/>
            </a:avLst>
          </a:prstGeom>
          <a:solidFill>
            <a:srgbClr val="FDEADA"/>
          </a:solidFill>
          <a:ln w="9360">
            <a:solidFill>
              <a:srgbClr val="E46C0A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82918" tIns="41460" rIns="82918" bIns="41460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35844" name="AutoShape 3"/>
          <p:cNvSpPr>
            <a:spLocks noChangeArrowheads="1"/>
          </p:cNvSpPr>
          <p:nvPr/>
        </p:nvSpPr>
        <p:spPr bwMode="auto">
          <a:xfrm>
            <a:off x="179512" y="1916832"/>
            <a:ext cx="8472008" cy="936104"/>
          </a:xfrm>
          <a:prstGeom prst="roundRect">
            <a:avLst>
              <a:gd name="adj" fmla="val 97"/>
            </a:avLst>
          </a:prstGeom>
          <a:solidFill>
            <a:srgbClr val="FDEADA"/>
          </a:solidFill>
          <a:ln w="9360">
            <a:solidFill>
              <a:srgbClr val="E46C0A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82918" tIns="41460" rIns="82918" bIns="41460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35845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227520" y="244828"/>
            <a:ext cx="8596800" cy="625026"/>
          </a:xfrm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102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  <a:tab pos="8533237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Example</a:t>
            </a:r>
          </a:p>
        </p:txBody>
      </p:sp>
      <p:sp>
        <p:nvSpPr>
          <p:cNvPr id="35846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609121" y="1294696"/>
            <a:ext cx="8215200" cy="4128642"/>
          </a:xfrm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102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Object allows usage with </a:t>
            </a:r>
            <a:r>
              <a:rPr lang="en-GB" dirty="0">
                <a:latin typeface="Lucida Sans Unicode" charset="0"/>
                <a:cs typeface="Lucida Sans Unicode" charset="0"/>
              </a:rPr>
              <a:t>different 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types:</a:t>
            </a:r>
            <a:endParaRPr lang="en-GB" dirty="0">
              <a:latin typeface="Lucida Sans Unicode" charset="0"/>
              <a:cs typeface="Lucida Sans Unicode" charset="0"/>
            </a:endParaRPr>
          </a:p>
          <a:p>
            <a:pPr marL="0" indent="0">
              <a:buNone/>
            </a:pPr>
            <a:r>
              <a:rPr lang="en-US" sz="2400" b="1" dirty="0" smtClean="0">
                <a:latin typeface="Courier New"/>
                <a:cs typeface="Courier New"/>
              </a:rPr>
              <a:t>Pair </a:t>
            </a:r>
            <a:r>
              <a:rPr lang="en-US" sz="2400" b="1" dirty="0" err="1" smtClean="0">
                <a:latin typeface="Courier New"/>
                <a:cs typeface="Courier New"/>
              </a:rPr>
              <a:t>sp</a:t>
            </a:r>
            <a:r>
              <a:rPr lang="en-US" sz="2400" b="1" dirty="0" smtClean="0">
                <a:latin typeface="Courier New"/>
                <a:cs typeface="Courier New"/>
              </a:rPr>
              <a:t> = </a:t>
            </a:r>
            <a:r>
              <a:rPr lang="en-US" sz="2400" b="1" dirty="0">
                <a:latin typeface="Courier New"/>
                <a:cs typeface="Courier New"/>
              </a:rPr>
              <a:t>new Pair</a:t>
            </a:r>
            <a:r>
              <a:rPr lang="en-US" sz="2400" b="1" dirty="0" smtClean="0">
                <a:latin typeface="Courier New"/>
                <a:cs typeface="Courier New"/>
              </a:rPr>
              <a:t>("</a:t>
            </a:r>
            <a:r>
              <a:rPr lang="en-US" sz="2400" b="1" dirty="0" err="1" smtClean="0">
                <a:latin typeface="Courier New"/>
                <a:cs typeface="Courier New"/>
              </a:rPr>
              <a:t>One","Two</a:t>
            </a:r>
            <a:r>
              <a:rPr lang="en-US" sz="2400" b="1" dirty="0" smtClean="0">
                <a:latin typeface="Courier New"/>
                <a:cs typeface="Courier New"/>
              </a:rPr>
              <a:t>"</a:t>
            </a:r>
            <a:r>
              <a:rPr lang="en-US" sz="2400" b="1" dirty="0">
                <a:latin typeface="Courier New"/>
                <a:cs typeface="Courier New"/>
              </a:rPr>
              <a:t>);</a:t>
            </a:r>
          </a:p>
          <a:p>
            <a:pPr marL="0" indent="0">
              <a:buNone/>
            </a:pPr>
            <a:r>
              <a:rPr lang="en-US" sz="2400" b="1" dirty="0" smtClean="0">
                <a:latin typeface="Courier New"/>
                <a:cs typeface="Courier New"/>
              </a:rPr>
              <a:t>Pair </a:t>
            </a:r>
            <a:r>
              <a:rPr lang="en-US" sz="2400" b="1" dirty="0" err="1" smtClean="0">
                <a:latin typeface="Courier New"/>
                <a:cs typeface="Courier New"/>
              </a:rPr>
              <a:t>ip</a:t>
            </a:r>
            <a:r>
              <a:rPr lang="en-US" sz="2400" b="1" dirty="0" smtClean="0">
                <a:latin typeface="Courier New"/>
                <a:cs typeface="Courier New"/>
              </a:rPr>
              <a:t> = </a:t>
            </a:r>
            <a:r>
              <a:rPr lang="en-US" sz="2400" b="1" dirty="0">
                <a:latin typeface="Courier New"/>
                <a:cs typeface="Courier New"/>
              </a:rPr>
              <a:t>new Pair</a:t>
            </a:r>
            <a:r>
              <a:rPr lang="en-US" sz="2400" b="1" dirty="0" smtClean="0">
                <a:latin typeface="Courier New"/>
                <a:cs typeface="Courier New"/>
              </a:rPr>
              <a:t>(1,2);</a:t>
            </a:r>
            <a:endParaRPr lang="en-GB" altLang="ja-JP" sz="2400" b="1" dirty="0">
              <a:latin typeface="Courier New"/>
              <a:cs typeface="Courier New"/>
            </a:endParaRPr>
          </a:p>
          <a:p>
            <a:pPr eaLnBrk="1" hangingPunct="1">
              <a:lnSpc>
                <a:spcPct val="102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Though you need explicit down casts</a:t>
            </a:r>
            <a:r>
              <a:rPr lang="en-GB" dirty="0">
                <a:latin typeface="Lucida Sans Unicode" charset="0"/>
                <a:cs typeface="Lucida Sans Unicode" charset="0"/>
              </a:rPr>
              <a:t>:</a:t>
            </a:r>
            <a:endParaRPr lang="en-GB" dirty="0" smtClean="0">
              <a:latin typeface="Lucida Sans Unicode" charset="0"/>
              <a:cs typeface="Lucida Sans Unicode" charset="0"/>
            </a:endParaRPr>
          </a:p>
          <a:p>
            <a:pPr marL="0" indent="0" eaLnBrk="1" hangingPunct="1">
              <a:lnSpc>
                <a:spcPct val="102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400" b="1" dirty="0" smtClean="0">
                <a:latin typeface="Courier New" charset="0"/>
                <a:ea typeface="Lucida Sans Unicode" charset="0"/>
                <a:cs typeface="Lucida Sans Unicode" charset="0"/>
              </a:rPr>
              <a:t>String </a:t>
            </a: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a</a:t>
            </a:r>
            <a:r>
              <a:rPr lang="en-GB" sz="2400" b="1" dirty="0" smtClean="0">
                <a:latin typeface="Courier New" charset="0"/>
                <a:ea typeface="Lucida Sans Unicode" charset="0"/>
                <a:cs typeface="Lucida Sans Unicode" charset="0"/>
              </a:rPr>
              <a:t> </a:t>
            </a: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= </a:t>
            </a:r>
            <a:r>
              <a:rPr lang="en-GB" sz="2400" b="1" dirty="0" smtClean="0">
                <a:latin typeface="Courier New" charset="0"/>
                <a:ea typeface="Lucida Sans Unicode" charset="0"/>
                <a:cs typeface="Lucida Sans Unicode" charset="0"/>
              </a:rPr>
              <a:t>(String) </a:t>
            </a:r>
            <a:r>
              <a:rPr lang="en-US" sz="2400" b="1" dirty="0" err="1" smtClean="0">
                <a:latin typeface="Courier New"/>
                <a:cs typeface="Courier New"/>
              </a:rPr>
              <a:t>sp</a:t>
            </a:r>
            <a:r>
              <a:rPr lang="en-GB" sz="2400" b="1" dirty="0" smtClean="0">
                <a:latin typeface="Courier New" charset="0"/>
                <a:ea typeface="Lucida Sans Unicode" charset="0"/>
                <a:cs typeface="Lucida Sans Unicode" charset="0"/>
              </a:rPr>
              <a:t>.second(</a:t>
            </a: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)</a:t>
            </a:r>
            <a:r>
              <a:rPr lang="en-GB" sz="2400" b="1" dirty="0" smtClean="0">
                <a:latin typeface="Courier New" charset="0"/>
                <a:ea typeface="Lucida Sans Unicode" charset="0"/>
                <a:cs typeface="Lucida Sans Unicode" charset="0"/>
              </a:rPr>
              <a:t>;</a:t>
            </a:r>
          </a:p>
          <a:p>
            <a:pPr marL="0" indent="0" eaLnBrk="1" hangingPunct="1">
              <a:lnSpc>
                <a:spcPct val="102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400" b="1" dirty="0" err="1" smtClean="0">
                <a:latin typeface="Courier New" charset="0"/>
                <a:ea typeface="Lucida Sans Unicode" charset="0"/>
                <a:cs typeface="Lucida Sans Unicode" charset="0"/>
              </a:rPr>
              <a:t>int</a:t>
            </a:r>
            <a:r>
              <a:rPr lang="en-GB" sz="2400" b="1" dirty="0" smtClean="0">
                <a:latin typeface="Courier New" charset="0"/>
                <a:ea typeface="Lucida Sans Unicode" charset="0"/>
                <a:cs typeface="Lucida Sans Unicode" charset="0"/>
              </a:rPr>
              <a:t> </a:t>
            </a:r>
            <a:r>
              <a:rPr lang="en-GB" sz="2400" b="1" dirty="0" err="1" smtClean="0">
                <a:latin typeface="Courier New" charset="0"/>
                <a:ea typeface="Lucida Sans Unicode" charset="0"/>
                <a:cs typeface="Lucida Sans Unicode" charset="0"/>
              </a:rPr>
              <a:t>i</a:t>
            </a:r>
            <a:r>
              <a:rPr lang="en-GB" sz="2400" b="1" dirty="0" smtClean="0">
                <a:latin typeface="Courier New" charset="0"/>
                <a:ea typeface="Lucida Sans Unicode" charset="0"/>
                <a:cs typeface="Lucida Sans Unicode" charset="0"/>
              </a:rPr>
              <a:t> = (Integer) </a:t>
            </a:r>
            <a:r>
              <a:rPr lang="en-GB" sz="2400" b="1" dirty="0" err="1" smtClean="0">
                <a:latin typeface="Courier New" charset="0"/>
                <a:ea typeface="Lucida Sans Unicode" charset="0"/>
                <a:cs typeface="Lucida Sans Unicode" charset="0"/>
              </a:rPr>
              <a:t>ip.first</a:t>
            </a:r>
            <a:r>
              <a:rPr lang="en-GB" sz="2400" b="1" dirty="0" smtClean="0">
                <a:latin typeface="Courier New" charset="0"/>
                <a:ea typeface="Lucida Sans Unicode" charset="0"/>
                <a:cs typeface="Lucida Sans Unicode" charset="0"/>
              </a:rPr>
              <a:t>();</a:t>
            </a:r>
            <a:endParaRPr lang="en-GB" sz="2400" b="1" dirty="0">
              <a:latin typeface="Courier New" charset="0"/>
              <a:ea typeface="Lucida Sans Unicode" charset="0"/>
              <a:cs typeface="Lucida Sans Unicode" charset="0"/>
            </a:endParaRPr>
          </a:p>
          <a:p>
            <a:pPr eaLnBrk="1" hangingPunct="1">
              <a:lnSpc>
                <a:spcPct val="102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That cannot be checked at compile time</a:t>
            </a:r>
            <a:endParaRPr lang="en-GB" dirty="0">
              <a:latin typeface="Lucida Sans Unicode" charset="0"/>
              <a:cs typeface="Lucida Sans Unicode" charset="0"/>
            </a:endParaRPr>
          </a:p>
          <a:p>
            <a:pPr marL="0" lvl="1" indent="0" eaLnBrk="1" hangingPunct="1">
              <a:lnSpc>
                <a:spcPct val="102000"/>
              </a:lnSpc>
              <a:spcBef>
                <a:spcPts val="726"/>
              </a:spcBef>
              <a:spcAft>
                <a:spcPts val="181"/>
              </a:spcAft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String b = (String) </a:t>
            </a:r>
            <a:r>
              <a:rPr lang="en-US" sz="2400" b="1" dirty="0" err="1" smtClean="0">
                <a:latin typeface="Courier New"/>
                <a:cs typeface="Courier New"/>
              </a:rPr>
              <a:t>ip</a:t>
            </a:r>
            <a:r>
              <a:rPr lang="en-GB" sz="2400" b="1" dirty="0" smtClean="0">
                <a:latin typeface="Courier New" charset="0"/>
                <a:ea typeface="Lucida Sans Unicode" charset="0"/>
                <a:cs typeface="Lucida Sans Unicode" charset="0"/>
              </a:rPr>
              <a:t>.second</a:t>
            </a: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();</a:t>
            </a:r>
          </a:p>
        </p:txBody>
      </p:sp>
      <p:sp>
        <p:nvSpPr>
          <p:cNvPr id="7174" name="AutoShape 6"/>
          <p:cNvSpPr>
            <a:spLocks noChangeArrowheads="1"/>
          </p:cNvSpPr>
          <p:nvPr/>
        </p:nvSpPr>
        <p:spPr bwMode="auto">
          <a:xfrm>
            <a:off x="4499992" y="5805264"/>
            <a:ext cx="3888432" cy="792088"/>
          </a:xfrm>
          <a:prstGeom prst="wedgeRoundRectCallout">
            <a:avLst>
              <a:gd name="adj1" fmla="val -70671"/>
              <a:gd name="adj2" fmla="val -99170"/>
              <a:gd name="adj3" fmla="val 16667"/>
            </a:avLst>
          </a:prstGeom>
          <a:solidFill>
            <a:srgbClr val="E6E0EC"/>
          </a:solidFill>
          <a:ln w="9360">
            <a:solidFill>
              <a:srgbClr val="8064A2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5857" tIns="45051" rIns="85857" bIns="45051" anchor="ctr"/>
          <a:lstStyle/>
          <a:p>
            <a:pPr algn="ctr">
              <a:lnSpc>
                <a:spcPct val="84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</a:tabLst>
            </a:pPr>
            <a:r>
              <a:rPr lang="en-GB" sz="2400" b="1" dirty="0" err="1">
                <a:solidFill>
                  <a:srgbClr val="000000"/>
                </a:solidFill>
                <a:latin typeface="Courier New"/>
                <a:cs typeface="Courier New"/>
              </a:rPr>
              <a:t>ClassCastException</a:t>
            </a:r>
            <a:r>
              <a:rPr lang="en-GB" sz="2400" dirty="0">
                <a:solidFill>
                  <a:srgbClr val="000000"/>
                </a:solidFill>
                <a:cs typeface="Lucida Sans Unicode" charset="0"/>
              </a:rPr>
              <a:t> at run-time</a:t>
            </a:r>
          </a:p>
        </p:txBody>
      </p:sp>
    </p:spTree>
    <p:extLst>
      <p:ext uri="{BB962C8B-B14F-4D97-AF65-F5344CB8AC3E}">
        <p14:creationId xmlns:p14="http://schemas.microsoft.com/office/powerpoint/2010/main" val="2446245332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AutoShape 1"/>
          <p:cNvSpPr>
            <a:spLocks noChangeArrowheads="1"/>
          </p:cNvSpPr>
          <p:nvPr/>
        </p:nvSpPr>
        <p:spPr bwMode="auto">
          <a:xfrm>
            <a:off x="228963" y="4437112"/>
            <a:ext cx="8458560" cy="936104"/>
          </a:xfrm>
          <a:prstGeom prst="roundRect">
            <a:avLst>
              <a:gd name="adj" fmla="val 347"/>
            </a:avLst>
          </a:prstGeom>
          <a:solidFill>
            <a:srgbClr val="FDEADA"/>
          </a:solidFill>
          <a:ln w="9360">
            <a:solidFill>
              <a:srgbClr val="E46C0A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82918" tIns="41460" rIns="82918" bIns="41460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35844" name="AutoShape 3"/>
          <p:cNvSpPr>
            <a:spLocks noChangeArrowheads="1"/>
          </p:cNvSpPr>
          <p:nvPr/>
        </p:nvSpPr>
        <p:spPr bwMode="auto">
          <a:xfrm>
            <a:off x="179512" y="2348880"/>
            <a:ext cx="8472008" cy="936104"/>
          </a:xfrm>
          <a:prstGeom prst="roundRect">
            <a:avLst>
              <a:gd name="adj" fmla="val 97"/>
            </a:avLst>
          </a:prstGeom>
          <a:solidFill>
            <a:srgbClr val="FDEADA"/>
          </a:solidFill>
          <a:ln w="9360">
            <a:solidFill>
              <a:srgbClr val="E46C0A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82918" tIns="41460" rIns="82918" bIns="41460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35845" name="Rectangle 4"/>
          <p:cNvSpPr>
            <a:spLocks noGrp="1" noChangeArrowheads="1"/>
          </p:cNvSpPr>
          <p:nvPr>
            <p:ph type="title"/>
          </p:nvPr>
        </p:nvSpPr>
        <p:spPr/>
        <p:txBody>
          <a:bodyPr lIns="0" tIns="0" rIns="0" bIns="0">
            <a:spAutoFit/>
          </a:bodyPr>
          <a:lstStyle/>
          <a:p>
            <a:pPr eaLnBrk="1" hangingPunct="1">
              <a:lnSpc>
                <a:spcPct val="102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  <a:tab pos="8533237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Example</a:t>
            </a:r>
          </a:p>
        </p:txBody>
      </p:sp>
      <p:sp>
        <p:nvSpPr>
          <p:cNvPr id="35846" name="Rectangle 5"/>
          <p:cNvSpPr>
            <a:spLocks noGrp="1" noChangeArrowheads="1"/>
          </p:cNvSpPr>
          <p:nvPr>
            <p:ph idx="1"/>
          </p:nvPr>
        </p:nvSpPr>
        <p:spPr/>
        <p:txBody>
          <a:bodyPr lIns="0" tIns="0" rIns="0" bIns="0">
            <a:normAutofit/>
          </a:bodyPr>
          <a:lstStyle/>
          <a:p>
            <a:pPr eaLnBrk="1" hangingPunct="1">
              <a:lnSpc>
                <a:spcPct val="102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No check is possible at compile time about homogeneity of elements:</a:t>
            </a:r>
            <a:endParaRPr lang="en-GB" dirty="0">
              <a:latin typeface="Lucida Sans Unicode" charset="0"/>
              <a:cs typeface="Lucida Sans Unicode" charset="0"/>
            </a:endParaRPr>
          </a:p>
          <a:p>
            <a:pPr marL="0" indent="0">
              <a:buNone/>
            </a:pPr>
            <a:r>
              <a:rPr lang="en-US" sz="2400" b="1" dirty="0" smtClean="0">
                <a:latin typeface="Courier New"/>
                <a:cs typeface="Courier New"/>
              </a:rPr>
              <a:t>Pair </a:t>
            </a:r>
            <a:r>
              <a:rPr lang="en-US" sz="2400" b="1" dirty="0" err="1" smtClean="0">
                <a:latin typeface="Courier New"/>
                <a:cs typeface="Courier New"/>
              </a:rPr>
              <a:t>mixp</a:t>
            </a:r>
            <a:r>
              <a:rPr lang="en-US" sz="2400" b="1" dirty="0" smtClean="0">
                <a:latin typeface="Courier New"/>
                <a:cs typeface="Courier New"/>
              </a:rPr>
              <a:t> = </a:t>
            </a:r>
            <a:r>
              <a:rPr lang="en-US" sz="2400" b="1" dirty="0">
                <a:latin typeface="Courier New"/>
                <a:cs typeface="Courier New"/>
              </a:rPr>
              <a:t>new Pair</a:t>
            </a:r>
            <a:r>
              <a:rPr lang="en-US" sz="2400" b="1" dirty="0" smtClean="0">
                <a:latin typeface="Courier New"/>
                <a:cs typeface="Courier New"/>
              </a:rPr>
              <a:t>(1,"Two"</a:t>
            </a:r>
            <a:r>
              <a:rPr lang="en-US" sz="2400" b="1" dirty="0">
                <a:latin typeface="Courier New"/>
                <a:cs typeface="Courier New"/>
              </a:rPr>
              <a:t>)</a:t>
            </a:r>
            <a:r>
              <a:rPr lang="en-US" sz="2400" b="1" dirty="0" smtClean="0">
                <a:latin typeface="Courier New"/>
                <a:cs typeface="Courier New"/>
              </a:rPr>
              <a:t>;</a:t>
            </a:r>
          </a:p>
          <a:p>
            <a:pPr marL="0" indent="0">
              <a:buNone/>
            </a:pPr>
            <a:r>
              <a:rPr lang="en-US" sz="2400" b="1" dirty="0">
                <a:latin typeface="Courier New"/>
                <a:cs typeface="Courier New"/>
              </a:rPr>
              <a:t>Pair </a:t>
            </a:r>
            <a:r>
              <a:rPr lang="en-US" sz="2400" b="1" dirty="0" err="1" smtClean="0">
                <a:latin typeface="Courier New"/>
                <a:cs typeface="Courier New"/>
              </a:rPr>
              <a:t>ximp</a:t>
            </a:r>
            <a:r>
              <a:rPr lang="en-US" sz="2400" b="1" dirty="0" smtClean="0">
                <a:latin typeface="Courier New"/>
                <a:cs typeface="Courier New"/>
              </a:rPr>
              <a:t> </a:t>
            </a:r>
            <a:r>
              <a:rPr lang="en-US" sz="2400" b="1" dirty="0">
                <a:latin typeface="Courier New"/>
                <a:cs typeface="Courier New"/>
              </a:rPr>
              <a:t>= new Pair</a:t>
            </a:r>
            <a:r>
              <a:rPr lang="en-US" sz="2400" b="1" dirty="0" smtClean="0">
                <a:latin typeface="Courier New"/>
                <a:cs typeface="Courier New"/>
              </a:rPr>
              <a:t>("One”,2);</a:t>
            </a:r>
            <a:endParaRPr lang="en-US" sz="2400" b="1" dirty="0">
              <a:latin typeface="Courier New"/>
              <a:cs typeface="Courier New"/>
            </a:endParaRPr>
          </a:p>
          <a:p>
            <a:pPr eaLnBrk="1" hangingPunct="1">
              <a:lnSpc>
                <a:spcPct val="102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Extra code is required for safety:</a:t>
            </a:r>
          </a:p>
          <a:p>
            <a:pPr marL="0" indent="0" eaLnBrk="1" hangingPunct="1">
              <a:lnSpc>
                <a:spcPct val="102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400" b="1" dirty="0" smtClean="0">
                <a:latin typeface="Courier New" charset="0"/>
                <a:ea typeface="Lucida Sans Unicode" charset="0"/>
                <a:cs typeface="Lucida Sans Unicode" charset="0"/>
              </a:rPr>
              <a:t>Object o = </a:t>
            </a:r>
            <a:r>
              <a:rPr lang="it-IT" sz="2400" b="1" dirty="0" err="1" smtClean="0">
                <a:latin typeface="Courier New" charset="0"/>
                <a:ea typeface="Lucida Sans Unicode" charset="0"/>
                <a:cs typeface="Lucida Sans Unicode" charset="0"/>
              </a:rPr>
              <a:t>mixp</a:t>
            </a:r>
            <a:r>
              <a:rPr lang="en-GB" sz="2400" b="1" dirty="0" smtClean="0">
                <a:latin typeface="Courier New" charset="0"/>
                <a:ea typeface="Lucida Sans Unicode" charset="0"/>
                <a:cs typeface="Lucida Sans Unicode" charset="0"/>
              </a:rPr>
              <a:t>.second();</a:t>
            </a:r>
          </a:p>
          <a:p>
            <a:pPr marL="0" indent="0" eaLnBrk="1" hangingPunct="1">
              <a:lnSpc>
                <a:spcPct val="102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400" b="1" dirty="0" smtClean="0">
                <a:latin typeface="Courier New" charset="0"/>
                <a:ea typeface="Lucida Sans Unicode" charset="0"/>
                <a:cs typeface="Lucida Sans Unicode" charset="0"/>
              </a:rPr>
              <a:t>if(o </a:t>
            </a:r>
            <a:r>
              <a:rPr lang="en-GB" sz="2400" b="1" dirty="0" err="1" smtClean="0">
                <a:latin typeface="Courier New" charset="0"/>
                <a:ea typeface="Lucida Sans Unicode" charset="0"/>
                <a:cs typeface="Lucida Sans Unicode" charset="0"/>
              </a:rPr>
              <a:t>instanceof</a:t>
            </a:r>
            <a:r>
              <a:rPr lang="en-GB" sz="2400" b="1" dirty="0" smtClean="0">
                <a:latin typeface="Courier New" charset="0"/>
                <a:ea typeface="Lucida Sans Unicode" charset="0"/>
                <a:cs typeface="Lucida Sans Unicode" charset="0"/>
              </a:rPr>
              <a:t> Integer){ </a:t>
            </a:r>
            <a:r>
              <a:rPr lang="mr-IN" sz="2400" b="1" dirty="0" smtClean="0">
                <a:latin typeface="Courier New" charset="0"/>
                <a:ea typeface="Lucida Sans Unicode" charset="0"/>
                <a:cs typeface="Lucida Sans Unicode" charset="0"/>
              </a:rPr>
              <a:t>…</a:t>
            </a:r>
            <a:r>
              <a:rPr lang="it-IT" sz="2400" b="1" dirty="0" smtClean="0">
                <a:latin typeface="Courier New" charset="0"/>
                <a:ea typeface="Lucida Sans Unicode" charset="0"/>
                <a:cs typeface="Lucida Sans Unicode" charset="0"/>
              </a:rPr>
              <a:t> }</a:t>
            </a:r>
          </a:p>
          <a:p>
            <a:pPr marL="0" indent="0" eaLnBrk="1" hangingPunct="1">
              <a:lnSpc>
                <a:spcPct val="102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it-IT" sz="2400" b="1" dirty="0" smtClean="0">
                <a:latin typeface="Courier New" charset="0"/>
                <a:ea typeface="Lucida Sans Unicode" charset="0"/>
                <a:cs typeface="Lucida Sans Unicode" charset="0"/>
              </a:rPr>
              <a:t>else { </a:t>
            </a:r>
            <a:r>
              <a:rPr lang="mr-IN" sz="2400" b="1" dirty="0" smtClean="0">
                <a:latin typeface="Courier New" charset="0"/>
                <a:ea typeface="Lucida Sans Unicode" charset="0"/>
                <a:cs typeface="Lucida Sans Unicode" charset="0"/>
              </a:rPr>
              <a:t>…</a:t>
            </a:r>
            <a:r>
              <a:rPr lang="it-IT" sz="2400" b="1" dirty="0" smtClean="0">
                <a:latin typeface="Courier New" charset="0"/>
                <a:ea typeface="Lucida Sans Unicode" charset="0"/>
                <a:cs typeface="Lucida Sans Unicode" charset="0"/>
              </a:rPr>
              <a:t> }</a:t>
            </a:r>
            <a:endParaRPr lang="en-GB" sz="2400" b="1" dirty="0">
              <a:latin typeface="Courier New" charset="0"/>
              <a:ea typeface="Lucida Sans Unicode" charset="0"/>
              <a:cs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5130811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AutoShape 1"/>
          <p:cNvSpPr>
            <a:spLocks noChangeArrowheads="1"/>
          </p:cNvSpPr>
          <p:nvPr/>
        </p:nvSpPr>
        <p:spPr bwMode="auto">
          <a:xfrm>
            <a:off x="456480" y="1143481"/>
            <a:ext cx="8229600" cy="4801464"/>
          </a:xfrm>
          <a:prstGeom prst="roundRect">
            <a:avLst>
              <a:gd name="adj" fmla="val 32"/>
            </a:avLst>
          </a:prstGeom>
          <a:solidFill>
            <a:srgbClr val="FDEADA"/>
          </a:solidFill>
          <a:ln w="9360">
            <a:solidFill>
              <a:srgbClr val="E46C0A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82918" tIns="41460" rIns="82918" bIns="41460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7520" y="244828"/>
            <a:ext cx="8596800" cy="625026"/>
          </a:xfrm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102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  <a:tab pos="8533237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Generic class</a:t>
            </a:r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121" y="1294699"/>
            <a:ext cx="8215200" cy="4477893"/>
          </a:xfrm>
          <a:ln>
            <a:noFill/>
          </a:ln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89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>
                <a:latin typeface="Courier New" charset="0"/>
                <a:cs typeface="Lucida Sans Unicode" charset="0"/>
              </a:rPr>
              <a:t>public class 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Pair&lt;</a:t>
            </a:r>
            <a:r>
              <a:rPr lang="en-GB" sz="25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T</a:t>
            </a:r>
            <a:r>
              <a:rPr lang="en-GB" sz="2500" b="1" dirty="0">
                <a:latin typeface="Courier New" charset="0"/>
                <a:cs typeface="Lucida Sans Unicode" charset="0"/>
              </a:rPr>
              <a:t>&gt; {</a:t>
            </a:r>
          </a:p>
          <a:p>
            <a:pPr eaLnBrk="1" hangingPunct="1">
              <a:lnSpc>
                <a:spcPct val="89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>
                <a:latin typeface="Courier New" charset="0"/>
                <a:cs typeface="Lucida Sans Unicode" charset="0"/>
              </a:rPr>
              <a:t>	</a:t>
            </a:r>
            <a:r>
              <a:rPr lang="en-GB" sz="25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T</a:t>
            </a:r>
            <a:r>
              <a:rPr lang="en-GB" sz="2500" b="1" dirty="0">
                <a:latin typeface="Courier New" charset="0"/>
                <a:cs typeface="Lucida Sans Unicode" charset="0"/>
              </a:rPr>
              <a:t> </a:t>
            </a:r>
            <a:r>
              <a:rPr lang="en-GB" sz="2500" b="1" dirty="0" err="1">
                <a:latin typeface="Courier New" charset="0"/>
                <a:cs typeface="Lucida Sans Unicode" charset="0"/>
              </a:rPr>
              <a:t>a,b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;</a:t>
            </a:r>
            <a:endParaRPr lang="en-GB" sz="2500" b="1" dirty="0">
              <a:latin typeface="Courier New" charset="0"/>
              <a:cs typeface="Lucida Sans Unicode" charset="0"/>
            </a:endParaRPr>
          </a:p>
          <a:p>
            <a:pPr eaLnBrk="1" hangingPunct="1">
              <a:lnSpc>
                <a:spcPct val="89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>
                <a:latin typeface="Courier New" charset="0"/>
                <a:cs typeface="Lucida Sans Unicode" charset="0"/>
              </a:rPr>
              <a:t>	public 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Pair(</a:t>
            </a:r>
            <a:r>
              <a:rPr lang="en-GB" sz="25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T</a:t>
            </a:r>
            <a:r>
              <a:rPr lang="en-GB" sz="2500" b="1" dirty="0">
                <a:latin typeface="Courier New" charset="0"/>
                <a:cs typeface="Lucida Sans Unicode" charset="0"/>
              </a:rPr>
              <a:t> a, </a:t>
            </a:r>
            <a:r>
              <a:rPr lang="en-GB" sz="25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T</a:t>
            </a:r>
            <a:r>
              <a:rPr lang="en-GB" sz="2500" b="1" dirty="0">
                <a:latin typeface="Courier New" charset="0"/>
                <a:cs typeface="Lucida Sans Unicode" charset="0"/>
              </a:rPr>
              <a:t> b) {</a:t>
            </a:r>
          </a:p>
          <a:p>
            <a:pPr eaLnBrk="1" hangingPunct="1">
              <a:lnSpc>
                <a:spcPct val="89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>
                <a:latin typeface="Courier New" charset="0"/>
                <a:cs typeface="Lucida Sans Unicode" charset="0"/>
              </a:rPr>
              <a:t>	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  </a:t>
            </a:r>
            <a:r>
              <a:rPr lang="en-GB" sz="2500" b="1" dirty="0" err="1" smtClean="0">
                <a:latin typeface="Courier New" charset="0"/>
                <a:cs typeface="Lucida Sans Unicode" charset="0"/>
              </a:rPr>
              <a:t>this.a</a:t>
            </a:r>
            <a:r>
              <a:rPr lang="en-GB" sz="2500" b="1" dirty="0">
                <a:latin typeface="Courier New" charset="0"/>
                <a:cs typeface="Lucida Sans Unicode" charset="0"/>
              </a:rPr>
              <a:t>=a; </a:t>
            </a:r>
            <a:r>
              <a:rPr lang="en-GB" sz="2500" b="1" dirty="0" err="1">
                <a:latin typeface="Courier New" charset="0"/>
                <a:cs typeface="Lucida Sans Unicode" charset="0"/>
              </a:rPr>
              <a:t>this.b</a:t>
            </a:r>
            <a:r>
              <a:rPr lang="en-GB" sz="2500" b="1" dirty="0">
                <a:latin typeface="Courier New" charset="0"/>
                <a:cs typeface="Lucida Sans Unicode" charset="0"/>
              </a:rPr>
              <a:t>=b;</a:t>
            </a:r>
          </a:p>
          <a:p>
            <a:pPr eaLnBrk="1" hangingPunct="1">
              <a:lnSpc>
                <a:spcPct val="89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>
                <a:latin typeface="Courier New" charset="0"/>
                <a:cs typeface="Lucida Sans Unicode" charset="0"/>
              </a:rPr>
              <a:t>	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}</a:t>
            </a:r>
            <a:endParaRPr lang="en-GB" sz="2500" b="1" dirty="0">
              <a:latin typeface="Courier New" charset="0"/>
              <a:cs typeface="Lucida Sans Unicode" charset="0"/>
            </a:endParaRPr>
          </a:p>
          <a:p>
            <a:pPr eaLnBrk="1" hangingPunct="1">
              <a:lnSpc>
                <a:spcPct val="89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>
                <a:latin typeface="Courier New" charset="0"/>
                <a:cs typeface="Lucida Sans Unicode" charset="0"/>
              </a:rPr>
              <a:t>	public </a:t>
            </a:r>
            <a:r>
              <a:rPr lang="en-GB" sz="25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T</a:t>
            </a:r>
            <a:r>
              <a:rPr lang="en-GB" sz="2500" b="1" dirty="0">
                <a:latin typeface="Courier New" charset="0"/>
                <a:cs typeface="Lucida Sans Unicode" charset="0"/>
              </a:rPr>
              <a:t> first(){ return a; }</a:t>
            </a:r>
          </a:p>
          <a:p>
            <a:pPr eaLnBrk="1" hangingPunct="1">
              <a:lnSpc>
                <a:spcPct val="89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>
                <a:latin typeface="Courier New" charset="0"/>
                <a:cs typeface="Lucida Sans Unicode" charset="0"/>
              </a:rPr>
              <a:t>	public </a:t>
            </a:r>
            <a:r>
              <a:rPr lang="en-GB" sz="25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T</a:t>
            </a:r>
            <a:r>
              <a:rPr lang="en-GB" sz="2500" b="1" dirty="0">
                <a:latin typeface="Courier New" charset="0"/>
                <a:cs typeface="Lucida Sans Unicode" charset="0"/>
              </a:rPr>
              <a:t> second(){ return b; 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}</a:t>
            </a:r>
          </a:p>
          <a:p>
            <a:pPr eaLnBrk="1" hangingPunct="1">
              <a:lnSpc>
                <a:spcPct val="89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 smtClean="0">
                <a:latin typeface="Courier New" charset="0"/>
                <a:cs typeface="Lucida Sans Unicode" charset="0"/>
              </a:rPr>
              <a:t>	public void </a:t>
            </a:r>
            <a:r>
              <a:rPr lang="en-GB" sz="2500" b="1" dirty="0" err="1" smtClean="0">
                <a:latin typeface="Courier New" charset="0"/>
                <a:cs typeface="Lucida Sans Unicode" charset="0"/>
              </a:rPr>
              <a:t>setFirst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(T a){ </a:t>
            </a:r>
            <a:r>
              <a:rPr lang="en-GB" sz="2500" b="1" dirty="0" err="1" smtClean="0">
                <a:latin typeface="Courier New" charset="0"/>
                <a:cs typeface="Lucida Sans Unicode" charset="0"/>
              </a:rPr>
              <a:t>this.a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=a; }</a:t>
            </a:r>
            <a:endParaRPr lang="en-GB" sz="2500" b="1" dirty="0">
              <a:latin typeface="Courier New" charset="0"/>
              <a:cs typeface="Lucida Sans Unicode" charset="0"/>
            </a:endParaRPr>
          </a:p>
          <a:p>
            <a:pPr eaLnBrk="1" hangingPunct="1">
              <a:lnSpc>
                <a:spcPct val="89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 smtClean="0">
                <a:latin typeface="Courier New" charset="0"/>
                <a:cs typeface="Lucida Sans Unicode" charset="0"/>
              </a:rPr>
              <a:t>	public </a:t>
            </a:r>
            <a:r>
              <a:rPr lang="en-GB" sz="2500" b="1" dirty="0">
                <a:latin typeface="Courier New" charset="0"/>
                <a:cs typeface="Lucida Sans Unicode" charset="0"/>
              </a:rPr>
              <a:t>void </a:t>
            </a:r>
            <a:r>
              <a:rPr lang="en-GB" sz="2500" b="1" dirty="0" err="1" smtClean="0">
                <a:latin typeface="Courier New" charset="0"/>
                <a:cs typeface="Lucida Sans Unicode" charset="0"/>
              </a:rPr>
              <a:t>setSecond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(</a:t>
            </a:r>
            <a:r>
              <a:rPr lang="en-GB" sz="2500" b="1" dirty="0">
                <a:latin typeface="Courier New" charset="0"/>
                <a:cs typeface="Lucida Sans Unicode" charset="0"/>
              </a:rPr>
              <a:t>T 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b)</a:t>
            </a:r>
            <a:r>
              <a:rPr lang="en-GB" sz="2500" b="1" dirty="0">
                <a:latin typeface="Courier New" charset="0"/>
                <a:cs typeface="Lucida Sans Unicode" charset="0"/>
              </a:rPr>
              <a:t>{ </a:t>
            </a:r>
            <a:r>
              <a:rPr lang="en-GB" sz="2500" b="1" dirty="0" err="1" smtClean="0">
                <a:latin typeface="Courier New" charset="0"/>
                <a:cs typeface="Lucida Sans Unicode" charset="0"/>
              </a:rPr>
              <a:t>this.b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=b; }</a:t>
            </a:r>
          </a:p>
          <a:p>
            <a:pPr eaLnBrk="1" hangingPunct="1">
              <a:lnSpc>
                <a:spcPct val="89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 smtClean="0">
                <a:latin typeface="Courier New" charset="0"/>
                <a:cs typeface="Lucida Sans Unicode" charset="0"/>
              </a:rPr>
              <a:t>}</a:t>
            </a:r>
            <a:endParaRPr lang="en-GB" sz="2500" b="1" dirty="0">
              <a:latin typeface="Courier New" charset="0"/>
              <a:cs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755156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AutoShape 1"/>
          <p:cNvSpPr>
            <a:spLocks noChangeArrowheads="1"/>
          </p:cNvSpPr>
          <p:nvPr/>
        </p:nvSpPr>
        <p:spPr bwMode="auto">
          <a:xfrm>
            <a:off x="456480" y="4212455"/>
            <a:ext cx="8229600" cy="1376785"/>
          </a:xfrm>
          <a:prstGeom prst="roundRect">
            <a:avLst>
              <a:gd name="adj" fmla="val 102"/>
            </a:avLst>
          </a:prstGeom>
          <a:solidFill>
            <a:srgbClr val="FDEADA"/>
          </a:solidFill>
          <a:ln w="9360">
            <a:solidFill>
              <a:schemeClr val="accent6">
                <a:lumMod val="75000"/>
              </a:schemeClr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82918" tIns="41460" rIns="82918" bIns="41460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39939" name="AutoShape 2"/>
          <p:cNvSpPr>
            <a:spLocks noChangeArrowheads="1"/>
          </p:cNvSpPr>
          <p:nvPr/>
        </p:nvSpPr>
        <p:spPr bwMode="auto">
          <a:xfrm>
            <a:off x="456480" y="1759866"/>
            <a:ext cx="8229600" cy="1453109"/>
          </a:xfrm>
          <a:prstGeom prst="roundRect">
            <a:avLst>
              <a:gd name="adj" fmla="val 83"/>
            </a:avLst>
          </a:prstGeom>
          <a:solidFill>
            <a:srgbClr val="FDEADA"/>
          </a:solidFill>
          <a:ln w="9360">
            <a:solidFill>
              <a:schemeClr val="accent6">
                <a:lumMod val="75000"/>
              </a:schemeClr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82918" tIns="41460" rIns="82918" bIns="41460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227520" y="244828"/>
            <a:ext cx="8596800" cy="625026"/>
          </a:xfrm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102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  <a:tab pos="8533237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Generics use</a:t>
            </a:r>
          </a:p>
        </p:txBody>
      </p:sp>
      <p:sp>
        <p:nvSpPr>
          <p:cNvPr id="39941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609121" y="1294699"/>
            <a:ext cx="8215200" cy="4686155"/>
          </a:xfrm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102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b="1" dirty="0">
                <a:latin typeface="Lucida Sans Unicode" charset="0"/>
                <a:cs typeface="Lucida Sans Unicode" charset="0"/>
              </a:rPr>
              <a:t>Declaration </a:t>
            </a:r>
            <a:r>
              <a:rPr lang="en-GB" b="1" dirty="0" smtClean="0">
                <a:latin typeface="Lucida Sans Unicode" charset="0"/>
                <a:cs typeface="Lucida Sans Unicode" charset="0"/>
              </a:rPr>
              <a:t>is slightly longer:</a:t>
            </a:r>
            <a:endParaRPr lang="en-GB" b="1" dirty="0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90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 smtClean="0">
                <a:latin typeface="Courier New" charset="0"/>
                <a:cs typeface="Lucida Sans Unicode" charset="0"/>
              </a:rPr>
              <a:t>Pair&lt;</a:t>
            </a:r>
            <a:r>
              <a:rPr lang="en-GB" sz="2500" b="1" dirty="0">
                <a:latin typeface="Courier New" charset="0"/>
                <a:cs typeface="Lucida Sans Unicode" charset="0"/>
              </a:rPr>
              <a:t>String&gt; </a:t>
            </a:r>
            <a:r>
              <a:rPr lang="en-GB" sz="2500" b="1" dirty="0" err="1" smtClean="0">
                <a:latin typeface="Courier New" charset="0"/>
                <a:cs typeface="Lucida Sans Unicode" charset="0"/>
              </a:rPr>
              <a:t>sp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 </a:t>
            </a:r>
            <a:r>
              <a:rPr lang="en-GB" sz="2500" b="1" dirty="0">
                <a:latin typeface="Courier New" charset="0"/>
                <a:cs typeface="Lucida Sans Unicode" charset="0"/>
              </a:rPr>
              <a:t>= 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new Pair&lt;&gt;("</a:t>
            </a:r>
            <a:r>
              <a:rPr lang="en-GB" sz="2500" b="1" dirty="0" err="1" smtClean="0">
                <a:latin typeface="Courier New" charset="0"/>
                <a:cs typeface="Lucida Sans Unicode" charset="0"/>
              </a:rPr>
              <a:t>One","Two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"</a:t>
            </a:r>
            <a:r>
              <a:rPr lang="en-GB" sz="2500" b="1" dirty="0">
                <a:latin typeface="Courier New" charset="0"/>
                <a:cs typeface="Lucida Sans Unicode" charset="0"/>
              </a:rPr>
              <a:t>)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;</a:t>
            </a:r>
            <a:endParaRPr lang="en-GB" sz="2500" b="1" dirty="0">
              <a:latin typeface="Courier New" charset="0"/>
              <a:cs typeface="Lucida Sans Unicode" charset="0"/>
            </a:endParaRPr>
          </a:p>
          <a:p>
            <a:pPr eaLnBrk="1" hangingPunct="1">
              <a:lnSpc>
                <a:spcPct val="90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 smtClean="0">
                <a:latin typeface="Courier New" charset="0"/>
                <a:cs typeface="Lucida Sans Unicode" charset="0"/>
              </a:rPr>
              <a:t>Pair&lt;Integer&gt; </a:t>
            </a:r>
            <a:r>
              <a:rPr lang="en-GB" sz="2500" b="1" dirty="0" err="1" smtClean="0">
                <a:latin typeface="Courier New" charset="0"/>
                <a:cs typeface="Lucida Sans Unicode" charset="0"/>
              </a:rPr>
              <a:t>ip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 </a:t>
            </a:r>
            <a:r>
              <a:rPr lang="en-GB" sz="2500" b="1" dirty="0">
                <a:latin typeface="Courier New" charset="0"/>
                <a:cs typeface="Lucida Sans Unicode" charset="0"/>
              </a:rPr>
              <a:t>= new 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Pair&lt;&gt;(1,2);</a:t>
            </a:r>
          </a:p>
          <a:p>
            <a:pPr eaLnBrk="1" hangingPunct="1">
              <a:lnSpc>
                <a:spcPct val="90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 smtClean="0">
                <a:latin typeface="Courier New" charset="0"/>
                <a:cs typeface="Lucida Sans Unicode" charset="0"/>
              </a:rPr>
              <a:t>Pair&lt;String&gt; </a:t>
            </a:r>
            <a:r>
              <a:rPr lang="en-GB" sz="2500" b="1" dirty="0" err="1" smtClean="0">
                <a:latin typeface="Courier New" charset="0"/>
                <a:cs typeface="Lucida Sans Unicode" charset="0"/>
              </a:rPr>
              <a:t>mixp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 = new Pair&lt;&gt;(1,</a:t>
            </a:r>
            <a:r>
              <a:rPr lang="en-GB" sz="2500" b="1" dirty="0">
                <a:latin typeface="Courier New" charset="0"/>
                <a:cs typeface="Lucida Sans Unicode" charset="0"/>
              </a:rPr>
              <a:t> "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Two");</a:t>
            </a:r>
            <a:endParaRPr lang="en-GB" sz="2500" b="1" dirty="0">
              <a:latin typeface="Courier New" charset="0"/>
              <a:cs typeface="Lucida Sans Unicode" charset="0"/>
            </a:endParaRPr>
          </a:p>
          <a:p>
            <a:pPr lvl="2" eaLnBrk="1" hangingPunct="1">
              <a:lnSpc>
                <a:spcPct val="102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endParaRPr lang="en-GB" b="1" dirty="0" smtClean="0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102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b="1" dirty="0" smtClean="0">
                <a:latin typeface="Lucida Sans Unicode" charset="0"/>
                <a:cs typeface="Lucida Sans Unicode" charset="0"/>
              </a:rPr>
              <a:t>Use is more compact </a:t>
            </a:r>
            <a:r>
              <a:rPr lang="en-GB" b="1" dirty="0">
                <a:latin typeface="Lucida Sans Unicode" charset="0"/>
                <a:cs typeface="Lucida Sans Unicode" charset="0"/>
              </a:rPr>
              <a:t>and </a:t>
            </a:r>
            <a:r>
              <a:rPr lang="en-GB" b="1" dirty="0" smtClean="0">
                <a:latin typeface="Lucida Sans Unicode" charset="0"/>
                <a:cs typeface="Lucida Sans Unicode" charset="0"/>
              </a:rPr>
              <a:t>safer:</a:t>
            </a:r>
            <a:endParaRPr lang="en-GB" b="1" dirty="0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90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 smtClean="0">
                <a:latin typeface="Courier New" charset="0"/>
                <a:cs typeface="Lucida Sans Unicode" charset="0"/>
              </a:rPr>
              <a:t>String </a:t>
            </a:r>
            <a:r>
              <a:rPr lang="en-GB" sz="2500" b="1" dirty="0">
                <a:latin typeface="Courier New" charset="0"/>
                <a:cs typeface="Lucida Sans Unicode" charset="0"/>
              </a:rPr>
              <a:t>a = </a:t>
            </a:r>
            <a:r>
              <a:rPr lang="en-GB" sz="2500" b="1" dirty="0" err="1" smtClean="0">
                <a:latin typeface="Courier New" charset="0"/>
                <a:cs typeface="Lucida Sans Unicode" charset="0"/>
              </a:rPr>
              <a:t>sp.second</a:t>
            </a:r>
            <a:r>
              <a:rPr lang="en-GB" sz="2500" b="1" dirty="0">
                <a:latin typeface="Courier New" charset="0"/>
                <a:cs typeface="Lucida Sans Unicode" charset="0"/>
              </a:rPr>
              <a:t>();</a:t>
            </a:r>
          </a:p>
          <a:p>
            <a:pPr eaLnBrk="1" hangingPunct="1">
              <a:lnSpc>
                <a:spcPct val="90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 err="1" smtClean="0">
                <a:latin typeface="Courier New" charset="0"/>
                <a:cs typeface="Lucida Sans Unicode" charset="0"/>
              </a:rPr>
              <a:t>int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 </a:t>
            </a:r>
            <a:r>
              <a:rPr lang="en-GB" sz="2500" b="1" dirty="0">
                <a:latin typeface="Courier New" charset="0"/>
                <a:cs typeface="Lucida Sans Unicode" charset="0"/>
              </a:rPr>
              <a:t>b = </a:t>
            </a:r>
            <a:r>
              <a:rPr lang="en-GB" sz="2500" b="1" dirty="0" err="1" smtClean="0">
                <a:latin typeface="Courier New" charset="0"/>
                <a:cs typeface="Lucida Sans Unicode" charset="0"/>
              </a:rPr>
              <a:t>ip.first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(</a:t>
            </a:r>
            <a:r>
              <a:rPr lang="en-GB" sz="2500" b="1" dirty="0">
                <a:latin typeface="Courier New" charset="0"/>
                <a:cs typeface="Lucida Sans Unicode" charset="0"/>
              </a:rPr>
              <a:t>);</a:t>
            </a:r>
          </a:p>
          <a:p>
            <a:pPr eaLnBrk="1" hangingPunct="1">
              <a:lnSpc>
                <a:spcPct val="90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 smtClean="0">
                <a:latin typeface="Courier New" charset="0"/>
                <a:cs typeface="Lucida Sans Unicode" charset="0"/>
              </a:rPr>
              <a:t>String </a:t>
            </a:r>
            <a:r>
              <a:rPr lang="en-GB" sz="2500" b="1" dirty="0" err="1">
                <a:latin typeface="Courier New" charset="0"/>
                <a:cs typeface="Lucida Sans Unicode" charset="0"/>
              </a:rPr>
              <a:t>bs</a:t>
            </a:r>
            <a:r>
              <a:rPr lang="en-GB" sz="2500" b="1" dirty="0">
                <a:latin typeface="Courier New" charset="0"/>
                <a:cs typeface="Lucida Sans Unicode" charset="0"/>
              </a:rPr>
              <a:t> = </a:t>
            </a:r>
            <a:r>
              <a:rPr lang="en-GB" sz="2500" b="1" dirty="0" err="1" smtClean="0">
                <a:latin typeface="Courier New" charset="0"/>
                <a:cs typeface="Lucida Sans Unicode" charset="0"/>
              </a:rPr>
              <a:t>ip.second</a:t>
            </a:r>
            <a:r>
              <a:rPr lang="en-GB" sz="2500" b="1" dirty="0">
                <a:latin typeface="Courier New" charset="0"/>
                <a:cs typeface="Lucida Sans Unicode" charset="0"/>
              </a:rPr>
              <a:t>()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;</a:t>
            </a:r>
            <a:endParaRPr lang="en-GB" sz="2500" b="1" dirty="0">
              <a:latin typeface="Courier New" charset="0"/>
              <a:cs typeface="Lucida Sans Unicode" charset="0"/>
            </a:endParaRPr>
          </a:p>
          <a:p>
            <a:pPr eaLnBrk="1" hangingPunct="1">
              <a:lnSpc>
                <a:spcPct val="90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endParaRPr lang="en-GB" sz="2500" b="1" dirty="0">
              <a:latin typeface="Courier New" charset="0"/>
              <a:cs typeface="Lucida Sans Unicode" charset="0"/>
            </a:endParaRPr>
          </a:p>
        </p:txBody>
      </p:sp>
      <p:sp>
        <p:nvSpPr>
          <p:cNvPr id="9221" name="AutoShape 5"/>
          <p:cNvSpPr>
            <a:spLocks noChangeArrowheads="1"/>
          </p:cNvSpPr>
          <p:nvPr/>
        </p:nvSpPr>
        <p:spPr bwMode="auto">
          <a:xfrm>
            <a:off x="2843808" y="5970888"/>
            <a:ext cx="2664296" cy="770480"/>
          </a:xfrm>
          <a:prstGeom prst="wedgeRoundRectCallout">
            <a:avLst>
              <a:gd name="adj1" fmla="val -59203"/>
              <a:gd name="adj2" fmla="val -113082"/>
              <a:gd name="adj3" fmla="val 16667"/>
            </a:avLst>
          </a:prstGeom>
          <a:solidFill>
            <a:srgbClr val="E6E0EC"/>
          </a:solidFill>
          <a:ln w="9360">
            <a:solidFill>
              <a:srgbClr val="8064A2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5857" tIns="45051" rIns="85857" bIns="45051" anchor="ctr"/>
          <a:lstStyle/>
          <a:p>
            <a:pPr algn="ctr">
              <a:lnSpc>
                <a:spcPct val="84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</a:tabLst>
            </a:pPr>
            <a:r>
              <a:rPr lang="en-GB" sz="2400">
                <a:solidFill>
                  <a:srgbClr val="000000"/>
                </a:solidFill>
                <a:cs typeface="Lucida Sans Unicode" charset="0"/>
              </a:rPr>
              <a:t>Compiler error: </a:t>
            </a:r>
          </a:p>
          <a:p>
            <a:pPr algn="ctr">
              <a:lnSpc>
                <a:spcPct val="84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</a:tabLst>
            </a:pPr>
            <a:r>
              <a:rPr lang="en-GB" sz="2400">
                <a:solidFill>
                  <a:srgbClr val="000000"/>
                </a:solidFill>
                <a:cs typeface="Lucida Sans Unicode" charset="0"/>
              </a:rPr>
              <a:t>type mismatch</a:t>
            </a: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6012160" y="5373216"/>
            <a:ext cx="2952328" cy="792088"/>
          </a:xfrm>
          <a:prstGeom prst="wedgeRoundRectCallout">
            <a:avLst>
              <a:gd name="adj1" fmla="val -108852"/>
              <a:gd name="adj2" fmla="val -111220"/>
              <a:gd name="adj3" fmla="val 16667"/>
            </a:avLst>
          </a:prstGeom>
          <a:solidFill>
            <a:srgbClr val="E6E0EC"/>
          </a:solidFill>
          <a:ln w="9360">
            <a:solidFill>
              <a:srgbClr val="8064A2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5857" tIns="45051" rIns="85857" bIns="45051" anchor="ctr"/>
          <a:lstStyle/>
          <a:p>
            <a:pPr algn="ctr">
              <a:lnSpc>
                <a:spcPct val="84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</a:tabLst>
            </a:pPr>
            <a:r>
              <a:rPr lang="en-GB" sz="2400" b="1" dirty="0" smtClean="0">
                <a:solidFill>
                  <a:srgbClr val="000000"/>
                </a:solidFill>
                <a:latin typeface="Courier New"/>
                <a:cs typeface="Courier New"/>
              </a:rPr>
              <a:t>Integer</a:t>
            </a:r>
            <a:r>
              <a:rPr lang="en-GB" sz="2400" dirty="0" smtClean="0">
                <a:solidFill>
                  <a:srgbClr val="000000"/>
                </a:solidFill>
                <a:cs typeface="Lucida Sans Unicode" charset="0"/>
              </a:rPr>
              <a:t> can be auto-unboxed</a:t>
            </a:r>
            <a:endParaRPr lang="en-GB" sz="2400" dirty="0">
              <a:solidFill>
                <a:srgbClr val="000000"/>
              </a:solidFill>
              <a:cs typeface="Lucida Sans Unicode" charset="0"/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6660232" y="4293096"/>
            <a:ext cx="2339752" cy="792088"/>
          </a:xfrm>
          <a:prstGeom prst="wedgeRoundRectCallout">
            <a:avLst>
              <a:gd name="adj1" fmla="val -118710"/>
              <a:gd name="adj2" fmla="val -35594"/>
              <a:gd name="adj3" fmla="val 16667"/>
            </a:avLst>
          </a:prstGeom>
          <a:solidFill>
            <a:srgbClr val="E6E0EC"/>
          </a:solidFill>
          <a:ln w="9360">
            <a:solidFill>
              <a:srgbClr val="8064A2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5857" tIns="45051" rIns="85857" bIns="45051" anchor="ctr"/>
          <a:lstStyle/>
          <a:p>
            <a:pPr algn="ctr">
              <a:lnSpc>
                <a:spcPct val="84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</a:tabLst>
            </a:pPr>
            <a:r>
              <a:rPr lang="en-GB" sz="2400" dirty="0" smtClean="0">
                <a:solidFill>
                  <a:srgbClr val="000000"/>
                </a:solidFill>
                <a:cs typeface="Lucida Sans Unicode" charset="0"/>
              </a:rPr>
              <a:t>No down-cast is required</a:t>
            </a:r>
            <a:endParaRPr lang="en-GB" sz="2400" dirty="0">
              <a:solidFill>
                <a:srgbClr val="000000"/>
              </a:solidFill>
              <a:cs typeface="Lucida Sans Unicode" charset="0"/>
            </a:endParaRPr>
          </a:p>
        </p:txBody>
      </p:sp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6588224" y="3284984"/>
            <a:ext cx="2555776" cy="720080"/>
          </a:xfrm>
          <a:prstGeom prst="wedgeRoundRectCallout">
            <a:avLst>
              <a:gd name="adj1" fmla="val -48842"/>
              <a:gd name="adj2" fmla="val -74630"/>
              <a:gd name="adj3" fmla="val 16667"/>
            </a:avLst>
          </a:prstGeom>
          <a:solidFill>
            <a:srgbClr val="E6E0EC"/>
          </a:solidFill>
          <a:ln w="9360">
            <a:solidFill>
              <a:srgbClr val="8064A2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5857" tIns="45051" rIns="85857" bIns="45051" anchor="ctr"/>
          <a:lstStyle/>
          <a:p>
            <a:pPr algn="ctr">
              <a:lnSpc>
                <a:spcPct val="84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</a:tabLst>
            </a:pPr>
            <a:r>
              <a:rPr lang="en-GB" sz="2400">
                <a:solidFill>
                  <a:srgbClr val="000000"/>
                </a:solidFill>
                <a:cs typeface="Lucida Sans Unicode" charset="0"/>
              </a:rPr>
              <a:t>Compiler error: </a:t>
            </a:r>
          </a:p>
          <a:p>
            <a:pPr algn="ctr">
              <a:lnSpc>
                <a:spcPct val="84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</a:tabLst>
            </a:pPr>
            <a:r>
              <a:rPr lang="en-GB" sz="2400">
                <a:solidFill>
                  <a:srgbClr val="000000"/>
                </a:solidFill>
                <a:cs typeface="Lucida Sans Unicode" charset="0"/>
              </a:rPr>
              <a:t>type mismatch</a:t>
            </a:r>
          </a:p>
        </p:txBody>
      </p:sp>
    </p:spTree>
    <p:extLst>
      <p:ext uri="{BB962C8B-B14F-4D97-AF65-F5344CB8AC3E}">
        <p14:creationId xmlns:p14="http://schemas.microsoft.com/office/powerpoint/2010/main" val="1310196934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"/>
          <p:cNvSpPr>
            <a:spLocks noGrp="1" noChangeArrowheads="1"/>
          </p:cNvSpPr>
          <p:nvPr>
            <p:ph type="title"/>
          </p:nvPr>
        </p:nvSpPr>
        <p:spPr/>
        <p:txBody>
          <a:bodyPr lIns="0" tIns="0" rIns="0" bIns="0">
            <a:spAutoFit/>
          </a:bodyPr>
          <a:lstStyle/>
          <a:p>
            <a:pPr eaLnBrk="1" hangingPunct="1">
              <a:lnSpc>
                <a:spcPct val="101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  <a:tab pos="8533237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Generic type declaration</a:t>
            </a:r>
          </a:p>
        </p:txBody>
      </p:sp>
      <p:sp>
        <p:nvSpPr>
          <p:cNvPr id="41987" name="Rectangle 2"/>
          <p:cNvSpPr>
            <a:spLocks noGrp="1" noChangeArrowheads="1"/>
          </p:cNvSpPr>
          <p:nvPr>
            <p:ph idx="1"/>
          </p:nvPr>
        </p:nvSpPr>
        <p:spPr/>
        <p:txBody>
          <a:bodyPr lIns="0" tIns="0" rIns="0" bIns="0">
            <a:normAutofit/>
          </a:bodyPr>
          <a:lstStyle/>
          <a:p>
            <a:pPr eaLnBrk="1" hangingPunct="1">
              <a:lnSpc>
                <a:spcPct val="101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  <a:defRPr/>
            </a:pPr>
            <a:r>
              <a:rPr lang="en-GB" sz="3200" dirty="0">
                <a:latin typeface="Lucida Sans Unicode" charset="0"/>
                <a:cs typeface="Lucida Sans Unicode" charset="0"/>
              </a:rPr>
              <a:t>Syntax:</a:t>
            </a:r>
          </a:p>
          <a:p>
            <a:pPr eaLnBrk="1" hangingPunct="1">
              <a:lnSpc>
                <a:spcPct val="95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  <a:defRPr/>
            </a:pPr>
            <a:r>
              <a:rPr lang="en-GB" sz="3200" b="1" i="1" dirty="0">
                <a:solidFill>
                  <a:schemeClr val="accent4">
                    <a:lumMod val="75000"/>
                  </a:schemeClr>
                </a:solidFill>
                <a:latin typeface="Courier New" charset="0"/>
                <a:cs typeface="Lucida Sans Unicode" charset="0"/>
              </a:rPr>
              <a:t>(</a:t>
            </a:r>
            <a:r>
              <a:rPr lang="en-GB" sz="3200" b="1" dirty="0" err="1">
                <a:latin typeface="Courier New" charset="0"/>
                <a:cs typeface="Lucida Sans Unicode" charset="0"/>
              </a:rPr>
              <a:t>class</a:t>
            </a:r>
            <a:r>
              <a:rPr lang="en-GB" sz="3200" b="1" i="1" dirty="0" err="1">
                <a:solidFill>
                  <a:schemeClr val="accent4">
                    <a:lumMod val="75000"/>
                  </a:schemeClr>
                </a:solidFill>
                <a:latin typeface="Courier New" charset="0"/>
                <a:cs typeface="Lucida Sans Unicode" charset="0"/>
              </a:rPr>
              <a:t>|</a:t>
            </a:r>
            <a:r>
              <a:rPr lang="en-GB" sz="3200" b="1" dirty="0" err="1">
                <a:latin typeface="Courier New" charset="0"/>
                <a:cs typeface="Lucida Sans Unicode" charset="0"/>
              </a:rPr>
              <a:t>interface</a:t>
            </a:r>
            <a:r>
              <a:rPr lang="en-GB" sz="3200" b="1" i="1" dirty="0">
                <a:solidFill>
                  <a:schemeClr val="accent4">
                    <a:lumMod val="75000"/>
                  </a:schemeClr>
                </a:solidFill>
                <a:latin typeface="Courier New" charset="0"/>
                <a:cs typeface="Lucida Sans Unicode" charset="0"/>
              </a:rPr>
              <a:t>)</a:t>
            </a:r>
            <a:r>
              <a:rPr lang="en-GB" sz="3200" b="1" dirty="0">
                <a:latin typeface="Courier New" charset="0"/>
                <a:cs typeface="Lucida Sans Unicode" charset="0"/>
              </a:rPr>
              <a:t> </a:t>
            </a:r>
            <a:r>
              <a:rPr lang="en-GB" sz="3200" b="1" i="1" dirty="0">
                <a:latin typeface="Courier New" charset="0"/>
                <a:cs typeface="Lucida Sans Unicode" charset="0"/>
              </a:rPr>
              <a:t>Name</a:t>
            </a:r>
            <a:r>
              <a:rPr lang="en-GB" sz="3200" b="1" dirty="0">
                <a:latin typeface="Courier New" charset="0"/>
                <a:cs typeface="Lucida Sans Unicode" charset="0"/>
              </a:rPr>
              <a:t> </a:t>
            </a:r>
            <a:r>
              <a:rPr lang="en-GB" sz="3200" b="1" dirty="0">
                <a:solidFill>
                  <a:srgbClr val="FF6633"/>
                </a:solidFill>
                <a:latin typeface="Courier New" charset="0"/>
                <a:cs typeface="Lucida Sans Unicode" charset="0"/>
              </a:rPr>
              <a:t>&lt;</a:t>
            </a:r>
            <a:r>
              <a:rPr lang="en-GB" sz="3200" b="1" dirty="0">
                <a:latin typeface="Courier New" charset="0"/>
                <a:cs typeface="Lucida Sans Unicode" charset="0"/>
              </a:rPr>
              <a:t>P</a:t>
            </a:r>
            <a:r>
              <a:rPr lang="en-GB" sz="3200" b="1" baseline="-33000" dirty="0">
                <a:latin typeface="Courier New" charset="0"/>
                <a:cs typeface="Lucida Sans Unicode" charset="0"/>
              </a:rPr>
              <a:t>1</a:t>
            </a:r>
            <a:r>
              <a:rPr lang="en-GB" sz="3200" b="1" dirty="0">
                <a:latin typeface="Courier New" charset="0"/>
                <a:cs typeface="Lucida Sans Unicode" charset="0"/>
              </a:rPr>
              <a:t> </a:t>
            </a:r>
            <a:r>
              <a:rPr lang="en-GB" sz="3200" b="1" i="1" dirty="0">
                <a:solidFill>
                  <a:schemeClr val="accent4">
                    <a:lumMod val="75000"/>
                  </a:schemeClr>
                </a:solidFill>
                <a:latin typeface="Courier New" charset="0"/>
                <a:cs typeface="Lucida Sans Unicode" charset="0"/>
              </a:rPr>
              <a:t>{</a:t>
            </a:r>
            <a:r>
              <a:rPr lang="en-GB" sz="3200" b="1" dirty="0">
                <a:solidFill>
                  <a:srgbClr val="FF6633"/>
                </a:solidFill>
                <a:latin typeface="Courier New" charset="0"/>
                <a:cs typeface="Lucida Sans Unicode" charset="0"/>
              </a:rPr>
              <a:t>,</a:t>
            </a:r>
            <a:r>
              <a:rPr lang="en-GB" sz="3200" b="1" dirty="0">
                <a:latin typeface="Courier New" charset="0"/>
                <a:cs typeface="Lucida Sans Unicode" charset="0"/>
              </a:rPr>
              <a:t>P</a:t>
            </a:r>
            <a:r>
              <a:rPr lang="en-GB" sz="3200" b="1" baseline="-33000" dirty="0">
                <a:latin typeface="Courier New" charset="0"/>
                <a:cs typeface="Lucida Sans Unicode" charset="0"/>
              </a:rPr>
              <a:t>2</a:t>
            </a:r>
            <a:r>
              <a:rPr lang="en-GB" sz="3200" b="1" i="1" dirty="0">
                <a:solidFill>
                  <a:schemeClr val="accent4">
                    <a:lumMod val="75000"/>
                  </a:schemeClr>
                </a:solidFill>
                <a:latin typeface="Courier New" charset="0"/>
                <a:cs typeface="Lucida Sans Unicode" charset="0"/>
              </a:rPr>
              <a:t>}</a:t>
            </a:r>
            <a:r>
              <a:rPr lang="en-GB" sz="3200" b="1" dirty="0">
                <a:solidFill>
                  <a:srgbClr val="FF6633"/>
                </a:solidFill>
                <a:latin typeface="Courier New" charset="0"/>
                <a:cs typeface="Lucida Sans Unicode" charset="0"/>
              </a:rPr>
              <a:t>&gt;</a:t>
            </a:r>
          </a:p>
          <a:p>
            <a:pPr eaLnBrk="1" hangingPunct="1">
              <a:lnSpc>
                <a:spcPct val="108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  <a:defRPr/>
            </a:pPr>
            <a:endParaRPr lang="en-GB" sz="3200" dirty="0" smtClean="0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108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  <a:defRPr/>
            </a:pPr>
            <a:r>
              <a:rPr lang="en-GB" sz="3200" dirty="0" smtClean="0">
                <a:latin typeface="Lucida Sans Unicode" charset="0"/>
                <a:cs typeface="Lucida Sans Unicode" charset="0"/>
              </a:rPr>
              <a:t>Type parameters, e.g. </a:t>
            </a:r>
            <a:r>
              <a:rPr lang="en-GB" sz="3200" b="1" dirty="0" smtClean="0">
                <a:latin typeface="Courier New" charset="0"/>
                <a:cs typeface="Lucida Sans Unicode" charset="0"/>
              </a:rPr>
              <a:t>P</a:t>
            </a:r>
            <a:r>
              <a:rPr lang="en-GB" sz="3200" b="1" baseline="-33000" dirty="0" smtClean="0">
                <a:latin typeface="Courier New" charset="0"/>
                <a:cs typeface="Lucida Sans Unicode" charset="0"/>
              </a:rPr>
              <a:t>1</a:t>
            </a:r>
            <a:r>
              <a:rPr lang="en-GB" sz="3200" dirty="0" smtClean="0">
                <a:latin typeface="Lucida Sans Unicode" charset="0"/>
                <a:cs typeface="Lucida Sans Unicode" charset="0"/>
              </a:rPr>
              <a:t>: </a:t>
            </a:r>
            <a:endParaRPr lang="en-GB" sz="3200" dirty="0">
              <a:latin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108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  <a:defRPr/>
            </a:pPr>
            <a:r>
              <a:rPr lang="en-GB" sz="2800" dirty="0" smtClean="0">
                <a:latin typeface="Lucida Sans Unicode" charset="0"/>
                <a:ea typeface="Lucida Sans Unicode" charset="0"/>
                <a:cs typeface="Lucida Sans Unicode" charset="0"/>
              </a:rPr>
              <a:t>Represent classes or interfaces</a:t>
            </a:r>
          </a:p>
          <a:p>
            <a:pPr lvl="1" eaLnBrk="1" hangingPunct="1">
              <a:lnSpc>
                <a:spcPct val="108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  <a:defRPr/>
            </a:pPr>
            <a:r>
              <a:rPr lang="en-GB" sz="2800" dirty="0" smtClean="0">
                <a:latin typeface="Lucida Sans Unicode" charset="0"/>
                <a:ea typeface="Lucida Sans Unicode" charset="0"/>
                <a:cs typeface="Lucida Sans Unicode" charset="0"/>
              </a:rPr>
              <a:t>Conventionally uppercase </a:t>
            </a:r>
            <a:r>
              <a:rPr lang="en-GB" sz="2800" dirty="0">
                <a:latin typeface="Lucida Sans Unicode" charset="0"/>
                <a:ea typeface="Lucida Sans Unicode" charset="0"/>
                <a:cs typeface="Lucida Sans Unicode" charset="0"/>
              </a:rPr>
              <a:t>letter</a:t>
            </a:r>
          </a:p>
          <a:p>
            <a:pPr lvl="1" eaLnBrk="1" hangingPunct="1">
              <a:lnSpc>
                <a:spcPct val="108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  <a:defRPr/>
            </a:pPr>
            <a:r>
              <a:rPr lang="en-GB" sz="2800" dirty="0" smtClean="0">
                <a:latin typeface="Lucida Sans Unicode" charset="0"/>
                <a:ea typeface="Lucida Sans Unicode" charset="0"/>
                <a:cs typeface="Lucida Sans Unicode" charset="0"/>
              </a:rPr>
              <a:t>Usually</a:t>
            </a:r>
            <a:r>
              <a:rPr lang="en-GB" sz="2800" dirty="0">
                <a:latin typeface="Lucida Sans Unicode" charset="0"/>
                <a:ea typeface="Lucida Sans Unicode" charset="0"/>
                <a:cs typeface="Lucida Sans Unicode" charset="0"/>
              </a:rPr>
              <a:t>: </a:t>
            </a:r>
            <a:r>
              <a:rPr lang="en-GB" sz="2800" dirty="0">
                <a:solidFill>
                  <a:srgbClr val="FF6633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T</a:t>
            </a:r>
            <a:r>
              <a:rPr lang="en-GB" sz="2800" dirty="0">
                <a:latin typeface="Lucida Sans Unicode" charset="0"/>
                <a:ea typeface="Lucida Sans Unicode" charset="0"/>
                <a:cs typeface="Lucida Sans Unicode" charset="0"/>
              </a:rPr>
              <a:t>(</a:t>
            </a:r>
            <a:r>
              <a:rPr lang="en-GB" sz="2800" dirty="0" err="1">
                <a:latin typeface="Lucida Sans Unicode" charset="0"/>
                <a:ea typeface="Lucida Sans Unicode" charset="0"/>
                <a:cs typeface="Lucida Sans Unicode" charset="0"/>
              </a:rPr>
              <a:t>ype</a:t>
            </a:r>
            <a:r>
              <a:rPr lang="en-GB" sz="2800" dirty="0">
                <a:latin typeface="Lucida Sans Unicode" charset="0"/>
                <a:ea typeface="Lucida Sans Unicode" charset="0"/>
                <a:cs typeface="Lucida Sans Unicode" charset="0"/>
              </a:rPr>
              <a:t>), </a:t>
            </a:r>
            <a:r>
              <a:rPr lang="en-GB" sz="2800" dirty="0">
                <a:solidFill>
                  <a:srgbClr val="FF6633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E</a:t>
            </a:r>
            <a:r>
              <a:rPr lang="en-GB" sz="2800" dirty="0">
                <a:latin typeface="Lucida Sans Unicode" charset="0"/>
                <a:ea typeface="Lucida Sans Unicode" charset="0"/>
                <a:cs typeface="Lucida Sans Unicode" charset="0"/>
              </a:rPr>
              <a:t>(</a:t>
            </a:r>
            <a:r>
              <a:rPr lang="en-GB" sz="2800" dirty="0" err="1">
                <a:latin typeface="Lucida Sans Unicode" charset="0"/>
                <a:ea typeface="Lucida Sans Unicode" charset="0"/>
                <a:cs typeface="Lucida Sans Unicode" charset="0"/>
              </a:rPr>
              <a:t>lement</a:t>
            </a:r>
            <a:r>
              <a:rPr lang="en-GB" sz="2800" dirty="0">
                <a:latin typeface="Lucida Sans Unicode" charset="0"/>
                <a:ea typeface="Lucida Sans Unicode" charset="0"/>
                <a:cs typeface="Lucida Sans Unicode" charset="0"/>
              </a:rPr>
              <a:t>), </a:t>
            </a:r>
            <a:r>
              <a:rPr lang="en-GB" sz="2800" dirty="0">
                <a:solidFill>
                  <a:srgbClr val="FF6633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K</a:t>
            </a:r>
            <a:r>
              <a:rPr lang="en-GB" sz="2800" dirty="0">
                <a:latin typeface="Lucida Sans Unicode" charset="0"/>
                <a:ea typeface="Lucida Sans Unicode" charset="0"/>
                <a:cs typeface="Lucida Sans Unicode" charset="0"/>
              </a:rPr>
              <a:t>(</a:t>
            </a:r>
            <a:r>
              <a:rPr lang="en-GB" sz="2800" dirty="0" err="1">
                <a:latin typeface="Lucida Sans Unicode" charset="0"/>
                <a:ea typeface="Lucida Sans Unicode" charset="0"/>
                <a:cs typeface="Lucida Sans Unicode" charset="0"/>
              </a:rPr>
              <a:t>ey</a:t>
            </a:r>
            <a:r>
              <a:rPr lang="en-GB" sz="2800" dirty="0">
                <a:latin typeface="Lucida Sans Unicode" charset="0"/>
                <a:ea typeface="Lucida Sans Unicode" charset="0"/>
                <a:cs typeface="Lucida Sans Unicode" charset="0"/>
              </a:rPr>
              <a:t>), </a:t>
            </a:r>
            <a:r>
              <a:rPr lang="en-GB" sz="2800" dirty="0">
                <a:solidFill>
                  <a:srgbClr val="FF6633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V</a:t>
            </a:r>
            <a:r>
              <a:rPr lang="en-GB" sz="2800" dirty="0">
                <a:latin typeface="Lucida Sans Unicode" charset="0"/>
                <a:ea typeface="Lucida Sans Unicode" charset="0"/>
                <a:cs typeface="Lucida Sans Unicode" charset="0"/>
              </a:rPr>
              <a:t>(</a:t>
            </a:r>
            <a:r>
              <a:rPr lang="en-GB" sz="2800" dirty="0" err="1">
                <a:latin typeface="Lucida Sans Unicode" charset="0"/>
                <a:ea typeface="Lucida Sans Unicode" charset="0"/>
                <a:cs typeface="Lucida Sans Unicode" charset="0"/>
              </a:rPr>
              <a:t>alue</a:t>
            </a:r>
            <a:r>
              <a:rPr lang="en-GB" sz="2800" dirty="0">
                <a:latin typeface="Lucida Sans Unicode" charset="0"/>
                <a:ea typeface="Lucida Sans Unicode" charset="0"/>
                <a:cs typeface="Lucida Sans Unicode" charset="0"/>
              </a:rPr>
              <a:t>)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"/>
          <p:cNvSpPr>
            <a:spLocks noGrp="1" noChangeArrowheads="1"/>
          </p:cNvSpPr>
          <p:nvPr>
            <p:ph type="title"/>
          </p:nvPr>
        </p:nvSpPr>
        <p:spPr/>
        <p:txBody>
          <a:bodyPr lIns="0" tIns="0" rIns="0" bIns="0">
            <a:spAutoFit/>
          </a:bodyPr>
          <a:lstStyle/>
          <a:p>
            <a:pPr eaLnBrk="1" hangingPunct="1">
              <a:lnSpc>
                <a:spcPct val="102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  <a:tab pos="8533237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Generic 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Interfaces</a:t>
            </a:r>
            <a:endParaRPr lang="en-GB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44035" name="Rectangle 2"/>
          <p:cNvSpPr>
            <a:spLocks noGrp="1" noChangeArrowheads="1"/>
          </p:cNvSpPr>
          <p:nvPr>
            <p:ph idx="1"/>
          </p:nvPr>
        </p:nvSpPr>
        <p:spPr/>
        <p:txBody>
          <a:bodyPr lIns="0" tIns="0" rIns="0" bIns="0">
            <a:normAutofit/>
          </a:bodyPr>
          <a:lstStyle/>
          <a:p>
            <a:pPr eaLnBrk="1" hangingPunct="1">
              <a:lnSpc>
                <a:spcPct val="102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3200" dirty="0">
                <a:latin typeface="Lucida Sans Unicode" charset="0"/>
                <a:cs typeface="Lucida Sans Unicode" charset="0"/>
              </a:rPr>
              <a:t>All </a:t>
            </a:r>
            <a:r>
              <a:rPr lang="en-GB" sz="3200" dirty="0" smtClean="0">
                <a:latin typeface="Lucida Sans Unicode" charset="0"/>
                <a:cs typeface="Lucida Sans Unicode" charset="0"/>
              </a:rPr>
              <a:t>standard interfaces and </a:t>
            </a:r>
            <a:r>
              <a:rPr lang="en-GB" sz="3200" dirty="0">
                <a:latin typeface="Lucida Sans Unicode" charset="0"/>
                <a:cs typeface="Lucida Sans Unicode" charset="0"/>
              </a:rPr>
              <a:t>classes have been </a:t>
            </a:r>
            <a:r>
              <a:rPr lang="en-GB" sz="3200" dirty="0" smtClean="0">
                <a:latin typeface="Lucida Sans Unicode" charset="0"/>
                <a:cs typeface="Lucida Sans Unicode" charset="0"/>
              </a:rPr>
              <a:t>defined as generics</a:t>
            </a:r>
          </a:p>
          <a:p>
            <a:pPr lvl="1" eaLnBrk="1" hangingPunct="1">
              <a:lnSpc>
                <a:spcPct val="102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800" dirty="0" smtClean="0">
                <a:latin typeface="Lucida Sans Unicode" charset="0"/>
                <a:cs typeface="Lucida Sans Unicode" charset="0"/>
              </a:rPr>
              <a:t>since Java 5</a:t>
            </a:r>
            <a:endParaRPr lang="en-GB" sz="2800" dirty="0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102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3200" dirty="0">
                <a:latin typeface="Lucida Sans Unicode" charset="0"/>
                <a:cs typeface="Lucida Sans Unicode" charset="0"/>
              </a:rPr>
              <a:t>Use of generics lead to code that is</a:t>
            </a:r>
          </a:p>
          <a:p>
            <a:pPr lvl="1" eaLnBrk="1" hangingPunct="1">
              <a:lnSpc>
                <a:spcPct val="102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800" dirty="0">
                <a:latin typeface="Lucida Sans Unicode" charset="0"/>
                <a:ea typeface="Lucida Sans Unicode" charset="0"/>
                <a:cs typeface="Lucida Sans Unicode" charset="0"/>
              </a:rPr>
              <a:t>safer</a:t>
            </a:r>
          </a:p>
          <a:p>
            <a:pPr lvl="1" eaLnBrk="1" hangingPunct="1">
              <a:lnSpc>
                <a:spcPct val="102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800" dirty="0">
                <a:latin typeface="Lucida Sans Unicode" charset="0"/>
                <a:ea typeface="Lucida Sans Unicode" charset="0"/>
                <a:cs typeface="Lucida Sans Unicode" charset="0"/>
              </a:rPr>
              <a:t>more compact</a:t>
            </a:r>
          </a:p>
          <a:p>
            <a:pPr lvl="1" eaLnBrk="1" hangingPunct="1">
              <a:lnSpc>
                <a:spcPct val="102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800" dirty="0">
                <a:latin typeface="Lucida Sans Unicode" charset="0"/>
                <a:ea typeface="Lucida Sans Unicode" charset="0"/>
                <a:cs typeface="Lucida Sans Unicode" charset="0"/>
              </a:rPr>
              <a:t>easier to understand</a:t>
            </a:r>
          </a:p>
          <a:p>
            <a:pPr lvl="1" eaLnBrk="1" hangingPunct="1">
              <a:lnSpc>
                <a:spcPct val="102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800" dirty="0">
                <a:latin typeface="Lucida Sans Unicode" charset="0"/>
                <a:ea typeface="Lucida Sans Unicode" charset="0"/>
                <a:cs typeface="Lucida Sans Unicode" charset="0"/>
              </a:rPr>
              <a:t>equally performing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1"/>
          <p:cNvSpPr>
            <a:spLocks noChangeArrowheads="1"/>
          </p:cNvSpPr>
          <p:nvPr/>
        </p:nvSpPr>
        <p:spPr bwMode="auto">
          <a:xfrm>
            <a:off x="326883" y="2132856"/>
            <a:ext cx="8349573" cy="1512168"/>
          </a:xfrm>
          <a:prstGeom prst="roundRect">
            <a:avLst>
              <a:gd name="adj" fmla="val 32"/>
            </a:avLst>
          </a:prstGeom>
          <a:solidFill>
            <a:schemeClr val="accent6">
              <a:lumMod val="20000"/>
              <a:lumOff val="80000"/>
            </a:schemeClr>
          </a:solidFill>
          <a:ln w="9360">
            <a:solidFill>
              <a:schemeClr val="accent6">
                <a:lumMod val="75000"/>
              </a:schemeClr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82918" tIns="41460" rIns="82918" bIns="41460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172033" name="Rectangle 1"/>
          <p:cNvSpPr>
            <a:spLocks noGrp="1" noChangeArrowheads="1"/>
          </p:cNvSpPr>
          <p:nvPr>
            <p:ph type="title"/>
          </p:nvPr>
        </p:nvSpPr>
        <p:spPr>
          <a:xfrm>
            <a:off x="228601" y="256170"/>
            <a:ext cx="8605838" cy="703685"/>
          </a:xfrm>
        </p:spPr>
        <p:txBody>
          <a:bodyPr lIns="90351" tIns="44276" rIns="90351" bIns="44276"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153" algn="l"/>
                <a:tab pos="914305" algn="l"/>
                <a:tab pos="1371458" algn="l"/>
                <a:tab pos="1828610" algn="l"/>
                <a:tab pos="2285763" algn="l"/>
                <a:tab pos="2742915" algn="l"/>
                <a:tab pos="3200068" algn="l"/>
                <a:tab pos="3657220" algn="l"/>
                <a:tab pos="4114373" algn="l"/>
                <a:tab pos="4571526" algn="l"/>
                <a:tab pos="5028678" algn="l"/>
                <a:tab pos="5485831" algn="l"/>
                <a:tab pos="5942984" algn="l"/>
                <a:tab pos="6400137" algn="l"/>
                <a:tab pos="6857289" algn="l"/>
                <a:tab pos="7314442" algn="l"/>
                <a:tab pos="7771595" algn="l"/>
                <a:tab pos="8228747" algn="l"/>
                <a:tab pos="8685900" algn="l"/>
                <a:tab pos="9143052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Generic </a:t>
            </a:r>
            <a:r>
              <a:rPr lang="en-GB" b="1" dirty="0">
                <a:latin typeface="Courier New"/>
                <a:cs typeface="Courier New"/>
              </a:rPr>
              <a:t>Comparable</a:t>
            </a:r>
          </a:p>
        </p:txBody>
      </p:sp>
      <p:sp>
        <p:nvSpPr>
          <p:cNvPr id="172034" name="Rectangle 2"/>
          <p:cNvSpPr>
            <a:spLocks noGrp="1" noChangeArrowheads="1"/>
          </p:cNvSpPr>
          <p:nvPr>
            <p:ph idx="1"/>
          </p:nvPr>
        </p:nvSpPr>
        <p:spPr/>
        <p:txBody>
          <a:bodyPr lIns="90351" tIns="44276" rIns="90351" bIns="44276"/>
          <a:lstStyle/>
          <a:p>
            <a:pPr eaLnBrk="1" hangingPunct="1">
              <a:lnSpc>
                <a:spcPct val="90000"/>
              </a:lnSpc>
              <a:tabLst>
                <a:tab pos="453978" algn="l"/>
                <a:tab pos="911130" algn="l"/>
                <a:tab pos="1368283" algn="l"/>
                <a:tab pos="1825435" algn="l"/>
                <a:tab pos="2282588" algn="l"/>
                <a:tab pos="2739741" algn="l"/>
                <a:tab pos="3196893" algn="l"/>
                <a:tab pos="3654046" algn="l"/>
                <a:tab pos="4111199" algn="l"/>
                <a:tab pos="4568352" algn="l"/>
                <a:tab pos="5025504" algn="l"/>
                <a:tab pos="5482657" algn="l"/>
                <a:tab pos="5939809" algn="l"/>
                <a:tab pos="6396962" algn="l"/>
                <a:tab pos="6854115" algn="l"/>
                <a:tab pos="7311267" algn="l"/>
                <a:tab pos="7768420" algn="l"/>
                <a:tab pos="8225572" algn="l"/>
                <a:tab pos="8682725" algn="l"/>
                <a:tab pos="9139877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Interface </a:t>
            </a:r>
            <a:r>
              <a:rPr lang="en-GB" b="1" dirty="0" err="1" smtClean="0">
                <a:latin typeface="Courier New"/>
                <a:cs typeface="Courier New"/>
              </a:rPr>
              <a:t>java.lang.Comparable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 </a:t>
            </a:r>
          </a:p>
          <a:p>
            <a:pPr eaLnBrk="1" hangingPunct="1">
              <a:lnSpc>
                <a:spcPct val="90000"/>
              </a:lnSpc>
              <a:tabLst>
                <a:tab pos="453978" algn="l"/>
                <a:tab pos="911130" algn="l"/>
                <a:tab pos="1368283" algn="l"/>
                <a:tab pos="1825435" algn="l"/>
                <a:tab pos="2282588" algn="l"/>
                <a:tab pos="2739741" algn="l"/>
                <a:tab pos="3196893" algn="l"/>
                <a:tab pos="3654046" algn="l"/>
                <a:tab pos="4111199" algn="l"/>
                <a:tab pos="4568352" algn="l"/>
                <a:tab pos="5025504" algn="l"/>
                <a:tab pos="5482657" algn="l"/>
                <a:tab pos="5939809" algn="l"/>
                <a:tab pos="6396962" algn="l"/>
                <a:tab pos="6854115" algn="l"/>
                <a:tab pos="7311267" algn="l"/>
                <a:tab pos="7768420" algn="l"/>
                <a:tab pos="8225572" algn="l"/>
                <a:tab pos="8682725" algn="l"/>
                <a:tab pos="9139877" algn="l"/>
              </a:tabLst>
            </a:pPr>
            <a:endParaRPr lang="en-GB" dirty="0">
              <a:latin typeface="Lucida Sans Unicode" charset="0"/>
              <a:cs typeface="Lucida Sans Unicode" charset="0"/>
            </a:endParaRPr>
          </a:p>
          <a:p>
            <a:pPr marL="400008" lvl="1" indent="0" eaLnBrk="1" hangingPunct="1">
              <a:lnSpc>
                <a:spcPct val="90000"/>
              </a:lnSpc>
              <a:buNone/>
              <a:tabLst>
                <a:tab pos="453978" algn="l"/>
                <a:tab pos="911130" algn="l"/>
                <a:tab pos="1368283" algn="l"/>
                <a:tab pos="1825435" algn="l"/>
                <a:tab pos="2282588" algn="l"/>
                <a:tab pos="2739741" algn="l"/>
                <a:tab pos="3196893" algn="l"/>
                <a:tab pos="3654046" algn="l"/>
                <a:tab pos="4111199" algn="l"/>
                <a:tab pos="4568352" algn="l"/>
                <a:tab pos="5025504" algn="l"/>
                <a:tab pos="5482657" algn="l"/>
                <a:tab pos="5939809" algn="l"/>
                <a:tab pos="6396962" algn="l"/>
                <a:tab pos="6854115" algn="l"/>
                <a:tab pos="7311267" algn="l"/>
                <a:tab pos="7768420" algn="l"/>
                <a:tab pos="8225572" algn="l"/>
                <a:tab pos="8682725" algn="l"/>
                <a:tab pos="9139877" algn="l"/>
              </a:tabLst>
            </a:pPr>
            <a:r>
              <a:rPr lang="en-GB" b="1" dirty="0" smtClean="0">
                <a:solidFill>
                  <a:schemeClr val="tx1"/>
                </a:solidFill>
                <a:latin typeface="Courier New" charset="0"/>
                <a:cs typeface="Lucida Sans Unicode" charset="0"/>
              </a:rPr>
              <a:t>public</a:t>
            </a:r>
            <a:r>
              <a:rPr lang="en-GB" sz="2400" b="1" dirty="0">
                <a:solidFill>
                  <a:schemeClr val="tx1"/>
                </a:solidFill>
                <a:latin typeface="Courier New" charset="0"/>
                <a:cs typeface="Lucida Sans Unicode" charset="0"/>
              </a:rPr>
              <a:t> </a:t>
            </a:r>
            <a:r>
              <a:rPr lang="en-GB" b="1" dirty="0">
                <a:solidFill>
                  <a:schemeClr val="tx1"/>
                </a:solidFill>
                <a:latin typeface="Courier New" charset="0"/>
                <a:cs typeface="Lucida Sans Unicode" charset="0"/>
              </a:rPr>
              <a:t>interface </a:t>
            </a:r>
            <a:r>
              <a:rPr lang="en-GB" b="1" dirty="0" smtClean="0">
                <a:solidFill>
                  <a:schemeClr val="tx1"/>
                </a:solidFill>
                <a:latin typeface="Courier New" charset="0"/>
                <a:cs typeface="Lucida Sans Unicode" charset="0"/>
              </a:rPr>
              <a:t>Comparable</a:t>
            </a:r>
            <a:r>
              <a:rPr lang="en-GB" b="1" dirty="0" smtClean="0">
                <a:solidFill>
                  <a:srgbClr val="FF6633"/>
                </a:solidFill>
                <a:latin typeface="Courier New" charset="0"/>
                <a:cs typeface="Lucida Sans Unicode" charset="0"/>
              </a:rPr>
              <a:t>&lt;T&gt;</a:t>
            </a:r>
            <a:r>
              <a:rPr lang="en-GB" b="1" dirty="0" smtClean="0">
                <a:latin typeface="Courier New" charset="0"/>
                <a:cs typeface="Lucida Sans Unicode" charset="0"/>
              </a:rPr>
              <a:t>{</a:t>
            </a:r>
            <a:br>
              <a:rPr lang="en-GB" b="1" dirty="0" smtClean="0">
                <a:latin typeface="Courier New" charset="0"/>
                <a:cs typeface="Lucida Sans Unicode" charset="0"/>
              </a:rPr>
            </a:br>
            <a:r>
              <a:rPr lang="en-GB" b="1" dirty="0" smtClean="0">
                <a:latin typeface="Courier New" charset="0"/>
                <a:cs typeface="Lucida Sans Unicode" charset="0"/>
              </a:rPr>
              <a:t>  </a:t>
            </a:r>
            <a:r>
              <a:rPr lang="en-GB" b="1" dirty="0" err="1">
                <a:latin typeface="Courier New" charset="0"/>
                <a:cs typeface="Lucida Sans Unicode" charset="0"/>
              </a:rPr>
              <a:t>int</a:t>
            </a:r>
            <a:r>
              <a:rPr lang="en-GB" b="1" dirty="0">
                <a:latin typeface="Courier New" charset="0"/>
                <a:cs typeface="Lucida Sans Unicode" charset="0"/>
              </a:rPr>
              <a:t> </a:t>
            </a:r>
            <a:r>
              <a:rPr lang="en-GB" b="1" dirty="0" err="1">
                <a:solidFill>
                  <a:schemeClr val="tx1"/>
                </a:solidFill>
                <a:latin typeface="Courier New" charset="0"/>
                <a:cs typeface="Lucida Sans Unicode" charset="0"/>
              </a:rPr>
              <a:t>compareTo</a:t>
            </a:r>
            <a:r>
              <a:rPr lang="en-GB" b="1" dirty="0" smtClean="0">
                <a:latin typeface="Courier New" charset="0"/>
                <a:cs typeface="Lucida Sans Unicode" charset="0"/>
              </a:rPr>
              <a:t>(</a:t>
            </a:r>
            <a:r>
              <a:rPr lang="en-GB" b="1" dirty="0" smtClean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T</a:t>
            </a:r>
            <a:r>
              <a:rPr lang="en-GB" b="1" dirty="0" smtClean="0">
                <a:latin typeface="Courier New" charset="0"/>
                <a:cs typeface="Lucida Sans Unicode" charset="0"/>
              </a:rPr>
              <a:t> </a:t>
            </a:r>
            <a:r>
              <a:rPr lang="en-GB" b="1" dirty="0" err="1" smtClean="0">
                <a:latin typeface="Courier New" charset="0"/>
                <a:cs typeface="Lucida Sans Unicode" charset="0"/>
              </a:rPr>
              <a:t>obj</a:t>
            </a:r>
            <a:r>
              <a:rPr lang="en-GB" b="1" dirty="0">
                <a:latin typeface="Courier New" charset="0"/>
                <a:cs typeface="Lucida Sans Unicode" charset="0"/>
              </a:rPr>
              <a:t>)</a:t>
            </a:r>
            <a:r>
              <a:rPr lang="en-GB" b="1" dirty="0" smtClean="0">
                <a:latin typeface="Courier New" charset="0"/>
                <a:cs typeface="Lucida Sans Unicode" charset="0"/>
              </a:rPr>
              <a:t>;</a:t>
            </a:r>
            <a:br>
              <a:rPr lang="en-GB" b="1" dirty="0" smtClean="0">
                <a:latin typeface="Courier New" charset="0"/>
                <a:cs typeface="Lucida Sans Unicode" charset="0"/>
              </a:rPr>
            </a:br>
            <a:r>
              <a:rPr lang="en-GB" b="1" dirty="0" smtClean="0">
                <a:latin typeface="Courier New" charset="0"/>
                <a:cs typeface="Lucida Sans Unicode" charset="0"/>
              </a:rPr>
              <a:t>}</a:t>
            </a:r>
            <a:endParaRPr lang="en-GB" dirty="0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90000"/>
              </a:lnSpc>
              <a:tabLst>
                <a:tab pos="453978" algn="l"/>
                <a:tab pos="911130" algn="l"/>
                <a:tab pos="1368283" algn="l"/>
                <a:tab pos="1825435" algn="l"/>
                <a:tab pos="2282588" algn="l"/>
                <a:tab pos="2739741" algn="l"/>
                <a:tab pos="3196893" algn="l"/>
                <a:tab pos="3654046" algn="l"/>
                <a:tab pos="4111199" algn="l"/>
                <a:tab pos="4568352" algn="l"/>
                <a:tab pos="5025504" algn="l"/>
                <a:tab pos="5482657" algn="l"/>
                <a:tab pos="5939809" algn="l"/>
                <a:tab pos="6396962" algn="l"/>
                <a:tab pos="6854115" algn="l"/>
                <a:tab pos="7311267" algn="l"/>
                <a:tab pos="7768420" algn="l"/>
                <a:tab pos="8225572" algn="l"/>
                <a:tab pos="8682725" algn="l"/>
                <a:tab pos="9139877" algn="l"/>
              </a:tabLst>
            </a:pPr>
            <a:endParaRPr lang="en-GB" dirty="0" smtClean="0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90000"/>
              </a:lnSpc>
              <a:tabLst>
                <a:tab pos="453978" algn="l"/>
                <a:tab pos="911130" algn="l"/>
                <a:tab pos="1368283" algn="l"/>
                <a:tab pos="1825435" algn="l"/>
                <a:tab pos="2282588" algn="l"/>
                <a:tab pos="2739741" algn="l"/>
                <a:tab pos="3196893" algn="l"/>
                <a:tab pos="3654046" algn="l"/>
                <a:tab pos="4111199" algn="l"/>
                <a:tab pos="4568352" algn="l"/>
                <a:tab pos="5025504" algn="l"/>
                <a:tab pos="5482657" algn="l"/>
                <a:tab pos="5939809" algn="l"/>
                <a:tab pos="6396962" algn="l"/>
                <a:tab pos="6854115" algn="l"/>
                <a:tab pos="7311267" algn="l"/>
                <a:tab pos="7768420" algn="l"/>
                <a:tab pos="8225572" algn="l"/>
                <a:tab pos="8682725" algn="l"/>
                <a:tab pos="9139877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Semantics</a:t>
            </a:r>
            <a:r>
              <a:rPr lang="en-GB" dirty="0">
                <a:latin typeface="Lucida Sans Unicode" charset="0"/>
                <a:cs typeface="Lucida Sans Unicode" charset="0"/>
              </a:rPr>
              <a:t>: returns </a:t>
            </a:r>
          </a:p>
          <a:p>
            <a:pPr lvl="1" eaLnBrk="1" hangingPunct="1">
              <a:lnSpc>
                <a:spcPct val="90000"/>
              </a:lnSpc>
              <a:tabLst>
                <a:tab pos="453978" algn="l"/>
                <a:tab pos="911130" algn="l"/>
                <a:tab pos="1368283" algn="l"/>
                <a:tab pos="1825435" algn="l"/>
                <a:tab pos="2282588" algn="l"/>
                <a:tab pos="2739741" algn="l"/>
                <a:tab pos="3196893" algn="l"/>
                <a:tab pos="3654046" algn="l"/>
                <a:tab pos="4111199" algn="l"/>
                <a:tab pos="4568352" algn="l"/>
                <a:tab pos="5025504" algn="l"/>
                <a:tab pos="5482657" algn="l"/>
                <a:tab pos="5939809" algn="l"/>
                <a:tab pos="6396962" algn="l"/>
                <a:tab pos="6854115" algn="l"/>
                <a:tab pos="7311267" algn="l"/>
                <a:tab pos="7768420" algn="l"/>
                <a:tab pos="8225572" algn="l"/>
                <a:tab pos="8682725" algn="l"/>
                <a:tab pos="9139877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a negative integer if </a:t>
            </a:r>
            <a:r>
              <a:rPr lang="en-GB" dirty="0">
                <a:latin typeface="Courier New" charset="0"/>
                <a:ea typeface="Lucida Sans Unicode" charset="0"/>
                <a:cs typeface="Lucida Sans Unicode" charset="0"/>
              </a:rPr>
              <a:t>this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 precedes </a:t>
            </a:r>
            <a:r>
              <a:rPr lang="en-GB" dirty="0" err="1">
                <a:latin typeface="Courier New" charset="0"/>
                <a:ea typeface="Lucida Sans Unicode" charset="0"/>
                <a:cs typeface="Lucida Sans Unicode" charset="0"/>
              </a:rPr>
              <a:t>obj</a:t>
            </a:r>
            <a:endParaRPr lang="en-GB" dirty="0">
              <a:latin typeface="Courier New" charset="0"/>
              <a:ea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90000"/>
              </a:lnSpc>
              <a:tabLst>
                <a:tab pos="453978" algn="l"/>
                <a:tab pos="911130" algn="l"/>
                <a:tab pos="1368283" algn="l"/>
                <a:tab pos="1825435" algn="l"/>
                <a:tab pos="2282588" algn="l"/>
                <a:tab pos="2739741" algn="l"/>
                <a:tab pos="3196893" algn="l"/>
                <a:tab pos="3654046" algn="l"/>
                <a:tab pos="4111199" algn="l"/>
                <a:tab pos="4568352" algn="l"/>
                <a:tab pos="5025504" algn="l"/>
                <a:tab pos="5482657" algn="l"/>
                <a:tab pos="5939809" algn="l"/>
                <a:tab pos="6396962" algn="l"/>
                <a:tab pos="6854115" algn="l"/>
                <a:tab pos="7311267" algn="l"/>
                <a:tab pos="7768420" algn="l"/>
                <a:tab pos="8225572" algn="l"/>
                <a:tab pos="8682725" algn="l"/>
                <a:tab pos="9139877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0, if </a:t>
            </a:r>
            <a:r>
              <a:rPr lang="en-GB" dirty="0">
                <a:latin typeface="Courier New" charset="0"/>
                <a:ea typeface="Lucida Sans Unicode" charset="0"/>
                <a:cs typeface="Lucida Sans Unicode" charset="0"/>
              </a:rPr>
              <a:t>this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 equals </a:t>
            </a:r>
            <a:r>
              <a:rPr lang="en-GB" dirty="0" err="1">
                <a:latin typeface="Courier New" charset="0"/>
                <a:ea typeface="Lucida Sans Unicode" charset="0"/>
                <a:cs typeface="Lucida Sans Unicode" charset="0"/>
              </a:rPr>
              <a:t>obj</a:t>
            </a:r>
            <a:endParaRPr lang="en-GB" dirty="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90000"/>
              </a:lnSpc>
              <a:tabLst>
                <a:tab pos="453978" algn="l"/>
                <a:tab pos="911130" algn="l"/>
                <a:tab pos="1368283" algn="l"/>
                <a:tab pos="1825435" algn="l"/>
                <a:tab pos="2282588" algn="l"/>
                <a:tab pos="2739741" algn="l"/>
                <a:tab pos="3196893" algn="l"/>
                <a:tab pos="3654046" algn="l"/>
                <a:tab pos="4111199" algn="l"/>
                <a:tab pos="4568352" algn="l"/>
                <a:tab pos="5025504" algn="l"/>
                <a:tab pos="5482657" algn="l"/>
                <a:tab pos="5939809" algn="l"/>
                <a:tab pos="6396962" algn="l"/>
                <a:tab pos="6854115" algn="l"/>
                <a:tab pos="7311267" algn="l"/>
                <a:tab pos="7768420" algn="l"/>
                <a:tab pos="8225572" algn="l"/>
                <a:tab pos="8682725" algn="l"/>
                <a:tab pos="9139877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a positive integer if </a:t>
            </a:r>
            <a:r>
              <a:rPr lang="en-GB" dirty="0">
                <a:latin typeface="Courier New" charset="0"/>
                <a:ea typeface="Lucida Sans Unicode" charset="0"/>
                <a:cs typeface="Lucida Sans Unicode" charset="0"/>
              </a:rPr>
              <a:t>this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 succeeds </a:t>
            </a:r>
            <a:r>
              <a:rPr lang="en-GB" dirty="0" err="1">
                <a:latin typeface="Courier New" charset="0"/>
                <a:ea typeface="Lucida Sans Unicode" charset="0"/>
                <a:cs typeface="Lucida Sans Unicode" charset="0"/>
              </a:rPr>
              <a:t>obj</a:t>
            </a:r>
            <a:endParaRPr lang="en-GB" dirty="0">
              <a:latin typeface="Courier New" charset="0"/>
              <a:ea typeface="Lucida Sans Unicode" charset="0"/>
              <a:cs typeface="Lucida Sans Unicode" charset="0"/>
            </a:endParaRPr>
          </a:p>
        </p:txBody>
      </p:sp>
      <p:sp>
        <p:nvSpPr>
          <p:cNvPr id="172035" name="Segnaposto numero diapositiva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153" algn="l"/>
                <a:tab pos="914305" algn="l"/>
                <a:tab pos="1371458" algn="l"/>
                <a:tab pos="1828610" algn="l"/>
                <a:tab pos="2285763" algn="l"/>
                <a:tab pos="2742915" algn="l"/>
                <a:tab pos="3200068" algn="l"/>
                <a:tab pos="3657220" algn="l"/>
                <a:tab pos="4114373" algn="l"/>
                <a:tab pos="4571526" algn="l"/>
                <a:tab pos="5028678" algn="l"/>
                <a:tab pos="5485831" algn="l"/>
                <a:tab pos="5942984" algn="l"/>
                <a:tab pos="6400137" algn="l"/>
                <a:tab pos="6857289" algn="l"/>
                <a:tab pos="7314442" algn="l"/>
                <a:tab pos="7771595" algn="l"/>
                <a:tab pos="8228747" algn="l"/>
                <a:tab pos="8685900" algn="l"/>
                <a:tab pos="9143052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873" indent="-285720" eaLnBrk="0" hangingPunct="0">
              <a:tabLst>
                <a:tab pos="0" algn="l"/>
                <a:tab pos="457153" algn="l"/>
                <a:tab pos="914305" algn="l"/>
                <a:tab pos="1371458" algn="l"/>
                <a:tab pos="1828610" algn="l"/>
                <a:tab pos="2285763" algn="l"/>
                <a:tab pos="2742915" algn="l"/>
                <a:tab pos="3200068" algn="l"/>
                <a:tab pos="3657220" algn="l"/>
                <a:tab pos="4114373" algn="l"/>
                <a:tab pos="4571526" algn="l"/>
                <a:tab pos="5028678" algn="l"/>
                <a:tab pos="5485831" algn="l"/>
                <a:tab pos="5942984" algn="l"/>
                <a:tab pos="6400137" algn="l"/>
                <a:tab pos="6857289" algn="l"/>
                <a:tab pos="7314442" algn="l"/>
                <a:tab pos="7771595" algn="l"/>
                <a:tab pos="8228747" algn="l"/>
                <a:tab pos="8685900" algn="l"/>
                <a:tab pos="9143052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2882" indent="-228577" eaLnBrk="0" hangingPunct="0">
              <a:tabLst>
                <a:tab pos="0" algn="l"/>
                <a:tab pos="457153" algn="l"/>
                <a:tab pos="914305" algn="l"/>
                <a:tab pos="1371458" algn="l"/>
                <a:tab pos="1828610" algn="l"/>
                <a:tab pos="2285763" algn="l"/>
                <a:tab pos="2742915" algn="l"/>
                <a:tab pos="3200068" algn="l"/>
                <a:tab pos="3657220" algn="l"/>
                <a:tab pos="4114373" algn="l"/>
                <a:tab pos="4571526" algn="l"/>
                <a:tab pos="5028678" algn="l"/>
                <a:tab pos="5485831" algn="l"/>
                <a:tab pos="5942984" algn="l"/>
                <a:tab pos="6400137" algn="l"/>
                <a:tab pos="6857289" algn="l"/>
                <a:tab pos="7314442" algn="l"/>
                <a:tab pos="7771595" algn="l"/>
                <a:tab pos="8228747" algn="l"/>
                <a:tab pos="8685900" algn="l"/>
                <a:tab pos="9143052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034" indent="-228577" eaLnBrk="0" hangingPunct="0">
              <a:tabLst>
                <a:tab pos="0" algn="l"/>
                <a:tab pos="457153" algn="l"/>
                <a:tab pos="914305" algn="l"/>
                <a:tab pos="1371458" algn="l"/>
                <a:tab pos="1828610" algn="l"/>
                <a:tab pos="2285763" algn="l"/>
                <a:tab pos="2742915" algn="l"/>
                <a:tab pos="3200068" algn="l"/>
                <a:tab pos="3657220" algn="l"/>
                <a:tab pos="4114373" algn="l"/>
                <a:tab pos="4571526" algn="l"/>
                <a:tab pos="5028678" algn="l"/>
                <a:tab pos="5485831" algn="l"/>
                <a:tab pos="5942984" algn="l"/>
                <a:tab pos="6400137" algn="l"/>
                <a:tab pos="6857289" algn="l"/>
                <a:tab pos="7314442" algn="l"/>
                <a:tab pos="7771595" algn="l"/>
                <a:tab pos="8228747" algn="l"/>
                <a:tab pos="8685900" algn="l"/>
                <a:tab pos="9143052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187" indent="-228577" eaLnBrk="0" hangingPunct="0">
              <a:tabLst>
                <a:tab pos="0" algn="l"/>
                <a:tab pos="457153" algn="l"/>
                <a:tab pos="914305" algn="l"/>
                <a:tab pos="1371458" algn="l"/>
                <a:tab pos="1828610" algn="l"/>
                <a:tab pos="2285763" algn="l"/>
                <a:tab pos="2742915" algn="l"/>
                <a:tab pos="3200068" algn="l"/>
                <a:tab pos="3657220" algn="l"/>
                <a:tab pos="4114373" algn="l"/>
                <a:tab pos="4571526" algn="l"/>
                <a:tab pos="5028678" algn="l"/>
                <a:tab pos="5485831" algn="l"/>
                <a:tab pos="5942984" algn="l"/>
                <a:tab pos="6400137" algn="l"/>
                <a:tab pos="6857289" algn="l"/>
                <a:tab pos="7314442" algn="l"/>
                <a:tab pos="7771595" algn="l"/>
                <a:tab pos="8228747" algn="l"/>
                <a:tab pos="8685900" algn="l"/>
                <a:tab pos="9143052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340" indent="-228577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153" algn="l"/>
                <a:tab pos="914305" algn="l"/>
                <a:tab pos="1371458" algn="l"/>
                <a:tab pos="1828610" algn="l"/>
                <a:tab pos="2285763" algn="l"/>
                <a:tab pos="2742915" algn="l"/>
                <a:tab pos="3200068" algn="l"/>
                <a:tab pos="3657220" algn="l"/>
                <a:tab pos="4114373" algn="l"/>
                <a:tab pos="4571526" algn="l"/>
                <a:tab pos="5028678" algn="l"/>
                <a:tab pos="5485831" algn="l"/>
                <a:tab pos="5942984" algn="l"/>
                <a:tab pos="6400137" algn="l"/>
                <a:tab pos="6857289" algn="l"/>
                <a:tab pos="7314442" algn="l"/>
                <a:tab pos="7771595" algn="l"/>
                <a:tab pos="8228747" algn="l"/>
                <a:tab pos="8685900" algn="l"/>
                <a:tab pos="9143052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492" indent="-228577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153" algn="l"/>
                <a:tab pos="914305" algn="l"/>
                <a:tab pos="1371458" algn="l"/>
                <a:tab pos="1828610" algn="l"/>
                <a:tab pos="2285763" algn="l"/>
                <a:tab pos="2742915" algn="l"/>
                <a:tab pos="3200068" algn="l"/>
                <a:tab pos="3657220" algn="l"/>
                <a:tab pos="4114373" algn="l"/>
                <a:tab pos="4571526" algn="l"/>
                <a:tab pos="5028678" algn="l"/>
                <a:tab pos="5485831" algn="l"/>
                <a:tab pos="5942984" algn="l"/>
                <a:tab pos="6400137" algn="l"/>
                <a:tab pos="6857289" algn="l"/>
                <a:tab pos="7314442" algn="l"/>
                <a:tab pos="7771595" algn="l"/>
                <a:tab pos="8228747" algn="l"/>
                <a:tab pos="8685900" algn="l"/>
                <a:tab pos="9143052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8645" indent="-228577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153" algn="l"/>
                <a:tab pos="914305" algn="l"/>
                <a:tab pos="1371458" algn="l"/>
                <a:tab pos="1828610" algn="l"/>
                <a:tab pos="2285763" algn="l"/>
                <a:tab pos="2742915" algn="l"/>
                <a:tab pos="3200068" algn="l"/>
                <a:tab pos="3657220" algn="l"/>
                <a:tab pos="4114373" algn="l"/>
                <a:tab pos="4571526" algn="l"/>
                <a:tab pos="5028678" algn="l"/>
                <a:tab pos="5485831" algn="l"/>
                <a:tab pos="5942984" algn="l"/>
                <a:tab pos="6400137" algn="l"/>
                <a:tab pos="6857289" algn="l"/>
                <a:tab pos="7314442" algn="l"/>
                <a:tab pos="7771595" algn="l"/>
                <a:tab pos="8228747" algn="l"/>
                <a:tab pos="8685900" algn="l"/>
                <a:tab pos="9143052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5797" indent="-228577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153" algn="l"/>
                <a:tab pos="914305" algn="l"/>
                <a:tab pos="1371458" algn="l"/>
                <a:tab pos="1828610" algn="l"/>
                <a:tab pos="2285763" algn="l"/>
                <a:tab pos="2742915" algn="l"/>
                <a:tab pos="3200068" algn="l"/>
                <a:tab pos="3657220" algn="l"/>
                <a:tab pos="4114373" algn="l"/>
                <a:tab pos="4571526" algn="l"/>
                <a:tab pos="5028678" algn="l"/>
                <a:tab pos="5485831" algn="l"/>
                <a:tab pos="5942984" algn="l"/>
                <a:tab pos="6400137" algn="l"/>
                <a:tab pos="6857289" algn="l"/>
                <a:tab pos="7314442" algn="l"/>
                <a:tab pos="7771595" algn="l"/>
                <a:tab pos="8228747" algn="l"/>
                <a:tab pos="8685900" algn="l"/>
                <a:tab pos="9143052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EC12237E-666C-FC49-AB51-81097C5F4C05}" type="slidenum">
              <a:rPr lang="en-GB" sz="1200">
                <a:solidFill>
                  <a:srgbClr val="000000"/>
                </a:solidFill>
              </a:rPr>
              <a:pPr eaLnBrk="1" hangingPunct="1"/>
              <a:t>11</a:t>
            </a:fld>
            <a:endParaRPr lang="en-GB" sz="12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9817736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"/>
          <p:cNvSpPr>
            <a:spLocks noChangeArrowheads="1"/>
          </p:cNvSpPr>
          <p:nvPr/>
        </p:nvSpPr>
        <p:spPr bwMode="auto">
          <a:xfrm>
            <a:off x="395536" y="4581128"/>
            <a:ext cx="8490754" cy="1800200"/>
          </a:xfrm>
          <a:prstGeom prst="roundRect">
            <a:avLst>
              <a:gd name="adj" fmla="val 32"/>
            </a:avLst>
          </a:prstGeom>
          <a:solidFill>
            <a:schemeClr val="accent6">
              <a:lumMod val="20000"/>
              <a:lumOff val="80000"/>
            </a:schemeClr>
          </a:solidFill>
          <a:ln w="9360">
            <a:solidFill>
              <a:schemeClr val="accent6">
                <a:lumMod val="75000"/>
              </a:schemeClr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82918" tIns="41460" rIns="82918" bIns="41460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4" name="AutoShape 1"/>
          <p:cNvSpPr>
            <a:spLocks noChangeArrowheads="1"/>
          </p:cNvSpPr>
          <p:nvPr/>
        </p:nvSpPr>
        <p:spPr bwMode="auto">
          <a:xfrm>
            <a:off x="326883" y="1772815"/>
            <a:ext cx="8490754" cy="2160241"/>
          </a:xfrm>
          <a:prstGeom prst="roundRect">
            <a:avLst>
              <a:gd name="adj" fmla="val 32"/>
            </a:avLst>
          </a:prstGeom>
          <a:solidFill>
            <a:schemeClr val="accent6">
              <a:lumMod val="20000"/>
              <a:lumOff val="80000"/>
            </a:schemeClr>
          </a:solidFill>
          <a:ln w="9360">
            <a:solidFill>
              <a:schemeClr val="accent6">
                <a:lumMod val="75000"/>
              </a:schemeClr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82918" tIns="41460" rIns="82918" bIns="41460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Generic </a:t>
            </a:r>
            <a:r>
              <a:rPr lang="en-US" b="1" dirty="0">
                <a:latin typeface="Courier New"/>
                <a:cs typeface="Courier New"/>
              </a:rPr>
              <a:t>Comparable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120" y="1340768"/>
            <a:ext cx="8212320" cy="5158640"/>
          </a:xfrm>
        </p:spPr>
        <p:txBody>
          <a:bodyPr>
            <a:normAutofit fontScale="85000" lnSpcReduction="20000"/>
          </a:bodyPr>
          <a:lstStyle/>
          <a:p>
            <a:r>
              <a:rPr lang="en-GB" sz="3100" dirty="0" smtClean="0">
                <a:latin typeface="Lucida Sans Unicode" charset="0"/>
                <a:cs typeface="Lucida Sans Unicode" charset="0"/>
              </a:rPr>
              <a:t>Without generics: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smtClean="0">
                <a:latin typeface="Courier New"/>
                <a:cs typeface="Courier New"/>
              </a:rPr>
              <a:t>public class Student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smtClean="0">
                <a:latin typeface="Courier New"/>
                <a:cs typeface="Courier New"/>
              </a:rPr>
              <a:t>			implements Comparable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smtClean="0">
                <a:latin typeface="Courier New"/>
                <a:cs typeface="Courier New"/>
              </a:rPr>
              <a:t>  </a:t>
            </a:r>
            <a:r>
              <a:rPr lang="en-US" sz="2800" b="1" dirty="0" err="1" smtClean="0">
                <a:latin typeface="Courier New"/>
                <a:cs typeface="Courier New"/>
              </a:rPr>
              <a:t>int</a:t>
            </a:r>
            <a:r>
              <a:rPr lang="en-US" sz="2800" b="1" dirty="0" smtClean="0">
                <a:latin typeface="Courier New"/>
                <a:cs typeface="Courier New"/>
              </a:rPr>
              <a:t> id;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smtClean="0">
                <a:latin typeface="Courier New"/>
                <a:cs typeface="Courier New"/>
              </a:rPr>
              <a:t>  public </a:t>
            </a:r>
            <a:r>
              <a:rPr lang="en-US" sz="2800" b="1" dirty="0" err="1" smtClean="0">
                <a:latin typeface="Courier New"/>
                <a:cs typeface="Courier New"/>
              </a:rPr>
              <a:t>int</a:t>
            </a:r>
            <a:r>
              <a:rPr lang="en-US" sz="2800" b="1" dirty="0" smtClean="0">
                <a:latin typeface="Courier New"/>
                <a:cs typeface="Courier New"/>
              </a:rPr>
              <a:t> </a:t>
            </a:r>
            <a:r>
              <a:rPr lang="en-US" sz="2800" b="1" dirty="0" err="1" smtClean="0">
                <a:latin typeface="Courier New"/>
                <a:cs typeface="Courier New"/>
              </a:rPr>
              <a:t>compareTo</a:t>
            </a:r>
            <a:r>
              <a:rPr lang="en-US" sz="2800" b="1" dirty="0" smtClean="0">
                <a:latin typeface="Courier New"/>
                <a:cs typeface="Courier New"/>
              </a:rPr>
              <a:t>(Object o){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smtClean="0">
                <a:latin typeface="Courier New"/>
                <a:cs typeface="Courier New"/>
              </a:rPr>
              <a:t>    Student other = (Student)o;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smtClean="0">
                <a:latin typeface="Courier New"/>
                <a:cs typeface="Courier New"/>
              </a:rPr>
              <a:t>    return </a:t>
            </a:r>
            <a:r>
              <a:rPr lang="en-US" sz="2800" b="1" dirty="0" err="1" smtClean="0">
                <a:latin typeface="Courier New"/>
                <a:cs typeface="Courier New"/>
              </a:rPr>
              <a:t>this.id</a:t>
            </a:r>
            <a:r>
              <a:rPr lang="en-US" sz="2800" b="1" dirty="0" smtClean="0">
                <a:latin typeface="Courier New"/>
                <a:cs typeface="Courier New"/>
              </a:rPr>
              <a:t> – </a:t>
            </a:r>
            <a:r>
              <a:rPr lang="en-US" sz="2800" b="1" dirty="0" err="1" smtClean="0">
                <a:latin typeface="Courier New"/>
                <a:cs typeface="Courier New"/>
              </a:rPr>
              <a:t>other.id</a:t>
            </a:r>
            <a:r>
              <a:rPr lang="en-US" sz="2800" b="1" dirty="0" smtClean="0">
                <a:latin typeface="Courier New"/>
                <a:cs typeface="Courier New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smtClean="0">
                <a:latin typeface="Courier New"/>
                <a:cs typeface="Courier New"/>
              </a:rPr>
              <a:t>  }}</a:t>
            </a:r>
          </a:p>
          <a:p>
            <a:pPr lvl="3"/>
            <a:endParaRPr lang="en-GB" sz="2000" dirty="0" smtClean="0">
              <a:latin typeface="Lucida Sans Unicode" charset="0"/>
              <a:cs typeface="Lucida Sans Unicode" charset="0"/>
            </a:endParaRPr>
          </a:p>
          <a:p>
            <a:r>
              <a:rPr lang="en-GB" sz="3100" dirty="0" smtClean="0">
                <a:latin typeface="Lucida Sans Unicode" charset="0"/>
                <a:cs typeface="Lucida Sans Unicode" charset="0"/>
              </a:rPr>
              <a:t>With </a:t>
            </a:r>
            <a:r>
              <a:rPr lang="en-GB" sz="3100" dirty="0">
                <a:latin typeface="Lucida Sans Unicode" charset="0"/>
                <a:cs typeface="Lucida Sans Unicode" charset="0"/>
              </a:rPr>
              <a:t>generics: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smtClean="0">
                <a:latin typeface="Courier New"/>
                <a:cs typeface="Courier New"/>
              </a:rPr>
              <a:t>public class Student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smtClean="0">
                <a:latin typeface="Courier New"/>
                <a:cs typeface="Courier New"/>
              </a:rPr>
              <a:t>			implements Comparable</a:t>
            </a:r>
            <a:r>
              <a:rPr lang="en-US" sz="2800" b="1" dirty="0" smtClean="0">
                <a:solidFill>
                  <a:srgbClr val="FF6600"/>
                </a:solidFill>
                <a:latin typeface="Courier New"/>
                <a:cs typeface="Courier New"/>
              </a:rPr>
              <a:t>&lt;Student&gt;</a:t>
            </a:r>
            <a:r>
              <a:rPr lang="en-US" sz="2800" b="1" dirty="0" smtClean="0">
                <a:latin typeface="Courier New"/>
                <a:cs typeface="Courier New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smtClean="0">
                <a:latin typeface="Courier New"/>
                <a:cs typeface="Courier New"/>
              </a:rPr>
              <a:t>  </a:t>
            </a:r>
            <a:r>
              <a:rPr lang="en-US" sz="2800" b="1" dirty="0" err="1" smtClean="0">
                <a:latin typeface="Courier New"/>
                <a:cs typeface="Courier New"/>
              </a:rPr>
              <a:t>int</a:t>
            </a:r>
            <a:r>
              <a:rPr lang="en-US" sz="2800" b="1" dirty="0" smtClean="0">
                <a:latin typeface="Courier New"/>
                <a:cs typeface="Courier New"/>
              </a:rPr>
              <a:t> id;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smtClean="0">
                <a:latin typeface="Courier New"/>
                <a:cs typeface="Courier New"/>
              </a:rPr>
              <a:t>  public </a:t>
            </a:r>
            <a:r>
              <a:rPr lang="en-US" sz="2800" b="1" dirty="0" err="1" smtClean="0">
                <a:latin typeface="Courier New"/>
                <a:cs typeface="Courier New"/>
              </a:rPr>
              <a:t>int</a:t>
            </a:r>
            <a:r>
              <a:rPr lang="en-US" sz="2800" b="1" dirty="0" smtClean="0">
                <a:latin typeface="Courier New"/>
                <a:cs typeface="Courier New"/>
              </a:rPr>
              <a:t> </a:t>
            </a:r>
            <a:r>
              <a:rPr lang="en-US" sz="2800" b="1" dirty="0" err="1" smtClean="0">
                <a:latin typeface="Courier New"/>
                <a:cs typeface="Courier New"/>
              </a:rPr>
              <a:t>compareTo</a:t>
            </a:r>
            <a:r>
              <a:rPr lang="en-US" sz="2800" b="1" dirty="0" smtClean="0">
                <a:latin typeface="Courier New"/>
                <a:cs typeface="Courier New"/>
              </a:rPr>
              <a:t>(</a:t>
            </a:r>
            <a:r>
              <a:rPr lang="en-US" sz="2800" b="1" dirty="0" smtClean="0">
                <a:solidFill>
                  <a:srgbClr val="FF6600"/>
                </a:solidFill>
                <a:latin typeface="Courier New"/>
                <a:cs typeface="Courier New"/>
              </a:rPr>
              <a:t>Student</a:t>
            </a:r>
            <a:r>
              <a:rPr lang="en-US" sz="2800" b="1" dirty="0" smtClean="0">
                <a:latin typeface="Courier New"/>
                <a:cs typeface="Courier New"/>
              </a:rPr>
              <a:t> other){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smtClean="0">
                <a:latin typeface="Courier New"/>
                <a:cs typeface="Courier New"/>
              </a:rPr>
              <a:t>    return </a:t>
            </a:r>
            <a:r>
              <a:rPr lang="en-US" sz="2800" b="1" dirty="0" err="1" smtClean="0">
                <a:latin typeface="Courier New"/>
                <a:cs typeface="Courier New"/>
              </a:rPr>
              <a:t>this.id</a:t>
            </a:r>
            <a:r>
              <a:rPr lang="en-US" sz="2800" b="1" dirty="0" smtClean="0">
                <a:latin typeface="Courier New"/>
                <a:cs typeface="Courier New"/>
              </a:rPr>
              <a:t> – </a:t>
            </a:r>
            <a:r>
              <a:rPr lang="en-US" sz="2800" b="1" dirty="0" err="1" smtClean="0">
                <a:latin typeface="Courier New"/>
                <a:cs typeface="Courier New"/>
              </a:rPr>
              <a:t>other.id</a:t>
            </a:r>
            <a:r>
              <a:rPr lang="en-US" sz="2800" b="1" dirty="0" smtClean="0">
                <a:latin typeface="Courier New"/>
                <a:cs typeface="Courier New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smtClean="0">
                <a:latin typeface="Courier New"/>
                <a:cs typeface="Courier New"/>
              </a:rPr>
              <a:t>  }}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800" b="1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207773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"/>
          <p:cNvSpPr>
            <a:spLocks noChangeArrowheads="1"/>
          </p:cNvSpPr>
          <p:nvPr/>
        </p:nvSpPr>
        <p:spPr bwMode="auto">
          <a:xfrm>
            <a:off x="323528" y="3501008"/>
            <a:ext cx="8458560" cy="2016224"/>
          </a:xfrm>
          <a:prstGeom prst="roundRect">
            <a:avLst>
              <a:gd name="adj" fmla="val 32"/>
            </a:avLst>
          </a:prstGeom>
          <a:solidFill>
            <a:schemeClr val="accent6">
              <a:lumMod val="20000"/>
              <a:lumOff val="80000"/>
            </a:schemeClr>
          </a:solidFill>
          <a:ln w="9360">
            <a:solidFill>
              <a:schemeClr val="accent6">
                <a:lumMod val="75000"/>
              </a:schemeClr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82918" tIns="41460" rIns="82918" bIns="41460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46082" name="AutoShape 1"/>
          <p:cNvSpPr>
            <a:spLocks noChangeArrowheads="1"/>
          </p:cNvSpPr>
          <p:nvPr/>
        </p:nvSpPr>
        <p:spPr bwMode="auto">
          <a:xfrm>
            <a:off x="326883" y="1124744"/>
            <a:ext cx="8458560" cy="2016224"/>
          </a:xfrm>
          <a:prstGeom prst="roundRect">
            <a:avLst>
              <a:gd name="adj" fmla="val 32"/>
            </a:avLst>
          </a:prstGeom>
          <a:solidFill>
            <a:schemeClr val="accent6">
              <a:lumMod val="20000"/>
              <a:lumOff val="80000"/>
            </a:schemeClr>
          </a:solidFill>
          <a:ln w="9360">
            <a:solidFill>
              <a:schemeClr val="accent6">
                <a:lumMod val="75000"/>
              </a:schemeClr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82918" tIns="41460" rIns="82918" bIns="41460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7520" y="244828"/>
            <a:ext cx="8596800" cy="625026"/>
          </a:xfrm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102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  <a:tab pos="8533237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Generic </a:t>
            </a:r>
            <a:r>
              <a:rPr lang="en-GB" b="1" dirty="0" err="1">
                <a:latin typeface="Courier New"/>
                <a:cs typeface="Courier New"/>
              </a:rPr>
              <a:t>Iterable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 and </a:t>
            </a:r>
            <a:r>
              <a:rPr lang="en-GB" b="1" dirty="0">
                <a:latin typeface="Courier New"/>
                <a:cs typeface="Courier New"/>
              </a:rPr>
              <a:t>Iterator</a:t>
            </a:r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121" y="1294698"/>
            <a:ext cx="8215200" cy="4099538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89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>
                <a:latin typeface="Courier New" charset="0"/>
                <a:cs typeface="Courier New" charset="0"/>
              </a:rPr>
              <a:t>public interface List&lt;</a:t>
            </a:r>
            <a:r>
              <a:rPr lang="en-GB" sz="2500" b="1" dirty="0">
                <a:solidFill>
                  <a:srgbClr val="FF6600"/>
                </a:solidFill>
                <a:latin typeface="Courier New" charset="0"/>
                <a:cs typeface="Courier New" charset="0"/>
              </a:rPr>
              <a:t>E</a:t>
            </a:r>
            <a:r>
              <a:rPr lang="en-GB" sz="2500" b="1" dirty="0">
                <a:latin typeface="Courier New" charset="0"/>
                <a:cs typeface="Courier New" charset="0"/>
              </a:rPr>
              <a:t>&gt;{</a:t>
            </a:r>
          </a:p>
          <a:p>
            <a:pPr eaLnBrk="1" hangingPunct="1">
              <a:lnSpc>
                <a:spcPct val="90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>
                <a:latin typeface="Courier New" charset="0"/>
                <a:cs typeface="Courier New" charset="0"/>
              </a:rPr>
              <a:t>  void add(</a:t>
            </a:r>
            <a:r>
              <a:rPr lang="en-GB" sz="2500" b="1" dirty="0">
                <a:solidFill>
                  <a:srgbClr val="FF6600"/>
                </a:solidFill>
                <a:latin typeface="Courier New" charset="0"/>
                <a:cs typeface="Courier New" charset="0"/>
              </a:rPr>
              <a:t>E</a:t>
            </a:r>
            <a:r>
              <a:rPr lang="en-GB" sz="2500" b="1" dirty="0">
                <a:latin typeface="Courier New" charset="0"/>
                <a:cs typeface="Courier New" charset="0"/>
              </a:rPr>
              <a:t> x);</a:t>
            </a:r>
          </a:p>
          <a:p>
            <a:pPr eaLnBrk="1" hangingPunct="1">
              <a:lnSpc>
                <a:spcPct val="90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>
                <a:latin typeface="Courier New" charset="0"/>
                <a:cs typeface="Courier New" charset="0"/>
              </a:rPr>
              <a:t>  Iterator&lt;</a:t>
            </a:r>
            <a:r>
              <a:rPr lang="en-GB" sz="2500" b="1" dirty="0">
                <a:solidFill>
                  <a:srgbClr val="FF6600"/>
                </a:solidFill>
                <a:latin typeface="Courier New" charset="0"/>
                <a:cs typeface="Courier New" charset="0"/>
              </a:rPr>
              <a:t>E</a:t>
            </a:r>
            <a:r>
              <a:rPr lang="en-GB" sz="2500" b="1" dirty="0">
                <a:latin typeface="Courier New" charset="0"/>
                <a:cs typeface="Courier New" charset="0"/>
              </a:rPr>
              <a:t>&gt; iterator();</a:t>
            </a:r>
          </a:p>
          <a:p>
            <a:pPr eaLnBrk="1" hangingPunct="1">
              <a:lnSpc>
                <a:spcPct val="90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>
                <a:latin typeface="Courier New" charset="0"/>
                <a:cs typeface="Courier New" charset="0"/>
              </a:rPr>
              <a:t>}</a:t>
            </a:r>
          </a:p>
          <a:p>
            <a:pPr eaLnBrk="1" hangingPunct="1">
              <a:lnSpc>
                <a:spcPct val="90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endParaRPr lang="en-GB" sz="2500" b="1" dirty="0">
              <a:latin typeface="Courier New" charset="0"/>
              <a:cs typeface="Courier New" charset="0"/>
            </a:endParaRPr>
          </a:p>
          <a:p>
            <a:pPr eaLnBrk="1" hangingPunct="1">
              <a:lnSpc>
                <a:spcPct val="90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>
                <a:latin typeface="Courier New" charset="0"/>
                <a:cs typeface="Courier New" charset="0"/>
              </a:rPr>
              <a:t>public interface Iterator&lt;</a:t>
            </a:r>
            <a:r>
              <a:rPr lang="en-GB" sz="2500" b="1" dirty="0">
                <a:solidFill>
                  <a:srgbClr val="FF6600"/>
                </a:solidFill>
                <a:latin typeface="Courier New" charset="0"/>
                <a:cs typeface="Courier New" charset="0"/>
              </a:rPr>
              <a:t>E</a:t>
            </a:r>
            <a:r>
              <a:rPr lang="en-GB" sz="2500" b="1" dirty="0">
                <a:latin typeface="Courier New" charset="0"/>
                <a:cs typeface="Courier New" charset="0"/>
              </a:rPr>
              <a:t>&gt;{</a:t>
            </a:r>
          </a:p>
          <a:p>
            <a:pPr eaLnBrk="1" hangingPunct="1">
              <a:lnSpc>
                <a:spcPct val="90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>
                <a:latin typeface="Courier New" charset="0"/>
                <a:cs typeface="Courier New" charset="0"/>
              </a:rPr>
              <a:t>  </a:t>
            </a:r>
            <a:r>
              <a:rPr lang="en-GB" sz="2500" b="1" dirty="0">
                <a:solidFill>
                  <a:srgbClr val="FF6600"/>
                </a:solidFill>
                <a:latin typeface="Courier New" charset="0"/>
                <a:cs typeface="Courier New" charset="0"/>
              </a:rPr>
              <a:t>E</a:t>
            </a:r>
            <a:r>
              <a:rPr lang="en-GB" sz="2500" b="1" dirty="0">
                <a:latin typeface="Courier New" charset="0"/>
                <a:cs typeface="Courier New" charset="0"/>
              </a:rPr>
              <a:t> next();</a:t>
            </a:r>
          </a:p>
          <a:p>
            <a:pPr eaLnBrk="1" hangingPunct="1">
              <a:lnSpc>
                <a:spcPct val="90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>
                <a:latin typeface="Courier New" charset="0"/>
                <a:cs typeface="Courier New" charset="0"/>
              </a:rPr>
              <a:t>  </a:t>
            </a:r>
            <a:r>
              <a:rPr lang="en-GB" sz="2500" b="1" dirty="0" err="1">
                <a:latin typeface="Courier New" charset="0"/>
                <a:cs typeface="Courier New" charset="0"/>
              </a:rPr>
              <a:t>boolean</a:t>
            </a:r>
            <a:r>
              <a:rPr lang="en-GB" sz="2500" b="1" dirty="0">
                <a:latin typeface="Courier New" charset="0"/>
                <a:cs typeface="Courier New" charset="0"/>
              </a:rPr>
              <a:t> </a:t>
            </a:r>
            <a:r>
              <a:rPr lang="en-GB" sz="2500" b="1" dirty="0" err="1">
                <a:latin typeface="Courier New" charset="0"/>
                <a:cs typeface="Courier New" charset="0"/>
              </a:rPr>
              <a:t>hasNext</a:t>
            </a:r>
            <a:r>
              <a:rPr lang="en-GB" sz="2500" b="1" dirty="0">
                <a:latin typeface="Courier New" charset="0"/>
                <a:cs typeface="Courier New" charset="0"/>
              </a:rPr>
              <a:t>();</a:t>
            </a:r>
          </a:p>
          <a:p>
            <a:pPr eaLnBrk="1" hangingPunct="1">
              <a:lnSpc>
                <a:spcPct val="90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>
                <a:latin typeface="Courier New" charset="0"/>
                <a:cs typeface="Courier New" charset="0"/>
              </a:rP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539554" y="1268760"/>
            <a:ext cx="8208912" cy="48965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rgbClr val="E46C0A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42" tIns="44271" rIns="90342" bIns="44271" spcCol="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tabLst>
                <a:tab pos="0" algn="l"/>
                <a:tab pos="457106" algn="l"/>
                <a:tab pos="914210" algn="l"/>
                <a:tab pos="1371316" algn="l"/>
                <a:tab pos="1828421" algn="l"/>
                <a:tab pos="2285526" algn="l"/>
                <a:tab pos="2742630" algn="l"/>
                <a:tab pos="3199736" algn="l"/>
                <a:tab pos="3656841" algn="l"/>
                <a:tab pos="4113946" algn="l"/>
                <a:tab pos="4571052" algn="l"/>
                <a:tab pos="5028157" algn="l"/>
                <a:tab pos="5485263" algn="l"/>
                <a:tab pos="5942368" algn="l"/>
                <a:tab pos="6399473" algn="l"/>
                <a:tab pos="6856578" algn="l"/>
                <a:tab pos="7313683" algn="l"/>
                <a:tab pos="7770789" algn="l"/>
                <a:tab pos="8227894" algn="l"/>
                <a:tab pos="8685000" algn="l"/>
                <a:tab pos="9142104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Courier New"/>
                <a:cs typeface="Courier New"/>
              </a:rPr>
              <a:t>Iterable</a:t>
            </a:r>
            <a:r>
              <a:rPr lang="en-US" dirty="0" smtClean="0"/>
              <a:t>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latin typeface="Courier New"/>
                <a:cs typeface="Courier New"/>
              </a:rPr>
              <a:t>class </a:t>
            </a:r>
            <a:r>
              <a:rPr lang="en-US" sz="2200" b="1" dirty="0">
                <a:solidFill>
                  <a:schemeClr val="accent4"/>
                </a:solidFill>
                <a:latin typeface="Courier New"/>
                <a:cs typeface="Courier New"/>
              </a:rPr>
              <a:t>Random </a:t>
            </a:r>
            <a:r>
              <a:rPr lang="en-US" sz="2200" b="1" dirty="0">
                <a:latin typeface="Courier New"/>
                <a:cs typeface="Courier New"/>
              </a:rPr>
              <a:t>implements </a:t>
            </a:r>
            <a:r>
              <a:rPr lang="en-US" sz="2200" b="1" dirty="0" err="1">
                <a:latin typeface="Courier New"/>
                <a:cs typeface="Courier New"/>
              </a:rPr>
              <a:t>Iterable</a:t>
            </a:r>
            <a:r>
              <a:rPr lang="en-US" sz="2200" b="1" dirty="0">
                <a:latin typeface="Courier New"/>
                <a:cs typeface="Courier New"/>
              </a:rPr>
              <a:t>&lt;</a:t>
            </a:r>
            <a:r>
              <a:rPr lang="en-US" sz="2200" b="1" dirty="0">
                <a:solidFill>
                  <a:srgbClr val="FF6600"/>
                </a:solidFill>
                <a:latin typeface="Courier New"/>
                <a:cs typeface="Courier New"/>
              </a:rPr>
              <a:t>Integer</a:t>
            </a:r>
            <a:r>
              <a:rPr lang="en-US" sz="2200" b="1" dirty="0">
                <a:latin typeface="Courier New"/>
                <a:cs typeface="Courier New"/>
              </a:rPr>
              <a:t>&gt;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latin typeface="Courier New"/>
                <a:cs typeface="Courier New"/>
              </a:rPr>
              <a:t>  private </a:t>
            </a:r>
            <a:r>
              <a:rPr lang="en-US" sz="2200" b="1" dirty="0" err="1">
                <a:latin typeface="Courier New"/>
                <a:cs typeface="Courier New"/>
              </a:rPr>
              <a:t>int</a:t>
            </a:r>
            <a:r>
              <a:rPr lang="en-US" sz="2200" b="1" dirty="0">
                <a:latin typeface="Courier New"/>
                <a:cs typeface="Courier New"/>
              </a:rPr>
              <a:t>[] values;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latin typeface="Courier New"/>
                <a:cs typeface="Courier New"/>
              </a:rPr>
              <a:t>  public Random(</a:t>
            </a:r>
            <a:r>
              <a:rPr lang="en-US" sz="2200" b="1" dirty="0" err="1">
                <a:latin typeface="Courier New"/>
                <a:cs typeface="Courier New"/>
              </a:rPr>
              <a:t>int</a:t>
            </a:r>
            <a:r>
              <a:rPr lang="en-US" sz="2200" b="1" dirty="0">
                <a:latin typeface="Courier New"/>
                <a:cs typeface="Courier New"/>
              </a:rPr>
              <a:t> n, </a:t>
            </a:r>
            <a:r>
              <a:rPr lang="en-US" sz="2200" b="1" dirty="0" err="1">
                <a:latin typeface="Courier New"/>
                <a:cs typeface="Courier New"/>
              </a:rPr>
              <a:t>int</a:t>
            </a:r>
            <a:r>
              <a:rPr lang="en-US" sz="2200" b="1" dirty="0">
                <a:latin typeface="Courier New"/>
                <a:cs typeface="Courier New"/>
              </a:rPr>
              <a:t> min, </a:t>
            </a:r>
            <a:r>
              <a:rPr lang="en-US" sz="2200" b="1" dirty="0" err="1">
                <a:latin typeface="Courier New"/>
                <a:cs typeface="Courier New"/>
              </a:rPr>
              <a:t>int</a:t>
            </a:r>
            <a:r>
              <a:rPr lang="en-US" sz="2200" b="1" dirty="0">
                <a:latin typeface="Courier New"/>
                <a:cs typeface="Courier New"/>
              </a:rPr>
              <a:t> max){ … </a:t>
            </a:r>
            <a:r>
              <a:rPr lang="fr-FR" sz="2200" b="1" dirty="0">
                <a:latin typeface="Courier New"/>
                <a:cs typeface="Courier New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 b="1" dirty="0" smtClean="0">
                <a:latin typeface="Courier New"/>
                <a:cs typeface="Courier New"/>
              </a:rPr>
              <a:t>  public </a:t>
            </a:r>
            <a:r>
              <a:rPr lang="fr-FR" sz="2200" b="1" dirty="0" err="1">
                <a:latin typeface="Courier New"/>
                <a:cs typeface="Courier New"/>
              </a:rPr>
              <a:t>Iterator</a:t>
            </a:r>
            <a:r>
              <a:rPr lang="fr-FR" sz="2200" b="1" dirty="0">
                <a:latin typeface="Courier New"/>
                <a:cs typeface="Courier New"/>
              </a:rPr>
              <a:t>&lt;</a:t>
            </a:r>
            <a:r>
              <a:rPr lang="fr-FR" sz="2200" b="1" dirty="0" err="1">
                <a:solidFill>
                  <a:srgbClr val="FF6600"/>
                </a:solidFill>
                <a:latin typeface="Courier New"/>
                <a:cs typeface="Courier New"/>
              </a:rPr>
              <a:t>Integer</a:t>
            </a:r>
            <a:r>
              <a:rPr lang="fr-FR" sz="2200" b="1" dirty="0">
                <a:latin typeface="Courier New"/>
                <a:cs typeface="Courier New"/>
              </a:rPr>
              <a:t>&gt; </a:t>
            </a:r>
            <a:r>
              <a:rPr lang="fr-FR" sz="2200" b="1" dirty="0" err="1">
                <a:solidFill>
                  <a:srgbClr val="8064A2"/>
                </a:solidFill>
                <a:latin typeface="Courier New"/>
                <a:cs typeface="Courier New"/>
              </a:rPr>
              <a:t>iterator</a:t>
            </a:r>
            <a:r>
              <a:rPr lang="fr-FR" sz="2200" b="1" dirty="0">
                <a:latin typeface="Courier New"/>
                <a:cs typeface="Courier New"/>
              </a:rPr>
              <a:t>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 b="1" dirty="0">
                <a:latin typeface="Courier New"/>
                <a:cs typeface="Courier New"/>
              </a:rPr>
              <a:t>    return new </a:t>
            </a:r>
            <a:r>
              <a:rPr lang="fr-FR" sz="2200" b="1" dirty="0" err="1" smtClean="0">
                <a:latin typeface="Courier New"/>
                <a:cs typeface="Courier New"/>
              </a:rPr>
              <a:t>Iterator</a:t>
            </a:r>
            <a:r>
              <a:rPr lang="fr-FR" sz="2200" b="1" dirty="0" smtClean="0">
                <a:latin typeface="Courier New"/>
                <a:cs typeface="Courier New"/>
              </a:rPr>
              <a:t>&lt;</a:t>
            </a:r>
            <a:r>
              <a:rPr lang="fr-FR" sz="2200" b="1" dirty="0" err="1" smtClean="0">
                <a:solidFill>
                  <a:srgbClr val="FF6600"/>
                </a:solidFill>
                <a:latin typeface="Courier New"/>
                <a:cs typeface="Courier New"/>
              </a:rPr>
              <a:t>Integer</a:t>
            </a:r>
            <a:r>
              <a:rPr lang="fr-FR" sz="2200" b="1" dirty="0" smtClean="0">
                <a:latin typeface="Courier New"/>
                <a:cs typeface="Courier New"/>
              </a:rPr>
              <a:t>&gt;(){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 b="1" dirty="0">
                <a:latin typeface="Courier New"/>
                <a:cs typeface="Courier New"/>
              </a:rPr>
              <a:t>			</a:t>
            </a:r>
            <a:r>
              <a:rPr lang="fr-FR" sz="2200" b="1" dirty="0" err="1">
                <a:latin typeface="Courier New"/>
                <a:cs typeface="Courier New"/>
              </a:rPr>
              <a:t>private</a:t>
            </a:r>
            <a:r>
              <a:rPr lang="fr-FR" sz="2200" b="1" dirty="0">
                <a:latin typeface="Courier New"/>
                <a:cs typeface="Courier New"/>
              </a:rPr>
              <a:t> </a:t>
            </a:r>
            <a:r>
              <a:rPr lang="fr-FR" sz="2200" b="1" dirty="0" err="1">
                <a:latin typeface="Courier New"/>
                <a:cs typeface="Courier New"/>
              </a:rPr>
              <a:t>int</a:t>
            </a:r>
            <a:r>
              <a:rPr lang="fr-FR" sz="2200" b="1" dirty="0">
                <a:latin typeface="Courier New"/>
                <a:cs typeface="Courier New"/>
              </a:rPr>
              <a:t> position=0;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 b="1" dirty="0">
                <a:latin typeface="Courier New"/>
                <a:cs typeface="Courier New"/>
              </a:rPr>
              <a:t>			public </a:t>
            </a:r>
            <a:r>
              <a:rPr lang="fr-FR" sz="2200" b="1" dirty="0" err="1">
                <a:latin typeface="Courier New"/>
                <a:cs typeface="Courier New"/>
              </a:rPr>
              <a:t>boolean</a:t>
            </a:r>
            <a:r>
              <a:rPr lang="fr-FR" sz="2200" b="1" dirty="0">
                <a:latin typeface="Courier New"/>
                <a:cs typeface="Courier New"/>
              </a:rPr>
              <a:t> </a:t>
            </a:r>
            <a:r>
              <a:rPr lang="fr-FR" sz="2200" b="1" dirty="0" err="1">
                <a:latin typeface="Courier New"/>
                <a:cs typeface="Courier New"/>
              </a:rPr>
              <a:t>hasNext</a:t>
            </a:r>
            <a:r>
              <a:rPr lang="fr-FR" sz="2200" b="1" dirty="0">
                <a:latin typeface="Courier New"/>
                <a:cs typeface="Courier New"/>
              </a:rPr>
              <a:t>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 b="1" dirty="0">
                <a:latin typeface="Courier New"/>
                <a:cs typeface="Courier New"/>
              </a:rPr>
              <a:t>				return </a:t>
            </a:r>
            <a:r>
              <a:rPr lang="fr-FR" sz="2200" b="1" dirty="0" smtClean="0">
                <a:latin typeface="Courier New"/>
                <a:cs typeface="Courier New"/>
              </a:rPr>
              <a:t>position &lt; </a:t>
            </a:r>
            <a:r>
              <a:rPr lang="fr-FR" sz="2200" b="1" dirty="0" err="1" smtClean="0">
                <a:latin typeface="Courier New"/>
                <a:cs typeface="Courier New"/>
              </a:rPr>
              <a:t>values.length</a:t>
            </a:r>
            <a:r>
              <a:rPr lang="fr-FR" sz="2200" b="1" dirty="0">
                <a:latin typeface="Courier New"/>
                <a:cs typeface="Courier New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 b="1" dirty="0">
                <a:latin typeface="Courier New"/>
                <a:cs typeface="Courier New"/>
              </a:rPr>
              <a:t>			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 b="1" dirty="0">
                <a:latin typeface="Courier New"/>
                <a:cs typeface="Courier New"/>
              </a:rPr>
              <a:t>			public </a:t>
            </a:r>
            <a:r>
              <a:rPr lang="fr-FR" sz="2200" b="1" dirty="0" err="1">
                <a:solidFill>
                  <a:srgbClr val="FF6600"/>
                </a:solidFill>
                <a:latin typeface="Courier New"/>
                <a:cs typeface="Courier New"/>
              </a:rPr>
              <a:t>Integer</a:t>
            </a:r>
            <a:r>
              <a:rPr lang="fr-FR" sz="2200" b="1" dirty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lang="fr-FR" sz="2200" b="1" dirty="0" err="1">
                <a:latin typeface="Courier New"/>
                <a:cs typeface="Courier New"/>
              </a:rPr>
              <a:t>next</a:t>
            </a:r>
            <a:r>
              <a:rPr lang="fr-FR" sz="2200" b="1" dirty="0">
                <a:latin typeface="Courier New"/>
                <a:cs typeface="Courier New"/>
              </a:rPr>
              <a:t>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 b="1" dirty="0">
                <a:latin typeface="Courier New"/>
                <a:cs typeface="Courier New"/>
              </a:rPr>
              <a:t>				return </a:t>
            </a:r>
            <a:r>
              <a:rPr lang="fr-FR" sz="2200" b="1" dirty="0" smtClean="0">
                <a:latin typeface="Courier New"/>
                <a:cs typeface="Courier New"/>
              </a:rPr>
              <a:t>values[</a:t>
            </a:r>
            <a:r>
              <a:rPr lang="fr-FR" sz="2200" b="1" dirty="0">
                <a:latin typeface="Courier New"/>
                <a:cs typeface="Courier New"/>
              </a:rPr>
              <a:t>position++];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 b="1" dirty="0">
                <a:latin typeface="Courier New"/>
                <a:cs typeface="Courier New"/>
              </a:rPr>
              <a:t>			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 b="1" dirty="0" smtClean="0">
                <a:latin typeface="Courier New"/>
                <a:cs typeface="Courier New"/>
              </a:rPr>
              <a:t>	  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 b="1" dirty="0" smtClean="0">
                <a:latin typeface="Courier New"/>
                <a:cs typeface="Courier New"/>
              </a:rPr>
              <a:t>}}</a:t>
            </a:r>
            <a:endParaRPr lang="fr-FR" sz="2200" b="1" dirty="0"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200" b="1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4484342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522315" y="4343540"/>
            <a:ext cx="8208912" cy="163310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rgbClr val="E46C0A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42" tIns="44271" rIns="90342" bIns="44271" spcCol="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tabLst>
                <a:tab pos="0" algn="l"/>
                <a:tab pos="457106" algn="l"/>
                <a:tab pos="914210" algn="l"/>
                <a:tab pos="1371316" algn="l"/>
                <a:tab pos="1828421" algn="l"/>
                <a:tab pos="2285526" algn="l"/>
                <a:tab pos="2742630" algn="l"/>
                <a:tab pos="3199736" algn="l"/>
                <a:tab pos="3656841" algn="l"/>
                <a:tab pos="4113946" algn="l"/>
                <a:tab pos="4571052" algn="l"/>
                <a:tab pos="5028157" algn="l"/>
                <a:tab pos="5485263" algn="l"/>
                <a:tab pos="5942368" algn="l"/>
                <a:tab pos="6399473" algn="l"/>
                <a:tab pos="6856578" algn="l"/>
                <a:tab pos="7313683" algn="l"/>
                <a:tab pos="7770789" algn="l"/>
                <a:tab pos="8227894" algn="l"/>
                <a:tab pos="8685000" algn="l"/>
                <a:tab pos="9142104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539554" y="1795891"/>
            <a:ext cx="8208912" cy="199314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rgbClr val="E46C0A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42" tIns="44271" rIns="90342" bIns="44271" spcCol="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tabLst>
                <a:tab pos="0" algn="l"/>
                <a:tab pos="457106" algn="l"/>
                <a:tab pos="914210" algn="l"/>
                <a:tab pos="1371316" algn="l"/>
                <a:tab pos="1828421" algn="l"/>
                <a:tab pos="2285526" algn="l"/>
                <a:tab pos="2742630" algn="l"/>
                <a:tab pos="3199736" algn="l"/>
                <a:tab pos="3656841" algn="l"/>
                <a:tab pos="4113946" algn="l"/>
                <a:tab pos="4571052" algn="l"/>
                <a:tab pos="5028157" algn="l"/>
                <a:tab pos="5485263" algn="l"/>
                <a:tab pos="5942368" algn="l"/>
                <a:tab pos="6399473" algn="l"/>
                <a:tab pos="6856578" algn="l"/>
                <a:tab pos="7313683" algn="l"/>
                <a:tab pos="7770789" algn="l"/>
                <a:tab pos="8227894" algn="l"/>
                <a:tab pos="8685000" algn="l"/>
                <a:tab pos="9142104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latin typeface="Courier New"/>
                <a:cs typeface="Courier New"/>
              </a:rPr>
              <a:t>Iterable</a:t>
            </a:r>
            <a:r>
              <a:rPr lang="en-US" dirty="0" smtClean="0"/>
              <a:t>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Without generics:</a:t>
            </a:r>
            <a:endParaRPr lang="en-US" i="1" dirty="0" smtClean="0"/>
          </a:p>
          <a:p>
            <a:pPr marL="362885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b="1" dirty="0" smtClean="0">
                <a:latin typeface="Courier New"/>
                <a:cs typeface="Courier New"/>
              </a:rPr>
              <a:t>Random </a:t>
            </a:r>
            <a:r>
              <a:rPr lang="en-US" b="1" dirty="0" err="1" smtClean="0">
                <a:latin typeface="Courier New"/>
                <a:cs typeface="Courier New"/>
              </a:rPr>
              <a:t>seq</a:t>
            </a:r>
            <a:r>
              <a:rPr lang="en-US" b="1" dirty="0" smtClean="0">
                <a:latin typeface="Courier New"/>
                <a:cs typeface="Courier New"/>
              </a:rPr>
              <a:t> = new Random(10,5,10);</a:t>
            </a:r>
          </a:p>
          <a:p>
            <a:pPr marL="362885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b="1" dirty="0" smtClean="0">
                <a:latin typeface="Courier New"/>
                <a:cs typeface="Courier New"/>
              </a:rPr>
              <a:t>for(Object e : </a:t>
            </a:r>
            <a:r>
              <a:rPr lang="en-US" b="1" dirty="0" err="1" smtClean="0">
                <a:latin typeface="Courier New"/>
                <a:cs typeface="Courier New"/>
              </a:rPr>
              <a:t>seq</a:t>
            </a:r>
            <a:r>
              <a:rPr lang="en-US" b="1" dirty="0" smtClean="0">
                <a:latin typeface="Courier New"/>
                <a:cs typeface="Courier New"/>
              </a:rPr>
              <a:t>){</a:t>
            </a:r>
          </a:p>
          <a:p>
            <a:pPr marL="362885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b="1" dirty="0" smtClean="0">
                <a:latin typeface="Courier New"/>
                <a:cs typeface="Courier New"/>
              </a:rPr>
              <a:t>  </a:t>
            </a:r>
            <a:r>
              <a:rPr lang="en-US" b="1" dirty="0" err="1" smtClean="0">
                <a:latin typeface="Courier New"/>
                <a:cs typeface="Courier New"/>
              </a:rPr>
              <a:t>int</a:t>
            </a:r>
            <a:r>
              <a:rPr lang="en-US" b="1" dirty="0" smtClean="0">
                <a:latin typeface="Courier New"/>
                <a:cs typeface="Courier New"/>
              </a:rPr>
              <a:t> v = ((Integer)e).</a:t>
            </a:r>
            <a:r>
              <a:rPr lang="en-US" b="1" dirty="0" err="1" smtClean="0">
                <a:latin typeface="Courier New"/>
                <a:cs typeface="Courier New"/>
              </a:rPr>
              <a:t>intValue</a:t>
            </a:r>
            <a:r>
              <a:rPr lang="en-US" b="1" dirty="0" smtClean="0">
                <a:latin typeface="Courier New"/>
                <a:cs typeface="Courier New"/>
              </a:rPr>
              <a:t>();</a:t>
            </a:r>
          </a:p>
          <a:p>
            <a:pPr marL="362885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b="1" dirty="0" smtClean="0">
                <a:latin typeface="Courier New"/>
                <a:cs typeface="Courier New"/>
              </a:rPr>
              <a:t>  </a:t>
            </a:r>
            <a:r>
              <a:rPr lang="en-US" b="1" dirty="0" err="1" smtClean="0">
                <a:latin typeface="Courier New"/>
                <a:cs typeface="Courier New"/>
              </a:rPr>
              <a:t>System.out.println</a:t>
            </a:r>
            <a:r>
              <a:rPr lang="en-US" b="1" dirty="0" smtClean="0">
                <a:latin typeface="Courier New"/>
                <a:cs typeface="Courier New"/>
              </a:rPr>
              <a:t>(v);</a:t>
            </a:r>
          </a:p>
          <a:p>
            <a:pPr marL="362885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b="1" dirty="0" smtClean="0">
                <a:latin typeface="Courier New"/>
                <a:cs typeface="Courier New"/>
              </a:rPr>
              <a:t>}</a:t>
            </a:r>
          </a:p>
          <a:p>
            <a:pPr marL="414801" indent="-414726"/>
            <a:r>
              <a:rPr lang="en-US" dirty="0" smtClean="0"/>
              <a:t>With generics:</a:t>
            </a:r>
            <a:endParaRPr lang="en-US" i="1" dirty="0" smtClean="0"/>
          </a:p>
          <a:p>
            <a:pPr marL="362885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/>
                <a:cs typeface="Courier New"/>
              </a:rPr>
              <a:t>Random </a:t>
            </a:r>
            <a:r>
              <a:rPr lang="en-US" b="1" dirty="0" err="1">
                <a:latin typeface="Courier New"/>
                <a:cs typeface="Courier New"/>
              </a:rPr>
              <a:t>seq</a:t>
            </a:r>
            <a:r>
              <a:rPr lang="en-US" b="1" dirty="0">
                <a:latin typeface="Courier New"/>
                <a:cs typeface="Courier New"/>
              </a:rPr>
              <a:t> = new Random(10,5,10);</a:t>
            </a:r>
          </a:p>
          <a:p>
            <a:pPr marL="362885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/>
                <a:cs typeface="Courier New"/>
              </a:rPr>
              <a:t>for(</a:t>
            </a:r>
            <a:r>
              <a:rPr lang="en-US" b="1" dirty="0" err="1">
                <a:latin typeface="Courier New"/>
                <a:cs typeface="Courier New"/>
              </a:rPr>
              <a:t>int</a:t>
            </a:r>
            <a:r>
              <a:rPr lang="en-US" b="1" dirty="0">
                <a:latin typeface="Courier New"/>
                <a:cs typeface="Courier New"/>
              </a:rPr>
              <a:t> v : </a:t>
            </a:r>
            <a:r>
              <a:rPr lang="en-US" b="1" dirty="0" err="1">
                <a:latin typeface="Courier New"/>
                <a:cs typeface="Courier New"/>
              </a:rPr>
              <a:t>seq</a:t>
            </a:r>
            <a:r>
              <a:rPr lang="en-US" b="1" dirty="0">
                <a:latin typeface="Courier New"/>
                <a:cs typeface="Courier New"/>
              </a:rPr>
              <a:t>){</a:t>
            </a:r>
          </a:p>
          <a:p>
            <a:pPr marL="362885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/>
                <a:cs typeface="Courier New"/>
              </a:rPr>
              <a:t>  </a:t>
            </a:r>
            <a:r>
              <a:rPr lang="en-US" b="1" dirty="0" err="1">
                <a:latin typeface="Courier New"/>
                <a:cs typeface="Courier New"/>
              </a:rPr>
              <a:t>System.out.println</a:t>
            </a:r>
            <a:r>
              <a:rPr lang="en-US" b="1" dirty="0">
                <a:latin typeface="Courier New"/>
                <a:cs typeface="Courier New"/>
              </a:rPr>
              <a:t>(v);</a:t>
            </a:r>
          </a:p>
          <a:p>
            <a:pPr marL="362885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/>
                <a:cs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465156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latin typeface="Lucida Sans Unicode" charset="0"/>
                <a:cs typeface="Lucida Sans Unicode" charset="0"/>
              </a:rPr>
              <a:t>Diamond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Reference type parameter must match the class parameter</a:t>
            </a:r>
            <a:r>
              <a:rPr lang="en-US" dirty="0"/>
              <a:t> </a:t>
            </a:r>
            <a:r>
              <a:rPr lang="en-US" dirty="0" smtClean="0"/>
              <a:t>used in instantiation</a:t>
            </a:r>
          </a:p>
          <a:p>
            <a:pPr lvl="1">
              <a:defRPr/>
            </a:pPr>
            <a:r>
              <a:rPr lang="en-US" dirty="0" smtClean="0"/>
              <a:t>E.g.</a:t>
            </a:r>
          </a:p>
          <a:p>
            <a:pPr marL="83503" lvl="1" indent="0">
              <a:buNone/>
              <a:defRPr/>
            </a:pPr>
            <a:r>
              <a:rPr lang="en-US" b="1" dirty="0" smtClean="0">
                <a:latin typeface="Courier New"/>
                <a:cs typeface="Courier New"/>
              </a:rPr>
              <a:t>List&lt;</a:t>
            </a:r>
            <a:r>
              <a:rPr lang="en-US" b="1" dirty="0" smtClean="0">
                <a:solidFill>
                  <a:srgbClr val="FF6600"/>
                </a:solidFill>
                <a:latin typeface="Courier New"/>
                <a:cs typeface="Courier New"/>
              </a:rPr>
              <a:t>String</a:t>
            </a:r>
            <a:r>
              <a:rPr lang="en-US" b="1" dirty="0" smtClean="0">
                <a:latin typeface="Courier New"/>
                <a:cs typeface="Courier New"/>
              </a:rPr>
              <a:t>&gt; l=new </a:t>
            </a:r>
            <a:r>
              <a:rPr lang="en-US" b="1" dirty="0" err="1" smtClean="0">
                <a:latin typeface="Courier New"/>
                <a:cs typeface="Courier New"/>
              </a:rPr>
              <a:t>LinkedList</a:t>
            </a:r>
            <a:r>
              <a:rPr lang="en-US" b="1" dirty="0" smtClean="0">
                <a:latin typeface="Courier New"/>
                <a:cs typeface="Courier New"/>
              </a:rPr>
              <a:t>&lt;</a:t>
            </a:r>
            <a:r>
              <a:rPr lang="en-US" b="1" dirty="0" smtClean="0">
                <a:solidFill>
                  <a:srgbClr val="FF6600"/>
                </a:solidFill>
                <a:latin typeface="Courier New"/>
                <a:cs typeface="Courier New"/>
              </a:rPr>
              <a:t>String</a:t>
            </a:r>
            <a:r>
              <a:rPr lang="en-US" b="1" dirty="0" smtClean="0">
                <a:latin typeface="Courier New"/>
                <a:cs typeface="Courier New"/>
              </a:rPr>
              <a:t>&gt;();</a:t>
            </a:r>
          </a:p>
          <a:p>
            <a:pPr>
              <a:defRPr/>
            </a:pPr>
            <a:r>
              <a:rPr lang="en-US" dirty="0" smtClean="0"/>
              <a:t>The Java compiler can infer the type when the diamond operator is used:</a:t>
            </a:r>
          </a:p>
          <a:p>
            <a:pPr marL="0" lvl="1" indent="0">
              <a:spcBef>
                <a:spcPts val="726"/>
              </a:spcBef>
              <a:spcAft>
                <a:spcPts val="181"/>
              </a:spcAft>
              <a:buNone/>
              <a:defRPr/>
            </a:pPr>
            <a:r>
              <a:rPr lang="en-US" b="1" dirty="0" smtClean="0">
                <a:latin typeface="Courier New"/>
                <a:cs typeface="Courier New"/>
              </a:rPr>
              <a:t> List&lt;</a:t>
            </a:r>
            <a:r>
              <a:rPr lang="en-US" b="1" dirty="0" smtClean="0">
                <a:solidFill>
                  <a:schemeClr val="tx1"/>
                </a:solidFill>
                <a:latin typeface="Courier New"/>
                <a:cs typeface="Courier New"/>
              </a:rPr>
              <a:t>String</a:t>
            </a:r>
            <a:r>
              <a:rPr lang="en-US" b="1" dirty="0" smtClean="0">
                <a:latin typeface="Courier New"/>
                <a:cs typeface="Courier New"/>
              </a:rPr>
              <a:t>&gt; l = new </a:t>
            </a:r>
            <a:r>
              <a:rPr lang="en-US" b="1" dirty="0" err="1" smtClean="0">
                <a:latin typeface="Courier New"/>
                <a:cs typeface="Courier New"/>
              </a:rPr>
              <a:t>LinkedList</a:t>
            </a:r>
            <a:r>
              <a:rPr lang="en-US" b="1" dirty="0" smtClean="0">
                <a:solidFill>
                  <a:srgbClr val="FF6600"/>
                </a:solidFill>
                <a:latin typeface="Courier New"/>
                <a:cs typeface="Courier New"/>
              </a:rPr>
              <a:t>&lt;&gt;</a:t>
            </a:r>
            <a:r>
              <a:rPr lang="en-US" b="1" dirty="0" smtClean="0">
                <a:latin typeface="Courier New"/>
                <a:cs typeface="Courier New"/>
              </a:rPr>
              <a:t>();</a:t>
            </a:r>
          </a:p>
          <a:p>
            <a:pPr lvl="1">
              <a:defRPr/>
            </a:pPr>
            <a:r>
              <a:rPr lang="en-US" dirty="0" smtClean="0"/>
              <a:t>Since Java 7</a:t>
            </a:r>
            <a:endParaRPr lang="en-US" dirty="0"/>
          </a:p>
        </p:txBody>
      </p:sp>
      <p:sp>
        <p:nvSpPr>
          <p:cNvPr id="50179" name="Freeform 9"/>
          <p:cNvSpPr>
            <a:spLocks/>
          </p:cNvSpPr>
          <p:nvPr/>
        </p:nvSpPr>
        <p:spPr bwMode="auto">
          <a:xfrm>
            <a:off x="2296800" y="2443937"/>
            <a:ext cx="4836960" cy="568859"/>
          </a:xfrm>
          <a:custGeom>
            <a:avLst/>
            <a:gdLst>
              <a:gd name="T0" fmla="*/ 5332412 w 5331463"/>
              <a:gd name="T1" fmla="*/ 565891 h 627483"/>
              <a:gd name="T2" fmla="*/ 4873336 w 5331463"/>
              <a:gd name="T3" fmla="*/ 168280 h 627483"/>
              <a:gd name="T4" fmla="*/ 2853411 w 5331463"/>
              <a:gd name="T5" fmla="*/ 61 h 627483"/>
              <a:gd name="T6" fmla="*/ 389712 w 5331463"/>
              <a:gd name="T7" fmla="*/ 183573 h 627483"/>
              <a:gd name="T8" fmla="*/ 7150 w 5331463"/>
              <a:gd name="T9" fmla="*/ 627062 h 62748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331463" h="627483">
                <a:moveTo>
                  <a:pt x="5331463" y="566271"/>
                </a:moveTo>
                <a:cubicBezTo>
                  <a:pt x="5295763" y="326524"/>
                  <a:pt x="5285562" y="262761"/>
                  <a:pt x="4872469" y="168393"/>
                </a:cubicBezTo>
                <a:cubicBezTo>
                  <a:pt x="4459376" y="74025"/>
                  <a:pt x="3600041" y="-2490"/>
                  <a:pt x="2852903" y="61"/>
                </a:cubicBezTo>
                <a:cubicBezTo>
                  <a:pt x="2105765" y="2612"/>
                  <a:pt x="863935" y="79126"/>
                  <a:pt x="389643" y="183696"/>
                </a:cubicBezTo>
                <a:cubicBezTo>
                  <a:pt x="-84649" y="288266"/>
                  <a:pt x="7149" y="627483"/>
                  <a:pt x="7149" y="627483"/>
                </a:cubicBezTo>
              </a:path>
            </a:pathLst>
          </a:custGeom>
          <a:noFill/>
          <a:ln w="9525">
            <a:solidFill>
              <a:srgbClr val="FF6600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2927" tIns="41464" rIns="82927" bIns="41464"/>
          <a:lstStyle/>
          <a:p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1"/>
          <p:cNvSpPr>
            <a:spLocks noGrp="1" noChangeArrowheads="1"/>
          </p:cNvSpPr>
          <p:nvPr>
            <p:ph type="title"/>
          </p:nvPr>
        </p:nvSpPr>
        <p:spPr/>
        <p:txBody>
          <a:bodyPr lIns="0" tIns="0" rIns="0" bIns="0">
            <a:spAutoFit/>
          </a:bodyPr>
          <a:lstStyle/>
          <a:p>
            <a:pPr eaLnBrk="1" hangingPunct="1">
              <a:lnSpc>
                <a:spcPct val="101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  <a:tab pos="8533237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Generic 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method</a:t>
            </a:r>
            <a:endParaRPr lang="en-GB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69635" name="Rectangle 2"/>
          <p:cNvSpPr>
            <a:spLocks noGrp="1" noChangeArrowheads="1"/>
          </p:cNvSpPr>
          <p:nvPr>
            <p:ph idx="1"/>
          </p:nvPr>
        </p:nvSpPr>
        <p:spPr/>
        <p:txBody>
          <a:bodyPr lIns="0" tIns="0" rIns="0" bIns="0">
            <a:normAutofit/>
          </a:bodyPr>
          <a:lstStyle/>
          <a:p>
            <a:pPr eaLnBrk="1" hangingPunct="1">
              <a:lnSpc>
                <a:spcPct val="101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3200" dirty="0">
                <a:latin typeface="Lucida Sans Unicode" charset="0"/>
                <a:cs typeface="Lucida Sans Unicode" charset="0"/>
              </a:rPr>
              <a:t>Syntax:</a:t>
            </a:r>
          </a:p>
          <a:p>
            <a:pPr algn="ctr" eaLnBrk="1" hangingPunct="1">
              <a:lnSpc>
                <a:spcPct val="95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3200" i="1" dirty="0">
                <a:latin typeface="Courier New" charset="0"/>
                <a:cs typeface="Lucida Sans Unicode" charset="0"/>
              </a:rPr>
              <a:t>modifiers</a:t>
            </a:r>
            <a:r>
              <a:rPr lang="en-GB" sz="3200" b="1" dirty="0">
                <a:latin typeface="Courier New" charset="0"/>
                <a:cs typeface="Lucida Sans Unicode" charset="0"/>
              </a:rPr>
              <a:t> </a:t>
            </a:r>
            <a:r>
              <a:rPr lang="en-GB" sz="3200" b="1" dirty="0">
                <a:solidFill>
                  <a:srgbClr val="FF6633"/>
                </a:solidFill>
                <a:latin typeface="Courier New" charset="0"/>
                <a:cs typeface="Lucida Sans Unicode" charset="0"/>
              </a:rPr>
              <a:t>&lt;</a:t>
            </a:r>
            <a:r>
              <a:rPr lang="en-GB" sz="3200" b="1" dirty="0">
                <a:latin typeface="Courier New" charset="0"/>
                <a:cs typeface="Lucida Sans Unicode" charset="0"/>
              </a:rPr>
              <a:t>T</a:t>
            </a:r>
            <a:r>
              <a:rPr lang="en-GB" sz="3200" b="1" dirty="0">
                <a:solidFill>
                  <a:srgbClr val="FF6633"/>
                </a:solidFill>
                <a:latin typeface="Courier New" charset="0"/>
                <a:cs typeface="Lucida Sans Unicode" charset="0"/>
              </a:rPr>
              <a:t>&gt;</a:t>
            </a:r>
            <a:r>
              <a:rPr lang="en-GB" sz="3200" b="1" dirty="0">
                <a:latin typeface="Courier New" charset="0"/>
                <a:cs typeface="Lucida Sans Unicode" charset="0"/>
              </a:rPr>
              <a:t> </a:t>
            </a:r>
            <a:r>
              <a:rPr lang="en-GB" sz="3200" b="1" i="1" dirty="0" smtClean="0">
                <a:latin typeface="Courier New" charset="0"/>
                <a:cs typeface="Lucida Sans Unicode" charset="0"/>
              </a:rPr>
              <a:t>type</a:t>
            </a:r>
            <a:r>
              <a:rPr lang="en-GB" sz="3200" b="1" dirty="0" smtClean="0">
                <a:latin typeface="Courier New" charset="0"/>
                <a:cs typeface="Lucida Sans Unicode" charset="0"/>
              </a:rPr>
              <a:t> </a:t>
            </a:r>
            <a:r>
              <a:rPr lang="en-GB" sz="3200" b="1" dirty="0">
                <a:latin typeface="Courier New" charset="0"/>
                <a:cs typeface="Lucida Sans Unicode" charset="0"/>
              </a:rPr>
              <a:t>name</a:t>
            </a:r>
            <a:r>
              <a:rPr lang="en-GB" sz="3200" b="1" dirty="0">
                <a:solidFill>
                  <a:srgbClr val="FF6633"/>
                </a:solidFill>
                <a:latin typeface="Courier New" charset="0"/>
                <a:cs typeface="Lucida Sans Unicode" charset="0"/>
              </a:rPr>
              <a:t>(</a:t>
            </a:r>
            <a:r>
              <a:rPr lang="en-GB" sz="3200" b="1" dirty="0">
                <a:latin typeface="Courier New" charset="0"/>
                <a:cs typeface="Lucida Sans Unicode" charset="0"/>
              </a:rPr>
              <a:t>pars</a:t>
            </a:r>
            <a:r>
              <a:rPr lang="en-GB" sz="3200" b="1" dirty="0">
                <a:solidFill>
                  <a:srgbClr val="FF6633"/>
                </a:solidFill>
                <a:latin typeface="Courier New" charset="0"/>
                <a:cs typeface="Lucida Sans Unicode" charset="0"/>
              </a:rPr>
              <a:t>)</a:t>
            </a:r>
          </a:p>
          <a:p>
            <a:pPr eaLnBrk="1" hangingPunct="1">
              <a:lnSpc>
                <a:spcPct val="108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3200" dirty="0">
                <a:latin typeface="Lucida Sans Unicode" charset="0"/>
                <a:cs typeface="Lucida Sans Unicode" charset="0"/>
              </a:rPr>
              <a:t>pars can be:</a:t>
            </a:r>
          </a:p>
          <a:p>
            <a:pPr lvl="1" eaLnBrk="1" hangingPunct="1">
              <a:lnSpc>
                <a:spcPct val="108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800" dirty="0">
                <a:latin typeface="Lucida Sans Unicode" charset="0"/>
                <a:ea typeface="Lucida Sans Unicode" charset="0"/>
                <a:cs typeface="Lucida Sans Unicode" charset="0"/>
              </a:rPr>
              <a:t>as usual</a:t>
            </a:r>
          </a:p>
          <a:p>
            <a:pPr lvl="1" eaLnBrk="1" hangingPunct="1">
              <a:lnSpc>
                <a:spcPct val="108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800" b="1" dirty="0">
                <a:latin typeface="Courier New"/>
                <a:ea typeface="Lucida Sans Unicode" charset="0"/>
                <a:cs typeface="Courier New"/>
              </a:rPr>
              <a:t>T</a:t>
            </a:r>
          </a:p>
          <a:p>
            <a:pPr lvl="1" eaLnBrk="1" hangingPunct="1">
              <a:lnSpc>
                <a:spcPct val="108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800" b="1" dirty="0">
                <a:latin typeface="Courier New"/>
                <a:ea typeface="Lucida Sans Unicode" charset="0"/>
                <a:cs typeface="Courier New"/>
              </a:rPr>
              <a:t>type&lt;T&gt;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1"/>
          <p:cNvSpPr>
            <a:spLocks noChangeArrowheads="1"/>
          </p:cNvSpPr>
          <p:nvPr/>
        </p:nvSpPr>
        <p:spPr bwMode="auto">
          <a:xfrm>
            <a:off x="539552" y="5157192"/>
            <a:ext cx="7992888" cy="936104"/>
          </a:xfrm>
          <a:prstGeom prst="roundRect">
            <a:avLst>
              <a:gd name="adj" fmla="val 42"/>
            </a:avLst>
          </a:prstGeom>
          <a:solidFill>
            <a:srgbClr val="FDEADA"/>
          </a:solidFill>
          <a:ln w="9360">
            <a:solidFill>
              <a:srgbClr val="E46C0A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82918" tIns="41460" rIns="82918" bIns="41460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4" name="AutoShape 1"/>
          <p:cNvSpPr>
            <a:spLocks noChangeArrowheads="1"/>
          </p:cNvSpPr>
          <p:nvPr/>
        </p:nvSpPr>
        <p:spPr bwMode="auto">
          <a:xfrm>
            <a:off x="539552" y="1556792"/>
            <a:ext cx="7992888" cy="3168352"/>
          </a:xfrm>
          <a:prstGeom prst="roundRect">
            <a:avLst>
              <a:gd name="adj" fmla="val 42"/>
            </a:avLst>
          </a:prstGeom>
          <a:solidFill>
            <a:srgbClr val="FDEADA"/>
          </a:solidFill>
          <a:ln w="9360">
            <a:solidFill>
              <a:srgbClr val="E46C0A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82918" tIns="41460" rIns="82918" bIns="41460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Generic Method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62811" lvl="1" indent="0">
              <a:lnSpc>
                <a:spcPct val="90000"/>
              </a:lnSpc>
              <a:buNone/>
            </a:pPr>
            <a:r>
              <a:rPr lang="en-US" sz="2400" b="1" dirty="0">
                <a:latin typeface="Courier New"/>
                <a:cs typeface="Courier New"/>
              </a:rPr>
              <a:t>	</a:t>
            </a:r>
          </a:p>
          <a:p>
            <a:pPr marL="362811" lvl="1" indent="0">
              <a:lnSpc>
                <a:spcPct val="90000"/>
              </a:lnSpc>
              <a:buNone/>
            </a:pPr>
            <a:r>
              <a:rPr lang="en-US" sz="2400" b="1" dirty="0" smtClean="0">
                <a:latin typeface="Courier New"/>
                <a:cs typeface="Courier New"/>
              </a:rPr>
              <a:t>public </a:t>
            </a:r>
            <a:r>
              <a:rPr lang="en-US" sz="2400" b="1" dirty="0">
                <a:latin typeface="Courier New"/>
                <a:cs typeface="Courier New"/>
              </a:rPr>
              <a:t>static &lt;T&gt; </a:t>
            </a:r>
            <a:endParaRPr lang="en-US" sz="2400" b="1" dirty="0" smtClean="0">
              <a:latin typeface="Courier New"/>
              <a:cs typeface="Courier New"/>
            </a:endParaRPr>
          </a:p>
          <a:p>
            <a:pPr marL="362811" lvl="1" indent="0">
              <a:lnSpc>
                <a:spcPct val="90000"/>
              </a:lnSpc>
              <a:buNone/>
            </a:pPr>
            <a:r>
              <a:rPr lang="en-US" sz="2400" b="1" dirty="0">
                <a:latin typeface="Courier New"/>
                <a:cs typeface="Courier New"/>
              </a:rPr>
              <a:t> </a:t>
            </a:r>
            <a:r>
              <a:rPr lang="en-US" sz="2400" b="1" dirty="0" smtClean="0">
                <a:latin typeface="Courier New"/>
                <a:cs typeface="Courier New"/>
              </a:rPr>
              <a:t> </a:t>
            </a:r>
            <a:r>
              <a:rPr lang="en-US" sz="2400" b="1" dirty="0" err="1" smtClean="0">
                <a:latin typeface="Courier New"/>
                <a:cs typeface="Courier New"/>
              </a:rPr>
              <a:t>boolean</a:t>
            </a:r>
            <a:r>
              <a:rPr lang="en-US" sz="2400" b="1" dirty="0" smtClean="0">
                <a:latin typeface="Courier New"/>
                <a:cs typeface="Courier New"/>
              </a:rPr>
              <a:t> </a:t>
            </a:r>
            <a:r>
              <a:rPr lang="en-US" sz="2400" b="1" dirty="0">
                <a:latin typeface="Courier New"/>
                <a:cs typeface="Courier New"/>
              </a:rPr>
              <a:t>contains(T[] </a:t>
            </a:r>
            <a:r>
              <a:rPr lang="en-US" sz="2400" b="1" dirty="0" err="1">
                <a:latin typeface="Courier New"/>
                <a:cs typeface="Courier New"/>
              </a:rPr>
              <a:t>ary</a:t>
            </a:r>
            <a:r>
              <a:rPr lang="en-US" sz="2400" b="1" dirty="0">
                <a:latin typeface="Courier New"/>
                <a:cs typeface="Courier New"/>
              </a:rPr>
              <a:t>, T element){</a:t>
            </a:r>
          </a:p>
          <a:p>
            <a:pPr marL="362811" lvl="1" indent="0">
              <a:lnSpc>
                <a:spcPct val="90000"/>
              </a:lnSpc>
              <a:buNone/>
            </a:pPr>
            <a:r>
              <a:rPr lang="en-US" sz="2400" b="1" dirty="0">
                <a:latin typeface="Courier New"/>
                <a:cs typeface="Courier New"/>
              </a:rPr>
              <a:t>		</a:t>
            </a:r>
            <a:r>
              <a:rPr lang="en-US" sz="2400" b="1" dirty="0" smtClean="0">
                <a:latin typeface="Courier New"/>
                <a:cs typeface="Courier New"/>
              </a:rPr>
              <a:t> for</a:t>
            </a:r>
            <a:r>
              <a:rPr lang="en-US" sz="2400" b="1" dirty="0">
                <a:latin typeface="Courier New"/>
                <a:cs typeface="Courier New"/>
              </a:rPr>
              <a:t>(T current : </a:t>
            </a:r>
            <a:r>
              <a:rPr lang="en-US" sz="2400" b="1" dirty="0" err="1">
                <a:latin typeface="Courier New"/>
                <a:cs typeface="Courier New"/>
              </a:rPr>
              <a:t>ary</a:t>
            </a:r>
            <a:r>
              <a:rPr lang="en-US" sz="2400" b="1" dirty="0">
                <a:latin typeface="Courier New"/>
                <a:cs typeface="Courier New"/>
              </a:rPr>
              <a:t>){</a:t>
            </a:r>
          </a:p>
          <a:p>
            <a:pPr marL="362811" lvl="1" indent="0">
              <a:lnSpc>
                <a:spcPct val="90000"/>
              </a:lnSpc>
              <a:buNone/>
            </a:pPr>
            <a:r>
              <a:rPr lang="en-US" sz="2400" b="1" dirty="0">
                <a:latin typeface="Courier New"/>
                <a:cs typeface="Courier New"/>
              </a:rPr>
              <a:t>			</a:t>
            </a:r>
            <a:r>
              <a:rPr lang="en-US" sz="2400" b="1" dirty="0" smtClean="0">
                <a:latin typeface="Courier New"/>
                <a:cs typeface="Courier New"/>
              </a:rPr>
              <a:t> if</a:t>
            </a:r>
            <a:r>
              <a:rPr lang="en-US" sz="2400" b="1" dirty="0">
                <a:latin typeface="Courier New"/>
                <a:cs typeface="Courier New"/>
              </a:rPr>
              <a:t>(</a:t>
            </a:r>
            <a:r>
              <a:rPr lang="en-US" sz="2400" b="1" dirty="0" err="1">
                <a:latin typeface="Courier New"/>
                <a:cs typeface="Courier New"/>
              </a:rPr>
              <a:t>current.equals</a:t>
            </a:r>
            <a:r>
              <a:rPr lang="en-US" sz="2400" b="1" dirty="0">
                <a:latin typeface="Courier New"/>
                <a:cs typeface="Courier New"/>
              </a:rPr>
              <a:t>(element)) </a:t>
            </a:r>
            <a:endParaRPr lang="en-US" sz="2400" b="1" dirty="0" smtClean="0">
              <a:latin typeface="Courier New"/>
              <a:cs typeface="Courier New"/>
            </a:endParaRPr>
          </a:p>
          <a:p>
            <a:pPr marL="362811" lvl="1" indent="0">
              <a:lnSpc>
                <a:spcPct val="90000"/>
              </a:lnSpc>
              <a:buNone/>
            </a:pPr>
            <a:r>
              <a:rPr lang="en-US" sz="2400" b="1" dirty="0">
                <a:latin typeface="Courier New"/>
                <a:cs typeface="Courier New"/>
              </a:rPr>
              <a:t>	</a:t>
            </a:r>
            <a:r>
              <a:rPr lang="en-US" sz="2400" b="1" dirty="0" smtClean="0">
                <a:latin typeface="Courier New"/>
                <a:cs typeface="Courier New"/>
              </a:rPr>
              <a:t>			 return </a:t>
            </a:r>
            <a:r>
              <a:rPr lang="en-US" sz="2400" b="1" dirty="0">
                <a:latin typeface="Courier New"/>
                <a:cs typeface="Courier New"/>
              </a:rPr>
              <a:t>true;</a:t>
            </a:r>
          </a:p>
          <a:p>
            <a:pPr marL="362811" lvl="1" indent="0">
              <a:lnSpc>
                <a:spcPct val="90000"/>
              </a:lnSpc>
              <a:buNone/>
            </a:pPr>
            <a:r>
              <a:rPr lang="en-US" sz="2400" b="1" dirty="0">
                <a:latin typeface="Courier New"/>
                <a:cs typeface="Courier New"/>
              </a:rPr>
              <a:t>		</a:t>
            </a:r>
            <a:r>
              <a:rPr lang="en-US" sz="2400" b="1" dirty="0" smtClean="0">
                <a:latin typeface="Courier New"/>
                <a:cs typeface="Courier New"/>
              </a:rPr>
              <a:t> }</a:t>
            </a:r>
            <a:endParaRPr lang="en-US" sz="2400" b="1" dirty="0">
              <a:latin typeface="Courier New"/>
              <a:cs typeface="Courier New"/>
            </a:endParaRPr>
          </a:p>
          <a:p>
            <a:pPr marL="362811" lvl="1" indent="0">
              <a:lnSpc>
                <a:spcPct val="90000"/>
              </a:lnSpc>
              <a:buNone/>
            </a:pPr>
            <a:r>
              <a:rPr lang="en-US" sz="2400" b="1" dirty="0">
                <a:latin typeface="Courier New"/>
                <a:cs typeface="Courier New"/>
              </a:rPr>
              <a:t>		</a:t>
            </a:r>
            <a:r>
              <a:rPr lang="en-US" sz="2400" b="1" dirty="0" smtClean="0">
                <a:latin typeface="Courier New"/>
                <a:cs typeface="Courier New"/>
              </a:rPr>
              <a:t> return </a:t>
            </a:r>
            <a:r>
              <a:rPr lang="en-US" sz="2400" b="1" dirty="0">
                <a:latin typeface="Courier New"/>
                <a:cs typeface="Courier New"/>
              </a:rPr>
              <a:t>false;</a:t>
            </a:r>
          </a:p>
          <a:p>
            <a:pPr marL="362811" lvl="1" indent="0">
              <a:lnSpc>
                <a:spcPct val="90000"/>
              </a:lnSpc>
              <a:buNone/>
            </a:pPr>
            <a:r>
              <a:rPr lang="en-US" sz="2400" b="1" dirty="0">
                <a:latin typeface="Courier New"/>
                <a:cs typeface="Courier New"/>
              </a:rPr>
              <a:t>	}</a:t>
            </a:r>
          </a:p>
          <a:p>
            <a:endParaRPr lang="en-US" dirty="0" smtClean="0"/>
          </a:p>
          <a:p>
            <a:pPr marL="362811" lvl="1" indent="0">
              <a:lnSpc>
                <a:spcPct val="90000"/>
              </a:lnSpc>
              <a:buNone/>
            </a:pPr>
            <a:r>
              <a:rPr lang="en-US" sz="2400" b="1" dirty="0">
                <a:latin typeface="Courier New"/>
                <a:cs typeface="Courier New"/>
              </a:rPr>
              <a:t>String[] words = { </a:t>
            </a:r>
            <a:r>
              <a:rPr lang="mr-IN" sz="2400" b="1" dirty="0">
                <a:latin typeface="Courier New"/>
                <a:cs typeface="Courier New"/>
              </a:rPr>
              <a:t>…</a:t>
            </a:r>
            <a:r>
              <a:rPr lang="it-IT" sz="2400" b="1" dirty="0">
                <a:latin typeface="Courier New"/>
                <a:cs typeface="Courier New"/>
              </a:rPr>
              <a:t> };</a:t>
            </a:r>
          </a:p>
          <a:p>
            <a:pPr marL="362811" lvl="1" indent="0">
              <a:lnSpc>
                <a:spcPct val="90000"/>
              </a:lnSpc>
              <a:buNone/>
            </a:pPr>
            <a:r>
              <a:rPr lang="it-IT" sz="2400" b="1" dirty="0" err="1">
                <a:latin typeface="Courier New"/>
                <a:cs typeface="Courier New"/>
              </a:rPr>
              <a:t>boolean</a:t>
            </a:r>
            <a:r>
              <a:rPr lang="it-IT" sz="2400" b="1" dirty="0">
                <a:latin typeface="Courier New"/>
                <a:cs typeface="Courier New"/>
              </a:rPr>
              <a:t> </a:t>
            </a:r>
            <a:r>
              <a:rPr lang="it-IT" sz="2400" b="1" dirty="0" err="1">
                <a:latin typeface="Courier New"/>
                <a:cs typeface="Courier New"/>
              </a:rPr>
              <a:t>found</a:t>
            </a:r>
            <a:r>
              <a:rPr lang="it-IT" sz="2400" b="1" dirty="0">
                <a:latin typeface="Courier New"/>
                <a:cs typeface="Courier New"/>
              </a:rPr>
              <a:t> = </a:t>
            </a:r>
            <a:r>
              <a:rPr lang="it-IT" sz="2400" b="1" dirty="0" err="1">
                <a:latin typeface="Courier New"/>
                <a:cs typeface="Courier New"/>
              </a:rPr>
              <a:t>contains</a:t>
            </a:r>
            <a:r>
              <a:rPr lang="it-IT" sz="2400" b="1" dirty="0">
                <a:latin typeface="Courier New"/>
                <a:cs typeface="Courier New"/>
              </a:rPr>
              <a:t>(</a:t>
            </a:r>
            <a:r>
              <a:rPr lang="it-IT" sz="2400" b="1" dirty="0" err="1">
                <a:latin typeface="Courier New"/>
                <a:cs typeface="Courier New"/>
              </a:rPr>
              <a:t>words</a:t>
            </a:r>
            <a:r>
              <a:rPr lang="it-IT" sz="2400" b="1" dirty="0">
                <a:latin typeface="Courier New"/>
                <a:cs typeface="Courier New"/>
              </a:rPr>
              <a:t>,"fox");</a:t>
            </a:r>
          </a:p>
          <a:p>
            <a:pPr marL="362811" lvl="1" indent="0">
              <a:lnSpc>
                <a:spcPct val="90000"/>
              </a:lnSpc>
              <a:buNone/>
            </a:pPr>
            <a:endParaRPr lang="it-IT" sz="2400" b="1" dirty="0">
              <a:latin typeface="Courier New"/>
              <a:cs typeface="Courier New"/>
            </a:endParaRP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76056" y="930328"/>
            <a:ext cx="3931280" cy="770480"/>
          </a:xfrm>
          <a:prstGeom prst="wedgeRoundRectCallout">
            <a:avLst>
              <a:gd name="adj1" fmla="val -4211"/>
              <a:gd name="adj2" fmla="val 102671"/>
              <a:gd name="adj3" fmla="val 16667"/>
            </a:avLst>
          </a:prstGeom>
          <a:solidFill>
            <a:srgbClr val="E6E0EC"/>
          </a:solidFill>
          <a:ln w="9360">
            <a:solidFill>
              <a:srgbClr val="8064A2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5857" tIns="45051" rIns="85857" bIns="45051" anchor="ctr"/>
          <a:lstStyle/>
          <a:p>
            <a:pPr algn="ctr">
              <a:lnSpc>
                <a:spcPct val="84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</a:tabLst>
            </a:pPr>
            <a:r>
              <a:rPr lang="en-GB" sz="2400" dirty="0">
                <a:solidFill>
                  <a:srgbClr val="000000"/>
                </a:solidFill>
                <a:cs typeface="Lucida Sans Unicode" charset="0"/>
              </a:rPr>
              <a:t>e</a:t>
            </a:r>
            <a:r>
              <a:rPr lang="en-GB" sz="2400" dirty="0" smtClean="0">
                <a:solidFill>
                  <a:srgbClr val="000000"/>
                </a:solidFill>
                <a:cs typeface="Lucida Sans Unicode" charset="0"/>
              </a:rPr>
              <a:t>lement must have same type as array type</a:t>
            </a:r>
            <a:endParaRPr lang="en-GB" sz="2400" dirty="0">
              <a:solidFill>
                <a:srgbClr val="000000"/>
              </a:solidFill>
              <a:cs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97542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Unbounded type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 type parameters used in generics are unbounded by default</a:t>
            </a:r>
          </a:p>
          <a:p>
            <a:pPr lvl="1"/>
            <a:r>
              <a:rPr lang="en-US" dirty="0" smtClean="0"/>
              <a:t>I.e. there are no constraints on the types that can be substituted to the type parameters</a:t>
            </a:r>
          </a:p>
          <a:p>
            <a:r>
              <a:rPr lang="en-US" dirty="0" smtClean="0"/>
              <a:t>The safe assumption for any type parameter T is that </a:t>
            </a:r>
            <a:br>
              <a:rPr lang="en-US" dirty="0" smtClean="0"/>
            </a:br>
            <a:r>
              <a:rPr lang="en-US" b="1" dirty="0" smtClean="0">
                <a:latin typeface="Courier New"/>
                <a:cs typeface="Courier New"/>
              </a:rPr>
              <a:t>T extends Object</a:t>
            </a:r>
          </a:p>
          <a:p>
            <a:pPr lvl="1"/>
            <a:r>
              <a:rPr lang="en-US" dirty="0" smtClean="0"/>
              <a:t>References of a type parameter T at least provide members that are defined in class Object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7206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467544" y="1196752"/>
            <a:ext cx="8064896" cy="47525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0360" tIns="44280" rIns="90360" bIns="442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894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Lucida Sans Unicode" charset="0"/>
                <a:cs typeface="Lucida Sans Unicode" charset="0"/>
              </a:rPr>
              <a:t>Unbounded generic sorting</a:t>
            </a:r>
            <a:endParaRPr lang="en-US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Font typeface="Wingdings" charset="0"/>
              <a:buNone/>
              <a:defRPr/>
            </a:pPr>
            <a:r>
              <a:rPr lang="en-US" b="1" dirty="0" smtClean="0">
                <a:latin typeface="Courier New"/>
                <a:cs typeface="Courier New"/>
              </a:rPr>
              <a:t>  public static &lt;T&gt; 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void </a:t>
            </a:r>
            <a:r>
              <a:rPr lang="en-US" b="1" dirty="0" smtClean="0">
                <a:solidFill>
                  <a:srgbClr val="FF6600"/>
                </a:solidFill>
                <a:latin typeface="Courier New"/>
                <a:cs typeface="Courier New"/>
              </a:rPr>
              <a:t>sort</a:t>
            </a:r>
            <a:r>
              <a:rPr lang="en-US" b="1" dirty="0" smtClean="0">
                <a:latin typeface="Courier New"/>
                <a:cs typeface="Courier New"/>
              </a:rPr>
              <a:t>(T v[]){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  for(</a:t>
            </a:r>
            <a:r>
              <a:rPr lang="en-US" b="1" dirty="0" err="1" smtClean="0">
                <a:latin typeface="Courier New"/>
                <a:cs typeface="Courier New"/>
              </a:rPr>
              <a:t>int</a:t>
            </a:r>
            <a:r>
              <a:rPr lang="en-US" b="1" dirty="0" smtClean="0">
                <a:latin typeface="Courier New"/>
                <a:cs typeface="Courier New"/>
              </a:rPr>
              <a:t> </a:t>
            </a:r>
            <a:r>
              <a:rPr lang="en-US" b="1" dirty="0" err="1" smtClean="0">
                <a:latin typeface="Courier New"/>
                <a:cs typeface="Courier New"/>
              </a:rPr>
              <a:t>i</a:t>
            </a:r>
            <a:r>
              <a:rPr lang="en-US" b="1" dirty="0" smtClean="0">
                <a:latin typeface="Courier New"/>
                <a:cs typeface="Courier New"/>
              </a:rPr>
              <a:t>=1; </a:t>
            </a:r>
            <a:r>
              <a:rPr lang="en-US" b="1" dirty="0" err="1" smtClean="0">
                <a:latin typeface="Courier New"/>
                <a:cs typeface="Courier New"/>
              </a:rPr>
              <a:t>i</a:t>
            </a:r>
            <a:r>
              <a:rPr lang="en-US" b="1" dirty="0" smtClean="0">
                <a:latin typeface="Courier New"/>
                <a:cs typeface="Courier New"/>
              </a:rPr>
              <a:t>&lt;</a:t>
            </a:r>
            <a:r>
              <a:rPr lang="en-US" b="1" dirty="0" err="1" smtClean="0">
                <a:latin typeface="Courier New"/>
                <a:cs typeface="Courier New"/>
              </a:rPr>
              <a:t>v.length</a:t>
            </a:r>
            <a:r>
              <a:rPr lang="en-US" b="1" dirty="0" smtClean="0">
                <a:latin typeface="Courier New"/>
                <a:cs typeface="Courier New"/>
              </a:rPr>
              <a:t>; ++</a:t>
            </a:r>
            <a:r>
              <a:rPr lang="en-US" b="1" dirty="0" err="1" smtClean="0">
                <a:latin typeface="Courier New"/>
                <a:cs typeface="Courier New"/>
              </a:rPr>
              <a:t>i</a:t>
            </a:r>
            <a:r>
              <a:rPr lang="en-US" b="1" dirty="0" smtClean="0">
                <a:latin typeface="Courier New"/>
                <a:cs typeface="Courier New"/>
              </a:rPr>
              <a:t>)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    for(</a:t>
            </a:r>
            <a:r>
              <a:rPr lang="en-US" b="1" dirty="0" err="1" smtClean="0">
                <a:latin typeface="Courier New"/>
                <a:cs typeface="Courier New"/>
              </a:rPr>
              <a:t>int</a:t>
            </a:r>
            <a:r>
              <a:rPr lang="en-US" b="1" dirty="0" smtClean="0">
                <a:latin typeface="Courier New"/>
                <a:cs typeface="Courier New"/>
              </a:rPr>
              <a:t> j=1; j&lt;</a:t>
            </a:r>
            <a:r>
              <a:rPr lang="en-US" b="1" dirty="0" err="1" smtClean="0">
                <a:latin typeface="Courier New"/>
                <a:cs typeface="Courier New"/>
              </a:rPr>
              <a:t>v.length</a:t>
            </a:r>
            <a:r>
              <a:rPr lang="en-US" b="1" dirty="0" smtClean="0">
                <a:latin typeface="Courier New"/>
                <a:cs typeface="Courier New"/>
              </a:rPr>
              <a:t>; ++j){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      if(v[j-1].</a:t>
            </a:r>
            <a:r>
              <a:rPr lang="en-US" b="1" dirty="0" err="1" smtClean="0">
                <a:latin typeface="Courier New"/>
                <a:cs typeface="Courier New"/>
              </a:rPr>
              <a:t>compareTo</a:t>
            </a:r>
            <a:r>
              <a:rPr lang="en-US" b="1" dirty="0" smtClean="0">
                <a:latin typeface="Courier New"/>
                <a:cs typeface="Courier New"/>
              </a:rPr>
              <a:t>(v[j])&gt;0){ 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 smtClean="0">
                <a:latin typeface="Courier New"/>
                <a:cs typeface="Courier New"/>
              </a:rPr>
              <a:t>          T o=v[</a:t>
            </a:r>
            <a:r>
              <a:rPr lang="en-US" b="1" dirty="0">
                <a:latin typeface="Courier New"/>
                <a:cs typeface="Courier New"/>
              </a:rPr>
              <a:t>j</a:t>
            </a:r>
            <a:r>
              <a:rPr lang="en-US" b="1" dirty="0" smtClean="0">
                <a:latin typeface="Courier New"/>
                <a:cs typeface="Courier New"/>
              </a:rPr>
              <a:t>];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        v[</a:t>
            </a:r>
            <a:r>
              <a:rPr lang="en-US" b="1" dirty="0">
                <a:latin typeface="Courier New"/>
                <a:cs typeface="Courier New"/>
              </a:rPr>
              <a:t>j</a:t>
            </a:r>
            <a:r>
              <a:rPr lang="en-US" b="1" dirty="0" smtClean="0">
                <a:latin typeface="Courier New"/>
                <a:cs typeface="Courier New"/>
              </a:rPr>
              <a:t>]=v[j-1]; 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	</a:t>
            </a:r>
            <a:r>
              <a:rPr lang="en-US" b="1" dirty="0" smtClean="0">
                <a:latin typeface="Courier New"/>
                <a:cs typeface="Courier New"/>
              </a:rPr>
              <a:t>		    v[j-1]=o;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  } }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 smtClean="0">
                <a:latin typeface="Courier New"/>
                <a:cs typeface="Courier New"/>
              </a:rPr>
              <a:t>  }</a:t>
            </a: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508104" y="3933056"/>
            <a:ext cx="3427224" cy="1008112"/>
          </a:xfrm>
          <a:prstGeom prst="wedgeRoundRectCallout">
            <a:avLst>
              <a:gd name="adj1" fmla="val -69905"/>
              <a:gd name="adj2" fmla="val -87032"/>
              <a:gd name="adj3" fmla="val 16667"/>
            </a:avLst>
          </a:prstGeom>
          <a:solidFill>
            <a:srgbClr val="E6E0EC"/>
          </a:solidFill>
          <a:ln w="9360">
            <a:solidFill>
              <a:srgbClr val="8064A2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5857" tIns="45051" rIns="85857" bIns="45051" anchor="ctr"/>
          <a:lstStyle/>
          <a:p>
            <a:pPr algn="ctr">
              <a:lnSpc>
                <a:spcPct val="84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</a:tabLst>
            </a:pPr>
            <a:r>
              <a:rPr lang="en-GB" sz="2400" dirty="0">
                <a:solidFill>
                  <a:srgbClr val="000000"/>
                </a:solidFill>
                <a:cs typeface="Lucida Sans Unicode" charset="0"/>
              </a:rPr>
              <a:t>method </a:t>
            </a:r>
            <a:r>
              <a:rPr lang="en-GB" sz="2400" b="1" dirty="0" err="1" smtClean="0">
                <a:solidFill>
                  <a:srgbClr val="000000"/>
                </a:solidFill>
                <a:latin typeface="Courier New"/>
                <a:cs typeface="Courier New"/>
              </a:rPr>
              <a:t>compareTo</a:t>
            </a:r>
            <a:r>
              <a:rPr lang="en-GB" sz="2400" b="1" dirty="0" smtClean="0">
                <a:solidFill>
                  <a:srgbClr val="000000"/>
                </a:solidFill>
                <a:latin typeface="Courier New"/>
                <a:cs typeface="Courier New"/>
              </a:rPr>
              <a:t>(T)</a:t>
            </a:r>
            <a:r>
              <a:rPr lang="en-GB" sz="2400" dirty="0" smtClean="0">
                <a:solidFill>
                  <a:srgbClr val="000000"/>
                </a:solidFill>
                <a:cs typeface="Lucida Sans Unicode" charset="0"/>
              </a:rPr>
              <a:t> is undefined </a:t>
            </a:r>
            <a:r>
              <a:rPr lang="en-GB" sz="2400" dirty="0">
                <a:solidFill>
                  <a:srgbClr val="000000"/>
                </a:solidFill>
                <a:cs typeface="Lucida Sans Unicode" charset="0"/>
              </a:rPr>
              <a:t>for type T</a:t>
            </a:r>
          </a:p>
        </p:txBody>
      </p:sp>
    </p:spTree>
    <p:extLst>
      <p:ext uri="{BB962C8B-B14F-4D97-AF65-F5344CB8AC3E}">
        <p14:creationId xmlns:p14="http://schemas.microsoft.com/office/powerpoint/2010/main" val="39312057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AutoShape 1"/>
          <p:cNvSpPr>
            <a:spLocks noChangeArrowheads="1"/>
          </p:cNvSpPr>
          <p:nvPr/>
        </p:nvSpPr>
        <p:spPr bwMode="auto">
          <a:xfrm>
            <a:off x="539552" y="2237996"/>
            <a:ext cx="7704856" cy="4143332"/>
          </a:xfrm>
          <a:prstGeom prst="roundRect">
            <a:avLst>
              <a:gd name="adj" fmla="val 42"/>
            </a:avLst>
          </a:prstGeom>
          <a:solidFill>
            <a:srgbClr val="FDEADA"/>
          </a:solidFill>
          <a:ln w="9360">
            <a:solidFill>
              <a:srgbClr val="E46C0A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82918" tIns="41460" rIns="82918" bIns="41460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7520" y="247708"/>
            <a:ext cx="8596800" cy="619265"/>
          </a:xfrm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101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  <a:tab pos="8533237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Unbounded example</a:t>
            </a:r>
            <a:endParaRPr lang="en-GB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5120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121" y="1294696"/>
            <a:ext cx="8215200" cy="5103653"/>
          </a:xfrm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101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b="1" dirty="0" smtClean="0">
                <a:latin typeface="Lucida Sans Unicode" charset="0"/>
                <a:cs typeface="Lucida Sans Unicode" charset="0"/>
              </a:rPr>
              <a:t>A point </a:t>
            </a:r>
            <a:r>
              <a:rPr lang="en-GB" b="1" dirty="0">
                <a:latin typeface="Lucida Sans Unicode" charset="0"/>
                <a:cs typeface="Lucida Sans Unicode" charset="0"/>
              </a:rPr>
              <a:t>with </a:t>
            </a:r>
            <a:r>
              <a:rPr lang="en-GB" b="1" dirty="0" smtClean="0">
                <a:latin typeface="Lucida Sans Unicode" charset="0"/>
                <a:cs typeface="Lucida Sans Unicode" charset="0"/>
              </a:rPr>
              <a:t>varying precision</a:t>
            </a:r>
          </a:p>
          <a:p>
            <a:pPr lvl="1" eaLnBrk="1" hangingPunct="1">
              <a:lnSpc>
                <a:spcPct val="101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endParaRPr lang="en-GB" b="1" dirty="0">
              <a:latin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public class Point&lt;T&gt; 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{</a:t>
            </a:r>
          </a:p>
          <a:p>
            <a:pPr lvl="1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 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 T </a:t>
            </a:r>
            <a:r>
              <a:rPr lang="en-GB" sz="2400" b="1" dirty="0">
                <a:latin typeface="Courier New" charset="0"/>
                <a:cs typeface="Lucida Sans Unicode" charset="0"/>
              </a:rPr>
              <a:t>x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; T </a:t>
            </a:r>
            <a:r>
              <a:rPr lang="en-GB" sz="2400" b="1" dirty="0">
                <a:latin typeface="Courier New" charset="0"/>
                <a:cs typeface="Lucida Sans Unicode" charset="0"/>
              </a:rPr>
              <a:t>y;</a:t>
            </a:r>
          </a:p>
          <a:p>
            <a:pPr lvl="1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  public Point(T x, T y)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{</a:t>
            </a:r>
          </a:p>
          <a:p>
            <a:pPr lvl="1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 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   </a:t>
            </a:r>
            <a:r>
              <a:rPr lang="en-GB" sz="2400" b="1" dirty="0" err="1" smtClean="0">
                <a:latin typeface="Courier New" charset="0"/>
                <a:cs typeface="Lucida Sans Unicode" charset="0"/>
              </a:rPr>
              <a:t>this.x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 </a:t>
            </a:r>
            <a:r>
              <a:rPr lang="en-GB" sz="2400" b="1" dirty="0">
                <a:latin typeface="Courier New" charset="0"/>
                <a:cs typeface="Lucida Sans Unicode" charset="0"/>
              </a:rPr>
              <a:t>= x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; </a:t>
            </a:r>
            <a:r>
              <a:rPr lang="en-GB" sz="2400" b="1" dirty="0" err="1" smtClean="0">
                <a:latin typeface="Courier New" charset="0"/>
                <a:cs typeface="Lucida Sans Unicode" charset="0"/>
              </a:rPr>
              <a:t>this.y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 </a:t>
            </a:r>
            <a:r>
              <a:rPr lang="en-GB" sz="2400" b="1" dirty="0">
                <a:latin typeface="Courier New" charset="0"/>
                <a:cs typeface="Lucida Sans Unicode" charset="0"/>
              </a:rPr>
              <a:t>= y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;</a:t>
            </a:r>
          </a:p>
          <a:p>
            <a:pPr lvl="1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 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 }</a:t>
            </a:r>
          </a:p>
          <a:p>
            <a:pPr lvl="1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 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 public double length(){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400" b="1" dirty="0" smtClean="0">
                <a:latin typeface="Courier New" charset="0"/>
                <a:cs typeface="Lucida Sans Unicode" charset="0"/>
              </a:rPr>
              <a:t>      return </a:t>
            </a:r>
            <a:r>
              <a:rPr lang="en-GB" sz="2400" b="1" dirty="0" err="1" smtClean="0">
                <a:latin typeface="Courier New" charset="0"/>
                <a:cs typeface="Lucida Sans Unicode" charset="0"/>
              </a:rPr>
              <a:t>Math.sqrt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(</a:t>
            </a:r>
            <a:br>
              <a:rPr lang="en-GB" sz="2400" b="1" dirty="0" smtClean="0">
                <a:latin typeface="Courier New" charset="0"/>
                <a:cs typeface="Lucida Sans Unicode" charset="0"/>
              </a:rPr>
            </a:br>
            <a:r>
              <a:rPr lang="en-GB" sz="2400" b="1" dirty="0" smtClean="0">
                <a:latin typeface="Courier New" charset="0"/>
                <a:cs typeface="Lucida Sans Unicode" charset="0"/>
              </a:rPr>
              <a:t>     </a:t>
            </a:r>
            <a:r>
              <a:rPr lang="en-GB" sz="2400" b="1" dirty="0" err="1" smtClean="0">
                <a:latin typeface="Courier New" charset="0"/>
                <a:cs typeface="Lucida Sans Unicode" charset="0"/>
              </a:rPr>
              <a:t>Math.pow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(</a:t>
            </a:r>
            <a:r>
              <a:rPr lang="en-GB" sz="2400" b="1" dirty="0" err="1" smtClean="0">
                <a:latin typeface="Courier New" charset="0"/>
                <a:cs typeface="Lucida Sans Unicode" charset="0"/>
              </a:rPr>
              <a:t>x.doubleValue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(),2)</a:t>
            </a:r>
            <a:br>
              <a:rPr lang="en-GB" sz="2400" b="1" dirty="0" smtClean="0">
                <a:latin typeface="Courier New" charset="0"/>
                <a:cs typeface="Lucida Sans Unicode" charset="0"/>
              </a:rPr>
            </a:br>
            <a:r>
              <a:rPr lang="en-GB" sz="2400" b="1" dirty="0" smtClean="0">
                <a:latin typeface="Courier New" charset="0"/>
                <a:cs typeface="Lucida Sans Unicode" charset="0"/>
              </a:rPr>
              <a:t>     + </a:t>
            </a:r>
            <a:r>
              <a:rPr lang="en-GB" sz="2400" b="1" dirty="0" err="1" smtClean="0">
                <a:latin typeface="Courier New" charset="0"/>
                <a:cs typeface="Lucida Sans Unicode" charset="0"/>
              </a:rPr>
              <a:t>Math.pow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(</a:t>
            </a:r>
            <a:r>
              <a:rPr lang="en-GB" sz="2400" b="1" dirty="0" err="1" smtClean="0">
                <a:latin typeface="Courier New" charset="0"/>
                <a:cs typeface="Lucida Sans Unicode" charset="0"/>
              </a:rPr>
              <a:t>y.doubleValue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(),2) );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400" b="1" dirty="0" smtClean="0">
                <a:latin typeface="Courier New" charset="0"/>
                <a:cs typeface="Lucida Sans Unicode" charset="0"/>
              </a:rPr>
              <a:t>    }</a:t>
            </a:r>
          </a:p>
          <a:p>
            <a:pPr lvl="1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400" b="1" dirty="0" smtClean="0">
                <a:latin typeface="Courier New" charset="0"/>
                <a:cs typeface="Lucida Sans Unicode" charset="0"/>
              </a:rPr>
              <a:t>}</a:t>
            </a:r>
            <a:endParaRPr lang="en-GB" sz="2400" b="1" dirty="0">
              <a:latin typeface="Courier New" charset="0"/>
              <a:cs typeface="Lucida Sans Unicode" charset="0"/>
            </a:endParaRP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5580112" y="5805264"/>
            <a:ext cx="3211200" cy="914496"/>
          </a:xfrm>
          <a:prstGeom prst="wedgeRoundRectCallout">
            <a:avLst>
              <a:gd name="adj1" fmla="val -82005"/>
              <a:gd name="adj2" fmla="val -81891"/>
              <a:gd name="adj3" fmla="val 16667"/>
            </a:avLst>
          </a:prstGeom>
          <a:solidFill>
            <a:srgbClr val="E6E0EC"/>
          </a:solidFill>
          <a:ln w="9360">
            <a:solidFill>
              <a:srgbClr val="8064A2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5857" tIns="45051" rIns="85857" bIns="45051" anchor="ctr"/>
          <a:lstStyle/>
          <a:p>
            <a:pPr algn="ctr">
              <a:lnSpc>
                <a:spcPct val="84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</a:tabLst>
            </a:pPr>
            <a:r>
              <a:rPr lang="en-GB" sz="2400">
                <a:solidFill>
                  <a:srgbClr val="000000"/>
                </a:solidFill>
                <a:cs typeface="Lucida Sans Unicode" charset="0"/>
              </a:rPr>
              <a:t>method undefined for type T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1"/>
          <p:cNvSpPr>
            <a:spLocks noGrp="1" noChangeArrowheads="1"/>
          </p:cNvSpPr>
          <p:nvPr>
            <p:ph type="title"/>
          </p:nvPr>
        </p:nvSpPr>
        <p:spPr/>
        <p:txBody>
          <a:bodyPr lIns="0" tIns="0" rIns="0" bIns="0">
            <a:spAutoFit/>
          </a:bodyPr>
          <a:lstStyle/>
          <a:p>
            <a:pPr eaLnBrk="1" hangingPunct="1">
              <a:lnSpc>
                <a:spcPct val="101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  <a:tab pos="8533237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Bounded types</a:t>
            </a:r>
          </a:p>
        </p:txBody>
      </p:sp>
      <p:sp>
        <p:nvSpPr>
          <p:cNvPr id="55299" name="Rectangle 2"/>
          <p:cNvSpPr>
            <a:spLocks noGrp="1" noChangeArrowheads="1"/>
          </p:cNvSpPr>
          <p:nvPr>
            <p:ph idx="1"/>
          </p:nvPr>
        </p:nvSpPr>
        <p:spPr>
          <a:xfrm>
            <a:off x="609120" y="1294696"/>
            <a:ext cx="8212320" cy="5168465"/>
          </a:xfrm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101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Express </a:t>
            </a:r>
            <a:r>
              <a:rPr lang="en-GB" dirty="0">
                <a:latin typeface="Lucida Sans Unicode" charset="0"/>
                <a:cs typeface="Lucida Sans Unicode" charset="0"/>
              </a:rPr>
              <a:t>constraints 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on type parameters</a:t>
            </a:r>
          </a:p>
          <a:p>
            <a:pPr marL="0" indent="0" algn="ctr" eaLnBrk="1" hangingPunct="1">
              <a:lnSpc>
                <a:spcPct val="101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b="1" dirty="0" smtClean="0">
                <a:latin typeface="Courier New" charset="0"/>
                <a:cs typeface="Lucida Sans Unicode" charset="0"/>
              </a:rPr>
              <a:t>&lt;</a:t>
            </a:r>
            <a:r>
              <a:rPr lang="en-GB" b="1" dirty="0">
                <a:latin typeface="Courier New" charset="0"/>
                <a:cs typeface="Lucida Sans Unicode" charset="0"/>
              </a:rPr>
              <a:t>T </a:t>
            </a:r>
            <a:r>
              <a:rPr lang="en-GB" b="1" dirty="0">
                <a:solidFill>
                  <a:srgbClr val="FF6633"/>
                </a:solidFill>
                <a:latin typeface="Courier New" charset="0"/>
                <a:cs typeface="Lucida Sans Unicode" charset="0"/>
              </a:rPr>
              <a:t>extends</a:t>
            </a:r>
            <a:r>
              <a:rPr lang="en-GB" b="1" dirty="0">
                <a:latin typeface="Courier New" charset="0"/>
                <a:cs typeface="Lucida Sans Unicode" charset="0"/>
              </a:rPr>
              <a:t> B1 </a:t>
            </a:r>
            <a:r>
              <a:rPr lang="en-GB" b="1" i="1" dirty="0">
                <a:solidFill>
                  <a:schemeClr val="accent4"/>
                </a:solidFill>
                <a:latin typeface="Courier New" charset="0"/>
                <a:cs typeface="Lucida Sans Unicode" charset="0"/>
              </a:rPr>
              <a:t>{</a:t>
            </a:r>
            <a:r>
              <a:rPr lang="en-GB" b="1" i="1" dirty="0">
                <a:solidFill>
                  <a:srgbClr val="00FF00"/>
                </a:solidFill>
                <a:latin typeface="Courier New" charset="0"/>
                <a:cs typeface="Lucida Sans Unicode" charset="0"/>
              </a:rPr>
              <a:t> </a:t>
            </a:r>
            <a:r>
              <a:rPr lang="en-GB" b="1" dirty="0">
                <a:solidFill>
                  <a:srgbClr val="FF6633"/>
                </a:solidFill>
                <a:latin typeface="Courier New" charset="0"/>
                <a:cs typeface="Lucida Sans Unicode" charset="0"/>
              </a:rPr>
              <a:t>&amp;</a:t>
            </a:r>
            <a:r>
              <a:rPr lang="en-GB" b="1" dirty="0">
                <a:latin typeface="Courier New" charset="0"/>
                <a:cs typeface="Lucida Sans Unicode" charset="0"/>
              </a:rPr>
              <a:t> B2 </a:t>
            </a:r>
            <a:r>
              <a:rPr lang="en-GB" b="1" i="1" dirty="0">
                <a:solidFill>
                  <a:srgbClr val="8064A2"/>
                </a:solidFill>
                <a:latin typeface="Courier New" charset="0"/>
                <a:cs typeface="Lucida Sans Unicode" charset="0"/>
              </a:rPr>
              <a:t>}</a:t>
            </a:r>
            <a:r>
              <a:rPr lang="en-GB" b="1" dirty="0">
                <a:latin typeface="Courier New" charset="0"/>
                <a:cs typeface="Lucida Sans Unicode" charset="0"/>
              </a:rPr>
              <a:t> &gt;</a:t>
            </a:r>
          </a:p>
          <a:p>
            <a:pPr lvl="1" eaLnBrk="1" hangingPunct="1">
              <a:lnSpc>
                <a:spcPct val="105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class </a:t>
            </a:r>
            <a:r>
              <a:rPr lang="en-GB" sz="2900" b="1" dirty="0" smtClean="0">
                <a:latin typeface="Courier New" charset="0"/>
                <a:ea typeface="ＭＳ Ｐゴシック" charset="0"/>
                <a:cs typeface="Lucida Sans Unicode" charset="0"/>
              </a:rPr>
              <a:t>T</a:t>
            </a: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 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can be </a:t>
            </a: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replaced 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only with types </a:t>
            </a: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extending from </a:t>
            </a:r>
            <a:r>
              <a:rPr lang="en-GB" sz="2900" b="1" dirty="0">
                <a:latin typeface="Courier New" charset="0"/>
                <a:ea typeface="ＭＳ Ｐゴシック" charset="0"/>
                <a:cs typeface="Lucida Sans Unicode" charset="0"/>
              </a:rPr>
              <a:t>B1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 (and </a:t>
            </a:r>
            <a:r>
              <a:rPr lang="en-GB" sz="2900" b="1" dirty="0">
                <a:latin typeface="Courier New" charset="0"/>
                <a:ea typeface="ＭＳ Ｐゴシック" charset="0"/>
                <a:cs typeface="Lucida Sans Unicode" charset="0"/>
              </a:rPr>
              <a:t>B2</a:t>
            </a: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, 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etc.</a:t>
            </a: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) including </a:t>
            </a:r>
            <a:r>
              <a:rPr lang="en-GB" sz="2900" b="1" dirty="0">
                <a:latin typeface="Courier New" charset="0"/>
                <a:ea typeface="ＭＳ Ｐゴシック" charset="0"/>
                <a:cs typeface="Lucida Sans Unicode" charset="0"/>
              </a:rPr>
              <a:t>B1</a:t>
            </a:r>
          </a:p>
          <a:p>
            <a:pPr lvl="2" eaLnBrk="1" hangingPunct="1">
              <a:lnSpc>
                <a:spcPct val="105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900" b="1" dirty="0">
                <a:latin typeface="Courier New" charset="0"/>
                <a:ea typeface="ＭＳ Ｐゴシック" charset="0"/>
                <a:cs typeface="Lucida Sans Unicode" charset="0"/>
              </a:rPr>
              <a:t>B1</a:t>
            </a: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 is an </a:t>
            </a:r>
            <a:r>
              <a:rPr lang="en-GB" b="1" dirty="0" smtClean="0">
                <a:solidFill>
                  <a:srgbClr val="FF6600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upper </a:t>
            </a:r>
            <a:r>
              <a:rPr lang="en-GB" b="1" dirty="0">
                <a:solidFill>
                  <a:srgbClr val="FF6600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bound</a:t>
            </a:r>
          </a:p>
          <a:p>
            <a:pPr algn="ctr"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b="1" dirty="0" smtClean="0">
                <a:latin typeface="Courier New" charset="0"/>
                <a:cs typeface="Lucida Sans Unicode" charset="0"/>
              </a:rPr>
              <a:t>&lt;</a:t>
            </a:r>
            <a:r>
              <a:rPr lang="en-GB" b="1" dirty="0">
                <a:latin typeface="Courier New" charset="0"/>
                <a:cs typeface="Lucida Sans Unicode" charset="0"/>
              </a:rPr>
              <a:t>T </a:t>
            </a:r>
            <a:r>
              <a:rPr lang="en-GB" b="1" dirty="0">
                <a:solidFill>
                  <a:srgbClr val="FF6633"/>
                </a:solidFill>
                <a:latin typeface="Courier New" charset="0"/>
                <a:cs typeface="Lucida Sans Unicode" charset="0"/>
              </a:rPr>
              <a:t>super</a:t>
            </a:r>
            <a:r>
              <a:rPr lang="en-GB" b="1" dirty="0">
                <a:latin typeface="Courier New" charset="0"/>
                <a:cs typeface="Lucida Sans Unicode" charset="0"/>
              </a:rPr>
              <a:t> D &gt;</a:t>
            </a:r>
          </a:p>
          <a:p>
            <a:pPr lvl="1" eaLnBrk="1" hangingPunct="1">
              <a:lnSpc>
                <a:spcPct val="105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class </a:t>
            </a:r>
            <a:r>
              <a:rPr lang="en-GB" sz="2900" b="1" dirty="0" smtClean="0">
                <a:latin typeface="Courier New" charset="0"/>
                <a:ea typeface="ＭＳ Ｐゴシック" charset="0"/>
                <a:cs typeface="Lucida Sans Unicode" charset="0"/>
              </a:rPr>
              <a:t>T</a:t>
            </a: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 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can be </a:t>
            </a: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replaced only 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with types that are super classes of </a:t>
            </a:r>
            <a:r>
              <a:rPr lang="en-GB" sz="2900" b="1" dirty="0">
                <a:latin typeface="Courier New" charset="0"/>
                <a:ea typeface="ＭＳ Ｐゴシック" charset="0"/>
                <a:cs typeface="Lucida Sans Unicode" charset="0"/>
              </a:rPr>
              <a:t>D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, including </a:t>
            </a:r>
            <a:r>
              <a:rPr lang="en-GB" sz="2900" b="1" dirty="0">
                <a:latin typeface="Courier New" charset="0"/>
                <a:ea typeface="ＭＳ Ｐゴシック" charset="0"/>
                <a:cs typeface="Lucida Sans Unicode" charset="0"/>
              </a:rPr>
              <a:t>D</a:t>
            </a:r>
          </a:p>
          <a:p>
            <a:pPr lvl="2" eaLnBrk="1" hangingPunct="1">
              <a:lnSpc>
                <a:spcPct val="105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900" b="1" dirty="0">
                <a:latin typeface="Courier New" charset="0"/>
                <a:ea typeface="ＭＳ Ｐゴシック" charset="0"/>
                <a:cs typeface="Lucida Sans Unicode" charset="0"/>
              </a:rPr>
              <a:t>D</a:t>
            </a: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 is a </a:t>
            </a:r>
            <a:r>
              <a:rPr lang="en-GB" dirty="0" smtClean="0">
                <a:solidFill>
                  <a:srgbClr val="FF6600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lower </a:t>
            </a:r>
            <a:r>
              <a:rPr lang="en-GB" dirty="0">
                <a:solidFill>
                  <a:srgbClr val="FF6600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bound</a:t>
            </a:r>
          </a:p>
          <a:p>
            <a:pPr lvl="1" eaLnBrk="1" hangingPunct="1">
              <a:lnSpc>
                <a:spcPct val="105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endParaRPr lang="en-GB" dirty="0">
              <a:latin typeface="Lucida Sans Unicode" charset="0"/>
              <a:ea typeface="Lucida Sans Unicode" charset="0"/>
              <a:cs typeface="Lucida Sans Unicode" charset="0"/>
            </a:endParaRP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467544" y="1196752"/>
            <a:ext cx="8352928" cy="47525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0360" tIns="44280" rIns="90360" bIns="442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894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Lucida Sans Unicode" charset="0"/>
                <a:cs typeface="Lucida Sans Unicode" charset="0"/>
              </a:rPr>
              <a:t>Bounded generic sorting</a:t>
            </a:r>
            <a:endParaRPr lang="en-US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Font typeface="Wingdings" charset="0"/>
              <a:buNone/>
              <a:defRPr/>
            </a:pPr>
            <a:r>
              <a:rPr lang="en-US" b="1" dirty="0" smtClean="0">
                <a:latin typeface="Courier New"/>
                <a:cs typeface="Courier New"/>
              </a:rPr>
              <a:t>  public static &lt;T </a:t>
            </a:r>
            <a:r>
              <a:rPr lang="en-US" b="1" dirty="0" smtClean="0">
                <a:solidFill>
                  <a:srgbClr val="FF6600"/>
                </a:solidFill>
                <a:latin typeface="Courier New"/>
                <a:cs typeface="Courier New"/>
              </a:rPr>
              <a:t>extends Comparable</a:t>
            </a:r>
            <a:r>
              <a:rPr lang="en-US" b="1" dirty="0" smtClean="0">
                <a:latin typeface="Courier New"/>
                <a:cs typeface="Courier New"/>
              </a:rPr>
              <a:t>&gt; 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void </a:t>
            </a:r>
            <a:r>
              <a:rPr lang="en-US" b="1" dirty="0" smtClean="0">
                <a:solidFill>
                  <a:srgbClr val="FF6600"/>
                </a:solidFill>
                <a:latin typeface="Courier New"/>
                <a:cs typeface="Courier New"/>
              </a:rPr>
              <a:t>sort</a:t>
            </a:r>
            <a:r>
              <a:rPr lang="en-US" b="1" dirty="0" smtClean="0">
                <a:latin typeface="Courier New"/>
                <a:cs typeface="Courier New"/>
              </a:rPr>
              <a:t>(T v[]){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  for(</a:t>
            </a:r>
            <a:r>
              <a:rPr lang="en-US" b="1" dirty="0" err="1" smtClean="0">
                <a:latin typeface="Courier New"/>
                <a:cs typeface="Courier New"/>
              </a:rPr>
              <a:t>int</a:t>
            </a:r>
            <a:r>
              <a:rPr lang="en-US" b="1" dirty="0" smtClean="0">
                <a:latin typeface="Courier New"/>
                <a:cs typeface="Courier New"/>
              </a:rPr>
              <a:t> </a:t>
            </a:r>
            <a:r>
              <a:rPr lang="en-US" b="1" dirty="0" err="1" smtClean="0">
                <a:latin typeface="Courier New"/>
                <a:cs typeface="Courier New"/>
              </a:rPr>
              <a:t>i</a:t>
            </a:r>
            <a:r>
              <a:rPr lang="en-US" b="1" dirty="0" smtClean="0">
                <a:latin typeface="Courier New"/>
                <a:cs typeface="Courier New"/>
              </a:rPr>
              <a:t>=1; </a:t>
            </a:r>
            <a:r>
              <a:rPr lang="en-US" b="1" dirty="0" err="1" smtClean="0">
                <a:latin typeface="Courier New"/>
                <a:cs typeface="Courier New"/>
              </a:rPr>
              <a:t>i</a:t>
            </a:r>
            <a:r>
              <a:rPr lang="en-US" b="1" dirty="0" smtClean="0">
                <a:latin typeface="Courier New"/>
                <a:cs typeface="Courier New"/>
              </a:rPr>
              <a:t>&lt;</a:t>
            </a:r>
            <a:r>
              <a:rPr lang="en-US" b="1" dirty="0" err="1" smtClean="0">
                <a:latin typeface="Courier New"/>
                <a:cs typeface="Courier New"/>
              </a:rPr>
              <a:t>v.length</a:t>
            </a:r>
            <a:r>
              <a:rPr lang="en-US" b="1" dirty="0" smtClean="0">
                <a:latin typeface="Courier New"/>
                <a:cs typeface="Courier New"/>
              </a:rPr>
              <a:t>; ++</a:t>
            </a:r>
            <a:r>
              <a:rPr lang="en-US" b="1" dirty="0" err="1" smtClean="0">
                <a:latin typeface="Courier New"/>
                <a:cs typeface="Courier New"/>
              </a:rPr>
              <a:t>i</a:t>
            </a:r>
            <a:r>
              <a:rPr lang="en-US" b="1" dirty="0" smtClean="0">
                <a:latin typeface="Courier New"/>
                <a:cs typeface="Courier New"/>
              </a:rPr>
              <a:t>)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    for(</a:t>
            </a:r>
            <a:r>
              <a:rPr lang="en-US" b="1" dirty="0" err="1" smtClean="0">
                <a:latin typeface="Courier New"/>
                <a:cs typeface="Courier New"/>
              </a:rPr>
              <a:t>int</a:t>
            </a:r>
            <a:r>
              <a:rPr lang="en-US" b="1" dirty="0" smtClean="0">
                <a:latin typeface="Courier New"/>
                <a:cs typeface="Courier New"/>
              </a:rPr>
              <a:t> j=1; j&lt;</a:t>
            </a:r>
            <a:r>
              <a:rPr lang="en-US" b="1" dirty="0" err="1" smtClean="0">
                <a:latin typeface="Courier New"/>
                <a:cs typeface="Courier New"/>
              </a:rPr>
              <a:t>v.length</a:t>
            </a:r>
            <a:r>
              <a:rPr lang="en-US" b="1" dirty="0" smtClean="0">
                <a:latin typeface="Courier New"/>
                <a:cs typeface="Courier New"/>
              </a:rPr>
              <a:t>; ++j){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      if(v[j-1].</a:t>
            </a:r>
            <a:r>
              <a:rPr lang="en-US" b="1" dirty="0" err="1" smtClean="0">
                <a:latin typeface="Courier New"/>
                <a:cs typeface="Courier New"/>
              </a:rPr>
              <a:t>compareTo</a:t>
            </a:r>
            <a:r>
              <a:rPr lang="en-US" b="1" dirty="0" smtClean="0">
                <a:latin typeface="Courier New"/>
                <a:cs typeface="Courier New"/>
              </a:rPr>
              <a:t>(v[j])&gt;0){ 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 smtClean="0">
                <a:latin typeface="Courier New"/>
                <a:cs typeface="Courier New"/>
              </a:rPr>
              <a:t>          T o=v[</a:t>
            </a:r>
            <a:r>
              <a:rPr lang="en-US" b="1" dirty="0">
                <a:latin typeface="Courier New"/>
                <a:cs typeface="Courier New"/>
              </a:rPr>
              <a:t>j</a:t>
            </a:r>
            <a:r>
              <a:rPr lang="en-US" b="1" dirty="0" smtClean="0">
                <a:latin typeface="Courier New"/>
                <a:cs typeface="Courier New"/>
              </a:rPr>
              <a:t>];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        v[</a:t>
            </a:r>
            <a:r>
              <a:rPr lang="en-US" b="1" dirty="0">
                <a:latin typeface="Courier New"/>
                <a:cs typeface="Courier New"/>
              </a:rPr>
              <a:t>j</a:t>
            </a:r>
            <a:r>
              <a:rPr lang="en-US" b="1" dirty="0" smtClean="0">
                <a:latin typeface="Courier New"/>
                <a:cs typeface="Courier New"/>
              </a:rPr>
              <a:t>]=v[j-1]; 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	</a:t>
            </a:r>
            <a:r>
              <a:rPr lang="en-US" b="1" dirty="0" smtClean="0">
                <a:latin typeface="Courier New"/>
                <a:cs typeface="Courier New"/>
              </a:rPr>
              <a:t>		    v[j-1]=o;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  } }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 smtClean="0">
                <a:latin typeface="Courier New"/>
                <a:cs typeface="Courier New"/>
              </a:rPr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12456456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467544" y="1196752"/>
            <a:ext cx="8352928" cy="47525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0360" tIns="44280" rIns="90360" bIns="442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894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Lucida Sans Unicode" charset="0"/>
                <a:cs typeface="Lucida Sans Unicode" charset="0"/>
              </a:rPr>
              <a:t>Bounded generic sorting</a:t>
            </a:r>
            <a:endParaRPr lang="en-US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Font typeface="Wingdings" charset="0"/>
              <a:buNone/>
              <a:defRPr/>
            </a:pPr>
            <a:r>
              <a:rPr lang="en-US" b="1" dirty="0" smtClean="0">
                <a:latin typeface="Courier New"/>
                <a:cs typeface="Courier New"/>
              </a:rPr>
              <a:t>  public static &lt;T </a:t>
            </a:r>
            <a:r>
              <a:rPr lang="en-US" b="1" dirty="0" smtClean="0">
                <a:solidFill>
                  <a:srgbClr val="FF6600"/>
                </a:solidFill>
                <a:latin typeface="Courier New"/>
                <a:cs typeface="Courier New"/>
              </a:rPr>
              <a:t>extends Comparable</a:t>
            </a:r>
            <a:r>
              <a:rPr lang="en-US" b="1" dirty="0" smtClean="0">
                <a:solidFill>
                  <a:schemeClr val="accent4"/>
                </a:solidFill>
                <a:latin typeface="Courier New"/>
                <a:cs typeface="Courier New"/>
              </a:rPr>
              <a:t>&lt;T&gt;</a:t>
            </a:r>
            <a:r>
              <a:rPr lang="en-US" b="1" dirty="0" smtClean="0">
                <a:latin typeface="Courier New"/>
                <a:cs typeface="Courier New"/>
              </a:rPr>
              <a:t>&gt; 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void </a:t>
            </a:r>
            <a:r>
              <a:rPr lang="en-US" b="1" dirty="0" smtClean="0">
                <a:solidFill>
                  <a:srgbClr val="FF6600"/>
                </a:solidFill>
                <a:latin typeface="Courier New"/>
                <a:cs typeface="Courier New"/>
              </a:rPr>
              <a:t>sort</a:t>
            </a:r>
            <a:r>
              <a:rPr lang="en-US" b="1" dirty="0" smtClean="0">
                <a:latin typeface="Courier New"/>
                <a:cs typeface="Courier New"/>
              </a:rPr>
              <a:t>(T v[]){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  for(</a:t>
            </a:r>
            <a:r>
              <a:rPr lang="en-US" b="1" dirty="0" err="1" smtClean="0">
                <a:latin typeface="Courier New"/>
                <a:cs typeface="Courier New"/>
              </a:rPr>
              <a:t>int</a:t>
            </a:r>
            <a:r>
              <a:rPr lang="en-US" b="1" dirty="0" smtClean="0">
                <a:latin typeface="Courier New"/>
                <a:cs typeface="Courier New"/>
              </a:rPr>
              <a:t> </a:t>
            </a:r>
            <a:r>
              <a:rPr lang="en-US" b="1" dirty="0" err="1" smtClean="0">
                <a:latin typeface="Courier New"/>
                <a:cs typeface="Courier New"/>
              </a:rPr>
              <a:t>i</a:t>
            </a:r>
            <a:r>
              <a:rPr lang="en-US" b="1" dirty="0" smtClean="0">
                <a:latin typeface="Courier New"/>
                <a:cs typeface="Courier New"/>
              </a:rPr>
              <a:t>=1; </a:t>
            </a:r>
            <a:r>
              <a:rPr lang="en-US" b="1" dirty="0" err="1" smtClean="0">
                <a:latin typeface="Courier New"/>
                <a:cs typeface="Courier New"/>
              </a:rPr>
              <a:t>i</a:t>
            </a:r>
            <a:r>
              <a:rPr lang="en-US" b="1" dirty="0" smtClean="0">
                <a:latin typeface="Courier New"/>
                <a:cs typeface="Courier New"/>
              </a:rPr>
              <a:t>&lt;</a:t>
            </a:r>
            <a:r>
              <a:rPr lang="en-US" b="1" dirty="0" err="1" smtClean="0">
                <a:latin typeface="Courier New"/>
                <a:cs typeface="Courier New"/>
              </a:rPr>
              <a:t>v.length</a:t>
            </a:r>
            <a:r>
              <a:rPr lang="en-US" b="1" dirty="0" smtClean="0">
                <a:latin typeface="Courier New"/>
                <a:cs typeface="Courier New"/>
              </a:rPr>
              <a:t>; ++</a:t>
            </a:r>
            <a:r>
              <a:rPr lang="en-US" b="1" dirty="0" err="1" smtClean="0">
                <a:latin typeface="Courier New"/>
                <a:cs typeface="Courier New"/>
              </a:rPr>
              <a:t>i</a:t>
            </a:r>
            <a:r>
              <a:rPr lang="en-US" b="1" dirty="0" smtClean="0">
                <a:latin typeface="Courier New"/>
                <a:cs typeface="Courier New"/>
              </a:rPr>
              <a:t>)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    for(</a:t>
            </a:r>
            <a:r>
              <a:rPr lang="en-US" b="1" dirty="0" err="1" smtClean="0">
                <a:latin typeface="Courier New"/>
                <a:cs typeface="Courier New"/>
              </a:rPr>
              <a:t>int</a:t>
            </a:r>
            <a:r>
              <a:rPr lang="en-US" b="1" dirty="0" smtClean="0">
                <a:latin typeface="Courier New"/>
                <a:cs typeface="Courier New"/>
              </a:rPr>
              <a:t> j=1; j&lt;</a:t>
            </a:r>
            <a:r>
              <a:rPr lang="en-US" b="1" dirty="0" err="1" smtClean="0">
                <a:latin typeface="Courier New"/>
                <a:cs typeface="Courier New"/>
              </a:rPr>
              <a:t>v.length</a:t>
            </a:r>
            <a:r>
              <a:rPr lang="en-US" b="1" dirty="0" smtClean="0">
                <a:latin typeface="Courier New"/>
                <a:cs typeface="Courier New"/>
              </a:rPr>
              <a:t>; ++j){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      if(v[j-1].</a:t>
            </a:r>
            <a:r>
              <a:rPr lang="en-US" b="1" dirty="0" err="1" smtClean="0">
                <a:latin typeface="Courier New"/>
                <a:cs typeface="Courier New"/>
              </a:rPr>
              <a:t>compareTo</a:t>
            </a:r>
            <a:r>
              <a:rPr lang="en-US" b="1" dirty="0" smtClean="0">
                <a:latin typeface="Courier New"/>
                <a:cs typeface="Courier New"/>
              </a:rPr>
              <a:t>(v[j])&gt;0){ 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 smtClean="0">
                <a:latin typeface="Courier New"/>
                <a:cs typeface="Courier New"/>
              </a:rPr>
              <a:t>          T o=v[</a:t>
            </a:r>
            <a:r>
              <a:rPr lang="en-US" b="1" dirty="0">
                <a:latin typeface="Courier New"/>
                <a:cs typeface="Courier New"/>
              </a:rPr>
              <a:t>j</a:t>
            </a:r>
            <a:r>
              <a:rPr lang="en-US" b="1" dirty="0" smtClean="0">
                <a:latin typeface="Courier New"/>
                <a:cs typeface="Courier New"/>
              </a:rPr>
              <a:t>];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        v[</a:t>
            </a:r>
            <a:r>
              <a:rPr lang="en-US" b="1" dirty="0">
                <a:latin typeface="Courier New"/>
                <a:cs typeface="Courier New"/>
              </a:rPr>
              <a:t>j</a:t>
            </a:r>
            <a:r>
              <a:rPr lang="en-US" b="1" dirty="0" smtClean="0">
                <a:latin typeface="Courier New"/>
                <a:cs typeface="Courier New"/>
              </a:rPr>
              <a:t>]=v[j-1]; 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	</a:t>
            </a:r>
            <a:r>
              <a:rPr lang="en-US" b="1" dirty="0" smtClean="0">
                <a:latin typeface="Courier New"/>
                <a:cs typeface="Courier New"/>
              </a:rPr>
              <a:t>		    v[j-1]=o;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  } }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 smtClean="0">
                <a:latin typeface="Courier New"/>
                <a:cs typeface="Courier New"/>
              </a:rPr>
              <a:t>  }</a:t>
            </a:r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>
            <a:off x="5416536" y="332656"/>
            <a:ext cx="3744416" cy="792088"/>
          </a:xfrm>
          <a:prstGeom prst="wedgeRoundRectCallout">
            <a:avLst>
              <a:gd name="adj1" fmla="val 14534"/>
              <a:gd name="adj2" fmla="val 83091"/>
              <a:gd name="adj3" fmla="val 16667"/>
            </a:avLst>
          </a:prstGeom>
          <a:solidFill>
            <a:srgbClr val="E6E0EC"/>
          </a:solidFill>
          <a:ln w="9360">
            <a:solidFill>
              <a:srgbClr val="8064A2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5857" tIns="45051" rIns="85857" bIns="45051" anchor="ctr"/>
          <a:lstStyle/>
          <a:p>
            <a:pPr algn="ctr">
              <a:lnSpc>
                <a:spcPct val="84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</a:tabLst>
            </a:pPr>
            <a:r>
              <a:rPr lang="en-GB" sz="2400" dirty="0" smtClean="0">
                <a:solidFill>
                  <a:srgbClr val="000000"/>
                </a:solidFill>
                <a:cs typeface="Lucida Sans Unicode" charset="0"/>
              </a:rPr>
              <a:t>Since Comparable is a generic interface itself</a:t>
            </a:r>
            <a:endParaRPr lang="en-GB" sz="2400" dirty="0">
              <a:solidFill>
                <a:srgbClr val="000000"/>
              </a:solidFill>
              <a:cs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25862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467544" y="1196752"/>
            <a:ext cx="8352928" cy="47525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0360" tIns="44280" rIns="90360" bIns="442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894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Lucida Sans Unicode" charset="0"/>
                <a:cs typeface="Lucida Sans Unicode" charset="0"/>
              </a:rPr>
              <a:t>Bounded comparator</a:t>
            </a:r>
            <a:endParaRPr lang="en-US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Font typeface="Wingdings" charset="0"/>
              <a:buNone/>
              <a:defRPr/>
            </a:pPr>
            <a:r>
              <a:rPr lang="en-US" b="1" dirty="0" smtClean="0">
                <a:latin typeface="Courier New"/>
                <a:cs typeface="Courier New"/>
              </a:rPr>
              <a:t> public static &lt;T,E </a:t>
            </a:r>
            <a:r>
              <a:rPr lang="en-US" b="1" dirty="0" smtClean="0">
                <a:solidFill>
                  <a:srgbClr val="FF6600"/>
                </a:solidFill>
                <a:latin typeface="Courier New"/>
                <a:cs typeface="Courier New"/>
              </a:rPr>
              <a:t>extends Comparator</a:t>
            </a:r>
            <a:r>
              <a:rPr lang="en-US" b="1" dirty="0" smtClean="0">
                <a:solidFill>
                  <a:schemeClr val="accent4"/>
                </a:solidFill>
                <a:latin typeface="Courier New"/>
                <a:cs typeface="Courier New"/>
              </a:rPr>
              <a:t>&lt;T&gt;</a:t>
            </a:r>
            <a:r>
              <a:rPr lang="en-US" b="1" dirty="0" smtClean="0">
                <a:latin typeface="Courier New"/>
                <a:cs typeface="Courier New"/>
              </a:rPr>
              <a:t>&gt; 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void </a:t>
            </a:r>
            <a:r>
              <a:rPr lang="en-US" b="1" dirty="0" smtClean="0">
                <a:solidFill>
                  <a:srgbClr val="FF6600"/>
                </a:solidFill>
                <a:latin typeface="Courier New"/>
                <a:cs typeface="Courier New"/>
              </a:rPr>
              <a:t>sort</a:t>
            </a:r>
            <a:r>
              <a:rPr lang="en-US" b="1" dirty="0" smtClean="0">
                <a:latin typeface="Courier New"/>
                <a:cs typeface="Courier New"/>
              </a:rPr>
              <a:t>(T v[], E </a:t>
            </a:r>
            <a:r>
              <a:rPr lang="en-US" b="1" dirty="0" err="1" smtClean="0">
                <a:latin typeface="Courier New"/>
                <a:cs typeface="Courier New"/>
              </a:rPr>
              <a:t>cmp</a:t>
            </a:r>
            <a:r>
              <a:rPr lang="en-US" b="1" dirty="0" smtClean="0">
                <a:latin typeface="Courier New"/>
                <a:cs typeface="Courier New"/>
              </a:rPr>
              <a:t>){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  for(</a:t>
            </a:r>
            <a:r>
              <a:rPr lang="en-US" b="1" dirty="0" err="1" smtClean="0">
                <a:latin typeface="Courier New"/>
                <a:cs typeface="Courier New"/>
              </a:rPr>
              <a:t>int</a:t>
            </a:r>
            <a:r>
              <a:rPr lang="en-US" b="1" dirty="0" smtClean="0">
                <a:latin typeface="Courier New"/>
                <a:cs typeface="Courier New"/>
              </a:rPr>
              <a:t> </a:t>
            </a:r>
            <a:r>
              <a:rPr lang="en-US" b="1" dirty="0" err="1" smtClean="0">
                <a:latin typeface="Courier New"/>
                <a:cs typeface="Courier New"/>
              </a:rPr>
              <a:t>i</a:t>
            </a:r>
            <a:r>
              <a:rPr lang="en-US" b="1" dirty="0" smtClean="0">
                <a:latin typeface="Courier New"/>
                <a:cs typeface="Courier New"/>
              </a:rPr>
              <a:t>=1; </a:t>
            </a:r>
            <a:r>
              <a:rPr lang="en-US" b="1" dirty="0" err="1" smtClean="0">
                <a:latin typeface="Courier New"/>
                <a:cs typeface="Courier New"/>
              </a:rPr>
              <a:t>i</a:t>
            </a:r>
            <a:r>
              <a:rPr lang="en-US" b="1" dirty="0" smtClean="0">
                <a:latin typeface="Courier New"/>
                <a:cs typeface="Courier New"/>
              </a:rPr>
              <a:t>&lt;</a:t>
            </a:r>
            <a:r>
              <a:rPr lang="en-US" b="1" dirty="0" err="1" smtClean="0">
                <a:latin typeface="Courier New"/>
                <a:cs typeface="Courier New"/>
              </a:rPr>
              <a:t>v.length</a:t>
            </a:r>
            <a:r>
              <a:rPr lang="en-US" b="1" dirty="0" smtClean="0">
                <a:latin typeface="Courier New"/>
                <a:cs typeface="Courier New"/>
              </a:rPr>
              <a:t>; ++</a:t>
            </a:r>
            <a:r>
              <a:rPr lang="en-US" b="1" dirty="0" err="1" smtClean="0">
                <a:latin typeface="Courier New"/>
                <a:cs typeface="Courier New"/>
              </a:rPr>
              <a:t>i</a:t>
            </a:r>
            <a:r>
              <a:rPr lang="en-US" b="1" dirty="0" smtClean="0">
                <a:latin typeface="Courier New"/>
                <a:cs typeface="Courier New"/>
              </a:rPr>
              <a:t>)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    for(</a:t>
            </a:r>
            <a:r>
              <a:rPr lang="en-US" b="1" dirty="0" err="1" smtClean="0">
                <a:latin typeface="Courier New"/>
                <a:cs typeface="Courier New"/>
              </a:rPr>
              <a:t>int</a:t>
            </a:r>
            <a:r>
              <a:rPr lang="en-US" b="1" dirty="0" smtClean="0">
                <a:latin typeface="Courier New"/>
                <a:cs typeface="Courier New"/>
              </a:rPr>
              <a:t> j=1; j&lt;</a:t>
            </a:r>
            <a:r>
              <a:rPr lang="en-US" b="1" dirty="0" err="1" smtClean="0">
                <a:latin typeface="Courier New"/>
                <a:cs typeface="Courier New"/>
              </a:rPr>
              <a:t>v.length</a:t>
            </a:r>
            <a:r>
              <a:rPr lang="en-US" b="1" dirty="0" smtClean="0">
                <a:latin typeface="Courier New"/>
                <a:cs typeface="Courier New"/>
              </a:rPr>
              <a:t>; ++j){</a:t>
            </a:r>
          </a:p>
          <a:p>
            <a:pPr marL="0" indent="0"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      if(</a:t>
            </a:r>
            <a:r>
              <a:rPr lang="en-US" b="1" dirty="0" err="1" smtClean="0">
                <a:latin typeface="Courier New"/>
                <a:cs typeface="Courier New"/>
              </a:rPr>
              <a:t>cmp.compare</a:t>
            </a:r>
            <a:r>
              <a:rPr lang="en-US" b="1" dirty="0">
                <a:latin typeface="Courier New"/>
                <a:cs typeface="Courier New"/>
              </a:rPr>
              <a:t>(v[j-1</a:t>
            </a:r>
            <a:r>
              <a:rPr lang="en-US" b="1" dirty="0" smtClean="0">
                <a:latin typeface="Courier New"/>
                <a:cs typeface="Courier New"/>
              </a:rPr>
              <a:t>],v[j])&gt;0){ 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 smtClean="0">
                <a:latin typeface="Courier New"/>
                <a:cs typeface="Courier New"/>
              </a:rPr>
              <a:t>          T o=v[</a:t>
            </a:r>
            <a:r>
              <a:rPr lang="en-US" b="1" dirty="0">
                <a:latin typeface="Courier New"/>
                <a:cs typeface="Courier New"/>
              </a:rPr>
              <a:t>j</a:t>
            </a:r>
            <a:r>
              <a:rPr lang="en-US" b="1" dirty="0" smtClean="0">
                <a:latin typeface="Courier New"/>
                <a:cs typeface="Courier New"/>
              </a:rPr>
              <a:t>];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        v[</a:t>
            </a:r>
            <a:r>
              <a:rPr lang="en-US" b="1" dirty="0">
                <a:latin typeface="Courier New"/>
                <a:cs typeface="Courier New"/>
              </a:rPr>
              <a:t>j</a:t>
            </a:r>
            <a:r>
              <a:rPr lang="en-US" b="1" dirty="0" smtClean="0">
                <a:latin typeface="Courier New"/>
                <a:cs typeface="Courier New"/>
              </a:rPr>
              <a:t>]=v[j-1]; 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	</a:t>
            </a:r>
            <a:r>
              <a:rPr lang="en-US" b="1" dirty="0" smtClean="0">
                <a:latin typeface="Courier New"/>
                <a:cs typeface="Courier New"/>
              </a:rPr>
              <a:t>		    v[j-1]=o;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  } }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565676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467544" y="1196752"/>
            <a:ext cx="8352928" cy="47525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0360" tIns="44280" rIns="90360" bIns="442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894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Lucida Sans Unicode" charset="0"/>
                <a:cs typeface="Lucida Sans Unicode" charset="0"/>
              </a:rPr>
              <a:t>Bounded comparator</a:t>
            </a:r>
            <a:endParaRPr lang="en-US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Font typeface="Wingdings" charset="0"/>
              <a:buNone/>
              <a:defRPr/>
            </a:pPr>
            <a:r>
              <a:rPr lang="en-US" b="1" dirty="0" smtClean="0">
                <a:latin typeface="Courier New"/>
                <a:cs typeface="Courier New"/>
              </a:rPr>
              <a:t> public static &lt;T&gt; 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void </a:t>
            </a:r>
            <a:r>
              <a:rPr lang="en-US" b="1" dirty="0" smtClean="0">
                <a:solidFill>
                  <a:srgbClr val="FF6600"/>
                </a:solidFill>
                <a:latin typeface="Courier New"/>
                <a:cs typeface="Courier New"/>
              </a:rPr>
              <a:t>sort</a:t>
            </a:r>
            <a:r>
              <a:rPr lang="en-US" b="1" dirty="0" smtClean="0">
                <a:latin typeface="Courier New"/>
                <a:cs typeface="Courier New"/>
              </a:rPr>
              <a:t>(T v[], Comparator&lt;T&gt; </a:t>
            </a:r>
            <a:r>
              <a:rPr lang="en-US" b="1" dirty="0" err="1" smtClean="0">
                <a:latin typeface="Courier New"/>
                <a:cs typeface="Courier New"/>
              </a:rPr>
              <a:t>cmp</a:t>
            </a:r>
            <a:r>
              <a:rPr lang="en-US" b="1" dirty="0" smtClean="0">
                <a:latin typeface="Courier New"/>
                <a:cs typeface="Courier New"/>
              </a:rPr>
              <a:t>){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  for(</a:t>
            </a:r>
            <a:r>
              <a:rPr lang="en-US" b="1" dirty="0" err="1" smtClean="0">
                <a:latin typeface="Courier New"/>
                <a:cs typeface="Courier New"/>
              </a:rPr>
              <a:t>int</a:t>
            </a:r>
            <a:r>
              <a:rPr lang="en-US" b="1" dirty="0" smtClean="0">
                <a:latin typeface="Courier New"/>
                <a:cs typeface="Courier New"/>
              </a:rPr>
              <a:t> </a:t>
            </a:r>
            <a:r>
              <a:rPr lang="en-US" b="1" dirty="0" err="1" smtClean="0">
                <a:latin typeface="Courier New"/>
                <a:cs typeface="Courier New"/>
              </a:rPr>
              <a:t>i</a:t>
            </a:r>
            <a:r>
              <a:rPr lang="en-US" b="1" dirty="0" smtClean="0">
                <a:latin typeface="Courier New"/>
                <a:cs typeface="Courier New"/>
              </a:rPr>
              <a:t>=1; </a:t>
            </a:r>
            <a:r>
              <a:rPr lang="en-US" b="1" dirty="0" err="1" smtClean="0">
                <a:latin typeface="Courier New"/>
                <a:cs typeface="Courier New"/>
              </a:rPr>
              <a:t>i</a:t>
            </a:r>
            <a:r>
              <a:rPr lang="en-US" b="1" dirty="0" smtClean="0">
                <a:latin typeface="Courier New"/>
                <a:cs typeface="Courier New"/>
              </a:rPr>
              <a:t>&lt;</a:t>
            </a:r>
            <a:r>
              <a:rPr lang="en-US" b="1" dirty="0" err="1" smtClean="0">
                <a:latin typeface="Courier New"/>
                <a:cs typeface="Courier New"/>
              </a:rPr>
              <a:t>v.length</a:t>
            </a:r>
            <a:r>
              <a:rPr lang="en-US" b="1" dirty="0" smtClean="0">
                <a:latin typeface="Courier New"/>
                <a:cs typeface="Courier New"/>
              </a:rPr>
              <a:t>; ++</a:t>
            </a:r>
            <a:r>
              <a:rPr lang="en-US" b="1" dirty="0" err="1" smtClean="0">
                <a:latin typeface="Courier New"/>
                <a:cs typeface="Courier New"/>
              </a:rPr>
              <a:t>i</a:t>
            </a:r>
            <a:r>
              <a:rPr lang="en-US" b="1" dirty="0" smtClean="0">
                <a:latin typeface="Courier New"/>
                <a:cs typeface="Courier New"/>
              </a:rPr>
              <a:t>)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    for(</a:t>
            </a:r>
            <a:r>
              <a:rPr lang="en-US" b="1" dirty="0" err="1" smtClean="0">
                <a:latin typeface="Courier New"/>
                <a:cs typeface="Courier New"/>
              </a:rPr>
              <a:t>int</a:t>
            </a:r>
            <a:r>
              <a:rPr lang="en-US" b="1" dirty="0" smtClean="0">
                <a:latin typeface="Courier New"/>
                <a:cs typeface="Courier New"/>
              </a:rPr>
              <a:t> j=1; j&lt;</a:t>
            </a:r>
            <a:r>
              <a:rPr lang="en-US" b="1" dirty="0" err="1" smtClean="0">
                <a:latin typeface="Courier New"/>
                <a:cs typeface="Courier New"/>
              </a:rPr>
              <a:t>v.length</a:t>
            </a:r>
            <a:r>
              <a:rPr lang="en-US" b="1" dirty="0" smtClean="0">
                <a:latin typeface="Courier New"/>
                <a:cs typeface="Courier New"/>
              </a:rPr>
              <a:t>; ++j){</a:t>
            </a:r>
          </a:p>
          <a:p>
            <a:pPr marL="0" indent="0"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      if(</a:t>
            </a:r>
            <a:r>
              <a:rPr lang="en-US" b="1" dirty="0" err="1" smtClean="0">
                <a:latin typeface="Courier New"/>
                <a:cs typeface="Courier New"/>
              </a:rPr>
              <a:t>cmp.compare</a:t>
            </a:r>
            <a:r>
              <a:rPr lang="en-US" b="1" dirty="0">
                <a:latin typeface="Courier New"/>
                <a:cs typeface="Courier New"/>
              </a:rPr>
              <a:t>(v[j-1</a:t>
            </a:r>
            <a:r>
              <a:rPr lang="en-US" b="1" dirty="0" smtClean="0">
                <a:latin typeface="Courier New"/>
                <a:cs typeface="Courier New"/>
              </a:rPr>
              <a:t>],v[j])&gt;0){ 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 smtClean="0">
                <a:latin typeface="Courier New"/>
                <a:cs typeface="Courier New"/>
              </a:rPr>
              <a:t>          T o=v[</a:t>
            </a:r>
            <a:r>
              <a:rPr lang="en-US" b="1" dirty="0">
                <a:latin typeface="Courier New"/>
                <a:cs typeface="Courier New"/>
              </a:rPr>
              <a:t>j</a:t>
            </a:r>
            <a:r>
              <a:rPr lang="en-US" b="1" dirty="0" smtClean="0">
                <a:latin typeface="Courier New"/>
                <a:cs typeface="Courier New"/>
              </a:rPr>
              <a:t>];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        v[</a:t>
            </a:r>
            <a:r>
              <a:rPr lang="en-US" b="1" dirty="0">
                <a:latin typeface="Courier New"/>
                <a:cs typeface="Courier New"/>
              </a:rPr>
              <a:t>j</a:t>
            </a:r>
            <a:r>
              <a:rPr lang="en-US" b="1" dirty="0" smtClean="0">
                <a:latin typeface="Courier New"/>
                <a:cs typeface="Courier New"/>
              </a:rPr>
              <a:t>]=v[j-1]; 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	</a:t>
            </a:r>
            <a:r>
              <a:rPr lang="en-US" b="1" dirty="0" smtClean="0">
                <a:latin typeface="Courier New"/>
                <a:cs typeface="Courier New"/>
              </a:rPr>
              <a:t>		    v[j-1]=o;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  } }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314643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AutoShape 1"/>
          <p:cNvSpPr>
            <a:spLocks noChangeArrowheads="1"/>
          </p:cNvSpPr>
          <p:nvPr/>
        </p:nvSpPr>
        <p:spPr bwMode="auto">
          <a:xfrm>
            <a:off x="539552" y="2204864"/>
            <a:ext cx="7704856" cy="4176464"/>
          </a:xfrm>
          <a:prstGeom prst="roundRect">
            <a:avLst>
              <a:gd name="adj" fmla="val 42"/>
            </a:avLst>
          </a:prstGeom>
          <a:solidFill>
            <a:srgbClr val="FDEADA"/>
          </a:solidFill>
          <a:ln w="9360">
            <a:solidFill>
              <a:srgbClr val="E46C0A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82918" tIns="41460" rIns="82918" bIns="41460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7520" y="247708"/>
            <a:ext cx="8596800" cy="619265"/>
          </a:xfrm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101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  <a:tab pos="8533237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Bounded example</a:t>
            </a:r>
            <a:endParaRPr lang="en-GB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5120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121" y="1294696"/>
            <a:ext cx="8215200" cy="4987339"/>
          </a:xfrm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101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b="1" dirty="0" smtClean="0">
                <a:latin typeface="Lucida Sans Unicode" charset="0"/>
                <a:cs typeface="Lucida Sans Unicode" charset="0"/>
              </a:rPr>
              <a:t>T must be bounded to allow the compiler know which methods are available</a:t>
            </a:r>
            <a:endParaRPr lang="en-GB" b="1" dirty="0">
              <a:latin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public class 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Point</a:t>
            </a:r>
            <a:r>
              <a:rPr lang="en-GB" sz="2400" b="1" dirty="0" smtClean="0">
                <a:solidFill>
                  <a:schemeClr val="tx1"/>
                </a:solidFill>
                <a:latin typeface="Courier New" charset="0"/>
              </a:rPr>
              <a:t>&lt;T </a:t>
            </a:r>
            <a:r>
              <a:rPr lang="en-GB" sz="2400" b="1" dirty="0" smtClean="0">
                <a:solidFill>
                  <a:srgbClr val="FF6600"/>
                </a:solidFill>
                <a:latin typeface="Courier New" charset="0"/>
              </a:rPr>
              <a:t>extends Number</a:t>
            </a:r>
            <a:r>
              <a:rPr lang="en-GB" sz="2400" b="1" dirty="0" smtClean="0">
                <a:solidFill>
                  <a:schemeClr val="tx1"/>
                </a:solidFill>
                <a:latin typeface="Courier New" charset="0"/>
              </a:rPr>
              <a:t>&gt; 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{</a:t>
            </a:r>
          </a:p>
          <a:p>
            <a:pPr lvl="1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 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 T </a:t>
            </a:r>
            <a:r>
              <a:rPr lang="en-GB" sz="2400" b="1" dirty="0">
                <a:latin typeface="Courier New" charset="0"/>
                <a:cs typeface="Lucida Sans Unicode" charset="0"/>
              </a:rPr>
              <a:t>x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; T </a:t>
            </a:r>
            <a:r>
              <a:rPr lang="en-GB" sz="2400" b="1" dirty="0">
                <a:latin typeface="Courier New" charset="0"/>
                <a:cs typeface="Lucida Sans Unicode" charset="0"/>
              </a:rPr>
              <a:t>y;</a:t>
            </a:r>
          </a:p>
          <a:p>
            <a:pPr lvl="1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  public Point(T x, T y)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{</a:t>
            </a:r>
          </a:p>
          <a:p>
            <a:pPr lvl="1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 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   </a:t>
            </a:r>
            <a:r>
              <a:rPr lang="en-GB" sz="2400" b="1" dirty="0" err="1" smtClean="0">
                <a:latin typeface="Courier New" charset="0"/>
                <a:cs typeface="Lucida Sans Unicode" charset="0"/>
              </a:rPr>
              <a:t>this.x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 </a:t>
            </a:r>
            <a:r>
              <a:rPr lang="en-GB" sz="2400" b="1" dirty="0">
                <a:latin typeface="Courier New" charset="0"/>
                <a:cs typeface="Lucida Sans Unicode" charset="0"/>
              </a:rPr>
              <a:t>= x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; </a:t>
            </a:r>
            <a:r>
              <a:rPr lang="en-GB" sz="2400" b="1" dirty="0" err="1" smtClean="0">
                <a:latin typeface="Courier New" charset="0"/>
                <a:cs typeface="Lucida Sans Unicode" charset="0"/>
              </a:rPr>
              <a:t>this.y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 </a:t>
            </a:r>
            <a:r>
              <a:rPr lang="en-GB" sz="2400" b="1" dirty="0">
                <a:latin typeface="Courier New" charset="0"/>
                <a:cs typeface="Lucida Sans Unicode" charset="0"/>
              </a:rPr>
              <a:t>= y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;</a:t>
            </a:r>
          </a:p>
          <a:p>
            <a:pPr lvl="1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 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 }</a:t>
            </a:r>
          </a:p>
          <a:p>
            <a:pPr lvl="1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 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 public double length(){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400" b="1" dirty="0" smtClean="0">
                <a:latin typeface="Courier New" charset="0"/>
                <a:cs typeface="Lucida Sans Unicode" charset="0"/>
              </a:rPr>
              <a:t>      return </a:t>
            </a:r>
            <a:r>
              <a:rPr lang="en-GB" sz="2400" b="1" dirty="0" err="1" smtClean="0">
                <a:latin typeface="Courier New" charset="0"/>
                <a:cs typeface="Lucida Sans Unicode" charset="0"/>
              </a:rPr>
              <a:t>Math.sqrt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(</a:t>
            </a:r>
            <a:br>
              <a:rPr lang="en-GB" sz="2400" b="1" dirty="0" smtClean="0">
                <a:latin typeface="Courier New" charset="0"/>
                <a:cs typeface="Lucida Sans Unicode" charset="0"/>
              </a:rPr>
            </a:br>
            <a:r>
              <a:rPr lang="en-GB" sz="2400" b="1" dirty="0" smtClean="0">
                <a:latin typeface="Courier New" charset="0"/>
                <a:cs typeface="Lucida Sans Unicode" charset="0"/>
              </a:rPr>
              <a:t>     </a:t>
            </a:r>
            <a:r>
              <a:rPr lang="en-GB" sz="2400" b="1" dirty="0" err="1" smtClean="0">
                <a:latin typeface="Courier New" charset="0"/>
                <a:cs typeface="Lucida Sans Unicode" charset="0"/>
              </a:rPr>
              <a:t>Math.pow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(</a:t>
            </a:r>
            <a:r>
              <a:rPr lang="en-GB" sz="2400" b="1" dirty="0" err="1" smtClean="0">
                <a:latin typeface="Courier New" charset="0"/>
                <a:cs typeface="Lucida Sans Unicode" charset="0"/>
              </a:rPr>
              <a:t>x.doubleValue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(),2)</a:t>
            </a:r>
            <a:br>
              <a:rPr lang="en-GB" sz="2400" b="1" dirty="0" smtClean="0">
                <a:latin typeface="Courier New" charset="0"/>
                <a:cs typeface="Lucida Sans Unicode" charset="0"/>
              </a:rPr>
            </a:br>
            <a:r>
              <a:rPr lang="en-GB" sz="2400" b="1" dirty="0" smtClean="0">
                <a:latin typeface="Courier New" charset="0"/>
                <a:cs typeface="Lucida Sans Unicode" charset="0"/>
              </a:rPr>
              <a:t>     + </a:t>
            </a:r>
            <a:r>
              <a:rPr lang="en-GB" sz="2400" b="1" dirty="0" err="1" smtClean="0">
                <a:latin typeface="Courier New" charset="0"/>
                <a:cs typeface="Lucida Sans Unicode" charset="0"/>
              </a:rPr>
              <a:t>Math.pow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(</a:t>
            </a:r>
            <a:r>
              <a:rPr lang="en-GB" sz="2400" b="1" dirty="0" err="1" smtClean="0">
                <a:latin typeface="Courier New" charset="0"/>
                <a:cs typeface="Lucida Sans Unicode" charset="0"/>
              </a:rPr>
              <a:t>y.doubleValue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(),2) );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400" b="1" dirty="0" smtClean="0">
                <a:latin typeface="Courier New" charset="0"/>
                <a:cs typeface="Lucida Sans Unicode" charset="0"/>
              </a:rPr>
              <a:t>    }</a:t>
            </a:r>
          </a:p>
          <a:p>
            <a:pPr lvl="1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400" b="1" dirty="0" smtClean="0">
                <a:latin typeface="Courier New" charset="0"/>
                <a:cs typeface="Lucida Sans Unicode" charset="0"/>
              </a:rPr>
              <a:t>}</a:t>
            </a:r>
            <a:endParaRPr lang="en-GB" sz="2400" b="1" dirty="0">
              <a:latin typeface="Courier New" charset="0"/>
              <a:cs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3581578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AutoShape 1"/>
          <p:cNvSpPr>
            <a:spLocks noChangeArrowheads="1"/>
          </p:cNvSpPr>
          <p:nvPr/>
        </p:nvSpPr>
        <p:spPr bwMode="auto">
          <a:xfrm>
            <a:off x="413280" y="3933056"/>
            <a:ext cx="8730720" cy="1944216"/>
          </a:xfrm>
          <a:prstGeom prst="roundRect">
            <a:avLst>
              <a:gd name="adj" fmla="val 74"/>
            </a:avLst>
          </a:prstGeom>
          <a:solidFill>
            <a:srgbClr val="FDEADA"/>
          </a:solidFill>
          <a:ln w="9360">
            <a:solidFill>
              <a:srgbClr val="E46C0A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82918" tIns="41460" rIns="82918" bIns="41460" anchor="ctr"/>
          <a:lstStyle/>
          <a:p>
            <a:pPr>
              <a:defRPr/>
            </a:pPr>
            <a:endParaRPr lang="it-IT">
              <a:cs typeface="Lucida Sans Unicode" charset="0"/>
            </a:endParaRPr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0" tIns="0" rIns="0" bIns="0">
            <a:spAutoFit/>
          </a:bodyPr>
          <a:lstStyle/>
          <a:p>
            <a:pPr eaLnBrk="1" hangingPunct="1">
              <a:lnSpc>
                <a:spcPct val="101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  <a:tab pos="8533237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Generics subtyping</a:t>
            </a:r>
          </a:p>
        </p:txBody>
      </p:sp>
      <p:sp>
        <p:nvSpPr>
          <p:cNvPr id="57348" name="Rectangle 3"/>
          <p:cNvSpPr>
            <a:spLocks noGrp="1" noChangeArrowheads="1"/>
          </p:cNvSpPr>
          <p:nvPr>
            <p:ph idx="1"/>
          </p:nvPr>
        </p:nvSpPr>
        <p:spPr>
          <a:xfrm>
            <a:off x="609120" y="1294696"/>
            <a:ext cx="8212320" cy="4469788"/>
          </a:xfrm>
        </p:spPr>
        <p:txBody>
          <a:bodyPr wrap="square" lIns="0" tIns="0" rIns="0" bIns="0">
            <a:spAutoFit/>
          </a:bodyPr>
          <a:lstStyle/>
          <a:p>
            <a:pPr eaLnBrk="1" hangingPunct="1">
              <a:lnSpc>
                <a:spcPct val="101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We must be careful about inheritance when generic types are involved</a:t>
            </a:r>
          </a:p>
          <a:p>
            <a:pPr lvl="1" eaLnBrk="1" hangingPunct="1">
              <a:lnSpc>
                <a:spcPct val="93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b="1" dirty="0" smtClean="0">
                <a:latin typeface="Courier New" charset="0"/>
                <a:ea typeface="Lucida Sans Unicode" charset="0"/>
                <a:cs typeface="Lucida Sans Unicode" charset="0"/>
              </a:rPr>
              <a:t>Integer </a:t>
            </a: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is 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a subtype of </a:t>
            </a:r>
            <a:r>
              <a:rPr lang="en-GB" b="1" dirty="0" smtClean="0">
                <a:latin typeface="Courier New" charset="0"/>
                <a:ea typeface="Lucida Sans Unicode" charset="0"/>
                <a:cs typeface="Lucida Sans Unicode" charset="0"/>
              </a:rPr>
              <a:t>Number</a:t>
            </a:r>
            <a:endParaRPr lang="en-GB" b="1" dirty="0">
              <a:latin typeface="Courier New" charset="0"/>
              <a:ea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93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b="1" dirty="0" smtClean="0">
                <a:latin typeface="Courier New" charset="0"/>
                <a:ea typeface="Lucida Sans Unicode" charset="0"/>
                <a:cs typeface="Lucida Sans Unicode" charset="0"/>
              </a:rPr>
              <a:t>Pair&lt;Integer&gt;</a:t>
            </a: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 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is </a:t>
            </a:r>
            <a:r>
              <a:rPr lang="en-GB" b="1" dirty="0" smtClean="0">
                <a:solidFill>
                  <a:srgbClr val="FF6633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NOT </a:t>
            </a: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subtype 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of </a:t>
            </a:r>
            <a:r>
              <a:rPr lang="en-GB" b="1" dirty="0" smtClean="0">
                <a:latin typeface="Courier New" charset="0"/>
                <a:ea typeface="Lucida Sans Unicode" charset="0"/>
                <a:cs typeface="Lucida Sans Unicode" charset="0"/>
              </a:rPr>
              <a:t>Pair&lt;Object&gt;</a:t>
            </a:r>
            <a:endParaRPr lang="en-GB" b="1" dirty="0">
              <a:latin typeface="Courier New" charset="0"/>
              <a:ea typeface="Lucida Sans Unicode" charset="0"/>
              <a:cs typeface="Lucida Sans Unicode" charset="0"/>
            </a:endParaRP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endParaRPr lang="en-GB" sz="2200" b="1" dirty="0">
              <a:latin typeface="Courier New" charset="0"/>
              <a:cs typeface="Lucida Sans Unicode" charset="0"/>
            </a:endParaRP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 smtClean="0">
                <a:latin typeface="Courier New" charset="0"/>
                <a:cs typeface="Lucida Sans Unicode" charset="0"/>
              </a:rPr>
              <a:t>Pair&lt;Integer&gt; pi </a:t>
            </a:r>
            <a:r>
              <a:rPr lang="en-GB" sz="2500" b="1" dirty="0">
                <a:latin typeface="Courier New" charset="0"/>
                <a:cs typeface="Lucida Sans Unicode" charset="0"/>
              </a:rPr>
              <a:t>= new 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Pair&lt;&gt;(0,1)</a:t>
            </a:r>
            <a:r>
              <a:rPr lang="en-GB" sz="2500" b="1" dirty="0">
                <a:latin typeface="Courier New" charset="0"/>
                <a:cs typeface="Lucida Sans Unicode" charset="0"/>
              </a:rPr>
              <a:t>;</a:t>
            </a: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 smtClean="0">
                <a:latin typeface="Courier New" charset="0"/>
                <a:cs typeface="Lucida Sans Unicode" charset="0"/>
              </a:rPr>
              <a:t>Pair&lt;Object&gt; </a:t>
            </a:r>
            <a:r>
              <a:rPr lang="en-GB" sz="2500" b="1" dirty="0" err="1" smtClean="0">
                <a:latin typeface="Courier New" charset="0"/>
                <a:cs typeface="Lucida Sans Unicode" charset="0"/>
              </a:rPr>
              <a:t>pn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 </a:t>
            </a:r>
            <a:r>
              <a:rPr lang="en-GB" sz="2500" b="1" dirty="0">
                <a:latin typeface="Courier New" charset="0"/>
                <a:cs typeface="Lucida Sans Unicode" charset="0"/>
              </a:rPr>
              <a:t>= 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pi;</a:t>
            </a:r>
            <a:endParaRPr lang="en-GB" sz="2500" b="1" dirty="0">
              <a:latin typeface="Courier New" charset="0"/>
              <a:cs typeface="Lucida Sans Unicode" charset="0"/>
            </a:endParaRP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 err="1" smtClean="0">
                <a:latin typeface="Courier New" charset="0"/>
                <a:cs typeface="Lucida Sans Unicode" charset="0"/>
              </a:rPr>
              <a:t>pn.setFirst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("0.5");</a:t>
            </a:r>
            <a:endParaRPr lang="en-GB" sz="2500" b="1" dirty="0">
              <a:latin typeface="Courier New" charset="0"/>
              <a:cs typeface="Lucida Sans Unicode" charset="0"/>
            </a:endParaRP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 smtClean="0">
                <a:latin typeface="Courier New" charset="0"/>
                <a:cs typeface="Lucida Sans Unicode" charset="0"/>
              </a:rPr>
              <a:t>Integer </a:t>
            </a:r>
            <a:r>
              <a:rPr lang="en-GB" sz="2500" b="1" dirty="0" err="1" smtClean="0">
                <a:latin typeface="Courier New" charset="0"/>
                <a:cs typeface="Lucida Sans Unicode" charset="0"/>
              </a:rPr>
              <a:t>i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 </a:t>
            </a:r>
            <a:r>
              <a:rPr lang="en-GB" sz="2500" b="1" dirty="0">
                <a:latin typeface="Courier New" charset="0"/>
                <a:cs typeface="Lucida Sans Unicode" charset="0"/>
              </a:rPr>
              <a:t>= </a:t>
            </a:r>
            <a:r>
              <a:rPr lang="en-GB" sz="2500" b="1" dirty="0" err="1" smtClean="0">
                <a:latin typeface="Courier New" charset="0"/>
                <a:cs typeface="Lucida Sans Unicode" charset="0"/>
              </a:rPr>
              <a:t>pi.first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();</a:t>
            </a:r>
            <a:endParaRPr lang="en-GB" sz="2500" b="1" dirty="0">
              <a:latin typeface="Courier New" charset="0"/>
              <a:cs typeface="Lucida Sans Unicode" charset="0"/>
            </a:endParaRPr>
          </a:p>
        </p:txBody>
      </p:sp>
      <p:sp>
        <p:nvSpPr>
          <p:cNvPr id="17412" name="AutoShape 4"/>
          <p:cNvSpPr>
            <a:spLocks noChangeArrowheads="1"/>
          </p:cNvSpPr>
          <p:nvPr/>
        </p:nvSpPr>
        <p:spPr bwMode="auto">
          <a:xfrm>
            <a:off x="5687616" y="4581128"/>
            <a:ext cx="3276872" cy="576064"/>
          </a:xfrm>
          <a:prstGeom prst="wedgeRoundRectCallout">
            <a:avLst>
              <a:gd name="adj1" fmla="val -72861"/>
              <a:gd name="adj2" fmla="val -44102"/>
              <a:gd name="adj3" fmla="val 16667"/>
            </a:avLst>
          </a:prstGeom>
          <a:solidFill>
            <a:srgbClr val="E6E0EC"/>
          </a:solidFill>
          <a:ln w="9360">
            <a:solidFill>
              <a:srgbClr val="8064A2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5857" tIns="45051" rIns="85857" bIns="45051" anchor="ctr"/>
          <a:lstStyle/>
          <a:p>
            <a:pPr algn="ctr">
              <a:lnSpc>
                <a:spcPct val="84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</a:tabLst>
            </a:pPr>
            <a:r>
              <a:rPr lang="en-GB" sz="2000">
                <a:solidFill>
                  <a:srgbClr val="000000"/>
                </a:solidFill>
                <a:cs typeface="Lucida Sans Unicode" charset="0"/>
              </a:rPr>
              <a:t>if this were legal then...</a:t>
            </a:r>
          </a:p>
        </p:txBody>
      </p:sp>
      <p:sp>
        <p:nvSpPr>
          <p:cNvPr id="56326" name="AutoShape 5"/>
          <p:cNvSpPr>
            <a:spLocks noChangeArrowheads="1"/>
          </p:cNvSpPr>
          <p:nvPr/>
        </p:nvSpPr>
        <p:spPr bwMode="auto">
          <a:xfrm>
            <a:off x="3419872" y="5877272"/>
            <a:ext cx="4248472" cy="720080"/>
          </a:xfrm>
          <a:prstGeom prst="wedgeRoundRectCallout">
            <a:avLst>
              <a:gd name="adj1" fmla="val -69617"/>
              <a:gd name="adj2" fmla="val -69025"/>
              <a:gd name="adj3" fmla="val 16667"/>
            </a:avLst>
          </a:prstGeom>
          <a:solidFill>
            <a:srgbClr val="E6E0EC"/>
          </a:solidFill>
          <a:ln w="9360">
            <a:solidFill>
              <a:srgbClr val="8064A2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1615" tIns="40807" rIns="81615" bIns="40807" anchor="ctr"/>
          <a:lstStyle/>
          <a:p>
            <a:pPr algn="ctr">
              <a:lnSpc>
                <a:spcPct val="83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</a:tabLst>
            </a:pPr>
            <a:r>
              <a:rPr lang="en-GB" sz="2000" dirty="0">
                <a:solidFill>
                  <a:srgbClr val="000000"/>
                </a:solidFill>
                <a:cs typeface="Lucida Sans Unicode" charset="0"/>
              </a:rPr>
              <a:t>.. we could end up assigning </a:t>
            </a:r>
            <a:r>
              <a:rPr lang="en-GB" sz="2000" dirty="0" smtClean="0">
                <a:solidFill>
                  <a:srgbClr val="000000"/>
                </a:solidFill>
                <a:cs typeface="Lucida Sans Unicode" charset="0"/>
              </a:rPr>
              <a:t>a String to an Integer </a:t>
            </a:r>
            <a:r>
              <a:rPr lang="en-GB" sz="2000" dirty="0">
                <a:solidFill>
                  <a:srgbClr val="000000"/>
                </a:solidFill>
                <a:cs typeface="Lucida Sans Unicode" charset="0"/>
              </a:rPr>
              <a:t>reference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5868144" y="4437112"/>
            <a:ext cx="3024336" cy="541496"/>
          </a:xfrm>
          <a:prstGeom prst="wedgeRoundRectCallout">
            <a:avLst>
              <a:gd name="adj1" fmla="val -91903"/>
              <a:gd name="adj2" fmla="val 89341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 w="9360">
            <a:solidFill>
              <a:srgbClr val="FF6633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5857" tIns="45051" rIns="85857" bIns="45051" anchor="ctr"/>
          <a:lstStyle/>
          <a:p>
            <a:pPr algn="ctr">
              <a:lnSpc>
                <a:spcPct val="84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</a:tabLst>
            </a:pPr>
            <a:r>
              <a:rPr lang="en-GB" sz="2000" dirty="0" smtClean="0">
                <a:solidFill>
                  <a:srgbClr val="000000"/>
                </a:solidFill>
                <a:cs typeface="Lucida Sans Unicode" charset="0"/>
              </a:rPr>
              <a:t>Type mismatch</a:t>
            </a:r>
            <a:endParaRPr lang="en-GB" sz="2000" dirty="0">
              <a:solidFill>
                <a:srgbClr val="000000"/>
              </a:solidFill>
              <a:cs typeface="Lucida Sans Unicode" charset="0"/>
            </a:endParaRPr>
          </a:p>
        </p:txBody>
      </p:sp>
      <p:sp>
        <p:nvSpPr>
          <p:cNvPr id="5939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Lucida Sans Unicode" charset="0"/>
                <a:cs typeface="Lucida Sans Unicode" charset="0"/>
              </a:rPr>
              <a:t>Type invariance</a:t>
            </a:r>
          </a:p>
        </p:txBody>
      </p:sp>
      <p:sp>
        <p:nvSpPr>
          <p:cNvPr id="5939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Lucida Sans Unicode" charset="0"/>
                <a:cs typeface="Lucida Sans Unicode" charset="0"/>
              </a:rPr>
              <a:t>Type variance: it </a:t>
            </a:r>
            <a:r>
              <a:rPr lang="en-US" dirty="0">
                <a:latin typeface="Lucida Sans Unicode" charset="0"/>
                <a:cs typeface="Lucida Sans Unicode" charset="0"/>
              </a:rPr>
              <a:t>is always possible substitute a more general (super class) reference to a specific </a:t>
            </a:r>
            <a:r>
              <a:rPr lang="en-US" dirty="0" smtClean="0">
                <a:latin typeface="Lucida Sans Unicode" charset="0"/>
                <a:cs typeface="Lucida Sans Unicode" charset="0"/>
              </a:rPr>
              <a:t>one</a:t>
            </a:r>
            <a:endParaRPr lang="en-US" dirty="0">
              <a:latin typeface="Lucida Sans Unicode" charset="0"/>
              <a:cs typeface="Lucida Sans Unicode" charset="0"/>
            </a:endParaRPr>
          </a:p>
          <a:p>
            <a:pPr marL="414640" lvl="1" indent="0">
              <a:buNone/>
            </a:pPr>
            <a:r>
              <a:rPr lang="en-US" b="1" dirty="0">
                <a:latin typeface="Courier New" charset="0"/>
                <a:ea typeface="ＭＳ Ｐゴシック" charset="0"/>
                <a:cs typeface="ＭＳ Ｐゴシック" charset="0"/>
              </a:rPr>
              <a:t>Integer </a:t>
            </a:r>
            <a:r>
              <a:rPr lang="en-US" b="1" dirty="0" err="1">
                <a:latin typeface="Courier New" charset="0"/>
                <a:ea typeface="ＭＳ Ｐゴシック" charset="0"/>
                <a:cs typeface="ＭＳ Ｐゴシック" charset="0"/>
              </a:rPr>
              <a:t>i</a:t>
            </a:r>
            <a:r>
              <a:rPr lang="en-US" b="1" dirty="0">
                <a:latin typeface="Courier New" charset="0"/>
                <a:ea typeface="ＭＳ Ｐゴシック" charset="0"/>
                <a:cs typeface="ＭＳ Ｐゴシック" charset="0"/>
              </a:rPr>
              <a:t>;</a:t>
            </a:r>
          </a:p>
          <a:p>
            <a:pPr marL="414640" lvl="1" indent="0">
              <a:buNone/>
            </a:pPr>
            <a:r>
              <a:rPr lang="en-US" b="1" dirty="0">
                <a:latin typeface="Courier New" charset="0"/>
                <a:ea typeface="ＭＳ Ｐゴシック" charset="0"/>
                <a:cs typeface="ＭＳ Ｐゴシック" charset="0"/>
              </a:rPr>
              <a:t>Object o = </a:t>
            </a:r>
            <a:r>
              <a:rPr lang="en-US" b="1" dirty="0" err="1">
                <a:latin typeface="Courier New" charset="0"/>
                <a:ea typeface="ＭＳ Ｐゴシック" charset="0"/>
                <a:cs typeface="ＭＳ Ｐゴシック" charset="0"/>
              </a:rPr>
              <a:t>i</a:t>
            </a:r>
            <a:r>
              <a:rPr lang="en-US" b="1" dirty="0">
                <a:latin typeface="Courier New" charset="0"/>
                <a:ea typeface="ＭＳ Ｐゴシック" charset="0"/>
                <a:cs typeface="ＭＳ Ｐゴシック" charset="0"/>
              </a:rPr>
              <a:t>;</a:t>
            </a:r>
          </a:p>
          <a:p>
            <a:r>
              <a:rPr lang="en-US" dirty="0">
                <a:latin typeface="Lucida Sans Unicode" charset="0"/>
                <a:cs typeface="Lucida Sans Unicode" charset="0"/>
              </a:rPr>
              <a:t>Generics </a:t>
            </a:r>
            <a:r>
              <a:rPr lang="en-US" dirty="0" smtClean="0">
                <a:latin typeface="Lucida Sans Unicode" charset="0"/>
                <a:cs typeface="Lucida Sans Unicode" charset="0"/>
              </a:rPr>
              <a:t>type parameters </a:t>
            </a:r>
            <a:r>
              <a:rPr lang="en-US" dirty="0">
                <a:latin typeface="Lucida Sans Unicode" charset="0"/>
                <a:cs typeface="Lucida Sans Unicode" charset="0"/>
              </a:rPr>
              <a:t>are invariant</a:t>
            </a:r>
          </a:p>
          <a:p>
            <a:pPr marL="414640" lvl="1" indent="0">
              <a:buNone/>
            </a:pPr>
            <a:r>
              <a:rPr lang="en-US" b="1" dirty="0" smtClean="0">
                <a:latin typeface="Courier New" charset="0"/>
                <a:ea typeface="ＭＳ Ｐゴシック" charset="0"/>
                <a:cs typeface="ＭＳ Ｐゴシック" charset="0"/>
              </a:rPr>
              <a:t>Pair&lt;</a:t>
            </a:r>
            <a:r>
              <a:rPr lang="en-US" b="1" dirty="0">
                <a:latin typeface="Courier New" charset="0"/>
                <a:ea typeface="ＭＳ Ｐゴシック" charset="0"/>
                <a:cs typeface="ＭＳ Ｐゴシック" charset="0"/>
              </a:rPr>
              <a:t>Integer&gt; </a:t>
            </a:r>
            <a:r>
              <a:rPr lang="en-US" b="1" dirty="0" smtClean="0">
                <a:latin typeface="Courier New" charset="0"/>
                <a:ea typeface="ＭＳ Ｐゴシック" charset="0"/>
                <a:cs typeface="ＭＳ Ｐゴシック" charset="0"/>
              </a:rPr>
              <a:t>pi</a:t>
            </a:r>
            <a:r>
              <a:rPr lang="en-US" b="1" dirty="0">
                <a:latin typeface="Courier New" charset="0"/>
                <a:ea typeface="ＭＳ Ｐゴシック" charset="0"/>
                <a:cs typeface="ＭＳ Ｐゴシック" charset="0"/>
              </a:rPr>
              <a:t>;</a:t>
            </a:r>
          </a:p>
          <a:p>
            <a:pPr marL="414640" lvl="1" indent="0">
              <a:buNone/>
            </a:pPr>
            <a:r>
              <a:rPr lang="en-US" b="1" dirty="0" smtClean="0">
                <a:latin typeface="Courier New" charset="0"/>
                <a:ea typeface="ＭＳ Ｐゴシック" charset="0"/>
                <a:cs typeface="ＭＳ Ｐゴシック" charset="0"/>
              </a:rPr>
              <a:t>Pair&lt;Object&gt; </a:t>
            </a:r>
            <a:r>
              <a:rPr lang="en-US" b="1" dirty="0" err="1" smtClean="0">
                <a:latin typeface="Courier New" charset="0"/>
                <a:ea typeface="ＭＳ Ｐゴシック" charset="0"/>
                <a:cs typeface="ＭＳ Ｐゴシック" charset="0"/>
              </a:rPr>
              <a:t>pn</a:t>
            </a:r>
            <a:r>
              <a:rPr lang="en-US" b="1" dirty="0" smtClean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en-US" b="1" dirty="0">
                <a:latin typeface="Courier New" charset="0"/>
                <a:ea typeface="ＭＳ Ｐゴシック" charset="0"/>
                <a:cs typeface="ＭＳ Ｐゴシック" charset="0"/>
              </a:rPr>
              <a:t>= </a:t>
            </a:r>
            <a:r>
              <a:rPr lang="en-US" b="1" dirty="0" smtClean="0">
                <a:latin typeface="Courier New" charset="0"/>
                <a:ea typeface="ＭＳ Ｐゴシック" charset="0"/>
                <a:cs typeface="ＭＳ Ｐゴシック" charset="0"/>
              </a:rPr>
              <a:t>pi;</a:t>
            </a:r>
            <a:r>
              <a:rPr lang="en-US" b="1" dirty="0">
                <a:solidFill>
                  <a:srgbClr val="3B6431"/>
                </a:solidFill>
                <a:cs typeface="Courier New" charset="0"/>
              </a:rPr>
              <a:t> // </a:t>
            </a:r>
            <a:r>
              <a:rPr lang="en-US" dirty="0" smtClean="0">
                <a:solidFill>
                  <a:srgbClr val="3B6431"/>
                </a:solidFill>
                <a:cs typeface="Courier New" charset="0"/>
              </a:rPr>
              <a:t>if it were correct </a:t>
            </a:r>
            <a:endParaRPr lang="en-US" dirty="0">
              <a:latin typeface="Courier New" charset="0"/>
              <a:ea typeface="ＭＳ Ｐゴシック" charset="0"/>
              <a:cs typeface="ＭＳ Ｐゴシック" charset="0"/>
            </a:endParaRPr>
          </a:p>
        </p:txBody>
      </p:sp>
      <p:cxnSp>
        <p:nvCxnSpPr>
          <p:cNvPr id="4" name="Straight Connector 3"/>
          <p:cNvCxnSpPr>
            <a:cxnSpLocks noChangeShapeType="1"/>
          </p:cNvCxnSpPr>
          <p:nvPr/>
        </p:nvCxnSpPr>
        <p:spPr bwMode="auto">
          <a:xfrm flipV="1">
            <a:off x="4067944" y="5085184"/>
            <a:ext cx="483840" cy="414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045440" y="5502818"/>
            <a:ext cx="7847040" cy="433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918" tIns="41460" rIns="82918" bIns="41460">
            <a:spAutoFit/>
          </a:bodyPr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defTabSz="45561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500" b="1" dirty="0" err="1" smtClean="0">
                <a:solidFill>
                  <a:srgbClr val="000000"/>
                </a:solidFill>
                <a:latin typeface="Courier New" charset="0"/>
                <a:cs typeface="Courier New" charset="0"/>
              </a:rPr>
              <a:t>pn.setFirst</a:t>
            </a:r>
            <a:r>
              <a:rPr lang="en-US" sz="2500" b="1" dirty="0" smtClean="0">
                <a:solidFill>
                  <a:srgbClr val="000000"/>
                </a:solidFill>
                <a:latin typeface="Courier New" charset="0"/>
                <a:cs typeface="Courier New" charset="0"/>
              </a:rPr>
              <a:t>(</a:t>
            </a:r>
            <a:r>
              <a:rPr lang="en-GB" sz="2500" b="1" dirty="0">
                <a:solidFill>
                  <a:schemeClr val="tx1"/>
                </a:solidFill>
                <a:latin typeface="Courier New" charset="0"/>
                <a:cs typeface="Lucida Sans Unicode" charset="0"/>
              </a:rPr>
              <a:t>"0.5"</a:t>
            </a:r>
            <a:r>
              <a:rPr lang="en-US" sz="2500" b="1" dirty="0" smtClean="0">
                <a:solidFill>
                  <a:srgbClr val="000000"/>
                </a:solidFill>
                <a:latin typeface="Courier New" charset="0"/>
                <a:cs typeface="Courier New" charset="0"/>
              </a:rPr>
              <a:t>);</a:t>
            </a:r>
            <a:r>
              <a:rPr lang="en-US" sz="2500" b="1" dirty="0" smtClean="0">
                <a:solidFill>
                  <a:srgbClr val="3B6431"/>
                </a:solidFill>
                <a:cs typeface="Courier New" charset="0"/>
              </a:rPr>
              <a:t>/</a:t>
            </a:r>
            <a:r>
              <a:rPr lang="en-US" sz="2500" b="1" dirty="0">
                <a:solidFill>
                  <a:srgbClr val="3B6431"/>
                </a:solidFill>
                <a:cs typeface="Courier New" charset="0"/>
              </a:rPr>
              <a:t>/ </a:t>
            </a:r>
            <a:r>
              <a:rPr lang="en-US" sz="2500" b="1" dirty="0" smtClean="0">
                <a:solidFill>
                  <a:srgbClr val="3B6431"/>
                </a:solidFill>
                <a:cs typeface="Courier New" charset="0"/>
              </a:rPr>
              <a:t>this would </a:t>
            </a:r>
            <a:r>
              <a:rPr lang="en-US" sz="2500" b="1" dirty="0">
                <a:solidFill>
                  <a:srgbClr val="3B6431"/>
                </a:solidFill>
                <a:cs typeface="Courier New" charset="0"/>
              </a:rPr>
              <a:t>be possible 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"/>
          <p:cNvSpPr>
            <a:spLocks noChangeArrowheads="1"/>
          </p:cNvSpPr>
          <p:nvPr/>
        </p:nvSpPr>
        <p:spPr bwMode="auto">
          <a:xfrm>
            <a:off x="413280" y="3933056"/>
            <a:ext cx="8407192" cy="2016224"/>
          </a:xfrm>
          <a:prstGeom prst="roundRect">
            <a:avLst>
              <a:gd name="adj" fmla="val 74"/>
            </a:avLst>
          </a:prstGeom>
          <a:solidFill>
            <a:srgbClr val="FDEADA"/>
          </a:solidFill>
          <a:ln w="9360">
            <a:solidFill>
              <a:srgbClr val="E46C0A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82918" tIns="41460" rIns="82918" bIns="41460" anchor="ctr"/>
          <a:lstStyle/>
          <a:p>
            <a:pPr>
              <a:defRPr/>
            </a:pPr>
            <a:endParaRPr lang="it-IT">
              <a:cs typeface="Lucida Sans Unicode" charset="0"/>
            </a:endParaRPr>
          </a:p>
        </p:txBody>
      </p:sp>
      <p:sp>
        <p:nvSpPr>
          <p:cNvPr id="6041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Lucida Sans Unicode" charset="0"/>
                <a:cs typeface="Lucida Sans Unicode" charset="0"/>
              </a:rPr>
              <a:t>Array covariance</a:t>
            </a:r>
            <a:endParaRPr lang="en-US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5939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Lucida Sans Unicode" charset="0"/>
              </a:rPr>
              <a:t>Arrays are </a:t>
            </a:r>
            <a:r>
              <a:rPr lang="en-US" dirty="0" smtClean="0">
                <a:latin typeface="Lucida Sans Unicode" charset="0"/>
              </a:rPr>
              <a:t>type co-variant (</a:t>
            </a:r>
            <a:r>
              <a:rPr lang="en-US" dirty="0" smtClean="0">
                <a:solidFill>
                  <a:srgbClr val="FF6600"/>
                </a:solidFill>
                <a:latin typeface="Lucida Sans Unicode" charset="0"/>
              </a:rPr>
              <a:t>WARNING</a:t>
            </a:r>
            <a:r>
              <a:rPr lang="en-US" dirty="0" smtClean="0">
                <a:latin typeface="Lucida Sans Unicode" charset="0"/>
              </a:rPr>
              <a:t>)</a:t>
            </a:r>
          </a:p>
          <a:p>
            <a:pPr lvl="1">
              <a:defRPr/>
            </a:pPr>
            <a:r>
              <a:rPr lang="en-US" dirty="0" smtClean="0">
                <a:latin typeface="Lucida Sans Unicode" charset="0"/>
              </a:rPr>
              <a:t>The compiler assumes</a:t>
            </a:r>
          </a:p>
          <a:p>
            <a:pPr marL="414640" lvl="1" indent="0">
              <a:buNone/>
              <a:defRPr/>
            </a:pPr>
            <a:r>
              <a:rPr lang="en-US" b="1" dirty="0" err="1">
                <a:latin typeface="Courier New" charset="0"/>
                <a:cs typeface="Courier New" charset="0"/>
              </a:rPr>
              <a:t>SubClass</a:t>
            </a:r>
            <a:r>
              <a:rPr lang="en-US" b="1" dirty="0">
                <a:latin typeface="Courier New" charset="0"/>
                <a:cs typeface="Courier New" charset="0"/>
              </a:rPr>
              <a:t>[] extends </a:t>
            </a:r>
            <a:r>
              <a:rPr lang="en-US" b="1" dirty="0" err="1">
                <a:latin typeface="Courier New" charset="0"/>
                <a:cs typeface="Courier New" charset="0"/>
              </a:rPr>
              <a:t>BaseClass</a:t>
            </a:r>
            <a:r>
              <a:rPr lang="en-US" b="1" dirty="0">
                <a:latin typeface="Courier New" charset="0"/>
                <a:cs typeface="Courier New" charset="0"/>
              </a:rPr>
              <a:t>[]</a:t>
            </a:r>
          </a:p>
          <a:p>
            <a:pPr lvl="1">
              <a:defRPr/>
            </a:pPr>
            <a:r>
              <a:rPr lang="en-US" dirty="0" smtClean="0">
                <a:latin typeface="Lucida Sans Unicode" charset="0"/>
              </a:rPr>
              <a:t>Thus run</a:t>
            </a:r>
            <a:r>
              <a:rPr lang="en-US" dirty="0">
                <a:latin typeface="Lucida Sans Unicode" charset="0"/>
              </a:rPr>
              <a:t>-time type </a:t>
            </a:r>
            <a:r>
              <a:rPr lang="en-US" dirty="0" smtClean="0">
                <a:latin typeface="Lucida Sans Unicode" charset="0"/>
              </a:rPr>
              <a:t>type clashes </a:t>
            </a:r>
            <a:r>
              <a:rPr lang="en-US" dirty="0">
                <a:latin typeface="Lucida Sans Unicode" charset="0"/>
              </a:rPr>
              <a:t>are </a:t>
            </a:r>
            <a:r>
              <a:rPr lang="en-US" dirty="0" smtClean="0">
                <a:latin typeface="Lucida Sans Unicode" charset="0"/>
              </a:rPr>
              <a:t>possible</a:t>
            </a:r>
            <a:endParaRPr lang="en-US" dirty="0">
              <a:latin typeface="Lucida Sans Unicode" charset="0"/>
            </a:endParaRPr>
          </a:p>
          <a:p>
            <a:pPr marL="362809" lvl="1" indent="0">
              <a:buNone/>
              <a:defRPr/>
            </a:pPr>
            <a:endParaRPr lang="en-US" b="1" dirty="0" smtClean="0">
              <a:latin typeface="Courier New" charset="0"/>
              <a:cs typeface="Courier New" charset="0"/>
            </a:endParaRPr>
          </a:p>
          <a:p>
            <a:pPr marL="362809" lvl="1" indent="0">
              <a:buNone/>
              <a:defRPr/>
            </a:pPr>
            <a:r>
              <a:rPr lang="en-US" b="1" dirty="0" smtClean="0">
                <a:latin typeface="Courier New" charset="0"/>
                <a:cs typeface="Courier New" charset="0"/>
              </a:rPr>
              <a:t>String</a:t>
            </a:r>
            <a:r>
              <a:rPr lang="en-US" b="1" dirty="0">
                <a:latin typeface="Courier New" charset="0"/>
                <a:cs typeface="Courier New" charset="0"/>
              </a:rPr>
              <a:t>[] as = new String[10];</a:t>
            </a:r>
          </a:p>
          <a:p>
            <a:pPr marL="362809" lvl="1" indent="0">
              <a:buNone/>
              <a:defRPr/>
            </a:pPr>
            <a:r>
              <a:rPr lang="en-US" b="1" dirty="0">
                <a:latin typeface="Courier New" charset="0"/>
                <a:cs typeface="Courier New" charset="0"/>
              </a:rPr>
              <a:t>Object[] </a:t>
            </a:r>
            <a:r>
              <a:rPr lang="en-US" b="1" dirty="0" err="1">
                <a:latin typeface="Courier New" charset="0"/>
                <a:cs typeface="Courier New" charset="0"/>
              </a:rPr>
              <a:t>ao</a:t>
            </a:r>
            <a:r>
              <a:rPr lang="en-US" b="1" dirty="0">
                <a:latin typeface="Courier New" charset="0"/>
                <a:cs typeface="Courier New" charset="0"/>
              </a:rPr>
              <a:t>;</a:t>
            </a:r>
          </a:p>
          <a:p>
            <a:pPr marL="362809" lvl="1" indent="0">
              <a:buNone/>
              <a:defRPr/>
            </a:pPr>
            <a:r>
              <a:rPr lang="en-US" b="1" dirty="0" err="1">
                <a:latin typeface="Courier New" charset="0"/>
                <a:cs typeface="Courier New" charset="0"/>
              </a:rPr>
              <a:t>ao</a:t>
            </a:r>
            <a:r>
              <a:rPr lang="en-US" b="1" dirty="0">
                <a:latin typeface="Courier New" charset="0"/>
                <a:cs typeface="Courier New" charset="0"/>
              </a:rPr>
              <a:t> = as; // this is </a:t>
            </a:r>
            <a:r>
              <a:rPr lang="en-US" b="1" dirty="0" smtClean="0">
                <a:latin typeface="Courier New" charset="0"/>
                <a:cs typeface="Courier New" charset="0"/>
              </a:rPr>
              <a:t>ok!!!</a:t>
            </a:r>
            <a:endParaRPr lang="en-US" b="1" dirty="0">
              <a:latin typeface="Courier New" charset="0"/>
              <a:cs typeface="Courier New" charset="0"/>
            </a:endParaRPr>
          </a:p>
          <a:p>
            <a:pPr marL="362809" lvl="1" indent="0">
              <a:buNone/>
              <a:defRPr/>
            </a:pPr>
            <a:r>
              <a:rPr lang="en-US" b="1" dirty="0" err="1">
                <a:latin typeface="Courier New" charset="0"/>
                <a:cs typeface="Courier New" charset="0"/>
              </a:rPr>
              <a:t>ao</a:t>
            </a:r>
            <a:r>
              <a:rPr lang="en-US" b="1" dirty="0">
                <a:latin typeface="Courier New" charset="0"/>
                <a:cs typeface="Courier New" charset="0"/>
              </a:rPr>
              <a:t>[1] = new Integer(1);</a:t>
            </a:r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3450696" y="6237312"/>
            <a:ext cx="5225760" cy="504056"/>
          </a:xfrm>
          <a:prstGeom prst="wedgeRoundRectCallout">
            <a:avLst>
              <a:gd name="adj1" fmla="val -70615"/>
              <a:gd name="adj2" fmla="val -145485"/>
              <a:gd name="adj3" fmla="val 16667"/>
            </a:avLst>
          </a:prstGeom>
          <a:solidFill>
            <a:srgbClr val="E6E0EC"/>
          </a:solidFill>
          <a:ln>
            <a:solidFill>
              <a:srgbClr val="8064A2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82918" tIns="41460" rIns="82918" bIns="41460" anchor="ctr"/>
          <a:lstStyle/>
          <a:p>
            <a:pPr algn="ctr" defTabSz="414597">
              <a:defRPr/>
            </a:pPr>
            <a:r>
              <a:rPr lang="en-US" sz="2500">
                <a:solidFill>
                  <a:srgbClr val="000000"/>
                </a:solidFill>
                <a:latin typeface="Lucida Sans Unicode" charset="0"/>
                <a:ea typeface="ＭＳ Ｐゴシック" charset="0"/>
                <a:cs typeface="Lucida Sans Unicode" charset="0"/>
              </a:rPr>
              <a:t>java.lang.ArrayStoreException</a:t>
            </a:r>
            <a:endParaRPr lang="en-US" sz="2500">
              <a:solidFill>
                <a:schemeClr val="bg1"/>
              </a:solidFill>
              <a:latin typeface="Lucida Sans Unicode" charset="0"/>
              <a:ea typeface="ＭＳ Ｐゴシック" charset="0"/>
              <a:cs typeface="Lucida Sans Unicode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AutoShape 1"/>
          <p:cNvSpPr>
            <a:spLocks noChangeArrowheads="1"/>
          </p:cNvSpPr>
          <p:nvPr/>
        </p:nvSpPr>
        <p:spPr bwMode="auto">
          <a:xfrm>
            <a:off x="488160" y="1791548"/>
            <a:ext cx="8548336" cy="1925483"/>
          </a:xfrm>
          <a:prstGeom prst="roundRect">
            <a:avLst>
              <a:gd name="adj" fmla="val 88"/>
            </a:avLst>
          </a:prstGeom>
          <a:solidFill>
            <a:srgbClr val="FDEADA"/>
          </a:solidFill>
          <a:ln w="9360">
            <a:solidFill>
              <a:srgbClr val="E46C0A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82918" tIns="41460" rIns="82918" bIns="41460" anchor="ctr"/>
          <a:lstStyle/>
          <a:p>
            <a:pPr>
              <a:defRPr/>
            </a:pPr>
            <a:endParaRPr lang="it-IT">
              <a:cs typeface="Lucida Sans Unicode" charset="0"/>
            </a:endParaRPr>
          </a:p>
        </p:txBody>
      </p:sp>
      <p:sp>
        <p:nvSpPr>
          <p:cNvPr id="60419" name="AutoShape 2"/>
          <p:cNvSpPr>
            <a:spLocks noChangeArrowheads="1"/>
          </p:cNvSpPr>
          <p:nvPr/>
        </p:nvSpPr>
        <p:spPr bwMode="auto">
          <a:xfrm>
            <a:off x="446402" y="4614255"/>
            <a:ext cx="8534880" cy="1046993"/>
          </a:xfrm>
          <a:prstGeom prst="roundRect">
            <a:avLst>
              <a:gd name="adj" fmla="val 264"/>
            </a:avLst>
          </a:prstGeom>
          <a:solidFill>
            <a:srgbClr val="FDEADA"/>
          </a:solidFill>
          <a:ln w="9360">
            <a:solidFill>
              <a:srgbClr val="E46C0A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82918" tIns="41460" rIns="82918" bIns="41460" anchor="ctr"/>
          <a:lstStyle/>
          <a:p>
            <a:pPr>
              <a:defRPr/>
            </a:pPr>
            <a:endParaRPr lang="it-IT">
              <a:cs typeface="Lucida Sans Unicode" charset="0"/>
            </a:endParaRPr>
          </a:p>
        </p:txBody>
      </p:sp>
      <p:sp>
        <p:nvSpPr>
          <p:cNvPr id="61444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227520" y="247708"/>
            <a:ext cx="8596800" cy="619265"/>
          </a:xfrm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101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  <a:tab pos="8533237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Invariance limitations</a:t>
            </a:r>
            <a:endParaRPr lang="en-GB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61445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609121" y="1294699"/>
            <a:ext cx="8215200" cy="4577125"/>
          </a:xfrm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101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An attempt to have a 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universal method</a:t>
            </a:r>
            <a:r>
              <a:rPr lang="en-GB" dirty="0">
                <a:latin typeface="Lucida Sans Unicode" charset="0"/>
                <a:cs typeface="Lucida Sans Unicode" charset="0"/>
              </a:rPr>
              <a:t>:</a:t>
            </a: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>
                <a:latin typeface="Courier New" charset="0"/>
                <a:cs typeface="Lucida Sans Unicode" charset="0"/>
              </a:rPr>
              <a:t>void </a:t>
            </a:r>
            <a:r>
              <a:rPr lang="en-GB" sz="2500" b="1" dirty="0" err="1" smtClean="0">
                <a:latin typeface="Courier New" charset="0"/>
                <a:cs typeface="Lucida Sans Unicode" charset="0"/>
              </a:rPr>
              <a:t>printPair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(Pair&lt;Object&gt; </a:t>
            </a:r>
            <a:r>
              <a:rPr lang="en-GB" sz="2500" b="1" dirty="0">
                <a:latin typeface="Courier New" charset="0"/>
                <a:cs typeface="Lucida Sans Unicode" charset="0"/>
              </a:rPr>
              <a:t>p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) {</a:t>
            </a: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 smtClean="0">
                <a:latin typeface="Courier New" charset="0"/>
                <a:cs typeface="Lucida Sans Unicode" charset="0"/>
              </a:rPr>
              <a:t>  </a:t>
            </a:r>
            <a:r>
              <a:rPr lang="en-GB" sz="2500" b="1" dirty="0" err="1" smtClean="0">
                <a:latin typeface="Courier New" charset="0"/>
                <a:cs typeface="Lucida Sans Unicode" charset="0"/>
              </a:rPr>
              <a:t>System.out.println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(</a:t>
            </a:r>
            <a:r>
              <a:rPr lang="en-GB" sz="2500" b="1" dirty="0" err="1" smtClean="0">
                <a:latin typeface="Courier New" charset="0"/>
                <a:cs typeface="Lucida Sans Unicode" charset="0"/>
              </a:rPr>
              <a:t>p.first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()+ </a:t>
            </a:r>
            <a:r>
              <a:rPr lang="en-GB" sz="2500" b="1" dirty="0">
                <a:latin typeface="Courier New" charset="0"/>
                <a:cs typeface="Lucida Sans Unicode" charset="0"/>
              </a:rPr>
              <a:t>"-" 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+ </a:t>
            </a: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 smtClean="0">
                <a:latin typeface="Courier New" charset="0"/>
                <a:cs typeface="Lucida Sans Unicode" charset="0"/>
              </a:rPr>
              <a:t>                     </a:t>
            </a:r>
            <a:r>
              <a:rPr lang="en-GB" sz="2500" b="1" dirty="0" err="1" smtClean="0">
                <a:latin typeface="Courier New" charset="0"/>
                <a:cs typeface="Lucida Sans Unicode" charset="0"/>
              </a:rPr>
              <a:t>p.second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());</a:t>
            </a: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 smtClean="0">
                <a:latin typeface="Courier New" charset="0"/>
                <a:cs typeface="Lucida Sans Unicode" charset="0"/>
              </a:rPr>
              <a:t>}</a:t>
            </a:r>
            <a:endParaRPr lang="en-GB" sz="2500" b="1" dirty="0">
              <a:latin typeface="Courier New" charset="0"/>
              <a:cs typeface="Lucida Sans Unicode" charset="0"/>
            </a:endParaRPr>
          </a:p>
          <a:p>
            <a:pPr lvl="3" eaLnBrk="1" hangingPunct="1">
              <a:lnSpc>
                <a:spcPct val="105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endParaRPr lang="en-GB" dirty="0" smtClean="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eaLnBrk="1" hangingPunct="1">
              <a:lnSpc>
                <a:spcPct val="105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Won't 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work with e.g. </a:t>
            </a:r>
            <a:r>
              <a:rPr lang="en-GB" b="1" dirty="0" smtClean="0">
                <a:latin typeface="Courier New"/>
                <a:ea typeface="Lucida Sans Unicode" charset="0"/>
                <a:cs typeface="Courier New"/>
              </a:rPr>
              <a:t>Pair&lt;Integer&gt;</a:t>
            </a:r>
            <a:endParaRPr lang="en-GB" b="1" dirty="0">
              <a:latin typeface="Courier New"/>
              <a:ea typeface="Lucida Sans Unicode" charset="0"/>
              <a:cs typeface="Courier New"/>
            </a:endParaRP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>
                <a:latin typeface="Courier New" charset="0"/>
                <a:cs typeface="Lucida Sans Unicode" charset="0"/>
              </a:rPr>
              <a:t>		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Pair&lt;</a:t>
            </a:r>
            <a:r>
              <a:rPr lang="en-GB" sz="2500" b="1" dirty="0">
                <a:latin typeface="Courier New" charset="0"/>
                <a:cs typeface="Lucida Sans Unicode" charset="0"/>
              </a:rPr>
              <a:t>Integer&gt; p = new 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Pair&lt;</a:t>
            </a:r>
            <a:r>
              <a:rPr lang="en-GB" sz="2500" b="1" dirty="0">
                <a:latin typeface="Courier New" charset="0"/>
                <a:cs typeface="Lucida Sans Unicode" charset="0"/>
              </a:rPr>
              <a:t>&gt;(7,4)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;</a:t>
            </a:r>
            <a:endParaRPr lang="en-GB" sz="2500" b="1" dirty="0">
              <a:latin typeface="Courier New" charset="0"/>
              <a:cs typeface="Lucida Sans Unicode" charset="0"/>
            </a:endParaRP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>
                <a:latin typeface="Courier New" charset="0"/>
                <a:cs typeface="Lucida Sans Unicode" charset="0"/>
              </a:rPr>
              <a:t>		</a:t>
            </a:r>
            <a:r>
              <a:rPr lang="en-GB" sz="2500" b="1" dirty="0" err="1" smtClean="0">
                <a:latin typeface="Courier New" charset="0"/>
                <a:cs typeface="Lucida Sans Unicode" charset="0"/>
              </a:rPr>
              <a:t>printPair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(</a:t>
            </a:r>
            <a:r>
              <a:rPr lang="en-GB" sz="2500" b="1" dirty="0">
                <a:latin typeface="Courier New" charset="0"/>
                <a:cs typeface="Lucida Sans Unicode" charset="0"/>
              </a:rPr>
              <a:t>p)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;</a:t>
            </a:r>
            <a:r>
              <a:rPr lang="en-GB" sz="2400" b="1" dirty="0">
                <a:latin typeface="Courier New" charset="0"/>
                <a:cs typeface="Lucida Sans Unicode" charset="0"/>
              </a:rPr>
              <a:t/>
            </a:r>
            <a:br>
              <a:rPr lang="en-GB" sz="2400" b="1" dirty="0">
                <a:latin typeface="Courier New" charset="0"/>
                <a:cs typeface="Lucida Sans Unicode" charset="0"/>
              </a:rPr>
            </a:br>
            <a:endParaRPr lang="en-GB" sz="2400" b="1" dirty="0">
              <a:latin typeface="Courier New" charset="0"/>
              <a:cs typeface="Lucida Sans Unicode" charset="0"/>
            </a:endParaRPr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4572000" y="5661248"/>
            <a:ext cx="4248472" cy="792088"/>
          </a:xfrm>
          <a:prstGeom prst="wedgeRoundRectCallout">
            <a:avLst>
              <a:gd name="adj1" fmla="val -75190"/>
              <a:gd name="adj2" fmla="val -88228"/>
              <a:gd name="adj3" fmla="val 16667"/>
            </a:avLst>
          </a:prstGeom>
          <a:solidFill>
            <a:srgbClr val="E6E0EC"/>
          </a:solidFill>
          <a:ln>
            <a:solidFill>
              <a:srgbClr val="8064A2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82918" tIns="41460" rIns="82918" bIns="41460" anchor="ctr"/>
          <a:lstStyle/>
          <a:p>
            <a:pPr algn="ctr" defTabSz="414597">
              <a:defRPr/>
            </a:pPr>
            <a:r>
              <a:rPr lang="en-US" sz="2500" dirty="0" smtClean="0">
                <a:solidFill>
                  <a:srgbClr val="000000"/>
                </a:solidFill>
                <a:latin typeface="Lucida Sans Unicode" charset="0"/>
                <a:ea typeface="ＭＳ Ｐゴシック" charset="0"/>
                <a:cs typeface="Lucida Sans Unicode" charset="0"/>
              </a:rPr>
              <a:t>Method is not applicable for the argument</a:t>
            </a:r>
            <a:endParaRPr lang="en-US" sz="2500" dirty="0">
              <a:solidFill>
                <a:schemeClr val="bg1"/>
              </a:solidFill>
              <a:latin typeface="Lucida Sans Unicode" charset="0"/>
              <a:ea typeface="ＭＳ Ｐゴシック" charset="0"/>
              <a:cs typeface="Lucida Sans Unicode" charset="0"/>
            </a:endParaRP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AutoShape 1"/>
          <p:cNvSpPr>
            <a:spLocks noChangeArrowheads="1"/>
          </p:cNvSpPr>
          <p:nvPr/>
        </p:nvSpPr>
        <p:spPr bwMode="auto">
          <a:xfrm>
            <a:off x="488160" y="1791548"/>
            <a:ext cx="8548336" cy="1925483"/>
          </a:xfrm>
          <a:prstGeom prst="roundRect">
            <a:avLst>
              <a:gd name="adj" fmla="val 88"/>
            </a:avLst>
          </a:prstGeom>
          <a:solidFill>
            <a:srgbClr val="FDEADA"/>
          </a:solidFill>
          <a:ln w="9360">
            <a:solidFill>
              <a:srgbClr val="E46C0A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82918" tIns="41460" rIns="82918" bIns="41460" anchor="ctr"/>
          <a:lstStyle/>
          <a:p>
            <a:pPr>
              <a:defRPr/>
            </a:pPr>
            <a:endParaRPr lang="it-IT">
              <a:cs typeface="Lucida Sans Unicode" charset="0"/>
            </a:endParaRPr>
          </a:p>
        </p:txBody>
      </p:sp>
      <p:sp>
        <p:nvSpPr>
          <p:cNvPr id="61444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227520" y="247708"/>
            <a:ext cx="8596800" cy="619265"/>
          </a:xfrm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101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  <a:tab pos="8533237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Invariance limitations</a:t>
            </a:r>
            <a:endParaRPr lang="en-GB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61445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609121" y="1294699"/>
            <a:ext cx="8215200" cy="4330903"/>
          </a:xfrm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101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Universal method</a:t>
            </a:r>
            <a:r>
              <a:rPr lang="en-GB" dirty="0">
                <a:latin typeface="Lucida Sans Unicode" charset="0"/>
                <a:cs typeface="Lucida Sans Unicode" charset="0"/>
              </a:rPr>
              <a:t> 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must be generic</a:t>
            </a:r>
            <a:endParaRPr lang="en-GB" dirty="0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 smtClean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&lt;T&gt;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 void </a:t>
            </a:r>
            <a:r>
              <a:rPr lang="en-GB" sz="2500" b="1" dirty="0" err="1" smtClean="0">
                <a:latin typeface="Courier New" charset="0"/>
                <a:cs typeface="Lucida Sans Unicode" charset="0"/>
              </a:rPr>
              <a:t>printPair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(Pair&lt;</a:t>
            </a:r>
            <a:r>
              <a:rPr lang="en-GB" sz="2500" b="1" dirty="0" smtClean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T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&gt; </a:t>
            </a:r>
            <a:r>
              <a:rPr lang="en-GB" sz="2500" b="1" dirty="0">
                <a:latin typeface="Courier New" charset="0"/>
                <a:cs typeface="Lucida Sans Unicode" charset="0"/>
              </a:rPr>
              <a:t>p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) {</a:t>
            </a: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 smtClean="0">
                <a:latin typeface="Courier New" charset="0"/>
                <a:cs typeface="Lucida Sans Unicode" charset="0"/>
              </a:rPr>
              <a:t>  </a:t>
            </a:r>
            <a:r>
              <a:rPr lang="en-GB" sz="2500" b="1" dirty="0" err="1" smtClean="0">
                <a:latin typeface="Courier New" charset="0"/>
                <a:cs typeface="Lucida Sans Unicode" charset="0"/>
              </a:rPr>
              <a:t>System.out.println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(</a:t>
            </a:r>
            <a:r>
              <a:rPr lang="en-GB" sz="2500" b="1" dirty="0" err="1" smtClean="0">
                <a:latin typeface="Courier New" charset="0"/>
                <a:cs typeface="Lucida Sans Unicode" charset="0"/>
              </a:rPr>
              <a:t>p.first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()+ </a:t>
            </a:r>
            <a:r>
              <a:rPr lang="en-GB" sz="2500" b="1" dirty="0">
                <a:latin typeface="Courier New" charset="0"/>
                <a:cs typeface="Lucida Sans Unicode" charset="0"/>
              </a:rPr>
              <a:t>"-" 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+ </a:t>
            </a: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 smtClean="0">
                <a:latin typeface="Courier New" charset="0"/>
                <a:cs typeface="Lucida Sans Unicode" charset="0"/>
              </a:rPr>
              <a:t>                     </a:t>
            </a:r>
            <a:r>
              <a:rPr lang="en-GB" sz="2500" b="1" dirty="0" err="1" smtClean="0">
                <a:latin typeface="Courier New" charset="0"/>
                <a:cs typeface="Lucida Sans Unicode" charset="0"/>
              </a:rPr>
              <a:t>p.second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());</a:t>
            </a: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 smtClean="0">
                <a:latin typeface="Courier New" charset="0"/>
                <a:cs typeface="Lucida Sans Unicode" charset="0"/>
              </a:rPr>
              <a:t>}</a:t>
            </a:r>
            <a:endParaRPr lang="en-GB" sz="2500" b="1" dirty="0">
              <a:latin typeface="Courier New" charset="0"/>
              <a:cs typeface="Lucida Sans Unicode" charset="0"/>
            </a:endParaRPr>
          </a:p>
          <a:p>
            <a:pPr lvl="3" eaLnBrk="1" hangingPunct="1">
              <a:lnSpc>
                <a:spcPct val="105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endParaRPr lang="en-GB" dirty="0" smtClean="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eaLnBrk="1" hangingPunct="1">
              <a:lnSpc>
                <a:spcPct val="105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Even if declared as generic, the method in itself is not generic</a:t>
            </a:r>
          </a:p>
          <a:p>
            <a:pPr lvl="1" eaLnBrk="1" hangingPunct="1">
              <a:lnSpc>
                <a:spcPct val="105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Type T is never mentioned in the method</a:t>
            </a:r>
          </a:p>
        </p:txBody>
      </p:sp>
    </p:spTree>
    <p:extLst>
      <p:ext uri="{BB962C8B-B14F-4D97-AF65-F5344CB8AC3E}">
        <p14:creationId xmlns:p14="http://schemas.microsoft.com/office/powerpoint/2010/main" val="658191621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7520" y="247708"/>
            <a:ext cx="8596800" cy="619265"/>
          </a:xfrm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101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  <a:tab pos="8533237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Wildcards</a:t>
            </a:r>
          </a:p>
        </p:txBody>
      </p:sp>
      <p:sp>
        <p:nvSpPr>
          <p:cNvPr id="65539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09121" y="1294697"/>
            <a:ext cx="8215200" cy="4474549"/>
          </a:xfrm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101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Allow to express (lack of) constraints when </a:t>
            </a:r>
            <a:r>
              <a:rPr lang="en-GB" i="1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using</a:t>
            </a:r>
            <a:r>
              <a:rPr lang="en-GB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 </a:t>
            </a:r>
            <a:r>
              <a:rPr lang="en-GB" dirty="0">
                <a:latin typeface="Lucida Sans Unicode" charset="0"/>
                <a:cs typeface="Lucida Sans Unicode" charset="0"/>
              </a:rPr>
              <a:t>generic types</a:t>
            </a:r>
          </a:p>
          <a:p>
            <a:pPr eaLnBrk="1" hangingPunct="1">
              <a:lnSpc>
                <a:spcPct val="80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b="1" dirty="0" smtClean="0">
                <a:latin typeface="Courier New" charset="0"/>
                <a:cs typeface="Lucida Sans Unicode" charset="0"/>
              </a:rPr>
              <a:t>&lt;</a:t>
            </a:r>
            <a:r>
              <a:rPr lang="en-GB" b="1" dirty="0">
                <a:solidFill>
                  <a:srgbClr val="FF6633"/>
                </a:solidFill>
                <a:latin typeface="Courier New" charset="0"/>
                <a:cs typeface="Lucida Sans Unicode" charset="0"/>
              </a:rPr>
              <a:t>?</a:t>
            </a:r>
            <a:r>
              <a:rPr lang="en-GB" b="1" dirty="0">
                <a:latin typeface="Courier New" charset="0"/>
                <a:cs typeface="Lucida Sans Unicode" charset="0"/>
              </a:rPr>
              <a:t>&gt;</a:t>
            </a:r>
          </a:p>
          <a:p>
            <a:pPr lvl="1" eaLnBrk="1" hangingPunct="1">
              <a:lnSpc>
                <a:spcPct val="91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 smtClean="0">
                <a:solidFill>
                  <a:srgbClr val="FF6600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unknown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, unbounded</a:t>
            </a:r>
          </a:p>
          <a:p>
            <a:pPr eaLnBrk="1" hangingPunct="1">
              <a:lnSpc>
                <a:spcPct val="80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b="1" dirty="0" smtClean="0">
                <a:latin typeface="Courier New" charset="0"/>
                <a:cs typeface="Lucida Sans Unicode" charset="0"/>
              </a:rPr>
              <a:t>&lt;</a:t>
            </a:r>
            <a:r>
              <a:rPr lang="en-GB" b="1" dirty="0">
                <a:solidFill>
                  <a:srgbClr val="FF6633"/>
                </a:solidFill>
                <a:latin typeface="Courier New" charset="0"/>
                <a:cs typeface="Lucida Sans Unicode" charset="0"/>
              </a:rPr>
              <a:t>? extends</a:t>
            </a:r>
            <a:r>
              <a:rPr lang="en-GB" b="1" dirty="0">
                <a:latin typeface="Courier New" charset="0"/>
                <a:cs typeface="Lucida Sans Unicode" charset="0"/>
              </a:rPr>
              <a:t> B&gt;</a:t>
            </a:r>
          </a:p>
          <a:p>
            <a:pPr lvl="1" eaLnBrk="1" hangingPunct="1">
              <a:lnSpc>
                <a:spcPct val="91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upper bound: only sub-types of B</a:t>
            </a:r>
          </a:p>
          <a:p>
            <a:pPr lvl="2" eaLnBrk="1" hangingPunct="1">
              <a:lnSpc>
                <a:spcPct val="91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I</a:t>
            </a:r>
            <a:r>
              <a:rPr lang="en-GB" dirty="0" err="1">
                <a:latin typeface="Lucida Sans Unicode" charset="0"/>
                <a:ea typeface="Lucida Sans Unicode" charset="0"/>
                <a:cs typeface="Lucida Sans Unicode" charset="0"/>
              </a:rPr>
              <a:t>ncluding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 B</a:t>
            </a:r>
          </a:p>
          <a:p>
            <a:pPr eaLnBrk="1" hangingPunct="1">
              <a:lnSpc>
                <a:spcPct val="80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b="1" dirty="0" smtClean="0">
                <a:latin typeface="Courier New" charset="0"/>
                <a:cs typeface="Lucida Sans Unicode" charset="0"/>
              </a:rPr>
              <a:t>&lt;</a:t>
            </a:r>
            <a:r>
              <a:rPr lang="en-GB" b="1" dirty="0">
                <a:solidFill>
                  <a:srgbClr val="FF6633"/>
                </a:solidFill>
                <a:latin typeface="Courier New" charset="0"/>
                <a:cs typeface="Lucida Sans Unicode" charset="0"/>
              </a:rPr>
              <a:t>? super</a:t>
            </a:r>
            <a:r>
              <a:rPr lang="en-GB" b="1" dirty="0">
                <a:latin typeface="Courier New" charset="0"/>
                <a:cs typeface="Lucida Sans Unicode" charset="0"/>
              </a:rPr>
              <a:t> D&gt;</a:t>
            </a:r>
          </a:p>
          <a:p>
            <a:pPr lvl="1" eaLnBrk="1" hangingPunct="1">
              <a:lnSpc>
                <a:spcPct val="91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lower bound: only super-types of D</a:t>
            </a:r>
          </a:p>
          <a:p>
            <a:pPr lvl="2" eaLnBrk="1" hangingPunct="1">
              <a:lnSpc>
                <a:spcPct val="91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I</a:t>
            </a:r>
            <a:r>
              <a:rPr lang="en-GB" dirty="0" err="1">
                <a:latin typeface="Lucida Sans Unicode" charset="0"/>
                <a:ea typeface="Lucida Sans Unicode" charset="0"/>
                <a:cs typeface="Lucida Sans Unicode" charset="0"/>
              </a:rPr>
              <a:t>ncluding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 D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1"/>
          <p:cNvSpPr>
            <a:spLocks noChangeArrowheads="1"/>
          </p:cNvSpPr>
          <p:nvPr/>
        </p:nvSpPr>
        <p:spPr bwMode="auto">
          <a:xfrm>
            <a:off x="488160" y="4581129"/>
            <a:ext cx="8548336" cy="1512168"/>
          </a:xfrm>
          <a:prstGeom prst="roundRect">
            <a:avLst>
              <a:gd name="adj" fmla="val 88"/>
            </a:avLst>
          </a:prstGeom>
          <a:solidFill>
            <a:srgbClr val="FDEADA"/>
          </a:solidFill>
          <a:ln w="9360">
            <a:solidFill>
              <a:srgbClr val="E46C0A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82918" tIns="41460" rIns="82918" bIns="41460" anchor="ctr"/>
          <a:lstStyle/>
          <a:p>
            <a:pPr>
              <a:defRPr/>
            </a:pPr>
            <a:endParaRPr lang="it-IT">
              <a:cs typeface="Lucida Sans Unicode" charset="0"/>
            </a:endParaRPr>
          </a:p>
        </p:txBody>
      </p:sp>
      <p:sp>
        <p:nvSpPr>
          <p:cNvPr id="60418" name="AutoShape 1"/>
          <p:cNvSpPr>
            <a:spLocks noChangeArrowheads="1"/>
          </p:cNvSpPr>
          <p:nvPr/>
        </p:nvSpPr>
        <p:spPr bwMode="auto">
          <a:xfrm>
            <a:off x="488160" y="1791548"/>
            <a:ext cx="8548336" cy="1925483"/>
          </a:xfrm>
          <a:prstGeom prst="roundRect">
            <a:avLst>
              <a:gd name="adj" fmla="val 88"/>
            </a:avLst>
          </a:prstGeom>
          <a:solidFill>
            <a:srgbClr val="FDEADA"/>
          </a:solidFill>
          <a:ln w="9360">
            <a:solidFill>
              <a:srgbClr val="E46C0A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82918" tIns="41460" rIns="82918" bIns="41460" anchor="ctr"/>
          <a:lstStyle/>
          <a:p>
            <a:pPr>
              <a:defRPr/>
            </a:pPr>
            <a:endParaRPr lang="it-IT">
              <a:cs typeface="Lucida Sans Unicode" charset="0"/>
            </a:endParaRPr>
          </a:p>
        </p:txBody>
      </p:sp>
      <p:sp>
        <p:nvSpPr>
          <p:cNvPr id="61444" name="Rectangle 3"/>
          <p:cNvSpPr>
            <a:spLocks noGrp="1" noChangeArrowheads="1"/>
          </p:cNvSpPr>
          <p:nvPr>
            <p:ph type="title"/>
          </p:nvPr>
        </p:nvSpPr>
        <p:spPr/>
        <p:txBody>
          <a:bodyPr lIns="0" tIns="0" rIns="0" bIns="0">
            <a:spAutoFit/>
          </a:bodyPr>
          <a:lstStyle/>
          <a:p>
            <a:pPr eaLnBrk="1" hangingPunct="1">
              <a:lnSpc>
                <a:spcPct val="101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  <a:tab pos="8533237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Invariance limitations</a:t>
            </a:r>
            <a:endParaRPr lang="en-GB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61445" name="Rectangle 4"/>
          <p:cNvSpPr>
            <a:spLocks noGrp="1" noChangeArrowheads="1"/>
          </p:cNvSpPr>
          <p:nvPr>
            <p:ph idx="1"/>
          </p:nvPr>
        </p:nvSpPr>
        <p:spPr/>
        <p:txBody>
          <a:bodyPr lIns="0" tIns="0" rIns="0" bIns="0">
            <a:normAutofit/>
          </a:bodyPr>
          <a:lstStyle/>
          <a:p>
            <a:pPr eaLnBrk="1" hangingPunct="1">
              <a:lnSpc>
                <a:spcPct val="101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Universal method</a:t>
            </a:r>
            <a:r>
              <a:rPr lang="en-GB" dirty="0">
                <a:latin typeface="Lucida Sans Unicode" charset="0"/>
                <a:cs typeface="Lucida Sans Unicode" charset="0"/>
              </a:rPr>
              <a:t> 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must be generic</a:t>
            </a:r>
            <a:endParaRPr lang="en-GB" dirty="0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 smtClean="0">
                <a:latin typeface="Courier New" charset="0"/>
                <a:cs typeface="Lucida Sans Unicode" charset="0"/>
              </a:rPr>
              <a:t>void </a:t>
            </a:r>
            <a:r>
              <a:rPr lang="en-GB" sz="2500" b="1" dirty="0" err="1" smtClean="0">
                <a:latin typeface="Courier New" charset="0"/>
                <a:cs typeface="Lucida Sans Unicode" charset="0"/>
              </a:rPr>
              <a:t>printPair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(Pair&lt;</a:t>
            </a:r>
            <a:r>
              <a:rPr lang="en-GB" sz="2500" b="1" dirty="0" smtClean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?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&gt; </a:t>
            </a:r>
            <a:r>
              <a:rPr lang="en-GB" sz="2500" b="1" dirty="0">
                <a:latin typeface="Courier New" charset="0"/>
                <a:cs typeface="Lucida Sans Unicode" charset="0"/>
              </a:rPr>
              <a:t>p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) {</a:t>
            </a: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 smtClean="0">
                <a:latin typeface="Courier New" charset="0"/>
                <a:cs typeface="Lucida Sans Unicode" charset="0"/>
              </a:rPr>
              <a:t>  </a:t>
            </a:r>
            <a:r>
              <a:rPr lang="en-GB" sz="2500" b="1" dirty="0" err="1" smtClean="0">
                <a:latin typeface="Courier New" charset="0"/>
                <a:cs typeface="Lucida Sans Unicode" charset="0"/>
              </a:rPr>
              <a:t>System.out.println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(</a:t>
            </a:r>
            <a:r>
              <a:rPr lang="en-GB" sz="2500" b="1" dirty="0" err="1" smtClean="0">
                <a:latin typeface="Courier New" charset="0"/>
                <a:cs typeface="Lucida Sans Unicode" charset="0"/>
              </a:rPr>
              <a:t>p.first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()+ </a:t>
            </a:r>
            <a:r>
              <a:rPr lang="en-GB" sz="2500" b="1" dirty="0">
                <a:latin typeface="Courier New" charset="0"/>
                <a:cs typeface="Lucida Sans Unicode" charset="0"/>
              </a:rPr>
              <a:t>"-" 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+ </a:t>
            </a: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 smtClean="0">
                <a:latin typeface="Courier New" charset="0"/>
                <a:cs typeface="Lucida Sans Unicode" charset="0"/>
              </a:rPr>
              <a:t>                     </a:t>
            </a:r>
            <a:r>
              <a:rPr lang="en-GB" sz="2500" b="1" dirty="0" err="1" smtClean="0">
                <a:latin typeface="Courier New" charset="0"/>
                <a:cs typeface="Lucida Sans Unicode" charset="0"/>
              </a:rPr>
              <a:t>p.second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());</a:t>
            </a: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 smtClean="0">
                <a:latin typeface="Courier New" charset="0"/>
                <a:cs typeface="Lucida Sans Unicode" charset="0"/>
              </a:rPr>
              <a:t>}</a:t>
            </a:r>
            <a:endParaRPr lang="en-GB" sz="2500" b="1" dirty="0">
              <a:latin typeface="Courier New" charset="0"/>
              <a:cs typeface="Lucida Sans Unicode" charset="0"/>
            </a:endParaRPr>
          </a:p>
          <a:p>
            <a:pPr lvl="3" eaLnBrk="1" hangingPunct="1">
              <a:lnSpc>
                <a:spcPct val="105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endParaRPr lang="en-GB" dirty="0" smtClean="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eaLnBrk="1" hangingPunct="1">
              <a:lnSpc>
                <a:spcPct val="105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Compiler treats unknowns conservatively</a:t>
            </a: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>
                <a:latin typeface="Courier New" charset="0"/>
                <a:cs typeface="Lucida Sans Unicode" charset="0"/>
              </a:rPr>
              <a:t>void </a:t>
            </a:r>
            <a:r>
              <a:rPr lang="en-GB" sz="2500" b="1" dirty="0" err="1" smtClean="0">
                <a:latin typeface="Courier New" charset="0"/>
                <a:cs typeface="Lucida Sans Unicode" charset="0"/>
              </a:rPr>
              <a:t>clearFirst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(</a:t>
            </a:r>
            <a:r>
              <a:rPr lang="en-GB" sz="2500" b="1" dirty="0">
                <a:latin typeface="Courier New" charset="0"/>
                <a:cs typeface="Lucida Sans Unicode" charset="0"/>
              </a:rPr>
              <a:t>Pair&lt;?&gt; p) {</a:t>
            </a: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>
                <a:latin typeface="Courier New" charset="0"/>
                <a:cs typeface="Lucida Sans Unicode" charset="0"/>
              </a:rPr>
              <a:t>  </a:t>
            </a:r>
            <a:r>
              <a:rPr lang="en-GB" sz="2500" b="1" dirty="0" err="1" smtClean="0">
                <a:latin typeface="Courier New" charset="0"/>
                <a:cs typeface="Lucida Sans Unicode" charset="0"/>
              </a:rPr>
              <a:t>p.setFirst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("");</a:t>
            </a:r>
            <a:endParaRPr lang="en-GB" sz="2500" b="1" dirty="0">
              <a:latin typeface="Courier New" charset="0"/>
              <a:cs typeface="Lucida Sans Unicode" charset="0"/>
            </a:endParaRP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 smtClean="0">
                <a:latin typeface="Courier New" charset="0"/>
                <a:cs typeface="Lucida Sans Unicode" charset="0"/>
              </a:rPr>
              <a:t>}</a:t>
            </a:r>
            <a:endParaRPr lang="en-GB" sz="2500" b="1" dirty="0">
              <a:latin typeface="Courier New" charset="0"/>
              <a:cs typeface="Lucida Sans Unicode" charset="0"/>
            </a:endParaRPr>
          </a:p>
        </p:txBody>
      </p:sp>
      <p:sp>
        <p:nvSpPr>
          <p:cNvPr id="5" name="AutoShape 6"/>
          <p:cNvSpPr>
            <a:spLocks noChangeArrowheads="1"/>
          </p:cNvSpPr>
          <p:nvPr/>
        </p:nvSpPr>
        <p:spPr bwMode="auto">
          <a:xfrm>
            <a:off x="6363354" y="1772816"/>
            <a:ext cx="2779031" cy="504056"/>
          </a:xfrm>
          <a:prstGeom prst="wedgeRoundRectCallout">
            <a:avLst>
              <a:gd name="adj1" fmla="val -90088"/>
              <a:gd name="adj2" fmla="val -29156"/>
              <a:gd name="adj3" fmla="val 16667"/>
            </a:avLst>
          </a:prstGeom>
          <a:solidFill>
            <a:srgbClr val="E6E0EC"/>
          </a:solidFill>
          <a:ln w="9360">
            <a:solidFill>
              <a:srgbClr val="8064A2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5000" rIns="90000" bIns="45000" anchor="ctr"/>
          <a:lstStyle/>
          <a:p>
            <a:pPr>
              <a:lnSpc>
                <a:spcPct val="83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</a:tabLst>
              <a:defRPr/>
            </a:pPr>
            <a:r>
              <a:rPr lang="en-GB" sz="2400" dirty="0" smtClean="0">
                <a:solidFill>
                  <a:srgbClr val="000000"/>
                </a:solidFill>
              </a:rPr>
              <a:t>Pair of </a:t>
            </a:r>
            <a:r>
              <a:rPr lang="en-GB" sz="2400" dirty="0">
                <a:solidFill>
                  <a:srgbClr val="000000"/>
                </a:solidFill>
              </a:rPr>
              <a:t>unknown</a:t>
            </a:r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4788024" y="5661248"/>
            <a:ext cx="4248472" cy="792088"/>
          </a:xfrm>
          <a:prstGeom prst="wedgeRoundRectCallout">
            <a:avLst>
              <a:gd name="adj1" fmla="val -93491"/>
              <a:gd name="adj2" fmla="val -65325"/>
              <a:gd name="adj3" fmla="val 16667"/>
            </a:avLst>
          </a:prstGeom>
          <a:solidFill>
            <a:srgbClr val="E6E0EC"/>
          </a:solidFill>
          <a:ln>
            <a:solidFill>
              <a:srgbClr val="8064A2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82918" tIns="41460" rIns="82918" bIns="41460" anchor="ctr"/>
          <a:lstStyle/>
          <a:p>
            <a:pPr algn="ctr" defTabSz="414597">
              <a:defRPr/>
            </a:pPr>
            <a:r>
              <a:rPr lang="en-US" sz="2500" dirty="0" smtClean="0">
                <a:solidFill>
                  <a:srgbClr val="000000"/>
                </a:solidFill>
                <a:latin typeface="Lucida Sans Unicode" charset="0"/>
                <a:ea typeface="ＭＳ Ｐゴシック" charset="0"/>
                <a:cs typeface="Lucida Sans Unicode" charset="0"/>
              </a:rPr>
              <a:t>Method is not applicable for the argument</a:t>
            </a:r>
            <a:endParaRPr lang="en-US" sz="2500" dirty="0">
              <a:solidFill>
                <a:schemeClr val="bg1"/>
              </a:solidFill>
              <a:latin typeface="Lucida Sans Unicode" charset="0"/>
              <a:ea typeface="ＭＳ Ｐゴシック" charset="0"/>
              <a:cs typeface="Lucida Sans Unicode" charset="0"/>
            </a:endParaRPr>
          </a:p>
        </p:txBody>
      </p:sp>
      <p:sp>
        <p:nvSpPr>
          <p:cNvPr id="8" name="Line 7"/>
          <p:cNvSpPr>
            <a:spLocks noChangeShapeType="1"/>
          </p:cNvSpPr>
          <p:nvPr/>
        </p:nvSpPr>
        <p:spPr bwMode="auto">
          <a:xfrm flipV="1">
            <a:off x="3491880" y="2276872"/>
            <a:ext cx="1368152" cy="0"/>
          </a:xfrm>
          <a:prstGeom prst="line">
            <a:avLst/>
          </a:prstGeom>
          <a:solidFill>
            <a:srgbClr val="FDE5CD"/>
          </a:solidFill>
          <a:ln w="36720">
            <a:solidFill>
              <a:srgbClr val="FF6633"/>
            </a:solidFill>
            <a:round/>
            <a:headEnd/>
            <a:tailEnd/>
          </a:ln>
          <a:extLst/>
        </p:spPr>
        <p:txBody>
          <a:bodyPr/>
          <a:lstStyle/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61701488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4" name="Rectangle 3"/>
          <p:cNvSpPr>
            <a:spLocks noGrp="1" noChangeArrowheads="1"/>
          </p:cNvSpPr>
          <p:nvPr>
            <p:ph type="title"/>
          </p:nvPr>
        </p:nvSpPr>
        <p:spPr>
          <a:xfrm>
            <a:off x="227520" y="246278"/>
            <a:ext cx="8593920" cy="620683"/>
          </a:xfrm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101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  <a:tab pos="8533237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Wildcards</a:t>
            </a:r>
            <a:endParaRPr lang="en-GB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61445" name="Rectangle 4"/>
          <p:cNvSpPr>
            <a:spLocks noGrp="1" noChangeArrowheads="1"/>
          </p:cNvSpPr>
          <p:nvPr>
            <p:ph idx="1"/>
          </p:nvPr>
        </p:nvSpPr>
        <p:spPr/>
        <p:txBody>
          <a:bodyPr lIns="0" tIns="0" rIns="0" bIns="0">
            <a:normAutofit/>
          </a:bodyPr>
          <a:lstStyle/>
          <a:p>
            <a:pPr eaLnBrk="1" hangingPunct="1">
              <a:lnSpc>
                <a:spcPct val="105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The </a:t>
            </a:r>
            <a:r>
              <a:rPr lang="en-GB" sz="3200" b="1" dirty="0" smtClean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? 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(unknown) type is literally unknown therefore the compiler treats it in the safest possible way:</a:t>
            </a:r>
          </a:p>
          <a:p>
            <a:pPr lvl="1" eaLnBrk="1" hangingPunct="1">
              <a:lnSpc>
                <a:spcPct val="105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Only method from </a:t>
            </a:r>
            <a:r>
              <a:rPr lang="en-GB" b="1" dirty="0">
                <a:latin typeface="Courier New" charset="0"/>
                <a:ea typeface="ＭＳ Ｐゴシック" charset="0"/>
                <a:cs typeface="Lucida Sans Unicode" charset="0"/>
              </a:rPr>
              <a:t>Object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 are allowed</a:t>
            </a:r>
          </a:p>
          <a:p>
            <a:pPr lvl="1" eaLnBrk="1" hangingPunct="1">
              <a:lnSpc>
                <a:spcPct val="105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Assignment to an unknown reference is illegal</a:t>
            </a:r>
            <a:endParaRPr lang="en-GB" dirty="0">
              <a:latin typeface="Lucida Sans Unicode" charset="0"/>
              <a:cs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163565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"/>
          <p:cNvSpPr>
            <a:spLocks noChangeArrowheads="1"/>
          </p:cNvSpPr>
          <p:nvPr/>
        </p:nvSpPr>
        <p:spPr bwMode="auto">
          <a:xfrm>
            <a:off x="179512" y="1268760"/>
            <a:ext cx="8784976" cy="4824536"/>
          </a:xfrm>
          <a:prstGeom prst="roundRect">
            <a:avLst>
              <a:gd name="adj" fmla="val 74"/>
            </a:avLst>
          </a:prstGeom>
          <a:solidFill>
            <a:srgbClr val="FDEADA"/>
          </a:solidFill>
          <a:ln w="9360">
            <a:solidFill>
              <a:srgbClr val="E46C0A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82918" tIns="41460" rIns="82918" bIns="41460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63490" name="Rectangle 1"/>
          <p:cNvSpPr>
            <a:spLocks noGrp="1" noChangeArrowheads="1"/>
          </p:cNvSpPr>
          <p:nvPr>
            <p:ph type="title"/>
          </p:nvPr>
        </p:nvSpPr>
        <p:spPr/>
        <p:txBody>
          <a:bodyPr lIns="0" tIns="0" rIns="0" bIns="0">
            <a:spAutoFit/>
          </a:bodyPr>
          <a:lstStyle/>
          <a:p>
            <a:pPr eaLnBrk="1" hangingPunct="1">
              <a:lnSpc>
                <a:spcPct val="101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  <a:tab pos="8533237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Bounded wildcard - example</a:t>
            </a:r>
          </a:p>
        </p:txBody>
      </p:sp>
      <p:sp>
        <p:nvSpPr>
          <p:cNvPr id="63491" name="Rectangle 2"/>
          <p:cNvSpPr>
            <a:spLocks noGrp="1" noChangeArrowheads="1"/>
          </p:cNvSpPr>
          <p:nvPr>
            <p:ph idx="1"/>
          </p:nvPr>
        </p:nvSpPr>
        <p:spPr/>
        <p:txBody>
          <a:bodyPr lIns="0" tIns="0" rIns="0" bIns="0">
            <a:normAutofit/>
          </a:bodyPr>
          <a:lstStyle/>
          <a:p>
            <a:pPr marL="0" indent="0"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endParaRPr lang="en-GB" sz="2500" b="1" dirty="0" smtClean="0">
              <a:latin typeface="Courier New" charset="0"/>
              <a:cs typeface="Lucida Sans Unicode" charset="0"/>
            </a:endParaRPr>
          </a:p>
          <a:p>
            <a:pPr marL="0" indent="0"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 smtClean="0">
                <a:latin typeface="Courier New" charset="0"/>
                <a:cs typeface="Lucida Sans Unicode" charset="0"/>
              </a:rPr>
              <a:t>double sum(Pair&lt;</a:t>
            </a:r>
            <a:r>
              <a:rPr lang="en-GB" sz="2500" b="1" dirty="0">
                <a:latin typeface="Courier New" charset="0"/>
                <a:cs typeface="Lucida Sans Unicode" charset="0"/>
              </a:rPr>
              <a:t>Number&gt; 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p){</a:t>
            </a:r>
          </a:p>
          <a:p>
            <a:pPr marL="0" indent="0"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300" b="1" dirty="0">
                <a:latin typeface="Courier New" charset="0"/>
                <a:cs typeface="Lucida Sans Unicode" charset="0"/>
              </a:rPr>
              <a:t> </a:t>
            </a:r>
            <a:r>
              <a:rPr lang="en-GB" sz="2300" b="1" dirty="0" smtClean="0">
                <a:latin typeface="Courier New" charset="0"/>
                <a:cs typeface="Lucida Sans Unicode" charset="0"/>
              </a:rPr>
              <a:t> return </a:t>
            </a:r>
            <a:r>
              <a:rPr lang="en-GB" sz="2300" b="1" dirty="0" err="1" smtClean="0">
                <a:latin typeface="Courier New" charset="0"/>
                <a:cs typeface="Lucida Sans Unicode" charset="0"/>
              </a:rPr>
              <a:t>p.a.doubleValue</a:t>
            </a:r>
            <a:r>
              <a:rPr lang="en-GB" sz="2300" b="1" dirty="0" smtClean="0">
                <a:latin typeface="Courier New" charset="0"/>
                <a:cs typeface="Lucida Sans Unicode" charset="0"/>
              </a:rPr>
              <a:t>()+</a:t>
            </a:r>
            <a:r>
              <a:rPr lang="en-GB" sz="2300" b="1" dirty="0" err="1" smtClean="0">
                <a:latin typeface="Courier New" charset="0"/>
                <a:cs typeface="Lucida Sans Unicode" charset="0"/>
              </a:rPr>
              <a:t>p.b.doubleValue</a:t>
            </a:r>
            <a:r>
              <a:rPr lang="en-GB" sz="2300" b="1" dirty="0" smtClean="0">
                <a:latin typeface="Courier New" charset="0"/>
                <a:cs typeface="Lucida Sans Unicode" charset="0"/>
              </a:rPr>
              <a:t>();</a:t>
            </a:r>
          </a:p>
          <a:p>
            <a:pPr marL="0" indent="0"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 smtClean="0">
                <a:latin typeface="Courier New" charset="0"/>
                <a:cs typeface="Lucida Sans Unicode" charset="0"/>
              </a:rPr>
              <a:t>}</a:t>
            </a:r>
          </a:p>
          <a:p>
            <a:pPr marL="0" indent="0"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endParaRPr lang="en-GB" sz="2500" b="1" dirty="0">
              <a:latin typeface="Courier New" charset="0"/>
              <a:cs typeface="Lucida Sans Unicode" charset="0"/>
            </a:endParaRPr>
          </a:p>
          <a:p>
            <a:pPr marL="0" indent="0"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 smtClean="0">
                <a:latin typeface="Courier New" charset="0"/>
                <a:cs typeface="Lucida Sans Unicode" charset="0"/>
              </a:rPr>
              <a:t>&lt;</a:t>
            </a:r>
            <a:r>
              <a:rPr lang="en-GB" sz="2500" b="1" dirty="0">
                <a:latin typeface="Courier New" charset="0"/>
                <a:cs typeface="Lucida Sans Unicode" charset="0"/>
              </a:rPr>
              <a:t>T extends Number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&gt; double </a:t>
            </a:r>
            <a:r>
              <a:rPr lang="en-GB" sz="2500" b="1" dirty="0" err="1" smtClean="0">
                <a:latin typeface="Courier New" charset="0"/>
                <a:cs typeface="Lucida Sans Unicode" charset="0"/>
              </a:rPr>
              <a:t>sumB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(Pair&lt;T&gt; p)</a:t>
            </a:r>
          </a:p>
          <a:p>
            <a:pPr marL="0" indent="0"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 smtClean="0">
                <a:latin typeface="Courier New" charset="0"/>
                <a:cs typeface="Lucida Sans Unicode" charset="0"/>
              </a:rPr>
              <a:t>{</a:t>
            </a:r>
            <a:r>
              <a:rPr lang="is-IS" sz="2500" b="1" dirty="0" smtClean="0">
                <a:latin typeface="Courier New" charset="0"/>
                <a:cs typeface="Lucida Sans Unicode" charset="0"/>
              </a:rPr>
              <a:t>…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}</a:t>
            </a:r>
          </a:p>
          <a:p>
            <a:pPr marL="0" indent="0"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endParaRPr lang="en-GB" sz="2500" b="1" dirty="0" smtClean="0">
              <a:latin typeface="Courier New" charset="0"/>
              <a:cs typeface="Lucida Sans Unicode" charset="0"/>
            </a:endParaRPr>
          </a:p>
          <a:p>
            <a:pPr marL="0" indent="0"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 smtClean="0">
                <a:latin typeface="Courier New" charset="0"/>
                <a:cs typeface="Lucida Sans Unicode" charset="0"/>
              </a:rPr>
              <a:t>double </a:t>
            </a:r>
            <a:r>
              <a:rPr lang="en-GB" sz="2500" b="1" dirty="0" err="1" smtClean="0">
                <a:latin typeface="Courier New" charset="0"/>
                <a:cs typeface="Lucida Sans Unicode" charset="0"/>
              </a:rPr>
              <a:t>sumUB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(Pair&lt;</a:t>
            </a:r>
            <a:r>
              <a:rPr lang="en-GB" sz="2500" b="1" dirty="0">
                <a:solidFill>
                  <a:srgbClr val="FF6633"/>
                </a:solidFill>
                <a:latin typeface="Courier New" charset="0"/>
                <a:cs typeface="Lucida Sans Unicode" charset="0"/>
              </a:rPr>
              <a:t>? extends</a:t>
            </a:r>
            <a:r>
              <a:rPr lang="en-GB" sz="2500" b="1" dirty="0">
                <a:latin typeface="Courier New" charset="0"/>
                <a:cs typeface="Lucida Sans Unicode" charset="0"/>
              </a:rPr>
              <a:t> Number&gt; 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p)</a:t>
            </a:r>
          </a:p>
          <a:p>
            <a:pPr marL="0" indent="0"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 smtClean="0">
                <a:latin typeface="Courier New" charset="0"/>
                <a:cs typeface="Lucida Sans Unicode" charset="0"/>
              </a:rPr>
              <a:t>{</a:t>
            </a:r>
            <a:r>
              <a:rPr lang="is-IS" sz="2500" b="1" dirty="0" smtClean="0">
                <a:latin typeface="Courier New" charset="0"/>
                <a:cs typeface="Lucida Sans Unicode" charset="0"/>
              </a:rPr>
              <a:t>…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}</a:t>
            </a:r>
            <a:endParaRPr lang="en-GB" sz="2500" b="1" dirty="0">
              <a:latin typeface="Courier New" charset="0"/>
              <a:cs typeface="Lucida Sans Unicode" charset="0"/>
            </a:endParaRPr>
          </a:p>
        </p:txBody>
      </p:sp>
      <p:sp>
        <p:nvSpPr>
          <p:cNvPr id="10" name="AutoShape 6"/>
          <p:cNvSpPr>
            <a:spLocks noChangeArrowheads="1"/>
          </p:cNvSpPr>
          <p:nvPr/>
        </p:nvSpPr>
        <p:spPr bwMode="auto">
          <a:xfrm>
            <a:off x="5436096" y="1124744"/>
            <a:ext cx="3312368" cy="648072"/>
          </a:xfrm>
          <a:prstGeom prst="wedgeRoundRectCallout">
            <a:avLst>
              <a:gd name="adj1" fmla="val -93818"/>
              <a:gd name="adj2" fmla="val 60820"/>
              <a:gd name="adj3" fmla="val 16667"/>
            </a:avLst>
          </a:prstGeom>
          <a:solidFill>
            <a:srgbClr val="E6E0EC"/>
          </a:solidFill>
          <a:ln w="9360">
            <a:solidFill>
              <a:srgbClr val="8064A2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5000" rIns="90000" bIns="45000" anchor="ctr"/>
          <a:lstStyle/>
          <a:p>
            <a:pPr>
              <a:lnSpc>
                <a:spcPct val="83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</a:tabLst>
              <a:defRPr/>
            </a:pPr>
            <a:r>
              <a:rPr lang="en-GB" dirty="0" smtClean="0">
                <a:solidFill>
                  <a:srgbClr val="000000"/>
                </a:solidFill>
              </a:rPr>
              <a:t>Cannot be invoked with </a:t>
            </a:r>
            <a:r>
              <a:rPr lang="en-GB" b="1" dirty="0" smtClean="0">
                <a:solidFill>
                  <a:srgbClr val="000000"/>
                </a:solidFill>
                <a:latin typeface="Courier New"/>
                <a:cs typeface="Courier New"/>
              </a:rPr>
              <a:t>Pair&lt;Integer&gt;</a:t>
            </a:r>
            <a:endParaRPr lang="en-GB" b="1" dirty="0">
              <a:solidFill>
                <a:srgbClr val="000000"/>
              </a:solidFill>
              <a:latin typeface="Courier New"/>
              <a:cs typeface="Courier New"/>
            </a:endParaRPr>
          </a:p>
        </p:txBody>
      </p:sp>
      <p:sp>
        <p:nvSpPr>
          <p:cNvPr id="11" name="AutoShape 6"/>
          <p:cNvSpPr>
            <a:spLocks noChangeArrowheads="1"/>
          </p:cNvSpPr>
          <p:nvPr/>
        </p:nvSpPr>
        <p:spPr bwMode="auto">
          <a:xfrm>
            <a:off x="3419872" y="2780928"/>
            <a:ext cx="4104456" cy="792088"/>
          </a:xfrm>
          <a:prstGeom prst="wedgeRoundRectCallout">
            <a:avLst>
              <a:gd name="adj1" fmla="val -71112"/>
              <a:gd name="adj2" fmla="val 54084"/>
              <a:gd name="adj3" fmla="val 16667"/>
            </a:avLst>
          </a:prstGeom>
          <a:solidFill>
            <a:srgbClr val="E6E0EC"/>
          </a:solidFill>
          <a:ln w="9360">
            <a:solidFill>
              <a:srgbClr val="8064A2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5000" rIns="90000" bIns="45000" anchor="ctr"/>
          <a:lstStyle/>
          <a:p>
            <a:pPr>
              <a:lnSpc>
                <a:spcPct val="83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</a:tabLst>
              <a:defRPr/>
            </a:pPr>
            <a:r>
              <a:rPr lang="en-GB" dirty="0" smtClean="0">
                <a:solidFill>
                  <a:srgbClr val="000000"/>
                </a:solidFill>
              </a:rPr>
              <a:t>Defines an upper bound for the type parameter</a:t>
            </a:r>
            <a:endParaRPr lang="en-GB" b="1" dirty="0">
              <a:solidFill>
                <a:srgbClr val="000000"/>
              </a:solidFill>
              <a:latin typeface="Courier New"/>
              <a:cs typeface="Courier New"/>
            </a:endParaRPr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auto">
          <a:xfrm>
            <a:off x="4572000" y="4077072"/>
            <a:ext cx="4248472" cy="792088"/>
          </a:xfrm>
          <a:prstGeom prst="wedgeRoundRectCallout">
            <a:avLst>
              <a:gd name="adj1" fmla="val -55352"/>
              <a:gd name="adj2" fmla="val 82765"/>
              <a:gd name="adj3" fmla="val 16667"/>
            </a:avLst>
          </a:prstGeom>
          <a:solidFill>
            <a:srgbClr val="E6E0EC"/>
          </a:solidFill>
          <a:ln w="9360">
            <a:solidFill>
              <a:srgbClr val="8064A2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5000" rIns="90000" bIns="45000" anchor="ctr"/>
          <a:lstStyle/>
          <a:p>
            <a:pPr>
              <a:lnSpc>
                <a:spcPct val="83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</a:tabLst>
              <a:defRPr/>
            </a:pPr>
            <a:r>
              <a:rPr lang="en-GB" dirty="0" smtClean="0">
                <a:solidFill>
                  <a:srgbClr val="000000"/>
                </a:solidFill>
              </a:rPr>
              <a:t>Unknown with upper bound</a:t>
            </a:r>
          </a:p>
          <a:p>
            <a:pPr>
              <a:lnSpc>
                <a:spcPct val="83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</a:tabLst>
              <a:defRPr/>
            </a:pPr>
            <a:r>
              <a:rPr lang="en-GB" dirty="0" smtClean="0">
                <a:solidFill>
                  <a:srgbClr val="000000"/>
                </a:solidFill>
              </a:rPr>
              <a:t>Equivalent but more compact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AutoShape 1"/>
          <p:cNvSpPr>
            <a:spLocks noChangeArrowheads="1"/>
          </p:cNvSpPr>
          <p:nvPr/>
        </p:nvSpPr>
        <p:spPr bwMode="auto">
          <a:xfrm>
            <a:off x="467544" y="1268760"/>
            <a:ext cx="8548336" cy="3744416"/>
          </a:xfrm>
          <a:prstGeom prst="roundRect">
            <a:avLst>
              <a:gd name="adj" fmla="val 88"/>
            </a:avLst>
          </a:prstGeom>
          <a:solidFill>
            <a:srgbClr val="FDEADA"/>
          </a:solidFill>
          <a:ln w="9360">
            <a:solidFill>
              <a:srgbClr val="E46C0A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82918" tIns="41460" rIns="82918" bIns="41460" anchor="ctr"/>
          <a:lstStyle/>
          <a:p>
            <a:pPr>
              <a:defRPr/>
            </a:pPr>
            <a:endParaRPr lang="it-IT">
              <a:cs typeface="Lucida Sans Unicode" charset="0"/>
            </a:endParaRPr>
          </a:p>
        </p:txBody>
      </p:sp>
      <p:sp>
        <p:nvSpPr>
          <p:cNvPr id="61444" name="Rectangle 3"/>
          <p:cNvSpPr>
            <a:spLocks noGrp="1" noChangeArrowheads="1"/>
          </p:cNvSpPr>
          <p:nvPr>
            <p:ph type="title"/>
          </p:nvPr>
        </p:nvSpPr>
        <p:spPr>
          <a:xfrm>
            <a:off x="227520" y="246278"/>
            <a:ext cx="8593920" cy="620683"/>
          </a:xfrm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101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  <a:tab pos="8533237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Sorting a pair</a:t>
            </a:r>
            <a:endParaRPr lang="en-GB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61445" name="Rectangle 4"/>
          <p:cNvSpPr>
            <a:spLocks noGrp="1" noChangeArrowheads="1"/>
          </p:cNvSpPr>
          <p:nvPr>
            <p:ph idx="1"/>
          </p:nvPr>
        </p:nvSpPr>
        <p:spPr/>
        <p:txBody>
          <a:bodyPr lIns="0" tIns="0" rIns="0" bIns="0">
            <a:normAutofit/>
          </a:bodyPr>
          <a:lstStyle/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 smtClean="0">
                <a:latin typeface="Courier New" charset="0"/>
                <a:cs typeface="Lucida Sans Unicode" charset="0"/>
              </a:rPr>
              <a:t>void &lt;T extends Comparable&lt;T&gt;&gt;</a:t>
            </a: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 err="1" smtClean="0">
                <a:latin typeface="Courier New" charset="0"/>
                <a:cs typeface="Lucida Sans Unicode" charset="0"/>
              </a:rPr>
              <a:t>sortPair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(Pair&lt;</a:t>
            </a:r>
            <a:r>
              <a:rPr lang="en-GB" sz="2500" b="1" dirty="0" smtClean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T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&gt; </a:t>
            </a:r>
            <a:r>
              <a:rPr lang="en-GB" sz="2500" b="1" dirty="0">
                <a:latin typeface="Courier New" charset="0"/>
                <a:cs typeface="Lucida Sans Unicode" charset="0"/>
              </a:rPr>
              <a:t>p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) {</a:t>
            </a: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>
                <a:latin typeface="Courier New" charset="0"/>
                <a:cs typeface="Lucida Sans Unicode" charset="0"/>
              </a:rPr>
              <a:t>		if(</a:t>
            </a:r>
            <a:r>
              <a:rPr lang="en-GB" sz="2500" b="1" dirty="0" err="1">
                <a:latin typeface="Courier New" charset="0"/>
                <a:cs typeface="Lucida Sans Unicode" charset="0"/>
              </a:rPr>
              <a:t>p.first</a:t>
            </a:r>
            <a:r>
              <a:rPr lang="en-GB" sz="2500" b="1" dirty="0">
                <a:latin typeface="Courier New" charset="0"/>
                <a:cs typeface="Lucida Sans Unicode" charset="0"/>
              </a:rPr>
              <a:t>().</a:t>
            </a:r>
            <a:r>
              <a:rPr lang="en-GB" sz="2500" b="1" dirty="0" err="1">
                <a:latin typeface="Courier New" charset="0"/>
                <a:cs typeface="Lucida Sans Unicode" charset="0"/>
              </a:rPr>
              <a:t>compareTo</a:t>
            </a:r>
            <a:r>
              <a:rPr lang="en-GB" sz="2500" b="1" dirty="0">
                <a:latin typeface="Courier New" charset="0"/>
                <a:cs typeface="Lucida Sans Unicode" charset="0"/>
              </a:rPr>
              <a:t>(</a:t>
            </a:r>
            <a:r>
              <a:rPr lang="en-GB" sz="2500" b="1" dirty="0" err="1">
                <a:latin typeface="Courier New" charset="0"/>
                <a:cs typeface="Lucida Sans Unicode" charset="0"/>
              </a:rPr>
              <a:t>p.second</a:t>
            </a:r>
            <a:r>
              <a:rPr lang="en-GB" sz="2500" b="1" dirty="0">
                <a:latin typeface="Courier New" charset="0"/>
                <a:cs typeface="Lucida Sans Unicode" charset="0"/>
              </a:rPr>
              <a:t>()) &gt; 0){</a:t>
            </a: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>
                <a:latin typeface="Courier New" charset="0"/>
                <a:cs typeface="Lucida Sans Unicode" charset="0"/>
              </a:rPr>
              <a:t>			T </a:t>
            </a:r>
            <a:r>
              <a:rPr lang="en-GB" sz="2500" b="1" dirty="0" err="1">
                <a:latin typeface="Courier New" charset="0"/>
                <a:cs typeface="Lucida Sans Unicode" charset="0"/>
              </a:rPr>
              <a:t>tmp</a:t>
            </a:r>
            <a:r>
              <a:rPr lang="en-GB" sz="2500" b="1" dirty="0">
                <a:latin typeface="Courier New" charset="0"/>
                <a:cs typeface="Lucida Sans Unicode" charset="0"/>
              </a:rPr>
              <a:t> = </a:t>
            </a:r>
            <a:r>
              <a:rPr lang="en-GB" sz="2500" b="1" dirty="0" err="1">
                <a:latin typeface="Courier New" charset="0"/>
                <a:cs typeface="Lucida Sans Unicode" charset="0"/>
              </a:rPr>
              <a:t>p.first</a:t>
            </a:r>
            <a:r>
              <a:rPr lang="en-GB" sz="2500" b="1" dirty="0">
                <a:latin typeface="Courier New" charset="0"/>
                <a:cs typeface="Lucida Sans Unicode" charset="0"/>
              </a:rPr>
              <a:t>();</a:t>
            </a: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>
                <a:latin typeface="Courier New" charset="0"/>
                <a:cs typeface="Lucida Sans Unicode" charset="0"/>
              </a:rPr>
              <a:t>			</a:t>
            </a:r>
            <a:r>
              <a:rPr lang="en-GB" sz="2500" b="1" dirty="0" err="1">
                <a:latin typeface="Courier New" charset="0"/>
                <a:cs typeface="Lucida Sans Unicode" charset="0"/>
              </a:rPr>
              <a:t>p.setFirst</a:t>
            </a:r>
            <a:r>
              <a:rPr lang="en-GB" sz="2500" b="1" dirty="0">
                <a:latin typeface="Courier New" charset="0"/>
                <a:cs typeface="Lucida Sans Unicode" charset="0"/>
              </a:rPr>
              <a:t>(</a:t>
            </a:r>
            <a:r>
              <a:rPr lang="en-GB" sz="2500" b="1" dirty="0" err="1">
                <a:latin typeface="Courier New" charset="0"/>
                <a:cs typeface="Lucida Sans Unicode" charset="0"/>
              </a:rPr>
              <a:t>p.second</a:t>
            </a:r>
            <a:r>
              <a:rPr lang="en-GB" sz="2500" b="1" dirty="0">
                <a:latin typeface="Courier New" charset="0"/>
                <a:cs typeface="Lucida Sans Unicode" charset="0"/>
              </a:rPr>
              <a:t>());</a:t>
            </a: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>
                <a:latin typeface="Courier New" charset="0"/>
                <a:cs typeface="Lucida Sans Unicode" charset="0"/>
              </a:rPr>
              <a:t>			</a:t>
            </a:r>
            <a:r>
              <a:rPr lang="en-GB" sz="2500" b="1" dirty="0" err="1">
                <a:latin typeface="Courier New" charset="0"/>
                <a:cs typeface="Lucida Sans Unicode" charset="0"/>
              </a:rPr>
              <a:t>p.setSecond</a:t>
            </a:r>
            <a:r>
              <a:rPr lang="en-GB" sz="2500" b="1" dirty="0">
                <a:latin typeface="Courier New" charset="0"/>
                <a:cs typeface="Lucida Sans Unicode" charset="0"/>
              </a:rPr>
              <a:t>(</a:t>
            </a:r>
            <a:r>
              <a:rPr lang="en-GB" sz="2500" b="1" dirty="0" err="1">
                <a:latin typeface="Courier New" charset="0"/>
                <a:cs typeface="Lucida Sans Unicode" charset="0"/>
              </a:rPr>
              <a:t>tmp</a:t>
            </a:r>
            <a:r>
              <a:rPr lang="en-GB" sz="2500" b="1" dirty="0">
                <a:latin typeface="Courier New" charset="0"/>
                <a:cs typeface="Lucida Sans Unicode" charset="0"/>
              </a:rPr>
              <a:t>);</a:t>
            </a: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>
                <a:latin typeface="Courier New" charset="0"/>
                <a:cs typeface="Lucida Sans Unicode" charset="0"/>
              </a:rPr>
              <a:t>		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}</a:t>
            </a: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 smtClean="0">
                <a:latin typeface="Courier New" charset="0"/>
                <a:cs typeface="Lucida Sans Unicode" charset="0"/>
              </a:rPr>
              <a:t>}</a:t>
            </a:r>
            <a:endParaRPr lang="en-GB" sz="2500" b="1" dirty="0">
              <a:latin typeface="Courier New" charset="0"/>
              <a:cs typeface="Lucida Sans Unicode" charset="0"/>
            </a:endParaRPr>
          </a:p>
          <a:p>
            <a:pPr lvl="3" eaLnBrk="1" hangingPunct="1">
              <a:lnSpc>
                <a:spcPct val="105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endParaRPr lang="en-GB" dirty="0" smtClean="0">
              <a:latin typeface="Lucida Sans Unicode" charset="0"/>
              <a:ea typeface="Lucida Sans Unicode" charset="0"/>
              <a:cs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0013968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1"/>
          <p:cNvSpPr>
            <a:spLocks noChangeArrowheads="1"/>
          </p:cNvSpPr>
          <p:nvPr/>
        </p:nvSpPr>
        <p:spPr bwMode="auto">
          <a:xfrm>
            <a:off x="467544" y="4725144"/>
            <a:ext cx="5616624" cy="1008112"/>
          </a:xfrm>
          <a:prstGeom prst="roundRect">
            <a:avLst>
              <a:gd name="adj" fmla="val 88"/>
            </a:avLst>
          </a:prstGeom>
          <a:solidFill>
            <a:srgbClr val="FDEADA"/>
          </a:solidFill>
          <a:ln w="9360">
            <a:solidFill>
              <a:srgbClr val="E46C0A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82918" tIns="41460" rIns="82918" bIns="41460" anchor="ctr"/>
          <a:lstStyle/>
          <a:p>
            <a:pPr>
              <a:defRPr/>
            </a:pPr>
            <a:endParaRPr lang="it-IT">
              <a:cs typeface="Lucida Sans Unicode" charset="0"/>
            </a:endParaRPr>
          </a:p>
        </p:txBody>
      </p:sp>
      <p:sp>
        <p:nvSpPr>
          <p:cNvPr id="60418" name="AutoShape 1"/>
          <p:cNvSpPr>
            <a:spLocks noChangeArrowheads="1"/>
          </p:cNvSpPr>
          <p:nvPr/>
        </p:nvSpPr>
        <p:spPr bwMode="auto">
          <a:xfrm>
            <a:off x="467544" y="1268760"/>
            <a:ext cx="8208912" cy="2664296"/>
          </a:xfrm>
          <a:prstGeom prst="roundRect">
            <a:avLst>
              <a:gd name="adj" fmla="val 88"/>
            </a:avLst>
          </a:prstGeom>
          <a:solidFill>
            <a:srgbClr val="FDEADA"/>
          </a:solidFill>
          <a:ln w="9360">
            <a:solidFill>
              <a:srgbClr val="E46C0A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82918" tIns="41460" rIns="82918" bIns="41460" anchor="ctr"/>
          <a:lstStyle/>
          <a:p>
            <a:pPr>
              <a:defRPr/>
            </a:pPr>
            <a:endParaRPr lang="it-IT">
              <a:cs typeface="Lucida Sans Unicode" charset="0"/>
            </a:endParaRPr>
          </a:p>
        </p:txBody>
      </p:sp>
      <p:sp>
        <p:nvSpPr>
          <p:cNvPr id="61444" name="Rectangle 3"/>
          <p:cNvSpPr>
            <a:spLocks noGrp="1" noChangeArrowheads="1"/>
          </p:cNvSpPr>
          <p:nvPr>
            <p:ph type="title"/>
          </p:nvPr>
        </p:nvSpPr>
        <p:spPr>
          <a:xfrm>
            <a:off x="227520" y="246278"/>
            <a:ext cx="8593920" cy="620683"/>
          </a:xfrm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101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  <a:tab pos="8533237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Sorting a pair example</a:t>
            </a:r>
            <a:endParaRPr lang="en-GB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61445" name="Rectangle 4"/>
          <p:cNvSpPr>
            <a:spLocks noGrp="1" noChangeArrowheads="1"/>
          </p:cNvSpPr>
          <p:nvPr>
            <p:ph idx="1"/>
          </p:nvPr>
        </p:nvSpPr>
        <p:spPr/>
        <p:txBody>
          <a:bodyPr lIns="0" tIns="0" rIns="0" bIns="0">
            <a:noAutofit/>
          </a:bodyPr>
          <a:lstStyle/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300" b="1" dirty="0" smtClean="0">
                <a:latin typeface="Courier New" charset="0"/>
                <a:cs typeface="Lucida Sans Unicode" charset="0"/>
              </a:rPr>
              <a:t>class </a:t>
            </a:r>
            <a:r>
              <a:rPr lang="en-GB" sz="2300" b="1" dirty="0">
                <a:latin typeface="Courier New" charset="0"/>
                <a:cs typeface="Lucida Sans Unicode" charset="0"/>
              </a:rPr>
              <a:t>Student implements Comparable&lt;Student&gt;{</a:t>
            </a: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300" b="1" dirty="0" smtClean="0">
                <a:latin typeface="Courier New" charset="0"/>
                <a:cs typeface="Lucida Sans Unicode" charset="0"/>
              </a:rPr>
              <a:t>  </a:t>
            </a:r>
            <a:r>
              <a:rPr lang="en-GB" sz="2300" b="1" dirty="0" smtClean="0">
                <a:latin typeface="Courier New" charset="0"/>
                <a:cs typeface="Lucida Sans Unicode" charset="0"/>
              </a:rPr>
              <a:t>private </a:t>
            </a:r>
            <a:r>
              <a:rPr lang="en-GB" sz="2300" b="1" dirty="0" err="1" smtClean="0">
                <a:latin typeface="Courier New" charset="0"/>
                <a:cs typeface="Lucida Sans Unicode" charset="0"/>
              </a:rPr>
              <a:t>int</a:t>
            </a:r>
            <a:r>
              <a:rPr lang="en-GB" sz="2300" b="1" dirty="0" smtClean="0">
                <a:latin typeface="Courier New" charset="0"/>
                <a:cs typeface="Lucida Sans Unicode" charset="0"/>
              </a:rPr>
              <a:t> </a:t>
            </a:r>
            <a:r>
              <a:rPr lang="en-GB" sz="2300" b="1" dirty="0">
                <a:latin typeface="Courier New" charset="0"/>
                <a:cs typeface="Lucida Sans Unicode" charset="0"/>
              </a:rPr>
              <a:t>id;</a:t>
            </a: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300" b="1" dirty="0">
                <a:latin typeface="Courier New" charset="0"/>
                <a:cs typeface="Lucida Sans Unicode" charset="0"/>
              </a:rPr>
              <a:t>		</a:t>
            </a:r>
            <a:r>
              <a:rPr lang="en-GB" sz="2300" b="1" dirty="0" smtClean="0">
                <a:latin typeface="Courier New" charset="0"/>
                <a:cs typeface="Lucida Sans Unicode" charset="0"/>
              </a:rPr>
              <a:t>public </a:t>
            </a:r>
            <a:r>
              <a:rPr lang="en-GB" sz="2300" b="1" dirty="0" err="1">
                <a:latin typeface="Courier New" charset="0"/>
                <a:cs typeface="Lucida Sans Unicode" charset="0"/>
              </a:rPr>
              <a:t>int</a:t>
            </a:r>
            <a:r>
              <a:rPr lang="en-GB" sz="2300" b="1" dirty="0">
                <a:latin typeface="Courier New" charset="0"/>
                <a:cs typeface="Lucida Sans Unicode" charset="0"/>
              </a:rPr>
              <a:t> </a:t>
            </a:r>
            <a:r>
              <a:rPr lang="en-GB" sz="2300" b="1" dirty="0" err="1">
                <a:latin typeface="Courier New" charset="0"/>
                <a:cs typeface="Lucida Sans Unicode" charset="0"/>
              </a:rPr>
              <a:t>compareTo</a:t>
            </a:r>
            <a:r>
              <a:rPr lang="en-GB" sz="2300" b="1" dirty="0">
                <a:latin typeface="Courier New" charset="0"/>
                <a:cs typeface="Lucida Sans Unicode" charset="0"/>
              </a:rPr>
              <a:t>(Student o) {</a:t>
            </a: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300" b="1" dirty="0">
                <a:latin typeface="Courier New" charset="0"/>
                <a:cs typeface="Lucida Sans Unicode" charset="0"/>
              </a:rPr>
              <a:t>			return </a:t>
            </a:r>
            <a:r>
              <a:rPr lang="en-GB" sz="2300" b="1" dirty="0" err="1">
                <a:latin typeface="Courier New" charset="0"/>
                <a:cs typeface="Lucida Sans Unicode" charset="0"/>
              </a:rPr>
              <a:t>this.id-o.id</a:t>
            </a:r>
            <a:r>
              <a:rPr lang="en-GB" sz="2300" b="1" dirty="0">
                <a:latin typeface="Courier New" charset="0"/>
                <a:cs typeface="Lucida Sans Unicode" charset="0"/>
              </a:rPr>
              <a:t>;</a:t>
            </a: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300" b="1" dirty="0">
                <a:latin typeface="Courier New" charset="0"/>
                <a:cs typeface="Lucida Sans Unicode" charset="0"/>
              </a:rPr>
              <a:t>		}</a:t>
            </a: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300" b="1" dirty="0" smtClean="0">
                <a:latin typeface="Courier New" charset="0"/>
                <a:cs typeface="Lucida Sans Unicode" charset="0"/>
              </a:rPr>
              <a:t>}</a:t>
            </a:r>
            <a:endParaRPr lang="en-GB" sz="2300" b="1" dirty="0">
              <a:latin typeface="Courier New" charset="0"/>
              <a:cs typeface="Lucida Sans Unicode" charset="0"/>
            </a:endParaRP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endParaRPr lang="en-GB" sz="2300" b="1" dirty="0">
              <a:latin typeface="Courier New" charset="0"/>
              <a:cs typeface="Lucida Sans Unicode" charset="0"/>
            </a:endParaRP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endParaRPr lang="en-GB" sz="2300" b="1" dirty="0" smtClean="0">
              <a:latin typeface="Courier New" charset="0"/>
              <a:cs typeface="Lucida Sans Unicode" charset="0"/>
            </a:endParaRP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300" b="1" dirty="0" smtClean="0">
                <a:latin typeface="Courier New" charset="0"/>
                <a:cs typeface="Lucida Sans Unicode" charset="0"/>
              </a:rPr>
              <a:t>  Pair</a:t>
            </a:r>
            <a:r>
              <a:rPr lang="en-GB" sz="2300" b="1" dirty="0">
                <a:latin typeface="Courier New" charset="0"/>
                <a:cs typeface="Lucida Sans Unicode" charset="0"/>
              </a:rPr>
              <a:t>&lt;</a:t>
            </a:r>
            <a:r>
              <a:rPr lang="en-GB" sz="2300" b="1" dirty="0" err="1">
                <a:latin typeface="Courier New" charset="0"/>
                <a:cs typeface="Lucida Sans Unicode" charset="0"/>
              </a:rPr>
              <a:t>MasterStudent</a:t>
            </a:r>
            <a:r>
              <a:rPr lang="en-GB" sz="2300" b="1" dirty="0">
                <a:latin typeface="Courier New" charset="0"/>
                <a:cs typeface="Lucida Sans Unicode" charset="0"/>
              </a:rPr>
              <a:t>&gt; pm</a:t>
            </a:r>
            <a:r>
              <a:rPr lang="en-GB" sz="2300" b="1" dirty="0" smtClean="0">
                <a:latin typeface="Courier New" charset="0"/>
                <a:cs typeface="Lucida Sans Unicode" charset="0"/>
              </a:rPr>
              <a:t>={</a:t>
            </a:r>
            <a:r>
              <a:rPr lang="mr-IN" sz="2300" b="1" dirty="0" smtClean="0">
                <a:latin typeface="Courier New" charset="0"/>
                <a:cs typeface="Lucida Sans Unicode" charset="0"/>
              </a:rPr>
              <a:t>…</a:t>
            </a:r>
            <a:r>
              <a:rPr lang="en-GB" sz="2300" b="1" dirty="0" smtClean="0">
                <a:latin typeface="Courier New" charset="0"/>
                <a:cs typeface="Lucida Sans Unicode" charset="0"/>
              </a:rPr>
              <a:t>};</a:t>
            </a:r>
            <a:endParaRPr lang="en-GB" sz="2300" b="1" dirty="0">
              <a:latin typeface="Courier New" charset="0"/>
              <a:cs typeface="Lucida Sans Unicode" charset="0"/>
            </a:endParaRP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300" b="1" dirty="0">
                <a:latin typeface="Courier New" charset="0"/>
                <a:cs typeface="Lucida Sans Unicode" charset="0"/>
              </a:rPr>
              <a:t>		sort(pm)</a:t>
            </a:r>
            <a:r>
              <a:rPr lang="en-GB" sz="2300" b="1" dirty="0" smtClean="0">
                <a:latin typeface="Courier New" charset="0"/>
                <a:cs typeface="Lucida Sans Unicode" charset="0"/>
              </a:rPr>
              <a:t>;</a:t>
            </a:r>
            <a:endParaRPr lang="en-GB" sz="2300" b="1" dirty="0">
              <a:latin typeface="Courier New" charset="0"/>
              <a:cs typeface="Lucida Sans Unicode" charset="0"/>
            </a:endParaRPr>
          </a:p>
          <a:p>
            <a:pPr lvl="3" eaLnBrk="1" hangingPunct="1">
              <a:lnSpc>
                <a:spcPct val="105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endParaRPr lang="en-GB" sz="2300" dirty="0" smtClean="0">
              <a:latin typeface="Lucida Sans Unicode" charset="0"/>
              <a:ea typeface="Lucida Sans Unicode" charset="0"/>
              <a:cs typeface="Lucida Sans Unicode" charset="0"/>
            </a:endParaRPr>
          </a:p>
        </p:txBody>
      </p:sp>
      <p:sp>
        <p:nvSpPr>
          <p:cNvPr id="5" name="AutoShape 1"/>
          <p:cNvSpPr>
            <a:spLocks noChangeArrowheads="1"/>
          </p:cNvSpPr>
          <p:nvPr/>
        </p:nvSpPr>
        <p:spPr bwMode="auto">
          <a:xfrm>
            <a:off x="2123728" y="3293368"/>
            <a:ext cx="6832376" cy="1287760"/>
          </a:xfrm>
          <a:prstGeom prst="roundRect">
            <a:avLst>
              <a:gd name="adj" fmla="val 88"/>
            </a:avLst>
          </a:prstGeom>
          <a:solidFill>
            <a:schemeClr val="accent4">
              <a:lumMod val="20000"/>
              <a:lumOff val="80000"/>
            </a:schemeClr>
          </a:solidFill>
          <a:ln w="9360">
            <a:solidFill>
              <a:schemeClr val="accent4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82918" tIns="41460" rIns="82918" bIns="41460" anchor="ctr"/>
          <a:lstStyle/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400" b="1" dirty="0" smtClean="0">
                <a:solidFill>
                  <a:schemeClr val="tx1"/>
                </a:solidFill>
                <a:latin typeface="Courier New" charset="0"/>
                <a:cs typeface="Lucida Sans Unicode" charset="0"/>
              </a:rPr>
              <a:t>class </a:t>
            </a:r>
            <a:r>
              <a:rPr lang="en-GB" sz="2400" b="1" dirty="0" err="1">
                <a:solidFill>
                  <a:schemeClr val="tx1"/>
                </a:solidFill>
                <a:latin typeface="Courier New" charset="0"/>
                <a:cs typeface="Lucida Sans Unicode" charset="0"/>
              </a:rPr>
              <a:t>MasterStudent</a:t>
            </a:r>
            <a:r>
              <a:rPr lang="en-GB" sz="2400" b="1" dirty="0">
                <a:solidFill>
                  <a:schemeClr val="tx1"/>
                </a:solidFill>
                <a:latin typeface="Courier New" charset="0"/>
                <a:cs typeface="Lucida Sans Unicode" charset="0"/>
              </a:rPr>
              <a:t> extends Student{</a:t>
            </a: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400" b="1" dirty="0" smtClean="0">
                <a:solidFill>
                  <a:schemeClr val="tx1"/>
                </a:solidFill>
                <a:latin typeface="Courier New" charset="0"/>
                <a:cs typeface="Lucida Sans Unicode" charset="0"/>
              </a:rPr>
              <a:t>  private </a:t>
            </a:r>
            <a:r>
              <a:rPr lang="en-GB" sz="2400" b="1" dirty="0">
                <a:solidFill>
                  <a:schemeClr val="tx1"/>
                </a:solidFill>
                <a:latin typeface="Courier New" charset="0"/>
                <a:cs typeface="Lucida Sans Unicode" charset="0"/>
              </a:rPr>
              <a:t>String degree;</a:t>
            </a: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400" b="1" dirty="0" smtClean="0">
                <a:solidFill>
                  <a:schemeClr val="tx1"/>
                </a:solidFill>
                <a:latin typeface="Courier New" charset="0"/>
                <a:cs typeface="Lucida Sans Unicode" charset="0"/>
              </a:rPr>
              <a:t>}</a:t>
            </a:r>
            <a:endParaRPr lang="en-GB" sz="2400" b="1" dirty="0">
              <a:solidFill>
                <a:schemeClr val="tx1"/>
              </a:solidFill>
              <a:latin typeface="Courier New" charset="0"/>
              <a:cs typeface="Lucida Sans Unicode" charset="0"/>
            </a:endParaRP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2339752" y="5517232"/>
            <a:ext cx="6625073" cy="1224136"/>
          </a:xfrm>
          <a:prstGeom prst="wedgeRoundRectCallout">
            <a:avLst>
              <a:gd name="adj1" fmla="val -59579"/>
              <a:gd name="adj2" fmla="val -43096"/>
              <a:gd name="adj3" fmla="val 16667"/>
            </a:avLst>
          </a:prstGeom>
          <a:solidFill>
            <a:srgbClr val="E6E0EC"/>
          </a:solidFill>
          <a:ln>
            <a:solidFill>
              <a:srgbClr val="8064A2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82918" tIns="41460" rIns="82918" bIns="41460" anchor="ctr"/>
          <a:lstStyle/>
          <a:p>
            <a:pPr algn="ctr" defTabSz="414597">
              <a:defRPr/>
            </a:pPr>
            <a:r>
              <a:rPr lang="en-US" sz="2500" dirty="0" smtClean="0">
                <a:solidFill>
                  <a:srgbClr val="000000"/>
                </a:solidFill>
                <a:latin typeface="Lucida Sans Unicode" charset="0"/>
                <a:ea typeface="ＭＳ Ｐゴシック" charset="0"/>
                <a:cs typeface="Lucida Sans Unicode" charset="0"/>
              </a:rPr>
              <a:t>Method is not applicable for the argument: 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MasterStudent</a:t>
            </a:r>
            <a:r>
              <a:rPr lang="en-GB" sz="2800" b="1" dirty="0" smtClean="0">
                <a:latin typeface="Courier New" charset="0"/>
                <a:cs typeface="Lucida Sans Unicode" charset="0"/>
              </a:rPr>
              <a:t> </a:t>
            </a:r>
            <a:r>
              <a:rPr lang="en-GB" sz="2500" dirty="0" smtClean="0">
                <a:solidFill>
                  <a:srgbClr val="000000"/>
                </a:solidFill>
                <a:latin typeface="Lucida Sans Unicode" charset="0"/>
                <a:ea typeface="ＭＳ Ｐゴシック" charset="0"/>
                <a:cs typeface="Lucida Sans Unicode" charset="0"/>
              </a:rPr>
              <a:t>does not implement </a:t>
            </a:r>
            <a:r>
              <a:rPr lang="en-GB" sz="2400" b="1" dirty="0">
                <a:latin typeface="Courier New" charset="0"/>
                <a:cs typeface="Lucida Sans Unicode" charset="0"/>
              </a:rPr>
              <a:t>Comparable&lt;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MasterStudent</a:t>
            </a:r>
            <a:r>
              <a:rPr lang="en-GB" sz="2400" b="1" dirty="0">
                <a:latin typeface="Courier New" charset="0"/>
                <a:cs typeface="Lucida Sans Unicode" charset="0"/>
              </a:rPr>
              <a:t>&gt;</a:t>
            </a:r>
            <a:endParaRPr lang="en-US" sz="2400" b="1" dirty="0">
              <a:latin typeface="Courier New" charset="0"/>
              <a:cs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987690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AutoShape 1"/>
          <p:cNvSpPr>
            <a:spLocks noChangeArrowheads="1"/>
          </p:cNvSpPr>
          <p:nvPr/>
        </p:nvSpPr>
        <p:spPr bwMode="auto">
          <a:xfrm>
            <a:off x="467544" y="1268760"/>
            <a:ext cx="8548336" cy="3744416"/>
          </a:xfrm>
          <a:prstGeom prst="roundRect">
            <a:avLst>
              <a:gd name="adj" fmla="val 88"/>
            </a:avLst>
          </a:prstGeom>
          <a:solidFill>
            <a:srgbClr val="FDEADA"/>
          </a:solidFill>
          <a:ln w="9360">
            <a:solidFill>
              <a:srgbClr val="E46C0A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82918" tIns="41460" rIns="82918" bIns="41460" anchor="ctr"/>
          <a:lstStyle/>
          <a:p>
            <a:pPr>
              <a:defRPr/>
            </a:pPr>
            <a:endParaRPr lang="it-IT">
              <a:cs typeface="Lucida Sans Unicode" charset="0"/>
            </a:endParaRPr>
          </a:p>
        </p:txBody>
      </p:sp>
      <p:sp>
        <p:nvSpPr>
          <p:cNvPr id="61444" name="Rectangle 3"/>
          <p:cNvSpPr>
            <a:spLocks noGrp="1" noChangeArrowheads="1"/>
          </p:cNvSpPr>
          <p:nvPr>
            <p:ph type="title"/>
          </p:nvPr>
        </p:nvSpPr>
        <p:spPr>
          <a:xfrm>
            <a:off x="227520" y="246278"/>
            <a:ext cx="8593920" cy="620683"/>
          </a:xfrm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101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  <a:tab pos="8533237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Sorting a pair</a:t>
            </a:r>
            <a:endParaRPr lang="en-GB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61445" name="Rectangle 4"/>
          <p:cNvSpPr>
            <a:spLocks noGrp="1" noChangeArrowheads="1"/>
          </p:cNvSpPr>
          <p:nvPr>
            <p:ph idx="1"/>
          </p:nvPr>
        </p:nvSpPr>
        <p:spPr/>
        <p:txBody>
          <a:bodyPr lIns="0" tIns="0" rIns="0" bIns="0">
            <a:normAutofit/>
          </a:bodyPr>
          <a:lstStyle/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 smtClean="0">
                <a:latin typeface="Courier New" charset="0"/>
                <a:cs typeface="Lucida Sans Unicode" charset="0"/>
              </a:rPr>
              <a:t>static &lt;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T extends Comparable&lt;</a:t>
            </a:r>
            <a:r>
              <a:rPr lang="en-GB" sz="2500" b="1" dirty="0" smtClean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? super 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T&gt;&gt;</a:t>
            </a: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>
                <a:latin typeface="Courier New" charset="0"/>
                <a:cs typeface="Lucida Sans Unicode" charset="0"/>
              </a:rPr>
              <a:t>void </a:t>
            </a:r>
            <a:r>
              <a:rPr lang="en-GB" sz="2500" b="1" dirty="0" err="1">
                <a:latin typeface="Courier New" charset="0"/>
                <a:cs typeface="Lucida Sans Unicode" charset="0"/>
              </a:rPr>
              <a:t>sortPair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(Pair&lt;</a:t>
            </a:r>
            <a:r>
              <a:rPr lang="en-GB" sz="2500" b="1" dirty="0" smtClean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T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&gt; </a:t>
            </a:r>
            <a:r>
              <a:rPr lang="en-GB" sz="2500" b="1" dirty="0">
                <a:latin typeface="Courier New" charset="0"/>
                <a:cs typeface="Lucida Sans Unicode" charset="0"/>
              </a:rPr>
              <a:t>p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) {</a:t>
            </a: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>
                <a:latin typeface="Courier New" charset="0"/>
                <a:cs typeface="Lucida Sans Unicode" charset="0"/>
              </a:rPr>
              <a:t>		if(</a:t>
            </a:r>
            <a:r>
              <a:rPr lang="en-GB" sz="2500" b="1" dirty="0" err="1">
                <a:latin typeface="Courier New" charset="0"/>
                <a:cs typeface="Lucida Sans Unicode" charset="0"/>
              </a:rPr>
              <a:t>p.first</a:t>
            </a:r>
            <a:r>
              <a:rPr lang="en-GB" sz="2500" b="1" dirty="0">
                <a:latin typeface="Courier New" charset="0"/>
                <a:cs typeface="Lucida Sans Unicode" charset="0"/>
              </a:rPr>
              <a:t>().</a:t>
            </a:r>
            <a:r>
              <a:rPr lang="en-GB" sz="2500" b="1" dirty="0" err="1">
                <a:latin typeface="Courier New" charset="0"/>
                <a:cs typeface="Lucida Sans Unicode" charset="0"/>
              </a:rPr>
              <a:t>compareTo</a:t>
            </a:r>
            <a:r>
              <a:rPr lang="en-GB" sz="2500" b="1" dirty="0">
                <a:latin typeface="Courier New" charset="0"/>
                <a:cs typeface="Lucida Sans Unicode" charset="0"/>
              </a:rPr>
              <a:t>(</a:t>
            </a:r>
            <a:r>
              <a:rPr lang="en-GB" sz="2500" b="1" dirty="0" err="1">
                <a:latin typeface="Courier New" charset="0"/>
                <a:cs typeface="Lucida Sans Unicode" charset="0"/>
              </a:rPr>
              <a:t>p.second</a:t>
            </a:r>
            <a:r>
              <a:rPr lang="en-GB" sz="2500" b="1" dirty="0">
                <a:latin typeface="Courier New" charset="0"/>
                <a:cs typeface="Lucida Sans Unicode" charset="0"/>
              </a:rPr>
              <a:t>()) &gt; 0){</a:t>
            </a: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>
                <a:latin typeface="Courier New" charset="0"/>
                <a:cs typeface="Lucida Sans Unicode" charset="0"/>
              </a:rPr>
              <a:t>			T </a:t>
            </a:r>
            <a:r>
              <a:rPr lang="en-GB" sz="2500" b="1" dirty="0" err="1">
                <a:latin typeface="Courier New" charset="0"/>
                <a:cs typeface="Lucida Sans Unicode" charset="0"/>
              </a:rPr>
              <a:t>tmp</a:t>
            </a:r>
            <a:r>
              <a:rPr lang="en-GB" sz="2500" b="1" dirty="0">
                <a:latin typeface="Courier New" charset="0"/>
                <a:cs typeface="Lucida Sans Unicode" charset="0"/>
              </a:rPr>
              <a:t> = </a:t>
            </a:r>
            <a:r>
              <a:rPr lang="en-GB" sz="2500" b="1" dirty="0" err="1">
                <a:latin typeface="Courier New" charset="0"/>
                <a:cs typeface="Lucida Sans Unicode" charset="0"/>
              </a:rPr>
              <a:t>p.first</a:t>
            </a:r>
            <a:r>
              <a:rPr lang="en-GB" sz="2500" b="1" dirty="0">
                <a:latin typeface="Courier New" charset="0"/>
                <a:cs typeface="Lucida Sans Unicode" charset="0"/>
              </a:rPr>
              <a:t>();</a:t>
            </a: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>
                <a:latin typeface="Courier New" charset="0"/>
                <a:cs typeface="Lucida Sans Unicode" charset="0"/>
              </a:rPr>
              <a:t>			</a:t>
            </a:r>
            <a:r>
              <a:rPr lang="en-GB" sz="2500" b="1" dirty="0" err="1">
                <a:latin typeface="Courier New" charset="0"/>
                <a:cs typeface="Lucida Sans Unicode" charset="0"/>
              </a:rPr>
              <a:t>p.setFirst</a:t>
            </a:r>
            <a:r>
              <a:rPr lang="en-GB" sz="2500" b="1" dirty="0">
                <a:latin typeface="Courier New" charset="0"/>
                <a:cs typeface="Lucida Sans Unicode" charset="0"/>
              </a:rPr>
              <a:t>(</a:t>
            </a:r>
            <a:r>
              <a:rPr lang="en-GB" sz="2500" b="1" dirty="0" err="1">
                <a:latin typeface="Courier New" charset="0"/>
                <a:cs typeface="Lucida Sans Unicode" charset="0"/>
              </a:rPr>
              <a:t>p.second</a:t>
            </a:r>
            <a:r>
              <a:rPr lang="en-GB" sz="2500" b="1" dirty="0">
                <a:latin typeface="Courier New" charset="0"/>
                <a:cs typeface="Lucida Sans Unicode" charset="0"/>
              </a:rPr>
              <a:t>());</a:t>
            </a: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>
                <a:latin typeface="Courier New" charset="0"/>
                <a:cs typeface="Lucida Sans Unicode" charset="0"/>
              </a:rPr>
              <a:t>			</a:t>
            </a:r>
            <a:r>
              <a:rPr lang="en-GB" sz="2500" b="1" dirty="0" err="1">
                <a:latin typeface="Courier New" charset="0"/>
                <a:cs typeface="Lucida Sans Unicode" charset="0"/>
              </a:rPr>
              <a:t>p.setSecond</a:t>
            </a:r>
            <a:r>
              <a:rPr lang="en-GB" sz="2500" b="1" dirty="0">
                <a:latin typeface="Courier New" charset="0"/>
                <a:cs typeface="Lucida Sans Unicode" charset="0"/>
              </a:rPr>
              <a:t>(</a:t>
            </a:r>
            <a:r>
              <a:rPr lang="en-GB" sz="2500" b="1" dirty="0" err="1">
                <a:latin typeface="Courier New" charset="0"/>
                <a:cs typeface="Lucida Sans Unicode" charset="0"/>
              </a:rPr>
              <a:t>tmp</a:t>
            </a:r>
            <a:r>
              <a:rPr lang="en-GB" sz="2500" b="1" dirty="0">
                <a:latin typeface="Courier New" charset="0"/>
                <a:cs typeface="Lucida Sans Unicode" charset="0"/>
              </a:rPr>
              <a:t>);</a:t>
            </a: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>
                <a:latin typeface="Courier New" charset="0"/>
                <a:cs typeface="Lucida Sans Unicode" charset="0"/>
              </a:rPr>
              <a:t>		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}</a:t>
            </a: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 smtClean="0">
                <a:latin typeface="Courier New" charset="0"/>
                <a:cs typeface="Lucida Sans Unicode" charset="0"/>
              </a:rPr>
              <a:t>}</a:t>
            </a:r>
            <a:endParaRPr lang="en-GB" sz="2500" b="1" dirty="0">
              <a:latin typeface="Courier New" charset="0"/>
              <a:cs typeface="Lucida Sans Unicode" charset="0"/>
            </a:endParaRPr>
          </a:p>
          <a:p>
            <a:pPr lvl="3" eaLnBrk="1" hangingPunct="1">
              <a:lnSpc>
                <a:spcPct val="105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endParaRPr lang="en-GB" dirty="0" smtClean="0">
              <a:latin typeface="Lucida Sans Unicode" charset="0"/>
              <a:ea typeface="Lucida Sans Unicode" charset="0"/>
              <a:cs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9718864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1" name="Segnaposto numero diapositiva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FCC15E80-B735-FF4A-AE32-3812E69F2FB0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40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58722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88900"/>
            <a:ext cx="8607425" cy="860425"/>
          </a:xfrm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10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Sort generic</a:t>
            </a:r>
          </a:p>
        </p:txBody>
      </p:sp>
      <p:sp>
        <p:nvSpPr>
          <p:cNvPr id="158723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594047" y="2156420"/>
            <a:ext cx="8226425" cy="2991152"/>
          </a:xfrm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101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Why </a:t>
            </a:r>
            <a:r>
              <a:rPr lang="en-GB" sz="2600" b="1" dirty="0">
                <a:latin typeface="Courier New" charset="0"/>
                <a:cs typeface="Lucida Sans Unicode" charset="0"/>
              </a:rPr>
              <a:t>&lt;? super T&gt;</a:t>
            </a:r>
            <a:r>
              <a:rPr lang="en-GB" dirty="0">
                <a:latin typeface="Lucida Sans Unicode" charset="0"/>
                <a:cs typeface="Lucida Sans Unicode" charset="0"/>
              </a:rPr>
              <a:t> instead of just </a:t>
            </a:r>
            <a:r>
              <a:rPr lang="en-GB" sz="2600" b="1" dirty="0">
                <a:latin typeface="Courier New" charset="0"/>
                <a:cs typeface="Lucida Sans Unicode" charset="0"/>
              </a:rPr>
              <a:t>&lt;T&gt;</a:t>
            </a:r>
            <a:r>
              <a:rPr lang="en-GB" dirty="0">
                <a:latin typeface="Lucida Sans Unicode" charset="0"/>
                <a:cs typeface="Lucida Sans Unicode" charset="0"/>
              </a:rPr>
              <a:t> ?</a:t>
            </a:r>
          </a:p>
          <a:p>
            <a:pPr lvl="1" eaLnBrk="1" hangingPunct="1">
              <a:lnSpc>
                <a:spcPct val="10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Suppose you define </a:t>
            </a:r>
          </a:p>
          <a:p>
            <a:pPr lvl="2" eaLnBrk="1" hangingPunct="1">
              <a:lnSpc>
                <a:spcPct val="91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 err="1">
                <a:latin typeface="Courier New" charset="0"/>
                <a:ea typeface="Lucida Sans Unicode" charset="0"/>
                <a:cs typeface="Lucida Sans Unicode" charset="0"/>
              </a:rPr>
              <a:t>MasterStudent</a:t>
            </a:r>
            <a:r>
              <a:rPr lang="en-GB" b="1" dirty="0">
                <a:latin typeface="Courier New" charset="0"/>
                <a:ea typeface="Lucida Sans Unicode" charset="0"/>
                <a:cs typeface="Lucida Sans Unicode" charset="0"/>
              </a:rPr>
              <a:t> extends Student { }</a:t>
            </a:r>
          </a:p>
          <a:p>
            <a:pPr lvl="1" eaLnBrk="1" hangingPunct="1">
              <a:lnSpc>
                <a:spcPct val="10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Intending to inherit the Student ordering</a:t>
            </a:r>
          </a:p>
          <a:p>
            <a:pPr lvl="2" eaLnBrk="1" hangingPunct="1">
              <a:lnSpc>
                <a:spcPct val="10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D</a:t>
            </a: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oes 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not </a:t>
            </a: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implement </a:t>
            </a:r>
            <a:r>
              <a:rPr lang="en-GB" b="1" dirty="0" smtClean="0">
                <a:latin typeface="Courier New" charset="0"/>
                <a:ea typeface="Lucida Sans Unicode" charset="0"/>
                <a:cs typeface="Lucida Sans Unicode" charset="0"/>
              </a:rPr>
              <a:t>Comparable</a:t>
            </a:r>
            <a:r>
              <a:rPr lang="en-GB" b="1" dirty="0">
                <a:latin typeface="Courier New" charset="0"/>
                <a:ea typeface="Lucida Sans Unicode" charset="0"/>
                <a:cs typeface="Lucida Sans Unicode" charset="0"/>
              </a:rPr>
              <a:t>&lt;</a:t>
            </a:r>
            <a:r>
              <a:rPr lang="en-GB" b="1" dirty="0" err="1">
                <a:latin typeface="Courier New" charset="0"/>
                <a:ea typeface="Lucida Sans Unicode" charset="0"/>
                <a:cs typeface="Lucida Sans Unicode" charset="0"/>
              </a:rPr>
              <a:t>MasterStudent</a:t>
            </a:r>
            <a:r>
              <a:rPr lang="en-GB" b="1" dirty="0">
                <a:latin typeface="Courier New" charset="0"/>
                <a:ea typeface="Lucida Sans Unicode" charset="0"/>
                <a:cs typeface="Lucida Sans Unicode" charset="0"/>
              </a:rPr>
              <a:t>&gt;</a:t>
            </a:r>
          </a:p>
          <a:p>
            <a:pPr lvl="2" eaLnBrk="1" hangingPunct="1">
              <a:lnSpc>
                <a:spcPct val="10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>
                <a:latin typeface="Lucida Sans Unicode" charset="0"/>
                <a:ea typeface="Lucida Sans Unicode" charset="0"/>
                <a:cs typeface="Lucida Sans Unicode" charset="0"/>
              </a:rPr>
              <a:t>But </a:t>
            </a:r>
            <a:r>
              <a:rPr lang="en-GB" b="1" dirty="0" err="1">
                <a:latin typeface="Courier New" charset="0"/>
                <a:ea typeface="Lucida Sans Unicode" charset="0"/>
                <a:cs typeface="Lucida Sans Unicode" charset="0"/>
              </a:rPr>
              <a:t>MasterStudent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 extends (indirectly) </a:t>
            </a:r>
            <a:r>
              <a:rPr lang="en-GB" b="1" dirty="0">
                <a:latin typeface="Courier New" charset="0"/>
                <a:ea typeface="Lucida Sans Unicode" charset="0"/>
                <a:cs typeface="Lucida Sans Unicode" charset="0"/>
              </a:rPr>
              <a:t>Comparable&lt;Student&gt;</a:t>
            </a:r>
          </a:p>
        </p:txBody>
      </p:sp>
      <p:sp>
        <p:nvSpPr>
          <p:cNvPr id="158724" name="Text Box 3"/>
          <p:cNvSpPr txBox="1">
            <a:spLocks noChangeArrowheads="1"/>
          </p:cNvSpPr>
          <p:nvPr/>
        </p:nvSpPr>
        <p:spPr bwMode="auto">
          <a:xfrm>
            <a:off x="1277938" y="1200150"/>
            <a:ext cx="584993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5000" rIns="90000" bIns="45000">
            <a:spAutoFit/>
          </a:bodyPr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89000"/>
              </a:lnSpc>
            </a:pPr>
            <a:r>
              <a:rPr lang="en-GB" b="1">
                <a:solidFill>
                  <a:srgbClr val="000000"/>
                </a:solidFill>
                <a:latin typeface="Courier New" charset="0"/>
              </a:rPr>
              <a:t>T extends Comparable&lt;? super T&gt;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430713" y="1273175"/>
            <a:ext cx="1458912" cy="692150"/>
            <a:chOff x="2791" y="802"/>
            <a:chExt cx="919" cy="436"/>
          </a:xfrm>
        </p:grpSpPr>
        <p:sp>
          <p:nvSpPr>
            <p:cNvPr id="158731" name="Line 5"/>
            <p:cNvSpPr>
              <a:spLocks noChangeShapeType="1"/>
            </p:cNvSpPr>
            <p:nvPr/>
          </p:nvSpPr>
          <p:spPr bwMode="auto">
            <a:xfrm>
              <a:off x="3239" y="802"/>
              <a:ext cx="175" cy="152"/>
            </a:xfrm>
            <a:prstGeom prst="line">
              <a:avLst/>
            </a:prstGeom>
            <a:noFill/>
            <a:ln w="36720">
              <a:solidFill>
                <a:srgbClr val="FF66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732" name="Text Box 6"/>
            <p:cNvSpPr txBox="1">
              <a:spLocks noChangeArrowheads="1"/>
            </p:cNvSpPr>
            <p:nvPr/>
          </p:nvSpPr>
          <p:spPr bwMode="auto">
            <a:xfrm>
              <a:off x="2791" y="977"/>
              <a:ext cx="920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5000" rIns="90000" bIns="45000">
              <a:spAutoFit/>
            </a:bodyPr>
            <a:lstStyle>
              <a:lvl1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>
                <a:lnSpc>
                  <a:spcPct val="89000"/>
                </a:lnSpc>
              </a:pPr>
              <a:r>
                <a:rPr lang="en-GB" b="1">
                  <a:solidFill>
                    <a:srgbClr val="FF6633"/>
                  </a:solidFill>
                  <a:latin typeface="Courier New" charset="0"/>
                </a:rPr>
                <a:t>Student</a:t>
              </a: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563563" y="1273175"/>
            <a:ext cx="8404225" cy="728663"/>
            <a:chOff x="355" y="802"/>
            <a:chExt cx="5294" cy="459"/>
          </a:xfrm>
        </p:grpSpPr>
        <p:sp>
          <p:nvSpPr>
            <p:cNvPr id="158727" name="Line 8"/>
            <p:cNvSpPr>
              <a:spLocks noChangeShapeType="1"/>
            </p:cNvSpPr>
            <p:nvPr/>
          </p:nvSpPr>
          <p:spPr bwMode="auto">
            <a:xfrm>
              <a:off x="4169" y="802"/>
              <a:ext cx="175" cy="152"/>
            </a:xfrm>
            <a:prstGeom prst="line">
              <a:avLst/>
            </a:prstGeom>
            <a:noFill/>
            <a:ln w="36720">
              <a:solidFill>
                <a:srgbClr val="FF66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728" name="Text Box 9"/>
            <p:cNvSpPr txBox="1">
              <a:spLocks noChangeArrowheads="1"/>
            </p:cNvSpPr>
            <p:nvPr/>
          </p:nvSpPr>
          <p:spPr bwMode="auto">
            <a:xfrm>
              <a:off x="4038" y="1000"/>
              <a:ext cx="1612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5000" rIns="90000" bIns="45000">
              <a:spAutoFit/>
            </a:bodyPr>
            <a:lstStyle>
              <a:lvl1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>
                <a:lnSpc>
                  <a:spcPct val="89000"/>
                </a:lnSpc>
              </a:pPr>
              <a:r>
                <a:rPr lang="en-GB" b="1">
                  <a:solidFill>
                    <a:srgbClr val="FF6633"/>
                  </a:solidFill>
                  <a:latin typeface="Courier New" charset="0"/>
                </a:rPr>
                <a:t>MasterStudent</a:t>
              </a:r>
            </a:p>
          </p:txBody>
        </p:sp>
        <p:sp>
          <p:nvSpPr>
            <p:cNvPr id="158729" name="Line 10"/>
            <p:cNvSpPr>
              <a:spLocks noChangeShapeType="1"/>
            </p:cNvSpPr>
            <p:nvPr/>
          </p:nvSpPr>
          <p:spPr bwMode="auto">
            <a:xfrm>
              <a:off x="813" y="802"/>
              <a:ext cx="175" cy="152"/>
            </a:xfrm>
            <a:prstGeom prst="line">
              <a:avLst/>
            </a:prstGeom>
            <a:noFill/>
            <a:ln w="36720">
              <a:solidFill>
                <a:srgbClr val="FF66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730" name="Text Box 11"/>
            <p:cNvSpPr txBox="1">
              <a:spLocks noChangeArrowheads="1"/>
            </p:cNvSpPr>
            <p:nvPr/>
          </p:nvSpPr>
          <p:spPr bwMode="auto">
            <a:xfrm>
              <a:off x="355" y="984"/>
              <a:ext cx="1612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5000" rIns="90000" bIns="45000">
              <a:spAutoFit/>
            </a:bodyPr>
            <a:lstStyle>
              <a:lvl1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>
                <a:lnSpc>
                  <a:spcPct val="89000"/>
                </a:lnSpc>
              </a:pPr>
              <a:r>
                <a:rPr lang="en-GB" b="1" dirty="0" err="1">
                  <a:solidFill>
                    <a:srgbClr val="FF6633"/>
                  </a:solidFill>
                  <a:latin typeface="Courier New" charset="0"/>
                </a:rPr>
                <a:t>MasterStudent</a:t>
              </a:r>
              <a:endParaRPr lang="en-GB" b="1" dirty="0">
                <a:solidFill>
                  <a:srgbClr val="FF6633"/>
                </a:solidFill>
                <a:latin typeface="Courier New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1783279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1"/>
          <p:cNvSpPr>
            <a:spLocks noGrp="1" noChangeArrowheads="1"/>
          </p:cNvSpPr>
          <p:nvPr>
            <p:ph type="title"/>
          </p:nvPr>
        </p:nvSpPr>
        <p:spPr/>
        <p:txBody>
          <a:bodyPr lIns="0" tIns="0" rIns="0" bIns="0">
            <a:spAutoFit/>
          </a:bodyPr>
          <a:lstStyle/>
          <a:p>
            <a:pPr eaLnBrk="1" hangingPunct="1">
              <a:lnSpc>
                <a:spcPct val="10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Sort method</a:t>
            </a:r>
          </a:p>
        </p:txBody>
      </p:sp>
      <p:sp>
        <p:nvSpPr>
          <p:cNvPr id="156675" name="Rectangle 2"/>
          <p:cNvSpPr>
            <a:spLocks noGrp="1" noChangeArrowheads="1"/>
          </p:cNvSpPr>
          <p:nvPr>
            <p:ph idx="1"/>
          </p:nvPr>
        </p:nvSpPr>
        <p:spPr>
          <a:xfrm>
            <a:off x="609600" y="1295401"/>
            <a:ext cx="8221663" cy="4393382"/>
          </a:xfrm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10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On 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Comparable objects:</a:t>
            </a:r>
          </a:p>
          <a:p>
            <a:pPr eaLnBrk="1" hangingPunct="1">
              <a:lnSpc>
                <a:spcPct val="91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 smtClean="0">
                <a:latin typeface="Courier New" charset="0"/>
                <a:cs typeface="Lucida Sans Unicode" charset="0"/>
              </a:rPr>
              <a:t>static </a:t>
            </a:r>
            <a:r>
              <a:rPr lang="en-GB" sz="2400" b="1" dirty="0">
                <a:latin typeface="Courier New" charset="0"/>
                <a:cs typeface="Lucida Sans Unicode" charset="0"/>
              </a:rPr>
              <a:t>&lt;T extends Comparable&lt;? super T&gt;&gt;</a:t>
            </a:r>
          </a:p>
          <a:p>
            <a:pPr eaLnBrk="1" hangingPunct="1">
              <a:lnSpc>
                <a:spcPct val="91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void </a:t>
            </a:r>
            <a:r>
              <a:rPr lang="en-GB" sz="2400" b="1" dirty="0">
                <a:solidFill>
                  <a:srgbClr val="FF6633"/>
                </a:solidFill>
                <a:latin typeface="Courier New" charset="0"/>
                <a:cs typeface="Lucida Sans Unicode" charset="0"/>
              </a:rPr>
              <a:t>sort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(T[] </a:t>
            </a:r>
            <a:r>
              <a:rPr lang="en-GB" sz="2400" b="1" dirty="0">
                <a:latin typeface="Courier New" charset="0"/>
                <a:cs typeface="Lucida Sans Unicode" charset="0"/>
              </a:rPr>
              <a:t>list)</a:t>
            </a:r>
          </a:p>
          <a:p>
            <a:pPr lvl="2" eaLnBrk="1" hangingPunct="1">
              <a:lnSpc>
                <a:spcPct val="101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dirty="0">
                <a:latin typeface="Lucida Sans Unicode" charset="0"/>
                <a:cs typeface="Lucida Sans Unicode" charset="0"/>
              </a:rPr>
              <a:t>For backward compatibility, actually in class Array sort is defined as:</a:t>
            </a:r>
          </a:p>
          <a:p>
            <a:pPr lvl="2"/>
            <a:r>
              <a:rPr lang="en-US" sz="2000" b="1" dirty="0">
                <a:solidFill>
                  <a:schemeClr val="tx1"/>
                </a:solidFill>
                <a:latin typeface="Courier New"/>
                <a:cs typeface="Courier New"/>
              </a:rPr>
              <a:t>public static void sort(Object[] a)</a:t>
            </a:r>
          </a:p>
          <a:p>
            <a:pPr lvl="2" eaLnBrk="1" hangingPunct="1">
              <a:lnSpc>
                <a:spcPct val="101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dirty="0">
                <a:latin typeface="Lucida Sans Unicode" charset="0"/>
                <a:cs typeface="Lucida Sans Unicode" charset="0"/>
              </a:rPr>
              <a:t>No compile time check is performed.</a:t>
            </a:r>
            <a:endParaRPr lang="en-GB" dirty="0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10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Using 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a Comparator object:</a:t>
            </a:r>
          </a:p>
          <a:p>
            <a:pPr eaLnBrk="1" hangingPunct="1">
              <a:lnSpc>
                <a:spcPct val="91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 smtClean="0">
                <a:latin typeface="Courier New" charset="0"/>
                <a:cs typeface="Lucida Sans Unicode" charset="0"/>
              </a:rPr>
              <a:t>static </a:t>
            </a:r>
            <a:r>
              <a:rPr lang="en-GB" sz="2400" b="1" dirty="0">
                <a:latin typeface="Courier New" charset="0"/>
                <a:cs typeface="Lucida Sans Unicode" charset="0"/>
              </a:rPr>
              <a:t>&lt;T&gt; 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void</a:t>
            </a:r>
          </a:p>
          <a:p>
            <a:pPr eaLnBrk="1" hangingPunct="1">
              <a:lnSpc>
                <a:spcPct val="91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 smtClean="0">
                <a:solidFill>
                  <a:srgbClr val="FF6633"/>
                </a:solidFill>
                <a:latin typeface="Courier New" charset="0"/>
                <a:cs typeface="Lucida Sans Unicode" charset="0"/>
              </a:rPr>
              <a:t>sort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(T[] a, </a:t>
            </a:r>
            <a:r>
              <a:rPr lang="en-GB" sz="2400" b="1" dirty="0">
                <a:latin typeface="Courier New" charset="0"/>
                <a:cs typeface="Lucida Sans Unicode" charset="0"/>
              </a:rPr>
              <a:t>Comparator&lt;? super T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&gt; </a:t>
            </a:r>
            <a:r>
              <a:rPr lang="en-GB" sz="2400" b="1" dirty="0" err="1" smtClean="0">
                <a:latin typeface="Courier New" charset="0"/>
                <a:cs typeface="Lucida Sans Unicode" charset="0"/>
              </a:rPr>
              <a:t>cmp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)</a:t>
            </a:r>
            <a:endParaRPr lang="en-GB" sz="2400" b="1" dirty="0">
              <a:latin typeface="Courier New" charset="0"/>
              <a:cs typeface="Lucida Sans Unicode" charset="0"/>
            </a:endParaRPr>
          </a:p>
        </p:txBody>
      </p:sp>
      <p:sp>
        <p:nvSpPr>
          <p:cNvPr id="156673" name="Segnaposto numero diapositiva 5"/>
          <p:cNvSpPr>
            <a:spLocks noGrp="1"/>
          </p:cNvSpPr>
          <p:nvPr>
            <p:ph type="sldNum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A6A5843E-3C9C-2B46-81BE-B95330166545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41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726927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22880" y="4406865"/>
            <a:ext cx="7771680" cy="1362383"/>
          </a:xfrm>
        </p:spPr>
        <p:txBody>
          <a:bodyPr/>
          <a:lstStyle/>
          <a:p>
            <a:pPr>
              <a:defRPr/>
            </a:pPr>
            <a:r>
              <a:rPr lang="it-IT" dirty="0" err="1" smtClean="0"/>
              <a:t>Type</a:t>
            </a:r>
            <a:r>
              <a:rPr lang="it-IT" dirty="0" smtClean="0"/>
              <a:t> Erasure</a:t>
            </a:r>
            <a:endParaRPr lang="it-IT" dirty="0"/>
          </a:p>
        </p:txBody>
      </p:sp>
      <p:sp>
        <p:nvSpPr>
          <p:cNvPr id="73730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>
              <a:latin typeface="Lucida Sans Unicode" charset="0"/>
              <a:cs typeface="Lucida Sans Unicode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AutoShape 1"/>
          <p:cNvSpPr>
            <a:spLocks noChangeArrowheads="1"/>
          </p:cNvSpPr>
          <p:nvPr/>
        </p:nvSpPr>
        <p:spPr bwMode="auto">
          <a:xfrm>
            <a:off x="323528" y="3068960"/>
            <a:ext cx="8660160" cy="2304256"/>
          </a:xfrm>
          <a:prstGeom prst="roundRect">
            <a:avLst>
              <a:gd name="adj" fmla="val 69"/>
            </a:avLst>
          </a:prstGeom>
          <a:solidFill>
            <a:srgbClr val="FDEADA"/>
          </a:solidFill>
          <a:ln w="9360">
            <a:solidFill>
              <a:srgbClr val="E46C0A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82918" tIns="41460" rIns="82918" bIns="41460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7475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7520" y="247708"/>
            <a:ext cx="8596800" cy="619265"/>
          </a:xfrm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101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  <a:tab pos="8533237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Generics classes</a:t>
            </a:r>
          </a:p>
        </p:txBody>
      </p:sp>
      <p:sp>
        <p:nvSpPr>
          <p:cNvPr id="7475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121" y="1294696"/>
            <a:ext cx="8215200" cy="3936232"/>
          </a:xfrm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101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The compiler generates only one </a:t>
            </a:r>
            <a:r>
              <a:rPr lang="en-GB" dirty="0">
                <a:latin typeface="Lucida Sans Unicode" charset="0"/>
                <a:cs typeface="Lucida Sans Unicode" charset="0"/>
              </a:rPr>
              <a:t>class 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for </a:t>
            </a:r>
            <a:r>
              <a:rPr lang="en-GB" dirty="0">
                <a:latin typeface="Lucida Sans Unicode" charset="0"/>
                <a:cs typeface="Lucida Sans Unicode" charset="0"/>
              </a:rPr>
              <a:t>each generic type 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declaration</a:t>
            </a:r>
          </a:p>
          <a:p>
            <a:pPr lvl="1" eaLnBrk="1" hangingPunct="1">
              <a:lnSpc>
                <a:spcPct val="101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Compilation </a:t>
            </a:r>
            <a:r>
              <a:rPr lang="en-GB" dirty="0" smtClean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erases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 the types</a:t>
            </a:r>
            <a:endParaRPr lang="en-GB" dirty="0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101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endParaRPr lang="en-GB" dirty="0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80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>
                <a:latin typeface="Courier New" charset="0"/>
                <a:cs typeface="Lucida Sans Unicode" charset="0"/>
              </a:rPr>
              <a:t>Person&lt;Integer&gt; a = new Person&lt;Integer&gt; 					("</a:t>
            </a:r>
            <a:r>
              <a:rPr lang="en-GB" sz="2500" b="1" dirty="0" err="1">
                <a:latin typeface="Courier New" charset="0"/>
                <a:cs typeface="Lucida Sans Unicode" charset="0"/>
              </a:rPr>
              <a:t>Al","A",new</a:t>
            </a:r>
            <a:r>
              <a:rPr lang="en-GB" sz="2500" b="1" dirty="0">
                <a:latin typeface="Courier New" charset="0"/>
                <a:cs typeface="Lucida Sans Unicode" charset="0"/>
              </a:rPr>
              <a:t> Integer(123));</a:t>
            </a:r>
          </a:p>
          <a:p>
            <a:pPr eaLnBrk="1" hangingPunct="1">
              <a:lnSpc>
                <a:spcPct val="80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>
                <a:latin typeface="Courier New" charset="0"/>
                <a:cs typeface="Lucida Sans Unicode" charset="0"/>
              </a:rPr>
              <a:t>Person&lt;String&gt; b = new Person&lt;String&gt;</a:t>
            </a:r>
            <a:br>
              <a:rPr lang="en-GB" sz="2500" b="1" dirty="0">
                <a:latin typeface="Courier New" charset="0"/>
                <a:cs typeface="Lucida Sans Unicode" charset="0"/>
              </a:rPr>
            </a:br>
            <a:r>
              <a:rPr lang="en-GB" sz="2500" b="1" dirty="0">
                <a:latin typeface="Courier New" charset="0"/>
                <a:cs typeface="Lucida Sans Unicode" charset="0"/>
              </a:rPr>
              <a:t>                    ("Pat","B","s32");</a:t>
            </a:r>
          </a:p>
          <a:p>
            <a:pPr eaLnBrk="1" hangingPunct="1">
              <a:lnSpc>
                <a:spcPct val="80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 err="1">
                <a:latin typeface="Courier New" charset="0"/>
                <a:cs typeface="Lucida Sans Unicode" charset="0"/>
              </a:rPr>
              <a:t>boolean</a:t>
            </a:r>
            <a:r>
              <a:rPr lang="en-GB" sz="2500" b="1" dirty="0">
                <a:latin typeface="Courier New" charset="0"/>
                <a:cs typeface="Lucida Sans Unicode" charset="0"/>
              </a:rPr>
              <a:t> same=(</a:t>
            </a:r>
            <a:r>
              <a:rPr lang="en-GB" sz="2500" b="1" dirty="0" err="1">
                <a:latin typeface="Courier New" charset="0"/>
                <a:cs typeface="Lucida Sans Unicode" charset="0"/>
              </a:rPr>
              <a:t>a.getClass</a:t>
            </a:r>
            <a:r>
              <a:rPr lang="en-GB" sz="2500" b="1" dirty="0">
                <a:latin typeface="Courier New" charset="0"/>
                <a:cs typeface="Lucida Sans Unicode" charset="0"/>
              </a:rPr>
              <a:t>()==</a:t>
            </a:r>
            <a:r>
              <a:rPr lang="en-GB" sz="2500" b="1" dirty="0" err="1">
                <a:latin typeface="Courier New" charset="0"/>
                <a:cs typeface="Lucida Sans Unicode" charset="0"/>
              </a:rPr>
              <a:t>b.getClass</a:t>
            </a:r>
            <a:r>
              <a:rPr lang="en-GB" sz="2500" b="1" dirty="0">
                <a:latin typeface="Courier New" charset="0"/>
                <a:cs typeface="Lucida Sans Unicode" charset="0"/>
              </a:rPr>
              <a:t>());</a:t>
            </a:r>
          </a:p>
        </p:txBody>
      </p:sp>
      <p:sp>
        <p:nvSpPr>
          <p:cNvPr id="24580" name="AutoShape 4"/>
          <p:cNvSpPr>
            <a:spLocks noChangeArrowheads="1"/>
          </p:cNvSpPr>
          <p:nvPr/>
        </p:nvSpPr>
        <p:spPr bwMode="auto">
          <a:xfrm>
            <a:off x="3995936" y="5589240"/>
            <a:ext cx="2736304" cy="756078"/>
          </a:xfrm>
          <a:prstGeom prst="wedgeRoundRectCallout">
            <a:avLst>
              <a:gd name="adj1" fmla="val -89763"/>
              <a:gd name="adj2" fmla="val -110186"/>
              <a:gd name="adj3" fmla="val 16667"/>
            </a:avLst>
          </a:prstGeom>
          <a:solidFill>
            <a:srgbClr val="E6E0EC"/>
          </a:solidFill>
          <a:ln w="9360">
            <a:solidFill>
              <a:srgbClr val="8064A2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5857" tIns="45051" rIns="85857" bIns="45051" anchor="ctr"/>
          <a:lstStyle/>
          <a:p>
            <a:pPr algn="ctr">
              <a:lnSpc>
                <a:spcPct val="84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</a:tabLst>
            </a:pPr>
            <a:r>
              <a:rPr lang="en-GB" sz="2400" dirty="0">
                <a:solidFill>
                  <a:srgbClr val="000000"/>
                </a:solidFill>
                <a:cs typeface="Lucida Sans Unicode" charset="0"/>
              </a:rPr>
              <a:t>believe it or not </a:t>
            </a:r>
            <a:r>
              <a:rPr lang="en-GB" sz="2400" i="1" dirty="0">
                <a:solidFill>
                  <a:srgbClr val="000000"/>
                </a:solidFill>
                <a:cs typeface="Lucida Sans Unicode" charset="0"/>
              </a:rPr>
              <a:t>same</a:t>
            </a:r>
            <a:r>
              <a:rPr lang="en-GB" sz="2400" dirty="0">
                <a:solidFill>
                  <a:srgbClr val="000000"/>
                </a:solidFill>
                <a:cs typeface="Lucida Sans Unicode" charset="0"/>
              </a:rPr>
              <a:t> is </a:t>
            </a:r>
            <a:r>
              <a:rPr lang="en-GB" sz="2400" i="1" dirty="0">
                <a:solidFill>
                  <a:srgbClr val="000000"/>
                </a:solidFill>
                <a:cs typeface="Lucida Sans Unicode" charset="0"/>
              </a:rPr>
              <a:t>true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1"/>
          <p:cNvSpPr>
            <a:spLocks noGrp="1" noChangeArrowheads="1"/>
          </p:cNvSpPr>
          <p:nvPr>
            <p:ph type="title"/>
          </p:nvPr>
        </p:nvSpPr>
        <p:spPr/>
        <p:txBody>
          <a:bodyPr lIns="0" tIns="0" rIns="0" bIns="0">
            <a:spAutoFit/>
          </a:bodyPr>
          <a:lstStyle/>
          <a:p>
            <a:pPr eaLnBrk="1" hangingPunct="1">
              <a:lnSpc>
                <a:spcPct val="101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  <a:tab pos="8533237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Type erasure</a:t>
            </a:r>
          </a:p>
        </p:txBody>
      </p:sp>
      <p:sp>
        <p:nvSpPr>
          <p:cNvPr id="76803" name="Rectangle 2"/>
          <p:cNvSpPr>
            <a:spLocks noGrp="1" noChangeArrowheads="1"/>
          </p:cNvSpPr>
          <p:nvPr>
            <p:ph idx="1"/>
          </p:nvPr>
        </p:nvSpPr>
        <p:spPr/>
        <p:txBody>
          <a:bodyPr lIns="0" tIns="0" rIns="0" bIns="0">
            <a:normAutofit/>
          </a:bodyPr>
          <a:lstStyle/>
          <a:p>
            <a:pPr eaLnBrk="1" hangingPunct="1">
              <a:lnSpc>
                <a:spcPct val="91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Classes corresponding to generic types are generated by </a:t>
            </a:r>
            <a:r>
              <a:rPr lang="en-GB" dirty="0">
                <a:solidFill>
                  <a:srgbClr val="FF6633"/>
                </a:solidFill>
                <a:latin typeface="Lucida Sans Unicode" charset="0"/>
                <a:cs typeface="Lucida Sans Unicode" charset="0"/>
              </a:rPr>
              <a:t>type erasure</a:t>
            </a:r>
          </a:p>
          <a:p>
            <a:pPr lvl="1" eaLnBrk="1" hangingPunct="1">
              <a:lnSpc>
                <a:spcPct val="91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The erasure of a generic class is a </a:t>
            </a:r>
            <a:r>
              <a:rPr lang="en-GB" dirty="0">
                <a:solidFill>
                  <a:srgbClr val="FF6633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raw type</a:t>
            </a:r>
          </a:p>
          <a:p>
            <a:pPr lvl="2" eaLnBrk="1" hangingPunct="1">
              <a:lnSpc>
                <a:spcPct val="91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where any reference to the parameters is substituted with the parameter erasure</a:t>
            </a:r>
          </a:p>
          <a:p>
            <a:pPr lvl="1" eaLnBrk="1" hangingPunct="1">
              <a:lnSpc>
                <a:spcPct val="91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Erasure of a parameter is the erasure of its first constraint</a:t>
            </a:r>
          </a:p>
          <a:p>
            <a:pPr lvl="2" eaLnBrk="1" hangingPunct="1">
              <a:lnSpc>
                <a:spcPct val="91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If no constraint then erasure is </a:t>
            </a:r>
            <a:r>
              <a:rPr lang="en-GB" b="1" dirty="0">
                <a:latin typeface="Courier New"/>
                <a:ea typeface="Lucida Sans Unicode" charset="0"/>
                <a:cs typeface="Courier New"/>
              </a:rPr>
              <a:t>Object</a:t>
            </a:r>
          </a:p>
          <a:p>
            <a:pPr lvl="1" eaLnBrk="1" hangingPunct="1">
              <a:lnSpc>
                <a:spcPct val="91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The erasure of a non-generic type is the type itself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7520" y="247708"/>
            <a:ext cx="8596800" cy="619265"/>
          </a:xfrm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101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  <a:tab pos="8533237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Type erasure - examples</a:t>
            </a:r>
          </a:p>
        </p:txBody>
      </p:sp>
      <p:sp>
        <p:nvSpPr>
          <p:cNvPr id="78851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09121" y="1294699"/>
            <a:ext cx="8215200" cy="2985433"/>
          </a:xfrm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101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In: </a:t>
            </a:r>
            <a:r>
              <a:rPr lang="en-GB" sz="2500" b="1" dirty="0">
                <a:latin typeface="Courier New" charset="0"/>
                <a:cs typeface="Lucida Sans Unicode" charset="0"/>
              </a:rPr>
              <a:t>&lt;T&gt;</a:t>
            </a:r>
          </a:p>
          <a:p>
            <a:pPr lvl="1" eaLnBrk="1" hangingPunct="1">
              <a:lnSpc>
                <a:spcPct val="94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b="1" dirty="0">
                <a:latin typeface="Courier New" charset="0"/>
                <a:ea typeface="Lucida Sans Unicode" charset="0"/>
                <a:cs typeface="Lucida Sans Unicode" charset="0"/>
              </a:rPr>
              <a:t>T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 </a:t>
            </a: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  <a:sym typeface="Wingdings"/>
              </a:rPr>
              <a:t></a:t>
            </a: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 </a:t>
            </a:r>
            <a:r>
              <a:rPr lang="en-GB" b="1" dirty="0">
                <a:latin typeface="Courier New" charset="0"/>
                <a:ea typeface="Lucida Sans Unicode" charset="0"/>
                <a:cs typeface="Lucida Sans Unicode" charset="0"/>
              </a:rPr>
              <a:t>Object</a:t>
            </a:r>
          </a:p>
          <a:p>
            <a:pPr eaLnBrk="1" hangingPunct="1">
              <a:lnSpc>
                <a:spcPct val="106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In: </a:t>
            </a:r>
            <a:r>
              <a:rPr lang="en-GB" sz="2500" b="1" dirty="0">
                <a:latin typeface="Courier New" charset="0"/>
                <a:cs typeface="Lucida Sans Unicode" charset="0"/>
              </a:rPr>
              <a:t>&lt;T extends Number&gt;</a:t>
            </a:r>
          </a:p>
          <a:p>
            <a:pPr lvl="1" eaLnBrk="1" hangingPunct="1">
              <a:lnSpc>
                <a:spcPct val="94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b="1" dirty="0">
                <a:latin typeface="Courier New" charset="0"/>
                <a:ea typeface="Lucida Sans Unicode" charset="0"/>
                <a:cs typeface="Lucida Sans Unicode" charset="0"/>
              </a:rPr>
              <a:t>T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 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  <a:sym typeface="Wingdings"/>
              </a:rPr>
              <a:t></a:t>
            </a: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 </a:t>
            </a:r>
            <a:r>
              <a:rPr lang="en-GB" b="1" dirty="0">
                <a:latin typeface="Courier New" charset="0"/>
                <a:ea typeface="Lucida Sans Unicode" charset="0"/>
                <a:cs typeface="Lucida Sans Unicode" charset="0"/>
              </a:rPr>
              <a:t>Number</a:t>
            </a:r>
          </a:p>
          <a:p>
            <a:pPr eaLnBrk="1" hangingPunct="1">
              <a:lnSpc>
                <a:spcPct val="106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In: </a:t>
            </a:r>
            <a:r>
              <a:rPr lang="en-GB" sz="2500" b="1" dirty="0">
                <a:latin typeface="Courier New" charset="0"/>
                <a:cs typeface="Lucida Sans Unicode" charset="0"/>
              </a:rPr>
              <a:t>&lt;T extends Number &amp; Comparable&gt;</a:t>
            </a:r>
          </a:p>
          <a:p>
            <a:pPr lvl="1" eaLnBrk="1" hangingPunct="1">
              <a:lnSpc>
                <a:spcPct val="94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b="1" dirty="0">
                <a:latin typeface="Courier New" charset="0"/>
                <a:ea typeface="Lucida Sans Unicode" charset="0"/>
                <a:cs typeface="Lucida Sans Unicode" charset="0"/>
              </a:rPr>
              <a:t>T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 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  <a:sym typeface="Wingdings"/>
              </a:rPr>
              <a:t></a:t>
            </a: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 </a:t>
            </a:r>
            <a:r>
              <a:rPr lang="en-GB" b="1" dirty="0">
                <a:latin typeface="Courier New" charset="0"/>
                <a:ea typeface="Lucida Sans Unicode" charset="0"/>
                <a:cs typeface="Lucida Sans Unicode" charset="0"/>
              </a:rPr>
              <a:t>Number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1"/>
          <p:cNvSpPr>
            <a:spLocks noGrp="1" noChangeArrowheads="1"/>
          </p:cNvSpPr>
          <p:nvPr>
            <p:ph type="title"/>
          </p:nvPr>
        </p:nvSpPr>
        <p:spPr/>
        <p:txBody>
          <a:bodyPr lIns="0" tIns="0" rIns="0" bIns="0">
            <a:spAutoFit/>
          </a:bodyPr>
          <a:lstStyle/>
          <a:p>
            <a:pPr eaLnBrk="1" hangingPunct="1">
              <a:lnSpc>
                <a:spcPct val="101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  <a:tab pos="8533237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Type erasure – consequences I</a:t>
            </a:r>
          </a:p>
        </p:txBody>
      </p:sp>
      <p:sp>
        <p:nvSpPr>
          <p:cNvPr id="80899" name="Rectangle 2"/>
          <p:cNvSpPr>
            <a:spLocks noGrp="1" noChangeArrowheads="1"/>
          </p:cNvSpPr>
          <p:nvPr>
            <p:ph idx="1"/>
          </p:nvPr>
        </p:nvSpPr>
        <p:spPr>
          <a:xfrm>
            <a:off x="609120" y="1294696"/>
            <a:ext cx="8212320" cy="4490229"/>
          </a:xfrm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101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Compiler 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applies checks </a:t>
            </a:r>
            <a:r>
              <a:rPr lang="en-GB" dirty="0">
                <a:latin typeface="Lucida Sans Unicode" charset="0"/>
                <a:cs typeface="Lucida Sans Unicode" charset="0"/>
              </a:rPr>
              <a:t>only when a generic type is used, not within it.</a:t>
            </a:r>
          </a:p>
          <a:p>
            <a:pPr eaLnBrk="1" hangingPunct="1">
              <a:lnSpc>
                <a:spcPct val="106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Whenever a generic or a parameter is used a cast is added to its 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erasure</a:t>
            </a:r>
          </a:p>
          <a:p>
            <a:pPr eaLnBrk="1" hangingPunct="1">
              <a:lnSpc>
                <a:spcPct val="106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To avoid inconsistencies and wrong expectations</a:t>
            </a:r>
            <a:endParaRPr lang="en-GB" dirty="0">
              <a:latin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94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b="1" dirty="0" err="1" smtClean="0">
                <a:latin typeface="Courier New" charset="0"/>
                <a:cs typeface="Lucida Sans Unicode" charset="0"/>
              </a:rPr>
              <a:t>instanceof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 </a:t>
            </a:r>
            <a:r>
              <a:rPr lang="en-GB" dirty="0">
                <a:latin typeface="Lucida Sans Unicode" charset="0"/>
                <a:cs typeface="Lucida Sans Unicode" charset="0"/>
              </a:rPr>
              <a:t>and </a:t>
            </a:r>
            <a:r>
              <a:rPr lang="en-GB" b="1" dirty="0">
                <a:latin typeface="Courier New" charset="0"/>
                <a:cs typeface="Lucida Sans Unicode" charset="0"/>
              </a:rPr>
              <a:t>.class</a:t>
            </a:r>
            <a:r>
              <a:rPr lang="en-GB" dirty="0">
                <a:latin typeface="Lucida Sans Unicode" charset="0"/>
                <a:cs typeface="Lucida Sans Unicode" charset="0"/>
              </a:rPr>
              <a:t> cannot be used on generic types</a:t>
            </a:r>
          </a:p>
          <a:p>
            <a:pPr lvl="1" eaLnBrk="1" hangingPunct="1">
              <a:lnSpc>
                <a:spcPct val="106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valid for G&lt;?&gt; equivalent to the raw type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AutoShape 1"/>
          <p:cNvSpPr>
            <a:spLocks noChangeArrowheads="1"/>
          </p:cNvSpPr>
          <p:nvPr/>
        </p:nvSpPr>
        <p:spPr bwMode="auto">
          <a:xfrm>
            <a:off x="432000" y="2708920"/>
            <a:ext cx="5025600" cy="1944216"/>
          </a:xfrm>
          <a:prstGeom prst="roundRect">
            <a:avLst>
              <a:gd name="adj" fmla="val 69"/>
            </a:avLst>
          </a:prstGeom>
          <a:solidFill>
            <a:srgbClr val="FDEADA"/>
          </a:solidFill>
          <a:ln w="9360">
            <a:solidFill>
              <a:srgbClr val="E46C0A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82918" tIns="41460" rIns="82918" bIns="41460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82947" name="AutoShape 2"/>
          <p:cNvSpPr>
            <a:spLocks noChangeArrowheads="1"/>
          </p:cNvSpPr>
          <p:nvPr/>
        </p:nvSpPr>
        <p:spPr bwMode="auto">
          <a:xfrm>
            <a:off x="3155041" y="3456356"/>
            <a:ext cx="1560975" cy="347077"/>
          </a:xfrm>
          <a:prstGeom prst="roundRect">
            <a:avLst>
              <a:gd name="adj" fmla="val 16667"/>
            </a:avLst>
          </a:prstGeom>
          <a:solidFill>
            <a:srgbClr val="E6E0EC"/>
          </a:solidFill>
          <a:ln w="9360">
            <a:solidFill>
              <a:srgbClr val="8064A2"/>
            </a:solidFill>
            <a:round/>
            <a:headEnd/>
            <a:tailEnd/>
          </a:ln>
        </p:spPr>
        <p:txBody>
          <a:bodyPr wrap="none" lIns="82918" tIns="41460" rIns="82918" bIns="41460" anchor="ctr"/>
          <a:lstStyle/>
          <a:p>
            <a:endParaRPr lang="it-IT"/>
          </a:p>
        </p:txBody>
      </p:sp>
      <p:sp>
        <p:nvSpPr>
          <p:cNvPr id="82948" name="AutoShape 3"/>
          <p:cNvSpPr>
            <a:spLocks noChangeArrowheads="1"/>
          </p:cNvSpPr>
          <p:nvPr/>
        </p:nvSpPr>
        <p:spPr bwMode="auto">
          <a:xfrm>
            <a:off x="2383201" y="3849520"/>
            <a:ext cx="1424160" cy="334115"/>
          </a:xfrm>
          <a:prstGeom prst="roundRect">
            <a:avLst>
              <a:gd name="adj" fmla="val 16667"/>
            </a:avLst>
          </a:prstGeom>
          <a:solidFill>
            <a:srgbClr val="E6E0EC"/>
          </a:solidFill>
          <a:ln w="9360">
            <a:solidFill>
              <a:srgbClr val="8064A2"/>
            </a:solidFill>
            <a:round/>
            <a:headEnd/>
            <a:tailEnd/>
          </a:ln>
        </p:spPr>
        <p:txBody>
          <a:bodyPr wrap="none" lIns="82918" tIns="41460" rIns="82918" bIns="41460" anchor="ctr"/>
          <a:lstStyle/>
          <a:p>
            <a:endParaRPr lang="it-IT"/>
          </a:p>
        </p:txBody>
      </p:sp>
      <p:sp>
        <p:nvSpPr>
          <p:cNvPr id="82949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227520" y="247708"/>
            <a:ext cx="8596800" cy="619265"/>
          </a:xfrm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101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  <a:tab pos="8533237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Type erasure – consequences II</a:t>
            </a:r>
          </a:p>
        </p:txBody>
      </p:sp>
      <p:sp>
        <p:nvSpPr>
          <p:cNvPr id="82950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609121" y="1294699"/>
            <a:ext cx="8215200" cy="4652222"/>
          </a:xfrm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101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It is not possible to instantiate an object of the generic's parameter 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type from within the class</a:t>
            </a:r>
            <a:endParaRPr lang="en-GB" dirty="0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>
                <a:latin typeface="Courier New" charset="0"/>
                <a:cs typeface="Lucida Sans Unicode" charset="0"/>
              </a:rPr>
              <a:t>class G&lt;T&gt; {</a:t>
            </a:r>
            <a:br>
              <a:rPr lang="en-GB" sz="2500" b="1" dirty="0">
                <a:latin typeface="Courier New" charset="0"/>
                <a:cs typeface="Lucida Sans Unicode" charset="0"/>
              </a:rPr>
            </a:br>
            <a:r>
              <a:rPr lang="en-GB" sz="2500" b="1" dirty="0">
                <a:latin typeface="Courier New" charset="0"/>
                <a:cs typeface="Lucida Sans Unicode" charset="0"/>
              </a:rPr>
              <a:t>  T[] </a:t>
            </a:r>
            <a:r>
              <a:rPr lang="en-GB" sz="2500" b="1" dirty="0" err="1">
                <a:latin typeface="Courier New" charset="0"/>
                <a:cs typeface="Lucida Sans Unicode" charset="0"/>
              </a:rPr>
              <a:t>toArray</a:t>
            </a:r>
            <a:r>
              <a:rPr lang="en-GB" sz="2500" b="1" dirty="0">
                <a:latin typeface="Courier New" charset="0"/>
                <a:cs typeface="Lucida Sans Unicode" charset="0"/>
              </a:rPr>
              <a:t>(){</a:t>
            </a:r>
            <a:br>
              <a:rPr lang="en-GB" sz="2500" b="1" dirty="0">
                <a:latin typeface="Courier New" charset="0"/>
                <a:cs typeface="Lucida Sans Unicode" charset="0"/>
              </a:rPr>
            </a:br>
            <a:r>
              <a:rPr lang="en-GB" sz="2500" b="1" dirty="0">
                <a:latin typeface="Courier New" charset="0"/>
                <a:cs typeface="Lucida Sans Unicode" charset="0"/>
              </a:rPr>
              <a:t>  T[] res = new T[n];</a:t>
            </a:r>
            <a:br>
              <a:rPr lang="en-GB" sz="2500" b="1" dirty="0">
                <a:latin typeface="Courier New" charset="0"/>
                <a:cs typeface="Lucida Sans Unicode" charset="0"/>
              </a:rPr>
            </a:br>
            <a:r>
              <a:rPr lang="en-GB" sz="2500" b="1" dirty="0">
                <a:latin typeface="Courier New" charset="0"/>
                <a:cs typeface="Lucida Sans Unicode" charset="0"/>
              </a:rPr>
              <a:t>  T t = new T();</a:t>
            </a:r>
            <a:br>
              <a:rPr lang="en-GB" sz="2500" b="1" dirty="0">
                <a:latin typeface="Courier New" charset="0"/>
                <a:cs typeface="Lucida Sans Unicode" charset="0"/>
              </a:rPr>
            </a:br>
            <a:r>
              <a:rPr lang="en-GB" sz="2500" b="1" dirty="0">
                <a:latin typeface="Courier New" charset="0"/>
                <a:cs typeface="Lucida Sans Unicode" charset="0"/>
              </a:rPr>
              <a:t>}}</a:t>
            </a:r>
          </a:p>
          <a:p>
            <a:pPr lvl="1" eaLnBrk="1" hangingPunct="1">
              <a:lnSpc>
                <a:spcPct val="105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endParaRPr lang="en-GB" dirty="0" smtClean="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105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It 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is not possible to substitute the erasure in an instantiation statement</a:t>
            </a:r>
          </a:p>
        </p:txBody>
      </p:sp>
      <p:sp>
        <p:nvSpPr>
          <p:cNvPr id="82951" name="AutoShape 6"/>
          <p:cNvSpPr>
            <a:spLocks noChangeArrowheads="1"/>
          </p:cNvSpPr>
          <p:nvPr/>
        </p:nvSpPr>
        <p:spPr bwMode="auto">
          <a:xfrm>
            <a:off x="5652120" y="3717032"/>
            <a:ext cx="3182400" cy="1228449"/>
          </a:xfrm>
          <a:prstGeom prst="wedgeRoundRectCallout">
            <a:avLst>
              <a:gd name="adj1" fmla="val -96541"/>
              <a:gd name="adj2" fmla="val -38948"/>
              <a:gd name="adj3" fmla="val 16667"/>
            </a:avLst>
          </a:prstGeom>
          <a:solidFill>
            <a:srgbClr val="E6E0EC"/>
          </a:solidFill>
          <a:ln w="9360">
            <a:solidFill>
              <a:srgbClr val="8064A2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5857" tIns="45051" rIns="85857" bIns="45051" anchor="ctr"/>
          <a:lstStyle/>
          <a:p>
            <a:pPr algn="ctr">
              <a:lnSpc>
                <a:spcPct val="84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</a:tabLst>
            </a:pPr>
            <a:r>
              <a:rPr lang="en-GB" sz="2400">
                <a:solidFill>
                  <a:srgbClr val="000000"/>
                </a:solidFill>
                <a:cs typeface="Lucida Sans Unicode" charset="0"/>
              </a:rPr>
              <a:t>The compiler cannot instantiate these objects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AutoShape 1"/>
          <p:cNvSpPr>
            <a:spLocks noChangeArrowheads="1"/>
          </p:cNvSpPr>
          <p:nvPr/>
        </p:nvSpPr>
        <p:spPr bwMode="auto">
          <a:xfrm>
            <a:off x="467544" y="2276872"/>
            <a:ext cx="6624736" cy="2808312"/>
          </a:xfrm>
          <a:prstGeom prst="roundRect">
            <a:avLst>
              <a:gd name="adj" fmla="val 69"/>
            </a:avLst>
          </a:prstGeom>
          <a:solidFill>
            <a:srgbClr val="FDEADA"/>
          </a:solidFill>
          <a:ln w="9360">
            <a:solidFill>
              <a:srgbClr val="E46C0A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82918" tIns="41460" rIns="82918" bIns="41460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82948" name="AutoShape 3"/>
          <p:cNvSpPr>
            <a:spLocks noChangeArrowheads="1"/>
          </p:cNvSpPr>
          <p:nvPr/>
        </p:nvSpPr>
        <p:spPr bwMode="auto">
          <a:xfrm>
            <a:off x="3275856" y="3717032"/>
            <a:ext cx="2736304" cy="432048"/>
          </a:xfrm>
          <a:prstGeom prst="roundRect">
            <a:avLst>
              <a:gd name="adj" fmla="val 16667"/>
            </a:avLst>
          </a:prstGeom>
          <a:solidFill>
            <a:srgbClr val="E6E0EC"/>
          </a:solidFill>
          <a:ln w="9360">
            <a:solidFill>
              <a:srgbClr val="8064A2"/>
            </a:solidFill>
            <a:round/>
            <a:headEnd/>
            <a:tailEnd/>
          </a:ln>
        </p:spPr>
        <p:txBody>
          <a:bodyPr wrap="none" lIns="82918" tIns="41460" rIns="82918" bIns="41460" anchor="ctr"/>
          <a:lstStyle/>
          <a:p>
            <a:endParaRPr lang="it-IT"/>
          </a:p>
        </p:txBody>
      </p:sp>
      <p:sp>
        <p:nvSpPr>
          <p:cNvPr id="82949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227520" y="247708"/>
            <a:ext cx="8596800" cy="619265"/>
          </a:xfrm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101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  <a:tab pos="8533237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Type erasure – consequences II</a:t>
            </a:r>
          </a:p>
        </p:txBody>
      </p:sp>
      <p:sp>
        <p:nvSpPr>
          <p:cNvPr id="82950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609121" y="1294699"/>
            <a:ext cx="8215200" cy="4655454"/>
          </a:xfrm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101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It is not possible to instantiate an object of the 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type </a:t>
            </a:r>
            <a:r>
              <a:rPr lang="en-GB" dirty="0">
                <a:latin typeface="Lucida Sans Unicode" charset="0"/>
                <a:cs typeface="Lucida Sans Unicode" charset="0"/>
              </a:rPr>
              <a:t>parameter 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from within the class</a:t>
            </a:r>
            <a:endParaRPr lang="en-GB" sz="2500" b="1" dirty="0" smtClean="0">
              <a:latin typeface="Courier New" charset="0"/>
              <a:cs typeface="Lucida Sans Unicode" charset="0"/>
            </a:endParaRP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 smtClean="0">
                <a:latin typeface="Courier New" charset="0"/>
                <a:cs typeface="Lucida Sans Unicode" charset="0"/>
              </a:rPr>
              <a:t>class Triplet</a:t>
            </a:r>
            <a:r>
              <a:rPr lang="en-GB" sz="2500" b="1" dirty="0">
                <a:latin typeface="Courier New" charset="0"/>
                <a:cs typeface="Lucida Sans Unicode" charset="0"/>
              </a:rPr>
              <a:t>&lt;T&gt; {</a:t>
            </a: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>
                <a:latin typeface="Courier New" charset="0"/>
                <a:cs typeface="Lucida Sans Unicode" charset="0"/>
              </a:rPr>
              <a:t>		private T[] triplet;</a:t>
            </a: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>
                <a:latin typeface="Courier New" charset="0"/>
                <a:cs typeface="Lucida Sans Unicode" charset="0"/>
              </a:rPr>
              <a:t>		Triplet(T a, T b, T c){</a:t>
            </a: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>
                <a:latin typeface="Courier New" charset="0"/>
                <a:cs typeface="Lucida Sans Unicode" charset="0"/>
              </a:rPr>
              <a:t>			</a:t>
            </a:r>
            <a:r>
              <a:rPr lang="en-GB" sz="2500" b="1" dirty="0" smtClean="0">
                <a:latin typeface="Courier New" charset="0"/>
                <a:cs typeface="Lucida Sans Unicode" charset="0"/>
              </a:rPr>
              <a:t>triplet = new </a:t>
            </a:r>
            <a:r>
              <a:rPr lang="en-GB" sz="2500" b="1" dirty="0">
                <a:latin typeface="Courier New" charset="0"/>
                <a:cs typeface="Lucida Sans Unicode" charset="0"/>
              </a:rPr>
              <a:t>T[]{</a:t>
            </a:r>
            <a:r>
              <a:rPr lang="en-GB" sz="2500" b="1" dirty="0" err="1">
                <a:latin typeface="Courier New" charset="0"/>
                <a:cs typeface="Lucida Sans Unicode" charset="0"/>
              </a:rPr>
              <a:t>a,b,c</a:t>
            </a:r>
            <a:r>
              <a:rPr lang="en-GB" sz="2500" b="1" dirty="0">
                <a:latin typeface="Courier New" charset="0"/>
                <a:cs typeface="Lucida Sans Unicode" charset="0"/>
              </a:rPr>
              <a:t>};</a:t>
            </a: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>
                <a:latin typeface="Courier New" charset="0"/>
                <a:cs typeface="Lucida Sans Unicode" charset="0"/>
              </a:rPr>
              <a:t>		}</a:t>
            </a:r>
          </a:p>
          <a:p>
            <a:pPr eaLnBrk="1" hangingPunct="1">
              <a:lnSpc>
                <a:spcPct val="93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 dirty="0" smtClean="0">
                <a:latin typeface="Courier New" charset="0"/>
                <a:cs typeface="Lucida Sans Unicode" charset="0"/>
              </a:rPr>
              <a:t>}</a:t>
            </a:r>
            <a:endParaRPr lang="en-GB" dirty="0" smtClean="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105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The 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erasure </a:t>
            </a: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cannot be substituted in 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an instantiation statement</a:t>
            </a:r>
          </a:p>
        </p:txBody>
      </p:sp>
      <p:sp>
        <p:nvSpPr>
          <p:cNvPr id="82951" name="AutoShape 6"/>
          <p:cNvSpPr>
            <a:spLocks noChangeArrowheads="1"/>
          </p:cNvSpPr>
          <p:nvPr/>
        </p:nvSpPr>
        <p:spPr bwMode="auto">
          <a:xfrm>
            <a:off x="5961600" y="2276872"/>
            <a:ext cx="3182400" cy="1228449"/>
          </a:xfrm>
          <a:prstGeom prst="wedgeRoundRectCallout">
            <a:avLst>
              <a:gd name="adj1" fmla="val -62336"/>
              <a:gd name="adj2" fmla="val 62315"/>
              <a:gd name="adj3" fmla="val 16667"/>
            </a:avLst>
          </a:prstGeom>
          <a:solidFill>
            <a:srgbClr val="E6E0EC"/>
          </a:solidFill>
          <a:ln w="9360">
            <a:solidFill>
              <a:srgbClr val="8064A2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5857" tIns="45051" rIns="85857" bIns="45051" anchor="ctr"/>
          <a:lstStyle/>
          <a:p>
            <a:pPr algn="ctr">
              <a:lnSpc>
                <a:spcPct val="84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</a:tabLst>
            </a:pPr>
            <a:r>
              <a:rPr lang="en-GB" sz="2400" dirty="0" smtClean="0">
                <a:solidFill>
                  <a:srgbClr val="000000"/>
                </a:solidFill>
                <a:cs typeface="Lucida Sans Unicode" charset="0"/>
              </a:rPr>
              <a:t>Compiler </a:t>
            </a:r>
            <a:r>
              <a:rPr lang="en-GB" sz="2400" dirty="0">
                <a:solidFill>
                  <a:srgbClr val="000000"/>
                </a:solidFill>
                <a:cs typeface="Lucida Sans Unicode" charset="0"/>
              </a:rPr>
              <a:t>cannot </a:t>
            </a:r>
            <a:r>
              <a:rPr lang="en-GB" sz="2400" dirty="0" smtClean="0">
                <a:solidFill>
                  <a:srgbClr val="000000"/>
                </a:solidFill>
                <a:cs typeface="Lucida Sans Unicode" charset="0"/>
              </a:rPr>
              <a:t>create a generic array of T</a:t>
            </a:r>
            <a:endParaRPr lang="en-GB" sz="2400" dirty="0">
              <a:solidFill>
                <a:srgbClr val="000000"/>
              </a:solidFill>
              <a:cs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7493438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AutoShape 1"/>
          <p:cNvSpPr>
            <a:spLocks noChangeArrowheads="1"/>
          </p:cNvSpPr>
          <p:nvPr/>
        </p:nvSpPr>
        <p:spPr bwMode="auto">
          <a:xfrm>
            <a:off x="300963" y="2308565"/>
            <a:ext cx="8660160" cy="3344031"/>
          </a:xfrm>
          <a:prstGeom prst="roundRect">
            <a:avLst>
              <a:gd name="adj" fmla="val 42"/>
            </a:avLst>
          </a:prstGeom>
          <a:solidFill>
            <a:srgbClr val="FDEADA"/>
          </a:solidFill>
          <a:ln w="9360">
            <a:solidFill>
              <a:srgbClr val="E46C0A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82918" tIns="41460" rIns="82918" bIns="41460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8499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7520" y="244828"/>
            <a:ext cx="8596800" cy="625026"/>
          </a:xfrm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102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  <a:tab pos="8533237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Type erasure– consequences III</a:t>
            </a:r>
          </a:p>
        </p:txBody>
      </p:sp>
      <p:sp>
        <p:nvSpPr>
          <p:cNvPr id="8499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121" y="1294696"/>
            <a:ext cx="8215200" cy="4013701"/>
          </a:xfrm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101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Overload and ovverride must be considered after type erasure</a:t>
            </a:r>
          </a:p>
          <a:p>
            <a:pPr eaLnBrk="1" hangingPunct="1">
              <a:lnSpc>
                <a:spcPct val="85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>
                <a:latin typeface="Courier New" charset="0"/>
                <a:cs typeface="Lucida Sans Unicode" charset="0"/>
              </a:rPr>
              <a:t>class Base&lt;T&gt; {</a:t>
            </a:r>
          </a:p>
          <a:p>
            <a:pPr eaLnBrk="1" hangingPunct="1">
              <a:lnSpc>
                <a:spcPct val="85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>
                <a:latin typeface="Courier New" charset="0"/>
                <a:cs typeface="Lucida Sans Unicode" charset="0"/>
              </a:rPr>
              <a:t>  void m(int x){}</a:t>
            </a:r>
          </a:p>
          <a:p>
            <a:pPr eaLnBrk="1" hangingPunct="1">
              <a:lnSpc>
                <a:spcPct val="85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>
                <a:latin typeface="Courier New" charset="0"/>
                <a:cs typeface="Lucida Sans Unicode" charset="0"/>
              </a:rPr>
              <a:t>  void m(T t){}  </a:t>
            </a:r>
          </a:p>
          <a:p>
            <a:pPr eaLnBrk="1" hangingPunct="1">
              <a:lnSpc>
                <a:spcPct val="85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>
                <a:latin typeface="Courier New" charset="0"/>
                <a:cs typeface="Lucida Sans Unicode" charset="0"/>
              </a:rPr>
              <a:t>  void m(String s){}</a:t>
            </a:r>
          </a:p>
          <a:p>
            <a:pPr eaLnBrk="1" hangingPunct="1">
              <a:lnSpc>
                <a:spcPct val="85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>
                <a:latin typeface="Courier New" charset="0"/>
                <a:cs typeface="Lucida Sans Unicode" charset="0"/>
              </a:rPr>
              <a:t>  &lt;N extends Number&gt; void m(N x){}</a:t>
            </a:r>
          </a:p>
          <a:p>
            <a:pPr eaLnBrk="1" hangingPunct="1">
              <a:lnSpc>
                <a:spcPct val="85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>
                <a:latin typeface="Courier New" charset="0"/>
                <a:cs typeface="Lucida Sans Unicode" charset="0"/>
              </a:rPr>
              <a:t>  void m(List&lt;?&gt; l){}</a:t>
            </a:r>
          </a:p>
          <a:p>
            <a:pPr eaLnBrk="1" hangingPunct="1">
              <a:lnSpc>
                <a:spcPct val="85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sz="2500" b="1">
                <a:latin typeface="Courier New" charset="0"/>
                <a:cs typeface="Lucida Sans Unicode" charset="0"/>
              </a:rPr>
              <a:t>}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016000" y="2950870"/>
            <a:ext cx="1316160" cy="499732"/>
            <a:chOff x="1400" y="2049"/>
            <a:chExt cx="914" cy="347"/>
          </a:xfrm>
        </p:grpSpPr>
        <p:sp>
          <p:nvSpPr>
            <p:cNvPr id="85003" name="Line 5"/>
            <p:cNvSpPr>
              <a:spLocks noChangeShapeType="1"/>
            </p:cNvSpPr>
            <p:nvPr/>
          </p:nvSpPr>
          <p:spPr bwMode="auto">
            <a:xfrm>
              <a:off x="1625" y="2266"/>
              <a:ext cx="148" cy="130"/>
            </a:xfrm>
            <a:prstGeom prst="line">
              <a:avLst/>
            </a:prstGeom>
            <a:noFill/>
            <a:ln w="36720">
              <a:solidFill>
                <a:srgbClr val="FF66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004" name="Text Box 6"/>
            <p:cNvSpPr txBox="1">
              <a:spLocks noChangeArrowheads="1"/>
            </p:cNvSpPr>
            <p:nvPr/>
          </p:nvSpPr>
          <p:spPr bwMode="auto">
            <a:xfrm>
              <a:off x="1400" y="2049"/>
              <a:ext cx="914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5000" rIns="90000" bIns="45000">
              <a:spAutoFit/>
            </a:bodyPr>
            <a:lstStyle>
              <a:lvl1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2pPr>
              <a:lvl3pPr marL="1143000" indent="-228600"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3pPr>
              <a:lvl4pPr marL="1600200" indent="-228600"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4pPr>
              <a:lvl5pPr marL="2057400" indent="-228600"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5pPr>
              <a:lvl6pPr marL="2514600" indent="-228600" defTabSz="455613" eaLnBrk="0" fontAlgn="base" hangingPunct="0">
                <a:lnSpc>
                  <a:spcPct val="89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6pPr>
              <a:lvl7pPr marL="2971800" indent="-228600" defTabSz="455613" eaLnBrk="0" fontAlgn="base" hangingPunct="0">
                <a:lnSpc>
                  <a:spcPct val="89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7pPr>
              <a:lvl8pPr marL="3429000" indent="-228600" defTabSz="455613" eaLnBrk="0" fontAlgn="base" hangingPunct="0">
                <a:lnSpc>
                  <a:spcPct val="89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8pPr>
              <a:lvl9pPr marL="3886200" indent="-228600" defTabSz="455613" eaLnBrk="0" fontAlgn="base" hangingPunct="0">
                <a:lnSpc>
                  <a:spcPct val="89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9pPr>
            </a:lstStyle>
            <a:p>
              <a:pPr eaLnBrk="1" hangingPunct="1">
                <a:lnSpc>
                  <a:spcPct val="74000"/>
                </a:lnSpc>
              </a:pPr>
              <a:r>
                <a:rPr lang="en-GB" b="1">
                  <a:solidFill>
                    <a:srgbClr val="FF6633"/>
                  </a:solidFill>
                  <a:latin typeface="Courier New" charset="0"/>
                </a:rPr>
                <a:t>Object</a:t>
              </a: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822241" y="3770318"/>
            <a:ext cx="6907680" cy="619265"/>
            <a:chOff x="571" y="2618"/>
            <a:chExt cx="4797" cy="430"/>
          </a:xfrm>
        </p:grpSpPr>
        <p:sp>
          <p:nvSpPr>
            <p:cNvPr id="85000" name="Line 8"/>
            <p:cNvSpPr>
              <a:spLocks noChangeShapeType="1"/>
            </p:cNvSpPr>
            <p:nvPr/>
          </p:nvSpPr>
          <p:spPr bwMode="auto">
            <a:xfrm>
              <a:off x="571" y="2886"/>
              <a:ext cx="2619" cy="105"/>
            </a:xfrm>
            <a:prstGeom prst="line">
              <a:avLst/>
            </a:prstGeom>
            <a:noFill/>
            <a:ln w="36720">
              <a:solidFill>
                <a:srgbClr val="FF66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001" name="Line 9"/>
            <p:cNvSpPr>
              <a:spLocks noChangeShapeType="1"/>
            </p:cNvSpPr>
            <p:nvPr/>
          </p:nvSpPr>
          <p:spPr bwMode="auto">
            <a:xfrm flipV="1">
              <a:off x="4125" y="2852"/>
              <a:ext cx="183" cy="196"/>
            </a:xfrm>
            <a:prstGeom prst="line">
              <a:avLst/>
            </a:prstGeom>
            <a:noFill/>
            <a:ln w="36720">
              <a:solidFill>
                <a:srgbClr val="FF66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002" name="Text Box 10"/>
            <p:cNvSpPr txBox="1">
              <a:spLocks noChangeArrowheads="1"/>
            </p:cNvSpPr>
            <p:nvPr/>
          </p:nvSpPr>
          <p:spPr bwMode="auto">
            <a:xfrm>
              <a:off x="4132" y="2618"/>
              <a:ext cx="1236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5000" rIns="90000" bIns="45000">
              <a:spAutoFit/>
            </a:bodyPr>
            <a:lstStyle>
              <a:lvl1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2pPr>
              <a:lvl3pPr marL="1143000" indent="-228600"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3pPr>
              <a:lvl4pPr marL="1600200" indent="-228600"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4pPr>
              <a:lvl5pPr marL="2057400" indent="-228600"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5pPr>
              <a:lvl6pPr marL="2514600" indent="-228600" defTabSz="455613" eaLnBrk="0" fontAlgn="base" hangingPunct="0">
                <a:lnSpc>
                  <a:spcPct val="89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6pPr>
              <a:lvl7pPr marL="2971800" indent="-228600" defTabSz="455613" eaLnBrk="0" fontAlgn="base" hangingPunct="0">
                <a:lnSpc>
                  <a:spcPct val="89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7pPr>
              <a:lvl8pPr marL="3429000" indent="-228600" defTabSz="455613" eaLnBrk="0" fontAlgn="base" hangingPunct="0">
                <a:lnSpc>
                  <a:spcPct val="89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8pPr>
              <a:lvl9pPr marL="3886200" indent="-228600" defTabSz="455613" eaLnBrk="0" fontAlgn="base" hangingPunct="0">
                <a:lnSpc>
                  <a:spcPct val="89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9pPr>
            </a:lstStyle>
            <a:p>
              <a:pPr eaLnBrk="1" hangingPunct="1">
                <a:lnSpc>
                  <a:spcPct val="74000"/>
                </a:lnSpc>
              </a:pPr>
              <a:r>
                <a:rPr lang="en-GB" b="1">
                  <a:solidFill>
                    <a:srgbClr val="FF6633"/>
                  </a:solidFill>
                  <a:latin typeface="Courier New" charset="0"/>
                </a:rPr>
                <a:t>Number</a:t>
              </a:r>
            </a:p>
          </p:txBody>
        </p:sp>
      </p:grpSp>
      <p:sp>
        <p:nvSpPr>
          <p:cNvPr id="29707" name="Line 11"/>
          <p:cNvSpPr>
            <a:spLocks noChangeShapeType="1"/>
          </p:cNvSpPr>
          <p:nvPr/>
        </p:nvSpPr>
        <p:spPr bwMode="auto">
          <a:xfrm>
            <a:off x="3134880" y="4598406"/>
            <a:ext cx="563040" cy="185779"/>
          </a:xfrm>
          <a:prstGeom prst="line">
            <a:avLst/>
          </a:prstGeom>
          <a:noFill/>
          <a:ln w="36720">
            <a:solidFill>
              <a:srgbClr val="FF66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2918" tIns="41460" rIns="82918" bIns="41460"/>
          <a:lstStyle/>
          <a:p>
            <a:endParaRPr lang="en-US"/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9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AutoShape 1"/>
          <p:cNvSpPr>
            <a:spLocks noChangeArrowheads="1"/>
          </p:cNvSpPr>
          <p:nvPr/>
        </p:nvSpPr>
        <p:spPr bwMode="auto">
          <a:xfrm>
            <a:off x="236160" y="3744396"/>
            <a:ext cx="8660160" cy="1703699"/>
          </a:xfrm>
          <a:prstGeom prst="roundRect">
            <a:avLst>
              <a:gd name="adj" fmla="val 79"/>
            </a:avLst>
          </a:prstGeom>
          <a:solidFill>
            <a:srgbClr val="FDEADA"/>
          </a:solidFill>
          <a:ln w="9360">
            <a:solidFill>
              <a:srgbClr val="E46C0A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82918" tIns="41460" rIns="82918" bIns="41460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87044" name="Rectangle 5"/>
          <p:cNvSpPr>
            <a:spLocks noGrp="1" noChangeArrowheads="1"/>
          </p:cNvSpPr>
          <p:nvPr>
            <p:ph type="title"/>
          </p:nvPr>
        </p:nvSpPr>
        <p:spPr/>
        <p:txBody>
          <a:bodyPr lIns="0" tIns="0" rIns="0" bIns="0">
            <a:spAutoFit/>
          </a:bodyPr>
          <a:lstStyle/>
          <a:p>
            <a:pPr eaLnBrk="1" hangingPunct="1">
              <a:lnSpc>
                <a:spcPct val="101000"/>
              </a:lnSpc>
              <a:tabLst>
                <a:tab pos="0" algn="l"/>
                <a:tab pos="413201" algn="l"/>
                <a:tab pos="827841" algn="l"/>
                <a:tab pos="1242481" algn="l"/>
                <a:tab pos="1657121" algn="l"/>
                <a:tab pos="2071761" algn="l"/>
                <a:tab pos="2486402" algn="l"/>
                <a:tab pos="2901041" algn="l"/>
                <a:tab pos="3315682" algn="l"/>
                <a:tab pos="3730323" algn="l"/>
                <a:tab pos="4144964" algn="l"/>
                <a:tab pos="4559603" algn="l"/>
                <a:tab pos="4974243" algn="l"/>
                <a:tab pos="5388882" algn="l"/>
                <a:tab pos="5803522" algn="l"/>
                <a:tab pos="6218162" algn="l"/>
                <a:tab pos="6632802" algn="l"/>
                <a:tab pos="7047442" algn="l"/>
                <a:tab pos="7462083" algn="l"/>
                <a:tab pos="7876723" algn="l"/>
                <a:tab pos="8291363" algn="l"/>
                <a:tab pos="8533237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Type erasure– consequences IV</a:t>
            </a:r>
          </a:p>
        </p:txBody>
      </p:sp>
      <p:sp>
        <p:nvSpPr>
          <p:cNvPr id="4" name="Rounded Rectangle 3"/>
          <p:cNvSpPr/>
          <p:nvPr/>
        </p:nvSpPr>
        <p:spPr bwMode="auto">
          <a:xfrm>
            <a:off x="4860032" y="3933056"/>
            <a:ext cx="3456384" cy="432048"/>
          </a:xfrm>
          <a:prstGeom prst="roundRect">
            <a:avLst/>
          </a:prstGeom>
          <a:solidFill>
            <a:srgbClr val="E6E0EC"/>
          </a:solidFill>
          <a:ln w="9525" cap="flat" cmpd="sng" algn="ctr">
            <a:solidFill>
              <a:srgbClr val="8064A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1" fontAlgn="base" latinLnBrk="0" hangingPunct="1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Lucida Sans Unicode" pitchFamily="32" charset="0"/>
              <a:cs typeface="Lucida Sans Unicode" pitchFamily="32" charset="0"/>
            </a:endParaRPr>
          </a:p>
        </p:txBody>
      </p:sp>
      <p:sp>
        <p:nvSpPr>
          <p:cNvPr id="10" name="Rounded Rectangle 9"/>
          <p:cNvSpPr/>
          <p:nvPr/>
        </p:nvSpPr>
        <p:spPr bwMode="auto">
          <a:xfrm>
            <a:off x="4499992" y="4725144"/>
            <a:ext cx="4032448" cy="432048"/>
          </a:xfrm>
          <a:prstGeom prst="roundRect">
            <a:avLst/>
          </a:prstGeom>
          <a:solidFill>
            <a:srgbClr val="E6E0EC"/>
          </a:solidFill>
          <a:ln w="9525" cap="flat" cmpd="sng" algn="ctr">
            <a:solidFill>
              <a:srgbClr val="8064A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1" fontAlgn="base" latinLnBrk="0" hangingPunct="1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Lucida Sans Unicode" pitchFamily="32" charset="0"/>
              <a:cs typeface="Lucida Sans Unicode" pitchFamily="32" charset="0"/>
            </a:endParaRPr>
          </a:p>
        </p:txBody>
      </p:sp>
      <p:sp>
        <p:nvSpPr>
          <p:cNvPr id="87045" name="Rectangle 6"/>
          <p:cNvSpPr>
            <a:spLocks noGrp="1" noChangeArrowheads="1"/>
          </p:cNvSpPr>
          <p:nvPr>
            <p:ph idx="1"/>
          </p:nvPr>
        </p:nvSpPr>
        <p:spPr/>
        <p:txBody>
          <a:bodyPr lIns="0" tIns="0" rIns="0" bIns="0">
            <a:normAutofit/>
          </a:bodyPr>
          <a:lstStyle/>
          <a:p>
            <a:pPr eaLnBrk="1" hangingPunct="1">
              <a:lnSpc>
                <a:spcPct val="101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Inheritance </a:t>
            </a:r>
            <a:r>
              <a:rPr lang="en-GB" dirty="0">
                <a:latin typeface="Lucida Sans Unicode" charset="0"/>
                <a:cs typeface="Lucida Sans Unicode" charset="0"/>
              </a:rPr>
              <a:t>together with generic types leads to several possibilities</a:t>
            </a:r>
          </a:p>
          <a:p>
            <a:pPr eaLnBrk="1" hangingPunct="1">
              <a:lnSpc>
                <a:spcPct val="108000"/>
              </a:lnSpc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It is not possible to implement 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twice the same generic interface with </a:t>
            </a:r>
            <a:r>
              <a:rPr lang="en-GB" dirty="0">
                <a:latin typeface="Lucida Sans Unicode" charset="0"/>
                <a:cs typeface="Lucida Sans Unicode" charset="0"/>
              </a:rPr>
              <a:t>different types</a:t>
            </a:r>
          </a:p>
          <a:p>
            <a:pPr eaLnBrk="1" hangingPunct="1">
              <a:lnSpc>
                <a:spcPct val="108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endParaRPr lang="en-GB" dirty="0">
              <a:latin typeface="Lucida Sans Unicode" charset="0"/>
              <a:cs typeface="Lucida Sans Unicode" charset="0"/>
            </a:endParaRPr>
          </a:p>
          <a:p>
            <a:pPr marL="0" lvl="1" indent="0" eaLnBrk="1" hangingPunct="1">
              <a:lnSpc>
                <a:spcPct val="95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b="1" dirty="0">
                <a:latin typeface="Courier New" charset="0"/>
                <a:ea typeface="Lucida Sans Unicode" charset="0"/>
                <a:cs typeface="Lucida Sans Unicode" charset="0"/>
              </a:rPr>
              <a:t>class Value implements Comparable&lt;Value&gt;</a:t>
            </a:r>
          </a:p>
          <a:p>
            <a:pPr marL="0" lvl="1" indent="0" eaLnBrk="1" hangingPunct="1">
              <a:lnSpc>
                <a:spcPct val="95000"/>
              </a:lnSpc>
              <a:buNone/>
              <a:tabLst>
                <a:tab pos="410322" algn="l"/>
                <a:tab pos="824961" algn="l"/>
                <a:tab pos="1239602" algn="l"/>
                <a:tab pos="1654241" algn="l"/>
                <a:tab pos="2068883" algn="l"/>
                <a:tab pos="2483522" algn="l"/>
                <a:tab pos="2898162" algn="l"/>
                <a:tab pos="3312803" algn="l"/>
                <a:tab pos="3727442" algn="l"/>
                <a:tab pos="4142083" algn="l"/>
                <a:tab pos="4556723" algn="l"/>
                <a:tab pos="4971363" algn="l"/>
                <a:tab pos="5386002" algn="l"/>
                <a:tab pos="5800643" algn="l"/>
                <a:tab pos="6215282" algn="l"/>
                <a:tab pos="6629924" algn="l"/>
                <a:tab pos="7044562" algn="l"/>
                <a:tab pos="7459205" algn="l"/>
                <a:tab pos="7873844" algn="l"/>
                <a:tab pos="8288485" algn="l"/>
              </a:tabLst>
            </a:pPr>
            <a:r>
              <a:rPr lang="en-GB" b="1" dirty="0">
                <a:latin typeface="Courier New" charset="0"/>
                <a:ea typeface="Lucida Sans Unicode" charset="0"/>
                <a:cs typeface="Lucida Sans Unicode" charset="0"/>
              </a:rPr>
              <a:t>class </a:t>
            </a:r>
            <a:r>
              <a:rPr lang="en-GB" b="1" dirty="0" err="1">
                <a:latin typeface="Courier New" charset="0"/>
                <a:ea typeface="Lucida Sans Unicode" charset="0"/>
                <a:cs typeface="Lucida Sans Unicode" charset="0"/>
              </a:rPr>
              <a:t>ExtValue</a:t>
            </a:r>
            <a:r>
              <a:rPr lang="en-GB" b="1" dirty="0">
                <a:latin typeface="Courier New" charset="0"/>
                <a:ea typeface="Lucida Sans Unicode" charset="0"/>
                <a:cs typeface="Lucida Sans Unicode" charset="0"/>
              </a:rPr>
              <a:t> extends Value 	</a:t>
            </a:r>
            <a:br>
              <a:rPr lang="en-GB" b="1" dirty="0">
                <a:latin typeface="Courier New" charset="0"/>
                <a:ea typeface="Lucida Sans Unicode" charset="0"/>
                <a:cs typeface="Lucida Sans Unicode" charset="0"/>
              </a:rPr>
            </a:br>
            <a:r>
              <a:rPr lang="en-GB" b="1" dirty="0">
                <a:latin typeface="Courier New" charset="0"/>
                <a:ea typeface="Lucida Sans Unicode" charset="0"/>
                <a:cs typeface="Lucida Sans Unicode" charset="0"/>
              </a:rPr>
              <a:t>          implements Comparable&lt;</a:t>
            </a:r>
            <a:r>
              <a:rPr lang="en-GB" b="1" dirty="0" err="1">
                <a:latin typeface="Courier New" charset="0"/>
                <a:ea typeface="Lucida Sans Unicode" charset="0"/>
                <a:cs typeface="Lucida Sans Unicode" charset="0"/>
              </a:rPr>
              <a:t>ExtValue</a:t>
            </a:r>
            <a:r>
              <a:rPr lang="en-GB" b="1" dirty="0">
                <a:latin typeface="Courier New" charset="0"/>
                <a:ea typeface="Lucida Sans Unicode" charset="0"/>
                <a:cs typeface="Lucida Sans Unicode" charset="0"/>
              </a:rPr>
              <a:t>&gt;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/>
          <p:cNvSpPr>
            <a:spLocks noGrp="1"/>
          </p:cNvSpPr>
          <p:nvPr>
            <p:ph type="title"/>
          </p:nvPr>
        </p:nvSpPr>
        <p:spPr>
          <a:xfrm>
            <a:off x="722880" y="4406865"/>
            <a:ext cx="7771680" cy="1362383"/>
          </a:xfrm>
        </p:spPr>
        <p:txBody>
          <a:bodyPr/>
          <a:lstStyle/>
          <a:p>
            <a:pPr>
              <a:defRPr/>
            </a:pPr>
            <a:r>
              <a:rPr lang="en-US" sz="3600" dirty="0" err="1" smtClean="0"/>
              <a:t>FunctionaL</a:t>
            </a:r>
            <a:r>
              <a:rPr lang="en-US" sz="3600" dirty="0" smtClean="0"/>
              <a:t> Interfaces</a:t>
            </a:r>
            <a:br>
              <a:rPr lang="en-US" sz="3600" dirty="0" smtClean="0"/>
            </a:br>
            <a:r>
              <a:rPr lang="en-US" sz="3600" dirty="0" smtClean="0"/>
              <a:t>with GENERICS</a:t>
            </a:r>
            <a:endParaRPr lang="en-US" sz="3600" dirty="0"/>
          </a:p>
        </p:txBody>
      </p:sp>
      <p:sp>
        <p:nvSpPr>
          <p:cNvPr id="96258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Lucida Sans Unicode" charset="0"/>
              <a:cs typeface="Lucida Sans Unicode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Tito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Lucida Sans Unicode" charset="0"/>
                <a:cs typeface="Lucida Sans Unicode" charset="0"/>
              </a:rPr>
              <a:t>Functional Interfaces</a:t>
            </a:r>
          </a:p>
        </p:txBody>
      </p:sp>
      <p:sp>
        <p:nvSpPr>
          <p:cNvPr id="97282" name="Segnaposto contenuto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latin typeface="Lucida Sans Unicode" charset="0"/>
                <a:cs typeface="Lucida Sans Unicode" charset="0"/>
              </a:rPr>
              <a:t>An interface with </a:t>
            </a:r>
            <a:r>
              <a:rPr lang="en-US" dirty="0">
                <a:latin typeface="Lucida Sans Unicode" charset="0"/>
                <a:cs typeface="Lucida Sans Unicode" charset="0"/>
              </a:rPr>
              <a:t>exactly one method</a:t>
            </a:r>
          </a:p>
          <a:p>
            <a:r>
              <a:rPr lang="en-US" dirty="0">
                <a:latin typeface="Lucida Sans Unicode" charset="0"/>
                <a:cs typeface="Lucida Sans Unicode" charset="0"/>
              </a:rPr>
              <a:t>The semantics is purely </a:t>
            </a:r>
            <a:r>
              <a:rPr lang="en-US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functional</a:t>
            </a:r>
          </a:p>
          <a:p>
            <a:pPr lvl="1"/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The </a:t>
            </a:r>
            <a:r>
              <a:rPr lang="en-US" dirty="0" smtClean="0">
                <a:latin typeface="Lucida Sans Unicode" charset="0"/>
                <a:ea typeface="Lucida Sans Unicode" charset="0"/>
                <a:cs typeface="Lucida Sans Unicode" charset="0"/>
              </a:rPr>
              <a:t>result of </a:t>
            </a: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the method </a:t>
            </a:r>
            <a:r>
              <a:rPr lang="en-US" dirty="0" smtClean="0">
                <a:latin typeface="Lucida Sans Unicode" charset="0"/>
                <a:ea typeface="Lucida Sans Unicode" charset="0"/>
                <a:cs typeface="Lucida Sans Unicode" charset="0"/>
              </a:rPr>
              <a:t>depends solely </a:t>
            </a: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on the arguments</a:t>
            </a:r>
          </a:p>
          <a:p>
            <a:pPr lvl="1"/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There are no side-effects on attributes</a:t>
            </a:r>
          </a:p>
          <a:p>
            <a:r>
              <a:rPr lang="en-US" dirty="0" smtClean="0">
                <a:latin typeface="Lucida Sans Unicode" charset="0"/>
                <a:cs typeface="Lucida Sans Unicode" charset="0"/>
              </a:rPr>
              <a:t>Can </a:t>
            </a:r>
            <a:r>
              <a:rPr lang="en-US" dirty="0">
                <a:latin typeface="Lucida Sans Unicode" charset="0"/>
                <a:cs typeface="Lucida Sans Unicode" charset="0"/>
              </a:rPr>
              <a:t>be implemented as lambda </a:t>
            </a:r>
            <a:r>
              <a:rPr lang="en-US" dirty="0" smtClean="0">
                <a:latin typeface="Lucida Sans Unicode" charset="0"/>
                <a:cs typeface="Lucida Sans Unicode" charset="0"/>
              </a:rPr>
              <a:t>expressions</a:t>
            </a:r>
          </a:p>
          <a:p>
            <a:r>
              <a:rPr lang="en-US" dirty="0"/>
              <a:t>Predefined interfaces are defined in</a:t>
            </a:r>
          </a:p>
          <a:p>
            <a:pPr lvl="1"/>
            <a:r>
              <a:rPr lang="en-US" b="1" dirty="0" err="1" smtClean="0">
                <a:latin typeface="Courier New"/>
                <a:cs typeface="Courier New"/>
              </a:rPr>
              <a:t>java.util.function</a:t>
            </a:r>
            <a:endParaRPr lang="en-US" b="1" dirty="0">
              <a:latin typeface="Courier New"/>
              <a:cs typeface="Courier New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Standard Functional Interfaces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8103026"/>
              </p:ext>
            </p:extLst>
          </p:nvPr>
        </p:nvGraphicFramePr>
        <p:xfrm>
          <a:off x="652947" y="1011999"/>
          <a:ext cx="7968736" cy="542192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3703029"/>
                <a:gridCol w="4265707"/>
              </a:tblGrid>
              <a:tr h="5356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500" u="none" strike="noStrike" dirty="0" smtClean="0">
                          <a:effectLst/>
                        </a:rPr>
                        <a:t>Interface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40962" marR="1707" marT="1707" marB="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500" u="none" strike="noStrike" dirty="0" smtClean="0">
                          <a:effectLst/>
                        </a:rPr>
                        <a:t>Method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40962" marR="1707" marT="1707" marB="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56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200" b="1" i="0" u="none" strike="noStrike" dirty="0">
                          <a:effectLst/>
                          <a:latin typeface="Courier New"/>
                          <a:cs typeface="Courier New"/>
                        </a:rPr>
                        <a:t>Function &lt;T,R&gt; 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Courier New"/>
                        <a:cs typeface="Courier New"/>
                      </a:endParaRPr>
                    </a:p>
                  </a:txBody>
                  <a:tcPr marL="40962" marR="1707" marT="1707" marB="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200" b="1" i="0" u="none" strike="noStrike" dirty="0">
                          <a:effectLst/>
                          <a:latin typeface="Courier New"/>
                          <a:cs typeface="Courier New"/>
                        </a:rPr>
                        <a:t>R apply(T t)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Courier New"/>
                        <a:cs typeface="Courier New"/>
                      </a:endParaRPr>
                    </a:p>
                  </a:txBody>
                  <a:tcPr marL="40962" marR="1707" marT="1707" marB="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691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200" b="1" i="0" u="none" strike="noStrike" dirty="0" err="1" smtClean="0">
                          <a:effectLst/>
                          <a:latin typeface="Courier New"/>
                          <a:cs typeface="Courier New"/>
                        </a:rPr>
                        <a:t>BiFunction</a:t>
                      </a:r>
                      <a:r>
                        <a:rPr lang="en-US" sz="2200" b="1" i="0" u="none" strike="noStrike" dirty="0" smtClean="0">
                          <a:effectLst/>
                          <a:latin typeface="Courier New"/>
                          <a:cs typeface="Courier New"/>
                        </a:rPr>
                        <a:t> &lt;</a:t>
                      </a:r>
                      <a:r>
                        <a:rPr lang="en-US" sz="2200" b="1" i="0" u="none" strike="noStrike" dirty="0">
                          <a:effectLst/>
                          <a:latin typeface="Courier New"/>
                          <a:cs typeface="Courier New"/>
                        </a:rPr>
                        <a:t>T,U,R&gt; 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Courier New"/>
                        <a:cs typeface="Courier New"/>
                      </a:endParaRPr>
                    </a:p>
                  </a:txBody>
                  <a:tcPr marL="40962" marR="1707" marT="1707" marB="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200" b="1" i="0" u="none" strike="noStrike" dirty="0">
                          <a:effectLst/>
                          <a:latin typeface="Courier New"/>
                          <a:cs typeface="Courier New"/>
                        </a:rPr>
                        <a:t>R apply(T t, U u)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Courier New"/>
                        <a:cs typeface="Courier New"/>
                      </a:endParaRPr>
                    </a:p>
                  </a:txBody>
                  <a:tcPr marL="40962" marR="1707" marT="1707" marB="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7359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2200" b="1" i="0" u="none" strike="noStrike" dirty="0" err="1" smtClean="0">
                          <a:effectLst/>
                          <a:latin typeface="Courier New"/>
                          <a:cs typeface="Courier New"/>
                        </a:rPr>
                        <a:t>BinaryOperator</a:t>
                      </a:r>
                      <a:r>
                        <a:rPr lang="en-US" sz="2200" b="1" i="0" u="none" strike="noStrike" dirty="0" smtClean="0">
                          <a:effectLst/>
                          <a:latin typeface="Courier New"/>
                          <a:cs typeface="Courier New"/>
                        </a:rPr>
                        <a:t> &lt;</a:t>
                      </a:r>
                      <a:r>
                        <a:rPr lang="en-US" sz="2200" b="1" i="0" u="none" strike="noStrike" dirty="0">
                          <a:effectLst/>
                          <a:latin typeface="Courier New"/>
                          <a:cs typeface="Courier New"/>
                        </a:rPr>
                        <a:t>T&gt; 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Courier New"/>
                        <a:cs typeface="Courier New"/>
                      </a:endParaRPr>
                    </a:p>
                  </a:txBody>
                  <a:tcPr marL="40962" marR="1707" marT="1707" marB="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200" b="1" i="0" u="none" strike="noStrike" dirty="0">
                          <a:effectLst/>
                          <a:latin typeface="Courier New"/>
                          <a:cs typeface="Courier New"/>
                        </a:rPr>
                        <a:t>T apply(T t, T u) 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Courier New"/>
                        <a:cs typeface="Courier New"/>
                      </a:endParaRPr>
                    </a:p>
                  </a:txBody>
                  <a:tcPr marL="40962" marR="1707" marT="1707" marB="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691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200" b="1" i="0" u="none" strike="noStrike" dirty="0" err="1" smtClean="0">
                          <a:effectLst/>
                          <a:latin typeface="Courier New"/>
                          <a:cs typeface="Courier New"/>
                        </a:rPr>
                        <a:t>UnaryOperator</a:t>
                      </a:r>
                      <a:r>
                        <a:rPr lang="en-US" sz="2200" b="1" i="0" u="none" strike="noStrike" dirty="0" smtClean="0">
                          <a:effectLst/>
                          <a:latin typeface="Courier New"/>
                          <a:cs typeface="Courier New"/>
                        </a:rPr>
                        <a:t> &lt;</a:t>
                      </a:r>
                      <a:r>
                        <a:rPr lang="en-US" sz="2200" b="1" i="0" u="none" strike="noStrike" dirty="0">
                          <a:effectLst/>
                          <a:latin typeface="Courier New"/>
                          <a:cs typeface="Courier New"/>
                        </a:rPr>
                        <a:t>T&gt; 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Courier New"/>
                        <a:cs typeface="Courier New"/>
                      </a:endParaRPr>
                    </a:p>
                  </a:txBody>
                  <a:tcPr marL="40962" marR="1707" marT="1707" marB="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200" b="1" i="0" u="none" strike="noStrike" dirty="0">
                          <a:effectLst/>
                          <a:latin typeface="Courier New"/>
                          <a:cs typeface="Courier New"/>
                        </a:rPr>
                        <a:t>T apply(T t)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Courier New"/>
                        <a:cs typeface="Courier New"/>
                      </a:endParaRPr>
                    </a:p>
                  </a:txBody>
                  <a:tcPr marL="40962" marR="1707" marT="1707" marB="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56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200" b="1" i="0" u="none" strike="noStrike">
                          <a:effectLst/>
                          <a:latin typeface="Courier New"/>
                          <a:cs typeface="Courier New"/>
                        </a:rPr>
                        <a:t>Predicate &lt;T&gt; </a:t>
                      </a:r>
                      <a:endParaRPr lang="en-US" sz="2200" b="1" i="0" u="none" strike="noStrike">
                        <a:solidFill>
                          <a:srgbClr val="000000"/>
                        </a:solidFill>
                        <a:effectLst/>
                        <a:latin typeface="Courier New"/>
                        <a:cs typeface="Courier New"/>
                      </a:endParaRPr>
                    </a:p>
                  </a:txBody>
                  <a:tcPr marL="40962" marR="1707" marT="1707" marB="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200" b="1" i="0" u="none" strike="noStrike" dirty="0" err="1">
                          <a:effectLst/>
                          <a:latin typeface="Courier New"/>
                          <a:cs typeface="Courier New"/>
                        </a:rPr>
                        <a:t>boolean</a:t>
                      </a:r>
                      <a:r>
                        <a:rPr lang="en-US" sz="2200" b="1" i="0" u="none" strike="noStrike" dirty="0">
                          <a:effectLst/>
                          <a:latin typeface="Courier New"/>
                          <a:cs typeface="Courier New"/>
                        </a:rPr>
                        <a:t> test(T t)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Courier New"/>
                        <a:cs typeface="Courier New"/>
                      </a:endParaRPr>
                    </a:p>
                  </a:txBody>
                  <a:tcPr marL="40962" marR="1707" marT="1707" marB="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56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200" b="1" i="0" u="none" strike="noStrike">
                          <a:effectLst/>
                          <a:latin typeface="Courier New"/>
                          <a:cs typeface="Courier New"/>
                        </a:rPr>
                        <a:t>Consumer &lt;T&gt; </a:t>
                      </a:r>
                      <a:endParaRPr lang="en-US" sz="2200" b="1" i="0" u="none" strike="noStrike">
                        <a:solidFill>
                          <a:srgbClr val="000000"/>
                        </a:solidFill>
                        <a:effectLst/>
                        <a:latin typeface="Courier New"/>
                        <a:cs typeface="Courier New"/>
                      </a:endParaRPr>
                    </a:p>
                  </a:txBody>
                  <a:tcPr marL="40962" marR="1707" marT="1707" marB="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200" b="1" i="0" u="none" strike="noStrike" dirty="0">
                          <a:effectLst/>
                          <a:latin typeface="Courier New"/>
                          <a:cs typeface="Courier New"/>
                        </a:rPr>
                        <a:t>void accept(T t)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Courier New"/>
                        <a:cs typeface="Courier New"/>
                      </a:endParaRPr>
                    </a:p>
                  </a:txBody>
                  <a:tcPr marL="40962" marR="1707" marT="1707" marB="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691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200" b="1" i="0" u="none" strike="noStrike" dirty="0" err="1" smtClean="0">
                          <a:effectLst/>
                          <a:latin typeface="Courier New"/>
                          <a:cs typeface="Courier New"/>
                        </a:rPr>
                        <a:t>BiConsumer</a:t>
                      </a:r>
                      <a:r>
                        <a:rPr lang="en-US" sz="2200" b="1" i="0" u="none" strike="noStrike" dirty="0" smtClean="0">
                          <a:effectLst/>
                          <a:latin typeface="Courier New"/>
                          <a:cs typeface="Courier New"/>
                        </a:rPr>
                        <a:t> &lt;</a:t>
                      </a:r>
                      <a:r>
                        <a:rPr lang="en-US" sz="2200" b="1" i="0" u="none" strike="noStrike" dirty="0">
                          <a:effectLst/>
                          <a:latin typeface="Courier New"/>
                          <a:cs typeface="Courier New"/>
                        </a:rPr>
                        <a:t>T,U&gt;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Courier New"/>
                        <a:cs typeface="Courier New"/>
                      </a:endParaRPr>
                    </a:p>
                  </a:txBody>
                  <a:tcPr marL="40962" marR="1707" marT="1707" marB="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200" b="1" i="0" u="none" strike="noStrike" dirty="0">
                          <a:effectLst/>
                          <a:latin typeface="Courier New"/>
                          <a:cs typeface="Courier New"/>
                        </a:rPr>
                        <a:t>void accept(T t, U u)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Courier New"/>
                        <a:cs typeface="Courier New"/>
                      </a:endParaRPr>
                    </a:p>
                  </a:txBody>
                  <a:tcPr marL="40962" marR="1707" marT="1707" marB="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56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200" b="1" i="0" u="none" strike="noStrike" dirty="0">
                          <a:effectLst/>
                          <a:latin typeface="Courier New"/>
                          <a:cs typeface="Courier New"/>
                        </a:rPr>
                        <a:t>Supplier &lt;T</a:t>
                      </a:r>
                      <a:r>
                        <a:rPr lang="en-US" sz="2200" b="1" i="0" u="none" strike="noStrike" dirty="0" smtClean="0">
                          <a:effectLst/>
                          <a:latin typeface="Courier New"/>
                          <a:cs typeface="Courier New"/>
                        </a:rPr>
                        <a:t>&gt; 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Courier New"/>
                        <a:cs typeface="Courier New"/>
                      </a:endParaRPr>
                    </a:p>
                  </a:txBody>
                  <a:tcPr marL="40962" marR="1707" marT="1707" marB="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200" b="1" i="0" u="none" strike="noStrike" dirty="0" smtClean="0">
                          <a:effectLst/>
                          <a:latin typeface="Courier New"/>
                          <a:cs typeface="Courier New"/>
                        </a:rPr>
                        <a:t>T get</a:t>
                      </a:r>
                      <a:r>
                        <a:rPr lang="en-US" sz="2200" b="1" i="0" u="none" strike="noStrike" dirty="0">
                          <a:effectLst/>
                          <a:latin typeface="Courier New"/>
                          <a:cs typeface="Courier New"/>
                        </a:rPr>
                        <a:t>()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Courier New"/>
                        <a:cs typeface="Courier New"/>
                      </a:endParaRPr>
                    </a:p>
                  </a:txBody>
                  <a:tcPr marL="40962" marR="1707" marT="1707" marB="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95361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Primitive specializations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Functional interfaces handle references</a:t>
            </a:r>
          </a:p>
          <a:p>
            <a:r>
              <a:rPr lang="en-US" dirty="0" smtClean="0"/>
              <a:t>Specialized versions are defined for primitive types ( </a:t>
            </a:r>
            <a:r>
              <a:rPr lang="en-US" b="1" dirty="0" err="1" smtClean="0">
                <a:latin typeface="Courier New"/>
                <a:cs typeface="Courier New"/>
              </a:rPr>
              <a:t>int</a:t>
            </a:r>
            <a:r>
              <a:rPr lang="en-US" dirty="0" smtClean="0"/>
              <a:t>, </a:t>
            </a:r>
            <a:r>
              <a:rPr lang="en-US" b="1" dirty="0">
                <a:latin typeface="Courier New"/>
                <a:cs typeface="Courier New"/>
              </a:rPr>
              <a:t>long</a:t>
            </a:r>
            <a:r>
              <a:rPr lang="en-US" dirty="0" smtClean="0"/>
              <a:t>, </a:t>
            </a:r>
            <a:r>
              <a:rPr lang="en-US" b="1" dirty="0">
                <a:latin typeface="Courier New"/>
                <a:cs typeface="Courier New"/>
              </a:rPr>
              <a:t>double</a:t>
            </a:r>
            <a:r>
              <a:rPr lang="en-US" dirty="0" smtClean="0"/>
              <a:t>, </a:t>
            </a:r>
            <a:r>
              <a:rPr lang="en-US" b="1" dirty="0" err="1" smtClean="0">
                <a:latin typeface="Courier New"/>
                <a:cs typeface="Courier New"/>
              </a:rPr>
              <a:t>boolean</a:t>
            </a:r>
            <a:r>
              <a:rPr lang="en-US" dirty="0" smtClean="0"/>
              <a:t> )</a:t>
            </a:r>
          </a:p>
          <a:p>
            <a:r>
              <a:rPr lang="en-US" dirty="0" smtClean="0"/>
              <a:t>Functions</a:t>
            </a:r>
          </a:p>
          <a:p>
            <a:pPr lvl="1"/>
            <a:r>
              <a:rPr lang="en-US" b="1" dirty="0" err="1" smtClean="0">
                <a:solidFill>
                  <a:srgbClr val="FF6600"/>
                </a:solidFill>
                <a:latin typeface="Courier New"/>
                <a:cs typeface="Courier New"/>
              </a:rPr>
              <a:t>To</a:t>
            </a:r>
            <a:r>
              <a:rPr lang="en-US" b="1" i="1" dirty="0" err="1" smtClean="0">
                <a:latin typeface="Courier New"/>
                <a:cs typeface="Courier New"/>
              </a:rPr>
              <a:t>Type</a:t>
            </a:r>
            <a:r>
              <a:rPr lang="en-US" b="1" dirty="0" err="1" smtClean="0">
                <a:solidFill>
                  <a:srgbClr val="FF6600"/>
                </a:solidFill>
                <a:latin typeface="Courier New"/>
                <a:cs typeface="Courier New"/>
              </a:rPr>
              <a:t>Function</a:t>
            </a:r>
            <a:endParaRPr lang="en-US" b="1" dirty="0" smtClean="0">
              <a:solidFill>
                <a:srgbClr val="FF6600"/>
              </a:solidFill>
              <a:latin typeface="Courier New"/>
              <a:cs typeface="Courier New"/>
            </a:endParaRPr>
          </a:p>
          <a:p>
            <a:pPr lvl="1"/>
            <a:r>
              <a:rPr lang="en-US" b="1" dirty="0" smtClean="0">
                <a:latin typeface="Courier New"/>
                <a:cs typeface="Courier New"/>
              </a:rPr>
              <a:t>Type1</a:t>
            </a:r>
            <a:r>
              <a:rPr lang="en-US" b="1" dirty="0" smtClean="0">
                <a:solidFill>
                  <a:srgbClr val="FF6600"/>
                </a:solidFill>
                <a:latin typeface="Courier New"/>
                <a:cs typeface="Courier New"/>
              </a:rPr>
              <a:t>To</a:t>
            </a:r>
            <a:r>
              <a:rPr lang="en-US" b="1" dirty="0" smtClean="0">
                <a:latin typeface="Courier New"/>
                <a:cs typeface="Courier New"/>
              </a:rPr>
              <a:t>Type2</a:t>
            </a:r>
            <a:r>
              <a:rPr lang="en-US" b="1" dirty="0" smtClean="0">
                <a:solidFill>
                  <a:srgbClr val="FF6600"/>
                </a:solidFill>
                <a:latin typeface="Courier New"/>
                <a:cs typeface="Courier New"/>
              </a:rPr>
              <a:t>Function</a:t>
            </a:r>
            <a:endParaRPr lang="en-US" b="1" dirty="0">
              <a:solidFill>
                <a:srgbClr val="FF6600"/>
              </a:solidFill>
              <a:latin typeface="Courier New"/>
              <a:cs typeface="Courier New"/>
            </a:endParaRPr>
          </a:p>
          <a:p>
            <a:r>
              <a:rPr lang="en-US" dirty="0" smtClean="0"/>
              <a:t>Suppliers: </a:t>
            </a:r>
            <a:r>
              <a:rPr lang="en-US" b="1" dirty="0" err="1" smtClean="0">
                <a:latin typeface="Courier New"/>
                <a:cs typeface="Courier New"/>
              </a:rPr>
              <a:t>Type</a:t>
            </a:r>
            <a:r>
              <a:rPr lang="en-US" b="1" dirty="0" err="1" smtClean="0">
                <a:solidFill>
                  <a:srgbClr val="FF6600"/>
                </a:solidFill>
                <a:latin typeface="Courier New"/>
                <a:cs typeface="Courier New"/>
              </a:rPr>
              <a:t>Supplier</a:t>
            </a:r>
            <a:endParaRPr lang="en-US" b="1" dirty="0" smtClean="0">
              <a:solidFill>
                <a:srgbClr val="FF6600"/>
              </a:solidFill>
              <a:latin typeface="Courier New"/>
              <a:cs typeface="Courier New"/>
            </a:endParaRPr>
          </a:p>
          <a:p>
            <a:r>
              <a:rPr lang="en-US" dirty="0" smtClean="0"/>
              <a:t>Predicate: </a:t>
            </a:r>
            <a:r>
              <a:rPr lang="en-US" b="1" dirty="0" err="1">
                <a:latin typeface="Courier New"/>
                <a:cs typeface="Courier New"/>
              </a:rPr>
              <a:t>Type</a:t>
            </a:r>
            <a:r>
              <a:rPr lang="en-US" b="1" dirty="0" err="1">
                <a:solidFill>
                  <a:srgbClr val="FF6600"/>
                </a:solidFill>
                <a:latin typeface="Courier New"/>
                <a:cs typeface="Courier New"/>
              </a:rPr>
              <a:t>Predicate</a:t>
            </a:r>
            <a:endParaRPr lang="en-US" b="1" dirty="0">
              <a:solidFill>
                <a:srgbClr val="FF6600"/>
              </a:solidFill>
              <a:latin typeface="Courier New"/>
              <a:cs typeface="Courier New"/>
            </a:endParaRPr>
          </a:p>
          <a:p>
            <a:r>
              <a:rPr lang="en-US" dirty="0" smtClean="0"/>
              <a:t>Consumer: </a:t>
            </a:r>
            <a:r>
              <a:rPr lang="en-US" b="1" dirty="0" err="1">
                <a:latin typeface="Courier New"/>
                <a:cs typeface="Courier New"/>
              </a:rPr>
              <a:t>Type</a:t>
            </a:r>
            <a:r>
              <a:rPr lang="en-US" b="1" dirty="0" err="1">
                <a:solidFill>
                  <a:srgbClr val="FF6600"/>
                </a:solidFill>
                <a:latin typeface="Courier New"/>
                <a:cs typeface="Courier New"/>
              </a:rPr>
              <a:t>Consumer</a:t>
            </a:r>
            <a:endParaRPr lang="en-US" b="1" dirty="0">
              <a:solidFill>
                <a:srgbClr val="FF6600"/>
              </a:solidFill>
              <a:latin typeface="Courier New"/>
              <a:cs typeface="Courier New"/>
            </a:endParaRP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2454223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auto">
          <a:xfrm>
            <a:off x="539552" y="4581128"/>
            <a:ext cx="8424936" cy="16561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rtlCol="0" anchor="ctr"/>
          <a:lstStyle/>
          <a:p>
            <a:endParaRPr lang="en-US" b="1" dirty="0">
              <a:solidFill>
                <a:schemeClr val="tx1"/>
              </a:solidFill>
              <a:latin typeface="Courier New"/>
              <a:cs typeface="Courier New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539552" y="3645024"/>
            <a:ext cx="8280920" cy="6480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rtlCol="0" anchor="ctr"/>
          <a:lstStyle/>
          <a:p>
            <a:endParaRPr lang="en-US" b="1" dirty="0">
              <a:solidFill>
                <a:schemeClr val="tx1"/>
              </a:solidFill>
              <a:latin typeface="Courier New"/>
              <a:cs typeface="Courier New"/>
            </a:endParaRPr>
          </a:p>
        </p:txBody>
      </p:sp>
      <p:sp>
        <p:nvSpPr>
          <p:cNvPr id="172033" name="Rectangle 1"/>
          <p:cNvSpPr>
            <a:spLocks noGrp="1" noChangeArrowheads="1"/>
          </p:cNvSpPr>
          <p:nvPr>
            <p:ph type="title"/>
          </p:nvPr>
        </p:nvSpPr>
        <p:spPr>
          <a:xfrm>
            <a:off x="228601" y="256170"/>
            <a:ext cx="8605838" cy="703685"/>
          </a:xfrm>
        </p:spPr>
        <p:txBody>
          <a:bodyPr lIns="90351" tIns="44276" rIns="90351" bIns="44276"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153" algn="l"/>
                <a:tab pos="914305" algn="l"/>
                <a:tab pos="1371458" algn="l"/>
                <a:tab pos="1828610" algn="l"/>
                <a:tab pos="2285763" algn="l"/>
                <a:tab pos="2742915" algn="l"/>
                <a:tab pos="3200068" algn="l"/>
                <a:tab pos="3657220" algn="l"/>
                <a:tab pos="4114373" algn="l"/>
                <a:tab pos="4571526" algn="l"/>
                <a:tab pos="5028678" algn="l"/>
                <a:tab pos="5485831" algn="l"/>
                <a:tab pos="5942984" algn="l"/>
                <a:tab pos="6400137" algn="l"/>
                <a:tab pos="6857289" algn="l"/>
                <a:tab pos="7314442" algn="l"/>
                <a:tab pos="7771595" algn="l"/>
                <a:tab pos="8228747" algn="l"/>
                <a:tab pos="8685900" algn="l"/>
                <a:tab pos="9143052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Generic Comparator</a:t>
            </a:r>
            <a:endParaRPr lang="en-GB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172034" name="Rectangle 2"/>
          <p:cNvSpPr>
            <a:spLocks noGrp="1" noChangeArrowheads="1"/>
          </p:cNvSpPr>
          <p:nvPr>
            <p:ph idx="1"/>
          </p:nvPr>
        </p:nvSpPr>
        <p:spPr>
          <a:xfrm>
            <a:off x="609120" y="1294696"/>
            <a:ext cx="8427376" cy="4942616"/>
          </a:xfrm>
        </p:spPr>
        <p:txBody>
          <a:bodyPr lIns="90351" tIns="44276" rIns="90351" bIns="44276">
            <a:normAutofit/>
          </a:bodyPr>
          <a:lstStyle/>
          <a:p>
            <a:pPr eaLnBrk="1" hangingPunct="1">
              <a:lnSpc>
                <a:spcPct val="90000"/>
              </a:lnSpc>
              <a:tabLst>
                <a:tab pos="453978" algn="l"/>
                <a:tab pos="911130" algn="l"/>
                <a:tab pos="1368283" algn="l"/>
                <a:tab pos="1825435" algn="l"/>
                <a:tab pos="2282588" algn="l"/>
                <a:tab pos="2739741" algn="l"/>
                <a:tab pos="3196893" algn="l"/>
                <a:tab pos="3654046" algn="l"/>
                <a:tab pos="4111199" algn="l"/>
                <a:tab pos="4568352" algn="l"/>
                <a:tab pos="5025504" algn="l"/>
                <a:tab pos="5482657" algn="l"/>
                <a:tab pos="5939809" algn="l"/>
                <a:tab pos="6396962" algn="l"/>
                <a:tab pos="6854115" algn="l"/>
                <a:tab pos="7311267" algn="l"/>
                <a:tab pos="7768420" algn="l"/>
                <a:tab pos="8225572" algn="l"/>
                <a:tab pos="8682725" algn="l"/>
                <a:tab pos="9139877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Interface </a:t>
            </a:r>
            <a:r>
              <a:rPr lang="en-GB" b="1" dirty="0" err="1" smtClean="0">
                <a:latin typeface="Courier New"/>
                <a:cs typeface="Courier New"/>
              </a:rPr>
              <a:t>java.util.Comparator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 </a:t>
            </a:r>
          </a:p>
          <a:p>
            <a:pPr lvl="2" eaLnBrk="1" hangingPunct="1">
              <a:lnSpc>
                <a:spcPct val="90000"/>
              </a:lnSpc>
              <a:tabLst>
                <a:tab pos="453978" algn="l"/>
                <a:tab pos="911130" algn="l"/>
                <a:tab pos="1368283" algn="l"/>
                <a:tab pos="1825435" algn="l"/>
                <a:tab pos="2282588" algn="l"/>
                <a:tab pos="2739741" algn="l"/>
                <a:tab pos="3196893" algn="l"/>
                <a:tab pos="3654046" algn="l"/>
                <a:tab pos="4111199" algn="l"/>
                <a:tab pos="4568352" algn="l"/>
                <a:tab pos="5025504" algn="l"/>
                <a:tab pos="5482657" algn="l"/>
                <a:tab pos="5939809" algn="l"/>
                <a:tab pos="6396962" algn="l"/>
                <a:tab pos="6854115" algn="l"/>
                <a:tab pos="7311267" algn="l"/>
                <a:tab pos="7768420" algn="l"/>
                <a:tab pos="8225572" algn="l"/>
                <a:tab pos="8682725" algn="l"/>
                <a:tab pos="9139877" algn="l"/>
              </a:tabLst>
            </a:pPr>
            <a:endParaRPr lang="en-GB" dirty="0">
              <a:latin typeface="Lucida Sans Unicode" charset="0"/>
              <a:cs typeface="Lucida Sans Unicode" charset="0"/>
            </a:endParaRPr>
          </a:p>
          <a:p>
            <a:pPr marL="400008" lvl="1" indent="0" eaLnBrk="1" hangingPunct="1">
              <a:lnSpc>
                <a:spcPct val="90000"/>
              </a:lnSpc>
              <a:buNone/>
              <a:tabLst>
                <a:tab pos="453978" algn="l"/>
                <a:tab pos="911130" algn="l"/>
                <a:tab pos="1368283" algn="l"/>
                <a:tab pos="1825435" algn="l"/>
                <a:tab pos="2282588" algn="l"/>
                <a:tab pos="2739741" algn="l"/>
                <a:tab pos="3196893" algn="l"/>
                <a:tab pos="3654046" algn="l"/>
                <a:tab pos="4111199" algn="l"/>
                <a:tab pos="4568352" algn="l"/>
                <a:tab pos="5025504" algn="l"/>
                <a:tab pos="5482657" algn="l"/>
                <a:tab pos="5939809" algn="l"/>
                <a:tab pos="6396962" algn="l"/>
                <a:tab pos="6854115" algn="l"/>
                <a:tab pos="7311267" algn="l"/>
                <a:tab pos="7768420" algn="l"/>
                <a:tab pos="8225572" algn="l"/>
                <a:tab pos="8682725" algn="l"/>
                <a:tab pos="9139877" algn="l"/>
              </a:tabLst>
            </a:pPr>
            <a:r>
              <a:rPr lang="en-GB" b="1" dirty="0" smtClean="0">
                <a:solidFill>
                  <a:schemeClr val="tx1"/>
                </a:solidFill>
                <a:latin typeface="Courier New" charset="0"/>
                <a:cs typeface="Lucida Sans Unicode" charset="0"/>
              </a:rPr>
              <a:t>public</a:t>
            </a:r>
            <a:r>
              <a:rPr lang="en-GB" sz="2400" b="1" dirty="0">
                <a:solidFill>
                  <a:schemeClr val="tx1"/>
                </a:solidFill>
                <a:latin typeface="Courier New" charset="0"/>
                <a:cs typeface="Lucida Sans Unicode" charset="0"/>
              </a:rPr>
              <a:t> </a:t>
            </a:r>
            <a:r>
              <a:rPr lang="en-GB" b="1" dirty="0">
                <a:solidFill>
                  <a:schemeClr val="tx1"/>
                </a:solidFill>
                <a:latin typeface="Courier New" charset="0"/>
                <a:cs typeface="Lucida Sans Unicode" charset="0"/>
              </a:rPr>
              <a:t>interface </a:t>
            </a:r>
            <a:r>
              <a:rPr lang="en-GB" b="1" dirty="0" smtClean="0">
                <a:solidFill>
                  <a:schemeClr val="tx1"/>
                </a:solidFill>
                <a:latin typeface="Courier New" charset="0"/>
                <a:cs typeface="Lucida Sans Unicode" charset="0"/>
              </a:rPr>
              <a:t>Comparator</a:t>
            </a:r>
            <a:r>
              <a:rPr lang="en-GB" b="1" dirty="0" smtClean="0">
                <a:solidFill>
                  <a:srgbClr val="FF6633"/>
                </a:solidFill>
                <a:latin typeface="Courier New" charset="0"/>
                <a:cs typeface="Lucida Sans Unicode" charset="0"/>
              </a:rPr>
              <a:t>&lt;T&gt;</a:t>
            </a:r>
            <a:r>
              <a:rPr lang="en-GB" b="1" dirty="0" smtClean="0">
                <a:latin typeface="Courier New" charset="0"/>
                <a:cs typeface="Lucida Sans Unicode" charset="0"/>
              </a:rPr>
              <a:t>{</a:t>
            </a:r>
            <a:br>
              <a:rPr lang="en-GB" b="1" dirty="0" smtClean="0">
                <a:latin typeface="Courier New" charset="0"/>
                <a:cs typeface="Lucida Sans Unicode" charset="0"/>
              </a:rPr>
            </a:br>
            <a:r>
              <a:rPr lang="en-GB" b="1" dirty="0" smtClean="0">
                <a:latin typeface="Courier New" charset="0"/>
                <a:cs typeface="Lucida Sans Unicode" charset="0"/>
              </a:rPr>
              <a:t>  </a:t>
            </a:r>
            <a:r>
              <a:rPr lang="en-GB" b="1" dirty="0" err="1">
                <a:latin typeface="Courier New" charset="0"/>
                <a:cs typeface="Lucida Sans Unicode" charset="0"/>
              </a:rPr>
              <a:t>int</a:t>
            </a:r>
            <a:r>
              <a:rPr lang="en-GB" b="1" dirty="0">
                <a:latin typeface="Courier New" charset="0"/>
                <a:cs typeface="Lucida Sans Unicode" charset="0"/>
              </a:rPr>
              <a:t> </a:t>
            </a:r>
            <a:r>
              <a:rPr lang="en-GB" b="1" dirty="0" smtClean="0">
                <a:solidFill>
                  <a:schemeClr val="tx1"/>
                </a:solidFill>
                <a:latin typeface="Courier New" charset="0"/>
                <a:cs typeface="Lucida Sans Unicode" charset="0"/>
              </a:rPr>
              <a:t>compare</a:t>
            </a:r>
            <a:r>
              <a:rPr lang="en-GB" b="1" dirty="0" smtClean="0">
                <a:latin typeface="Courier New" charset="0"/>
                <a:cs typeface="Lucida Sans Unicode" charset="0"/>
              </a:rPr>
              <a:t>(</a:t>
            </a:r>
            <a:r>
              <a:rPr lang="en-GB" b="1" dirty="0" smtClean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T</a:t>
            </a:r>
            <a:r>
              <a:rPr lang="en-GB" b="1" dirty="0" smtClean="0">
                <a:latin typeface="Courier New" charset="0"/>
                <a:cs typeface="Lucida Sans Unicode" charset="0"/>
              </a:rPr>
              <a:t> a, </a:t>
            </a:r>
            <a:r>
              <a:rPr lang="en-GB" b="1" dirty="0" smtClean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T</a:t>
            </a:r>
            <a:r>
              <a:rPr lang="en-GB" b="1" dirty="0" smtClean="0">
                <a:latin typeface="Courier New" charset="0"/>
                <a:cs typeface="Lucida Sans Unicode" charset="0"/>
              </a:rPr>
              <a:t> b);</a:t>
            </a:r>
            <a:br>
              <a:rPr lang="en-GB" b="1" dirty="0" smtClean="0">
                <a:latin typeface="Courier New" charset="0"/>
                <a:cs typeface="Lucida Sans Unicode" charset="0"/>
              </a:rPr>
            </a:br>
            <a:r>
              <a:rPr lang="en-GB" b="1" dirty="0" smtClean="0">
                <a:latin typeface="Courier New" charset="0"/>
                <a:cs typeface="Lucida Sans Unicode" charset="0"/>
              </a:rPr>
              <a:t>}</a:t>
            </a:r>
            <a:endParaRPr lang="en-GB" dirty="0">
              <a:latin typeface="Lucida Sans Unicode" charset="0"/>
              <a:cs typeface="Lucida Sans Unicode" charset="0"/>
            </a:endParaRPr>
          </a:p>
          <a:p>
            <a:pPr marL="0" indent="0" eaLnBrk="1" hangingPunct="1">
              <a:lnSpc>
                <a:spcPct val="90000"/>
              </a:lnSpc>
              <a:buNone/>
              <a:tabLst>
                <a:tab pos="453978" algn="l"/>
                <a:tab pos="911130" algn="l"/>
                <a:tab pos="1368283" algn="l"/>
                <a:tab pos="1825435" algn="l"/>
                <a:tab pos="2282588" algn="l"/>
                <a:tab pos="2739741" algn="l"/>
                <a:tab pos="3196893" algn="l"/>
                <a:tab pos="3654046" algn="l"/>
                <a:tab pos="4111199" algn="l"/>
                <a:tab pos="4568352" algn="l"/>
                <a:tab pos="5025504" algn="l"/>
                <a:tab pos="5482657" algn="l"/>
                <a:tab pos="5939809" algn="l"/>
                <a:tab pos="6396962" algn="l"/>
                <a:tab pos="6854115" algn="l"/>
                <a:tab pos="7311267" algn="l"/>
                <a:tab pos="7768420" algn="l"/>
                <a:tab pos="8225572" algn="l"/>
                <a:tab pos="8682725" algn="l"/>
                <a:tab pos="9139877" algn="l"/>
              </a:tabLst>
            </a:pPr>
            <a:endParaRPr lang="en-GB" sz="2400" dirty="0" smtClean="0">
              <a:latin typeface="Lucida Sans Unicode" charset="0"/>
              <a:cs typeface="Lucida Sans Unicode" charset="0"/>
            </a:endParaRPr>
          </a:p>
          <a:p>
            <a:pPr marL="362811" lvl="1" indent="0" eaLnBrk="1" hangingPunct="1">
              <a:lnSpc>
                <a:spcPct val="90000"/>
              </a:lnSpc>
              <a:buNone/>
              <a:tabLst>
                <a:tab pos="453978" algn="l"/>
                <a:tab pos="911130" algn="l"/>
                <a:tab pos="1368283" algn="l"/>
                <a:tab pos="1825435" algn="l"/>
                <a:tab pos="2282588" algn="l"/>
                <a:tab pos="2739741" algn="l"/>
                <a:tab pos="3196893" algn="l"/>
                <a:tab pos="3654046" algn="l"/>
                <a:tab pos="4111199" algn="l"/>
                <a:tab pos="4568352" algn="l"/>
                <a:tab pos="5025504" algn="l"/>
                <a:tab pos="5482657" algn="l"/>
                <a:tab pos="5939809" algn="l"/>
                <a:tab pos="6396962" algn="l"/>
                <a:tab pos="6854115" algn="l"/>
                <a:tab pos="7311267" algn="l"/>
                <a:tab pos="7768420" algn="l"/>
                <a:tab pos="8225572" algn="l"/>
                <a:tab pos="8682725" algn="l"/>
                <a:tab pos="9139877" algn="l"/>
              </a:tabLst>
            </a:pPr>
            <a:r>
              <a:rPr lang="en-US" sz="2400" b="1" dirty="0" err="1" smtClean="0">
                <a:latin typeface="Courier New"/>
                <a:cs typeface="Courier New"/>
              </a:rPr>
              <a:t>Arrays.sort</a:t>
            </a:r>
            <a:r>
              <a:rPr lang="en-US" sz="2400" b="1" dirty="0" smtClean="0">
                <a:latin typeface="Courier New"/>
                <a:cs typeface="Courier New"/>
              </a:rPr>
              <a:t>(</a:t>
            </a:r>
            <a:r>
              <a:rPr lang="en-US" sz="2400" b="1" dirty="0" err="1" smtClean="0">
                <a:latin typeface="Courier New"/>
                <a:cs typeface="Courier New"/>
              </a:rPr>
              <a:t>sv</a:t>
            </a:r>
            <a:r>
              <a:rPr lang="en-US" sz="2400" b="1" dirty="0" smtClean="0">
                <a:latin typeface="Courier New"/>
                <a:cs typeface="Courier New"/>
              </a:rPr>
              <a:t>, (</a:t>
            </a:r>
            <a:r>
              <a:rPr lang="en-US" sz="2400" b="1" dirty="0" err="1" smtClean="0">
                <a:latin typeface="Courier New"/>
                <a:cs typeface="Courier New"/>
              </a:rPr>
              <a:t>a,b</a:t>
            </a:r>
            <a:r>
              <a:rPr lang="en-US" sz="2400" b="1" dirty="0" smtClean="0">
                <a:latin typeface="Courier New"/>
                <a:cs typeface="Courier New"/>
              </a:rPr>
              <a:t>) </a:t>
            </a:r>
            <a:r>
              <a:rPr lang="en-US" sz="2400" b="1" dirty="0" smtClean="0">
                <a:solidFill>
                  <a:schemeClr val="tx1"/>
                </a:solidFill>
                <a:latin typeface="Courier New"/>
                <a:cs typeface="Courier New"/>
              </a:rPr>
              <a:t>-&gt; </a:t>
            </a:r>
            <a:r>
              <a:rPr lang="en-US" sz="2400" b="1" dirty="0" err="1" smtClean="0">
                <a:solidFill>
                  <a:schemeClr val="tx1"/>
                </a:solidFill>
                <a:latin typeface="Courier New"/>
                <a:cs typeface="Courier New"/>
              </a:rPr>
              <a:t>a.id</a:t>
            </a:r>
            <a:r>
              <a:rPr lang="en-US" sz="2400" b="1" dirty="0" smtClean="0">
                <a:solidFill>
                  <a:schemeClr val="tx1"/>
                </a:solidFill>
                <a:latin typeface="Courier New"/>
                <a:cs typeface="Courier New"/>
              </a:rPr>
              <a:t> – </a:t>
            </a:r>
            <a:r>
              <a:rPr lang="en-US" sz="2400" b="1" dirty="0" err="1" smtClean="0">
                <a:solidFill>
                  <a:schemeClr val="tx1"/>
                </a:solidFill>
                <a:latin typeface="Courier New"/>
                <a:cs typeface="Courier New"/>
              </a:rPr>
              <a:t>b.id</a:t>
            </a:r>
            <a:r>
              <a:rPr lang="en-US" sz="2400" b="1" dirty="0" smtClean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lang="en-US" sz="2400" b="1" dirty="0" smtClean="0">
                <a:latin typeface="Courier New"/>
                <a:cs typeface="Courier New"/>
              </a:rPr>
              <a:t>);</a:t>
            </a:r>
          </a:p>
          <a:p>
            <a:pPr marL="362811" lvl="1" indent="0" eaLnBrk="1" hangingPunct="1">
              <a:lnSpc>
                <a:spcPct val="90000"/>
              </a:lnSpc>
              <a:buNone/>
              <a:tabLst>
                <a:tab pos="453978" algn="l"/>
                <a:tab pos="911130" algn="l"/>
                <a:tab pos="1368283" algn="l"/>
                <a:tab pos="1825435" algn="l"/>
                <a:tab pos="2282588" algn="l"/>
                <a:tab pos="2739741" algn="l"/>
                <a:tab pos="3196893" algn="l"/>
                <a:tab pos="3654046" algn="l"/>
                <a:tab pos="4111199" algn="l"/>
                <a:tab pos="4568352" algn="l"/>
                <a:tab pos="5025504" algn="l"/>
                <a:tab pos="5482657" algn="l"/>
                <a:tab pos="5939809" algn="l"/>
                <a:tab pos="6396962" algn="l"/>
                <a:tab pos="6854115" algn="l"/>
                <a:tab pos="7311267" algn="l"/>
                <a:tab pos="7768420" algn="l"/>
                <a:tab pos="8225572" algn="l"/>
                <a:tab pos="8682725" algn="l"/>
                <a:tab pos="9139877" algn="l"/>
              </a:tabLst>
            </a:pPr>
            <a:endParaRPr lang="en-US" sz="2400" b="1" dirty="0">
              <a:latin typeface="Courier New"/>
              <a:cs typeface="Courier New"/>
            </a:endParaRPr>
          </a:p>
          <a:p>
            <a:pPr marL="362811" lvl="1" indent="0" eaLnBrk="1" hangingPunct="1">
              <a:lnSpc>
                <a:spcPct val="90000"/>
              </a:lnSpc>
              <a:buNone/>
              <a:tabLst>
                <a:tab pos="453978" algn="l"/>
                <a:tab pos="911130" algn="l"/>
                <a:tab pos="1368283" algn="l"/>
                <a:tab pos="1825435" algn="l"/>
                <a:tab pos="2282588" algn="l"/>
                <a:tab pos="2739741" algn="l"/>
                <a:tab pos="3196893" algn="l"/>
                <a:tab pos="3654046" algn="l"/>
                <a:tab pos="4111199" algn="l"/>
                <a:tab pos="4568352" algn="l"/>
                <a:tab pos="5025504" algn="l"/>
                <a:tab pos="5482657" algn="l"/>
                <a:tab pos="5939809" algn="l"/>
                <a:tab pos="6396962" algn="l"/>
                <a:tab pos="6854115" algn="l"/>
                <a:tab pos="7311267" algn="l"/>
                <a:tab pos="7768420" algn="l"/>
                <a:tab pos="8225572" algn="l"/>
                <a:tab pos="8682725" algn="l"/>
                <a:tab pos="9139877" algn="l"/>
              </a:tabLst>
            </a:pPr>
            <a:r>
              <a:rPr lang="en-US" sz="2400" b="1" dirty="0" err="1">
                <a:latin typeface="Courier New"/>
                <a:cs typeface="Courier New"/>
              </a:rPr>
              <a:t>Arrays.sort</a:t>
            </a:r>
            <a:r>
              <a:rPr lang="en-US" sz="2400" b="1" dirty="0">
                <a:latin typeface="Courier New"/>
                <a:cs typeface="Courier New"/>
              </a:rPr>
              <a:t>(</a:t>
            </a:r>
            <a:r>
              <a:rPr lang="en-US" sz="2400" b="1" dirty="0" err="1">
                <a:latin typeface="Courier New"/>
                <a:cs typeface="Courier New"/>
              </a:rPr>
              <a:t>sv</a:t>
            </a:r>
            <a:r>
              <a:rPr lang="en-US" sz="2400" b="1" dirty="0">
                <a:latin typeface="Courier New"/>
                <a:cs typeface="Courier New"/>
              </a:rPr>
              <a:t>, </a:t>
            </a:r>
            <a:r>
              <a:rPr lang="en-US" sz="2400" b="1" dirty="0" smtClean="0">
                <a:latin typeface="Courier New"/>
                <a:cs typeface="Courier New"/>
              </a:rPr>
              <a:t>new Comparator&lt;Student&gt;(){</a:t>
            </a:r>
          </a:p>
          <a:p>
            <a:pPr marL="362811" lvl="1" indent="0" eaLnBrk="1" hangingPunct="1">
              <a:lnSpc>
                <a:spcPct val="90000"/>
              </a:lnSpc>
              <a:buNone/>
              <a:tabLst>
                <a:tab pos="453978" algn="l"/>
                <a:tab pos="911130" algn="l"/>
                <a:tab pos="1368283" algn="l"/>
                <a:tab pos="1825435" algn="l"/>
                <a:tab pos="2282588" algn="l"/>
                <a:tab pos="2739741" algn="l"/>
                <a:tab pos="3196893" algn="l"/>
                <a:tab pos="3654046" algn="l"/>
                <a:tab pos="4111199" algn="l"/>
                <a:tab pos="4568352" algn="l"/>
                <a:tab pos="5025504" algn="l"/>
                <a:tab pos="5482657" algn="l"/>
                <a:tab pos="5939809" algn="l"/>
                <a:tab pos="6396962" algn="l"/>
                <a:tab pos="6854115" algn="l"/>
                <a:tab pos="7311267" algn="l"/>
                <a:tab pos="7768420" algn="l"/>
                <a:tab pos="8225572" algn="l"/>
                <a:tab pos="8682725" algn="l"/>
                <a:tab pos="9139877" algn="l"/>
              </a:tabLst>
            </a:pPr>
            <a:r>
              <a:rPr lang="en-US" sz="2400" b="1" dirty="0">
                <a:latin typeface="Courier New"/>
                <a:cs typeface="Courier New"/>
              </a:rPr>
              <a:t>	</a:t>
            </a:r>
            <a:r>
              <a:rPr lang="en-US" sz="2400" b="1" dirty="0" smtClean="0">
                <a:latin typeface="Courier New"/>
                <a:cs typeface="Courier New"/>
              </a:rPr>
              <a:t>public void compare(Student a, Student b){</a:t>
            </a:r>
          </a:p>
          <a:p>
            <a:pPr marL="362811" lvl="1" indent="0" eaLnBrk="1" hangingPunct="1">
              <a:lnSpc>
                <a:spcPct val="90000"/>
              </a:lnSpc>
              <a:buNone/>
              <a:tabLst>
                <a:tab pos="453978" algn="l"/>
                <a:tab pos="911130" algn="l"/>
                <a:tab pos="1368283" algn="l"/>
                <a:tab pos="1825435" algn="l"/>
                <a:tab pos="2282588" algn="l"/>
                <a:tab pos="2739741" algn="l"/>
                <a:tab pos="3196893" algn="l"/>
                <a:tab pos="3654046" algn="l"/>
                <a:tab pos="4111199" algn="l"/>
                <a:tab pos="4568352" algn="l"/>
                <a:tab pos="5025504" algn="l"/>
                <a:tab pos="5482657" algn="l"/>
                <a:tab pos="5939809" algn="l"/>
                <a:tab pos="6396962" algn="l"/>
                <a:tab pos="6854115" algn="l"/>
                <a:tab pos="7311267" algn="l"/>
                <a:tab pos="7768420" algn="l"/>
                <a:tab pos="8225572" algn="l"/>
                <a:tab pos="8682725" algn="l"/>
                <a:tab pos="9139877" algn="l"/>
              </a:tabLst>
            </a:pPr>
            <a:r>
              <a:rPr lang="en-US" sz="2400" b="1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  <a:latin typeface="Courier New"/>
                <a:cs typeface="Courier New"/>
              </a:rPr>
              <a:t> return </a:t>
            </a:r>
            <a:r>
              <a:rPr lang="en-US" sz="2400" b="1" dirty="0" err="1" smtClean="0">
                <a:solidFill>
                  <a:schemeClr val="tx1"/>
                </a:solidFill>
                <a:latin typeface="Courier New"/>
                <a:cs typeface="Courier New"/>
              </a:rPr>
              <a:t>a.id</a:t>
            </a:r>
            <a:r>
              <a:rPr lang="en-US" sz="2400" b="1" dirty="0" smtClean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Courier New"/>
                <a:cs typeface="Courier New"/>
              </a:rPr>
              <a:t>– </a:t>
            </a:r>
            <a:r>
              <a:rPr lang="en-US" sz="2400" b="1" dirty="0" err="1">
                <a:solidFill>
                  <a:schemeClr val="tx1"/>
                </a:solidFill>
                <a:latin typeface="Courier New"/>
                <a:cs typeface="Courier New"/>
              </a:rPr>
              <a:t>b.id</a:t>
            </a:r>
            <a:r>
              <a:rPr lang="en-US" sz="2400" b="1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endParaRPr lang="en-US" sz="2400" b="1" dirty="0" smtClean="0">
              <a:solidFill>
                <a:schemeClr val="tx1"/>
              </a:solidFill>
              <a:latin typeface="Courier New"/>
              <a:cs typeface="Courier New"/>
            </a:endParaRPr>
          </a:p>
          <a:p>
            <a:pPr marL="362811" lvl="1" indent="0" eaLnBrk="1" hangingPunct="1">
              <a:lnSpc>
                <a:spcPct val="90000"/>
              </a:lnSpc>
              <a:buNone/>
              <a:tabLst>
                <a:tab pos="453978" algn="l"/>
                <a:tab pos="911130" algn="l"/>
                <a:tab pos="1368283" algn="l"/>
                <a:tab pos="1825435" algn="l"/>
                <a:tab pos="2282588" algn="l"/>
                <a:tab pos="2739741" algn="l"/>
                <a:tab pos="3196893" algn="l"/>
                <a:tab pos="3654046" algn="l"/>
                <a:tab pos="4111199" algn="l"/>
                <a:tab pos="4568352" algn="l"/>
                <a:tab pos="5025504" algn="l"/>
                <a:tab pos="5482657" algn="l"/>
                <a:tab pos="5939809" algn="l"/>
                <a:tab pos="6396962" algn="l"/>
                <a:tab pos="6854115" algn="l"/>
                <a:tab pos="7311267" algn="l"/>
                <a:tab pos="7768420" algn="l"/>
                <a:tab pos="8225572" algn="l"/>
                <a:tab pos="8682725" algn="l"/>
                <a:tab pos="9139877" algn="l"/>
              </a:tabLst>
            </a:pPr>
            <a:r>
              <a:rPr lang="en-US" sz="2400" b="1" dirty="0">
                <a:solidFill>
                  <a:schemeClr val="tx1"/>
                </a:solidFill>
                <a:latin typeface="Courier New"/>
                <a:cs typeface="Courier New"/>
              </a:rPr>
              <a:t>}</a:t>
            </a:r>
            <a:r>
              <a:rPr lang="en-US" sz="2400" b="1" dirty="0" smtClean="0">
                <a:latin typeface="Courier New"/>
                <a:cs typeface="Courier New"/>
              </a:rPr>
              <a:t>);</a:t>
            </a:r>
          </a:p>
          <a:p>
            <a:pPr eaLnBrk="1" hangingPunct="1">
              <a:lnSpc>
                <a:spcPct val="90000"/>
              </a:lnSpc>
              <a:tabLst>
                <a:tab pos="453978" algn="l"/>
                <a:tab pos="911130" algn="l"/>
                <a:tab pos="1368283" algn="l"/>
                <a:tab pos="1825435" algn="l"/>
                <a:tab pos="2282588" algn="l"/>
                <a:tab pos="2739741" algn="l"/>
                <a:tab pos="3196893" algn="l"/>
                <a:tab pos="3654046" algn="l"/>
                <a:tab pos="4111199" algn="l"/>
                <a:tab pos="4568352" algn="l"/>
                <a:tab pos="5025504" algn="l"/>
                <a:tab pos="5482657" algn="l"/>
                <a:tab pos="5939809" algn="l"/>
                <a:tab pos="6396962" algn="l"/>
                <a:tab pos="6854115" algn="l"/>
                <a:tab pos="7311267" algn="l"/>
                <a:tab pos="7768420" algn="l"/>
                <a:tab pos="8225572" algn="l"/>
                <a:tab pos="8682725" algn="l"/>
                <a:tab pos="9139877" algn="l"/>
              </a:tabLst>
            </a:pPr>
            <a:endParaRPr lang="en-GB" dirty="0" smtClean="0">
              <a:latin typeface="Lucida Sans Unicode" charset="0"/>
              <a:cs typeface="Lucida Sans Unicode" charset="0"/>
            </a:endParaRPr>
          </a:p>
        </p:txBody>
      </p:sp>
      <p:sp>
        <p:nvSpPr>
          <p:cNvPr id="172035" name="Segnaposto numero diapositiva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153" algn="l"/>
                <a:tab pos="914305" algn="l"/>
                <a:tab pos="1371458" algn="l"/>
                <a:tab pos="1828610" algn="l"/>
                <a:tab pos="2285763" algn="l"/>
                <a:tab pos="2742915" algn="l"/>
                <a:tab pos="3200068" algn="l"/>
                <a:tab pos="3657220" algn="l"/>
                <a:tab pos="4114373" algn="l"/>
                <a:tab pos="4571526" algn="l"/>
                <a:tab pos="5028678" algn="l"/>
                <a:tab pos="5485831" algn="l"/>
                <a:tab pos="5942984" algn="l"/>
                <a:tab pos="6400137" algn="l"/>
                <a:tab pos="6857289" algn="l"/>
                <a:tab pos="7314442" algn="l"/>
                <a:tab pos="7771595" algn="l"/>
                <a:tab pos="8228747" algn="l"/>
                <a:tab pos="8685900" algn="l"/>
                <a:tab pos="9143052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873" indent="-285720" eaLnBrk="0" hangingPunct="0">
              <a:tabLst>
                <a:tab pos="0" algn="l"/>
                <a:tab pos="457153" algn="l"/>
                <a:tab pos="914305" algn="l"/>
                <a:tab pos="1371458" algn="l"/>
                <a:tab pos="1828610" algn="l"/>
                <a:tab pos="2285763" algn="l"/>
                <a:tab pos="2742915" algn="l"/>
                <a:tab pos="3200068" algn="l"/>
                <a:tab pos="3657220" algn="l"/>
                <a:tab pos="4114373" algn="l"/>
                <a:tab pos="4571526" algn="l"/>
                <a:tab pos="5028678" algn="l"/>
                <a:tab pos="5485831" algn="l"/>
                <a:tab pos="5942984" algn="l"/>
                <a:tab pos="6400137" algn="l"/>
                <a:tab pos="6857289" algn="l"/>
                <a:tab pos="7314442" algn="l"/>
                <a:tab pos="7771595" algn="l"/>
                <a:tab pos="8228747" algn="l"/>
                <a:tab pos="8685900" algn="l"/>
                <a:tab pos="9143052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2882" indent="-228577" eaLnBrk="0" hangingPunct="0">
              <a:tabLst>
                <a:tab pos="0" algn="l"/>
                <a:tab pos="457153" algn="l"/>
                <a:tab pos="914305" algn="l"/>
                <a:tab pos="1371458" algn="l"/>
                <a:tab pos="1828610" algn="l"/>
                <a:tab pos="2285763" algn="l"/>
                <a:tab pos="2742915" algn="l"/>
                <a:tab pos="3200068" algn="l"/>
                <a:tab pos="3657220" algn="l"/>
                <a:tab pos="4114373" algn="l"/>
                <a:tab pos="4571526" algn="l"/>
                <a:tab pos="5028678" algn="l"/>
                <a:tab pos="5485831" algn="l"/>
                <a:tab pos="5942984" algn="l"/>
                <a:tab pos="6400137" algn="l"/>
                <a:tab pos="6857289" algn="l"/>
                <a:tab pos="7314442" algn="l"/>
                <a:tab pos="7771595" algn="l"/>
                <a:tab pos="8228747" algn="l"/>
                <a:tab pos="8685900" algn="l"/>
                <a:tab pos="9143052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034" indent="-228577" eaLnBrk="0" hangingPunct="0">
              <a:tabLst>
                <a:tab pos="0" algn="l"/>
                <a:tab pos="457153" algn="l"/>
                <a:tab pos="914305" algn="l"/>
                <a:tab pos="1371458" algn="l"/>
                <a:tab pos="1828610" algn="l"/>
                <a:tab pos="2285763" algn="l"/>
                <a:tab pos="2742915" algn="l"/>
                <a:tab pos="3200068" algn="l"/>
                <a:tab pos="3657220" algn="l"/>
                <a:tab pos="4114373" algn="l"/>
                <a:tab pos="4571526" algn="l"/>
                <a:tab pos="5028678" algn="l"/>
                <a:tab pos="5485831" algn="l"/>
                <a:tab pos="5942984" algn="l"/>
                <a:tab pos="6400137" algn="l"/>
                <a:tab pos="6857289" algn="l"/>
                <a:tab pos="7314442" algn="l"/>
                <a:tab pos="7771595" algn="l"/>
                <a:tab pos="8228747" algn="l"/>
                <a:tab pos="8685900" algn="l"/>
                <a:tab pos="9143052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187" indent="-228577" eaLnBrk="0" hangingPunct="0">
              <a:tabLst>
                <a:tab pos="0" algn="l"/>
                <a:tab pos="457153" algn="l"/>
                <a:tab pos="914305" algn="l"/>
                <a:tab pos="1371458" algn="l"/>
                <a:tab pos="1828610" algn="l"/>
                <a:tab pos="2285763" algn="l"/>
                <a:tab pos="2742915" algn="l"/>
                <a:tab pos="3200068" algn="l"/>
                <a:tab pos="3657220" algn="l"/>
                <a:tab pos="4114373" algn="l"/>
                <a:tab pos="4571526" algn="l"/>
                <a:tab pos="5028678" algn="l"/>
                <a:tab pos="5485831" algn="l"/>
                <a:tab pos="5942984" algn="l"/>
                <a:tab pos="6400137" algn="l"/>
                <a:tab pos="6857289" algn="l"/>
                <a:tab pos="7314442" algn="l"/>
                <a:tab pos="7771595" algn="l"/>
                <a:tab pos="8228747" algn="l"/>
                <a:tab pos="8685900" algn="l"/>
                <a:tab pos="9143052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340" indent="-228577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153" algn="l"/>
                <a:tab pos="914305" algn="l"/>
                <a:tab pos="1371458" algn="l"/>
                <a:tab pos="1828610" algn="l"/>
                <a:tab pos="2285763" algn="l"/>
                <a:tab pos="2742915" algn="l"/>
                <a:tab pos="3200068" algn="l"/>
                <a:tab pos="3657220" algn="l"/>
                <a:tab pos="4114373" algn="l"/>
                <a:tab pos="4571526" algn="l"/>
                <a:tab pos="5028678" algn="l"/>
                <a:tab pos="5485831" algn="l"/>
                <a:tab pos="5942984" algn="l"/>
                <a:tab pos="6400137" algn="l"/>
                <a:tab pos="6857289" algn="l"/>
                <a:tab pos="7314442" algn="l"/>
                <a:tab pos="7771595" algn="l"/>
                <a:tab pos="8228747" algn="l"/>
                <a:tab pos="8685900" algn="l"/>
                <a:tab pos="9143052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492" indent="-228577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153" algn="l"/>
                <a:tab pos="914305" algn="l"/>
                <a:tab pos="1371458" algn="l"/>
                <a:tab pos="1828610" algn="l"/>
                <a:tab pos="2285763" algn="l"/>
                <a:tab pos="2742915" algn="l"/>
                <a:tab pos="3200068" algn="l"/>
                <a:tab pos="3657220" algn="l"/>
                <a:tab pos="4114373" algn="l"/>
                <a:tab pos="4571526" algn="l"/>
                <a:tab pos="5028678" algn="l"/>
                <a:tab pos="5485831" algn="l"/>
                <a:tab pos="5942984" algn="l"/>
                <a:tab pos="6400137" algn="l"/>
                <a:tab pos="6857289" algn="l"/>
                <a:tab pos="7314442" algn="l"/>
                <a:tab pos="7771595" algn="l"/>
                <a:tab pos="8228747" algn="l"/>
                <a:tab pos="8685900" algn="l"/>
                <a:tab pos="9143052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8645" indent="-228577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153" algn="l"/>
                <a:tab pos="914305" algn="l"/>
                <a:tab pos="1371458" algn="l"/>
                <a:tab pos="1828610" algn="l"/>
                <a:tab pos="2285763" algn="l"/>
                <a:tab pos="2742915" algn="l"/>
                <a:tab pos="3200068" algn="l"/>
                <a:tab pos="3657220" algn="l"/>
                <a:tab pos="4114373" algn="l"/>
                <a:tab pos="4571526" algn="l"/>
                <a:tab pos="5028678" algn="l"/>
                <a:tab pos="5485831" algn="l"/>
                <a:tab pos="5942984" algn="l"/>
                <a:tab pos="6400137" algn="l"/>
                <a:tab pos="6857289" algn="l"/>
                <a:tab pos="7314442" algn="l"/>
                <a:tab pos="7771595" algn="l"/>
                <a:tab pos="8228747" algn="l"/>
                <a:tab pos="8685900" algn="l"/>
                <a:tab pos="9143052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5797" indent="-228577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153" algn="l"/>
                <a:tab pos="914305" algn="l"/>
                <a:tab pos="1371458" algn="l"/>
                <a:tab pos="1828610" algn="l"/>
                <a:tab pos="2285763" algn="l"/>
                <a:tab pos="2742915" algn="l"/>
                <a:tab pos="3200068" algn="l"/>
                <a:tab pos="3657220" algn="l"/>
                <a:tab pos="4114373" algn="l"/>
                <a:tab pos="4571526" algn="l"/>
                <a:tab pos="5028678" algn="l"/>
                <a:tab pos="5485831" algn="l"/>
                <a:tab pos="5942984" algn="l"/>
                <a:tab pos="6400137" algn="l"/>
                <a:tab pos="6857289" algn="l"/>
                <a:tab pos="7314442" algn="l"/>
                <a:tab pos="7771595" algn="l"/>
                <a:tab pos="8228747" algn="l"/>
                <a:tab pos="8685900" algn="l"/>
                <a:tab pos="9143052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EC12237E-666C-FC49-AB51-81097C5F4C05}" type="slidenum">
              <a:rPr lang="en-GB" sz="1200">
                <a:solidFill>
                  <a:srgbClr val="000000"/>
                </a:solidFill>
              </a:rPr>
              <a:pPr eaLnBrk="1" hangingPunct="1"/>
              <a:t>55</a:t>
            </a:fld>
            <a:endParaRPr lang="en-GB" sz="12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5153185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Comparator behavior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130190"/>
            <a:ext cx="8568952" cy="4716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9343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Comparator factory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Most comparators take some information out of the objects to be compared</a:t>
            </a:r>
          </a:p>
          <a:p>
            <a:pPr lvl="1"/>
            <a:r>
              <a:rPr lang="en-US" dirty="0" smtClean="0"/>
              <a:t>Typically through a getter</a:t>
            </a:r>
          </a:p>
          <a:p>
            <a:pPr lvl="1"/>
            <a:r>
              <a:rPr lang="en-US" dirty="0" smtClean="0"/>
              <a:t>Such values are primitive or are comparable using the natural order</a:t>
            </a:r>
            <a:r>
              <a:rPr lang="en-US" dirty="0"/>
              <a:t> </a:t>
            </a:r>
            <a:r>
              <a:rPr lang="en-US" dirty="0" smtClean="0"/>
              <a:t>(i.e. implement </a:t>
            </a:r>
            <a:r>
              <a:rPr lang="en-US" dirty="0" smtClean="0">
                <a:latin typeface="Courier New"/>
                <a:cs typeface="Courier New"/>
              </a:rPr>
              <a:t>Comparable</a:t>
            </a:r>
            <a:r>
              <a:rPr lang="en-US" dirty="0" smtClean="0"/>
              <a:t>)</a:t>
            </a:r>
          </a:p>
          <a:p>
            <a:pPr marL="414640" lvl="1" indent="0">
              <a:buNone/>
            </a:pPr>
            <a:r>
              <a:rPr lang="en-US" b="1" dirty="0">
                <a:latin typeface="Courier New"/>
                <a:cs typeface="Courier New"/>
              </a:rPr>
              <a:t>static &lt;T,U extends Comparable&lt;U&gt;&gt; Comparator&lt;T&gt; </a:t>
            </a:r>
            <a:endParaRPr lang="en-US" b="1" dirty="0" smtClean="0">
              <a:latin typeface="Courier New"/>
              <a:cs typeface="Courier New"/>
            </a:endParaRPr>
          </a:p>
          <a:p>
            <a:pPr marL="414640" lvl="1" indent="0">
              <a:buNone/>
            </a:pPr>
            <a:r>
              <a:rPr lang="en-US" b="1" dirty="0" smtClean="0">
                <a:latin typeface="Courier New"/>
                <a:cs typeface="Courier New"/>
              </a:rPr>
              <a:t>  </a:t>
            </a:r>
            <a:r>
              <a:rPr lang="en-US" b="1" dirty="0" smtClean="0">
                <a:solidFill>
                  <a:srgbClr val="FF6600"/>
                </a:solidFill>
                <a:latin typeface="Courier New"/>
                <a:cs typeface="Courier New"/>
              </a:rPr>
              <a:t>comparing</a:t>
            </a:r>
            <a:r>
              <a:rPr lang="en-US" b="1" dirty="0" smtClean="0">
                <a:latin typeface="Courier New"/>
                <a:cs typeface="Courier New"/>
              </a:rPr>
              <a:t>(</a:t>
            </a:r>
            <a:r>
              <a:rPr lang="en-US" b="1" dirty="0">
                <a:latin typeface="Courier New"/>
                <a:cs typeface="Courier New"/>
              </a:rPr>
              <a:t>Function&lt;T,U&gt; </a:t>
            </a:r>
            <a:r>
              <a:rPr lang="en-US" b="1" dirty="0" err="1">
                <a:latin typeface="Courier New"/>
                <a:cs typeface="Courier New"/>
              </a:rPr>
              <a:t>keyGetter</a:t>
            </a:r>
            <a:r>
              <a:rPr lang="en-US" b="1" dirty="0" smtClean="0">
                <a:latin typeface="Courier New"/>
                <a:cs typeface="Courier New"/>
              </a:rPr>
              <a:t>)</a:t>
            </a:r>
            <a:endParaRPr lang="en-US" b="1" dirty="0">
              <a:latin typeface="Courier New"/>
              <a:cs typeface="Courier New"/>
            </a:endParaRPr>
          </a:p>
        </p:txBody>
      </p:sp>
      <p:sp>
        <p:nvSpPr>
          <p:cNvPr id="4" name="Rounded Rectangular Callout 3"/>
          <p:cNvSpPr/>
          <p:nvPr/>
        </p:nvSpPr>
        <p:spPr bwMode="auto">
          <a:xfrm>
            <a:off x="3491880" y="5949280"/>
            <a:ext cx="4320480" cy="576064"/>
          </a:xfrm>
          <a:prstGeom prst="wedgeRoundRectCallout">
            <a:avLst>
              <a:gd name="adj1" fmla="val -64987"/>
              <a:gd name="adj2" fmla="val -97676"/>
              <a:gd name="adj3" fmla="val 16667"/>
            </a:avLst>
          </a:prstGeom>
          <a:solidFill>
            <a:srgbClr val="FDEADA"/>
          </a:solidFill>
          <a:ln w="12600">
            <a:solidFill>
              <a:srgbClr val="E46C0A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rtlCol="0" anchor="ctr"/>
          <a:lstStyle/>
          <a:p>
            <a:pPr marL="400050" lvl="1" indent="0">
              <a:buNone/>
            </a:pPr>
            <a:r>
              <a:rPr lang="en-US" b="1" dirty="0" err="1" smtClean="0">
                <a:solidFill>
                  <a:srgbClr val="000000"/>
                </a:solidFill>
                <a:latin typeface="Courier New"/>
                <a:cs typeface="Courier New"/>
              </a:rPr>
              <a:t>Comparator.comparing</a:t>
            </a:r>
            <a:r>
              <a:rPr lang="en-US" b="1" dirty="0" smtClean="0">
                <a:solidFill>
                  <a:srgbClr val="000000"/>
                </a:solidFill>
                <a:latin typeface="Courier New"/>
                <a:cs typeface="Courier New"/>
              </a:rPr>
              <a:t>()</a:t>
            </a:r>
            <a:endParaRPr lang="en-US" b="1" dirty="0">
              <a:solidFill>
                <a:srgbClr val="000000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4498441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auto">
          <a:xfrm>
            <a:off x="539552" y="1124744"/>
            <a:ext cx="8352928" cy="7200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rtlCol="0" anchor="ctr"/>
          <a:lstStyle/>
          <a:p>
            <a:endParaRPr lang="en-US" b="1" dirty="0">
              <a:solidFill>
                <a:schemeClr val="tx1"/>
              </a:solidFill>
              <a:latin typeface="Courier New"/>
              <a:cs typeface="Courier New"/>
            </a:endParaRPr>
          </a:p>
        </p:txBody>
      </p:sp>
      <p:sp>
        <p:nvSpPr>
          <p:cNvPr id="172033" name="Rectangle 1"/>
          <p:cNvSpPr>
            <a:spLocks noGrp="1" noChangeArrowheads="1"/>
          </p:cNvSpPr>
          <p:nvPr>
            <p:ph type="title"/>
          </p:nvPr>
        </p:nvSpPr>
        <p:spPr>
          <a:xfrm>
            <a:off x="228601" y="256170"/>
            <a:ext cx="8605838" cy="703685"/>
          </a:xfrm>
        </p:spPr>
        <p:txBody>
          <a:bodyPr lIns="90351" tIns="44276" rIns="90351" bIns="44276"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153" algn="l"/>
                <a:tab pos="914305" algn="l"/>
                <a:tab pos="1371458" algn="l"/>
                <a:tab pos="1828610" algn="l"/>
                <a:tab pos="2285763" algn="l"/>
                <a:tab pos="2742915" algn="l"/>
                <a:tab pos="3200068" algn="l"/>
                <a:tab pos="3657220" algn="l"/>
                <a:tab pos="4114373" algn="l"/>
                <a:tab pos="4571526" algn="l"/>
                <a:tab pos="5028678" algn="l"/>
                <a:tab pos="5485831" algn="l"/>
                <a:tab pos="5942984" algn="l"/>
                <a:tab pos="6400137" algn="l"/>
                <a:tab pos="6857289" algn="l"/>
                <a:tab pos="7314442" algn="l"/>
                <a:tab pos="7771595" algn="l"/>
                <a:tab pos="8228747" algn="l"/>
                <a:tab pos="8685900" algn="l"/>
                <a:tab pos="9143052" algn="l"/>
              </a:tabLst>
            </a:pPr>
            <a:r>
              <a:rPr lang="en-GB" b="1" dirty="0" err="1" smtClean="0">
                <a:latin typeface="Courier New"/>
                <a:cs typeface="Courier New"/>
              </a:rPr>
              <a:t>Comparator.comparing</a:t>
            </a:r>
            <a:endParaRPr lang="en-GB" b="1" dirty="0">
              <a:latin typeface="Courier New"/>
              <a:cs typeface="Courier New"/>
            </a:endParaRPr>
          </a:p>
        </p:txBody>
      </p:sp>
      <p:sp>
        <p:nvSpPr>
          <p:cNvPr id="172034" name="Rectangle 2"/>
          <p:cNvSpPr>
            <a:spLocks noGrp="1" noChangeArrowheads="1"/>
          </p:cNvSpPr>
          <p:nvPr>
            <p:ph idx="1"/>
          </p:nvPr>
        </p:nvSpPr>
        <p:spPr/>
        <p:txBody>
          <a:bodyPr lIns="90351" tIns="44276" rIns="90351" bIns="44276"/>
          <a:lstStyle/>
          <a:p>
            <a:pPr marL="362811" lvl="1" indent="0" eaLnBrk="1" hangingPunct="1">
              <a:lnSpc>
                <a:spcPct val="90000"/>
              </a:lnSpc>
              <a:buNone/>
              <a:tabLst>
                <a:tab pos="453978" algn="l"/>
                <a:tab pos="911130" algn="l"/>
                <a:tab pos="1368283" algn="l"/>
                <a:tab pos="1825435" algn="l"/>
                <a:tab pos="2282588" algn="l"/>
                <a:tab pos="2739741" algn="l"/>
                <a:tab pos="3196893" algn="l"/>
                <a:tab pos="3654046" algn="l"/>
                <a:tab pos="4111199" algn="l"/>
                <a:tab pos="4568352" algn="l"/>
                <a:tab pos="5025504" algn="l"/>
                <a:tab pos="5482657" algn="l"/>
                <a:tab pos="5939809" algn="l"/>
                <a:tab pos="6396962" algn="l"/>
                <a:tab pos="6854115" algn="l"/>
                <a:tab pos="7311267" algn="l"/>
                <a:tab pos="7768420" algn="l"/>
                <a:tab pos="8225572" algn="l"/>
                <a:tab pos="8682725" algn="l"/>
                <a:tab pos="9139877" algn="l"/>
              </a:tabLst>
            </a:pPr>
            <a:r>
              <a:rPr lang="en-US" sz="2400" b="1" dirty="0" err="1" smtClean="0">
                <a:latin typeface="Courier New"/>
                <a:cs typeface="Courier New"/>
              </a:rPr>
              <a:t>Arrays.sort</a:t>
            </a:r>
            <a:r>
              <a:rPr lang="en-US" sz="2400" b="1" dirty="0" smtClean="0">
                <a:latin typeface="Courier New"/>
                <a:cs typeface="Courier New"/>
              </a:rPr>
              <a:t>(</a:t>
            </a:r>
            <a:r>
              <a:rPr lang="en-US" sz="2400" b="1" dirty="0" err="1" smtClean="0">
                <a:latin typeface="Courier New"/>
                <a:cs typeface="Courier New"/>
              </a:rPr>
              <a:t>sv,</a:t>
            </a:r>
            <a:r>
              <a:rPr lang="en-US" sz="2400" b="1" dirty="0" err="1" smtClean="0">
                <a:solidFill>
                  <a:srgbClr val="FF6600"/>
                </a:solidFill>
                <a:latin typeface="Courier New"/>
                <a:cs typeface="Courier New"/>
              </a:rPr>
              <a:t>comparing</a:t>
            </a:r>
            <a:r>
              <a:rPr lang="en-US" sz="2400" b="1" dirty="0" smtClean="0">
                <a:latin typeface="Courier New"/>
                <a:cs typeface="Courier New"/>
              </a:rPr>
              <a:t>(Student::</a:t>
            </a:r>
            <a:r>
              <a:rPr lang="en-US" sz="2400" b="1" dirty="0" err="1" smtClean="0">
                <a:latin typeface="Courier New"/>
                <a:cs typeface="Courier New"/>
              </a:rPr>
              <a:t>getId</a:t>
            </a:r>
            <a:r>
              <a:rPr lang="en-US" sz="2400" b="1" dirty="0" smtClean="0">
                <a:latin typeface="Courier New"/>
                <a:cs typeface="Courier New"/>
              </a:rPr>
              <a:t>))</a:t>
            </a:r>
            <a:r>
              <a:rPr lang="en-US" sz="2200" b="1" dirty="0" smtClean="0">
                <a:latin typeface="Courier New"/>
                <a:cs typeface="Courier New"/>
              </a:rPr>
              <a:t>;</a:t>
            </a:r>
          </a:p>
          <a:p>
            <a:pPr marL="362811" lvl="1" indent="0" eaLnBrk="1" hangingPunct="1">
              <a:lnSpc>
                <a:spcPct val="90000"/>
              </a:lnSpc>
              <a:buNone/>
              <a:tabLst>
                <a:tab pos="453978" algn="l"/>
                <a:tab pos="911130" algn="l"/>
                <a:tab pos="1368283" algn="l"/>
                <a:tab pos="1825435" algn="l"/>
                <a:tab pos="2282588" algn="l"/>
                <a:tab pos="2739741" algn="l"/>
                <a:tab pos="3196893" algn="l"/>
                <a:tab pos="3654046" algn="l"/>
                <a:tab pos="4111199" algn="l"/>
                <a:tab pos="4568352" algn="l"/>
                <a:tab pos="5025504" algn="l"/>
                <a:tab pos="5482657" algn="l"/>
                <a:tab pos="5939809" algn="l"/>
                <a:tab pos="6396962" algn="l"/>
                <a:tab pos="6854115" algn="l"/>
                <a:tab pos="7311267" algn="l"/>
                <a:tab pos="7768420" algn="l"/>
                <a:tab pos="8225572" algn="l"/>
                <a:tab pos="8682725" algn="l"/>
                <a:tab pos="9139877" algn="l"/>
              </a:tabLst>
            </a:pPr>
            <a:endParaRPr lang="en-US" sz="2400" b="1" dirty="0" smtClean="0">
              <a:latin typeface="Courier New"/>
              <a:cs typeface="Courier New"/>
            </a:endParaRPr>
          </a:p>
          <a:p>
            <a:pPr eaLnBrk="1" hangingPunct="1">
              <a:lnSpc>
                <a:spcPct val="90000"/>
              </a:lnSpc>
              <a:tabLst>
                <a:tab pos="453978" algn="l"/>
                <a:tab pos="911130" algn="l"/>
                <a:tab pos="1368283" algn="l"/>
                <a:tab pos="1825435" algn="l"/>
                <a:tab pos="2282588" algn="l"/>
                <a:tab pos="2739741" algn="l"/>
                <a:tab pos="3196893" algn="l"/>
                <a:tab pos="3654046" algn="l"/>
                <a:tab pos="4111199" algn="l"/>
                <a:tab pos="4568352" algn="l"/>
                <a:tab pos="5025504" algn="l"/>
                <a:tab pos="5482657" algn="l"/>
                <a:tab pos="5939809" algn="l"/>
                <a:tab pos="6396962" algn="l"/>
                <a:tab pos="6854115" algn="l"/>
                <a:tab pos="7311267" algn="l"/>
                <a:tab pos="7768420" algn="l"/>
                <a:tab pos="8225572" algn="l"/>
                <a:tab pos="8682725" algn="l"/>
                <a:tab pos="9139877" algn="l"/>
              </a:tabLst>
            </a:pPr>
            <a:endParaRPr lang="en-GB" dirty="0" smtClean="0">
              <a:latin typeface="Lucida Sans Unicode" charset="0"/>
              <a:cs typeface="Lucida Sans Unicode" charset="0"/>
            </a:endParaRPr>
          </a:p>
        </p:txBody>
      </p:sp>
      <p:sp>
        <p:nvSpPr>
          <p:cNvPr id="172035" name="Segnaposto numero diapositiva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153" algn="l"/>
                <a:tab pos="914305" algn="l"/>
                <a:tab pos="1371458" algn="l"/>
                <a:tab pos="1828610" algn="l"/>
                <a:tab pos="2285763" algn="l"/>
                <a:tab pos="2742915" algn="l"/>
                <a:tab pos="3200068" algn="l"/>
                <a:tab pos="3657220" algn="l"/>
                <a:tab pos="4114373" algn="l"/>
                <a:tab pos="4571526" algn="l"/>
                <a:tab pos="5028678" algn="l"/>
                <a:tab pos="5485831" algn="l"/>
                <a:tab pos="5942984" algn="l"/>
                <a:tab pos="6400137" algn="l"/>
                <a:tab pos="6857289" algn="l"/>
                <a:tab pos="7314442" algn="l"/>
                <a:tab pos="7771595" algn="l"/>
                <a:tab pos="8228747" algn="l"/>
                <a:tab pos="8685900" algn="l"/>
                <a:tab pos="9143052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873" indent="-285720" eaLnBrk="0" hangingPunct="0">
              <a:tabLst>
                <a:tab pos="0" algn="l"/>
                <a:tab pos="457153" algn="l"/>
                <a:tab pos="914305" algn="l"/>
                <a:tab pos="1371458" algn="l"/>
                <a:tab pos="1828610" algn="l"/>
                <a:tab pos="2285763" algn="l"/>
                <a:tab pos="2742915" algn="l"/>
                <a:tab pos="3200068" algn="l"/>
                <a:tab pos="3657220" algn="l"/>
                <a:tab pos="4114373" algn="l"/>
                <a:tab pos="4571526" algn="l"/>
                <a:tab pos="5028678" algn="l"/>
                <a:tab pos="5485831" algn="l"/>
                <a:tab pos="5942984" algn="l"/>
                <a:tab pos="6400137" algn="l"/>
                <a:tab pos="6857289" algn="l"/>
                <a:tab pos="7314442" algn="l"/>
                <a:tab pos="7771595" algn="l"/>
                <a:tab pos="8228747" algn="l"/>
                <a:tab pos="8685900" algn="l"/>
                <a:tab pos="9143052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2882" indent="-228577" eaLnBrk="0" hangingPunct="0">
              <a:tabLst>
                <a:tab pos="0" algn="l"/>
                <a:tab pos="457153" algn="l"/>
                <a:tab pos="914305" algn="l"/>
                <a:tab pos="1371458" algn="l"/>
                <a:tab pos="1828610" algn="l"/>
                <a:tab pos="2285763" algn="l"/>
                <a:tab pos="2742915" algn="l"/>
                <a:tab pos="3200068" algn="l"/>
                <a:tab pos="3657220" algn="l"/>
                <a:tab pos="4114373" algn="l"/>
                <a:tab pos="4571526" algn="l"/>
                <a:tab pos="5028678" algn="l"/>
                <a:tab pos="5485831" algn="l"/>
                <a:tab pos="5942984" algn="l"/>
                <a:tab pos="6400137" algn="l"/>
                <a:tab pos="6857289" algn="l"/>
                <a:tab pos="7314442" algn="l"/>
                <a:tab pos="7771595" algn="l"/>
                <a:tab pos="8228747" algn="l"/>
                <a:tab pos="8685900" algn="l"/>
                <a:tab pos="9143052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034" indent="-228577" eaLnBrk="0" hangingPunct="0">
              <a:tabLst>
                <a:tab pos="0" algn="l"/>
                <a:tab pos="457153" algn="l"/>
                <a:tab pos="914305" algn="l"/>
                <a:tab pos="1371458" algn="l"/>
                <a:tab pos="1828610" algn="l"/>
                <a:tab pos="2285763" algn="l"/>
                <a:tab pos="2742915" algn="l"/>
                <a:tab pos="3200068" algn="l"/>
                <a:tab pos="3657220" algn="l"/>
                <a:tab pos="4114373" algn="l"/>
                <a:tab pos="4571526" algn="l"/>
                <a:tab pos="5028678" algn="l"/>
                <a:tab pos="5485831" algn="l"/>
                <a:tab pos="5942984" algn="l"/>
                <a:tab pos="6400137" algn="l"/>
                <a:tab pos="6857289" algn="l"/>
                <a:tab pos="7314442" algn="l"/>
                <a:tab pos="7771595" algn="l"/>
                <a:tab pos="8228747" algn="l"/>
                <a:tab pos="8685900" algn="l"/>
                <a:tab pos="9143052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187" indent="-228577" eaLnBrk="0" hangingPunct="0">
              <a:tabLst>
                <a:tab pos="0" algn="l"/>
                <a:tab pos="457153" algn="l"/>
                <a:tab pos="914305" algn="l"/>
                <a:tab pos="1371458" algn="l"/>
                <a:tab pos="1828610" algn="l"/>
                <a:tab pos="2285763" algn="l"/>
                <a:tab pos="2742915" algn="l"/>
                <a:tab pos="3200068" algn="l"/>
                <a:tab pos="3657220" algn="l"/>
                <a:tab pos="4114373" algn="l"/>
                <a:tab pos="4571526" algn="l"/>
                <a:tab pos="5028678" algn="l"/>
                <a:tab pos="5485831" algn="l"/>
                <a:tab pos="5942984" algn="l"/>
                <a:tab pos="6400137" algn="l"/>
                <a:tab pos="6857289" algn="l"/>
                <a:tab pos="7314442" algn="l"/>
                <a:tab pos="7771595" algn="l"/>
                <a:tab pos="8228747" algn="l"/>
                <a:tab pos="8685900" algn="l"/>
                <a:tab pos="9143052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340" indent="-228577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153" algn="l"/>
                <a:tab pos="914305" algn="l"/>
                <a:tab pos="1371458" algn="l"/>
                <a:tab pos="1828610" algn="l"/>
                <a:tab pos="2285763" algn="l"/>
                <a:tab pos="2742915" algn="l"/>
                <a:tab pos="3200068" algn="l"/>
                <a:tab pos="3657220" algn="l"/>
                <a:tab pos="4114373" algn="l"/>
                <a:tab pos="4571526" algn="l"/>
                <a:tab pos="5028678" algn="l"/>
                <a:tab pos="5485831" algn="l"/>
                <a:tab pos="5942984" algn="l"/>
                <a:tab pos="6400137" algn="l"/>
                <a:tab pos="6857289" algn="l"/>
                <a:tab pos="7314442" algn="l"/>
                <a:tab pos="7771595" algn="l"/>
                <a:tab pos="8228747" algn="l"/>
                <a:tab pos="8685900" algn="l"/>
                <a:tab pos="9143052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492" indent="-228577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153" algn="l"/>
                <a:tab pos="914305" algn="l"/>
                <a:tab pos="1371458" algn="l"/>
                <a:tab pos="1828610" algn="l"/>
                <a:tab pos="2285763" algn="l"/>
                <a:tab pos="2742915" algn="l"/>
                <a:tab pos="3200068" algn="l"/>
                <a:tab pos="3657220" algn="l"/>
                <a:tab pos="4114373" algn="l"/>
                <a:tab pos="4571526" algn="l"/>
                <a:tab pos="5028678" algn="l"/>
                <a:tab pos="5485831" algn="l"/>
                <a:tab pos="5942984" algn="l"/>
                <a:tab pos="6400137" algn="l"/>
                <a:tab pos="6857289" algn="l"/>
                <a:tab pos="7314442" algn="l"/>
                <a:tab pos="7771595" algn="l"/>
                <a:tab pos="8228747" algn="l"/>
                <a:tab pos="8685900" algn="l"/>
                <a:tab pos="9143052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8645" indent="-228577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153" algn="l"/>
                <a:tab pos="914305" algn="l"/>
                <a:tab pos="1371458" algn="l"/>
                <a:tab pos="1828610" algn="l"/>
                <a:tab pos="2285763" algn="l"/>
                <a:tab pos="2742915" algn="l"/>
                <a:tab pos="3200068" algn="l"/>
                <a:tab pos="3657220" algn="l"/>
                <a:tab pos="4114373" algn="l"/>
                <a:tab pos="4571526" algn="l"/>
                <a:tab pos="5028678" algn="l"/>
                <a:tab pos="5485831" algn="l"/>
                <a:tab pos="5942984" algn="l"/>
                <a:tab pos="6400137" algn="l"/>
                <a:tab pos="6857289" algn="l"/>
                <a:tab pos="7314442" algn="l"/>
                <a:tab pos="7771595" algn="l"/>
                <a:tab pos="8228747" algn="l"/>
                <a:tab pos="8685900" algn="l"/>
                <a:tab pos="9143052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5797" indent="-228577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153" algn="l"/>
                <a:tab pos="914305" algn="l"/>
                <a:tab pos="1371458" algn="l"/>
                <a:tab pos="1828610" algn="l"/>
                <a:tab pos="2285763" algn="l"/>
                <a:tab pos="2742915" algn="l"/>
                <a:tab pos="3200068" algn="l"/>
                <a:tab pos="3657220" algn="l"/>
                <a:tab pos="4114373" algn="l"/>
                <a:tab pos="4571526" algn="l"/>
                <a:tab pos="5028678" algn="l"/>
                <a:tab pos="5485831" algn="l"/>
                <a:tab pos="5942984" algn="l"/>
                <a:tab pos="6400137" algn="l"/>
                <a:tab pos="6857289" algn="l"/>
                <a:tab pos="7314442" algn="l"/>
                <a:tab pos="7771595" algn="l"/>
                <a:tab pos="8228747" algn="l"/>
                <a:tab pos="8685900" algn="l"/>
                <a:tab pos="9143052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EC12237E-666C-FC49-AB51-81097C5F4C05}" type="slidenum">
              <a:rPr lang="en-GB" sz="1200">
                <a:solidFill>
                  <a:srgbClr val="000000"/>
                </a:solidFill>
              </a:rPr>
              <a:pPr eaLnBrk="1" hangingPunct="1"/>
              <a:t>58</a:t>
            </a:fld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8" name="Rounded Rectangular Callout 7"/>
          <p:cNvSpPr/>
          <p:nvPr/>
        </p:nvSpPr>
        <p:spPr bwMode="auto">
          <a:xfrm>
            <a:off x="539552" y="2348880"/>
            <a:ext cx="6840760" cy="864096"/>
          </a:xfrm>
          <a:prstGeom prst="wedgeRoundRectCallout">
            <a:avLst>
              <a:gd name="adj1" fmla="val -195"/>
              <a:gd name="adj2" fmla="val -123815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12600">
            <a:solidFill>
              <a:schemeClr val="accent4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rtlCol="0" anchor="ctr"/>
          <a:lstStyle/>
          <a:p>
            <a:pPr indent="-13151"/>
            <a:r>
              <a:rPr lang="en-US" b="1" dirty="0" smtClean="0">
                <a:solidFill>
                  <a:srgbClr val="000000"/>
                </a:solidFill>
                <a:latin typeface="+mn-lt"/>
                <a:cs typeface="Courier New"/>
              </a:rPr>
              <a:t>Requires:</a:t>
            </a:r>
          </a:p>
          <a:p>
            <a:pPr indent="-13151"/>
            <a:r>
              <a:rPr lang="en-US" b="1" dirty="0">
                <a:solidFill>
                  <a:srgbClr val="000000"/>
                </a:solidFill>
                <a:latin typeface="Courier New"/>
                <a:cs typeface="Courier New"/>
              </a:rPr>
              <a:t>i</a:t>
            </a:r>
            <a:r>
              <a:rPr lang="en-US" b="1" dirty="0" smtClean="0">
                <a:solidFill>
                  <a:srgbClr val="000000"/>
                </a:solidFill>
                <a:latin typeface="Courier New"/>
                <a:cs typeface="Courier New"/>
              </a:rPr>
              <a:t>mport static </a:t>
            </a:r>
            <a:r>
              <a:rPr lang="en-US" b="1" dirty="0" err="1" smtClean="0">
                <a:solidFill>
                  <a:srgbClr val="000000"/>
                </a:solidFill>
                <a:latin typeface="Courier New"/>
                <a:cs typeface="Courier New"/>
              </a:rPr>
              <a:t>java.util.Comparator</a:t>
            </a:r>
            <a:r>
              <a:rPr lang="en-US" b="1" dirty="0" smtClean="0">
                <a:solidFill>
                  <a:srgbClr val="000000"/>
                </a:solidFill>
                <a:latin typeface="Courier New"/>
                <a:cs typeface="Courier New"/>
              </a:rPr>
              <a:t>.*</a:t>
            </a:r>
            <a:endParaRPr lang="en-US" b="1" dirty="0">
              <a:solidFill>
                <a:srgbClr val="000000"/>
              </a:solidFill>
              <a:latin typeface="Courier New"/>
              <a:cs typeface="Courier New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467544" y="3717032"/>
            <a:ext cx="8352928" cy="27363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rtlCol="0" anchor="ctr"/>
          <a:lstStyle/>
          <a:p>
            <a:pPr marL="1439"/>
            <a:r>
              <a:rPr lang="en-US" sz="2400" b="1" dirty="0" smtClean="0">
                <a:solidFill>
                  <a:srgbClr val="000000"/>
                </a:solidFill>
                <a:latin typeface="Courier New"/>
                <a:cs typeface="Courier New"/>
              </a:rPr>
              <a:t>static &lt;T,U extends Comparable&lt;? </a:t>
            </a:r>
            <a:r>
              <a:rPr lang="en-US" sz="2400" b="1" dirty="0">
                <a:solidFill>
                  <a:srgbClr val="000000"/>
                </a:solidFill>
                <a:latin typeface="Courier New"/>
                <a:cs typeface="Courier New"/>
              </a:rPr>
              <a:t>s</a:t>
            </a:r>
            <a:r>
              <a:rPr lang="en-US" sz="2400" b="1" dirty="0" smtClean="0">
                <a:solidFill>
                  <a:srgbClr val="000000"/>
                </a:solidFill>
                <a:latin typeface="Courier New"/>
                <a:cs typeface="Courier New"/>
              </a:rPr>
              <a:t>uper U&gt;&gt; Comparator&lt;T&gt; </a:t>
            </a:r>
          </a:p>
          <a:p>
            <a:pPr marL="1439"/>
            <a:r>
              <a:rPr lang="en-US" sz="2400" b="1" dirty="0" smtClean="0">
                <a:solidFill>
                  <a:srgbClr val="000000"/>
                </a:solidFill>
                <a:latin typeface="Courier New"/>
                <a:cs typeface="Courier New"/>
              </a:rPr>
              <a:t>  </a:t>
            </a:r>
            <a:r>
              <a:rPr lang="en-US" sz="2400" b="1" dirty="0" smtClean="0">
                <a:solidFill>
                  <a:srgbClr val="FF6600"/>
                </a:solidFill>
                <a:latin typeface="Courier New"/>
                <a:cs typeface="Courier New"/>
              </a:rPr>
              <a:t>comparing</a:t>
            </a:r>
            <a:r>
              <a:rPr lang="en-US" sz="2400" b="1" dirty="0" smtClean="0">
                <a:solidFill>
                  <a:srgbClr val="000000"/>
                </a:solidFill>
                <a:latin typeface="Courier New"/>
                <a:cs typeface="Courier New"/>
              </a:rPr>
              <a:t>(Function&lt;T,U&gt; </a:t>
            </a:r>
            <a:r>
              <a:rPr lang="en-US" sz="2400" b="1" dirty="0" err="1" smtClean="0">
                <a:solidFill>
                  <a:srgbClr val="000000"/>
                </a:solidFill>
                <a:latin typeface="Courier New"/>
                <a:cs typeface="Courier New"/>
              </a:rPr>
              <a:t>keyGetter</a:t>
            </a:r>
            <a:r>
              <a:rPr lang="en-US" sz="2400" b="1" dirty="0" smtClean="0">
                <a:solidFill>
                  <a:srgbClr val="000000"/>
                </a:solidFill>
                <a:latin typeface="Courier New"/>
                <a:cs typeface="Courier New"/>
              </a:rPr>
              <a:t>){</a:t>
            </a:r>
          </a:p>
          <a:p>
            <a:pPr marL="1439"/>
            <a:r>
              <a:rPr lang="en-US" sz="2400" b="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2400" b="1" dirty="0" smtClean="0">
                <a:solidFill>
                  <a:srgbClr val="000000"/>
                </a:solidFill>
                <a:latin typeface="Courier New"/>
                <a:cs typeface="Courier New"/>
              </a:rPr>
              <a:t> return (</a:t>
            </a:r>
            <a:r>
              <a:rPr lang="en-US" sz="2400" b="1" dirty="0" err="1" smtClean="0">
                <a:solidFill>
                  <a:srgbClr val="000000"/>
                </a:solidFill>
                <a:latin typeface="Courier New"/>
                <a:cs typeface="Courier New"/>
              </a:rPr>
              <a:t>a,b</a:t>
            </a:r>
            <a:r>
              <a:rPr lang="en-US" sz="2400" b="1" dirty="0" smtClean="0">
                <a:solidFill>
                  <a:srgbClr val="000000"/>
                </a:solidFill>
                <a:latin typeface="Courier New"/>
                <a:cs typeface="Courier New"/>
              </a:rPr>
              <a:t>) -&gt; </a:t>
            </a:r>
            <a:r>
              <a:rPr lang="en-US" sz="2400" b="1" dirty="0" err="1" smtClean="0">
                <a:solidFill>
                  <a:srgbClr val="000000"/>
                </a:solidFill>
                <a:latin typeface="Courier New"/>
                <a:cs typeface="Courier New"/>
              </a:rPr>
              <a:t>keyGetter.apply</a:t>
            </a:r>
            <a:r>
              <a:rPr lang="en-US" sz="2400" b="1" dirty="0" smtClean="0">
                <a:solidFill>
                  <a:srgbClr val="000000"/>
                </a:solidFill>
                <a:latin typeface="Courier New"/>
                <a:cs typeface="Courier New"/>
              </a:rPr>
              <a:t>(a).</a:t>
            </a:r>
          </a:p>
          <a:p>
            <a:pPr marL="1439"/>
            <a:r>
              <a:rPr lang="en-US" sz="2400" b="1" dirty="0">
                <a:solidFill>
                  <a:srgbClr val="000000"/>
                </a:solidFill>
                <a:latin typeface="Courier New"/>
                <a:cs typeface="Courier New"/>
              </a:rPr>
              <a:t>	</a:t>
            </a:r>
            <a:r>
              <a:rPr lang="en-US" sz="2400" b="1" dirty="0" smtClean="0">
                <a:solidFill>
                  <a:srgbClr val="000000"/>
                </a:solidFill>
                <a:latin typeface="Courier New"/>
                <a:cs typeface="Courier New"/>
              </a:rPr>
              <a:t>					</a:t>
            </a:r>
            <a:r>
              <a:rPr lang="en-US" sz="2400" b="1" dirty="0" err="1" smtClean="0">
                <a:solidFill>
                  <a:srgbClr val="000000"/>
                </a:solidFill>
                <a:latin typeface="Courier New"/>
                <a:cs typeface="Courier New"/>
              </a:rPr>
              <a:t>compareTo</a:t>
            </a:r>
            <a:r>
              <a:rPr lang="en-US" sz="2400" b="1" dirty="0" smtClean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2400" b="1" dirty="0" err="1" smtClean="0">
                <a:solidFill>
                  <a:srgbClr val="000000"/>
                </a:solidFill>
                <a:latin typeface="Courier New"/>
                <a:cs typeface="Courier New"/>
              </a:rPr>
              <a:t>keyGetter.apply</a:t>
            </a:r>
            <a:r>
              <a:rPr lang="en-US" sz="2400" b="1" dirty="0" smtClean="0">
                <a:solidFill>
                  <a:srgbClr val="000000"/>
                </a:solidFill>
                <a:latin typeface="Courier New"/>
                <a:cs typeface="Courier New"/>
              </a:rPr>
              <a:t>(b));</a:t>
            </a:r>
          </a:p>
          <a:p>
            <a:pPr marL="1439"/>
            <a:r>
              <a:rPr lang="en-US" sz="2400" b="1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53430033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Comparator factory behavior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940339"/>
            <a:ext cx="8964488" cy="5672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1216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auto">
          <a:xfrm>
            <a:off x="323528" y="5517232"/>
            <a:ext cx="8352928" cy="432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rtlCol="0" anchor="t"/>
          <a:lstStyle/>
          <a:p>
            <a:pPr indent="-50390">
              <a:lnSpc>
                <a:spcPct val="90000"/>
              </a:lnSpc>
              <a:tabLst>
                <a:tab pos="453978" algn="l"/>
                <a:tab pos="911130" algn="l"/>
                <a:tab pos="1368283" algn="l"/>
                <a:tab pos="1825435" algn="l"/>
                <a:tab pos="2282588" algn="l"/>
                <a:tab pos="2739741" algn="l"/>
                <a:tab pos="3196893" algn="l"/>
                <a:tab pos="3654046" algn="l"/>
                <a:tab pos="4111199" algn="l"/>
                <a:tab pos="4568352" algn="l"/>
                <a:tab pos="5025504" algn="l"/>
                <a:tab pos="5482657" algn="l"/>
                <a:tab pos="5939809" algn="l"/>
                <a:tab pos="6396962" algn="l"/>
                <a:tab pos="6854115" algn="l"/>
                <a:tab pos="7311267" algn="l"/>
                <a:tab pos="7768420" algn="l"/>
                <a:tab pos="8225572" algn="l"/>
                <a:tab pos="8682725" algn="l"/>
                <a:tab pos="9139877" algn="l"/>
              </a:tabLst>
            </a:pPr>
            <a:r>
              <a:rPr lang="en-US" sz="2400" b="1" dirty="0" err="1">
                <a:solidFill>
                  <a:srgbClr val="000000"/>
                </a:solidFill>
                <a:latin typeface="Courier New"/>
                <a:cs typeface="Courier New"/>
              </a:rPr>
              <a:t>Arrays.sort</a:t>
            </a:r>
            <a:r>
              <a:rPr lang="en-US" sz="2400" b="1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2400" b="1" dirty="0" err="1">
                <a:solidFill>
                  <a:srgbClr val="000000"/>
                </a:solidFill>
                <a:latin typeface="Courier New"/>
                <a:cs typeface="Courier New"/>
              </a:rPr>
              <a:t>sv,comparing</a:t>
            </a:r>
            <a:r>
              <a:rPr lang="en-US" sz="2400" b="1" dirty="0">
                <a:solidFill>
                  <a:srgbClr val="000000"/>
                </a:solidFill>
                <a:latin typeface="Courier New"/>
                <a:cs typeface="Courier New"/>
              </a:rPr>
              <a:t>(Student::</a:t>
            </a:r>
            <a:r>
              <a:rPr lang="en-US" sz="2400" b="1" dirty="0" err="1">
                <a:solidFill>
                  <a:srgbClr val="000000"/>
                </a:solidFill>
                <a:latin typeface="Courier New"/>
                <a:cs typeface="Courier New"/>
              </a:rPr>
              <a:t>getId</a:t>
            </a:r>
            <a:r>
              <a:rPr lang="en-US" sz="2400" b="1" dirty="0">
                <a:solidFill>
                  <a:srgbClr val="000000"/>
                </a:solidFill>
                <a:latin typeface="Courier New"/>
                <a:cs typeface="Courier New"/>
              </a:rPr>
              <a:t>));</a:t>
            </a:r>
          </a:p>
        </p:txBody>
      </p:sp>
      <p:sp>
        <p:nvSpPr>
          <p:cNvPr id="172033" name="Rectangle 1"/>
          <p:cNvSpPr>
            <a:spLocks noGrp="1" noChangeArrowheads="1"/>
          </p:cNvSpPr>
          <p:nvPr>
            <p:ph type="title"/>
          </p:nvPr>
        </p:nvSpPr>
        <p:spPr>
          <a:xfrm>
            <a:off x="227520" y="204135"/>
            <a:ext cx="8593920" cy="704970"/>
          </a:xfrm>
        </p:spPr>
        <p:txBody>
          <a:bodyPr lIns="90351" tIns="44276" rIns="90351" bIns="44276"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153" algn="l"/>
                <a:tab pos="914305" algn="l"/>
                <a:tab pos="1371458" algn="l"/>
                <a:tab pos="1828610" algn="l"/>
                <a:tab pos="2285763" algn="l"/>
                <a:tab pos="2742915" algn="l"/>
                <a:tab pos="3200068" algn="l"/>
                <a:tab pos="3657220" algn="l"/>
                <a:tab pos="4114373" algn="l"/>
                <a:tab pos="4571526" algn="l"/>
                <a:tab pos="5028678" algn="l"/>
                <a:tab pos="5485831" algn="l"/>
                <a:tab pos="5942984" algn="l"/>
                <a:tab pos="6400137" algn="l"/>
                <a:tab pos="6857289" algn="l"/>
                <a:tab pos="7314442" algn="l"/>
                <a:tab pos="7771595" algn="l"/>
                <a:tab pos="8228747" algn="l"/>
                <a:tab pos="8685900" algn="l"/>
                <a:tab pos="9143052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Comparator historical perspective</a:t>
            </a:r>
            <a:endParaRPr lang="en-GB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172035" name="Segnaposto numero diapositiva 5"/>
          <p:cNvSpPr>
            <a:spLocks noGrp="1"/>
          </p:cNvSpPr>
          <p:nvPr>
            <p:ph type="sldNum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153" algn="l"/>
                <a:tab pos="914305" algn="l"/>
                <a:tab pos="1371458" algn="l"/>
                <a:tab pos="1828610" algn="l"/>
                <a:tab pos="2285763" algn="l"/>
                <a:tab pos="2742915" algn="l"/>
                <a:tab pos="3200068" algn="l"/>
                <a:tab pos="3657220" algn="l"/>
                <a:tab pos="4114373" algn="l"/>
                <a:tab pos="4571526" algn="l"/>
                <a:tab pos="5028678" algn="l"/>
                <a:tab pos="5485831" algn="l"/>
                <a:tab pos="5942984" algn="l"/>
                <a:tab pos="6400137" algn="l"/>
                <a:tab pos="6857289" algn="l"/>
                <a:tab pos="7314442" algn="l"/>
                <a:tab pos="7771595" algn="l"/>
                <a:tab pos="8228747" algn="l"/>
                <a:tab pos="8685900" algn="l"/>
                <a:tab pos="9143052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873" indent="-285720" eaLnBrk="0" hangingPunct="0">
              <a:tabLst>
                <a:tab pos="0" algn="l"/>
                <a:tab pos="457153" algn="l"/>
                <a:tab pos="914305" algn="l"/>
                <a:tab pos="1371458" algn="l"/>
                <a:tab pos="1828610" algn="l"/>
                <a:tab pos="2285763" algn="l"/>
                <a:tab pos="2742915" algn="l"/>
                <a:tab pos="3200068" algn="l"/>
                <a:tab pos="3657220" algn="l"/>
                <a:tab pos="4114373" algn="l"/>
                <a:tab pos="4571526" algn="l"/>
                <a:tab pos="5028678" algn="l"/>
                <a:tab pos="5485831" algn="l"/>
                <a:tab pos="5942984" algn="l"/>
                <a:tab pos="6400137" algn="l"/>
                <a:tab pos="6857289" algn="l"/>
                <a:tab pos="7314442" algn="l"/>
                <a:tab pos="7771595" algn="l"/>
                <a:tab pos="8228747" algn="l"/>
                <a:tab pos="8685900" algn="l"/>
                <a:tab pos="9143052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2882" indent="-228577" eaLnBrk="0" hangingPunct="0">
              <a:tabLst>
                <a:tab pos="0" algn="l"/>
                <a:tab pos="457153" algn="l"/>
                <a:tab pos="914305" algn="l"/>
                <a:tab pos="1371458" algn="l"/>
                <a:tab pos="1828610" algn="l"/>
                <a:tab pos="2285763" algn="l"/>
                <a:tab pos="2742915" algn="l"/>
                <a:tab pos="3200068" algn="l"/>
                <a:tab pos="3657220" algn="l"/>
                <a:tab pos="4114373" algn="l"/>
                <a:tab pos="4571526" algn="l"/>
                <a:tab pos="5028678" algn="l"/>
                <a:tab pos="5485831" algn="l"/>
                <a:tab pos="5942984" algn="l"/>
                <a:tab pos="6400137" algn="l"/>
                <a:tab pos="6857289" algn="l"/>
                <a:tab pos="7314442" algn="l"/>
                <a:tab pos="7771595" algn="l"/>
                <a:tab pos="8228747" algn="l"/>
                <a:tab pos="8685900" algn="l"/>
                <a:tab pos="9143052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034" indent="-228577" eaLnBrk="0" hangingPunct="0">
              <a:tabLst>
                <a:tab pos="0" algn="l"/>
                <a:tab pos="457153" algn="l"/>
                <a:tab pos="914305" algn="l"/>
                <a:tab pos="1371458" algn="l"/>
                <a:tab pos="1828610" algn="l"/>
                <a:tab pos="2285763" algn="l"/>
                <a:tab pos="2742915" algn="l"/>
                <a:tab pos="3200068" algn="l"/>
                <a:tab pos="3657220" algn="l"/>
                <a:tab pos="4114373" algn="l"/>
                <a:tab pos="4571526" algn="l"/>
                <a:tab pos="5028678" algn="l"/>
                <a:tab pos="5485831" algn="l"/>
                <a:tab pos="5942984" algn="l"/>
                <a:tab pos="6400137" algn="l"/>
                <a:tab pos="6857289" algn="l"/>
                <a:tab pos="7314442" algn="l"/>
                <a:tab pos="7771595" algn="l"/>
                <a:tab pos="8228747" algn="l"/>
                <a:tab pos="8685900" algn="l"/>
                <a:tab pos="9143052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187" indent="-228577" eaLnBrk="0" hangingPunct="0">
              <a:tabLst>
                <a:tab pos="0" algn="l"/>
                <a:tab pos="457153" algn="l"/>
                <a:tab pos="914305" algn="l"/>
                <a:tab pos="1371458" algn="l"/>
                <a:tab pos="1828610" algn="l"/>
                <a:tab pos="2285763" algn="l"/>
                <a:tab pos="2742915" algn="l"/>
                <a:tab pos="3200068" algn="l"/>
                <a:tab pos="3657220" algn="l"/>
                <a:tab pos="4114373" algn="l"/>
                <a:tab pos="4571526" algn="l"/>
                <a:tab pos="5028678" algn="l"/>
                <a:tab pos="5485831" algn="l"/>
                <a:tab pos="5942984" algn="l"/>
                <a:tab pos="6400137" algn="l"/>
                <a:tab pos="6857289" algn="l"/>
                <a:tab pos="7314442" algn="l"/>
                <a:tab pos="7771595" algn="l"/>
                <a:tab pos="8228747" algn="l"/>
                <a:tab pos="8685900" algn="l"/>
                <a:tab pos="9143052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340" indent="-228577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153" algn="l"/>
                <a:tab pos="914305" algn="l"/>
                <a:tab pos="1371458" algn="l"/>
                <a:tab pos="1828610" algn="l"/>
                <a:tab pos="2285763" algn="l"/>
                <a:tab pos="2742915" algn="l"/>
                <a:tab pos="3200068" algn="l"/>
                <a:tab pos="3657220" algn="l"/>
                <a:tab pos="4114373" algn="l"/>
                <a:tab pos="4571526" algn="l"/>
                <a:tab pos="5028678" algn="l"/>
                <a:tab pos="5485831" algn="l"/>
                <a:tab pos="5942984" algn="l"/>
                <a:tab pos="6400137" algn="l"/>
                <a:tab pos="6857289" algn="l"/>
                <a:tab pos="7314442" algn="l"/>
                <a:tab pos="7771595" algn="l"/>
                <a:tab pos="8228747" algn="l"/>
                <a:tab pos="8685900" algn="l"/>
                <a:tab pos="9143052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492" indent="-228577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153" algn="l"/>
                <a:tab pos="914305" algn="l"/>
                <a:tab pos="1371458" algn="l"/>
                <a:tab pos="1828610" algn="l"/>
                <a:tab pos="2285763" algn="l"/>
                <a:tab pos="2742915" algn="l"/>
                <a:tab pos="3200068" algn="l"/>
                <a:tab pos="3657220" algn="l"/>
                <a:tab pos="4114373" algn="l"/>
                <a:tab pos="4571526" algn="l"/>
                <a:tab pos="5028678" algn="l"/>
                <a:tab pos="5485831" algn="l"/>
                <a:tab pos="5942984" algn="l"/>
                <a:tab pos="6400137" algn="l"/>
                <a:tab pos="6857289" algn="l"/>
                <a:tab pos="7314442" algn="l"/>
                <a:tab pos="7771595" algn="l"/>
                <a:tab pos="8228747" algn="l"/>
                <a:tab pos="8685900" algn="l"/>
                <a:tab pos="9143052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8645" indent="-228577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153" algn="l"/>
                <a:tab pos="914305" algn="l"/>
                <a:tab pos="1371458" algn="l"/>
                <a:tab pos="1828610" algn="l"/>
                <a:tab pos="2285763" algn="l"/>
                <a:tab pos="2742915" algn="l"/>
                <a:tab pos="3200068" algn="l"/>
                <a:tab pos="3657220" algn="l"/>
                <a:tab pos="4114373" algn="l"/>
                <a:tab pos="4571526" algn="l"/>
                <a:tab pos="5028678" algn="l"/>
                <a:tab pos="5485831" algn="l"/>
                <a:tab pos="5942984" algn="l"/>
                <a:tab pos="6400137" algn="l"/>
                <a:tab pos="6857289" algn="l"/>
                <a:tab pos="7314442" algn="l"/>
                <a:tab pos="7771595" algn="l"/>
                <a:tab pos="8228747" algn="l"/>
                <a:tab pos="8685900" algn="l"/>
                <a:tab pos="9143052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5797" indent="-228577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153" algn="l"/>
                <a:tab pos="914305" algn="l"/>
                <a:tab pos="1371458" algn="l"/>
                <a:tab pos="1828610" algn="l"/>
                <a:tab pos="2285763" algn="l"/>
                <a:tab pos="2742915" algn="l"/>
                <a:tab pos="3200068" algn="l"/>
                <a:tab pos="3657220" algn="l"/>
                <a:tab pos="4114373" algn="l"/>
                <a:tab pos="4571526" algn="l"/>
                <a:tab pos="5028678" algn="l"/>
                <a:tab pos="5485831" algn="l"/>
                <a:tab pos="5942984" algn="l"/>
                <a:tab pos="6400137" algn="l"/>
                <a:tab pos="6857289" algn="l"/>
                <a:tab pos="7314442" algn="l"/>
                <a:tab pos="7771595" algn="l"/>
                <a:tab pos="8228747" algn="l"/>
                <a:tab pos="8685900" algn="l"/>
                <a:tab pos="9143052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EC12237E-666C-FC49-AB51-81097C5F4C05}" type="slidenum">
              <a:rPr lang="en-GB" sz="1200">
                <a:solidFill>
                  <a:srgbClr val="000000"/>
                </a:solidFill>
              </a:rPr>
              <a:pPr eaLnBrk="1" hangingPunct="1"/>
              <a:t>60</a:t>
            </a:fld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1187624" y="1052736"/>
            <a:ext cx="7848872" cy="1440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rtlCol="0" anchor="t"/>
          <a:lstStyle/>
          <a:p>
            <a:pPr marL="0" indent="0">
              <a:buNone/>
            </a:pPr>
            <a:r>
              <a:rPr lang="en-US" sz="2400" b="1" dirty="0" err="1" smtClean="0">
                <a:solidFill>
                  <a:schemeClr val="tx1"/>
                </a:solidFill>
                <a:latin typeface="Courier New"/>
                <a:cs typeface="Courier New"/>
              </a:rPr>
              <a:t>Arrays.sort</a:t>
            </a:r>
            <a:r>
              <a:rPr lang="en-US" sz="2400" b="1" dirty="0" smtClean="0">
                <a:solidFill>
                  <a:schemeClr val="tx1"/>
                </a:solidFill>
                <a:latin typeface="Courier New"/>
                <a:cs typeface="Courier New"/>
              </a:rPr>
              <a:t>(</a:t>
            </a:r>
            <a:r>
              <a:rPr lang="en-US" sz="2400" b="1" dirty="0" err="1" smtClean="0">
                <a:solidFill>
                  <a:schemeClr val="tx1"/>
                </a:solidFill>
                <a:latin typeface="Courier New"/>
                <a:cs typeface="Courier New"/>
              </a:rPr>
              <a:t>sv,new</a:t>
            </a:r>
            <a:r>
              <a:rPr lang="en-US" sz="2400" b="1" dirty="0" smtClean="0">
                <a:solidFill>
                  <a:schemeClr val="tx1"/>
                </a:solidFill>
                <a:latin typeface="Courier New"/>
                <a:cs typeface="Courier New"/>
              </a:rPr>
              <a:t> Comparator(){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tx1"/>
                </a:solidFill>
                <a:latin typeface="Courier New"/>
                <a:cs typeface="Courier New"/>
              </a:rPr>
              <a:t> public </a:t>
            </a:r>
            <a:r>
              <a:rPr lang="en-US" sz="2400" b="1" dirty="0" err="1" smtClean="0">
                <a:solidFill>
                  <a:schemeClr val="tx1"/>
                </a:solidFill>
                <a:latin typeface="Courier New"/>
                <a:cs typeface="Courier New"/>
              </a:rPr>
              <a:t>int</a:t>
            </a:r>
            <a:r>
              <a:rPr lang="en-US" sz="2400" b="1" dirty="0" smtClean="0">
                <a:solidFill>
                  <a:schemeClr val="tx1"/>
                </a:solidFill>
                <a:latin typeface="Courier New"/>
                <a:cs typeface="Courier New"/>
              </a:rPr>
              <a:t> compare(Object a, Object b){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tx1"/>
                </a:solidFill>
                <a:latin typeface="Courier New"/>
                <a:cs typeface="Courier New"/>
              </a:rPr>
              <a:t>	return ((Student)a).id–((Student)b).id; 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tx1"/>
                </a:solidFill>
                <a:latin typeface="Courier New"/>
                <a:cs typeface="Courier New"/>
              </a:rPr>
              <a:t> }});</a:t>
            </a:r>
            <a:endParaRPr lang="en-US" sz="2400" b="1" dirty="0">
              <a:solidFill>
                <a:schemeClr val="tx1"/>
              </a:solidFill>
              <a:latin typeface="Courier New"/>
              <a:cs typeface="Courier New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323528" y="2852936"/>
            <a:ext cx="8352928" cy="1440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rtlCol="0" anchor="t"/>
          <a:lstStyle/>
          <a:p>
            <a:pPr marL="0" indent="0">
              <a:buNone/>
            </a:pPr>
            <a:r>
              <a:rPr lang="en-US" sz="2400" b="1" dirty="0" err="1" smtClean="0">
                <a:solidFill>
                  <a:schemeClr val="tx1"/>
                </a:solidFill>
                <a:latin typeface="Courier New"/>
                <a:cs typeface="Courier New"/>
              </a:rPr>
              <a:t>Arrays.sort</a:t>
            </a:r>
            <a:r>
              <a:rPr lang="en-US" sz="2400" b="1" dirty="0" smtClean="0">
                <a:solidFill>
                  <a:schemeClr val="tx1"/>
                </a:solidFill>
                <a:latin typeface="Courier New"/>
                <a:cs typeface="Courier New"/>
              </a:rPr>
              <a:t>(</a:t>
            </a:r>
            <a:r>
              <a:rPr lang="en-US" sz="2400" b="1" dirty="0" err="1" smtClean="0">
                <a:solidFill>
                  <a:schemeClr val="tx1"/>
                </a:solidFill>
                <a:latin typeface="Courier New"/>
                <a:cs typeface="Courier New"/>
              </a:rPr>
              <a:t>sv,new</a:t>
            </a:r>
            <a:r>
              <a:rPr lang="en-US" sz="2400" b="1" dirty="0" smtClean="0">
                <a:solidFill>
                  <a:schemeClr val="tx1"/>
                </a:solidFill>
                <a:latin typeface="Courier New"/>
                <a:cs typeface="Courier New"/>
              </a:rPr>
              <a:t> Comparator(){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tx1"/>
                </a:solidFill>
                <a:latin typeface="Courier New"/>
                <a:cs typeface="Courier New"/>
              </a:rPr>
              <a:t> public </a:t>
            </a:r>
            <a:r>
              <a:rPr lang="en-US" sz="2400" b="1" dirty="0" err="1" smtClean="0">
                <a:solidFill>
                  <a:schemeClr val="tx1"/>
                </a:solidFill>
                <a:latin typeface="Courier New"/>
                <a:cs typeface="Courier New"/>
              </a:rPr>
              <a:t>int</a:t>
            </a:r>
            <a:r>
              <a:rPr lang="en-US" sz="2400" b="1" dirty="0" smtClean="0">
                <a:solidFill>
                  <a:schemeClr val="tx1"/>
                </a:solidFill>
                <a:latin typeface="Courier New"/>
                <a:cs typeface="Courier New"/>
              </a:rPr>
              <a:t> compare(Student a, Student b){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tx1"/>
                </a:solidFill>
                <a:latin typeface="Courier New"/>
                <a:cs typeface="Courier New"/>
              </a:rPr>
              <a:t>	return </a:t>
            </a:r>
            <a:r>
              <a:rPr lang="en-US" sz="2400" b="1" dirty="0" err="1" smtClean="0">
                <a:solidFill>
                  <a:schemeClr val="tx1"/>
                </a:solidFill>
                <a:latin typeface="Courier New"/>
                <a:cs typeface="Courier New"/>
              </a:rPr>
              <a:t>a.getId</a:t>
            </a:r>
            <a:r>
              <a:rPr lang="en-US" sz="2400" b="1" dirty="0" smtClean="0">
                <a:solidFill>
                  <a:schemeClr val="tx1"/>
                </a:solidFill>
                <a:latin typeface="Courier New"/>
                <a:cs typeface="Courier New"/>
              </a:rPr>
              <a:t>() - </a:t>
            </a:r>
            <a:r>
              <a:rPr lang="en-US" sz="2400" b="1" dirty="0" err="1">
                <a:solidFill>
                  <a:schemeClr val="tx1"/>
                </a:solidFill>
                <a:latin typeface="Courier New"/>
                <a:cs typeface="Courier New"/>
              </a:rPr>
              <a:t>b.getId</a:t>
            </a:r>
            <a:r>
              <a:rPr lang="en-US" sz="2400" b="1" dirty="0">
                <a:solidFill>
                  <a:schemeClr val="tx1"/>
                </a:solidFill>
                <a:latin typeface="Courier New"/>
                <a:cs typeface="Courier New"/>
              </a:rPr>
              <a:t>(); </a:t>
            </a:r>
            <a:endParaRPr lang="en-US" sz="2400" b="1" dirty="0" smtClean="0">
              <a:solidFill>
                <a:schemeClr val="tx1"/>
              </a:solidFill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tx1"/>
                </a:solidFill>
                <a:latin typeface="Courier New"/>
                <a:cs typeface="Courier New"/>
              </a:rPr>
              <a:t> }});</a:t>
            </a:r>
            <a:endParaRPr lang="en-US" sz="2400" b="1" dirty="0">
              <a:solidFill>
                <a:schemeClr val="tx1"/>
              </a:solidFill>
              <a:latin typeface="Courier New"/>
              <a:cs typeface="Courier New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323528" y="4941168"/>
            <a:ext cx="8208912" cy="432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rtlCol="0" anchor="t"/>
          <a:lstStyle/>
          <a:p>
            <a:pPr indent="-50390">
              <a:lnSpc>
                <a:spcPct val="90000"/>
              </a:lnSpc>
              <a:tabLst>
                <a:tab pos="453978" algn="l"/>
                <a:tab pos="911130" algn="l"/>
                <a:tab pos="1368283" algn="l"/>
                <a:tab pos="1825435" algn="l"/>
                <a:tab pos="2282588" algn="l"/>
                <a:tab pos="2739741" algn="l"/>
                <a:tab pos="3196893" algn="l"/>
                <a:tab pos="3654046" algn="l"/>
                <a:tab pos="4111199" algn="l"/>
                <a:tab pos="4568352" algn="l"/>
                <a:tab pos="5025504" algn="l"/>
                <a:tab pos="5482657" algn="l"/>
                <a:tab pos="5939809" algn="l"/>
                <a:tab pos="6396962" algn="l"/>
                <a:tab pos="6854115" algn="l"/>
                <a:tab pos="7311267" algn="l"/>
                <a:tab pos="7768420" algn="l"/>
                <a:tab pos="8225572" algn="l"/>
                <a:tab pos="8682725" algn="l"/>
                <a:tab pos="9139877" algn="l"/>
              </a:tabLst>
            </a:pPr>
            <a:r>
              <a:rPr lang="en-US" sz="2400" b="1" dirty="0" err="1">
                <a:solidFill>
                  <a:schemeClr val="tx1"/>
                </a:solidFill>
                <a:latin typeface="Courier New"/>
                <a:cs typeface="Courier New"/>
              </a:rPr>
              <a:t>Arrays.sort</a:t>
            </a:r>
            <a:r>
              <a:rPr lang="en-US" sz="2400" b="1" dirty="0">
                <a:solidFill>
                  <a:schemeClr val="tx1"/>
                </a:solidFill>
                <a:latin typeface="Courier New"/>
                <a:cs typeface="Courier New"/>
              </a:rPr>
              <a:t>(</a:t>
            </a:r>
            <a:r>
              <a:rPr lang="en-US" sz="2400" b="1" dirty="0" err="1">
                <a:solidFill>
                  <a:schemeClr val="tx1"/>
                </a:solidFill>
                <a:latin typeface="Courier New"/>
                <a:cs typeface="Courier New"/>
              </a:rPr>
              <a:t>sv</a:t>
            </a:r>
            <a:r>
              <a:rPr lang="en-US" sz="2400" b="1" dirty="0" smtClean="0">
                <a:solidFill>
                  <a:schemeClr val="tx1"/>
                </a:solidFill>
                <a:latin typeface="Courier New"/>
                <a:cs typeface="Courier New"/>
              </a:rPr>
              <a:t>,(</a:t>
            </a:r>
            <a:r>
              <a:rPr lang="en-US" sz="2400" b="1" dirty="0" err="1">
                <a:solidFill>
                  <a:schemeClr val="tx1"/>
                </a:solidFill>
                <a:latin typeface="Courier New"/>
                <a:cs typeface="Courier New"/>
              </a:rPr>
              <a:t>a,b</a:t>
            </a:r>
            <a:r>
              <a:rPr lang="en-US" sz="2400" b="1" dirty="0" smtClean="0">
                <a:solidFill>
                  <a:schemeClr val="tx1"/>
                </a:solidFill>
                <a:latin typeface="Courier New"/>
                <a:cs typeface="Courier New"/>
              </a:rPr>
              <a:t>)-&gt;</a:t>
            </a:r>
            <a:r>
              <a:rPr lang="en-US" sz="2400" b="1" dirty="0" err="1" smtClean="0">
                <a:solidFill>
                  <a:schemeClr val="tx1"/>
                </a:solidFill>
                <a:latin typeface="Courier New"/>
                <a:cs typeface="Courier New"/>
              </a:rPr>
              <a:t>a.getId</a:t>
            </a:r>
            <a:r>
              <a:rPr lang="en-US" sz="2400" b="1" dirty="0">
                <a:solidFill>
                  <a:schemeClr val="tx1"/>
                </a:solidFill>
                <a:latin typeface="Courier New"/>
                <a:cs typeface="Courier New"/>
              </a:rPr>
              <a:t>(</a:t>
            </a:r>
            <a:r>
              <a:rPr lang="en-US" sz="2400" b="1" dirty="0" smtClean="0">
                <a:solidFill>
                  <a:schemeClr val="tx1"/>
                </a:solidFill>
                <a:latin typeface="Courier New"/>
                <a:cs typeface="Courier New"/>
              </a:rPr>
              <a:t>)-</a:t>
            </a:r>
            <a:r>
              <a:rPr lang="en-US" sz="2400" b="1" dirty="0" err="1" smtClean="0">
                <a:solidFill>
                  <a:schemeClr val="tx1"/>
                </a:solidFill>
                <a:latin typeface="Courier New"/>
                <a:cs typeface="Courier New"/>
              </a:rPr>
              <a:t>b.getId</a:t>
            </a:r>
            <a:r>
              <a:rPr lang="en-US" sz="2400" b="1" dirty="0">
                <a:solidFill>
                  <a:schemeClr val="tx1"/>
                </a:solidFill>
                <a:latin typeface="Courier New"/>
                <a:cs typeface="Courier New"/>
              </a:rPr>
              <a:t>(</a:t>
            </a:r>
            <a:r>
              <a:rPr lang="en-US" sz="2400" b="1" dirty="0" smtClean="0">
                <a:solidFill>
                  <a:schemeClr val="tx1"/>
                </a:solidFill>
                <a:latin typeface="Courier New"/>
                <a:cs typeface="Courier New"/>
              </a:rPr>
              <a:t>))</a:t>
            </a:r>
            <a:r>
              <a:rPr lang="en-US" sz="2400" b="1" dirty="0">
                <a:solidFill>
                  <a:schemeClr val="tx1"/>
                </a:solidFill>
                <a:latin typeface="Courier New"/>
                <a:cs typeface="Courier New"/>
              </a:rPr>
              <a:t>;</a:t>
            </a:r>
          </a:p>
        </p:txBody>
      </p:sp>
      <p:sp>
        <p:nvSpPr>
          <p:cNvPr id="11" name="AutoShape 6"/>
          <p:cNvSpPr>
            <a:spLocks noChangeArrowheads="1"/>
          </p:cNvSpPr>
          <p:nvPr/>
        </p:nvSpPr>
        <p:spPr bwMode="auto">
          <a:xfrm>
            <a:off x="6300192" y="2204865"/>
            <a:ext cx="1800200" cy="432048"/>
          </a:xfrm>
          <a:prstGeom prst="wedgeRoundRectCallout">
            <a:avLst>
              <a:gd name="adj1" fmla="val -73552"/>
              <a:gd name="adj2" fmla="val -70087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12600">
            <a:solidFill>
              <a:schemeClr val="accent4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rtlCol="0" anchor="ctr"/>
          <a:lstStyle/>
          <a:p>
            <a:pPr indent="-13151" algn="ctr"/>
            <a:r>
              <a:rPr lang="en-GB" b="1" dirty="0">
                <a:solidFill>
                  <a:srgbClr val="000000"/>
                </a:solidFill>
                <a:latin typeface="+mn-lt"/>
                <a:cs typeface="Courier New"/>
              </a:rPr>
              <a:t>Java ≥ 2</a:t>
            </a:r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auto">
          <a:xfrm>
            <a:off x="4932040" y="4149081"/>
            <a:ext cx="3672408" cy="504055"/>
          </a:xfrm>
          <a:prstGeom prst="wedgeRoundRectCallout">
            <a:avLst>
              <a:gd name="adj1" fmla="val -62671"/>
              <a:gd name="adj2" fmla="val -95564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12600">
            <a:solidFill>
              <a:schemeClr val="accent4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rtlCol="0" anchor="ctr"/>
          <a:lstStyle/>
          <a:p>
            <a:pPr indent="-13151" algn="ctr"/>
            <a:r>
              <a:rPr lang="en-GB" b="1" dirty="0">
                <a:solidFill>
                  <a:srgbClr val="000000"/>
                </a:solidFill>
                <a:latin typeface="+mn-lt"/>
                <a:cs typeface="Courier New"/>
              </a:rPr>
              <a:t>Java ≥ 5, Generics</a:t>
            </a:r>
          </a:p>
        </p:txBody>
      </p:sp>
      <p:sp>
        <p:nvSpPr>
          <p:cNvPr id="13" name="AutoShape 6"/>
          <p:cNvSpPr>
            <a:spLocks noChangeArrowheads="1"/>
          </p:cNvSpPr>
          <p:nvPr/>
        </p:nvSpPr>
        <p:spPr bwMode="auto">
          <a:xfrm>
            <a:off x="323528" y="4437112"/>
            <a:ext cx="3672408" cy="432047"/>
          </a:xfrm>
          <a:prstGeom prst="wedgeRoundRectCallout">
            <a:avLst>
              <a:gd name="adj1" fmla="val 64388"/>
              <a:gd name="adj2" fmla="val 59720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12600">
            <a:solidFill>
              <a:schemeClr val="accent4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rtlCol="0" anchor="ctr"/>
          <a:lstStyle/>
          <a:p>
            <a:pPr indent="-13151" algn="ctr"/>
            <a:r>
              <a:rPr lang="en-GB" b="1" dirty="0">
                <a:solidFill>
                  <a:srgbClr val="000000"/>
                </a:solidFill>
                <a:latin typeface="+mn-lt"/>
                <a:cs typeface="Courier New"/>
              </a:rPr>
              <a:t>Java ≥ 8, Lambda</a:t>
            </a:r>
          </a:p>
        </p:txBody>
      </p:sp>
      <p:sp>
        <p:nvSpPr>
          <p:cNvPr id="14" name="AutoShape 6"/>
          <p:cNvSpPr>
            <a:spLocks noChangeArrowheads="1"/>
          </p:cNvSpPr>
          <p:nvPr/>
        </p:nvSpPr>
        <p:spPr bwMode="auto">
          <a:xfrm>
            <a:off x="4211960" y="6237312"/>
            <a:ext cx="4608512" cy="504055"/>
          </a:xfrm>
          <a:prstGeom prst="wedgeRoundRectCallout">
            <a:avLst>
              <a:gd name="adj1" fmla="val -3078"/>
              <a:gd name="adj2" fmla="val -111090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12600">
            <a:solidFill>
              <a:schemeClr val="accent4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rtlCol="0" anchor="ctr"/>
          <a:lstStyle/>
          <a:p>
            <a:pPr indent="-13151" algn="ctr"/>
            <a:r>
              <a:rPr lang="en-GB" b="1" dirty="0">
                <a:solidFill>
                  <a:srgbClr val="000000"/>
                </a:solidFill>
                <a:latin typeface="+mn-lt"/>
                <a:cs typeface="Courier New"/>
              </a:rPr>
              <a:t>Java ≥ 8, Method reference</a:t>
            </a:r>
          </a:p>
        </p:txBody>
      </p:sp>
    </p:spTree>
    <p:extLst>
      <p:ext uri="{BB962C8B-B14F-4D97-AF65-F5344CB8AC3E}">
        <p14:creationId xmlns:p14="http://schemas.microsoft.com/office/powerpoint/2010/main" val="1345998242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Functional interface composition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Reverse order method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467544" y="2492896"/>
            <a:ext cx="8352928" cy="15841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rtlCol="0" anchor="ctr"/>
          <a:lstStyle/>
          <a:p>
            <a:pPr marL="184150"/>
            <a:r>
              <a:rPr lang="en-US" sz="2400" b="1" dirty="0" smtClean="0">
                <a:solidFill>
                  <a:srgbClr val="000000"/>
                </a:solidFill>
                <a:latin typeface="Courier New"/>
                <a:cs typeface="Courier New"/>
              </a:rPr>
              <a:t>static &lt;T&gt; Comparator&lt;T&gt; </a:t>
            </a:r>
          </a:p>
          <a:p>
            <a:pPr marL="184150"/>
            <a:r>
              <a:rPr lang="en-US" sz="2400" b="1" dirty="0" smtClean="0">
                <a:solidFill>
                  <a:srgbClr val="000000"/>
                </a:solidFill>
                <a:latin typeface="Courier New"/>
                <a:cs typeface="Courier New"/>
              </a:rPr>
              <a:t>  </a:t>
            </a:r>
            <a:r>
              <a:rPr lang="en-US" sz="2400" b="1" dirty="0" smtClean="0">
                <a:solidFill>
                  <a:srgbClr val="FF6600"/>
                </a:solidFill>
                <a:latin typeface="Courier New"/>
                <a:cs typeface="Courier New"/>
              </a:rPr>
              <a:t>reverse</a:t>
            </a:r>
            <a:r>
              <a:rPr lang="en-US" sz="2400" b="1" dirty="0" smtClean="0">
                <a:solidFill>
                  <a:srgbClr val="000000"/>
                </a:solidFill>
                <a:latin typeface="Courier New"/>
                <a:cs typeface="Courier New"/>
              </a:rPr>
              <a:t>(Comparator&lt;T&gt; </a:t>
            </a:r>
            <a:r>
              <a:rPr lang="en-US" sz="2400" b="1" dirty="0" err="1" smtClean="0">
                <a:solidFill>
                  <a:srgbClr val="000000"/>
                </a:solidFill>
                <a:latin typeface="Courier New"/>
                <a:cs typeface="Courier New"/>
              </a:rPr>
              <a:t>cmp</a:t>
            </a:r>
            <a:r>
              <a:rPr lang="en-US" sz="2400" b="1" dirty="0" smtClean="0">
                <a:solidFill>
                  <a:srgbClr val="000000"/>
                </a:solidFill>
                <a:latin typeface="Courier New"/>
                <a:cs typeface="Courier New"/>
              </a:rPr>
              <a:t>){</a:t>
            </a:r>
          </a:p>
          <a:p>
            <a:pPr marL="184150"/>
            <a:r>
              <a:rPr lang="en-US" sz="2400" b="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2400" b="1" dirty="0" smtClean="0">
                <a:solidFill>
                  <a:srgbClr val="000000"/>
                </a:solidFill>
                <a:latin typeface="Courier New"/>
                <a:cs typeface="Courier New"/>
              </a:rPr>
              <a:t> 		return (</a:t>
            </a:r>
            <a:r>
              <a:rPr lang="en-US" sz="2400" b="1" dirty="0" err="1" smtClean="0">
                <a:solidFill>
                  <a:srgbClr val="000000"/>
                </a:solidFill>
                <a:latin typeface="Courier New"/>
                <a:cs typeface="Courier New"/>
              </a:rPr>
              <a:t>a,b</a:t>
            </a:r>
            <a:r>
              <a:rPr lang="en-US" sz="2400" b="1" dirty="0" smtClean="0">
                <a:solidFill>
                  <a:srgbClr val="000000"/>
                </a:solidFill>
                <a:latin typeface="Courier New"/>
                <a:cs typeface="Courier New"/>
              </a:rPr>
              <a:t>) -&gt; - </a:t>
            </a:r>
            <a:r>
              <a:rPr lang="en-US" sz="2400" b="1" dirty="0" err="1" smtClean="0">
                <a:solidFill>
                  <a:srgbClr val="000000"/>
                </a:solidFill>
                <a:latin typeface="Courier New"/>
                <a:cs typeface="Courier New"/>
              </a:rPr>
              <a:t>cmp</a:t>
            </a:r>
            <a:r>
              <a:rPr lang="en-US" sz="2400" b="1" dirty="0" smtClean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2400" b="1" dirty="0" err="1" smtClean="0">
                <a:solidFill>
                  <a:srgbClr val="000000"/>
                </a:solidFill>
                <a:latin typeface="Courier New"/>
                <a:cs typeface="Courier New"/>
              </a:rPr>
              <a:t>a,b</a:t>
            </a:r>
            <a:r>
              <a:rPr lang="en-US" sz="2400" b="1" dirty="0" smtClean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pPr marL="184150"/>
            <a:r>
              <a:rPr lang="en-US" sz="2400" b="1" dirty="0" smtClean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  <a:endParaRPr lang="en-US" sz="2400" b="1" dirty="0">
              <a:solidFill>
                <a:srgbClr val="000000"/>
              </a:solidFill>
              <a:latin typeface="Courier New"/>
              <a:cs typeface="Courier New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467544" y="4797152"/>
            <a:ext cx="8352928" cy="10081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rtlCol="0" anchor="ctr"/>
          <a:lstStyle/>
          <a:p>
            <a:pPr marL="184150"/>
            <a:r>
              <a:rPr lang="en-US" sz="2400" b="1" dirty="0" err="1">
                <a:solidFill>
                  <a:schemeClr val="tx1"/>
                </a:solidFill>
                <a:latin typeface="Courier New"/>
                <a:cs typeface="Courier New"/>
              </a:rPr>
              <a:t>Arrays.sort</a:t>
            </a:r>
            <a:r>
              <a:rPr lang="en-US" sz="2400" b="1" dirty="0">
                <a:solidFill>
                  <a:schemeClr val="tx1"/>
                </a:solidFill>
                <a:latin typeface="Courier New"/>
                <a:cs typeface="Courier New"/>
              </a:rPr>
              <a:t>(</a:t>
            </a:r>
            <a:r>
              <a:rPr lang="en-US" sz="2400" b="1" dirty="0" err="1">
                <a:solidFill>
                  <a:schemeClr val="tx1"/>
                </a:solidFill>
                <a:latin typeface="Courier New"/>
                <a:cs typeface="Courier New"/>
              </a:rPr>
              <a:t>sv</a:t>
            </a:r>
            <a:r>
              <a:rPr lang="en-US" sz="2400" b="1" dirty="0" err="1" smtClean="0">
                <a:solidFill>
                  <a:schemeClr val="tx1"/>
                </a:solidFill>
                <a:latin typeface="Courier New"/>
                <a:cs typeface="Courier New"/>
              </a:rPr>
              <a:t>,</a:t>
            </a:r>
            <a:r>
              <a:rPr lang="en-US" sz="2400" b="1" dirty="0" err="1" smtClean="0">
                <a:solidFill>
                  <a:srgbClr val="FF6600"/>
                </a:solidFill>
                <a:latin typeface="Courier New"/>
                <a:cs typeface="Courier New"/>
              </a:rPr>
              <a:t>reverse</a:t>
            </a:r>
            <a:r>
              <a:rPr lang="en-US" sz="2400" b="1" dirty="0" smtClean="0">
                <a:solidFill>
                  <a:schemeClr val="tx1"/>
                </a:solidFill>
                <a:latin typeface="Courier New"/>
                <a:cs typeface="Courier New"/>
              </a:rPr>
              <a:t>(</a:t>
            </a:r>
          </a:p>
          <a:p>
            <a:pPr marL="184150"/>
            <a:r>
              <a:rPr lang="en-US" sz="2400" b="1" dirty="0">
                <a:solidFill>
                  <a:schemeClr val="tx1"/>
                </a:solidFill>
                <a:latin typeface="Courier New"/>
                <a:cs typeface="Courier New"/>
              </a:rPr>
              <a:t>	</a:t>
            </a:r>
            <a:r>
              <a:rPr lang="en-US" sz="2400" b="1" dirty="0" smtClean="0">
                <a:solidFill>
                  <a:schemeClr val="tx1"/>
                </a:solidFill>
                <a:latin typeface="Courier New"/>
                <a:cs typeface="Courier New"/>
              </a:rPr>
              <a:t>						comparing</a:t>
            </a:r>
            <a:r>
              <a:rPr lang="en-US" sz="2400" b="1" dirty="0">
                <a:solidFill>
                  <a:schemeClr val="tx1"/>
                </a:solidFill>
                <a:latin typeface="Courier New"/>
                <a:cs typeface="Courier New"/>
              </a:rPr>
              <a:t>(Student::</a:t>
            </a:r>
            <a:r>
              <a:rPr lang="en-US" sz="2400" b="1" dirty="0" err="1">
                <a:solidFill>
                  <a:schemeClr val="tx1"/>
                </a:solidFill>
                <a:latin typeface="Courier New"/>
                <a:cs typeface="Courier New"/>
              </a:rPr>
              <a:t>getId</a:t>
            </a:r>
            <a:r>
              <a:rPr lang="en-US" sz="2400" b="1" dirty="0" smtClean="0">
                <a:solidFill>
                  <a:schemeClr val="tx1"/>
                </a:solidFill>
                <a:latin typeface="Courier New"/>
                <a:cs typeface="Courier New"/>
              </a:rPr>
              <a:t>)));</a:t>
            </a:r>
            <a:endParaRPr lang="en-US" sz="2400" b="1" dirty="0">
              <a:solidFill>
                <a:schemeClr val="tx1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1047483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auto">
          <a:xfrm>
            <a:off x="395536" y="2420888"/>
            <a:ext cx="8280920" cy="15841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1" fontAlgn="base" latinLnBrk="0" hangingPunct="1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Lucida Sans Unicode" pitchFamily="32" charset="0"/>
              <a:cs typeface="Lucida Sans Unicode" pitchFamily="3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Comparator composition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Reverse order</a:t>
            </a:r>
          </a:p>
          <a:p>
            <a:pPr lvl="1"/>
            <a:r>
              <a:rPr lang="en-US" dirty="0" smtClean="0"/>
              <a:t>Default method </a:t>
            </a:r>
            <a:r>
              <a:rPr lang="en-US" dirty="0" err="1" smtClean="0"/>
              <a:t>Comparator.reversed</a:t>
            </a:r>
            <a:r>
              <a:rPr lang="en-US" dirty="0" smtClean="0"/>
              <a:t>()</a:t>
            </a:r>
          </a:p>
          <a:p>
            <a:pPr marL="51829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b="1" dirty="0" smtClean="0">
              <a:latin typeface="Courier New"/>
              <a:cs typeface="Courier New"/>
            </a:endParaRPr>
          </a:p>
          <a:p>
            <a:pPr marL="51829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 smtClean="0">
                <a:latin typeface="Courier New"/>
                <a:cs typeface="Courier New"/>
              </a:rPr>
              <a:t>default &lt;T&gt; Comparator&lt;T&gt; </a:t>
            </a:r>
            <a:r>
              <a:rPr lang="en-US" sz="2400" b="1" dirty="0" smtClean="0">
                <a:solidFill>
                  <a:srgbClr val="FF6600"/>
                </a:solidFill>
                <a:latin typeface="Courier New"/>
                <a:cs typeface="Courier New"/>
              </a:rPr>
              <a:t>reversed</a:t>
            </a:r>
            <a:r>
              <a:rPr lang="en-US" sz="2400" b="1" dirty="0" smtClean="0">
                <a:latin typeface="Courier New"/>
                <a:cs typeface="Courier New"/>
              </a:rPr>
              <a:t>(){</a:t>
            </a:r>
          </a:p>
          <a:p>
            <a:pPr marL="51829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Courier New"/>
                <a:cs typeface="Courier New"/>
              </a:rPr>
              <a:t> </a:t>
            </a:r>
            <a:r>
              <a:rPr lang="en-US" sz="2400" b="1" dirty="0" smtClean="0">
                <a:latin typeface="Courier New"/>
                <a:cs typeface="Courier New"/>
              </a:rPr>
              <a:t> return (</a:t>
            </a:r>
            <a:r>
              <a:rPr lang="en-US" sz="2400" b="1" dirty="0" err="1" smtClean="0">
                <a:latin typeface="Courier New"/>
                <a:cs typeface="Courier New"/>
              </a:rPr>
              <a:t>a,b</a:t>
            </a:r>
            <a:r>
              <a:rPr lang="en-US" sz="2400" b="1" dirty="0" smtClean="0">
                <a:latin typeface="Courier New"/>
                <a:cs typeface="Courier New"/>
              </a:rPr>
              <a:t>) -&gt; - </a:t>
            </a:r>
            <a:r>
              <a:rPr lang="en-US" sz="2400" b="1" dirty="0" err="1" smtClean="0">
                <a:latin typeface="Courier New"/>
                <a:cs typeface="Courier New"/>
              </a:rPr>
              <a:t>this.compare</a:t>
            </a:r>
            <a:r>
              <a:rPr lang="en-US" sz="2400" b="1" dirty="0" smtClean="0">
                <a:latin typeface="Courier New"/>
                <a:cs typeface="Courier New"/>
              </a:rPr>
              <a:t>(</a:t>
            </a:r>
            <a:r>
              <a:rPr lang="en-US" sz="2400" b="1" dirty="0" err="1" smtClean="0">
                <a:latin typeface="Courier New"/>
                <a:cs typeface="Courier New"/>
              </a:rPr>
              <a:t>a,b</a:t>
            </a:r>
            <a:r>
              <a:rPr lang="en-US" sz="2400" b="1" dirty="0" smtClean="0">
                <a:latin typeface="Courier New"/>
                <a:cs typeface="Courier New"/>
              </a:rPr>
              <a:t>);</a:t>
            </a:r>
          </a:p>
          <a:p>
            <a:pPr marL="51829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Courier New"/>
                <a:cs typeface="Courier New"/>
              </a:rPr>
              <a:t>}</a:t>
            </a:r>
            <a:endParaRPr lang="en-US" sz="2400" b="1" dirty="0" smtClean="0">
              <a:latin typeface="Courier New"/>
              <a:cs typeface="Courier New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323528" y="4869160"/>
            <a:ext cx="8568952" cy="10801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rtlCol="0" anchor="ctr"/>
          <a:lstStyle/>
          <a:p>
            <a:pPr marL="268288"/>
            <a:r>
              <a:rPr lang="en-US" sz="2400" b="1" dirty="0" err="1">
                <a:solidFill>
                  <a:schemeClr val="tx1"/>
                </a:solidFill>
                <a:latin typeface="Courier New"/>
                <a:cs typeface="Courier New"/>
              </a:rPr>
              <a:t>Arrays.sort</a:t>
            </a:r>
            <a:r>
              <a:rPr lang="en-US" sz="2400" b="1" dirty="0">
                <a:solidFill>
                  <a:schemeClr val="tx1"/>
                </a:solidFill>
                <a:latin typeface="Courier New"/>
                <a:cs typeface="Courier New"/>
              </a:rPr>
              <a:t>(</a:t>
            </a:r>
            <a:r>
              <a:rPr lang="en-US" sz="2400" b="1" dirty="0" err="1">
                <a:solidFill>
                  <a:schemeClr val="tx1"/>
                </a:solidFill>
                <a:latin typeface="Courier New"/>
                <a:cs typeface="Courier New"/>
              </a:rPr>
              <a:t>sv</a:t>
            </a:r>
            <a:r>
              <a:rPr lang="en-US" sz="2400" b="1" dirty="0" smtClean="0">
                <a:solidFill>
                  <a:schemeClr val="tx1"/>
                </a:solidFill>
                <a:latin typeface="Courier New"/>
                <a:cs typeface="Courier New"/>
              </a:rPr>
              <a:t>,</a:t>
            </a:r>
          </a:p>
          <a:p>
            <a:r>
              <a:rPr lang="en-US" sz="2400" b="1" dirty="0">
                <a:solidFill>
                  <a:schemeClr val="tx1"/>
                </a:solidFill>
                <a:latin typeface="Courier New"/>
                <a:cs typeface="Courier New"/>
              </a:rPr>
              <a:t>	</a:t>
            </a:r>
            <a:r>
              <a:rPr lang="en-US" sz="2400" b="1" dirty="0" smtClean="0">
                <a:solidFill>
                  <a:schemeClr val="tx1"/>
                </a:solidFill>
                <a:latin typeface="Courier New"/>
                <a:cs typeface="Courier New"/>
              </a:rPr>
              <a:t>		comparing</a:t>
            </a:r>
            <a:r>
              <a:rPr lang="en-US" sz="2400" b="1" dirty="0">
                <a:solidFill>
                  <a:schemeClr val="tx1"/>
                </a:solidFill>
                <a:latin typeface="Courier New"/>
                <a:cs typeface="Courier New"/>
              </a:rPr>
              <a:t>(Student::</a:t>
            </a:r>
            <a:r>
              <a:rPr lang="en-US" sz="2400" b="1" dirty="0" err="1">
                <a:solidFill>
                  <a:schemeClr val="tx1"/>
                </a:solidFill>
                <a:latin typeface="Courier New"/>
                <a:cs typeface="Courier New"/>
              </a:rPr>
              <a:t>getId</a:t>
            </a:r>
            <a:r>
              <a:rPr lang="en-US" sz="2400" b="1" dirty="0" smtClean="0">
                <a:solidFill>
                  <a:schemeClr val="tx1"/>
                </a:solidFill>
                <a:latin typeface="Courier New"/>
                <a:cs typeface="Courier New"/>
              </a:rPr>
              <a:t>).</a:t>
            </a:r>
            <a:r>
              <a:rPr lang="en-US" sz="2400" b="1" dirty="0" smtClean="0">
                <a:solidFill>
                  <a:srgbClr val="FF6600"/>
                </a:solidFill>
                <a:latin typeface="Courier New"/>
                <a:cs typeface="Courier New"/>
              </a:rPr>
              <a:t>reversed</a:t>
            </a:r>
            <a:r>
              <a:rPr lang="en-US" sz="2400" b="1" dirty="0" smtClean="0">
                <a:solidFill>
                  <a:schemeClr val="tx1"/>
                </a:solidFill>
                <a:latin typeface="Courier New"/>
                <a:cs typeface="Courier New"/>
              </a:rPr>
              <a:t>());</a:t>
            </a:r>
            <a:endParaRPr lang="en-US" sz="2400" b="1" dirty="0">
              <a:solidFill>
                <a:schemeClr val="tx1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6843491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auto">
          <a:xfrm>
            <a:off x="395536" y="3284984"/>
            <a:ext cx="8496944" cy="26642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1" fontAlgn="base" latinLnBrk="0" hangingPunct="1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Lucida Sans Unicode" pitchFamily="32" charset="0"/>
              <a:cs typeface="Lucida Sans Unicode" pitchFamily="3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Comparator composition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120" y="1438728"/>
            <a:ext cx="8212320" cy="4798584"/>
          </a:xfrm>
        </p:spPr>
        <p:txBody>
          <a:bodyPr>
            <a:normAutofit/>
          </a:bodyPr>
          <a:lstStyle/>
          <a:p>
            <a:r>
              <a:rPr lang="en-US" dirty="0" smtClean="0"/>
              <a:t>Multiple criteria</a:t>
            </a:r>
          </a:p>
          <a:p>
            <a:pPr lvl="1"/>
            <a:r>
              <a:rPr lang="en-US" dirty="0" smtClean="0"/>
              <a:t>Default method </a:t>
            </a:r>
            <a:r>
              <a:rPr lang="en-US" b="1" dirty="0" err="1" smtClean="0">
                <a:latin typeface="Courier New"/>
                <a:cs typeface="Courier New"/>
              </a:rPr>
              <a:t>Comparator.thenComparing</a:t>
            </a:r>
            <a:r>
              <a:rPr lang="en-US" b="1" dirty="0" smtClean="0">
                <a:latin typeface="Courier New"/>
                <a:cs typeface="Courier New"/>
              </a:rPr>
              <a:t>()</a:t>
            </a:r>
          </a:p>
          <a:p>
            <a:pPr lvl="1"/>
            <a:endParaRPr lang="en-US" sz="1800" b="1" dirty="0" smtClean="0">
              <a:latin typeface="Courier New"/>
              <a:cs typeface="Courier New"/>
            </a:endParaRPr>
          </a:p>
          <a:p>
            <a:pPr marL="51829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smtClean="0">
                <a:latin typeface="Courier New"/>
                <a:cs typeface="Courier New"/>
              </a:rPr>
              <a:t>default &lt;T&gt; Comparator&lt;T&gt; </a:t>
            </a:r>
          </a:p>
          <a:p>
            <a:pPr marL="51829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Courier New"/>
                <a:cs typeface="Courier New"/>
              </a:rPr>
              <a:t>	</a:t>
            </a:r>
            <a:r>
              <a:rPr lang="en-US" sz="2400" b="1" dirty="0" smtClean="0">
                <a:latin typeface="Courier New"/>
                <a:cs typeface="Courier New"/>
              </a:rPr>
              <a:t>		</a:t>
            </a:r>
            <a:r>
              <a:rPr lang="en-US" sz="2400" b="1" dirty="0" err="1" smtClean="0">
                <a:solidFill>
                  <a:srgbClr val="FF6600"/>
                </a:solidFill>
                <a:latin typeface="Courier New"/>
                <a:cs typeface="Courier New"/>
              </a:rPr>
              <a:t>thenComparing</a:t>
            </a:r>
            <a:r>
              <a:rPr lang="en-US" sz="2400" b="1" dirty="0">
                <a:latin typeface="Courier New"/>
                <a:cs typeface="Courier New"/>
              </a:rPr>
              <a:t>(Comparator</a:t>
            </a:r>
            <a:r>
              <a:rPr lang="en-US" sz="2400" b="1" dirty="0" smtClean="0">
                <a:latin typeface="Courier New"/>
                <a:cs typeface="Courier New"/>
              </a:rPr>
              <a:t>&lt;T</a:t>
            </a:r>
            <a:r>
              <a:rPr lang="en-US" sz="2400" b="1" dirty="0">
                <a:latin typeface="Courier New"/>
                <a:cs typeface="Courier New"/>
              </a:rPr>
              <a:t>&gt; other)</a:t>
            </a:r>
            <a:r>
              <a:rPr lang="en-US" sz="2400" b="1" dirty="0" smtClean="0">
                <a:latin typeface="Courier New"/>
                <a:cs typeface="Courier New"/>
              </a:rPr>
              <a:t>{</a:t>
            </a:r>
          </a:p>
          <a:p>
            <a:pPr marL="51829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Courier New"/>
                <a:cs typeface="Courier New"/>
              </a:rPr>
              <a:t> </a:t>
            </a:r>
            <a:r>
              <a:rPr lang="en-US" sz="2400" b="1" dirty="0" smtClean="0">
                <a:latin typeface="Courier New"/>
                <a:cs typeface="Courier New"/>
              </a:rPr>
              <a:t> return (</a:t>
            </a:r>
            <a:r>
              <a:rPr lang="en-US" sz="2400" b="1" dirty="0" err="1" smtClean="0">
                <a:latin typeface="Courier New"/>
                <a:cs typeface="Courier New"/>
              </a:rPr>
              <a:t>a,b</a:t>
            </a:r>
            <a:r>
              <a:rPr lang="en-US" sz="2400" b="1" dirty="0" smtClean="0">
                <a:latin typeface="Courier New"/>
                <a:cs typeface="Courier New"/>
              </a:rPr>
              <a:t>) -&gt; { </a:t>
            </a:r>
          </a:p>
          <a:p>
            <a:pPr marL="51829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Courier New"/>
                <a:cs typeface="Courier New"/>
              </a:rPr>
              <a:t>	</a:t>
            </a:r>
            <a:r>
              <a:rPr lang="en-US" sz="2400" b="1" dirty="0" smtClean="0">
                <a:latin typeface="Courier New"/>
                <a:cs typeface="Courier New"/>
              </a:rPr>
              <a:t>		</a:t>
            </a:r>
            <a:r>
              <a:rPr lang="en-US" sz="2400" b="1" dirty="0" err="1" smtClean="0">
                <a:latin typeface="Courier New"/>
                <a:cs typeface="Courier New"/>
              </a:rPr>
              <a:t>int</a:t>
            </a:r>
            <a:r>
              <a:rPr lang="en-US" sz="2400" b="1" dirty="0" smtClean="0">
                <a:latin typeface="Courier New"/>
                <a:cs typeface="Courier New"/>
              </a:rPr>
              <a:t> r = </a:t>
            </a:r>
            <a:r>
              <a:rPr lang="en-US" sz="2400" b="1" dirty="0" err="1" smtClean="0">
                <a:latin typeface="Courier New"/>
                <a:cs typeface="Courier New"/>
              </a:rPr>
              <a:t>this.compare</a:t>
            </a:r>
            <a:r>
              <a:rPr lang="en-US" sz="2400" b="1" dirty="0" smtClean="0">
                <a:latin typeface="Courier New"/>
                <a:cs typeface="Courier New"/>
              </a:rPr>
              <a:t>(</a:t>
            </a:r>
            <a:r>
              <a:rPr lang="en-US" sz="2400" b="1" dirty="0" err="1" smtClean="0">
                <a:latin typeface="Courier New"/>
                <a:cs typeface="Courier New"/>
              </a:rPr>
              <a:t>a,b</a:t>
            </a:r>
            <a:r>
              <a:rPr lang="en-US" sz="2400" b="1" dirty="0" smtClean="0">
                <a:latin typeface="Courier New"/>
                <a:cs typeface="Courier New"/>
              </a:rPr>
              <a:t>);</a:t>
            </a:r>
          </a:p>
          <a:p>
            <a:pPr marL="51829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Courier New"/>
                <a:cs typeface="Courier New"/>
              </a:rPr>
              <a:t>	</a:t>
            </a:r>
            <a:r>
              <a:rPr lang="en-US" sz="2400" b="1" dirty="0" smtClean="0">
                <a:latin typeface="Courier New"/>
                <a:cs typeface="Courier New"/>
              </a:rPr>
              <a:t>		if(r!=0) return r;</a:t>
            </a:r>
          </a:p>
          <a:p>
            <a:pPr marL="51829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Courier New"/>
                <a:cs typeface="Courier New"/>
              </a:rPr>
              <a:t>	</a:t>
            </a:r>
            <a:r>
              <a:rPr lang="en-US" sz="2400" b="1" dirty="0" smtClean="0">
                <a:latin typeface="Courier New"/>
                <a:cs typeface="Courier New"/>
              </a:rPr>
              <a:t>		else return </a:t>
            </a:r>
            <a:r>
              <a:rPr lang="en-US" sz="2400" b="1" dirty="0" err="1" smtClean="0">
                <a:latin typeface="Courier New"/>
                <a:cs typeface="Courier New"/>
              </a:rPr>
              <a:t>other.compare</a:t>
            </a:r>
            <a:r>
              <a:rPr lang="en-US" sz="2400" b="1" dirty="0" smtClean="0">
                <a:latin typeface="Courier New"/>
                <a:cs typeface="Courier New"/>
              </a:rPr>
              <a:t>(</a:t>
            </a:r>
            <a:r>
              <a:rPr lang="en-US" sz="2400" b="1" dirty="0" err="1" smtClean="0">
                <a:latin typeface="Courier New"/>
                <a:cs typeface="Courier New"/>
              </a:rPr>
              <a:t>a,b</a:t>
            </a:r>
            <a:r>
              <a:rPr lang="en-US" sz="2400" b="1" dirty="0" smtClean="0">
                <a:latin typeface="Courier New"/>
                <a:cs typeface="Courier New"/>
              </a:rPr>
              <a:t>);</a:t>
            </a:r>
          </a:p>
          <a:p>
            <a:pPr marL="51829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Courier New"/>
                <a:cs typeface="Courier New"/>
              </a:rPr>
              <a:t>}</a:t>
            </a:r>
            <a:endParaRPr lang="en-US" sz="2400" b="1" dirty="0" smtClean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5621888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auto">
          <a:xfrm>
            <a:off x="395536" y="1844824"/>
            <a:ext cx="8496944" cy="26642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1" fontAlgn="base" latinLnBrk="0" hangingPunct="1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Lucida Sans Unicode" pitchFamily="32" charset="0"/>
              <a:cs typeface="Lucida Sans Unicode" pitchFamily="3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Comparator composition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294696"/>
            <a:ext cx="8640960" cy="4798584"/>
          </a:xfrm>
        </p:spPr>
        <p:txBody>
          <a:bodyPr>
            <a:normAutofit/>
          </a:bodyPr>
          <a:lstStyle/>
          <a:p>
            <a:r>
              <a:rPr lang="en-US" dirty="0" smtClean="0"/>
              <a:t>Multiple criteria</a:t>
            </a:r>
          </a:p>
          <a:p>
            <a:pPr marL="51829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smtClean="0">
                <a:latin typeface="Courier New"/>
                <a:cs typeface="Courier New"/>
              </a:rPr>
              <a:t>default &lt;U extends Comparable&lt;U&gt; </a:t>
            </a:r>
            <a:br>
              <a:rPr lang="en-US" sz="2400" b="1" dirty="0" smtClean="0">
                <a:latin typeface="Courier New"/>
                <a:cs typeface="Courier New"/>
              </a:rPr>
            </a:br>
            <a:r>
              <a:rPr lang="en-US" sz="2400" b="1" dirty="0" smtClean="0">
                <a:latin typeface="Courier New"/>
                <a:cs typeface="Courier New"/>
              </a:rPr>
              <a:t>Comparator&lt;T&gt;</a:t>
            </a:r>
            <a:r>
              <a:rPr lang="en-US" sz="2400" b="1" dirty="0">
                <a:latin typeface="Courier New"/>
                <a:cs typeface="Courier New"/>
              </a:rPr>
              <a:t> </a:t>
            </a:r>
            <a:r>
              <a:rPr lang="en-US" sz="2400" b="1" dirty="0" err="1" smtClean="0">
                <a:solidFill>
                  <a:srgbClr val="FF6600"/>
                </a:solidFill>
                <a:latin typeface="Courier New"/>
                <a:cs typeface="Courier New"/>
              </a:rPr>
              <a:t>thenComparing</a:t>
            </a:r>
            <a:r>
              <a:rPr lang="en-US" sz="2400" b="1" dirty="0" smtClean="0">
                <a:latin typeface="Courier New"/>
                <a:cs typeface="Courier New"/>
              </a:rPr>
              <a:t>(Function&lt;T,U&gt; </a:t>
            </a:r>
            <a:r>
              <a:rPr lang="en-US" sz="2400" b="1" dirty="0" err="1" smtClean="0">
                <a:latin typeface="Courier New"/>
                <a:cs typeface="Courier New"/>
              </a:rPr>
              <a:t>ke</a:t>
            </a:r>
            <a:r>
              <a:rPr lang="en-US" sz="2400" b="1" dirty="0" smtClean="0">
                <a:latin typeface="Courier New"/>
                <a:cs typeface="Courier New"/>
              </a:rPr>
              <a:t>){</a:t>
            </a:r>
          </a:p>
          <a:p>
            <a:pPr marL="51829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Courier New"/>
                <a:cs typeface="Courier New"/>
              </a:rPr>
              <a:t> </a:t>
            </a:r>
            <a:r>
              <a:rPr lang="en-US" sz="2400" b="1" dirty="0" smtClean="0">
                <a:latin typeface="Courier New"/>
                <a:cs typeface="Courier New"/>
              </a:rPr>
              <a:t> return (</a:t>
            </a:r>
            <a:r>
              <a:rPr lang="en-US" sz="2400" b="1" dirty="0" err="1" smtClean="0">
                <a:latin typeface="Courier New"/>
                <a:cs typeface="Courier New"/>
              </a:rPr>
              <a:t>a,b</a:t>
            </a:r>
            <a:r>
              <a:rPr lang="en-US" sz="2400" b="1" dirty="0" smtClean="0">
                <a:latin typeface="Courier New"/>
                <a:cs typeface="Courier New"/>
              </a:rPr>
              <a:t>) -&gt; { </a:t>
            </a:r>
          </a:p>
          <a:p>
            <a:pPr marL="51829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Courier New"/>
                <a:cs typeface="Courier New"/>
              </a:rPr>
              <a:t>	 </a:t>
            </a:r>
            <a:r>
              <a:rPr lang="en-US" sz="2400" b="1" dirty="0" err="1" smtClean="0">
                <a:latin typeface="Courier New"/>
                <a:cs typeface="Courier New"/>
              </a:rPr>
              <a:t>int</a:t>
            </a:r>
            <a:r>
              <a:rPr lang="en-US" sz="2400" b="1" dirty="0" smtClean="0">
                <a:latin typeface="Courier New"/>
                <a:cs typeface="Courier New"/>
              </a:rPr>
              <a:t> r = </a:t>
            </a:r>
            <a:r>
              <a:rPr lang="en-US" sz="2400" b="1" dirty="0" err="1" smtClean="0">
                <a:latin typeface="Courier New"/>
                <a:cs typeface="Courier New"/>
              </a:rPr>
              <a:t>this.compare</a:t>
            </a:r>
            <a:r>
              <a:rPr lang="en-US" sz="2400" b="1" dirty="0" smtClean="0">
                <a:latin typeface="Courier New"/>
                <a:cs typeface="Courier New"/>
              </a:rPr>
              <a:t>(</a:t>
            </a:r>
            <a:r>
              <a:rPr lang="en-US" sz="2400" b="1" dirty="0" err="1" smtClean="0">
                <a:latin typeface="Courier New"/>
                <a:cs typeface="Courier New"/>
              </a:rPr>
              <a:t>a,b</a:t>
            </a:r>
            <a:r>
              <a:rPr lang="en-US" sz="2400" b="1" dirty="0" smtClean="0">
                <a:latin typeface="Courier New"/>
                <a:cs typeface="Courier New"/>
              </a:rPr>
              <a:t>);</a:t>
            </a:r>
          </a:p>
          <a:p>
            <a:pPr marL="51829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Courier New"/>
                <a:cs typeface="Courier New"/>
              </a:rPr>
              <a:t>	 </a:t>
            </a:r>
            <a:r>
              <a:rPr lang="en-US" sz="2400" b="1" dirty="0" smtClean="0">
                <a:latin typeface="Courier New"/>
                <a:cs typeface="Courier New"/>
              </a:rPr>
              <a:t>if(r!=0) return r;</a:t>
            </a:r>
          </a:p>
          <a:p>
            <a:pPr marL="51829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Courier New"/>
                <a:cs typeface="Courier New"/>
              </a:rPr>
              <a:t> </a:t>
            </a:r>
            <a:r>
              <a:rPr lang="en-US" sz="2400" b="1" dirty="0" smtClean="0">
                <a:latin typeface="Courier New"/>
                <a:cs typeface="Courier New"/>
              </a:rPr>
              <a:t>  return </a:t>
            </a:r>
            <a:r>
              <a:rPr lang="en-US" sz="2400" b="1" dirty="0" err="1" smtClean="0">
                <a:latin typeface="Courier New"/>
                <a:cs typeface="Courier New"/>
              </a:rPr>
              <a:t>ke.apply</a:t>
            </a:r>
            <a:r>
              <a:rPr lang="en-US" sz="2400" b="1" dirty="0" smtClean="0">
                <a:latin typeface="Courier New"/>
                <a:cs typeface="Courier New"/>
              </a:rPr>
              <a:t>(a).</a:t>
            </a:r>
            <a:r>
              <a:rPr lang="en-US" sz="2400" b="1" dirty="0" err="1" smtClean="0">
                <a:latin typeface="Courier New"/>
                <a:cs typeface="Courier New"/>
              </a:rPr>
              <a:t>compareTo</a:t>
            </a:r>
            <a:r>
              <a:rPr lang="en-US" sz="2400" b="1" dirty="0" smtClean="0">
                <a:latin typeface="Courier New"/>
                <a:cs typeface="Courier New"/>
              </a:rPr>
              <a:t>(</a:t>
            </a:r>
            <a:r>
              <a:rPr lang="en-US" sz="2400" b="1" dirty="0" err="1" smtClean="0">
                <a:latin typeface="Courier New"/>
                <a:cs typeface="Courier New"/>
              </a:rPr>
              <a:t>ke.apply</a:t>
            </a:r>
            <a:r>
              <a:rPr lang="en-US" sz="2400" b="1" dirty="0" smtClean="0">
                <a:latin typeface="Courier New"/>
                <a:cs typeface="Courier New"/>
              </a:rPr>
              <a:t>(b));</a:t>
            </a:r>
          </a:p>
          <a:p>
            <a:pPr marL="51829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smtClean="0">
                <a:latin typeface="Courier New"/>
                <a:cs typeface="Courier New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395536" y="4941168"/>
            <a:ext cx="8496944" cy="12241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rtlCol="0" anchor="ctr"/>
          <a:lstStyle/>
          <a:p>
            <a:pPr marL="268288">
              <a:lnSpc>
                <a:spcPct val="100000"/>
              </a:lnSpc>
            </a:pPr>
            <a:r>
              <a:rPr lang="en-US" sz="2400" b="1" dirty="0" err="1">
                <a:solidFill>
                  <a:schemeClr val="tx1"/>
                </a:solidFill>
                <a:latin typeface="Courier New"/>
                <a:cs typeface="Courier New"/>
              </a:rPr>
              <a:t>Arrays.sort</a:t>
            </a:r>
            <a:r>
              <a:rPr lang="en-US" sz="2400" b="1" dirty="0">
                <a:solidFill>
                  <a:schemeClr val="tx1"/>
                </a:solidFill>
                <a:latin typeface="Courier New"/>
                <a:cs typeface="Courier New"/>
              </a:rPr>
              <a:t>(</a:t>
            </a:r>
            <a:r>
              <a:rPr lang="en-US" sz="2400" b="1" dirty="0" err="1">
                <a:solidFill>
                  <a:schemeClr val="tx1"/>
                </a:solidFill>
                <a:latin typeface="Courier New"/>
                <a:cs typeface="Courier New"/>
              </a:rPr>
              <a:t>sv</a:t>
            </a:r>
            <a:r>
              <a:rPr lang="en-US" sz="2400" b="1" dirty="0" smtClean="0">
                <a:solidFill>
                  <a:schemeClr val="tx1"/>
                </a:solidFill>
                <a:latin typeface="Courier New"/>
                <a:cs typeface="Courier New"/>
              </a:rPr>
              <a:t>,</a:t>
            </a:r>
          </a:p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chemeClr val="tx1"/>
                </a:solidFill>
                <a:latin typeface="Courier New"/>
                <a:cs typeface="Courier New"/>
              </a:rPr>
              <a:t>	</a:t>
            </a:r>
            <a:r>
              <a:rPr lang="en-US" sz="2400" b="1" dirty="0" smtClean="0">
                <a:solidFill>
                  <a:schemeClr val="tx1"/>
                </a:solidFill>
                <a:latin typeface="Courier New"/>
                <a:cs typeface="Courier New"/>
              </a:rPr>
              <a:t>		comparing</a:t>
            </a:r>
            <a:r>
              <a:rPr lang="en-US" sz="2400" b="1" dirty="0">
                <a:solidFill>
                  <a:schemeClr val="tx1"/>
                </a:solidFill>
                <a:latin typeface="Courier New"/>
                <a:cs typeface="Courier New"/>
              </a:rPr>
              <a:t>(Student::</a:t>
            </a:r>
            <a:r>
              <a:rPr lang="en-US" sz="2400" b="1" dirty="0" err="1" smtClean="0">
                <a:solidFill>
                  <a:schemeClr val="tx1"/>
                </a:solidFill>
                <a:latin typeface="Courier New"/>
                <a:cs typeface="Courier New"/>
              </a:rPr>
              <a:t>getLast</a:t>
            </a:r>
            <a:r>
              <a:rPr lang="en-US" sz="2400" b="1" dirty="0" smtClean="0">
                <a:solidFill>
                  <a:schemeClr val="tx1"/>
                </a:solidFill>
                <a:latin typeface="Courier New"/>
                <a:cs typeface="Courier New"/>
              </a:rPr>
              <a:t>).</a:t>
            </a:r>
          </a:p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chemeClr val="tx1"/>
                </a:solidFill>
                <a:latin typeface="Courier New"/>
                <a:cs typeface="Courier New"/>
              </a:rPr>
              <a:t>	</a:t>
            </a:r>
            <a:r>
              <a:rPr lang="en-US" sz="2400" b="1" dirty="0" smtClean="0">
                <a:solidFill>
                  <a:schemeClr val="tx1"/>
                </a:solidFill>
                <a:latin typeface="Courier New"/>
                <a:cs typeface="Courier New"/>
              </a:rPr>
              <a:t>				</a:t>
            </a:r>
            <a:r>
              <a:rPr lang="en-US" sz="2400" b="1" dirty="0" err="1" smtClean="0">
                <a:solidFill>
                  <a:srgbClr val="FF6600"/>
                </a:solidFill>
                <a:latin typeface="Courier New"/>
                <a:cs typeface="Courier New"/>
              </a:rPr>
              <a:t>thenComparing</a:t>
            </a:r>
            <a:r>
              <a:rPr lang="en-US" sz="2400" b="1" dirty="0" smtClean="0">
                <a:solidFill>
                  <a:schemeClr val="tx1"/>
                </a:solidFill>
                <a:latin typeface="Courier New"/>
                <a:cs typeface="Courier New"/>
              </a:rPr>
              <a:t>(Student::</a:t>
            </a:r>
            <a:r>
              <a:rPr lang="en-US" sz="2400" b="1" dirty="0" err="1" smtClean="0">
                <a:solidFill>
                  <a:schemeClr val="tx1"/>
                </a:solidFill>
                <a:latin typeface="Courier New"/>
                <a:cs typeface="Courier New"/>
              </a:rPr>
              <a:t>getFirst</a:t>
            </a:r>
            <a:r>
              <a:rPr lang="en-US" sz="2400" b="1" dirty="0" smtClean="0">
                <a:solidFill>
                  <a:schemeClr val="tx1"/>
                </a:solidFill>
                <a:latin typeface="Courier New"/>
                <a:cs typeface="Courier New"/>
              </a:rPr>
              <a:t>));</a:t>
            </a:r>
            <a:endParaRPr lang="en-US" sz="2400" b="1" dirty="0">
              <a:solidFill>
                <a:schemeClr val="tx1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679562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Performance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Comparing</a:t>
            </a:r>
          </a:p>
          <a:p>
            <a:pPr lvl="1"/>
            <a:r>
              <a:rPr lang="en-US" dirty="0" smtClean="0"/>
              <a:t>Anonymous Inner Class or Lambda Expression</a:t>
            </a:r>
          </a:p>
          <a:p>
            <a:pPr marL="51829" indent="0">
              <a:buNone/>
            </a:pPr>
            <a:r>
              <a:rPr lang="en-US" sz="2400" b="1" dirty="0" err="1">
                <a:latin typeface="Courier New"/>
                <a:cs typeface="Courier New"/>
              </a:rPr>
              <a:t>Arrays.sort</a:t>
            </a:r>
            <a:r>
              <a:rPr lang="en-US" sz="2400" b="1" dirty="0" smtClean="0">
                <a:latin typeface="Courier New"/>
                <a:cs typeface="Courier New"/>
              </a:rPr>
              <a:t>(</a:t>
            </a:r>
            <a:r>
              <a:rPr lang="en-US" sz="2400" b="1" dirty="0" err="1" smtClean="0">
                <a:latin typeface="Courier New"/>
                <a:cs typeface="Courier New"/>
              </a:rPr>
              <a:t>sv</a:t>
            </a:r>
            <a:r>
              <a:rPr lang="en-US" sz="2400" b="1" dirty="0" smtClean="0">
                <a:latin typeface="Courier New"/>
                <a:cs typeface="Courier New"/>
              </a:rPr>
              <a:t>,(</a:t>
            </a:r>
            <a:r>
              <a:rPr lang="en-US" sz="2400" b="1" dirty="0" err="1">
                <a:latin typeface="Courier New"/>
                <a:cs typeface="Courier New"/>
              </a:rPr>
              <a:t>a,b</a:t>
            </a:r>
            <a:r>
              <a:rPr lang="en-US" sz="2400" b="1" dirty="0" smtClean="0">
                <a:latin typeface="Courier New"/>
                <a:cs typeface="Courier New"/>
              </a:rPr>
              <a:t>)-&gt;</a:t>
            </a:r>
            <a:r>
              <a:rPr lang="en-US" sz="2400" b="1" dirty="0" err="1" smtClean="0">
                <a:latin typeface="Courier New"/>
                <a:cs typeface="Courier New"/>
              </a:rPr>
              <a:t>b.getId</a:t>
            </a:r>
            <a:r>
              <a:rPr lang="en-US" sz="2400" b="1" dirty="0">
                <a:latin typeface="Courier New"/>
                <a:cs typeface="Courier New"/>
              </a:rPr>
              <a:t>(</a:t>
            </a:r>
            <a:r>
              <a:rPr lang="en-US" sz="2400" b="1" dirty="0" smtClean="0">
                <a:latin typeface="Courier New"/>
                <a:cs typeface="Courier New"/>
              </a:rPr>
              <a:t>)-</a:t>
            </a:r>
            <a:r>
              <a:rPr lang="en-US" sz="2400" b="1" dirty="0" err="1" smtClean="0">
                <a:latin typeface="Courier New"/>
                <a:cs typeface="Courier New"/>
              </a:rPr>
              <a:t>a.getId</a:t>
            </a:r>
            <a:r>
              <a:rPr lang="en-US" sz="2400" b="1" dirty="0">
                <a:latin typeface="Courier New"/>
                <a:cs typeface="Courier New"/>
              </a:rPr>
              <a:t>(</a:t>
            </a:r>
            <a:r>
              <a:rPr lang="en-US" sz="2400" b="1" dirty="0" smtClean="0">
                <a:latin typeface="Courier New"/>
                <a:cs typeface="Courier New"/>
              </a:rPr>
              <a:t>))</a:t>
            </a:r>
            <a:r>
              <a:rPr lang="en-US" sz="2400" b="1" dirty="0">
                <a:latin typeface="Courier New"/>
                <a:cs typeface="Courier New"/>
              </a:rPr>
              <a:t>;</a:t>
            </a:r>
            <a:endParaRPr lang="en-US" sz="2400" b="1" dirty="0" smtClean="0">
              <a:latin typeface="Courier New"/>
              <a:cs typeface="Courier New"/>
            </a:endParaRPr>
          </a:p>
          <a:p>
            <a:pPr lvl="1"/>
            <a:r>
              <a:rPr lang="en-US" dirty="0" err="1" smtClean="0"/>
              <a:t>Comparator.comparing</a:t>
            </a:r>
            <a:r>
              <a:rPr lang="en-US" dirty="0" smtClean="0"/>
              <a:t> + reversed</a:t>
            </a:r>
          </a:p>
          <a:p>
            <a:pPr marL="51829" lvl="1" indent="0">
              <a:spcBef>
                <a:spcPts val="726"/>
              </a:spcBef>
              <a:spcAft>
                <a:spcPts val="181"/>
              </a:spcAft>
              <a:buNone/>
            </a:pPr>
            <a:r>
              <a:rPr lang="en-US" sz="2400" b="1" dirty="0" err="1">
                <a:latin typeface="Courier New"/>
                <a:ea typeface="ＭＳ Ｐゴシック" charset="0"/>
                <a:cs typeface="Courier New"/>
              </a:rPr>
              <a:t>Arrays.sort</a:t>
            </a:r>
            <a:r>
              <a:rPr lang="en-US" sz="2400" b="1" dirty="0" smtClean="0">
                <a:latin typeface="Courier New"/>
                <a:ea typeface="ＭＳ Ｐゴシック" charset="0"/>
                <a:cs typeface="Courier New"/>
              </a:rPr>
              <a:t>(</a:t>
            </a:r>
            <a:r>
              <a:rPr lang="en-US" sz="2400" b="1" dirty="0" err="1" smtClean="0">
                <a:latin typeface="Courier New"/>
                <a:ea typeface="ＭＳ Ｐゴシック" charset="0"/>
                <a:cs typeface="Courier New"/>
              </a:rPr>
              <a:t>sv</a:t>
            </a:r>
            <a:r>
              <a:rPr lang="en-US" sz="2400" b="1" dirty="0">
                <a:latin typeface="Courier New"/>
                <a:ea typeface="ＭＳ Ｐゴシック" charset="0"/>
                <a:cs typeface="Courier New"/>
              </a:rPr>
              <a:t>, </a:t>
            </a:r>
          </a:p>
          <a:p>
            <a:pPr marL="51829" lvl="1" indent="0">
              <a:spcBef>
                <a:spcPts val="726"/>
              </a:spcBef>
              <a:spcAft>
                <a:spcPts val="181"/>
              </a:spcAft>
              <a:buNone/>
            </a:pPr>
            <a:r>
              <a:rPr lang="en-US" sz="2400" b="1" dirty="0" smtClean="0">
                <a:latin typeface="Courier New"/>
                <a:ea typeface="ＭＳ Ｐゴシック" charset="0"/>
                <a:cs typeface="Courier New"/>
              </a:rPr>
              <a:t>     comparing</a:t>
            </a:r>
            <a:r>
              <a:rPr lang="en-US" sz="2400" b="1" dirty="0">
                <a:latin typeface="Courier New"/>
                <a:ea typeface="ＭＳ Ｐゴシック" charset="0"/>
                <a:cs typeface="Courier New"/>
              </a:rPr>
              <a:t>(Student::</a:t>
            </a:r>
            <a:r>
              <a:rPr lang="en-US" sz="2400" b="1" dirty="0" err="1">
                <a:latin typeface="Courier New"/>
                <a:ea typeface="ＭＳ Ｐゴシック" charset="0"/>
                <a:cs typeface="Courier New"/>
              </a:rPr>
              <a:t>getId</a:t>
            </a:r>
            <a:r>
              <a:rPr lang="en-US" sz="2400" b="1" dirty="0">
                <a:latin typeface="Courier New"/>
                <a:ea typeface="ＭＳ Ｐゴシック" charset="0"/>
                <a:cs typeface="Courier New"/>
              </a:rPr>
              <a:t>).reversed(</a:t>
            </a:r>
            <a:r>
              <a:rPr lang="en-US" sz="2400" b="1" dirty="0" smtClean="0">
                <a:latin typeface="Courier New"/>
                <a:ea typeface="ＭＳ Ｐゴシック" charset="0"/>
                <a:cs typeface="Courier New"/>
              </a:rPr>
              <a:t>))</a:t>
            </a:r>
            <a:r>
              <a:rPr lang="en-US" sz="2400" b="1" dirty="0">
                <a:latin typeface="Courier New"/>
                <a:ea typeface="ＭＳ Ｐゴシック" charset="0"/>
                <a:cs typeface="Courier New"/>
              </a:rPr>
              <a:t>;</a:t>
            </a:r>
          </a:p>
          <a:p>
            <a:pPr lvl="2"/>
            <a:r>
              <a:rPr lang="en-US" dirty="0" smtClean="0"/>
              <a:t>Requires 50% to 60% more time</a:t>
            </a:r>
          </a:p>
        </p:txBody>
      </p:sp>
    </p:spTree>
    <p:extLst>
      <p:ext uri="{BB962C8B-B14F-4D97-AF65-F5344CB8AC3E}">
        <p14:creationId xmlns:p14="http://schemas.microsoft.com/office/powerpoint/2010/main" val="23658794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Functional Interfaces Composition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Predicate</a:t>
            </a:r>
          </a:p>
          <a:p>
            <a:pPr lvl="1"/>
            <a:r>
              <a:rPr lang="en-US" sz="2400" b="1" dirty="0" smtClean="0">
                <a:latin typeface="Courier New"/>
                <a:cs typeface="Courier New"/>
              </a:rPr>
              <a:t>default </a:t>
            </a:r>
            <a:r>
              <a:rPr lang="en-US" sz="2400" b="1" dirty="0">
                <a:latin typeface="Courier New"/>
                <a:cs typeface="Courier New"/>
              </a:rPr>
              <a:t>Predicate&lt;T</a:t>
            </a:r>
            <a:r>
              <a:rPr lang="en-US" sz="2400" b="1" dirty="0" smtClean="0">
                <a:latin typeface="Courier New"/>
                <a:cs typeface="Courier New"/>
              </a:rPr>
              <a:t>&gt; and(Predicate&lt;T&gt; o)</a:t>
            </a:r>
          </a:p>
          <a:p>
            <a:pPr lvl="1"/>
            <a:r>
              <a:rPr lang="en-US" sz="2400" b="1" dirty="0" smtClean="0">
                <a:latin typeface="Courier New"/>
                <a:cs typeface="Courier New"/>
              </a:rPr>
              <a:t>default </a:t>
            </a:r>
            <a:r>
              <a:rPr lang="en-US" sz="2400" b="1" dirty="0">
                <a:latin typeface="Courier New"/>
                <a:cs typeface="Courier New"/>
              </a:rPr>
              <a:t>Predicate&lt;T</a:t>
            </a:r>
            <a:r>
              <a:rPr lang="en-US" sz="2400" b="1" dirty="0" smtClean="0">
                <a:latin typeface="Courier New"/>
                <a:cs typeface="Courier New"/>
              </a:rPr>
              <a:t>&gt; or</a:t>
            </a:r>
            <a:r>
              <a:rPr lang="en-US" sz="2400" b="1" dirty="0">
                <a:latin typeface="Courier New"/>
                <a:cs typeface="Courier New"/>
              </a:rPr>
              <a:t>(Predicate&lt;T&gt; </a:t>
            </a:r>
            <a:r>
              <a:rPr lang="en-US" sz="2400" b="1" dirty="0" smtClean="0">
                <a:latin typeface="Courier New"/>
                <a:cs typeface="Courier New"/>
              </a:rPr>
              <a:t>o) </a:t>
            </a:r>
          </a:p>
          <a:p>
            <a:pPr lvl="1"/>
            <a:r>
              <a:rPr lang="en-US" sz="2400" b="1" dirty="0" smtClean="0">
                <a:latin typeface="Courier New"/>
                <a:cs typeface="Courier New"/>
              </a:rPr>
              <a:t>default </a:t>
            </a:r>
            <a:r>
              <a:rPr lang="en-US" sz="2400" b="1" dirty="0">
                <a:latin typeface="Courier New"/>
                <a:cs typeface="Courier New"/>
              </a:rPr>
              <a:t>Predicate&lt;T</a:t>
            </a:r>
            <a:r>
              <a:rPr lang="en-US" sz="2400" b="1" dirty="0" smtClean="0">
                <a:latin typeface="Courier New"/>
                <a:cs typeface="Courier New"/>
              </a:rPr>
              <a:t>&gt; negate()</a:t>
            </a:r>
          </a:p>
          <a:p>
            <a:r>
              <a:rPr lang="en-US" dirty="0" smtClean="0"/>
              <a:t>Function</a:t>
            </a:r>
          </a:p>
          <a:p>
            <a:pPr lvl="1"/>
            <a:r>
              <a:rPr lang="en-US" sz="2400" b="1" dirty="0">
                <a:latin typeface="Courier New"/>
                <a:cs typeface="Courier New"/>
              </a:rPr>
              <a:t>default Function&lt;V,R&gt; compose(Predicate&lt;V,T&gt; b)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4967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Wrap-up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Generics allow defining type parameter for methods and classes</a:t>
            </a:r>
          </a:p>
          <a:p>
            <a:r>
              <a:rPr lang="en-US" dirty="0" smtClean="0"/>
              <a:t>The same code can work with several different types</a:t>
            </a:r>
          </a:p>
          <a:p>
            <a:pPr lvl="1"/>
            <a:r>
              <a:rPr lang="en-US" dirty="0" smtClean="0"/>
              <a:t>Primitive types must be replaced by wrappers</a:t>
            </a:r>
          </a:p>
          <a:p>
            <a:r>
              <a:rPr lang="en-US" dirty="0" smtClean="0"/>
              <a:t>Generics containers are type invariant</a:t>
            </a:r>
          </a:p>
          <a:p>
            <a:pPr lvl="1"/>
            <a:r>
              <a:rPr lang="en-US" dirty="0" smtClean="0"/>
              <a:t>Wildcard, ? (read as unknown)</a:t>
            </a:r>
          </a:p>
          <a:p>
            <a:r>
              <a:rPr lang="en-US" dirty="0" smtClean="0"/>
              <a:t>Generics are implemented by type erasure</a:t>
            </a:r>
          </a:p>
          <a:p>
            <a:pPr lvl="1"/>
            <a:r>
              <a:rPr lang="en-US" dirty="0" smtClean="0"/>
              <a:t>Checks are performed at compile time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9988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a di Office">
      <a:majorFont>
        <a:latin typeface="Lucida Sans Unicode"/>
        <a:ea typeface=""/>
        <a:cs typeface="Lucida Sans Unicode"/>
      </a:majorFont>
      <a:minorFont>
        <a:latin typeface="Lucida Sans Unicode"/>
        <a:ea typeface=""/>
        <a:cs typeface="Lucida Sans Unicod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89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Lucida Sans Unicode" pitchFamily="32" charset="0"/>
            <a:cs typeface="Lucida Sans Unicode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89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Lucida Sans Unicode" pitchFamily="32" charset="0"/>
            <a:cs typeface="Lucida Sans Unicode" pitchFamily="32" charset="0"/>
          </a:defRPr>
        </a:defPPr>
      </a:lstStyle>
    </a:lnDef>
  </a:objectDefaults>
  <a:extraClrSchemeLst>
    <a:extraClrScheme>
      <a:clrScheme name="Tema di 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i 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Tema di Office">
  <a:themeElements>
    <a:clrScheme name="Tema di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ema di Office">
      <a:majorFont>
        <a:latin typeface="Lucida Sans Unicode"/>
        <a:ea typeface=""/>
        <a:cs typeface="Lucida Sans Unicode"/>
      </a:majorFont>
      <a:minorFont>
        <a:latin typeface="Lucida Sans Unicode"/>
        <a:ea typeface=""/>
        <a:cs typeface="Lucida Sans Unicod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89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Lucida Sans Unicode" pitchFamily="32" charset="0"/>
            <a:cs typeface="Lucida Sans Unicode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89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Lucida Sans Unicode" pitchFamily="32" charset="0"/>
            <a:cs typeface="Lucida Sans Unicode" pitchFamily="32" charset="0"/>
          </a:defRPr>
        </a:defPPr>
      </a:lstStyle>
    </a:lnDef>
  </a:objectDefaults>
  <a:extraClrSchemeLst>
    <a:extraClrScheme>
      <a:clrScheme name="Tema di 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i 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25706</TotalTime>
  <Words>3557</Words>
  <Application>Microsoft Macintosh PowerPoint</Application>
  <PresentationFormat>On-screen Show (4:3)</PresentationFormat>
  <Paragraphs>647</Paragraphs>
  <Slides>67</Slides>
  <Notes>39</Notes>
  <HiddenSlides>7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67</vt:i4>
      </vt:variant>
    </vt:vector>
  </HeadingPairs>
  <TitlesOfParts>
    <vt:vector size="69" baseType="lpstr">
      <vt:lpstr>Tema di Office</vt:lpstr>
      <vt:lpstr>1_Tema di Office</vt:lpstr>
      <vt:lpstr>Generics</vt:lpstr>
      <vt:lpstr>Licensing Note</vt:lpstr>
      <vt:lpstr>Motivation</vt:lpstr>
      <vt:lpstr>Example</vt:lpstr>
      <vt:lpstr>Example</vt:lpstr>
      <vt:lpstr>Example</vt:lpstr>
      <vt:lpstr>Generic class</vt:lpstr>
      <vt:lpstr>Generics use</vt:lpstr>
      <vt:lpstr>Generic type declaration</vt:lpstr>
      <vt:lpstr>Generic Interfaces</vt:lpstr>
      <vt:lpstr>Generic Comparable</vt:lpstr>
      <vt:lpstr>Generic Comparable</vt:lpstr>
      <vt:lpstr>Generic Iterable and Iterator</vt:lpstr>
      <vt:lpstr>Iterable example</vt:lpstr>
      <vt:lpstr>Iterable example</vt:lpstr>
      <vt:lpstr>Diamond operator</vt:lpstr>
      <vt:lpstr>Generic method</vt:lpstr>
      <vt:lpstr>Generic Method Example</vt:lpstr>
      <vt:lpstr>Unbounded type</vt:lpstr>
      <vt:lpstr>Unbounded generic sorting</vt:lpstr>
      <vt:lpstr>Unbounded example</vt:lpstr>
      <vt:lpstr>Bounded types</vt:lpstr>
      <vt:lpstr>Bounded generic sorting</vt:lpstr>
      <vt:lpstr>Bounded generic sorting</vt:lpstr>
      <vt:lpstr>Bounded comparator</vt:lpstr>
      <vt:lpstr>Bounded comparator</vt:lpstr>
      <vt:lpstr>Bounded example</vt:lpstr>
      <vt:lpstr>Generics subtyping</vt:lpstr>
      <vt:lpstr>Type invariance</vt:lpstr>
      <vt:lpstr>Array covariance</vt:lpstr>
      <vt:lpstr>Invariance limitations</vt:lpstr>
      <vt:lpstr>Invariance limitations</vt:lpstr>
      <vt:lpstr>Wildcards</vt:lpstr>
      <vt:lpstr>Invariance limitations</vt:lpstr>
      <vt:lpstr>Wildcards</vt:lpstr>
      <vt:lpstr>Bounded wildcard - example</vt:lpstr>
      <vt:lpstr>Sorting a pair</vt:lpstr>
      <vt:lpstr>Sorting a pair example</vt:lpstr>
      <vt:lpstr>Sorting a pair</vt:lpstr>
      <vt:lpstr>Sort generic</vt:lpstr>
      <vt:lpstr>Sort method</vt:lpstr>
      <vt:lpstr>Type Erasure</vt:lpstr>
      <vt:lpstr>Generics classes</vt:lpstr>
      <vt:lpstr>Type erasure</vt:lpstr>
      <vt:lpstr>Type erasure - examples</vt:lpstr>
      <vt:lpstr>Type erasure – consequences I</vt:lpstr>
      <vt:lpstr>Type erasure – consequences II</vt:lpstr>
      <vt:lpstr>Type erasure – consequences II</vt:lpstr>
      <vt:lpstr>Type erasure– consequences III</vt:lpstr>
      <vt:lpstr>Type erasure– consequences IV</vt:lpstr>
      <vt:lpstr>FunctionaL Interfaces with GENERICS</vt:lpstr>
      <vt:lpstr>Functional Interfaces</vt:lpstr>
      <vt:lpstr>Standard Functional Interfaces</vt:lpstr>
      <vt:lpstr>Primitive specializations</vt:lpstr>
      <vt:lpstr>Generic Comparator</vt:lpstr>
      <vt:lpstr>Comparator behavior</vt:lpstr>
      <vt:lpstr>Comparator factory</vt:lpstr>
      <vt:lpstr>Comparator.comparing</vt:lpstr>
      <vt:lpstr>Comparator factory behavior</vt:lpstr>
      <vt:lpstr>Comparator historical perspective</vt:lpstr>
      <vt:lpstr>Functional interface composition</vt:lpstr>
      <vt:lpstr>Comparator composition</vt:lpstr>
      <vt:lpstr>Comparator composition</vt:lpstr>
      <vt:lpstr>Comparator composition</vt:lpstr>
      <vt:lpstr>Performance</vt:lpstr>
      <vt:lpstr>Functional Interfaces Composition</vt:lpstr>
      <vt:lpstr>Wrap-up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Generics</dc:title>
  <cp:lastModifiedBy>Marco Torchiano</cp:lastModifiedBy>
  <cp:revision>228</cp:revision>
  <cp:lastPrinted>2017-04-11T13:29:50Z</cp:lastPrinted>
  <dcterms:created xsi:type="dcterms:W3CDTF">2011-12-07T09:11:29Z</dcterms:created>
  <dcterms:modified xsi:type="dcterms:W3CDTF">2017-04-12T11:10:49Z</dcterms:modified>
</cp:coreProperties>
</file>